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6"/>
  </p:notesMasterIdLst>
  <p:sldIdLst>
    <p:sldId id="256" r:id="rId2"/>
    <p:sldId id="265" r:id="rId3"/>
    <p:sldId id="267" r:id="rId4"/>
    <p:sldId id="266" r:id="rId5"/>
    <p:sldId id="323" r:id="rId6"/>
    <p:sldId id="450" r:id="rId7"/>
    <p:sldId id="324" r:id="rId8"/>
    <p:sldId id="325" r:id="rId9"/>
    <p:sldId id="326" r:id="rId10"/>
    <p:sldId id="451" r:id="rId11"/>
    <p:sldId id="327" r:id="rId12"/>
    <p:sldId id="328" r:id="rId13"/>
    <p:sldId id="329" r:id="rId14"/>
    <p:sldId id="330" r:id="rId15"/>
    <p:sldId id="331" r:id="rId16"/>
    <p:sldId id="332" r:id="rId17"/>
    <p:sldId id="333" r:id="rId18"/>
    <p:sldId id="452" r:id="rId19"/>
    <p:sldId id="334" r:id="rId20"/>
    <p:sldId id="335" r:id="rId21"/>
    <p:sldId id="453" r:id="rId22"/>
    <p:sldId id="336" r:id="rId23"/>
    <p:sldId id="337" r:id="rId24"/>
    <p:sldId id="338" r:id="rId25"/>
    <p:sldId id="339" r:id="rId26"/>
    <p:sldId id="454" r:id="rId27"/>
    <p:sldId id="340" r:id="rId28"/>
    <p:sldId id="341" r:id="rId29"/>
    <p:sldId id="342" r:id="rId30"/>
    <p:sldId id="343" r:id="rId31"/>
    <p:sldId id="345" r:id="rId32"/>
    <p:sldId id="346" r:id="rId33"/>
    <p:sldId id="347" r:id="rId34"/>
    <p:sldId id="348" r:id="rId35"/>
    <p:sldId id="349" r:id="rId36"/>
    <p:sldId id="350" r:id="rId37"/>
    <p:sldId id="351" r:id="rId38"/>
    <p:sldId id="455" r:id="rId39"/>
    <p:sldId id="352" r:id="rId40"/>
    <p:sldId id="353" r:id="rId41"/>
    <p:sldId id="354" r:id="rId42"/>
    <p:sldId id="355" r:id="rId43"/>
    <p:sldId id="356" r:id="rId44"/>
    <p:sldId id="357" r:id="rId45"/>
    <p:sldId id="358" r:id="rId46"/>
    <p:sldId id="456" r:id="rId47"/>
    <p:sldId id="359" r:id="rId48"/>
    <p:sldId id="360" r:id="rId49"/>
    <p:sldId id="361" r:id="rId50"/>
    <p:sldId id="362" r:id="rId51"/>
    <p:sldId id="363" r:id="rId52"/>
    <p:sldId id="364" r:id="rId53"/>
    <p:sldId id="367" r:id="rId54"/>
    <p:sldId id="369" r:id="rId55"/>
    <p:sldId id="370" r:id="rId56"/>
    <p:sldId id="371" r:id="rId57"/>
    <p:sldId id="372" r:id="rId58"/>
    <p:sldId id="373" r:id="rId59"/>
    <p:sldId id="374" r:id="rId60"/>
    <p:sldId id="375" r:id="rId61"/>
    <p:sldId id="376" r:id="rId62"/>
    <p:sldId id="377" r:id="rId63"/>
    <p:sldId id="488" r:id="rId64"/>
    <p:sldId id="378" r:id="rId65"/>
    <p:sldId id="379" r:id="rId66"/>
    <p:sldId id="380" r:id="rId67"/>
    <p:sldId id="381" r:id="rId68"/>
    <p:sldId id="489" r:id="rId69"/>
    <p:sldId id="382" r:id="rId70"/>
    <p:sldId id="383" r:id="rId71"/>
    <p:sldId id="384" r:id="rId72"/>
    <p:sldId id="385" r:id="rId73"/>
    <p:sldId id="386" r:id="rId74"/>
    <p:sldId id="387" r:id="rId75"/>
    <p:sldId id="388" r:id="rId76"/>
    <p:sldId id="389" r:id="rId77"/>
    <p:sldId id="390" r:id="rId78"/>
    <p:sldId id="391" r:id="rId79"/>
    <p:sldId id="392" r:id="rId80"/>
    <p:sldId id="393" r:id="rId81"/>
    <p:sldId id="457" r:id="rId82"/>
    <p:sldId id="394" r:id="rId83"/>
    <p:sldId id="395" r:id="rId84"/>
    <p:sldId id="396" r:id="rId85"/>
    <p:sldId id="397" r:id="rId86"/>
    <p:sldId id="398" r:id="rId87"/>
    <p:sldId id="458" r:id="rId88"/>
    <p:sldId id="399" r:id="rId89"/>
    <p:sldId id="400" r:id="rId90"/>
    <p:sldId id="401" r:id="rId91"/>
    <p:sldId id="402" r:id="rId92"/>
    <p:sldId id="403" r:id="rId93"/>
    <p:sldId id="404" r:id="rId94"/>
    <p:sldId id="405" r:id="rId95"/>
    <p:sldId id="406" r:id="rId96"/>
    <p:sldId id="407" r:id="rId97"/>
    <p:sldId id="408" r:id="rId98"/>
    <p:sldId id="409" r:id="rId99"/>
    <p:sldId id="410" r:id="rId100"/>
    <p:sldId id="411" r:id="rId101"/>
    <p:sldId id="459" r:id="rId102"/>
    <p:sldId id="412" r:id="rId103"/>
    <p:sldId id="413" r:id="rId104"/>
    <p:sldId id="414" r:id="rId105"/>
    <p:sldId id="415" r:id="rId106"/>
    <p:sldId id="416" r:id="rId107"/>
    <p:sldId id="417" r:id="rId108"/>
    <p:sldId id="418" r:id="rId109"/>
    <p:sldId id="419" r:id="rId110"/>
    <p:sldId id="420" r:id="rId111"/>
    <p:sldId id="421" r:id="rId112"/>
    <p:sldId id="422" r:id="rId113"/>
    <p:sldId id="423" r:id="rId114"/>
    <p:sldId id="424" r:id="rId115"/>
    <p:sldId id="425" r:id="rId116"/>
    <p:sldId id="426" r:id="rId117"/>
    <p:sldId id="427" r:id="rId118"/>
    <p:sldId id="428" r:id="rId119"/>
    <p:sldId id="429" r:id="rId120"/>
    <p:sldId id="430" r:id="rId121"/>
    <p:sldId id="431" r:id="rId122"/>
    <p:sldId id="432" r:id="rId123"/>
    <p:sldId id="433" r:id="rId124"/>
    <p:sldId id="434" r:id="rId125"/>
    <p:sldId id="435" r:id="rId126"/>
    <p:sldId id="436" r:id="rId127"/>
    <p:sldId id="437" r:id="rId128"/>
    <p:sldId id="438" r:id="rId129"/>
    <p:sldId id="439" r:id="rId130"/>
    <p:sldId id="440" r:id="rId131"/>
    <p:sldId id="441" r:id="rId132"/>
    <p:sldId id="442" r:id="rId133"/>
    <p:sldId id="460" r:id="rId134"/>
    <p:sldId id="443" r:id="rId135"/>
    <p:sldId id="444" r:id="rId136"/>
    <p:sldId id="445" r:id="rId137"/>
    <p:sldId id="446" r:id="rId138"/>
    <p:sldId id="447" r:id="rId139"/>
    <p:sldId id="448" r:id="rId140"/>
    <p:sldId id="449" r:id="rId141"/>
    <p:sldId id="462" r:id="rId142"/>
    <p:sldId id="463" r:id="rId143"/>
    <p:sldId id="464" r:id="rId144"/>
    <p:sldId id="485" r:id="rId145"/>
    <p:sldId id="476" r:id="rId146"/>
    <p:sldId id="477" r:id="rId147"/>
    <p:sldId id="479" r:id="rId148"/>
    <p:sldId id="478" r:id="rId149"/>
    <p:sldId id="480" r:id="rId150"/>
    <p:sldId id="481" r:id="rId151"/>
    <p:sldId id="482" r:id="rId152"/>
    <p:sldId id="483" r:id="rId153"/>
    <p:sldId id="484" r:id="rId154"/>
    <p:sldId id="486" r:id="rId155"/>
  </p:sldIdLst>
  <p:sldSz cx="9144000" cy="6858000" type="screen4x3"/>
  <p:notesSz cx="12192000" cy="6858000"/>
  <p:defaultText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yh" initials="g" lastIdx="1" clrIdx="0">
    <p:extLst>
      <p:ext uri="{19B8F6BF-5375-455C-9EA6-DF929625EA0E}">
        <p15:presenceInfo xmlns:p15="http://schemas.microsoft.com/office/powerpoint/2012/main" userId="gy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7" autoAdjust="0"/>
    <p:restoredTop sz="74279" autoAdjust="0"/>
  </p:normalViewPr>
  <p:slideViewPr>
    <p:cSldViewPr>
      <p:cViewPr varScale="1">
        <p:scale>
          <a:sx n="78" d="100"/>
          <a:sy n="78" d="100"/>
        </p:scale>
        <p:origin x="1308" y="39"/>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5618065-1B94-460E-8A19-03FBEC694BAC}" type="datetimeFigureOut">
              <a:rPr lang="zh-CN" altLang="en-US" smtClean="0"/>
              <a:t>2024/10/13</a:t>
            </a:fld>
            <a:endParaRPr lang="zh-CN" altLang="en-US"/>
          </a:p>
        </p:txBody>
      </p:sp>
      <p:sp>
        <p:nvSpPr>
          <p:cNvPr id="4" name="幻灯片图像占位符 3"/>
          <p:cNvSpPr>
            <a:spLocks noGrp="1" noRot="1" noChangeAspect="1"/>
          </p:cNvSpPr>
          <p:nvPr>
            <p:ph type="sldImg" idx="2"/>
          </p:nvPr>
        </p:nvSpPr>
        <p:spPr>
          <a:xfrm>
            <a:off x="4552950" y="857250"/>
            <a:ext cx="30861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7F4D71F-C241-4371-B1C7-6C52E22124B5}" type="slidenum">
              <a:rPr lang="zh-CN" altLang="en-US" smtClean="0"/>
              <a:t>‹#›</a:t>
            </a:fld>
            <a:endParaRPr lang="zh-CN" altLang="en-US"/>
          </a:p>
        </p:txBody>
      </p:sp>
    </p:spTree>
    <p:extLst>
      <p:ext uri="{BB962C8B-B14F-4D97-AF65-F5344CB8AC3E}">
        <p14:creationId xmlns:p14="http://schemas.microsoft.com/office/powerpoint/2010/main" val="2725345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1" dirty="0">
                <a:latin typeface="黑体" panose="02010609060101010101" pitchFamily="49" charset="-122"/>
                <a:ea typeface="黑体" panose="02010609060101010101" pitchFamily="49" charset="-122"/>
              </a:rPr>
              <a:t>本章专门讨论编译器中通常使用的解析方法。我们首先介绍基本概念，然后介绍适合手动实现的技术，最后介绍自动化工具中使用的算法。由于程序可能包含语法错误，因此我们讨论用于从常见错误中恢复的解析方法的扩展。</a:t>
            </a:r>
          </a:p>
          <a:p>
            <a:r>
              <a:rPr lang="zh-CN" altLang="en-US" sz="1800" b="1" dirty="0">
                <a:latin typeface="黑体" panose="02010609060101010101" pitchFamily="49" charset="-122"/>
                <a:ea typeface="黑体" panose="02010609060101010101" pitchFamily="49" charset="-122"/>
              </a:rPr>
              <a:t>根据设计，每种编程语言都有精确的规则来规定格式良好的程序的语法结构。例如，在 </a:t>
            </a:r>
            <a:r>
              <a:rPr lang="en-US" altLang="zh-CN" sz="1800" b="1" dirty="0">
                <a:latin typeface="黑体" panose="02010609060101010101" pitchFamily="49" charset="-122"/>
                <a:ea typeface="黑体" panose="02010609060101010101" pitchFamily="49" charset="-122"/>
              </a:rPr>
              <a:t>C </a:t>
            </a:r>
            <a:r>
              <a:rPr lang="zh-CN" altLang="en-US" sz="1800" b="1" dirty="0">
                <a:latin typeface="黑体" panose="02010609060101010101" pitchFamily="49" charset="-122"/>
                <a:ea typeface="黑体" panose="02010609060101010101" pitchFamily="49" charset="-122"/>
              </a:rPr>
              <a:t>语言中，程序由函数组成，函数由声明和语句组成，语句由表达式组成，等等。</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2</a:t>
            </a:fld>
            <a:endParaRPr lang="zh-CN" altLang="en-US"/>
          </a:p>
        </p:txBody>
      </p:sp>
    </p:spTree>
    <p:extLst>
      <p:ext uri="{BB962C8B-B14F-4D97-AF65-F5344CB8AC3E}">
        <p14:creationId xmlns:p14="http://schemas.microsoft.com/office/powerpoint/2010/main" val="2824477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黑体" panose="02010609060101010101" pitchFamily="49" charset="-122"/>
                <a:ea typeface="黑体" panose="02010609060101010101" pitchFamily="49" charset="-122"/>
              </a:rPr>
              <a:t>编程语言结构的语法可以通过上下文无关文法或 </a:t>
            </a:r>
            <a:r>
              <a:rPr lang="en-US" altLang="zh-CN" sz="1200" b="1" dirty="0">
                <a:latin typeface="黑体" panose="02010609060101010101" pitchFamily="49" charset="-122"/>
                <a:ea typeface="黑体" panose="02010609060101010101" pitchFamily="49" charset="-122"/>
              </a:rPr>
              <a:t>BNF</a:t>
            </a:r>
            <a:r>
              <a:rPr lang="zh-CN" altLang="en-US" sz="1200" b="1" dirty="0">
                <a:latin typeface="黑体" panose="02010609060101010101" pitchFamily="49" charset="-122"/>
                <a:ea typeface="黑体" panose="02010609060101010101" pitchFamily="49" charset="-122"/>
              </a:rPr>
              <a:t>（巴科斯范式）表示法来指定，在 </a:t>
            </a:r>
            <a:r>
              <a:rPr lang="en-US" altLang="zh-CN" sz="1200" b="1" dirty="0">
                <a:latin typeface="黑体" panose="02010609060101010101" pitchFamily="49" charset="-122"/>
                <a:ea typeface="黑体" panose="02010609060101010101" pitchFamily="49" charset="-122"/>
              </a:rPr>
              <a:t>2.2 </a:t>
            </a:r>
            <a:r>
              <a:rPr lang="zh-CN" altLang="en-US" sz="1200" b="1" dirty="0">
                <a:latin typeface="黑体" panose="02010609060101010101" pitchFamily="49" charset="-122"/>
                <a:ea typeface="黑体" panose="02010609060101010101" pitchFamily="49" charset="-122"/>
              </a:rPr>
              <a:t>节中介绍。文法为语言设计者和编译器编写者提供了巨大的好处。</a:t>
            </a:r>
          </a:p>
          <a:p>
            <a:pPr marL="171450" indent="-171450">
              <a:buFont typeface="Arial" panose="020B0604020202020204" pitchFamily="34" charset="0"/>
              <a:buChar char="•"/>
            </a:pPr>
            <a:r>
              <a:rPr lang="zh-CN" altLang="en-US" sz="1200" b="1" dirty="0">
                <a:latin typeface="黑体" panose="02010609060101010101" pitchFamily="49" charset="-122"/>
                <a:ea typeface="黑体" panose="02010609060101010101" pitchFamily="49" charset="-122"/>
              </a:rPr>
              <a:t>文法给出了一个程序设计语言的精确且易于理解的语法规范。</a:t>
            </a:r>
          </a:p>
          <a:p>
            <a:pPr marL="171450" indent="-171450">
              <a:buFont typeface="Arial" panose="020B0604020202020204" pitchFamily="34" charset="0"/>
              <a:buChar char="•"/>
            </a:pPr>
            <a:r>
              <a:rPr lang="zh-CN" altLang="en-US" sz="1200" b="1" dirty="0">
                <a:latin typeface="黑体" panose="02010609060101010101" pitchFamily="49" charset="-122"/>
                <a:ea typeface="黑体" panose="02010609060101010101" pitchFamily="49" charset="-122"/>
              </a:rPr>
              <a:t>对于某些类型的文法，我们可以自动构造一个有效的语法分析器，它能够确定一个源程序的语法结构。语法分析器的构造过程可以揭示语法的二义性，同时还可能发现一些容易在语言的初始设计阶段被忽略的问题。</a:t>
            </a:r>
          </a:p>
          <a:p>
            <a:pPr marL="171450" indent="-171450">
              <a:buFont typeface="Arial" panose="020B0604020202020204" pitchFamily="34" charset="0"/>
              <a:buChar char="•"/>
            </a:pPr>
            <a:r>
              <a:rPr lang="zh-CN" altLang="en-US" sz="1200" b="1" dirty="0">
                <a:latin typeface="黑体" panose="02010609060101010101" pitchFamily="49" charset="-122"/>
                <a:ea typeface="黑体" panose="02010609060101010101" pitchFamily="49" charset="-122"/>
              </a:rPr>
              <a:t>一个正确设计的文法给出了一个语言的结构。该结构有助于把源程序翻译成正确的目标代码，也有助于检测错误。</a:t>
            </a:r>
          </a:p>
          <a:p>
            <a:pPr marL="171450" indent="-171450">
              <a:buFont typeface="Arial" panose="020B0604020202020204" pitchFamily="34" charset="0"/>
              <a:buChar char="•"/>
            </a:pPr>
            <a:r>
              <a:rPr lang="zh-CN" altLang="en-US" sz="1200" b="1" dirty="0">
                <a:latin typeface="黑体" panose="02010609060101010101" pitchFamily="49" charset="-122"/>
                <a:ea typeface="黑体" panose="02010609060101010101" pitchFamily="49" charset="-122"/>
              </a:rPr>
              <a:t>一个文法支持逐步加入可以完成新任务的新语言构造从而迭代地演化和开发语言。如果对语言的实现遵循语言的文法结构，那么在实现中加入这些新购造的工作就变得更加容易。</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a:t>
            </a:fld>
            <a:endParaRPr lang="zh-CN" altLang="en-US"/>
          </a:p>
        </p:txBody>
      </p:sp>
    </p:spTree>
    <p:extLst>
      <p:ext uri="{BB962C8B-B14F-4D97-AF65-F5344CB8AC3E}">
        <p14:creationId xmlns:p14="http://schemas.microsoft.com/office/powerpoint/2010/main" val="714660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语法分析器的角色</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语法分析器从词法分析器获得</a:t>
            </a:r>
            <a:r>
              <a:rPr lang="en-US" altLang="zh-CN" sz="1200" dirty="0">
                <a:latin typeface="黑体" panose="02010609060101010101" pitchFamily="49" charset="-122"/>
                <a:ea typeface="黑体" panose="02010609060101010101" pitchFamily="49" charset="-122"/>
              </a:rPr>
              <a:t>token</a:t>
            </a:r>
            <a:r>
              <a:rPr lang="zh-CN" altLang="en-US" sz="1200" dirty="0">
                <a:latin typeface="黑体" panose="02010609060101010101" pitchFamily="49" charset="-122"/>
                <a:ea typeface="黑体" panose="02010609060101010101" pitchFamily="49" charset="-122"/>
              </a:rPr>
              <a:t>串，并验证</a:t>
            </a:r>
            <a:r>
              <a:rPr lang="en-US" altLang="zh-CN" sz="1200" dirty="0">
                <a:latin typeface="黑体" panose="02010609060101010101" pitchFamily="49" charset="-122"/>
                <a:ea typeface="黑体" panose="02010609060101010101" pitchFamily="49" charset="-122"/>
              </a:rPr>
              <a:t>token</a:t>
            </a:r>
            <a:r>
              <a:rPr lang="zh-CN" altLang="en-US" sz="1200" dirty="0">
                <a:latin typeface="黑体" panose="02010609060101010101" pitchFamily="49" charset="-122"/>
                <a:ea typeface="黑体" panose="02010609060101010101" pitchFamily="49" charset="-122"/>
              </a:rPr>
              <a:t>名称是否可以由源语言的语法生成</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以智能的方式报告语法错误</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对于格式良好的程序，语法分析器构建一个语法分析树</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语法分析树无需显式构建</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a:t>
            </a:fld>
            <a:endParaRPr lang="zh-CN" altLang="en-US"/>
          </a:p>
        </p:txBody>
      </p:sp>
    </p:spTree>
    <p:extLst>
      <p:ext uri="{BB962C8B-B14F-4D97-AF65-F5344CB8AC3E}">
        <p14:creationId xmlns:p14="http://schemas.microsoft.com/office/powerpoint/2010/main" val="3415571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语法分析器的分类</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通用语法分析器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一些方法（例如，</a:t>
            </a:r>
            <a:r>
              <a:rPr lang="en-US" altLang="zh-CN" sz="1200" dirty="0">
                <a:latin typeface="黑体" panose="02010609060101010101" pitchFamily="49" charset="-122"/>
                <a:ea typeface="黑体" panose="02010609060101010101" pitchFamily="49" charset="-122"/>
              </a:rPr>
              <a:t>Earley</a:t>
            </a:r>
            <a:r>
              <a:rPr lang="zh-CN" altLang="en-US" sz="1200" dirty="0">
                <a:latin typeface="黑体" panose="02010609060101010101" pitchFamily="49" charset="-122"/>
                <a:ea typeface="黑体" panose="02010609060101010101" pitchFamily="49" charset="-122"/>
              </a:rPr>
              <a:t>算法</a:t>
            </a:r>
            <a:r>
              <a:rPr lang="en-US" altLang="zh-CN" sz="1200" dirty="0">
                <a:latin typeface="黑体" panose="02010609060101010101" pitchFamily="49" charset="-122"/>
                <a:ea typeface="黑体" panose="02010609060101010101" pitchFamily="49" charset="-122"/>
              </a:rPr>
              <a:t>1</a:t>
            </a:r>
            <a:r>
              <a:rPr lang="zh-CN" altLang="en-US" sz="1200" dirty="0">
                <a:latin typeface="黑体" panose="02010609060101010101" pitchFamily="49" charset="-122"/>
                <a:ea typeface="黑体" panose="02010609060101010101" pitchFamily="49" charset="-122"/>
              </a:rPr>
              <a:t>）可以解析任何语法</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然而，它们效率太低，无法在实践中使用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自顶向下语法分析器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构建从顶部（根）到底部（叶）的语法分析树</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自底向上语法分析器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从底部（叶子）到顶部（根）构建语法分析树</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注意：自上而下和自下而上的解析都从左到右扫描输入，一次扫描一个符号。它们只适用于某些语法，这些语法具有足够的表达能力。</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a:t>
            </a:fld>
            <a:endParaRPr lang="zh-CN" altLang="en-US"/>
          </a:p>
        </p:txBody>
      </p:sp>
    </p:spTree>
    <p:extLst>
      <p:ext uri="{BB962C8B-B14F-4D97-AF65-F5344CB8AC3E}">
        <p14:creationId xmlns:p14="http://schemas.microsoft.com/office/powerpoint/2010/main" val="4190042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a:latin typeface="黑体" panose="02010609060101010101" pitchFamily="49" charset="-122"/>
                <a:ea typeface="黑体" panose="02010609060101010101" pitchFamily="49" charset="-122"/>
              </a:rPr>
              <a:t>CFG</a:t>
            </a:r>
            <a:r>
              <a:rPr lang="zh-CN" altLang="en-US" sz="1800" b="1" dirty="0">
                <a:latin typeface="黑体" panose="02010609060101010101" pitchFamily="49" charset="-122"/>
                <a:ea typeface="黑体" panose="02010609060101010101" pitchFamily="49" charset="-122"/>
              </a:rPr>
              <a:t>的形式化定义</a:t>
            </a:r>
            <a:endParaRPr lang="en-US" altLang="zh-CN" sz="1800" b="1"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推导和语法分析树</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二义性</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黑体" panose="02010609060101010101" pitchFamily="49" charset="-122"/>
                <a:ea typeface="黑体" panose="02010609060101010101" pitchFamily="49" charset="-122"/>
              </a:rPr>
              <a:t>CFG</a:t>
            </a:r>
            <a:r>
              <a:rPr lang="zh-CN" altLang="en-US" sz="1800" dirty="0">
                <a:latin typeface="黑体" panose="02010609060101010101" pitchFamily="49" charset="-122"/>
                <a:ea typeface="黑体" panose="02010609060101010101" pitchFamily="49" charset="-122"/>
              </a:rPr>
              <a:t>与正则表达式</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语法设计</a:t>
            </a:r>
          </a:p>
          <a:p>
            <a:endParaRPr lang="zh-CN" altLang="en-US" sz="1800"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a:t>
            </a:fld>
            <a:endParaRPr lang="zh-CN" altLang="en-US"/>
          </a:p>
        </p:txBody>
      </p:sp>
    </p:spTree>
    <p:extLst>
      <p:ext uri="{BB962C8B-B14F-4D97-AF65-F5344CB8AC3E}">
        <p14:creationId xmlns:p14="http://schemas.microsoft.com/office/powerpoint/2010/main" val="3797664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上下文无关语法（</a:t>
            </a:r>
            <a:r>
              <a:rPr lang="en-US" altLang="zh-CN" sz="1200" dirty="0">
                <a:latin typeface="黑体" panose="02010609060101010101" pitchFamily="49" charset="-122"/>
                <a:ea typeface="黑体" panose="02010609060101010101" pitchFamily="49" charset="-122"/>
              </a:rPr>
              <a:t>CFG</a:t>
            </a:r>
            <a:r>
              <a:rPr lang="zh-CN" altLang="en-US" sz="1200" dirty="0">
                <a:latin typeface="黑体" panose="02010609060101010101" pitchFamily="49" charset="-122"/>
                <a:ea typeface="黑体" panose="02010609060101010101" pitchFamily="49" charset="-122"/>
              </a:rPr>
              <a:t>）由四个部分组成：</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终结符号</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形成字符串的基本符号（</a:t>
            </a:r>
            <a:r>
              <a:rPr lang="en-US" altLang="zh-CN" sz="1200" dirty="0">
                <a:latin typeface="黑体" panose="02010609060101010101" pitchFamily="49" charset="-122"/>
                <a:ea typeface="黑体" panose="02010609060101010101" pitchFamily="49" charset="-122"/>
              </a:rPr>
              <a:t>token</a:t>
            </a:r>
            <a:r>
              <a:rPr lang="zh-CN" altLang="en-US" sz="1200" dirty="0">
                <a:latin typeface="黑体" panose="02010609060101010101" pitchFamily="49" charset="-122"/>
                <a:ea typeface="黑体" panose="02010609060101010101" pitchFamily="49" charset="-122"/>
              </a:rPr>
              <a:t>名称）</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非终结符号</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表示字符串集的语法变量</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通常对应于一个语言结构，如</a:t>
            </a:r>
            <a:r>
              <a:rPr lang="en-US" altLang="zh-CN" sz="1200" dirty="0" err="1">
                <a:latin typeface="黑体" panose="02010609060101010101" pitchFamily="49" charset="-122"/>
                <a:ea typeface="黑体" panose="02010609060101010101" pitchFamily="49" charset="-122"/>
              </a:rPr>
              <a:t>stmt</a:t>
            </a:r>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statements</a:t>
            </a:r>
            <a:r>
              <a:rPr lang="zh-CN" altLang="en-US" sz="1200" dirty="0">
                <a:latin typeface="黑体" panose="02010609060101010101" pitchFamily="49" charset="-122"/>
                <a:ea typeface="黑体" panose="02010609060101010101" pitchFamily="49" charset="-122"/>
              </a:rPr>
              <a:t>）</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我们指定一个非终结符作为开始符号    由开始符号表示的字符串集是</a:t>
            </a:r>
            <a:r>
              <a:rPr lang="en-US" altLang="zh-CN" sz="1200" dirty="0">
                <a:latin typeface="黑体" panose="02010609060101010101" pitchFamily="49" charset="-122"/>
                <a:ea typeface="黑体" panose="02010609060101010101" pitchFamily="49" charset="-122"/>
              </a:rPr>
              <a:t>CFG</a:t>
            </a:r>
            <a:r>
              <a:rPr lang="zh-CN" altLang="en-US" sz="1200" dirty="0">
                <a:latin typeface="黑体" panose="02010609060101010101" pitchFamily="49" charset="-122"/>
                <a:ea typeface="黑体" panose="02010609060101010101" pitchFamily="49" charset="-122"/>
              </a:rPr>
              <a:t>生成的语言</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产生式</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指定终结符号和非终结符号组合形成字符串的方式</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格式：</a:t>
            </a:r>
            <a:r>
              <a:rPr lang="en-US" altLang="zh-CN" sz="1200" dirty="0">
                <a:latin typeface="黑体" panose="02010609060101010101" pitchFamily="49" charset="-122"/>
                <a:ea typeface="黑体" panose="02010609060101010101" pitchFamily="49" charset="-122"/>
              </a:rPr>
              <a:t>head</a:t>
            </a:r>
            <a:r>
              <a:rPr lang="zh-CN" altLang="en-US" sz="1200" dirty="0">
                <a:latin typeface="黑体" panose="02010609060101010101" pitchFamily="49" charset="-122"/>
                <a:ea typeface="黑体" panose="02010609060101010101" pitchFamily="49" charset="-122"/>
              </a:rPr>
              <a:t>（左侧）</a:t>
            </a:r>
            <a:r>
              <a:rPr lang="en-US" altLang="zh-CN" sz="1200" dirty="0">
                <a:latin typeface="黑体" panose="02010609060101010101" pitchFamily="49" charset="-122"/>
                <a:ea typeface="黑体" panose="02010609060101010101" pitchFamily="49" charset="-122"/>
              </a:rPr>
              <a:t>-&gt; body</a:t>
            </a:r>
            <a:r>
              <a:rPr lang="zh-CN" altLang="en-US" sz="1200" dirty="0">
                <a:latin typeface="黑体" panose="02010609060101010101" pitchFamily="49" charset="-122"/>
                <a:ea typeface="黑体" panose="02010609060101010101" pitchFamily="49" charset="-122"/>
              </a:rPr>
              <a:t>（右侧）</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head</a:t>
            </a:r>
            <a:r>
              <a:rPr lang="zh-CN" altLang="en-US" sz="1200" dirty="0">
                <a:latin typeface="黑体" panose="02010609060101010101" pitchFamily="49" charset="-122"/>
                <a:ea typeface="黑体" panose="02010609060101010101" pitchFamily="49" charset="-122"/>
              </a:rPr>
              <a:t>是非终结符号；</a:t>
            </a:r>
            <a:r>
              <a:rPr lang="en-US" altLang="zh-CN" sz="1200" dirty="0">
                <a:latin typeface="黑体" panose="02010609060101010101" pitchFamily="49" charset="-122"/>
                <a:ea typeface="黑体" panose="02010609060101010101" pitchFamily="49" charset="-122"/>
              </a:rPr>
              <a:t>body</a:t>
            </a:r>
            <a:r>
              <a:rPr lang="zh-CN" altLang="en-US" sz="1200" dirty="0">
                <a:latin typeface="黑体" panose="02010609060101010101" pitchFamily="49" charset="-122"/>
                <a:ea typeface="黑体" panose="02010609060101010101" pitchFamily="49" charset="-122"/>
              </a:rPr>
              <a:t>由零个或多个终结符号或非终结符号组成</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例如：</a:t>
            </a:r>
            <a:r>
              <a:rPr lang="en-US" altLang="zh-CN" sz="1200" dirty="0">
                <a:latin typeface="黑体" panose="02010609060101010101" pitchFamily="49" charset="-122"/>
                <a:ea typeface="黑体" panose="02010609060101010101" pitchFamily="49" charset="-122"/>
              </a:rPr>
              <a:t>expression -&gt; expression + term</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a:t>
            </a:fld>
            <a:endParaRPr lang="zh-CN" altLang="en-US"/>
          </a:p>
        </p:txBody>
      </p:sp>
    </p:spTree>
    <p:extLst>
      <p:ext uri="{BB962C8B-B14F-4D97-AF65-F5344CB8AC3E}">
        <p14:creationId xmlns:p14="http://schemas.microsoft.com/office/powerpoint/2010/main" val="2817952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CFG</a:t>
            </a:r>
            <a:r>
              <a:rPr lang="zh-CN" altLang="en-US" dirty="0"/>
              <a:t>示例</a:t>
            </a:r>
            <a:endParaRPr lang="en-US" altLang="zh-CN" dirty="0"/>
          </a:p>
          <a:p>
            <a:r>
              <a:rPr lang="zh-CN" altLang="en-US" dirty="0"/>
              <a:t>下面的语法定义了简单的算术表达式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终结符：</a:t>
            </a:r>
            <a:r>
              <a:rPr lang="en-US" altLang="zh-CN" sz="1200" kern="1200" spc="-5" dirty="0">
                <a:solidFill>
                  <a:srgbClr val="0432FF"/>
                </a:solidFill>
                <a:latin typeface="Consolas"/>
                <a:cs typeface="Consolas"/>
              </a:rPr>
              <a:t>id</a:t>
            </a:r>
            <a:r>
              <a:rPr lang="en-US" altLang="zh-CN" sz="1200" kern="1200" spc="-5" dirty="0">
                <a:solidFill>
                  <a:prstClr val="black"/>
                </a:solidFill>
                <a:latin typeface="Consolas"/>
                <a:cs typeface="Consolas"/>
              </a:rPr>
              <a:t>,</a:t>
            </a:r>
            <a:r>
              <a:rPr lang="en-US" altLang="zh-CN" sz="1200" kern="1200" spc="-15" dirty="0">
                <a:solidFill>
                  <a:prstClr val="black"/>
                </a:solidFill>
                <a:latin typeface="Consolas"/>
                <a:cs typeface="Consolas"/>
              </a:rPr>
              <a:t> </a:t>
            </a:r>
            <a:r>
              <a:rPr lang="en-US" altLang="zh-CN" sz="1200" kern="1200" spc="-5" dirty="0">
                <a:solidFill>
                  <a:srgbClr val="0432FF"/>
                </a:solidFill>
                <a:latin typeface="Consolas"/>
                <a:cs typeface="Consolas"/>
              </a:rPr>
              <a:t>+</a:t>
            </a:r>
            <a:r>
              <a:rPr lang="en-US" altLang="zh-CN" sz="1200" kern="1200" spc="-5" dirty="0">
                <a:solidFill>
                  <a:prstClr val="black"/>
                </a:solidFill>
                <a:latin typeface="Consolas"/>
                <a:cs typeface="Consolas"/>
              </a:rPr>
              <a:t>,</a:t>
            </a:r>
            <a:r>
              <a:rPr lang="en-US" altLang="zh-CN" sz="1200" kern="1200" spc="-15" dirty="0">
                <a:solidFill>
                  <a:prstClr val="black"/>
                </a:solidFill>
                <a:latin typeface="Consolas"/>
                <a:cs typeface="Consolas"/>
              </a:rPr>
              <a:t> </a:t>
            </a:r>
            <a:r>
              <a:rPr lang="en-US" altLang="zh-CN" sz="1200" kern="1200" spc="-5" dirty="0">
                <a:solidFill>
                  <a:srgbClr val="0432FF"/>
                </a:solidFill>
                <a:latin typeface="Consolas"/>
                <a:cs typeface="Consolas"/>
              </a:rPr>
              <a:t>-</a:t>
            </a:r>
            <a:r>
              <a:rPr lang="en-US" altLang="zh-CN" sz="1200" kern="1200" spc="-5" dirty="0">
                <a:solidFill>
                  <a:prstClr val="black"/>
                </a:solidFill>
                <a:latin typeface="Consolas"/>
                <a:cs typeface="Consolas"/>
              </a:rPr>
              <a:t>,</a:t>
            </a:r>
            <a:r>
              <a:rPr lang="en-US" altLang="zh-CN" sz="1200" kern="1200" spc="-20" dirty="0">
                <a:solidFill>
                  <a:prstClr val="black"/>
                </a:solidFill>
                <a:latin typeface="Consolas"/>
                <a:cs typeface="Consolas"/>
              </a:rPr>
              <a:t> </a:t>
            </a:r>
            <a:r>
              <a:rPr lang="en-US" altLang="zh-CN" sz="1200" kern="1200" spc="-5" dirty="0">
                <a:solidFill>
                  <a:srgbClr val="0432FF"/>
                </a:solidFill>
                <a:latin typeface="Consolas"/>
                <a:cs typeface="Consolas"/>
              </a:rPr>
              <a:t>*</a:t>
            </a:r>
            <a:r>
              <a:rPr lang="en-US" altLang="zh-CN" sz="1200" kern="1200" spc="-5" dirty="0">
                <a:solidFill>
                  <a:prstClr val="black"/>
                </a:solidFill>
                <a:latin typeface="Consolas"/>
                <a:cs typeface="Consolas"/>
              </a:rPr>
              <a:t>,</a:t>
            </a:r>
            <a:r>
              <a:rPr lang="en-US" altLang="zh-CN" sz="1200" kern="1200" spc="-15" dirty="0">
                <a:solidFill>
                  <a:prstClr val="black"/>
                </a:solidFill>
                <a:latin typeface="Consolas"/>
                <a:cs typeface="Consolas"/>
              </a:rPr>
              <a:t> </a:t>
            </a:r>
            <a:r>
              <a:rPr lang="en-US" altLang="zh-CN" sz="1200" kern="1200" spc="-5" dirty="0">
                <a:solidFill>
                  <a:srgbClr val="0432FF"/>
                </a:solidFill>
                <a:latin typeface="Consolas"/>
                <a:cs typeface="Consolas"/>
              </a:rPr>
              <a:t>/</a:t>
            </a:r>
            <a:r>
              <a:rPr lang="en-US" altLang="zh-CN" sz="1200" kern="1200" spc="-5" dirty="0">
                <a:solidFill>
                  <a:prstClr val="black"/>
                </a:solidFill>
                <a:latin typeface="Consolas"/>
                <a:cs typeface="Consolas"/>
              </a:rPr>
              <a:t>,</a:t>
            </a:r>
            <a:r>
              <a:rPr lang="en-US" altLang="zh-CN" sz="1200" kern="1200" spc="-15" dirty="0">
                <a:solidFill>
                  <a:prstClr val="black"/>
                </a:solidFill>
                <a:latin typeface="Consolas"/>
                <a:cs typeface="Consolas"/>
              </a:rPr>
              <a:t> </a:t>
            </a:r>
            <a:r>
              <a:rPr lang="en-US" altLang="zh-CN" sz="1200" kern="1200" spc="-5" dirty="0">
                <a:solidFill>
                  <a:srgbClr val="0432FF"/>
                </a:solidFill>
                <a:latin typeface="Consolas"/>
                <a:cs typeface="Consolas"/>
              </a:rPr>
              <a:t>(</a:t>
            </a:r>
            <a:r>
              <a:rPr lang="en-US" altLang="zh-CN" sz="1200" kern="1200" spc="-5" dirty="0">
                <a:solidFill>
                  <a:prstClr val="black"/>
                </a:solidFill>
                <a:latin typeface="Consolas"/>
                <a:cs typeface="Consolas"/>
              </a:rPr>
              <a:t>,</a:t>
            </a:r>
            <a:r>
              <a:rPr lang="en-US" altLang="zh-CN" sz="1200" kern="1200" spc="-20" dirty="0">
                <a:solidFill>
                  <a:prstClr val="black"/>
                </a:solidFill>
                <a:latin typeface="Consolas"/>
                <a:cs typeface="Consolas"/>
              </a:rPr>
              <a:t> </a:t>
            </a:r>
            <a:r>
              <a:rPr lang="en-US" altLang="zh-CN" sz="1200" kern="1200" dirty="0">
                <a:solidFill>
                  <a:srgbClr val="0432FF"/>
                </a:solidFill>
                <a:latin typeface="Consolas"/>
                <a:cs typeface="Consolas"/>
              </a:rPr>
              <a:t>)</a:t>
            </a:r>
            <a:endParaRPr lang="en-US" altLang="zh-CN" sz="1200" kern="1200" dirty="0">
              <a:solidFill>
                <a:prstClr val="black"/>
              </a:solidFill>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非终结符：</a:t>
            </a:r>
            <a:r>
              <a:rPr lang="zh-CN" altLang="zh-CN" sz="1800" i="1" kern="1200" spc="-5" dirty="0">
                <a:solidFill>
                  <a:srgbClr val="000000"/>
                </a:solidFill>
                <a:effectLst/>
                <a:latin typeface="Consolas" panose="020B0609020204030204" pitchFamily="49" charset="0"/>
                <a:ea typeface="Consolas" panose="020B0609020204030204" pitchFamily="49" charset="0"/>
                <a:cs typeface="Consolas" panose="020B0609020204030204" pitchFamily="49" charset="0"/>
              </a:rPr>
              <a:t>expression</a:t>
            </a:r>
            <a:r>
              <a:rPr lang="zh-CN" altLang="zh-CN" sz="1800" kern="1200" spc="-5" dirty="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zh-CN" altLang="zh-CN" sz="1800" kern="1200" spc="-20" dirty="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zh-CN" altLang="zh-CN" sz="1800" i="1" kern="1200" spc="-5" dirty="0">
                <a:solidFill>
                  <a:srgbClr val="000000"/>
                </a:solidFill>
                <a:effectLst/>
                <a:latin typeface="Consolas" panose="020B0609020204030204" pitchFamily="49" charset="0"/>
                <a:ea typeface="Consolas" panose="020B0609020204030204" pitchFamily="49" charset="0"/>
                <a:cs typeface="Consolas" panose="020B0609020204030204" pitchFamily="49" charset="0"/>
              </a:rPr>
              <a:t>term</a:t>
            </a:r>
            <a:r>
              <a:rPr lang="zh-CN" altLang="zh-CN" sz="1800" kern="1200" spc="-5" dirty="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zh-CN" altLang="zh-CN" sz="1800" kern="1200" spc="-20" dirty="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zh-CN" altLang="zh-CN" sz="1800" i="1" kern="1200" spc="-5" dirty="0">
                <a:solidFill>
                  <a:srgbClr val="000000"/>
                </a:solidFill>
                <a:effectLst/>
                <a:latin typeface="Consolas" panose="020B0609020204030204" pitchFamily="49" charset="0"/>
                <a:ea typeface="Consolas" panose="020B0609020204030204" pitchFamily="49" charset="0"/>
                <a:cs typeface="Consolas" panose="020B0609020204030204" pitchFamily="49" charset="0"/>
              </a:rPr>
              <a:t>factor</a:t>
            </a:r>
            <a:endParaRPr lang="en-US" altLang="zh-CN" sz="1800" i="1" kern="1200" spc="-5" dirty="0">
              <a:solidFill>
                <a:srgbClr val="000000"/>
              </a:solidFill>
              <a:effectLst/>
              <a:latin typeface="Consolas" panose="020B0609020204030204" pitchFamily="49" charset="0"/>
              <a:ea typeface="Consolas" panose="020B0609020204030204" pitchFamily="49" charset="0"/>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i="1" kern="1200" spc="-5" dirty="0">
                <a:solidFill>
                  <a:srgbClr val="000000"/>
                </a:solidFill>
                <a:effectLst/>
                <a:latin typeface="Consolas" panose="020B0609020204030204" pitchFamily="49" charset="0"/>
              </a:rPr>
              <a:t>开始符：</a:t>
            </a:r>
            <a:r>
              <a:rPr lang="en-US" altLang="zh-CN" sz="1200" i="1" kern="1200" spc="-5" dirty="0">
                <a:solidFill>
                  <a:prstClr val="black"/>
                </a:solidFill>
                <a:latin typeface="Consolas"/>
                <a:cs typeface="Consolas"/>
              </a:rPr>
              <a:t>expression</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a:t>
            </a:fld>
            <a:endParaRPr lang="zh-CN" altLang="en-US"/>
          </a:p>
        </p:txBody>
      </p:sp>
    </p:spTree>
    <p:extLst>
      <p:ext uri="{BB962C8B-B14F-4D97-AF65-F5344CB8AC3E}">
        <p14:creationId xmlns:p14="http://schemas.microsoft.com/office/powerpoint/2010/main" val="4181727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符号简化</a:t>
            </a:r>
            <a:endParaRPr lang="en-US" altLang="zh-CN" sz="1200" dirty="0">
              <a:latin typeface="黑体" panose="02010609060101010101" pitchFamily="49" charset="-122"/>
              <a:ea typeface="黑体" panose="02010609060101010101" pitchFamily="49" charset="-122"/>
            </a:endParaRPr>
          </a:p>
          <a:p>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”是指定备选方案的元符号</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”和</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不是元符号，而是终结符号</a:t>
            </a:r>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9</a:t>
            </a:fld>
            <a:endParaRPr lang="zh-CN" altLang="en-US"/>
          </a:p>
        </p:txBody>
      </p:sp>
    </p:spTree>
    <p:extLst>
      <p:ext uri="{BB962C8B-B14F-4D97-AF65-F5344CB8AC3E}">
        <p14:creationId xmlns:p14="http://schemas.microsoft.com/office/powerpoint/2010/main" val="2995451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latin typeface="黑体" panose="02010609060101010101" pitchFamily="49" charset="-122"/>
                <a:ea typeface="黑体" panose="02010609060101010101" pitchFamily="49" charset="-122"/>
              </a:rPr>
              <a:t>CFG</a:t>
            </a:r>
            <a:r>
              <a:rPr lang="zh-CN" altLang="en-US" sz="1800" b="0" dirty="0">
                <a:latin typeface="黑体" panose="02010609060101010101" pitchFamily="49" charset="-122"/>
                <a:ea typeface="黑体" panose="02010609060101010101" pitchFamily="49" charset="-122"/>
              </a:rPr>
              <a:t>的形式化定义</a:t>
            </a:r>
            <a:endParaRPr lang="en-US" altLang="zh-CN" sz="1800" b="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latin typeface="黑体" panose="02010609060101010101" pitchFamily="49" charset="-122"/>
                <a:ea typeface="黑体" panose="02010609060101010101" pitchFamily="49" charset="-122"/>
              </a:rPr>
              <a:t>推导和语法分析树</a:t>
            </a:r>
            <a:endParaRPr lang="en-US" altLang="zh-CN" sz="1800" b="1"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二义性</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黑体" panose="02010609060101010101" pitchFamily="49" charset="-122"/>
                <a:ea typeface="黑体" panose="02010609060101010101" pitchFamily="49" charset="-122"/>
              </a:rPr>
              <a:t>CFG</a:t>
            </a:r>
            <a:r>
              <a:rPr lang="zh-CN" altLang="en-US" sz="1800" dirty="0">
                <a:latin typeface="黑体" panose="02010609060101010101" pitchFamily="49" charset="-122"/>
                <a:ea typeface="黑体" panose="02010609060101010101" pitchFamily="49" charset="-122"/>
              </a:rPr>
              <a:t>与正则表达式</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语法设计</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a:t>
            </a:fld>
            <a:endParaRPr lang="zh-CN" altLang="en-US"/>
          </a:p>
        </p:txBody>
      </p:sp>
    </p:spTree>
    <p:extLst>
      <p:ext uri="{BB962C8B-B14F-4D97-AF65-F5344CB8AC3E}">
        <p14:creationId xmlns:p14="http://schemas.microsoft.com/office/powerpoint/2010/main" val="2873121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推导</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从开始符号开始，使用产生式重写非终结符，直到只剩下终结符为止</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示例：</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从</a:t>
            </a:r>
            <a:r>
              <a:rPr lang="en-US" altLang="zh-CN" sz="1200" dirty="0">
                <a:latin typeface="黑体" panose="02010609060101010101" pitchFamily="49" charset="-122"/>
                <a:ea typeface="黑体" panose="02010609060101010101" pitchFamily="49" charset="-122"/>
              </a:rPr>
              <a:t>E</a:t>
            </a:r>
            <a:r>
              <a:rPr lang="zh-CN" altLang="en-US" sz="1200" dirty="0">
                <a:latin typeface="黑体" panose="02010609060101010101" pitchFamily="49" charset="-122"/>
                <a:ea typeface="黑体" panose="02010609060101010101" pitchFamily="49" charset="-122"/>
              </a:rPr>
              <a:t>导出</a:t>
            </a:r>
            <a:r>
              <a:rPr lang="en-US" altLang="zh-CN" sz="1200" dirty="0">
                <a:latin typeface="黑体" panose="02010609060101010101" pitchFamily="49" charset="-122"/>
                <a:ea typeface="黑体" panose="02010609060101010101" pitchFamily="49" charset="-122"/>
              </a:rPr>
              <a:t>–(id)</a:t>
            </a:r>
            <a:r>
              <a:rPr lang="zh-CN" altLang="en-US" sz="1200" dirty="0">
                <a:latin typeface="黑体" panose="02010609060101010101" pitchFamily="49" charset="-122"/>
                <a:ea typeface="黑体" panose="02010609060101010101" pitchFamily="49" charset="-122"/>
              </a:rPr>
              <a:t>（一系列重写）</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11</a:t>
            </a:fld>
            <a:endParaRPr lang="zh-CN" altLang="en-US"/>
          </a:p>
        </p:txBody>
      </p:sp>
    </p:spTree>
    <p:extLst>
      <p:ext uri="{BB962C8B-B14F-4D97-AF65-F5344CB8AC3E}">
        <p14:creationId xmlns:p14="http://schemas.microsoft.com/office/powerpoint/2010/main" val="1826445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符号</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意思是单步推导</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 意思是“以零个或多个步骤推导”</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𝛼 ⇒∗ 𝛼 适用于任何字符串𝛼</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意思是“以一个或多个步骤推导”</a:t>
            </a:r>
          </a:p>
          <a:p>
            <a:endParaRPr lang="zh-CN" altLang="en-US" sz="1200" dirty="0">
              <a:latin typeface="黑体" panose="02010609060101010101" pitchFamily="49" charset="-122"/>
              <a:ea typeface="黑体" panose="02010609060101010101" pitchFamily="49"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12</a:t>
            </a:fld>
            <a:endParaRPr lang="zh-CN" altLang="en-US"/>
          </a:p>
        </p:txBody>
      </p:sp>
    </p:spTree>
    <p:extLst>
      <p:ext uri="{BB962C8B-B14F-4D97-AF65-F5344CB8AC3E}">
        <p14:creationId xmlns:p14="http://schemas.microsoft.com/office/powerpoint/2010/main" val="3985386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术语</a:t>
            </a:r>
            <a:endParaRPr lang="en-US" altLang="zh-CN" dirty="0"/>
          </a:p>
          <a:p>
            <a:r>
              <a:rPr lang="en-US" altLang="zh-CN" dirty="0"/>
              <a:t>• </a:t>
            </a:r>
            <a:r>
              <a:rPr lang="zh-CN" altLang="en-US" dirty="0"/>
              <a:t>如果</a:t>
            </a:r>
            <a:r>
              <a:rPr lang="en-US" altLang="zh-CN" dirty="0"/>
              <a:t>S</a:t>
            </a:r>
            <a:r>
              <a:rPr lang="zh-CN" altLang="en-US" sz="1200" dirty="0">
                <a:latin typeface="黑体" panose="02010609060101010101" pitchFamily="49" charset="-122"/>
                <a:ea typeface="黑体" panose="02010609060101010101" pitchFamily="49" charset="-122"/>
              </a:rPr>
              <a:t>⇒ ∗ </a:t>
            </a:r>
            <a:r>
              <a:rPr lang="en-US" altLang="zh-CN" dirty="0"/>
              <a:t>α, </a:t>
            </a:r>
            <a:r>
              <a:rPr lang="zh-CN" altLang="en-US" dirty="0"/>
              <a:t>其中</a:t>
            </a:r>
            <a:r>
              <a:rPr lang="en-US" altLang="zh-CN" dirty="0"/>
              <a:t>S</a:t>
            </a:r>
            <a:r>
              <a:rPr lang="zh-CN" altLang="en-US" dirty="0"/>
              <a:t>是语法</a:t>
            </a:r>
            <a:r>
              <a:rPr lang="en-US" altLang="zh-CN" dirty="0"/>
              <a:t>G</a:t>
            </a:r>
            <a:r>
              <a:rPr lang="zh-CN" altLang="en-US" dirty="0"/>
              <a:t>的开始符号，我们说</a:t>
            </a:r>
            <a:r>
              <a:rPr lang="en-US" altLang="zh-CN" dirty="0"/>
              <a:t>α</a:t>
            </a:r>
            <a:r>
              <a:rPr lang="zh-CN" altLang="en-US" dirty="0"/>
              <a:t>是</a:t>
            </a:r>
            <a:r>
              <a:rPr lang="en-US" altLang="zh-CN" dirty="0"/>
              <a:t>G</a:t>
            </a:r>
            <a:r>
              <a:rPr lang="zh-CN" altLang="en-US" dirty="0"/>
              <a:t>文法的句型</a:t>
            </a:r>
            <a:endParaRPr lang="en-US" altLang="zh-CN" dirty="0"/>
          </a:p>
          <a:p>
            <a:r>
              <a:rPr lang="zh-CN" altLang="en-US" dirty="0"/>
              <a:t>   </a:t>
            </a:r>
            <a:r>
              <a:rPr lang="en-US" altLang="zh-CN" dirty="0"/>
              <a:t>· </a:t>
            </a:r>
            <a:r>
              <a:rPr lang="zh-CN" altLang="en-US" dirty="0"/>
              <a:t>文法的句型可以同时包含终结符号和非终结符号，并且可以为空</a:t>
            </a:r>
            <a:endParaRPr lang="en-US" altLang="zh-CN" dirty="0"/>
          </a:p>
          <a:p>
            <a:r>
              <a:rPr lang="en-US" altLang="zh-CN" dirty="0"/>
              <a:t>   · </a:t>
            </a:r>
            <a:r>
              <a:rPr lang="zh-CN" altLang="en-US" dirty="0"/>
              <a:t>示例</a:t>
            </a:r>
            <a:r>
              <a:rPr lang="zh-CN" altLang="en-US" kern="1200" dirty="0">
                <a:solidFill>
                  <a:srgbClr val="FF0000"/>
                </a:solidFill>
                <a:latin typeface="Cambria Math"/>
                <a:cs typeface="Cambria Math"/>
              </a:rPr>
              <a:t>𝐸</a:t>
            </a:r>
            <a:r>
              <a:rPr lang="zh-CN" altLang="en-US" kern="1200" spc="180" dirty="0">
                <a:solidFill>
                  <a:srgbClr val="FF0000"/>
                </a:solidFill>
                <a:latin typeface="Cambria Math"/>
                <a:cs typeface="Cambria Math"/>
              </a:rPr>
              <a:t> </a:t>
            </a:r>
            <a:r>
              <a:rPr lang="zh-CN" altLang="en-US" kern="1200" dirty="0">
                <a:solidFill>
                  <a:prstClr val="black"/>
                </a:solidFill>
                <a:latin typeface="Cambria Math"/>
                <a:cs typeface="Cambria Math"/>
              </a:rPr>
              <a:t>⇒</a:t>
            </a:r>
            <a:r>
              <a:rPr lang="zh-CN" altLang="en-US" kern="1200" spc="110" dirty="0">
                <a:solidFill>
                  <a:prstClr val="black"/>
                </a:solidFill>
                <a:latin typeface="Cambria Math"/>
                <a:cs typeface="Cambria Math"/>
              </a:rPr>
              <a:t> </a:t>
            </a:r>
            <a:r>
              <a:rPr lang="zh-CN" altLang="en-US" kern="1200" dirty="0">
                <a:solidFill>
                  <a:srgbClr val="FF0000"/>
                </a:solidFill>
                <a:latin typeface="Cambria Math"/>
                <a:cs typeface="Cambria Math"/>
              </a:rPr>
              <a:t>−𝐸</a:t>
            </a:r>
            <a:r>
              <a:rPr lang="zh-CN" altLang="en-US" kern="1200" spc="180" dirty="0">
                <a:solidFill>
                  <a:srgbClr val="FF0000"/>
                </a:solidFill>
                <a:latin typeface="Cambria Math"/>
                <a:cs typeface="Cambria Math"/>
              </a:rPr>
              <a:t> </a:t>
            </a:r>
            <a:r>
              <a:rPr lang="zh-CN" altLang="en-US" kern="1200" dirty="0">
                <a:solidFill>
                  <a:prstClr val="black"/>
                </a:solidFill>
                <a:latin typeface="Cambria Math"/>
                <a:cs typeface="Cambria Math"/>
              </a:rPr>
              <a:t>⇒</a:t>
            </a:r>
            <a:r>
              <a:rPr lang="zh-CN" altLang="en-US" kern="1200" spc="105" dirty="0">
                <a:solidFill>
                  <a:prstClr val="black"/>
                </a:solidFill>
                <a:latin typeface="Cambria Math"/>
                <a:cs typeface="Cambria Math"/>
              </a:rPr>
              <a:t> </a:t>
            </a:r>
            <a:r>
              <a:rPr lang="zh-CN" altLang="en-US" kern="1200" dirty="0">
                <a:solidFill>
                  <a:srgbClr val="FF0000"/>
                </a:solidFill>
                <a:latin typeface="Cambria Math"/>
                <a:cs typeface="Cambria Math"/>
              </a:rPr>
              <a:t>−</a:t>
            </a:r>
            <a:r>
              <a:rPr lang="en-US" altLang="zh-CN" kern="1200" dirty="0">
                <a:solidFill>
                  <a:srgbClr val="FF0000"/>
                </a:solidFill>
                <a:latin typeface="Cambria Math"/>
                <a:cs typeface="Cambria Math"/>
              </a:rPr>
              <a:t>(</a:t>
            </a:r>
            <a:r>
              <a:rPr lang="zh-CN" altLang="en-US" kern="1200" dirty="0">
                <a:solidFill>
                  <a:srgbClr val="FF0000"/>
                </a:solidFill>
                <a:latin typeface="Cambria Math"/>
                <a:cs typeface="Cambria Math"/>
              </a:rPr>
              <a:t>𝐸</a:t>
            </a:r>
            <a:r>
              <a:rPr lang="en-US" altLang="zh-CN" kern="1200" dirty="0">
                <a:solidFill>
                  <a:srgbClr val="FF0000"/>
                </a:solidFill>
                <a:latin typeface="Cambria Math"/>
                <a:cs typeface="Cambria Math"/>
              </a:rPr>
              <a:t>)</a:t>
            </a:r>
            <a:r>
              <a:rPr lang="zh-CN" altLang="en-US" kern="1200" dirty="0">
                <a:solidFill>
                  <a:prstClr val="black"/>
                </a:solidFill>
                <a:latin typeface="Cambria Math"/>
                <a:cs typeface="Cambria Math"/>
              </a:rPr>
              <a:t>⇒</a:t>
            </a:r>
            <a:r>
              <a:rPr lang="zh-CN" altLang="en-US" kern="1200" spc="105" dirty="0">
                <a:solidFill>
                  <a:prstClr val="black"/>
                </a:solidFill>
                <a:latin typeface="Cambria Math"/>
                <a:cs typeface="Cambria Math"/>
              </a:rPr>
              <a:t> </a:t>
            </a:r>
            <a:r>
              <a:rPr lang="zh-CN" altLang="en-US" kern="1200" dirty="0">
                <a:solidFill>
                  <a:srgbClr val="FF0000"/>
                </a:solidFill>
                <a:latin typeface="Cambria Math"/>
                <a:cs typeface="Cambria Math"/>
              </a:rPr>
              <a:t>−</a:t>
            </a:r>
            <a:r>
              <a:rPr lang="en-US" altLang="zh-CN" kern="1200" spc="350" dirty="0">
                <a:solidFill>
                  <a:srgbClr val="FF0000"/>
                </a:solidFill>
                <a:latin typeface="Cambria Math"/>
                <a:cs typeface="Cambria Math"/>
              </a:rPr>
              <a:t>(</a:t>
            </a:r>
            <a:r>
              <a:rPr lang="zh-CN" altLang="en-US" kern="1200" dirty="0">
                <a:solidFill>
                  <a:srgbClr val="FF0000"/>
                </a:solidFill>
                <a:latin typeface="Cambria Math"/>
                <a:cs typeface="Cambria Math"/>
              </a:rPr>
              <a:t>𝐸</a:t>
            </a:r>
            <a:r>
              <a:rPr lang="en-US" altLang="zh-CN" kern="1200" dirty="0">
                <a:solidFill>
                  <a:srgbClr val="FF0000"/>
                </a:solidFill>
                <a:latin typeface="Cambria Math"/>
                <a:cs typeface="Cambria Math"/>
              </a:rPr>
              <a:t>+</a:t>
            </a:r>
            <a:r>
              <a:rPr lang="zh-CN" altLang="en-US" kern="1200" dirty="0">
                <a:solidFill>
                  <a:srgbClr val="FF0000"/>
                </a:solidFill>
                <a:latin typeface="Cambria Math"/>
                <a:cs typeface="Cambria Math"/>
              </a:rPr>
              <a:t>𝐸</a:t>
            </a:r>
            <a:r>
              <a:rPr lang="en-US" altLang="zh-CN" kern="1200" dirty="0">
                <a:solidFill>
                  <a:srgbClr val="FF0000"/>
                </a:solidFill>
                <a:latin typeface="Cambria Math"/>
                <a:cs typeface="Cambria Math"/>
              </a:rPr>
              <a:t>)</a:t>
            </a:r>
            <a:r>
              <a:rPr lang="zh-CN" altLang="en-US" kern="1200" dirty="0">
                <a:solidFill>
                  <a:srgbClr val="FF0000"/>
                </a:solidFill>
                <a:latin typeface="Cambria Math"/>
                <a:cs typeface="Cambria Math"/>
              </a:rPr>
              <a:t> </a:t>
            </a:r>
            <a:r>
              <a:rPr lang="zh-CN" altLang="en-US" kern="1200" dirty="0">
                <a:solidFill>
                  <a:prstClr val="black"/>
                </a:solidFill>
                <a:latin typeface="Cambria Math"/>
                <a:cs typeface="Cambria Math"/>
              </a:rPr>
              <a:t>⇒</a:t>
            </a:r>
            <a:r>
              <a:rPr lang="zh-CN" altLang="en-US" kern="1200" spc="105" dirty="0">
                <a:solidFill>
                  <a:prstClr val="black"/>
                </a:solidFill>
                <a:latin typeface="Cambria Math"/>
                <a:cs typeface="Cambria Math"/>
              </a:rPr>
              <a:t> </a:t>
            </a:r>
            <a:r>
              <a:rPr lang="zh-CN" altLang="en-US" kern="1200" dirty="0">
                <a:solidFill>
                  <a:srgbClr val="FF0000"/>
                </a:solidFill>
                <a:latin typeface="Cambria Math"/>
                <a:cs typeface="Cambria Math"/>
              </a:rPr>
              <a:t>−</a:t>
            </a:r>
            <a:r>
              <a:rPr lang="en-US" altLang="zh-CN" kern="1200" spc="355" dirty="0">
                <a:solidFill>
                  <a:srgbClr val="FF0000"/>
                </a:solidFill>
                <a:latin typeface="Cambria Math"/>
                <a:cs typeface="Cambria Math"/>
              </a:rPr>
              <a:t>(</a:t>
            </a:r>
            <a:r>
              <a:rPr lang="zh-CN" altLang="en-US" kern="1200" spc="-5" dirty="0">
                <a:solidFill>
                  <a:srgbClr val="FF0000"/>
                </a:solidFill>
                <a:latin typeface="Cambria Math"/>
                <a:cs typeface="Cambria Math"/>
              </a:rPr>
              <a:t>𝐢𝐝</a:t>
            </a:r>
            <a:r>
              <a:rPr lang="en-US" altLang="zh-CN" kern="1200" dirty="0">
                <a:solidFill>
                  <a:srgbClr val="FF0000"/>
                </a:solidFill>
                <a:latin typeface="Cambria Math"/>
                <a:cs typeface="Cambria Math"/>
              </a:rPr>
              <a:t>+</a:t>
            </a:r>
            <a:r>
              <a:rPr lang="zh-CN" altLang="en-US" kern="1200" dirty="0">
                <a:solidFill>
                  <a:srgbClr val="FF0000"/>
                </a:solidFill>
                <a:latin typeface="Cambria Math"/>
                <a:cs typeface="Cambria Math"/>
              </a:rPr>
              <a:t>𝐸</a:t>
            </a:r>
            <a:r>
              <a:rPr lang="en-US" altLang="zh-CN" kern="1200" dirty="0">
                <a:solidFill>
                  <a:srgbClr val="FF0000"/>
                </a:solidFill>
                <a:latin typeface="Cambria Math"/>
                <a:cs typeface="Cambria Math"/>
              </a:rPr>
              <a:t>)</a:t>
            </a:r>
            <a:r>
              <a:rPr lang="zh-CN" altLang="en-US" kern="1200" dirty="0">
                <a:solidFill>
                  <a:srgbClr val="FF0000"/>
                </a:solidFill>
                <a:latin typeface="Cambria Math"/>
                <a:cs typeface="Cambria Math"/>
              </a:rPr>
              <a:t> </a:t>
            </a:r>
            <a:r>
              <a:rPr lang="zh-CN" altLang="en-US" kern="1200" dirty="0">
                <a:solidFill>
                  <a:prstClr val="black"/>
                </a:solidFill>
                <a:latin typeface="Cambria Math"/>
                <a:cs typeface="Cambria Math"/>
              </a:rPr>
              <a:t>⇒</a:t>
            </a:r>
            <a:r>
              <a:rPr lang="zh-CN" altLang="en-US" kern="1200" spc="70" dirty="0">
                <a:solidFill>
                  <a:prstClr val="black"/>
                </a:solidFill>
                <a:latin typeface="Cambria Math"/>
                <a:cs typeface="Cambria Math"/>
              </a:rPr>
              <a:t> </a:t>
            </a:r>
            <a:r>
              <a:rPr lang="zh-CN" altLang="en-US" kern="1200" dirty="0">
                <a:solidFill>
                  <a:srgbClr val="FF0000"/>
                </a:solidFill>
                <a:latin typeface="Cambria Math"/>
                <a:cs typeface="Cambria Math"/>
              </a:rPr>
              <a:t>−</a:t>
            </a:r>
            <a:r>
              <a:rPr lang="en-US" altLang="zh-CN" kern="1200" dirty="0">
                <a:solidFill>
                  <a:srgbClr val="FF0000"/>
                </a:solidFill>
                <a:latin typeface="Cambria Math"/>
                <a:cs typeface="Cambria Math"/>
              </a:rPr>
              <a:t>(</a:t>
            </a:r>
            <a:r>
              <a:rPr lang="zh-CN" altLang="en-US" kern="1200" dirty="0">
                <a:solidFill>
                  <a:srgbClr val="FF0000"/>
                </a:solidFill>
                <a:latin typeface="Cambria Math"/>
                <a:cs typeface="Cambria Math"/>
              </a:rPr>
              <a:t>𝐢𝐝</a:t>
            </a:r>
            <a:r>
              <a:rPr lang="zh-CN" altLang="en-US" kern="1200" spc="-25" dirty="0">
                <a:solidFill>
                  <a:srgbClr val="FF0000"/>
                </a:solidFill>
                <a:latin typeface="Cambria Math"/>
                <a:cs typeface="Cambria Math"/>
              </a:rPr>
              <a:t> </a:t>
            </a:r>
            <a:r>
              <a:rPr lang="en-US" altLang="zh-CN" kern="1200" dirty="0">
                <a:solidFill>
                  <a:srgbClr val="FF0000"/>
                </a:solidFill>
                <a:latin typeface="Cambria Math"/>
                <a:cs typeface="Cambria Math"/>
              </a:rPr>
              <a:t>+</a:t>
            </a:r>
            <a:r>
              <a:rPr lang="zh-CN" altLang="en-US" kern="1200" spc="-20" dirty="0">
                <a:solidFill>
                  <a:srgbClr val="FF0000"/>
                </a:solidFill>
                <a:latin typeface="Cambria Math"/>
                <a:cs typeface="Cambria Math"/>
              </a:rPr>
              <a:t> </a:t>
            </a:r>
            <a:r>
              <a:rPr lang="zh-CN" altLang="en-US" kern="1200" spc="-5" dirty="0">
                <a:solidFill>
                  <a:srgbClr val="FF0000"/>
                </a:solidFill>
                <a:latin typeface="Cambria Math"/>
                <a:cs typeface="Cambria Math"/>
              </a:rPr>
              <a:t>𝐢𝐝</a:t>
            </a:r>
            <a:r>
              <a:rPr lang="en-US" altLang="zh-CN" kern="1200" spc="-5" dirty="0">
                <a:solidFill>
                  <a:srgbClr val="FF0000"/>
                </a:solidFill>
                <a:latin typeface="Cambria Math"/>
                <a:cs typeface="Cambria Math"/>
              </a:rPr>
              <a:t>)  </a:t>
            </a:r>
            <a:r>
              <a:rPr lang="zh-CN" altLang="en-US" dirty="0"/>
              <a:t>这里所有的语法符号串都是文法的句型</a:t>
            </a:r>
            <a:endParaRPr lang="en-US" altLang="zh-CN" dirty="0"/>
          </a:p>
          <a:p>
            <a:r>
              <a:rPr lang="en-US" altLang="zh-CN" dirty="0"/>
              <a:t>• </a:t>
            </a:r>
            <a:r>
              <a:rPr lang="zh-CN" altLang="en-US" dirty="0"/>
              <a:t>一个</a:t>
            </a:r>
            <a:r>
              <a:rPr lang="en-US" altLang="zh-CN" dirty="0"/>
              <a:t>G</a:t>
            </a:r>
            <a:r>
              <a:rPr lang="zh-CN" altLang="en-US" dirty="0"/>
              <a:t>的句子是一个没有非终结符的文法句型</a:t>
            </a:r>
            <a:endParaRPr lang="en-US" altLang="zh-CN" dirty="0"/>
          </a:p>
          <a:p>
            <a:r>
              <a:rPr lang="en-US" altLang="zh-CN" dirty="0"/>
              <a:t>   · </a:t>
            </a:r>
            <a:r>
              <a:rPr lang="zh-CN" altLang="en-US" dirty="0"/>
              <a:t>在上面的例子中，只有最后一个字符串</a:t>
            </a:r>
            <a:r>
              <a:rPr lang="zh-CN" altLang="en-US" kern="1200" dirty="0">
                <a:solidFill>
                  <a:srgbClr val="FF0000"/>
                </a:solidFill>
                <a:latin typeface="Cambria Math"/>
                <a:cs typeface="Cambria Math"/>
              </a:rPr>
              <a:t>−</a:t>
            </a:r>
            <a:r>
              <a:rPr lang="en-US" altLang="zh-CN" kern="1200" dirty="0">
                <a:solidFill>
                  <a:srgbClr val="FF0000"/>
                </a:solidFill>
                <a:latin typeface="Cambria Math"/>
                <a:cs typeface="Cambria Math"/>
              </a:rPr>
              <a:t>(</a:t>
            </a:r>
            <a:r>
              <a:rPr lang="zh-CN" altLang="en-US" kern="1200" dirty="0">
                <a:solidFill>
                  <a:srgbClr val="FF0000"/>
                </a:solidFill>
                <a:latin typeface="Cambria Math"/>
                <a:cs typeface="Cambria Math"/>
              </a:rPr>
              <a:t>𝐢𝐝</a:t>
            </a:r>
            <a:r>
              <a:rPr lang="zh-CN" altLang="en-US" kern="1200" spc="-25" dirty="0">
                <a:solidFill>
                  <a:srgbClr val="FF0000"/>
                </a:solidFill>
                <a:latin typeface="Cambria Math"/>
                <a:cs typeface="Cambria Math"/>
              </a:rPr>
              <a:t> </a:t>
            </a:r>
            <a:r>
              <a:rPr lang="en-US" altLang="zh-CN" kern="1200" dirty="0">
                <a:solidFill>
                  <a:srgbClr val="FF0000"/>
                </a:solidFill>
                <a:latin typeface="Cambria Math"/>
                <a:cs typeface="Cambria Math"/>
              </a:rPr>
              <a:t>+</a:t>
            </a:r>
            <a:r>
              <a:rPr lang="zh-CN" altLang="en-US" kern="1200" spc="-20" dirty="0">
                <a:solidFill>
                  <a:srgbClr val="FF0000"/>
                </a:solidFill>
                <a:latin typeface="Cambria Math"/>
                <a:cs typeface="Cambria Math"/>
              </a:rPr>
              <a:t> </a:t>
            </a:r>
            <a:r>
              <a:rPr lang="zh-CN" altLang="en-US" kern="1200" spc="-5" dirty="0">
                <a:solidFill>
                  <a:srgbClr val="FF0000"/>
                </a:solidFill>
                <a:latin typeface="Cambria Math"/>
                <a:cs typeface="Cambria Math"/>
              </a:rPr>
              <a:t>𝐢𝐝</a:t>
            </a:r>
            <a:r>
              <a:rPr lang="en-US" altLang="zh-CN" kern="1200" spc="-5" dirty="0">
                <a:solidFill>
                  <a:srgbClr val="FF0000"/>
                </a:solidFill>
                <a:latin typeface="Cambria Math"/>
                <a:cs typeface="Cambria Math"/>
              </a:rPr>
              <a:t>)</a:t>
            </a:r>
            <a:r>
              <a:rPr lang="zh-CN" altLang="en-US" dirty="0"/>
              <a:t>是一个句子</a:t>
            </a:r>
            <a:endParaRPr lang="en-US" altLang="zh-CN" dirty="0"/>
          </a:p>
          <a:p>
            <a:r>
              <a:rPr lang="en-US" altLang="zh-CN" dirty="0"/>
              <a:t>•</a:t>
            </a:r>
            <a:r>
              <a:rPr lang="zh-CN" altLang="en-US" dirty="0"/>
              <a:t>语法产生的语言是它产生句子的集合</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13</a:t>
            </a:fld>
            <a:endParaRPr lang="zh-CN" altLang="en-US"/>
          </a:p>
        </p:txBody>
      </p:sp>
    </p:spTree>
    <p:extLst>
      <p:ext uri="{BB962C8B-B14F-4D97-AF65-F5344CB8AC3E}">
        <p14:creationId xmlns:p14="http://schemas.microsoft.com/office/powerpoint/2010/main" val="1124247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最左</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最右推导</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在推导的每一步，我们都需要选择要替换的非终结符</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在最左推导中</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总是选择每个句型中最左边的非终结符来替换</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在最右推导中</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总是选择最右边的非终结符来替换</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14</a:t>
            </a:fld>
            <a:endParaRPr lang="zh-CN" altLang="en-US"/>
          </a:p>
        </p:txBody>
      </p:sp>
    </p:spTree>
    <p:extLst>
      <p:ext uri="{BB962C8B-B14F-4D97-AF65-F5344CB8AC3E}">
        <p14:creationId xmlns:p14="http://schemas.microsoft.com/office/powerpoint/2010/main" val="35583738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语法分析树是一种推导的图形表示</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根结点是文法的开始符号</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每个叶子结点由终结符或</a:t>
            </a:r>
            <a:r>
              <a:rPr lang="zh-CN" altLang="en-US" kern="1200" dirty="0">
                <a:solidFill>
                  <a:prstClr val="black"/>
                </a:solidFill>
                <a:latin typeface="Cambria Math"/>
                <a:cs typeface="Cambria Math"/>
              </a:rPr>
              <a:t>𝜖</a:t>
            </a:r>
            <a:r>
              <a:rPr lang="zh-CN" altLang="en-US" sz="1200" dirty="0">
                <a:latin typeface="黑体" panose="02010609060101010101" pitchFamily="49" charset="-122"/>
                <a:ea typeface="黑体" panose="02010609060101010101" pitchFamily="49" charset="-122"/>
              </a:rPr>
              <a:t>标记</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每个内部结点由非终结符标记</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每个内部结点代表产生式的应用</a:t>
            </a:r>
            <a:endParaRPr lang="en-US" altLang="zh-CN" sz="1200" dirty="0">
              <a:latin typeface="黑体" panose="02010609060101010101" pitchFamily="49" charset="-122"/>
              <a:ea typeface="黑体" panose="02010609060101010101" pitchFamily="49" charset="-122"/>
            </a:endParaRPr>
          </a:p>
          <a:p>
            <a:r>
              <a:rPr lang="en-US" altLang="zh-CN" dirty="0"/>
              <a:t>    · </a:t>
            </a:r>
            <a:r>
              <a:rPr lang="zh-CN" altLang="en-US" dirty="0"/>
              <a:t>内部节点用产生式的头部中的非终结符进行标记；</a:t>
            </a:r>
            <a:endParaRPr lang="en-US" altLang="zh-CN" dirty="0"/>
          </a:p>
          <a:p>
            <a:r>
              <a:rPr lang="en-US" altLang="zh-CN" dirty="0"/>
              <a:t>    · </a:t>
            </a:r>
            <a:r>
              <a:rPr lang="zh-CN" altLang="en-US" dirty="0"/>
              <a:t>子节点由产生式主体中的符号从左到右进行标记</a:t>
            </a:r>
            <a:endParaRPr lang="en-US" altLang="zh-CN" dirty="0"/>
          </a:p>
          <a:p>
            <a:r>
              <a:rPr lang="zh-CN" altLang="en-US" dirty="0"/>
              <a:t>问题：</a:t>
            </a:r>
            <a:r>
              <a:rPr lang="zh-CN" altLang="en-US" sz="1200" dirty="0">
                <a:latin typeface="黑体" panose="02010609060101010101" pitchFamily="49" charset="-122"/>
                <a:ea typeface="黑体" panose="02010609060101010101" pitchFamily="49" charset="-122"/>
              </a:rPr>
              <a:t>语法分析树</a:t>
            </a:r>
            <a:r>
              <a:rPr lang="zh-CN" altLang="en-US" dirty="0"/>
              <a:t>中红色虚线圈起来的</a:t>
            </a:r>
            <a:r>
              <a:rPr lang="en-US" altLang="zh-CN" dirty="0"/>
              <a:t>E</a:t>
            </a:r>
            <a:r>
              <a:rPr lang="zh-CN" altLang="en-US" dirty="0"/>
              <a:t>哪一个会先被替换？</a:t>
            </a:r>
            <a:endParaRPr lang="en-US" altLang="zh-CN" dirty="0"/>
          </a:p>
          <a:p>
            <a:r>
              <a:rPr lang="zh-CN" altLang="en-US" dirty="0"/>
              <a:t>答案：在最左推导中，左孩子先被替换；在最右推导中，右孩子先被替换。</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15</a:t>
            </a:fld>
            <a:endParaRPr lang="zh-CN" altLang="en-US"/>
          </a:p>
        </p:txBody>
      </p:sp>
    </p:spTree>
    <p:extLst>
      <p:ext uri="{BB962C8B-B14F-4D97-AF65-F5344CB8AC3E}">
        <p14:creationId xmlns:p14="http://schemas.microsoft.com/office/powerpoint/2010/main" val="1745003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从左到右，叶子结点构成了语法的一种句型，称为树的产出或边缘</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推导和语法分析树之间存在多对一关系</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最左</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最右推导和语法分析树之间存在一对一关系</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16</a:t>
            </a:fld>
            <a:endParaRPr lang="zh-CN" altLang="en-US"/>
          </a:p>
        </p:txBody>
      </p:sp>
    </p:spTree>
    <p:extLst>
      <p:ext uri="{BB962C8B-B14F-4D97-AF65-F5344CB8AC3E}">
        <p14:creationId xmlns:p14="http://schemas.microsoft.com/office/powerpoint/2010/main" val="3631081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构造语法分析树示例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17</a:t>
            </a:fld>
            <a:endParaRPr lang="zh-CN" altLang="en-US"/>
          </a:p>
        </p:txBody>
      </p:sp>
    </p:spTree>
    <p:extLst>
      <p:ext uri="{BB962C8B-B14F-4D97-AF65-F5344CB8AC3E}">
        <p14:creationId xmlns:p14="http://schemas.microsoft.com/office/powerpoint/2010/main" val="20893087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latin typeface="黑体" panose="02010609060101010101" pitchFamily="49" charset="-122"/>
                <a:ea typeface="黑体" panose="02010609060101010101" pitchFamily="49" charset="-122"/>
              </a:rPr>
              <a:t>CFG</a:t>
            </a:r>
            <a:r>
              <a:rPr lang="zh-CN" altLang="en-US" sz="1800" b="0" dirty="0">
                <a:latin typeface="黑体" panose="02010609060101010101" pitchFamily="49" charset="-122"/>
                <a:ea typeface="黑体" panose="02010609060101010101" pitchFamily="49" charset="-122"/>
              </a:rPr>
              <a:t>的形式化定义</a:t>
            </a:r>
            <a:endParaRPr lang="en-US" altLang="zh-CN" sz="1800" b="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推导和语法分析树</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latin typeface="黑体" panose="02010609060101010101" pitchFamily="49" charset="-122"/>
                <a:ea typeface="黑体" panose="02010609060101010101" pitchFamily="49" charset="-122"/>
              </a:rPr>
              <a:t>二义性</a:t>
            </a:r>
            <a:endParaRPr lang="en-US" altLang="zh-CN" sz="1800" b="1"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黑体" panose="02010609060101010101" pitchFamily="49" charset="-122"/>
                <a:ea typeface="黑体" panose="02010609060101010101" pitchFamily="49" charset="-122"/>
              </a:rPr>
              <a:t>CFG</a:t>
            </a:r>
            <a:r>
              <a:rPr lang="zh-CN" altLang="en-US" sz="1800" dirty="0">
                <a:latin typeface="黑体" panose="02010609060101010101" pitchFamily="49" charset="-122"/>
                <a:ea typeface="黑体" panose="02010609060101010101" pitchFamily="49" charset="-122"/>
              </a:rPr>
              <a:t>与正则表达式</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语法设计</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18</a:t>
            </a:fld>
            <a:endParaRPr lang="zh-CN" altLang="en-US"/>
          </a:p>
        </p:txBody>
      </p:sp>
    </p:spTree>
    <p:extLst>
      <p:ext uri="{BB962C8B-B14F-4D97-AF65-F5344CB8AC3E}">
        <p14:creationId xmlns:p14="http://schemas.microsoft.com/office/powerpoint/2010/main" val="121322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如果一个语法为某个句子生成了多个语法分析树，则它具有二义性</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示例：该文法为</a:t>
            </a:r>
            <a:r>
              <a:rPr lang="en-US" altLang="zh-CN" sz="1200" dirty="0" err="1">
                <a:latin typeface="黑体" panose="02010609060101010101" pitchFamily="49" charset="-122"/>
                <a:ea typeface="黑体" panose="02010609060101010101" pitchFamily="49" charset="-122"/>
              </a:rPr>
              <a:t>id+id</a:t>
            </a:r>
            <a:r>
              <a:rPr lang="en-US" altLang="zh-CN" sz="1200" dirty="0">
                <a:latin typeface="黑体" panose="02010609060101010101" pitchFamily="49" charset="-122"/>
                <a:ea typeface="黑体" panose="02010609060101010101" pitchFamily="49" charset="-122"/>
              </a:rPr>
              <a:t>*id</a:t>
            </a:r>
            <a:r>
              <a:rPr lang="zh-CN" altLang="en-US" sz="1200" dirty="0">
                <a:latin typeface="黑体" panose="02010609060101010101" pitchFamily="49" charset="-122"/>
                <a:ea typeface="黑体" panose="02010609060101010101" pitchFamily="49" charset="-122"/>
              </a:rPr>
              <a:t>生成了两种语法分析树。</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19</a:t>
            </a:fld>
            <a:endParaRPr lang="zh-CN" altLang="en-US"/>
          </a:p>
        </p:txBody>
      </p:sp>
    </p:spTree>
    <p:extLst>
      <p:ext uri="{BB962C8B-B14F-4D97-AF65-F5344CB8AC3E}">
        <p14:creationId xmlns:p14="http://schemas.microsoft.com/office/powerpoint/2010/main" val="1024174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程序设计语言的语法通常需要明确</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否则，将有多种方法来解释程序</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问题：给定</a:t>
            </a:r>
            <a:r>
              <a:rPr lang="zh-CN" altLang="en-US" sz="1200" kern="1200" dirty="0">
                <a:solidFill>
                  <a:srgbClr val="0432FF"/>
                </a:solidFill>
                <a:latin typeface="Cambria Math"/>
                <a:cs typeface="Cambria Math"/>
              </a:rPr>
              <a:t>𝐸</a:t>
            </a:r>
            <a:r>
              <a:rPr lang="zh-CN" altLang="en-US" sz="1200" kern="1200" spc="190" dirty="0">
                <a:solidFill>
                  <a:srgbClr val="0432FF"/>
                </a:solidFill>
                <a:latin typeface="Cambria Math"/>
                <a:cs typeface="Cambria Math"/>
              </a:rPr>
              <a:t> </a:t>
            </a:r>
            <a:r>
              <a:rPr lang="zh-CN" altLang="en-US" sz="1200" kern="1200" dirty="0">
                <a:solidFill>
                  <a:srgbClr val="0432FF"/>
                </a:solidFill>
                <a:latin typeface="Cambria Math"/>
                <a:cs typeface="Cambria Math"/>
              </a:rPr>
              <a:t>→</a:t>
            </a:r>
            <a:r>
              <a:rPr lang="zh-CN" altLang="en-US" sz="1200" kern="1200" spc="110" dirty="0">
                <a:solidFill>
                  <a:srgbClr val="0432FF"/>
                </a:solidFill>
                <a:latin typeface="Cambria Math"/>
                <a:cs typeface="Cambria Math"/>
              </a:rPr>
              <a:t> </a:t>
            </a:r>
            <a:r>
              <a:rPr lang="zh-CN" altLang="en-US" sz="1200" kern="1200" dirty="0">
                <a:solidFill>
                  <a:srgbClr val="0432FF"/>
                </a:solidFill>
                <a:latin typeface="Cambria Math"/>
                <a:cs typeface="Cambria Math"/>
              </a:rPr>
              <a:t>𝐸</a:t>
            </a:r>
            <a:r>
              <a:rPr lang="zh-CN" altLang="en-US" sz="1200" kern="1200" spc="85" dirty="0">
                <a:solidFill>
                  <a:srgbClr val="0432FF"/>
                </a:solidFill>
                <a:latin typeface="Cambria Math"/>
                <a:cs typeface="Cambria Math"/>
              </a:rPr>
              <a:t> </a:t>
            </a:r>
            <a:r>
              <a:rPr lang="en-US" altLang="zh-CN" sz="1200" kern="1200" dirty="0">
                <a:solidFill>
                  <a:srgbClr val="0432FF"/>
                </a:solidFill>
                <a:latin typeface="Cambria Math"/>
                <a:cs typeface="Cambria Math"/>
              </a:rPr>
              <a:t>+</a:t>
            </a:r>
            <a:r>
              <a:rPr lang="zh-CN" altLang="en-US" sz="1200" kern="1200" spc="5" dirty="0">
                <a:solidFill>
                  <a:srgbClr val="0432FF"/>
                </a:solidFill>
                <a:latin typeface="Cambria Math"/>
                <a:cs typeface="Cambria Math"/>
              </a:rPr>
              <a:t> </a:t>
            </a:r>
            <a:r>
              <a:rPr lang="zh-CN" altLang="en-US" sz="1200" kern="1200" dirty="0">
                <a:solidFill>
                  <a:srgbClr val="0432FF"/>
                </a:solidFill>
                <a:latin typeface="Cambria Math"/>
                <a:cs typeface="Cambria Math"/>
              </a:rPr>
              <a:t>𝐸 </a:t>
            </a:r>
            <a:r>
              <a:rPr lang="en-US" altLang="zh-CN" sz="1200" kern="1200" dirty="0">
                <a:solidFill>
                  <a:srgbClr val="0432FF"/>
                </a:solidFill>
                <a:latin typeface="Cambria Math"/>
                <a:cs typeface="Cambria Math"/>
              </a:rPr>
              <a:t>| </a:t>
            </a:r>
            <a:r>
              <a:rPr lang="zh-CN" altLang="en-US" sz="1200" kern="1200" dirty="0">
                <a:solidFill>
                  <a:srgbClr val="0432FF"/>
                </a:solidFill>
                <a:latin typeface="Cambria Math"/>
                <a:cs typeface="Cambria Math"/>
              </a:rPr>
              <a:t>𝐸</a:t>
            </a:r>
            <a:r>
              <a:rPr lang="zh-CN" altLang="en-US" sz="1200" kern="1200" spc="80" dirty="0">
                <a:solidFill>
                  <a:srgbClr val="0432FF"/>
                </a:solidFill>
                <a:latin typeface="Cambria Math"/>
                <a:cs typeface="Cambria Math"/>
              </a:rPr>
              <a:t> </a:t>
            </a:r>
            <a:r>
              <a:rPr lang="zh-CN" altLang="en-US" sz="1200" kern="1200" dirty="0">
                <a:solidFill>
                  <a:srgbClr val="0432FF"/>
                </a:solidFill>
                <a:latin typeface="Cambria Math"/>
                <a:cs typeface="Cambria Math"/>
              </a:rPr>
              <a:t>∗ 𝐸 </a:t>
            </a:r>
            <a:r>
              <a:rPr lang="en-US" altLang="zh-CN" sz="1200" kern="1200" dirty="0">
                <a:solidFill>
                  <a:srgbClr val="0432FF"/>
                </a:solidFill>
                <a:latin typeface="Cambria Math"/>
                <a:cs typeface="Cambria Math"/>
              </a:rPr>
              <a:t>| (</a:t>
            </a:r>
            <a:r>
              <a:rPr lang="zh-CN" altLang="en-US" sz="1200" kern="1200" dirty="0">
                <a:solidFill>
                  <a:srgbClr val="0432FF"/>
                </a:solidFill>
                <a:latin typeface="Cambria Math"/>
                <a:cs typeface="Cambria Math"/>
              </a:rPr>
              <a:t>𝐸</a:t>
            </a:r>
            <a:r>
              <a:rPr lang="en-US" altLang="zh-CN" sz="1200" kern="1200" dirty="0">
                <a:solidFill>
                  <a:srgbClr val="0432FF"/>
                </a:solidFill>
                <a:latin typeface="Cambria Math"/>
                <a:cs typeface="Cambria Math"/>
              </a:rPr>
              <a:t>)</a:t>
            </a:r>
            <a:r>
              <a:rPr lang="zh-CN" altLang="en-US" sz="1200" kern="1200" dirty="0">
                <a:solidFill>
                  <a:srgbClr val="0432FF"/>
                </a:solidFill>
                <a:latin typeface="Cambria Math"/>
                <a:cs typeface="Cambria Math"/>
              </a:rPr>
              <a:t> </a:t>
            </a:r>
            <a:r>
              <a:rPr lang="en-US" altLang="zh-CN" sz="1200" kern="1200" dirty="0">
                <a:solidFill>
                  <a:srgbClr val="0432FF"/>
                </a:solidFill>
                <a:latin typeface="Cambria Math"/>
                <a:cs typeface="Cambria Math"/>
              </a:rPr>
              <a:t>|</a:t>
            </a:r>
            <a:r>
              <a:rPr lang="zh-CN" altLang="en-US" sz="1200" kern="1200" spc="-5" dirty="0">
                <a:solidFill>
                  <a:srgbClr val="0432FF"/>
                </a:solidFill>
                <a:latin typeface="Cambria Math"/>
                <a:cs typeface="Cambria Math"/>
              </a:rPr>
              <a:t> </a:t>
            </a:r>
            <a:r>
              <a:rPr lang="zh-CN" altLang="en-US" sz="1200" kern="1200" dirty="0">
                <a:solidFill>
                  <a:srgbClr val="0432FF"/>
                </a:solidFill>
                <a:latin typeface="Cambria Math"/>
                <a:cs typeface="Cambria Math"/>
              </a:rPr>
              <a:t>𝐢𝐝</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如何解读 </a:t>
            </a:r>
            <a:r>
              <a:rPr lang="zh-CN" altLang="en-US" sz="1200" kern="1200" dirty="0">
                <a:solidFill>
                  <a:srgbClr val="0432FF"/>
                </a:solidFill>
                <a:latin typeface="Cambria Math"/>
                <a:cs typeface="Cambria Math"/>
              </a:rPr>
              <a:t>𝑎</a:t>
            </a:r>
            <a:r>
              <a:rPr lang="zh-CN" altLang="en-US" sz="1200" kern="1200" spc="45" dirty="0">
                <a:solidFill>
                  <a:srgbClr val="0432FF"/>
                </a:solidFill>
                <a:latin typeface="Cambria Math"/>
                <a:cs typeface="Cambria Math"/>
              </a:rPr>
              <a:t> </a:t>
            </a:r>
            <a:r>
              <a:rPr lang="en-US" altLang="zh-CN" sz="1200" kern="1200" dirty="0">
                <a:solidFill>
                  <a:srgbClr val="0432FF"/>
                </a:solidFill>
                <a:latin typeface="Cambria Math"/>
                <a:cs typeface="Cambria Math"/>
              </a:rPr>
              <a:t>+ </a:t>
            </a:r>
            <a:r>
              <a:rPr lang="zh-CN" altLang="en-US" sz="1200" kern="1200" dirty="0">
                <a:solidFill>
                  <a:srgbClr val="0432FF"/>
                </a:solidFill>
                <a:latin typeface="Cambria Math"/>
                <a:cs typeface="Cambria Math"/>
              </a:rPr>
              <a:t>𝑏</a:t>
            </a:r>
            <a:r>
              <a:rPr lang="zh-CN" altLang="en-US" sz="1200" kern="1200" spc="30" dirty="0">
                <a:solidFill>
                  <a:srgbClr val="0432FF"/>
                </a:solidFill>
                <a:latin typeface="Cambria Math"/>
                <a:cs typeface="Cambria Math"/>
              </a:rPr>
              <a:t> </a:t>
            </a:r>
            <a:r>
              <a:rPr lang="zh-CN" altLang="en-US" sz="1200" kern="1200" dirty="0">
                <a:solidFill>
                  <a:srgbClr val="0432FF"/>
                </a:solidFill>
                <a:latin typeface="Cambria Math"/>
                <a:cs typeface="Cambria Math"/>
              </a:rPr>
              <a:t>∗</a:t>
            </a:r>
            <a:r>
              <a:rPr lang="zh-CN" altLang="en-US" sz="1200" kern="1200" spc="-5" dirty="0">
                <a:solidFill>
                  <a:srgbClr val="0432FF"/>
                </a:solidFill>
                <a:latin typeface="Cambria Math"/>
                <a:cs typeface="Cambria Math"/>
              </a:rPr>
              <a:t> </a:t>
            </a:r>
            <a:r>
              <a:rPr lang="zh-CN" altLang="en-US" sz="1200" kern="1200" spc="30" dirty="0">
                <a:solidFill>
                  <a:srgbClr val="0432FF"/>
                </a:solidFill>
                <a:latin typeface="Cambria Math"/>
                <a:cs typeface="Cambria Math"/>
              </a:rPr>
              <a:t>𝑐</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 </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答案：该文法是上一张</a:t>
            </a:r>
            <a:r>
              <a:rPr lang="en-US" altLang="zh-CN" sz="1200" dirty="0">
                <a:latin typeface="黑体" panose="02010609060101010101" pitchFamily="49" charset="-122"/>
                <a:ea typeface="黑体" panose="02010609060101010101" pitchFamily="49" charset="-122"/>
              </a:rPr>
              <a:t>PPT</a:t>
            </a:r>
            <a:r>
              <a:rPr lang="zh-CN" altLang="en-US" sz="1200" dirty="0">
                <a:latin typeface="黑体" panose="02010609060101010101" pitchFamily="49" charset="-122"/>
                <a:ea typeface="黑体" panose="02010609060101010101" pitchFamily="49" charset="-122"/>
              </a:rPr>
              <a:t>的示例，根据两种语法分析树，第一种解释：应先处理</a:t>
            </a:r>
            <a:r>
              <a:rPr lang="en-US" altLang="zh-CN" sz="1200" dirty="0">
                <a:latin typeface="黑体" panose="02010609060101010101" pitchFamily="49" charset="-122"/>
                <a:ea typeface="黑体" panose="02010609060101010101" pitchFamily="49" charset="-122"/>
              </a:rPr>
              <a:t>b*c</a:t>
            </a:r>
            <a:r>
              <a:rPr lang="zh-CN" altLang="en-US" sz="1200" dirty="0">
                <a:latin typeface="黑体" panose="02010609060101010101" pitchFamily="49" charset="-122"/>
                <a:ea typeface="黑体" panose="02010609060101010101" pitchFamily="49" charset="-122"/>
              </a:rPr>
              <a:t>，然后与</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相加；第二种解释：应先处理</a:t>
            </a:r>
            <a:r>
              <a:rPr lang="en-US" altLang="zh-CN" sz="1200" dirty="0" err="1">
                <a:latin typeface="黑体" panose="02010609060101010101" pitchFamily="49" charset="-122"/>
                <a:ea typeface="黑体" panose="02010609060101010101" pitchFamily="49" charset="-122"/>
              </a:rPr>
              <a:t>a+b</a:t>
            </a:r>
            <a:r>
              <a:rPr lang="zh-CN" altLang="en-US" sz="1200" dirty="0">
                <a:latin typeface="黑体" panose="02010609060101010101" pitchFamily="49" charset="-122"/>
                <a:ea typeface="黑体" panose="02010609060101010101" pitchFamily="49" charset="-122"/>
              </a:rPr>
              <a:t>，然后与</a:t>
            </a:r>
            <a:r>
              <a:rPr lang="en-US" altLang="zh-CN" sz="1200" dirty="0">
                <a:latin typeface="黑体" panose="02010609060101010101" pitchFamily="49" charset="-122"/>
                <a:ea typeface="黑体" panose="02010609060101010101" pitchFamily="49" charset="-122"/>
              </a:rPr>
              <a:t>c</a:t>
            </a:r>
            <a:r>
              <a:rPr lang="zh-CN" altLang="en-US" sz="1200" dirty="0">
                <a:latin typeface="黑体" panose="02010609060101010101" pitchFamily="49" charset="-122"/>
                <a:ea typeface="黑体" panose="02010609060101010101" pitchFamily="49" charset="-122"/>
              </a:rPr>
              <a:t>相乘</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在某些情况下，使用精心选择的歧义语法以及消歧规则来丢弃不需要的语法分析树是很方便的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20</a:t>
            </a:fld>
            <a:endParaRPr lang="zh-CN" altLang="en-US"/>
          </a:p>
        </p:txBody>
      </p:sp>
    </p:spTree>
    <p:extLst>
      <p:ext uri="{BB962C8B-B14F-4D97-AF65-F5344CB8AC3E}">
        <p14:creationId xmlns:p14="http://schemas.microsoft.com/office/powerpoint/2010/main" val="3276502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latin typeface="黑体" panose="02010609060101010101" pitchFamily="49" charset="-122"/>
                <a:ea typeface="黑体" panose="02010609060101010101" pitchFamily="49" charset="-122"/>
              </a:rPr>
              <a:t>CFG</a:t>
            </a:r>
            <a:r>
              <a:rPr lang="zh-CN" altLang="en-US" sz="1800" b="0" dirty="0">
                <a:latin typeface="黑体" panose="02010609060101010101" pitchFamily="49" charset="-122"/>
                <a:ea typeface="黑体" panose="02010609060101010101" pitchFamily="49" charset="-122"/>
              </a:rPr>
              <a:t>的形式化定义</a:t>
            </a:r>
            <a:endParaRPr lang="en-US" altLang="zh-CN" sz="1800" b="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推导和语法分析树</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dirty="0">
                <a:latin typeface="黑体" panose="02010609060101010101" pitchFamily="49" charset="-122"/>
                <a:ea typeface="黑体" panose="02010609060101010101" pitchFamily="49" charset="-122"/>
              </a:rPr>
              <a:t>二义性</a:t>
            </a:r>
            <a:endParaRPr lang="en-US" altLang="zh-CN" sz="1800" b="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a:latin typeface="黑体" panose="02010609060101010101" pitchFamily="49" charset="-122"/>
                <a:ea typeface="黑体" panose="02010609060101010101" pitchFamily="49" charset="-122"/>
              </a:rPr>
              <a:t>CFG</a:t>
            </a:r>
            <a:r>
              <a:rPr lang="zh-CN" altLang="en-US" sz="1800" b="1" dirty="0">
                <a:latin typeface="黑体" panose="02010609060101010101" pitchFamily="49" charset="-122"/>
                <a:ea typeface="黑体" panose="02010609060101010101" pitchFamily="49" charset="-122"/>
              </a:rPr>
              <a:t>与正则表达式</a:t>
            </a:r>
            <a:endParaRPr lang="en-US" altLang="zh-CN" sz="1800" b="1"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语法设计</a:t>
            </a:r>
          </a:p>
          <a:p>
            <a:endParaRPr lang="zh-CN" altLang="en-US" sz="1800" dirty="0">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21</a:t>
            </a:fld>
            <a:endParaRPr lang="zh-CN" altLang="en-US"/>
          </a:p>
        </p:txBody>
      </p:sp>
    </p:spTree>
    <p:extLst>
      <p:ext uri="{BB962C8B-B14F-4D97-AF65-F5344CB8AC3E}">
        <p14:creationId xmlns:p14="http://schemas.microsoft.com/office/powerpoint/2010/main" val="4201340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黑体" panose="02010609060101010101" pitchFamily="49" charset="-122"/>
                <a:ea typeface="黑体" panose="02010609060101010101" pitchFamily="49" charset="-122"/>
              </a:rPr>
              <a:t>CFG</a:t>
            </a:r>
            <a:r>
              <a:rPr lang="zh-CN" altLang="en-US" sz="1200" dirty="0">
                <a:latin typeface="黑体" panose="02010609060101010101" pitchFamily="49" charset="-122"/>
                <a:ea typeface="黑体" panose="02010609060101010101" pitchFamily="49" charset="-122"/>
              </a:rPr>
              <a:t>与正则表达式比较</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CFG</a:t>
            </a:r>
            <a:r>
              <a:rPr lang="zh-CN" altLang="en-US" sz="1200" dirty="0">
                <a:latin typeface="黑体" panose="02010609060101010101" pitchFamily="49" charset="-122"/>
                <a:ea typeface="黑体" panose="02010609060101010101" pitchFamily="49" charset="-122"/>
              </a:rPr>
              <a:t>比正则表达式更具表达能力</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可以用正则表达式描述的每个构造都可以用语法描述，但反之不成立</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每个正则语言都是上下文无关的语言，但反之不成立</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示例：</a:t>
            </a:r>
            <a:r>
              <a:rPr kumimoji="0" lang="zh-CN" altLang="en-US" sz="1200" b="0" i="0" u="none" strike="noStrike" kern="1200" cap="none" spc="0" normalizeH="0" baseline="0" noProof="0" dirty="0">
                <a:ln>
                  <a:noFill/>
                </a:ln>
                <a:solidFill>
                  <a:srgbClr val="FF0000"/>
                </a:solidFill>
                <a:effectLst/>
                <a:uLnTx/>
                <a:uFillTx/>
                <a:latin typeface="Cambria Math"/>
                <a:cs typeface="Cambria Math"/>
              </a:rPr>
              <a:t>𝐿</a:t>
            </a:r>
            <a:r>
              <a:rPr kumimoji="0" lang="en-US" altLang="zh-CN" sz="1200" b="0" i="0" u="none" strike="noStrike" kern="1200" cap="none" spc="180" normalizeH="0" baseline="0" noProof="0" dirty="0">
                <a:ln>
                  <a:noFill/>
                </a:ln>
                <a:solidFill>
                  <a:srgbClr val="FF0000"/>
                </a:solidFill>
                <a:effectLst/>
                <a:uLnTx/>
                <a:uFillTx/>
                <a:latin typeface="Cambria Math"/>
                <a:cs typeface="Cambria Math"/>
              </a:rPr>
              <a:t> </a:t>
            </a:r>
            <a:r>
              <a:rPr kumimoji="0" lang="en-US" altLang="zh-CN" sz="1200" b="0" i="0" u="none" strike="noStrike" kern="1200" cap="none" spc="0" normalizeH="0" baseline="0" noProof="0" dirty="0">
                <a:ln>
                  <a:noFill/>
                </a:ln>
                <a:solidFill>
                  <a:srgbClr val="FF0000"/>
                </a:solidFill>
                <a:effectLst/>
                <a:uLnTx/>
                <a:uFillTx/>
                <a:latin typeface="Cambria Math"/>
                <a:cs typeface="Cambria Math"/>
              </a:rPr>
              <a:t>={</a:t>
            </a:r>
            <a:r>
              <a:rPr kumimoji="0" lang="zh-CN" altLang="en-US" sz="1200" b="0" i="0" u="none" strike="noStrike" kern="1200" cap="none" spc="114" normalizeH="0" baseline="0" noProof="0" dirty="0">
                <a:ln>
                  <a:noFill/>
                </a:ln>
                <a:solidFill>
                  <a:srgbClr val="FF0000"/>
                </a:solidFill>
                <a:effectLst/>
                <a:uLnTx/>
                <a:uFillTx/>
                <a:latin typeface="Cambria Math"/>
                <a:cs typeface="Cambria Math"/>
              </a:rPr>
              <a:t>𝑎</a:t>
            </a:r>
            <a:r>
              <a:rPr kumimoji="0" lang="zh-CN" altLang="en-US" sz="1200" b="0" i="0" u="none" strike="noStrike" kern="1200" cap="none" spc="172" normalizeH="0" baseline="27777" noProof="0" dirty="0">
                <a:ln>
                  <a:noFill/>
                </a:ln>
                <a:solidFill>
                  <a:srgbClr val="FF0000"/>
                </a:solidFill>
                <a:effectLst/>
                <a:uLnTx/>
                <a:uFillTx/>
                <a:latin typeface="Cambria Math"/>
                <a:cs typeface="Cambria Math"/>
              </a:rPr>
              <a:t>𝑛</a:t>
            </a:r>
            <a:r>
              <a:rPr kumimoji="0" lang="zh-CN" altLang="en-US" sz="1200" b="0" i="0" u="none" strike="noStrike" kern="1200" cap="none" spc="114" normalizeH="0" baseline="0" noProof="0" dirty="0">
                <a:ln>
                  <a:noFill/>
                </a:ln>
                <a:solidFill>
                  <a:srgbClr val="FF0000"/>
                </a:solidFill>
                <a:effectLst/>
                <a:uLnTx/>
                <a:uFillTx/>
                <a:latin typeface="Cambria Math"/>
                <a:cs typeface="Cambria Math"/>
              </a:rPr>
              <a:t>𝑏</a:t>
            </a:r>
            <a:r>
              <a:rPr kumimoji="0" lang="zh-CN" altLang="en-US" sz="1200" b="0" i="0" u="none" strike="noStrike" kern="1200" cap="none" spc="172" normalizeH="0" baseline="27777" noProof="0" dirty="0">
                <a:ln>
                  <a:noFill/>
                </a:ln>
                <a:solidFill>
                  <a:srgbClr val="FF0000"/>
                </a:solidFill>
                <a:effectLst/>
                <a:uLnTx/>
                <a:uFillTx/>
                <a:latin typeface="Cambria Math"/>
                <a:cs typeface="Cambria Math"/>
              </a:rPr>
              <a:t>𝑛 </a:t>
            </a:r>
            <a:r>
              <a:rPr kumimoji="0" lang="en-US" altLang="zh-CN" sz="1200" b="0" i="0" u="none" strike="noStrike" kern="1200" cap="none" spc="0" normalizeH="0" baseline="0" noProof="0" dirty="0">
                <a:ln>
                  <a:noFill/>
                </a:ln>
                <a:solidFill>
                  <a:srgbClr val="FF0000"/>
                </a:solidFill>
                <a:effectLst/>
                <a:uLnTx/>
                <a:uFillTx/>
                <a:latin typeface="Cambria Math"/>
                <a:cs typeface="Cambria Math"/>
              </a:rPr>
              <a:t>| </a:t>
            </a:r>
            <a:r>
              <a:rPr kumimoji="0" lang="zh-CN" altLang="en-US" sz="1200" b="0" i="0" u="none" strike="noStrike" kern="1200" cap="none" spc="0" normalizeH="0" baseline="0" noProof="0" dirty="0">
                <a:ln>
                  <a:noFill/>
                </a:ln>
                <a:solidFill>
                  <a:srgbClr val="FF0000"/>
                </a:solidFill>
                <a:effectLst/>
                <a:uLnTx/>
                <a:uFillTx/>
                <a:latin typeface="Cambria Math"/>
                <a:cs typeface="Cambria Math"/>
              </a:rPr>
              <a:t>𝑛</a:t>
            </a:r>
            <a:r>
              <a:rPr kumimoji="0" lang="en-US" altLang="zh-CN" sz="1200" b="0" i="0" u="none" strike="noStrike" kern="1200" cap="none" spc="0" normalizeH="0" baseline="0" noProof="0" dirty="0">
                <a:ln>
                  <a:noFill/>
                </a:ln>
                <a:solidFill>
                  <a:srgbClr val="FF0000"/>
                </a:solidFill>
                <a:effectLst/>
                <a:uLnTx/>
                <a:uFillTx/>
                <a:latin typeface="Cambria Math"/>
                <a:cs typeface="Cambria Math"/>
              </a:rPr>
              <a:t>&gt;</a:t>
            </a:r>
            <a:r>
              <a:rPr kumimoji="0" lang="en-US" altLang="zh-CN" sz="1200" b="0" i="0" u="none" strike="noStrike" kern="1200" cap="none" spc="95" normalizeH="0" baseline="0" noProof="0" dirty="0">
                <a:ln>
                  <a:noFill/>
                </a:ln>
                <a:solidFill>
                  <a:srgbClr val="FF0000"/>
                </a:solidFill>
                <a:effectLst/>
                <a:uLnTx/>
                <a:uFillTx/>
                <a:latin typeface="Cambria Math"/>
                <a:cs typeface="Cambria Math"/>
              </a:rPr>
              <a:t> </a:t>
            </a:r>
            <a:r>
              <a:rPr kumimoji="0" lang="en-US" altLang="zh-CN" sz="1200" b="0" i="0" u="none" strike="noStrike" kern="1200" cap="none" spc="-5" normalizeH="0" baseline="0" noProof="0" dirty="0">
                <a:ln>
                  <a:noFill/>
                </a:ln>
                <a:solidFill>
                  <a:srgbClr val="FF0000"/>
                </a:solidFill>
                <a:effectLst/>
                <a:uLnTx/>
                <a:uFillTx/>
                <a:latin typeface="Cambria Math"/>
                <a:cs typeface="Cambria Math"/>
              </a:rPr>
              <a:t>0}</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语言</a:t>
            </a:r>
            <a:r>
              <a:rPr lang="en-US" altLang="zh-CN" sz="1200" dirty="0">
                <a:latin typeface="黑体" panose="02010609060101010101" pitchFamily="49" charset="-122"/>
                <a:ea typeface="黑体" panose="02010609060101010101" pitchFamily="49" charset="-122"/>
              </a:rPr>
              <a:t>L</a:t>
            </a:r>
            <a:r>
              <a:rPr lang="zh-CN" altLang="en-US" sz="1200" dirty="0">
                <a:latin typeface="黑体" panose="02010609060101010101" pitchFamily="49" charset="-122"/>
                <a:ea typeface="黑体" panose="02010609060101010101" pitchFamily="49" charset="-122"/>
              </a:rPr>
              <a:t>可以用</a:t>
            </a:r>
            <a:r>
              <a:rPr lang="en-US" altLang="zh-CN" sz="1200" dirty="0">
                <a:latin typeface="黑体" panose="02010609060101010101" pitchFamily="49" charset="-122"/>
                <a:ea typeface="黑体" panose="02010609060101010101" pitchFamily="49" charset="-122"/>
              </a:rPr>
              <a:t>CFG</a:t>
            </a:r>
            <a:r>
              <a:rPr lang="zh-CN" altLang="en-US" sz="1200" dirty="0">
                <a:latin typeface="黑体" panose="02010609060101010101" pitchFamily="49" charset="-122"/>
                <a:ea typeface="黑体" panose="02010609060101010101" pitchFamily="49" charset="-122"/>
              </a:rPr>
              <a:t>：</a:t>
            </a:r>
            <a:r>
              <a:rPr lang="zh-CN" altLang="en-US" kern="1200" dirty="0">
                <a:solidFill>
                  <a:srgbClr val="0432FF"/>
                </a:solidFill>
                <a:latin typeface="Cambria Math"/>
                <a:cs typeface="Cambria Math"/>
              </a:rPr>
              <a:t>𝑆</a:t>
            </a:r>
            <a:r>
              <a:rPr lang="zh-CN" altLang="en-US" kern="1200" spc="135" dirty="0">
                <a:solidFill>
                  <a:srgbClr val="0432FF"/>
                </a:solidFill>
                <a:latin typeface="Cambria Math"/>
                <a:cs typeface="Cambria Math"/>
              </a:rPr>
              <a:t> </a:t>
            </a:r>
            <a:r>
              <a:rPr lang="zh-CN" altLang="en-US" kern="1200" dirty="0">
                <a:solidFill>
                  <a:srgbClr val="0432FF"/>
                </a:solidFill>
                <a:latin typeface="Cambria Math"/>
                <a:cs typeface="Cambria Math"/>
              </a:rPr>
              <a:t>→</a:t>
            </a:r>
            <a:r>
              <a:rPr lang="zh-CN" altLang="en-US" kern="1200" spc="105" dirty="0">
                <a:solidFill>
                  <a:srgbClr val="0432FF"/>
                </a:solidFill>
                <a:latin typeface="Cambria Math"/>
                <a:cs typeface="Cambria Math"/>
              </a:rPr>
              <a:t> </a:t>
            </a:r>
            <a:r>
              <a:rPr lang="zh-CN" altLang="en-US" kern="1200" spc="-5" dirty="0">
                <a:solidFill>
                  <a:srgbClr val="0432FF"/>
                </a:solidFill>
                <a:latin typeface="Cambria Math"/>
                <a:cs typeface="Cambria Math"/>
              </a:rPr>
              <a:t>𝑎𝑆𝑏</a:t>
            </a:r>
            <a:r>
              <a:rPr lang="zh-CN" altLang="en-US" kern="1200" spc="45" dirty="0">
                <a:solidFill>
                  <a:srgbClr val="0432FF"/>
                </a:solidFill>
                <a:latin typeface="Cambria Math"/>
                <a:cs typeface="Cambria Math"/>
              </a:rPr>
              <a:t> </a:t>
            </a:r>
            <a:r>
              <a:rPr lang="en-US" altLang="zh-CN" kern="1200" dirty="0">
                <a:solidFill>
                  <a:srgbClr val="0432FF"/>
                </a:solidFill>
                <a:latin typeface="Cambria Math"/>
                <a:cs typeface="Cambria Math"/>
              </a:rPr>
              <a:t>|</a:t>
            </a:r>
            <a:r>
              <a:rPr lang="zh-CN" altLang="en-US" kern="1200" spc="5" dirty="0">
                <a:solidFill>
                  <a:srgbClr val="0432FF"/>
                </a:solidFill>
                <a:latin typeface="Cambria Math"/>
                <a:cs typeface="Cambria Math"/>
              </a:rPr>
              <a:t> </a:t>
            </a:r>
            <a:r>
              <a:rPr lang="zh-CN" altLang="en-US" kern="1200" spc="-5" dirty="0">
                <a:solidFill>
                  <a:srgbClr val="0432FF"/>
                </a:solidFill>
                <a:latin typeface="Cambria Math"/>
                <a:cs typeface="Cambria Math"/>
              </a:rPr>
              <a:t>𝑎𝑏</a:t>
            </a:r>
            <a:r>
              <a:rPr lang="zh-CN" altLang="en-US" sz="1200" kern="1200" spc="-5" dirty="0">
                <a:solidFill>
                  <a:prstClr val="black"/>
                </a:solidFill>
                <a:latin typeface="Cambria Math"/>
                <a:ea typeface="+mn-ea"/>
                <a:cs typeface="Cambria Math"/>
              </a:rPr>
              <a:t> </a:t>
            </a:r>
            <a:r>
              <a:rPr lang="zh-CN" altLang="en-US" sz="1200" dirty="0">
                <a:latin typeface="黑体" panose="02010609060101010101" pitchFamily="49" charset="-122"/>
                <a:ea typeface="黑体" panose="02010609060101010101" pitchFamily="49" charset="-122"/>
              </a:rPr>
              <a:t>来描述</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L</a:t>
            </a:r>
            <a:r>
              <a:rPr lang="zh-CN" altLang="en-US" sz="1200" dirty="0">
                <a:latin typeface="黑体" panose="02010609060101010101" pitchFamily="49" charset="-122"/>
                <a:ea typeface="黑体" panose="02010609060101010101" pitchFamily="49" charset="-122"/>
              </a:rPr>
              <a:t>不能用正则表达式来描述。换句话说，我们不能构造一个</a:t>
            </a:r>
            <a:r>
              <a:rPr lang="en-US" altLang="zh-CN" sz="1200" dirty="0">
                <a:latin typeface="黑体" panose="02010609060101010101" pitchFamily="49" charset="-122"/>
                <a:ea typeface="黑体" panose="02010609060101010101" pitchFamily="49" charset="-122"/>
              </a:rPr>
              <a:t>DFA</a:t>
            </a:r>
            <a:r>
              <a:rPr lang="zh-CN" altLang="en-US" sz="1200" dirty="0">
                <a:latin typeface="黑体" panose="02010609060101010101" pitchFamily="49" charset="-122"/>
                <a:ea typeface="黑体" panose="02010609060101010101" pitchFamily="49" charset="-122"/>
              </a:rPr>
              <a:t>来接受</a:t>
            </a:r>
            <a:r>
              <a:rPr lang="en-US" altLang="zh-CN" sz="1200" dirty="0">
                <a:latin typeface="黑体" panose="02010609060101010101" pitchFamily="49" charset="-122"/>
                <a:ea typeface="黑体" panose="02010609060101010101" pitchFamily="49" charset="-122"/>
              </a:rPr>
              <a:t>L</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22</a:t>
            </a:fld>
            <a:endParaRPr lang="zh-CN" altLang="en-US"/>
          </a:p>
        </p:txBody>
      </p:sp>
    </p:spTree>
    <p:extLst>
      <p:ext uri="{BB962C8B-B14F-4D97-AF65-F5344CB8AC3E}">
        <p14:creationId xmlns:p14="http://schemas.microsoft.com/office/powerpoint/2010/main" val="3262679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反证法（了解即可）</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假设存在</a:t>
            </a:r>
            <a:r>
              <a:rPr lang="en-US" altLang="zh-CN" sz="1200" dirty="0">
                <a:latin typeface="黑体" panose="02010609060101010101" pitchFamily="49" charset="-122"/>
                <a:ea typeface="黑体" panose="02010609060101010101" pitchFamily="49" charset="-122"/>
              </a:rPr>
              <a:t>DFA D</a:t>
            </a:r>
            <a:r>
              <a:rPr lang="zh-CN" altLang="en-US" sz="1200" dirty="0">
                <a:latin typeface="黑体" panose="02010609060101010101" pitchFamily="49" charset="-122"/>
                <a:ea typeface="黑体" panose="02010609060101010101" pitchFamily="49" charset="-122"/>
              </a:rPr>
              <a:t> 接受</a:t>
            </a:r>
            <a:r>
              <a:rPr lang="en-US" altLang="zh-CN" sz="1200" dirty="0">
                <a:latin typeface="黑体" panose="02010609060101010101" pitchFamily="49" charset="-122"/>
                <a:ea typeface="黑体" panose="02010609060101010101" pitchFamily="49" charset="-122"/>
              </a:rPr>
              <a:t>L</a:t>
            </a:r>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D</a:t>
            </a:r>
            <a:r>
              <a:rPr lang="zh-CN" altLang="en-US" sz="1200" dirty="0">
                <a:latin typeface="黑体" panose="02010609060101010101" pitchFamily="49" charset="-122"/>
                <a:ea typeface="黑体" panose="02010609060101010101" pitchFamily="49" charset="-122"/>
              </a:rPr>
              <a:t>有</a:t>
            </a:r>
            <a:r>
              <a:rPr lang="en-US" altLang="zh-CN" sz="1200" dirty="0">
                <a:latin typeface="黑体" panose="02010609060101010101" pitchFamily="49" charset="-122"/>
                <a:ea typeface="黑体" panose="02010609060101010101" pitchFamily="49" charset="-122"/>
              </a:rPr>
              <a:t>k</a:t>
            </a:r>
            <a:r>
              <a:rPr lang="zh-CN" altLang="en-US" sz="1200" dirty="0">
                <a:latin typeface="黑体" panose="02010609060101010101" pitchFamily="49" charset="-122"/>
                <a:ea typeface="黑体" panose="02010609060101010101" pitchFamily="49" charset="-122"/>
              </a:rPr>
              <a:t>个状态</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处理</a:t>
            </a:r>
            <a:r>
              <a:rPr lang="zh-CN" altLang="en-US" sz="1100" kern="1200" spc="195" dirty="0">
                <a:solidFill>
                  <a:prstClr val="black"/>
                </a:solidFill>
                <a:latin typeface="Cambria Math"/>
                <a:cs typeface="Cambria Math"/>
              </a:rPr>
              <a:t>𝑎</a:t>
            </a:r>
            <a:r>
              <a:rPr lang="zh-CN" altLang="en-US" sz="1200" kern="1200" spc="292" baseline="27777" dirty="0">
                <a:solidFill>
                  <a:srgbClr val="FF0000"/>
                </a:solidFill>
                <a:latin typeface="Cambria Math"/>
                <a:cs typeface="Cambria Math"/>
              </a:rPr>
              <a:t>𝑘</a:t>
            </a:r>
            <a:r>
              <a:rPr lang="en-US" altLang="zh-CN" sz="1200" kern="1200" spc="292" baseline="27777" dirty="0">
                <a:solidFill>
                  <a:srgbClr val="FF0000"/>
                </a:solidFill>
                <a:latin typeface="Cambria Math"/>
                <a:cs typeface="Cambria Math"/>
              </a:rPr>
              <a:t>+1</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时，</a:t>
            </a:r>
            <a:r>
              <a:rPr lang="en-US" altLang="zh-CN" sz="1200" dirty="0">
                <a:latin typeface="黑体" panose="02010609060101010101" pitchFamily="49" charset="-122"/>
                <a:ea typeface="黑体" panose="02010609060101010101" pitchFamily="49" charset="-122"/>
              </a:rPr>
              <a:t>D</a:t>
            </a:r>
            <a:r>
              <a:rPr lang="zh-CN" altLang="en-US" sz="1200" dirty="0">
                <a:latin typeface="黑体" panose="02010609060101010101" pitchFamily="49" charset="-122"/>
                <a:ea typeface="黑体" panose="02010609060101010101" pitchFamily="49" charset="-122"/>
              </a:rPr>
              <a:t> 必须进入状态</a:t>
            </a:r>
            <a:r>
              <a:rPr lang="en-US" altLang="zh-CN" sz="1200" dirty="0">
                <a:latin typeface="黑体" panose="02010609060101010101" pitchFamily="49" charset="-122"/>
                <a:ea typeface="黑体" panose="02010609060101010101" pitchFamily="49" charset="-122"/>
              </a:rPr>
              <a:t>s</a:t>
            </a:r>
            <a:r>
              <a:rPr lang="zh-CN" altLang="en-US" sz="1200" dirty="0">
                <a:latin typeface="黑体" panose="02010609060101010101" pitchFamily="49" charset="-122"/>
                <a:ea typeface="黑体" panose="02010609060101010101" pitchFamily="49" charset="-122"/>
              </a:rPr>
              <a:t>，且不止一次（</a:t>
            </a:r>
            <a:r>
              <a:rPr lang="en-US" altLang="zh-CN" sz="1200" dirty="0">
                <a:latin typeface="黑体" panose="02010609060101010101" pitchFamily="49" charset="-122"/>
                <a:ea typeface="黑体" panose="02010609060101010101" pitchFamily="49" charset="-122"/>
              </a:rPr>
              <a:t>D</a:t>
            </a:r>
            <a:r>
              <a:rPr lang="zh-CN" altLang="en-US" sz="1200" dirty="0">
                <a:latin typeface="黑体" panose="02010609060101010101" pitchFamily="49" charset="-122"/>
                <a:ea typeface="黑体" panose="02010609060101010101" pitchFamily="49" charset="-122"/>
              </a:rPr>
              <a:t>每处理一个符号都会进入一种状态）</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假设</a:t>
            </a:r>
            <a:r>
              <a:rPr lang="en-US" altLang="zh-CN" sz="1200" dirty="0">
                <a:latin typeface="黑体" panose="02010609060101010101" pitchFamily="49" charset="-122"/>
                <a:ea typeface="黑体" panose="02010609060101010101" pitchFamily="49" charset="-122"/>
              </a:rPr>
              <a:t>D</a:t>
            </a:r>
            <a:r>
              <a:rPr lang="zh-CN" altLang="en-US" sz="1200" dirty="0">
                <a:latin typeface="黑体" panose="02010609060101010101" pitchFamily="49" charset="-122"/>
                <a:ea typeface="黑体" panose="02010609060101010101" pitchFamily="49" charset="-122"/>
              </a:rPr>
              <a:t> 进入状态</a:t>
            </a:r>
            <a:r>
              <a:rPr lang="en-US" altLang="zh-CN" sz="1200" dirty="0">
                <a:latin typeface="黑体" panose="02010609060101010101" pitchFamily="49" charset="-122"/>
                <a:ea typeface="黑体" panose="02010609060101010101" pitchFamily="49" charset="-122"/>
              </a:rPr>
              <a:t>s</a:t>
            </a:r>
            <a:r>
              <a:rPr lang="zh-CN" altLang="en-US" sz="1200" dirty="0">
                <a:latin typeface="黑体" panose="02010609060101010101" pitchFamily="49" charset="-122"/>
                <a:ea typeface="黑体" panose="02010609060101010101" pitchFamily="49" charset="-122"/>
              </a:rPr>
              <a:t>在读入第</a:t>
            </a:r>
            <a:r>
              <a:rPr lang="en-US" altLang="zh-CN" sz="1200" dirty="0" err="1">
                <a:latin typeface="黑体" panose="02010609060101010101" pitchFamily="49" charset="-122"/>
                <a:ea typeface="黑体" panose="02010609060101010101" pitchFamily="49" charset="-122"/>
              </a:rPr>
              <a:t>i</a:t>
            </a:r>
            <a:r>
              <a:rPr lang="zh-CN" altLang="en-US" sz="1200" dirty="0">
                <a:latin typeface="黑体" panose="02010609060101010101" pitchFamily="49" charset="-122"/>
                <a:ea typeface="黑体" panose="02010609060101010101" pitchFamily="49" charset="-122"/>
              </a:rPr>
              <a:t>个</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和第</a:t>
            </a:r>
            <a:r>
              <a:rPr lang="en-US" altLang="zh-CN" sz="1200" dirty="0">
                <a:latin typeface="黑体" panose="02010609060101010101" pitchFamily="49" charset="-122"/>
                <a:ea typeface="黑体" panose="02010609060101010101" pitchFamily="49" charset="-122"/>
              </a:rPr>
              <a:t>j</a:t>
            </a:r>
            <a:r>
              <a:rPr lang="zh-CN" altLang="en-US" sz="1200" dirty="0">
                <a:latin typeface="黑体" panose="02010609060101010101" pitchFamily="49" charset="-122"/>
                <a:ea typeface="黑体" panose="02010609060101010101" pitchFamily="49" charset="-122"/>
              </a:rPr>
              <a:t>个</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后 </a:t>
            </a:r>
            <a:r>
              <a:rPr lang="en-US" altLang="zh-CN" sz="1200" dirty="0">
                <a:latin typeface="黑体" panose="02010609060101010101" pitchFamily="49" charset="-122"/>
                <a:ea typeface="黑体" panose="02010609060101010101" pitchFamily="49" charset="-122"/>
              </a:rPr>
              <a:t>(</a:t>
            </a:r>
            <a:r>
              <a:rPr lang="en-US" altLang="zh-CN" sz="1200" dirty="0" err="1">
                <a:latin typeface="黑体" panose="02010609060101010101" pitchFamily="49" charset="-122"/>
                <a:ea typeface="黑体" panose="02010609060101010101" pitchFamily="49" charset="-122"/>
              </a:rPr>
              <a:t>i</a:t>
            </a:r>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j, i</a:t>
            </a:r>
            <a:r>
              <a:rPr lang="zh-CN" altLang="en-US" sz="1200" dirty="0">
                <a:latin typeface="黑体" panose="02010609060101010101" pitchFamily="49" charset="-122"/>
                <a:ea typeface="黑体" panose="02010609060101010101" pitchFamily="49" charset="-122"/>
              </a:rPr>
              <a:t> ≤ </a:t>
            </a:r>
            <a:r>
              <a:rPr lang="en-US" altLang="zh-CN" sz="1200" dirty="0">
                <a:latin typeface="黑体" panose="02010609060101010101" pitchFamily="49" charset="-122"/>
                <a:ea typeface="黑体" panose="02010609060101010101" pitchFamily="49" charset="-122"/>
              </a:rPr>
              <a:t>k</a:t>
            </a:r>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+ 1, j</a:t>
            </a:r>
            <a:r>
              <a:rPr lang="zh-CN" altLang="en-US" sz="1200" dirty="0">
                <a:latin typeface="黑体" panose="02010609060101010101" pitchFamily="49" charset="-122"/>
                <a:ea typeface="黑体" panose="02010609060101010101" pitchFamily="49" charset="-122"/>
              </a:rPr>
              <a:t> ≤ </a:t>
            </a:r>
            <a:r>
              <a:rPr lang="en-US" altLang="zh-CN" sz="1200" dirty="0">
                <a:latin typeface="黑体" panose="02010609060101010101" pitchFamily="49" charset="-122"/>
                <a:ea typeface="黑体" panose="02010609060101010101" pitchFamily="49" charset="-122"/>
              </a:rPr>
              <a:t>k</a:t>
            </a:r>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+ 1</a:t>
            </a:r>
            <a:r>
              <a:rPr lang="zh-CN" altLang="en-US" sz="1200" dirty="0">
                <a:latin typeface="黑体" panose="02010609060101010101" pitchFamily="49" charset="-122"/>
                <a:ea typeface="黑体" panose="02010609060101010101" pitchFamily="49" charset="-122"/>
              </a:rPr>
              <a:t>）</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按照上一张</a:t>
            </a:r>
            <a:r>
              <a:rPr lang="en-US" altLang="zh-CN" sz="1200" dirty="0">
                <a:latin typeface="黑体" panose="02010609060101010101" pitchFamily="49" charset="-122"/>
                <a:ea typeface="黑体" panose="02010609060101010101" pitchFamily="49" charset="-122"/>
              </a:rPr>
              <a:t>PPT</a:t>
            </a:r>
            <a:r>
              <a:rPr lang="zh-CN" altLang="en-US" sz="1200" dirty="0">
                <a:latin typeface="黑体" panose="02010609060101010101" pitchFamily="49" charset="-122"/>
                <a:ea typeface="黑体" panose="02010609060101010101" pitchFamily="49" charset="-122"/>
              </a:rPr>
              <a:t>的示例，因为</a:t>
            </a:r>
            <a:r>
              <a:rPr lang="en-US" altLang="zh-CN" sz="1200" dirty="0">
                <a:latin typeface="黑体" panose="02010609060101010101" pitchFamily="49" charset="-122"/>
                <a:ea typeface="黑体" panose="02010609060101010101" pitchFamily="49" charset="-122"/>
              </a:rPr>
              <a:t>D</a:t>
            </a:r>
            <a:r>
              <a:rPr lang="zh-CN" altLang="en-US" sz="1200" dirty="0">
                <a:latin typeface="黑体" panose="02010609060101010101" pitchFamily="49" charset="-122"/>
                <a:ea typeface="黑体" panose="02010609060101010101" pitchFamily="49" charset="-122"/>
              </a:rPr>
              <a:t>接受文法</a:t>
            </a:r>
            <a:r>
              <a:rPr lang="en-US" altLang="zh-CN" sz="1200" dirty="0">
                <a:latin typeface="黑体" panose="02010609060101010101" pitchFamily="49" charset="-122"/>
                <a:ea typeface="黑体" panose="02010609060101010101" pitchFamily="49" charset="-122"/>
              </a:rPr>
              <a:t>L, </a:t>
            </a:r>
            <a:r>
              <a:rPr lang="zh-CN" altLang="en-US" sz="1200" dirty="0">
                <a:latin typeface="黑体" panose="02010609060101010101" pitchFamily="49" charset="-122"/>
                <a:ea typeface="黑体" panose="02010609060101010101" pitchFamily="49" charset="-122"/>
              </a:rPr>
              <a:t>所以</a:t>
            </a:r>
            <a:r>
              <a:rPr lang="zh-CN" altLang="en-US" sz="1200" kern="1200" spc="-120" dirty="0">
                <a:solidFill>
                  <a:srgbClr val="FF0000"/>
                </a:solidFill>
                <a:latin typeface="Cambria Math"/>
                <a:cs typeface="Cambria Math"/>
              </a:rPr>
              <a:t>𝑎</a:t>
            </a:r>
            <a:r>
              <a:rPr lang="en-US" altLang="zh-CN" sz="1200" kern="1200" spc="-120" dirty="0">
                <a:solidFill>
                  <a:srgbClr val="FF0000"/>
                </a:solidFill>
                <a:latin typeface="Cambria Math"/>
                <a:cs typeface="Cambria Math"/>
              </a:rPr>
              <a:t> </a:t>
            </a:r>
            <a:r>
              <a:rPr lang="en-US" altLang="zh-CN" sz="1400" kern="1200" spc="-179" baseline="27777" dirty="0">
                <a:solidFill>
                  <a:srgbClr val="FF0000"/>
                </a:solidFill>
                <a:latin typeface="Cambria Math"/>
                <a:cs typeface="Cambria Math"/>
              </a:rPr>
              <a:t>j  </a:t>
            </a:r>
            <a:r>
              <a:rPr lang="zh-CN" altLang="en-US" sz="1200" kern="1200" spc="-120" dirty="0">
                <a:solidFill>
                  <a:srgbClr val="FF0000"/>
                </a:solidFill>
                <a:latin typeface="Cambria Math"/>
                <a:cs typeface="Cambria Math"/>
              </a:rPr>
              <a:t>𝑏</a:t>
            </a:r>
            <a:r>
              <a:rPr lang="en-US" altLang="zh-CN" sz="1200" kern="1200" spc="-120" dirty="0">
                <a:solidFill>
                  <a:srgbClr val="FF0000"/>
                </a:solidFill>
                <a:latin typeface="Cambria Math"/>
                <a:cs typeface="Cambria Math"/>
              </a:rPr>
              <a:t> </a:t>
            </a:r>
            <a:r>
              <a:rPr lang="en-US" altLang="zh-CN" sz="1400" kern="1200" spc="-179" baseline="27777" dirty="0">
                <a:solidFill>
                  <a:srgbClr val="FF0000"/>
                </a:solidFill>
                <a:latin typeface="Cambria Math"/>
                <a:cs typeface="Cambria Math"/>
              </a:rPr>
              <a:t>j</a:t>
            </a:r>
            <a:r>
              <a:rPr lang="en-US" altLang="zh-CN" sz="1400" kern="1200" spc="52" baseline="27777" dirty="0">
                <a:solidFill>
                  <a:srgbClr val="FF0000"/>
                </a:solidFill>
                <a:latin typeface="Cambria Math"/>
                <a:cs typeface="Cambria Math"/>
              </a:rPr>
              <a:t>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必须达到接受状态。必须存在一个标记为</a:t>
            </a:r>
            <a:r>
              <a:rPr lang="zh-CN" altLang="en-US" sz="1200" kern="1200" spc="-120" dirty="0">
                <a:solidFill>
                  <a:srgbClr val="FF0000"/>
                </a:solidFill>
                <a:latin typeface="Cambria Math"/>
                <a:cs typeface="Cambria Math"/>
              </a:rPr>
              <a:t>𝑏</a:t>
            </a:r>
            <a:r>
              <a:rPr lang="en-US" altLang="zh-CN" sz="1200" kern="1200" spc="-120" dirty="0">
                <a:solidFill>
                  <a:srgbClr val="FF0000"/>
                </a:solidFill>
                <a:latin typeface="Cambria Math"/>
                <a:cs typeface="Cambria Math"/>
              </a:rPr>
              <a:t> </a:t>
            </a:r>
            <a:r>
              <a:rPr lang="en-US" altLang="zh-CN" sz="1400" kern="1200" spc="-179" baseline="27777" dirty="0">
                <a:solidFill>
                  <a:srgbClr val="FF0000"/>
                </a:solidFill>
                <a:latin typeface="Cambria Math"/>
                <a:cs typeface="Cambria Math"/>
              </a:rPr>
              <a:t>j </a:t>
            </a:r>
            <a:r>
              <a:rPr lang="zh-CN" altLang="en-US" sz="1200" dirty="0">
                <a:latin typeface="黑体" panose="02010609060101010101" pitchFamily="49" charset="-122"/>
                <a:ea typeface="黑体" panose="02010609060101010101" pitchFamily="49" charset="-122"/>
              </a:rPr>
              <a:t>从</a:t>
            </a:r>
            <a:r>
              <a:rPr lang="en-US" altLang="zh-CN" sz="1200" dirty="0">
                <a:latin typeface="黑体" panose="02010609060101010101" pitchFamily="49" charset="-122"/>
                <a:ea typeface="黑体" panose="02010609060101010101" pitchFamily="49" charset="-122"/>
              </a:rPr>
              <a:t>s</a:t>
            </a:r>
            <a:r>
              <a:rPr lang="zh-CN" altLang="en-US" sz="1200" dirty="0">
                <a:latin typeface="黑体" panose="02010609060101010101" pitchFamily="49" charset="-122"/>
                <a:ea typeface="黑体" panose="02010609060101010101" pitchFamily="49" charset="-122"/>
              </a:rPr>
              <a:t>到接受状态的路径</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因为</a:t>
            </a:r>
            <a:r>
              <a:rPr lang="zh-CN" altLang="en-US" sz="1100" kern="1200" spc="195" dirty="0">
                <a:solidFill>
                  <a:prstClr val="black"/>
                </a:solidFill>
                <a:latin typeface="Cambria Math"/>
                <a:cs typeface="Cambria Math"/>
              </a:rPr>
              <a:t>𝑎</a:t>
            </a:r>
            <a:r>
              <a:rPr lang="en-US" altLang="zh-CN" sz="1200" kern="1200" spc="292" baseline="27777" dirty="0" err="1">
                <a:solidFill>
                  <a:srgbClr val="FF0000"/>
                </a:solidFill>
                <a:latin typeface="Cambria Math"/>
                <a:cs typeface="Cambria Math"/>
              </a:rPr>
              <a:t>i</a:t>
            </a:r>
            <a:r>
              <a:rPr lang="zh-CN" altLang="en-US" sz="1200" dirty="0">
                <a:latin typeface="黑体" panose="02010609060101010101" pitchFamily="49" charset="-122"/>
                <a:ea typeface="黑体" panose="02010609060101010101" pitchFamily="49" charset="-122"/>
              </a:rPr>
              <a:t>到达了状态</a:t>
            </a:r>
            <a:r>
              <a:rPr lang="en-US" altLang="zh-CN" sz="1200" dirty="0">
                <a:latin typeface="黑体" panose="02010609060101010101" pitchFamily="49" charset="-122"/>
                <a:ea typeface="黑体" panose="02010609060101010101" pitchFamily="49" charset="-122"/>
              </a:rPr>
              <a:t>s</a:t>
            </a:r>
            <a:r>
              <a:rPr lang="zh-CN" altLang="en-US" sz="1200" dirty="0">
                <a:latin typeface="黑体" panose="02010609060101010101" pitchFamily="49" charset="-122"/>
                <a:ea typeface="黑体" panose="02010609060101010101" pitchFamily="49" charset="-122"/>
              </a:rPr>
              <a:t>，所以必有一条标记为</a:t>
            </a:r>
            <a:r>
              <a:rPr lang="zh-CN" altLang="en-US" sz="1200" kern="1200" spc="-120" dirty="0">
                <a:solidFill>
                  <a:srgbClr val="FF0000"/>
                </a:solidFill>
                <a:latin typeface="Cambria Math"/>
                <a:cs typeface="Cambria Math"/>
              </a:rPr>
              <a:t>𝑏</a:t>
            </a:r>
            <a:r>
              <a:rPr lang="en-US" altLang="zh-CN" sz="1200" kern="1200" spc="-120" dirty="0">
                <a:solidFill>
                  <a:srgbClr val="FF0000"/>
                </a:solidFill>
                <a:latin typeface="Cambria Math"/>
                <a:cs typeface="Cambria Math"/>
              </a:rPr>
              <a:t> </a:t>
            </a:r>
            <a:r>
              <a:rPr lang="en-US" altLang="zh-CN" sz="1400" kern="1200" spc="-179" baseline="27777" dirty="0">
                <a:solidFill>
                  <a:srgbClr val="FF0000"/>
                </a:solidFill>
                <a:latin typeface="Cambria Math"/>
                <a:cs typeface="Cambria Math"/>
              </a:rPr>
              <a:t>j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从</a:t>
            </a:r>
            <a:r>
              <a:rPr lang="en-US" altLang="zh-CN" sz="1200" dirty="0">
                <a:latin typeface="黑体" panose="02010609060101010101" pitchFamily="49" charset="-122"/>
                <a:ea typeface="黑体" panose="02010609060101010101" pitchFamily="49" charset="-122"/>
              </a:rPr>
              <a:t>s</a:t>
            </a:r>
            <a:r>
              <a:rPr lang="zh-CN" altLang="en-US" sz="1200" dirty="0">
                <a:latin typeface="黑体" panose="02010609060101010101" pitchFamily="49" charset="-122"/>
                <a:ea typeface="黑体" panose="02010609060101010101" pitchFamily="49" charset="-122"/>
              </a:rPr>
              <a:t>到接受状态的；路径，</a:t>
            </a:r>
            <a:r>
              <a:rPr lang="en-US" altLang="zh-CN" sz="1200" dirty="0">
                <a:latin typeface="黑体" panose="02010609060101010101" pitchFamily="49" charset="-122"/>
                <a:ea typeface="黑体" panose="02010609060101010101" pitchFamily="49" charset="-122"/>
              </a:rPr>
              <a:t>D</a:t>
            </a:r>
            <a:r>
              <a:rPr lang="zh-CN" altLang="en-US" sz="1200" dirty="0">
                <a:latin typeface="黑体" panose="02010609060101010101" pitchFamily="49" charset="-122"/>
                <a:ea typeface="黑体" panose="02010609060101010101" pitchFamily="49" charset="-122"/>
              </a:rPr>
              <a:t>将接受</a:t>
            </a:r>
            <a:r>
              <a:rPr lang="zh-CN" altLang="en-US" sz="1200" kern="1200" spc="-120" dirty="0">
                <a:solidFill>
                  <a:srgbClr val="FF0000"/>
                </a:solidFill>
                <a:latin typeface="Cambria Math"/>
                <a:cs typeface="Cambria Math"/>
              </a:rPr>
              <a:t>𝑎</a:t>
            </a:r>
            <a:r>
              <a:rPr lang="en-US" altLang="zh-CN" sz="1200" kern="1200" spc="-120" dirty="0">
                <a:solidFill>
                  <a:srgbClr val="FF0000"/>
                </a:solidFill>
                <a:latin typeface="Cambria Math"/>
                <a:cs typeface="Cambria Math"/>
              </a:rPr>
              <a:t> </a:t>
            </a:r>
            <a:r>
              <a:rPr lang="en-US" altLang="zh-CN" sz="1400" kern="1200" spc="-179" baseline="27777" dirty="0" err="1">
                <a:solidFill>
                  <a:srgbClr val="FF0000"/>
                </a:solidFill>
                <a:latin typeface="Cambria Math"/>
                <a:cs typeface="Cambria Math"/>
              </a:rPr>
              <a:t>i</a:t>
            </a:r>
            <a:r>
              <a:rPr lang="en-US" altLang="zh-CN" sz="1400" kern="1200" spc="-179" baseline="27777" dirty="0">
                <a:solidFill>
                  <a:srgbClr val="FF0000"/>
                </a:solidFill>
                <a:latin typeface="Cambria Math"/>
                <a:cs typeface="Cambria Math"/>
              </a:rPr>
              <a:t> </a:t>
            </a:r>
            <a:r>
              <a:rPr lang="zh-CN" altLang="en-US" sz="1200" kern="1200" spc="-120" dirty="0">
                <a:solidFill>
                  <a:srgbClr val="FF0000"/>
                </a:solidFill>
                <a:latin typeface="Cambria Math"/>
                <a:cs typeface="Cambria Math"/>
              </a:rPr>
              <a:t>𝑏</a:t>
            </a:r>
            <a:r>
              <a:rPr lang="en-US" altLang="zh-CN" sz="1200" kern="1200" spc="-120" dirty="0">
                <a:solidFill>
                  <a:srgbClr val="FF0000"/>
                </a:solidFill>
                <a:latin typeface="Cambria Math"/>
                <a:cs typeface="Cambria Math"/>
              </a:rPr>
              <a:t> </a:t>
            </a:r>
            <a:r>
              <a:rPr lang="en-US" altLang="zh-CN" sz="1400" kern="1200" spc="-179" baseline="27777" dirty="0">
                <a:solidFill>
                  <a:srgbClr val="FF0000"/>
                </a:solidFill>
                <a:latin typeface="Cambria Math"/>
                <a:cs typeface="Cambria Math"/>
              </a:rPr>
              <a:t>j</a:t>
            </a:r>
            <a:r>
              <a:rPr lang="en-US" altLang="zh-CN" sz="1400" kern="1200" spc="52" baseline="27777" dirty="0">
                <a:solidFill>
                  <a:srgbClr val="FF0000"/>
                </a:solidFill>
                <a:latin typeface="Cambria Math"/>
                <a:cs typeface="Cambria Math"/>
              </a:rPr>
              <a:t> </a:t>
            </a:r>
            <a:r>
              <a:rPr lang="en-US" altLang="zh-CN" sz="1200" kern="1200" spc="52" baseline="27777" dirty="0">
                <a:solidFill>
                  <a:srgbClr val="FF0000"/>
                </a:solidFill>
                <a:latin typeface="黑体" panose="02010609060101010101" pitchFamily="49" charset="-122"/>
                <a:ea typeface="黑体" panose="02010609060101010101" pitchFamily="49" charset="-122"/>
                <a:cs typeface="Cambria Math"/>
              </a:rPr>
              <a:t> </a:t>
            </a:r>
            <a:r>
              <a:rPr lang="zh-CN" altLang="en-US" sz="1200" dirty="0">
                <a:latin typeface="黑体" panose="02010609060101010101" pitchFamily="49" charset="-122"/>
                <a:ea typeface="黑体" panose="02010609060101010101" pitchFamily="49" charset="-122"/>
              </a:rPr>
              <a:t>。矛盾！！！</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23</a:t>
            </a:fld>
            <a:endParaRPr lang="zh-CN" altLang="en-US"/>
          </a:p>
        </p:txBody>
      </p:sp>
    </p:spTree>
    <p:extLst>
      <p:ext uri="{BB962C8B-B14F-4D97-AF65-F5344CB8AC3E}">
        <p14:creationId xmlns:p14="http://schemas.microsoft.com/office/powerpoint/2010/main" val="553714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任何正则语言都可以用</a:t>
            </a:r>
            <a:r>
              <a:rPr lang="en-US" altLang="zh-CN" sz="1200" dirty="0">
                <a:latin typeface="黑体" panose="02010609060101010101" pitchFamily="49" charset="-122"/>
                <a:ea typeface="黑体" panose="02010609060101010101" pitchFamily="49" charset="-122"/>
              </a:rPr>
              <a:t>CFG</a:t>
            </a:r>
            <a:r>
              <a:rPr lang="zh-CN" altLang="en-US" sz="1200" dirty="0">
                <a:latin typeface="黑体" panose="02010609060101010101" pitchFamily="49" charset="-122"/>
                <a:ea typeface="黑体" panose="02010609060101010101" pitchFamily="49" charset="-122"/>
              </a:rPr>
              <a:t>描述</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（结构证明）</a:t>
            </a:r>
            <a:r>
              <a:rPr lang="en-US" altLang="zh-CN" sz="1200" dirty="0">
                <a:latin typeface="黑体" panose="02010609060101010101" pitchFamily="49" charset="-122"/>
                <a:ea typeface="黑体" panose="02010609060101010101" pitchFamily="49" charset="-122"/>
              </a:rPr>
              <a:t>NFA</a:t>
            </a:r>
            <a:r>
              <a:rPr lang="zh-CN" altLang="en-US" sz="1200" dirty="0">
                <a:latin typeface="黑体" panose="02010609060101010101" pitchFamily="49" charset="-122"/>
                <a:ea typeface="黑体" panose="02010609060101010101" pitchFamily="49" charset="-122"/>
              </a:rPr>
              <a:t>可以接受每种常规语言。我们可以构造一个</a:t>
            </a:r>
            <a:r>
              <a:rPr lang="en-US" altLang="zh-CN" sz="1200" dirty="0">
                <a:latin typeface="黑体" panose="02010609060101010101" pitchFamily="49" charset="-122"/>
                <a:ea typeface="黑体" panose="02010609060101010101" pitchFamily="49" charset="-122"/>
              </a:rPr>
              <a:t>CFG</a:t>
            </a:r>
            <a:r>
              <a:rPr lang="zh-CN" altLang="en-US" sz="1200" dirty="0">
                <a:latin typeface="黑体" panose="02010609060101010101" pitchFamily="49" charset="-122"/>
                <a:ea typeface="黑体" panose="02010609060101010101" pitchFamily="49" charset="-122"/>
              </a:rPr>
              <a:t>来描述语言：</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对于每个在</a:t>
            </a:r>
            <a:r>
              <a:rPr lang="en-US" altLang="zh-CN" sz="1200" dirty="0">
                <a:latin typeface="黑体" panose="02010609060101010101" pitchFamily="49" charset="-122"/>
                <a:ea typeface="黑体" panose="02010609060101010101" pitchFamily="49" charset="-122"/>
              </a:rPr>
              <a:t>NFA</a:t>
            </a:r>
            <a:r>
              <a:rPr lang="zh-CN" altLang="en-US" sz="1200" dirty="0">
                <a:latin typeface="黑体" panose="02010609060101010101" pitchFamily="49" charset="-122"/>
                <a:ea typeface="黑体" panose="02010609060101010101" pitchFamily="49" charset="-122"/>
              </a:rPr>
              <a:t>中的状态 </a:t>
            </a:r>
            <a:r>
              <a:rPr lang="zh-CN" altLang="en-US" kern="1200" dirty="0">
                <a:solidFill>
                  <a:prstClr val="black"/>
                </a:solidFill>
                <a:latin typeface="Cambria Math"/>
                <a:cs typeface="Cambria Math"/>
              </a:rPr>
              <a:t>𝑖</a:t>
            </a:r>
            <a:r>
              <a:rPr lang="zh-CN" altLang="en-US" kern="1200" spc="114" dirty="0">
                <a:solidFill>
                  <a:prstClr val="black"/>
                </a:solidFill>
                <a:latin typeface="Cambria Math"/>
                <a:cs typeface="Cambria Math"/>
              </a:rPr>
              <a:t> </a:t>
            </a:r>
            <a:r>
              <a:rPr lang="zh-CN" altLang="en-US" sz="1200" dirty="0">
                <a:latin typeface="黑体" panose="02010609060101010101" pitchFamily="49" charset="-122"/>
                <a:ea typeface="黑体" panose="02010609060101010101" pitchFamily="49" charset="-122"/>
              </a:rPr>
              <a:t>，创建一个非终结符</a:t>
            </a:r>
            <a:r>
              <a:rPr lang="zh-CN" altLang="en-US" kern="1200" spc="40" dirty="0">
                <a:solidFill>
                  <a:prstClr val="black"/>
                </a:solidFill>
                <a:latin typeface="Cambria Math"/>
                <a:cs typeface="Cambria Math"/>
              </a:rPr>
              <a:t>𝐴</a:t>
            </a:r>
            <a:r>
              <a:rPr lang="zh-CN" altLang="en-US" sz="1400" kern="1200" spc="494" baseline="-14957" dirty="0">
                <a:solidFill>
                  <a:prstClr val="black"/>
                </a:solidFill>
                <a:latin typeface="Cambria Math"/>
                <a:cs typeface="Cambria Math"/>
              </a:rPr>
              <a:t>𝑖</a:t>
            </a:r>
            <a:endParaRPr lang="en-US" altLang="zh-CN" sz="1400" kern="1200" spc="494" baseline="-14957" dirty="0">
              <a:solidFill>
                <a:prstClr val="black"/>
              </a:solidFill>
              <a:latin typeface="Cambria Math"/>
              <a:cs typeface="Cambria Mat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如果状态</a:t>
            </a:r>
            <a:r>
              <a:rPr lang="zh-CN" altLang="en-US" kern="1200" dirty="0">
                <a:solidFill>
                  <a:prstClr val="black"/>
                </a:solidFill>
                <a:latin typeface="Cambria Math"/>
                <a:cs typeface="Cambria Math"/>
              </a:rPr>
              <a:t>𝑖 </a:t>
            </a:r>
            <a:r>
              <a:rPr lang="zh-CN" altLang="en-US" sz="1200" dirty="0">
                <a:latin typeface="黑体" panose="02010609060101010101" pitchFamily="49" charset="-122"/>
                <a:ea typeface="黑体" panose="02010609060101010101" pitchFamily="49" charset="-122"/>
              </a:rPr>
              <a:t>在碰到输入</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转为状态</a:t>
            </a:r>
            <a:r>
              <a:rPr lang="en-US" altLang="zh-CN" sz="1200" dirty="0">
                <a:latin typeface="黑体" panose="02010609060101010101" pitchFamily="49" charset="-122"/>
                <a:ea typeface="黑体" panose="02010609060101010101" pitchFamily="49" charset="-122"/>
              </a:rPr>
              <a:t>j </a:t>
            </a:r>
            <a:r>
              <a:rPr lang="zh-CN" altLang="en-US" sz="1200" dirty="0">
                <a:latin typeface="黑体" panose="02010609060101010101" pitchFamily="49" charset="-122"/>
                <a:ea typeface="黑体" panose="02010609060101010101" pitchFamily="49" charset="-122"/>
              </a:rPr>
              <a:t>时</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添加产生式</a:t>
            </a:r>
            <a:r>
              <a:rPr lang="zh-CN" altLang="en-US" kern="1200" spc="40" dirty="0">
                <a:solidFill>
                  <a:prstClr val="black"/>
                </a:solidFill>
                <a:latin typeface="Cambria Math"/>
                <a:cs typeface="Cambria Math"/>
              </a:rPr>
              <a:t>𝐴</a:t>
            </a:r>
            <a:r>
              <a:rPr lang="zh-CN" altLang="en-US" sz="1400" kern="1200" spc="494" baseline="-14957" dirty="0">
                <a:solidFill>
                  <a:prstClr val="black"/>
                </a:solidFill>
                <a:latin typeface="Cambria Math"/>
                <a:cs typeface="Cambria Math"/>
              </a:rPr>
              <a:t>𝑖</a:t>
            </a:r>
            <a:r>
              <a:rPr lang="en-US" altLang="zh-CN" kern="1200" dirty="0">
                <a:solidFill>
                  <a:prstClr val="black"/>
                </a:solidFill>
                <a:latin typeface="Cambria Math"/>
                <a:cs typeface="Cambria Math"/>
              </a:rPr>
              <a:t>→</a:t>
            </a:r>
            <a:r>
              <a:rPr lang="en-US" altLang="zh-CN" kern="1200" spc="105" dirty="0">
                <a:solidFill>
                  <a:prstClr val="black"/>
                </a:solidFill>
                <a:latin typeface="Cambria Math"/>
                <a:cs typeface="Cambria Math"/>
              </a:rPr>
              <a:t> </a:t>
            </a:r>
            <a:r>
              <a:rPr lang="zh-CN" altLang="en-US" kern="1200" spc="45" dirty="0">
                <a:solidFill>
                  <a:prstClr val="black"/>
                </a:solidFill>
                <a:latin typeface="Cambria Math"/>
                <a:cs typeface="Cambria Math"/>
              </a:rPr>
              <a:t>𝐴</a:t>
            </a:r>
            <a:r>
              <a:rPr lang="en-US" altLang="zh-CN" sz="1400" kern="1200" spc="67" baseline="-17094" dirty="0">
                <a:solidFill>
                  <a:prstClr val="black"/>
                </a:solidFill>
                <a:latin typeface="Cambria Math"/>
                <a:cs typeface="Cambria Math"/>
              </a:rPr>
              <a:t>j</a:t>
            </a:r>
            <a:endParaRPr lang="en-US" altLang="zh-CN" sz="1400" kern="1200" spc="67" baseline="-17094" dirty="0">
              <a:solidFill>
                <a:prstClr val="black"/>
              </a:solidFill>
              <a:latin typeface="Cambria Math"/>
              <a:ea typeface="+mn-ea"/>
              <a:cs typeface="Cambria Mat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kern="1200" spc="67" baseline="-17094" dirty="0">
                <a:solidFill>
                  <a:prstClr val="black"/>
                </a:solidFill>
                <a:latin typeface="Cambria Math"/>
                <a:ea typeface="+mn-ea"/>
              </a:rPr>
              <a:t>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如果状态</a:t>
            </a:r>
            <a:r>
              <a:rPr lang="zh-CN" altLang="en-US" kern="1200" dirty="0">
                <a:solidFill>
                  <a:prstClr val="black"/>
                </a:solidFill>
                <a:latin typeface="Cambria Math"/>
                <a:cs typeface="Cambria Math"/>
              </a:rPr>
              <a:t>𝑖 </a:t>
            </a:r>
            <a:r>
              <a:rPr lang="zh-CN" altLang="en-US" sz="1200" dirty="0">
                <a:latin typeface="黑体" panose="02010609060101010101" pitchFamily="49" charset="-122"/>
                <a:ea typeface="黑体" panose="02010609060101010101" pitchFamily="49" charset="-122"/>
              </a:rPr>
              <a:t>是一个接受状态，添加产生式</a:t>
            </a:r>
            <a:r>
              <a:rPr lang="zh-CN" altLang="en-US" kern="1200" spc="40" dirty="0">
                <a:solidFill>
                  <a:prstClr val="black"/>
                </a:solidFill>
                <a:latin typeface="Cambria Math"/>
                <a:cs typeface="Cambria Math"/>
              </a:rPr>
              <a:t>𝐴</a:t>
            </a:r>
            <a:r>
              <a:rPr lang="zh-CN" altLang="en-US" sz="1400" kern="1200" spc="494" baseline="-14957" dirty="0">
                <a:solidFill>
                  <a:prstClr val="black"/>
                </a:solidFill>
                <a:latin typeface="Cambria Math"/>
                <a:cs typeface="Cambria Math"/>
              </a:rPr>
              <a:t>𝑖</a:t>
            </a:r>
            <a:r>
              <a:rPr lang="en-US" altLang="zh-CN" kern="1200" dirty="0">
                <a:solidFill>
                  <a:prstClr val="black"/>
                </a:solidFill>
                <a:latin typeface="Cambria Math"/>
                <a:cs typeface="Cambria Math"/>
              </a:rPr>
              <a:t>→</a:t>
            </a:r>
            <a:r>
              <a:rPr lang="zh-CN" altLang="en-US" kern="1200" dirty="0">
                <a:solidFill>
                  <a:prstClr val="black"/>
                </a:solidFill>
                <a:latin typeface="Cambria Math"/>
                <a:cs typeface="Cambria Math"/>
              </a:rPr>
              <a:t>𝜖</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如果状态</a:t>
            </a:r>
            <a:r>
              <a:rPr lang="zh-CN" altLang="en-US" kern="1200" dirty="0">
                <a:solidFill>
                  <a:prstClr val="black"/>
                </a:solidFill>
                <a:latin typeface="Cambria Math"/>
                <a:cs typeface="Cambria Math"/>
              </a:rPr>
              <a:t>𝑖 </a:t>
            </a:r>
            <a:r>
              <a:rPr lang="zh-CN" altLang="en-US" sz="1200" dirty="0">
                <a:latin typeface="黑体" panose="02010609060101010101" pitchFamily="49" charset="-122"/>
                <a:ea typeface="黑体" panose="02010609060101010101" pitchFamily="49" charset="-122"/>
              </a:rPr>
              <a:t>是开始状态，将</a:t>
            </a:r>
            <a:r>
              <a:rPr lang="zh-CN" altLang="en-US" kern="1200" spc="40" dirty="0">
                <a:solidFill>
                  <a:prstClr val="black"/>
                </a:solidFill>
                <a:latin typeface="Cambria Math"/>
                <a:cs typeface="Cambria Math"/>
              </a:rPr>
              <a:t>𝐴</a:t>
            </a:r>
            <a:r>
              <a:rPr lang="zh-CN" altLang="en-US" sz="1400" kern="1200" spc="494" baseline="-14957" dirty="0">
                <a:solidFill>
                  <a:prstClr val="black"/>
                </a:solidFill>
                <a:latin typeface="Cambria Math"/>
                <a:cs typeface="Cambria Math"/>
              </a:rPr>
              <a:t>𝑖</a:t>
            </a:r>
            <a:r>
              <a:rPr lang="zh-CN" altLang="en-US" sz="1200" dirty="0">
                <a:latin typeface="黑体" panose="02010609060101010101" pitchFamily="49" charset="-122"/>
                <a:ea typeface="黑体" panose="02010609060101010101" pitchFamily="49" charset="-122"/>
              </a:rPr>
              <a:t>作为文法的开始符号</a:t>
            </a:r>
            <a:endParaRPr lang="en-US" altLang="zh-CN" sz="1200"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24</a:t>
            </a:fld>
            <a:endParaRPr lang="zh-CN" altLang="en-US"/>
          </a:p>
        </p:txBody>
      </p:sp>
    </p:spTree>
    <p:extLst>
      <p:ext uri="{BB962C8B-B14F-4D97-AF65-F5344CB8AC3E}">
        <p14:creationId xmlns:p14="http://schemas.microsoft.com/office/powerpoint/2010/main" val="3813593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600" dirty="0">
                <a:latin typeface="黑体" panose="02010609060101010101" pitchFamily="49" charset="-122"/>
                <a:ea typeface="黑体" panose="02010609060101010101" pitchFamily="49" charset="-122"/>
              </a:rPr>
              <a:t>示例：</a:t>
            </a:r>
            <a:r>
              <a:rPr lang="en-US" altLang="zh-CN" sz="3600" dirty="0">
                <a:latin typeface="黑体" panose="02010609060101010101" pitchFamily="49" charset="-122"/>
                <a:ea typeface="黑体" panose="02010609060101010101" pitchFamily="49" charset="-122"/>
              </a:rPr>
              <a:t>NFA</a:t>
            </a:r>
            <a:r>
              <a:rPr lang="zh-CN" altLang="en-US" sz="3600" dirty="0">
                <a:latin typeface="黑体" panose="02010609060101010101" pitchFamily="49" charset="-122"/>
                <a:ea typeface="黑体" panose="02010609060101010101" pitchFamily="49" charset="-122"/>
              </a:rPr>
              <a:t>到</a:t>
            </a:r>
            <a:r>
              <a:rPr lang="en-US" altLang="zh-CN" sz="3600" dirty="0">
                <a:latin typeface="黑体" panose="02010609060101010101" pitchFamily="49" charset="-122"/>
                <a:ea typeface="黑体" panose="02010609060101010101" pitchFamily="49" charset="-122"/>
              </a:rPr>
              <a:t>CFG</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600" dirty="0">
                <a:latin typeface="黑体" panose="02010609060101010101" pitchFamily="49" charset="-122"/>
                <a:ea typeface="黑体" panose="02010609060101010101" pitchFamily="49" charset="-122"/>
              </a:rPr>
              <a:t>考虑字符串</a:t>
            </a:r>
            <a:r>
              <a:rPr lang="en-US" altLang="zh-CN" sz="3600" dirty="0" err="1">
                <a:latin typeface="黑体" panose="02010609060101010101" pitchFamily="49" charset="-122"/>
                <a:ea typeface="黑体" panose="02010609060101010101" pitchFamily="49" charset="-122"/>
              </a:rPr>
              <a:t>baabb</a:t>
            </a:r>
            <a:r>
              <a:rPr lang="en-US" altLang="zh-CN" sz="3600" dirty="0">
                <a:latin typeface="黑体" panose="02010609060101010101" pitchFamily="49" charset="-122"/>
                <a:ea typeface="黑体" panose="02010609060101010101" pitchFamily="49" charset="-122"/>
              </a:rPr>
              <a:t>: NFA</a:t>
            </a:r>
            <a:r>
              <a:rPr lang="zh-CN" altLang="en-US" sz="3600" dirty="0">
                <a:latin typeface="黑体" panose="02010609060101010101" pitchFamily="49" charset="-122"/>
                <a:ea typeface="黑体" panose="02010609060101010101" pitchFamily="49" charset="-122"/>
              </a:rPr>
              <a:t>接受句子的过程与从语法中推导出句子的过程完全一致</a:t>
            </a:r>
          </a:p>
          <a:p>
            <a:endParaRPr lang="zh-CN" altLang="en-US" sz="3600" dirty="0"/>
          </a:p>
          <a:p>
            <a:endParaRPr lang="zh-CN" altLang="en-US" sz="3600"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25</a:t>
            </a:fld>
            <a:endParaRPr lang="zh-CN" altLang="en-US"/>
          </a:p>
        </p:txBody>
      </p:sp>
    </p:spTree>
    <p:extLst>
      <p:ext uri="{BB962C8B-B14F-4D97-AF65-F5344CB8AC3E}">
        <p14:creationId xmlns:p14="http://schemas.microsoft.com/office/powerpoint/2010/main" val="40294159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latin typeface="黑体" panose="02010609060101010101" pitchFamily="49" charset="-122"/>
                <a:ea typeface="黑体" panose="02010609060101010101" pitchFamily="49" charset="-122"/>
              </a:rPr>
              <a:t>CFG</a:t>
            </a:r>
            <a:r>
              <a:rPr lang="zh-CN" altLang="en-US" sz="1800" b="0" dirty="0">
                <a:latin typeface="黑体" panose="02010609060101010101" pitchFamily="49" charset="-122"/>
                <a:ea typeface="黑体" panose="02010609060101010101" pitchFamily="49" charset="-122"/>
              </a:rPr>
              <a:t>的形式化定义</a:t>
            </a:r>
            <a:endParaRPr lang="en-US" altLang="zh-CN" sz="1800" b="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推导和语法分析树</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dirty="0">
                <a:latin typeface="黑体" panose="02010609060101010101" pitchFamily="49" charset="-122"/>
                <a:ea typeface="黑体" panose="02010609060101010101" pitchFamily="49" charset="-122"/>
              </a:rPr>
              <a:t>二义性</a:t>
            </a:r>
            <a:endParaRPr lang="en-US" altLang="zh-CN" sz="1800" b="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黑体" panose="02010609060101010101" pitchFamily="49" charset="-122"/>
                <a:ea typeface="黑体" panose="02010609060101010101" pitchFamily="49" charset="-122"/>
              </a:rPr>
              <a:t>CFG</a:t>
            </a:r>
            <a:r>
              <a:rPr lang="zh-CN" altLang="en-US" sz="1800" dirty="0">
                <a:latin typeface="黑体" panose="02010609060101010101" pitchFamily="49" charset="-122"/>
                <a:ea typeface="黑体" panose="02010609060101010101" pitchFamily="49" charset="-122"/>
              </a:rPr>
              <a:t>与正则表达式</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latin typeface="黑体" panose="02010609060101010101" pitchFamily="49" charset="-122"/>
                <a:ea typeface="黑体" panose="02010609060101010101" pitchFamily="49" charset="-122"/>
              </a:rPr>
              <a:t>语法设计</a:t>
            </a:r>
          </a:p>
          <a:p>
            <a:endParaRPr lang="zh-CN" altLang="en-US" sz="1800" dirty="0">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26</a:t>
            </a:fld>
            <a:endParaRPr lang="zh-CN" altLang="en-US"/>
          </a:p>
        </p:txBody>
      </p:sp>
    </p:spTree>
    <p:extLst>
      <p:ext uri="{BB962C8B-B14F-4D97-AF65-F5344CB8AC3E}">
        <p14:creationId xmlns:p14="http://schemas.microsoft.com/office/powerpoint/2010/main" val="9288799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黑体" panose="02010609060101010101" pitchFamily="49" charset="-122"/>
                <a:ea typeface="黑体" panose="02010609060101010101" pitchFamily="49" charset="-122"/>
              </a:rPr>
              <a:t>CFG</a:t>
            </a:r>
            <a:r>
              <a:rPr lang="zh-CN" altLang="en-US" sz="1200" dirty="0">
                <a:latin typeface="黑体" panose="02010609060101010101" pitchFamily="49" charset="-122"/>
                <a:ea typeface="黑体" panose="02010609060101010101" pitchFamily="49" charset="-122"/>
              </a:rPr>
              <a:t>能够描述编程语言的大部分（但不是全部）语法</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CFG</a:t>
            </a:r>
            <a:r>
              <a:rPr lang="zh-CN" altLang="en-US" sz="1200" dirty="0">
                <a:latin typeface="黑体" panose="02010609060101010101" pitchFamily="49" charset="-122"/>
                <a:ea typeface="黑体" panose="02010609060101010101" pitchFamily="49" charset="-122"/>
              </a:rPr>
              <a:t>不能描述“使用前应声明标识符”</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后续阶段必须分析解析器的输出，以确保符合此类规则</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在解析之前，我们通常对语法进行几种转换，使其更适合解析</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消除二义性</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消除左递归</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提取左公因子</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27</a:t>
            </a:fld>
            <a:endParaRPr lang="zh-CN" altLang="en-US"/>
          </a:p>
        </p:txBody>
      </p:sp>
    </p:spTree>
    <p:extLst>
      <p:ext uri="{BB962C8B-B14F-4D97-AF65-F5344CB8AC3E}">
        <p14:creationId xmlns:p14="http://schemas.microsoft.com/office/powerpoint/2010/main" val="24055595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消除二义性</a:t>
            </a:r>
            <a:endParaRPr lang="en-US" altLang="zh-CN" dirty="0"/>
          </a:p>
          <a:p>
            <a:r>
              <a:rPr lang="zh-CN" altLang="en-US" dirty="0"/>
              <a:t>问题：在编程中，哪个语法分析树是首选的？（即，</a:t>
            </a:r>
            <a:r>
              <a:rPr lang="en-US" altLang="zh-CN" dirty="0"/>
              <a:t>else</a:t>
            </a:r>
            <a:r>
              <a:rPr lang="zh-CN" altLang="en-US" dirty="0"/>
              <a:t>匹配哪个</a:t>
            </a:r>
            <a:r>
              <a:rPr lang="en-US" altLang="zh-CN" dirty="0"/>
              <a:t>then</a:t>
            </a:r>
            <a:r>
              <a:rPr lang="zh-CN" altLang="en-US" dirty="0"/>
              <a:t>？）</a:t>
            </a:r>
            <a:endParaRPr lang="en-US" altLang="zh-CN" dirty="0"/>
          </a:p>
          <a:p>
            <a:r>
              <a:rPr lang="zh-CN" altLang="en-US" dirty="0"/>
              <a:t>答案：第一种语法分析树</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28</a:t>
            </a:fld>
            <a:endParaRPr lang="zh-CN" altLang="en-US"/>
          </a:p>
        </p:txBody>
      </p:sp>
    </p:spTree>
    <p:extLst>
      <p:ext uri="{BB962C8B-B14F-4D97-AF65-F5344CB8AC3E}">
        <p14:creationId xmlns:p14="http://schemas.microsoft.com/office/powerpoint/2010/main" val="25614430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消除二义性</a:t>
            </a:r>
            <a:endParaRPr lang="en-US" altLang="zh-CN" dirty="0"/>
          </a:p>
          <a:p>
            <a:r>
              <a:rPr lang="zh-CN" altLang="en-US" dirty="0"/>
              <a:t>接近原则：用最接近的未匹配的</a:t>
            </a:r>
            <a:r>
              <a:rPr lang="en-US" altLang="zh-CN" dirty="0"/>
              <a:t>then</a:t>
            </a:r>
            <a:r>
              <a:rPr lang="zh-CN" altLang="en-US" dirty="0"/>
              <a:t>匹配</a:t>
            </a:r>
            <a:r>
              <a:rPr lang="en-US" altLang="zh-CN" dirty="0"/>
              <a:t>else</a:t>
            </a:r>
          </a:p>
          <a:p>
            <a:r>
              <a:rPr lang="zh-CN" altLang="en-US" dirty="0"/>
              <a:t>   </a:t>
            </a:r>
            <a:r>
              <a:rPr lang="en-US" altLang="zh-CN" dirty="0"/>
              <a:t>· </a:t>
            </a:r>
            <a:r>
              <a:rPr lang="zh-CN" altLang="en-US" dirty="0"/>
              <a:t>重写的想法：出现在</a:t>
            </a:r>
            <a:r>
              <a:rPr lang="en-US" altLang="zh-CN" dirty="0"/>
              <a:t>then</a:t>
            </a:r>
            <a:r>
              <a:rPr lang="zh-CN" altLang="en-US" dirty="0"/>
              <a:t>和</a:t>
            </a:r>
            <a:r>
              <a:rPr lang="en-US" altLang="zh-CN" dirty="0"/>
              <a:t>else</a:t>
            </a:r>
            <a:r>
              <a:rPr lang="zh-CN" altLang="en-US" dirty="0"/>
              <a:t>之间的语句必须匹配（不能以不匹配的</a:t>
            </a:r>
            <a:r>
              <a:rPr lang="en-US" altLang="zh-CN" dirty="0"/>
              <a:t>then</a:t>
            </a:r>
            <a:r>
              <a:rPr lang="zh-CN" altLang="en-US" dirty="0"/>
              <a:t>结束）</a:t>
            </a:r>
            <a:endParaRPr lang="en-US" altLang="zh-CN" dirty="0"/>
          </a:p>
          <a:p>
            <a:r>
              <a:rPr lang="zh-CN" altLang="en-US" dirty="0"/>
              <a:t>重写语法以消除歧义是困难的。没有指导这一过程的一般规则。</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29</a:t>
            </a:fld>
            <a:endParaRPr lang="zh-CN" altLang="en-US"/>
          </a:p>
        </p:txBody>
      </p:sp>
    </p:spTree>
    <p:extLst>
      <p:ext uri="{BB962C8B-B14F-4D97-AF65-F5344CB8AC3E}">
        <p14:creationId xmlns:p14="http://schemas.microsoft.com/office/powerpoint/2010/main" val="31214973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消除左递归</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如果语法中存在一个非终结符</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，使得某个字符</a:t>
            </a:r>
            <a:r>
              <a:rPr lang="zh-CN" altLang="en-US" sz="1200" kern="1200" dirty="0">
                <a:solidFill>
                  <a:prstClr val="black"/>
                </a:solidFill>
                <a:latin typeface="Cambria Math"/>
                <a:cs typeface="Cambria Math"/>
              </a:rPr>
              <a:t>𝛼有相关的产生式𝐴</a:t>
            </a:r>
            <a:r>
              <a:rPr lang="zh-CN" altLang="en-US" sz="1200" kern="1200" spc="20"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en-US" altLang="zh-CN" sz="1200" kern="1200" dirty="0">
                <a:solidFill>
                  <a:prstClr val="black"/>
                </a:solidFill>
                <a:latin typeface="Cambria Math"/>
                <a:cs typeface="Cambria Math"/>
              </a:rPr>
              <a:t>+</a:t>
            </a:r>
            <a:r>
              <a:rPr lang="zh-CN" altLang="en-US" sz="1200" kern="1200" dirty="0">
                <a:solidFill>
                  <a:prstClr val="black"/>
                </a:solidFill>
                <a:latin typeface="Cambria Math"/>
                <a:cs typeface="Cambria Math"/>
              </a:rPr>
              <a:t> </a:t>
            </a:r>
            <a:r>
              <a:rPr lang="zh-CN" altLang="en-US" sz="1200" kern="1200" spc="-5" dirty="0">
                <a:solidFill>
                  <a:prstClr val="black"/>
                </a:solidFill>
                <a:latin typeface="Cambria Math"/>
                <a:cs typeface="Cambria Math"/>
              </a:rPr>
              <a:t>𝐴𝛼</a:t>
            </a:r>
            <a:r>
              <a:rPr lang="zh-CN" altLang="en-US" sz="1200" kern="1200" spc="135" dirty="0">
                <a:solidFill>
                  <a:prstClr val="black"/>
                </a:solidFill>
                <a:latin typeface="Cambria Math"/>
                <a:cs typeface="Cambria Math"/>
              </a:rPr>
              <a:t> </a:t>
            </a:r>
            <a:r>
              <a:rPr lang="zh-CN" altLang="en-US" sz="1200" kern="1200" spc="135" dirty="0">
                <a:solidFill>
                  <a:prstClr val="black"/>
                </a:solidFill>
                <a:latin typeface="黑体" panose="02010609060101010101" pitchFamily="49" charset="-122"/>
                <a:ea typeface="黑体" panose="02010609060101010101" pitchFamily="49" charset="-122"/>
                <a:cs typeface="Cambria Math"/>
              </a:rPr>
              <a:t>，</a:t>
            </a:r>
            <a:r>
              <a:rPr lang="zh-CN" altLang="en-US" sz="1200" dirty="0">
                <a:latin typeface="黑体" panose="02010609060101010101" pitchFamily="49" charset="-122"/>
                <a:ea typeface="黑体" panose="02010609060101010101" pitchFamily="49" charset="-122"/>
              </a:rPr>
              <a:t>则该语法为左递归语法</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立即左递归</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语法有产生式</a:t>
            </a:r>
            <a:r>
              <a:rPr lang="zh-CN" altLang="en-US" sz="1200" kern="1200" dirty="0">
                <a:solidFill>
                  <a:prstClr val="black"/>
                </a:solidFill>
                <a:latin typeface="Cambria Math"/>
                <a:cs typeface="Cambria Math"/>
              </a:rPr>
              <a:t>𝐴 </a:t>
            </a:r>
            <a:r>
              <a:rPr lang="en-US" altLang="zh-CN" sz="1200" kern="1200" spc="20" dirty="0">
                <a:solidFill>
                  <a:prstClr val="black"/>
                </a:solidFill>
                <a:latin typeface="Cambria Math"/>
                <a:cs typeface="Cambria Math"/>
              </a:rPr>
              <a:t>-&gt; </a:t>
            </a:r>
            <a:r>
              <a:rPr lang="zh-CN" altLang="en-US" sz="1200" kern="1200" spc="-5" dirty="0">
                <a:solidFill>
                  <a:prstClr val="black"/>
                </a:solidFill>
                <a:latin typeface="Cambria Math"/>
                <a:cs typeface="Cambria Math"/>
              </a:rPr>
              <a:t>𝐴𝛼</a:t>
            </a:r>
            <a:endParaRPr lang="en-US" altLang="zh-CN" sz="1200" kern="1200" spc="-5" dirty="0">
              <a:solidFill>
                <a:prstClr val="black"/>
              </a:solidFill>
              <a:latin typeface="Cambria Math"/>
              <a:cs typeface="Cambria Math"/>
            </a:endParaRPr>
          </a:p>
          <a:p>
            <a:r>
              <a:rPr lang="zh-CN" altLang="en-US" sz="1200" dirty="0">
                <a:latin typeface="黑体" panose="02010609060101010101" pitchFamily="49" charset="-122"/>
                <a:ea typeface="黑体" panose="02010609060101010101" pitchFamily="49" charset="-122"/>
              </a:rPr>
              <a:t>自顶向下分析方法无法处理左递归语法（自底向上的分析方法可以处理</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a:t>
            </a:r>
          </a:p>
          <a:p>
            <a:endParaRPr lang="zh-CN" altLang="en-US" sz="1200" dirty="0">
              <a:latin typeface="黑体" panose="02010609060101010101" pitchFamily="49" charset="-122"/>
              <a:ea typeface="黑体" panose="02010609060101010101" pitchFamily="49"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30</a:t>
            </a:fld>
            <a:endParaRPr lang="zh-CN" altLang="en-US"/>
          </a:p>
        </p:txBody>
      </p:sp>
    </p:spTree>
    <p:extLst>
      <p:ext uri="{BB962C8B-B14F-4D97-AF65-F5344CB8AC3E}">
        <p14:creationId xmlns:p14="http://schemas.microsoft.com/office/powerpoint/2010/main" val="7885499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消除立即左递归</a:t>
            </a:r>
            <a:endParaRPr lang="en-US" altLang="zh-CN" dirty="0"/>
          </a:p>
          <a:p>
            <a:r>
              <a:rPr lang="zh-CN" altLang="en-US" dirty="0"/>
              <a:t>简单语法：𝐴 → 𝐴𝛼 </a:t>
            </a:r>
            <a:r>
              <a:rPr lang="en-US" altLang="zh-CN" dirty="0"/>
              <a:t>| </a:t>
            </a:r>
            <a:r>
              <a:rPr lang="zh-CN" altLang="en-US" dirty="0"/>
              <a:t>𝛽  它生成以符号𝛽开头的句子，后面跟零个或更多的𝛼’</a:t>
            </a:r>
            <a:r>
              <a:rPr lang="en-US" altLang="zh-CN" dirty="0"/>
              <a:t>s</a:t>
            </a:r>
          </a:p>
          <a:p>
            <a:r>
              <a:rPr lang="zh-CN" altLang="en-US" dirty="0"/>
              <a:t>将语法替换为：</a:t>
            </a:r>
            <a:endParaRPr lang="en-US" altLang="zh-CN" dirty="0"/>
          </a:p>
          <a:p>
            <a:r>
              <a:rPr lang="zh-CN" altLang="en-US" sz="1200" kern="1200" dirty="0">
                <a:solidFill>
                  <a:prstClr val="black"/>
                </a:solidFill>
                <a:latin typeface="Cambria Math"/>
                <a:cs typeface="Cambria Math"/>
              </a:rPr>
              <a:t>𝐴</a:t>
            </a:r>
            <a:r>
              <a:rPr lang="en-US" altLang="zh-CN" sz="1200" kern="1200" spc="110"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en-US" altLang="zh-CN" sz="1200" kern="1200" spc="90" dirty="0">
                <a:solidFill>
                  <a:prstClr val="black"/>
                </a:solidFill>
                <a:latin typeface="Cambria Math"/>
                <a:cs typeface="Cambria Math"/>
              </a:rPr>
              <a:t> </a:t>
            </a:r>
            <a:r>
              <a:rPr lang="zh-CN" altLang="en-US" sz="1200" kern="1200" spc="-20" dirty="0">
                <a:solidFill>
                  <a:prstClr val="black"/>
                </a:solidFill>
                <a:latin typeface="Cambria Math"/>
                <a:cs typeface="Cambria Math"/>
              </a:rPr>
              <a:t>𝛽</a:t>
            </a:r>
            <a:r>
              <a:rPr lang="en-US" altLang="zh-CN" sz="1200" kern="1200" spc="-20" dirty="0">
                <a:solidFill>
                  <a:prstClr val="black"/>
                </a:solidFill>
                <a:latin typeface="Cambria Math"/>
                <a:cs typeface="Cambria Math"/>
              </a:rPr>
              <a:t>A’</a:t>
            </a:r>
          </a:p>
          <a:p>
            <a:r>
              <a:rPr lang="en-US" altLang="zh-CN" sz="1200" kern="1200" spc="-20" dirty="0">
                <a:solidFill>
                  <a:prstClr val="black"/>
                </a:solidFill>
                <a:latin typeface="Cambria Math"/>
                <a:cs typeface="Cambria Math"/>
              </a:rPr>
              <a:t>A' </a:t>
            </a:r>
            <a:r>
              <a:rPr lang="en-US" altLang="zh-CN" sz="1200" kern="1200" dirty="0">
                <a:solidFill>
                  <a:prstClr val="black"/>
                </a:solidFill>
                <a:latin typeface="Cambria Math"/>
                <a:cs typeface="Cambria Math"/>
              </a:rPr>
              <a:t>→</a:t>
            </a:r>
            <a:r>
              <a:rPr lang="en-US" altLang="zh-CN" sz="1200" kern="1200" spc="95" dirty="0">
                <a:solidFill>
                  <a:prstClr val="black"/>
                </a:solidFill>
                <a:latin typeface="Cambria Math"/>
                <a:cs typeface="Cambria Math"/>
              </a:rPr>
              <a:t> </a:t>
            </a:r>
            <a:r>
              <a:rPr lang="zh-CN" altLang="en-US" sz="1200" kern="1200" spc="10" dirty="0">
                <a:solidFill>
                  <a:prstClr val="black"/>
                </a:solidFill>
                <a:latin typeface="Cambria Math"/>
                <a:cs typeface="Cambria Math"/>
              </a:rPr>
              <a:t>𝛼</a:t>
            </a:r>
            <a:r>
              <a:rPr lang="en-US" altLang="zh-CN" sz="1200" kern="1200" spc="-20" dirty="0">
                <a:solidFill>
                  <a:prstClr val="black"/>
                </a:solidFill>
                <a:latin typeface="Cambria Math"/>
                <a:cs typeface="Cambria Math"/>
              </a:rPr>
              <a:t>A' </a:t>
            </a:r>
            <a:r>
              <a:rPr lang="en-US" altLang="zh-CN" sz="1200" kern="1200" spc="10" dirty="0">
                <a:solidFill>
                  <a:prstClr val="black"/>
                </a:solidFill>
                <a:latin typeface="Cambria Math"/>
                <a:cs typeface="Cambria Math"/>
              </a:rPr>
              <a:t>|</a:t>
            </a:r>
            <a:r>
              <a:rPr lang="en-US" altLang="zh-CN" sz="1200" kern="1200" spc="-10" dirty="0">
                <a:solidFill>
                  <a:prstClr val="black"/>
                </a:solidFill>
                <a:latin typeface="Cambria Math"/>
                <a:cs typeface="Cambria Math"/>
              </a:rPr>
              <a:t> </a:t>
            </a:r>
            <a:r>
              <a:rPr lang="zh-CN" altLang="en-US" sz="1200" kern="1200" dirty="0">
                <a:solidFill>
                  <a:prstClr val="black"/>
                </a:solidFill>
                <a:latin typeface="Cambria Math"/>
                <a:cs typeface="Cambria Math"/>
              </a:rPr>
              <a:t>𝜖</a:t>
            </a:r>
          </a:p>
          <a:p>
            <a:r>
              <a:rPr lang="zh-CN" altLang="en-US" dirty="0"/>
              <a:t>它现在是右递归了</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31</a:t>
            </a:fld>
            <a:endParaRPr lang="zh-CN" altLang="en-US"/>
          </a:p>
        </p:txBody>
      </p:sp>
    </p:spTree>
    <p:extLst>
      <p:ext uri="{BB962C8B-B14F-4D97-AF65-F5344CB8AC3E}">
        <p14:creationId xmlns:p14="http://schemas.microsoft.com/office/powerpoint/2010/main" val="37673816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消除立即左递归</a:t>
            </a:r>
            <a:endParaRPr lang="en-US" altLang="zh-CN" dirty="0"/>
          </a:p>
          <a:p>
            <a:pPr marL="255904" indent="-230504" rtl="0">
              <a:spcBef>
                <a:spcPts val="100"/>
              </a:spcBef>
              <a:buClr>
                <a:srgbClr val="000000"/>
              </a:buClr>
              <a:buFont typeface="Arial MT"/>
              <a:buChar char="•"/>
              <a:tabLst>
                <a:tab pos="255904" algn="l"/>
                <a:tab pos="4240530" algn="l"/>
                <a:tab pos="4720590" algn="l"/>
                <a:tab pos="5625465" algn="l"/>
                <a:tab pos="6182995" algn="l"/>
              </a:tabLst>
            </a:pPr>
            <a:r>
              <a:rPr lang="zh-CN" altLang="en-US" sz="1200" kern="1200" dirty="0">
                <a:solidFill>
                  <a:prstClr val="black"/>
                </a:solidFill>
                <a:latin typeface="Cambria Math"/>
                <a:cs typeface="Cambria Math"/>
              </a:rPr>
              <a:t>𝐴</a:t>
            </a:r>
            <a:r>
              <a:rPr lang="zh-CN" altLang="en-US" sz="1200" kern="1200" spc="175"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145" dirty="0">
                <a:solidFill>
                  <a:prstClr val="black"/>
                </a:solidFill>
                <a:latin typeface="Cambria Math"/>
                <a:cs typeface="Cambria Math"/>
              </a:rPr>
              <a:t> </a:t>
            </a:r>
            <a:r>
              <a:rPr lang="zh-CN" altLang="en-US" sz="1200" kern="1200" spc="25" dirty="0">
                <a:solidFill>
                  <a:prstClr val="black"/>
                </a:solidFill>
                <a:latin typeface="Cambria Math"/>
                <a:cs typeface="Cambria Math"/>
              </a:rPr>
              <a:t>𝐴</a:t>
            </a:r>
            <a:r>
              <a:rPr lang="zh-CN" altLang="en-US" sz="1200" kern="1200" spc="-60" dirty="0">
                <a:solidFill>
                  <a:prstClr val="black"/>
                </a:solidFill>
                <a:latin typeface="Cambria Math"/>
                <a:cs typeface="Cambria Math"/>
              </a:rPr>
              <a:t>𝛼</a:t>
            </a:r>
            <a:r>
              <a:rPr lang="en-US" altLang="zh-CN" sz="1400" kern="1200" spc="67" baseline="-16081" dirty="0">
                <a:solidFill>
                  <a:prstClr val="black"/>
                </a:solidFill>
                <a:latin typeface="Cambria Math"/>
                <a:cs typeface="Cambria Math"/>
              </a:rPr>
              <a:t>1</a:t>
            </a:r>
            <a:r>
              <a:rPr lang="en-US" altLang="zh-CN" sz="1200" kern="1200" dirty="0">
                <a:solidFill>
                  <a:prstClr val="black"/>
                </a:solidFill>
                <a:latin typeface="Cambria Math"/>
                <a:cs typeface="Cambria Math"/>
              </a:rPr>
              <a:t>|…|</a:t>
            </a:r>
            <a:r>
              <a:rPr lang="zh-CN" altLang="en-US" sz="1200" kern="1200" spc="25" dirty="0">
                <a:solidFill>
                  <a:prstClr val="black"/>
                </a:solidFill>
                <a:latin typeface="Cambria Math"/>
                <a:cs typeface="Cambria Math"/>
              </a:rPr>
              <a:t>𝐴</a:t>
            </a:r>
            <a:r>
              <a:rPr lang="zh-CN" altLang="en-US" sz="1200" kern="1200" dirty="0">
                <a:solidFill>
                  <a:prstClr val="black"/>
                </a:solidFill>
                <a:latin typeface="Cambria Math"/>
                <a:cs typeface="Cambria Math"/>
              </a:rPr>
              <a:t>𝛼</a:t>
            </a:r>
            <a:r>
              <a:rPr lang="zh-CN" altLang="en-US" sz="1400" kern="1200" spc="322" baseline="-16081" dirty="0">
                <a:solidFill>
                  <a:prstClr val="black"/>
                </a:solidFill>
                <a:latin typeface="Cambria Math"/>
                <a:cs typeface="Cambria Math"/>
              </a:rPr>
              <a:t>𝑚</a:t>
            </a:r>
            <a:r>
              <a:rPr lang="en-US" altLang="zh-CN" sz="1200" kern="1200" dirty="0">
                <a:solidFill>
                  <a:prstClr val="black"/>
                </a:solidFill>
                <a:latin typeface="Cambria Math"/>
                <a:cs typeface="Cambria Math"/>
              </a:rPr>
              <a:t>|</a:t>
            </a:r>
            <a:r>
              <a:rPr lang="zh-CN" altLang="en-US" sz="1200" kern="1200" spc="-229" dirty="0">
                <a:solidFill>
                  <a:prstClr val="black"/>
                </a:solidFill>
                <a:latin typeface="Cambria Math"/>
                <a:cs typeface="Cambria Math"/>
              </a:rPr>
              <a:t>𝛽</a:t>
            </a:r>
            <a:r>
              <a:rPr lang="en-US" altLang="zh-CN" sz="1400" kern="1200" spc="67" baseline="-16081" dirty="0">
                <a:solidFill>
                  <a:prstClr val="black"/>
                </a:solidFill>
                <a:latin typeface="Cambria Math"/>
                <a:cs typeface="Cambria Math"/>
              </a:rPr>
              <a:t>1</a:t>
            </a:r>
            <a:r>
              <a:rPr lang="en-US" altLang="zh-CN" sz="1400" kern="1200" dirty="0">
                <a:solidFill>
                  <a:prstClr val="black"/>
                </a:solidFill>
                <a:latin typeface="Cambria Math"/>
                <a:cs typeface="Cambria Math"/>
              </a:rPr>
              <a:t>|</a:t>
            </a:r>
            <a:r>
              <a:rPr lang="en-US" altLang="zh-CN" sz="1200" kern="1200" dirty="0">
                <a:solidFill>
                  <a:prstClr val="black"/>
                </a:solidFill>
                <a:latin typeface="Cambria Math"/>
                <a:cs typeface="Cambria Math"/>
              </a:rPr>
              <a:t>…</a:t>
            </a:r>
            <a:r>
              <a:rPr lang="zh-CN" altLang="en-US" sz="1200" kern="1200" spc="-145" dirty="0">
                <a:solidFill>
                  <a:prstClr val="black"/>
                </a:solidFill>
                <a:latin typeface="Cambria Math"/>
                <a:cs typeface="Cambria Math"/>
              </a:rPr>
              <a:t> </a:t>
            </a:r>
            <a:r>
              <a:rPr lang="en-US" altLang="zh-CN" sz="1200" kern="1200" dirty="0">
                <a:solidFill>
                  <a:prstClr val="black"/>
                </a:solidFill>
                <a:latin typeface="Cambria Math"/>
                <a:cs typeface="Cambria Math"/>
              </a:rPr>
              <a:t>| </a:t>
            </a:r>
            <a:r>
              <a:rPr lang="zh-CN" altLang="en-US" sz="1200" kern="1200" spc="-170" dirty="0">
                <a:solidFill>
                  <a:prstClr val="black"/>
                </a:solidFill>
                <a:latin typeface="Cambria Math"/>
                <a:cs typeface="Cambria Math"/>
              </a:rPr>
              <a:t>𝛽</a:t>
            </a:r>
            <a:r>
              <a:rPr lang="zh-CN" altLang="en-US" sz="1400" kern="1200" spc="375" baseline="-16081" dirty="0">
                <a:solidFill>
                  <a:prstClr val="black"/>
                </a:solidFill>
                <a:latin typeface="Cambria Math"/>
                <a:cs typeface="Cambria Math"/>
              </a:rPr>
              <a:t>𝑛</a:t>
            </a:r>
            <a:endParaRPr lang="zh-CN" altLang="en-US" sz="1400" kern="1200" baseline="-16081" dirty="0">
              <a:solidFill>
                <a:prstClr val="black"/>
              </a:solidFill>
              <a:latin typeface="Cambria Math"/>
              <a:cs typeface="Cambria Math"/>
            </a:endParaRPr>
          </a:p>
          <a:p>
            <a:r>
              <a:rPr lang="zh-CN" altLang="en-US" dirty="0"/>
              <a:t>将语法替换为：</a:t>
            </a:r>
            <a:endParaRPr lang="en-US" altLang="zh-CN" dirty="0"/>
          </a:p>
          <a:p>
            <a:r>
              <a:rPr lang="zh-CN" altLang="en-US" sz="1200" kern="1200" dirty="0">
                <a:solidFill>
                  <a:prstClr val="black"/>
                </a:solidFill>
                <a:latin typeface="Cambria Math"/>
                <a:cs typeface="Cambria Math"/>
              </a:rPr>
              <a:t>𝐴</a:t>
            </a:r>
            <a:r>
              <a:rPr lang="en-US" altLang="zh-CN" sz="1200" kern="1200" spc="110"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zh-CN" altLang="en-US" sz="1200" kern="1200" spc="-229" dirty="0">
                <a:solidFill>
                  <a:prstClr val="black"/>
                </a:solidFill>
                <a:latin typeface="Cambria Math"/>
                <a:cs typeface="Cambria Math"/>
              </a:rPr>
              <a:t>𝛽</a:t>
            </a:r>
            <a:r>
              <a:rPr lang="en-US" altLang="zh-CN" sz="1400" kern="1200" spc="67" baseline="-16081" dirty="0">
                <a:solidFill>
                  <a:prstClr val="black"/>
                </a:solidFill>
                <a:latin typeface="Cambria Math"/>
                <a:cs typeface="Cambria Math"/>
              </a:rPr>
              <a:t>1</a:t>
            </a:r>
            <a:r>
              <a:rPr lang="en-US" altLang="zh-CN" sz="1200" kern="1200" spc="-20" dirty="0">
                <a:solidFill>
                  <a:prstClr val="black"/>
                </a:solidFill>
                <a:latin typeface="Cambria Math"/>
                <a:cs typeface="Cambria Math"/>
              </a:rPr>
              <a:t>A’ |</a:t>
            </a:r>
            <a:r>
              <a:rPr lang="zh-CN" altLang="en-US" sz="1200" kern="1200" spc="-20" dirty="0">
                <a:solidFill>
                  <a:prstClr val="black"/>
                </a:solidFill>
                <a:latin typeface="Cambria Math"/>
                <a:cs typeface="Cambria Math"/>
              </a:rPr>
              <a:t> </a:t>
            </a:r>
            <a:r>
              <a:rPr lang="en-US" altLang="zh-CN" sz="1200" kern="1200" spc="-20" dirty="0">
                <a:solidFill>
                  <a:prstClr val="black"/>
                </a:solidFill>
                <a:latin typeface="Cambria Math"/>
                <a:cs typeface="Cambria Math"/>
              </a:rPr>
              <a:t>…</a:t>
            </a:r>
            <a:r>
              <a:rPr lang="zh-CN" altLang="en-US" sz="1200" kern="1200" spc="-20" dirty="0">
                <a:solidFill>
                  <a:prstClr val="black"/>
                </a:solidFill>
                <a:latin typeface="Cambria Math"/>
                <a:cs typeface="Cambria Math"/>
              </a:rPr>
              <a:t> </a:t>
            </a:r>
            <a:r>
              <a:rPr lang="en-US" altLang="zh-CN" sz="1200" kern="1200" spc="-20" dirty="0">
                <a:solidFill>
                  <a:prstClr val="black"/>
                </a:solidFill>
                <a:latin typeface="Cambria Math"/>
                <a:cs typeface="Cambria Math"/>
              </a:rPr>
              <a:t>|</a:t>
            </a:r>
            <a:r>
              <a:rPr lang="zh-CN" altLang="en-US" sz="1200" kern="1200" spc="-229" dirty="0">
                <a:solidFill>
                  <a:prstClr val="black"/>
                </a:solidFill>
                <a:latin typeface="Cambria Math"/>
                <a:cs typeface="Cambria Math"/>
              </a:rPr>
              <a:t>𝛽</a:t>
            </a:r>
            <a:r>
              <a:rPr lang="en-US" altLang="zh-CN" sz="1400" kern="1200" spc="67" baseline="-16081" dirty="0" err="1">
                <a:solidFill>
                  <a:prstClr val="black"/>
                </a:solidFill>
                <a:latin typeface="Cambria Math"/>
                <a:cs typeface="Cambria Math"/>
              </a:rPr>
              <a:t>n</a:t>
            </a:r>
            <a:r>
              <a:rPr lang="en-US" altLang="zh-CN" sz="1200" kern="1200" spc="-20" dirty="0" err="1">
                <a:solidFill>
                  <a:prstClr val="black"/>
                </a:solidFill>
                <a:latin typeface="Cambria Math"/>
                <a:cs typeface="Cambria Math"/>
              </a:rPr>
              <a:t>A</a:t>
            </a:r>
            <a:r>
              <a:rPr lang="en-US" altLang="zh-CN" sz="1200" kern="1200" spc="-20" dirty="0">
                <a:solidFill>
                  <a:prstClr val="black"/>
                </a:solidFill>
                <a:latin typeface="Cambria Math"/>
                <a:cs typeface="Cambria Math"/>
              </a:rPr>
              <a:t>’ </a:t>
            </a:r>
          </a:p>
          <a:p>
            <a:r>
              <a:rPr lang="en-US" altLang="zh-CN" sz="1200" kern="1200" spc="-20" dirty="0">
                <a:solidFill>
                  <a:prstClr val="black"/>
                </a:solidFill>
                <a:latin typeface="Cambria Math"/>
                <a:cs typeface="Cambria Math"/>
              </a:rPr>
              <a:t>A' </a:t>
            </a:r>
            <a:r>
              <a:rPr lang="en-US" altLang="zh-CN" sz="1200" kern="1200" dirty="0">
                <a:solidFill>
                  <a:prstClr val="black"/>
                </a:solidFill>
                <a:latin typeface="Cambria Math"/>
                <a:cs typeface="Cambria Math"/>
              </a:rPr>
              <a:t>→</a:t>
            </a:r>
            <a:r>
              <a:rPr lang="en-US" altLang="zh-CN" sz="1200" kern="1200" spc="95" dirty="0">
                <a:solidFill>
                  <a:prstClr val="black"/>
                </a:solidFill>
                <a:latin typeface="Cambria Math"/>
                <a:cs typeface="Cambria Math"/>
              </a:rPr>
              <a:t> </a:t>
            </a:r>
            <a:r>
              <a:rPr lang="zh-CN" altLang="en-US" sz="1200" kern="1200" spc="-60" dirty="0">
                <a:solidFill>
                  <a:prstClr val="black"/>
                </a:solidFill>
                <a:latin typeface="Cambria Math"/>
                <a:cs typeface="Cambria Math"/>
              </a:rPr>
              <a:t>𝛼</a:t>
            </a:r>
            <a:r>
              <a:rPr lang="en-US" altLang="zh-CN" sz="1400" kern="1200" spc="67" baseline="-16081" dirty="0">
                <a:solidFill>
                  <a:prstClr val="black"/>
                </a:solidFill>
                <a:latin typeface="Cambria Math"/>
                <a:cs typeface="Cambria Math"/>
              </a:rPr>
              <a:t>1</a:t>
            </a:r>
            <a:r>
              <a:rPr lang="en-US" altLang="zh-CN" sz="1200" kern="1200" spc="-20" dirty="0">
                <a:solidFill>
                  <a:prstClr val="black"/>
                </a:solidFill>
                <a:latin typeface="Cambria Math"/>
                <a:cs typeface="Cambria Math"/>
              </a:rPr>
              <a:t>A’ </a:t>
            </a:r>
            <a:r>
              <a:rPr lang="en-US" altLang="zh-CN" sz="1200" kern="1200" spc="10" dirty="0">
                <a:solidFill>
                  <a:prstClr val="black"/>
                </a:solidFill>
                <a:latin typeface="Cambria Math"/>
                <a:cs typeface="Cambria Math"/>
              </a:rPr>
              <a:t>|</a:t>
            </a:r>
            <a:r>
              <a:rPr lang="en-US" altLang="zh-CN" sz="1200" kern="1200" spc="-10" dirty="0">
                <a:solidFill>
                  <a:prstClr val="black"/>
                </a:solidFill>
                <a:latin typeface="Cambria Math"/>
                <a:cs typeface="Cambria Math"/>
              </a:rPr>
              <a:t> … | </a:t>
            </a:r>
            <a:r>
              <a:rPr lang="zh-CN" altLang="en-US" sz="1200" kern="1200" spc="-60" dirty="0">
                <a:solidFill>
                  <a:prstClr val="black"/>
                </a:solidFill>
                <a:latin typeface="Cambria Math"/>
                <a:cs typeface="Cambria Math"/>
              </a:rPr>
              <a:t>𝛼</a:t>
            </a:r>
            <a:r>
              <a:rPr lang="en-US" altLang="zh-CN" sz="1400" kern="1200" spc="67" baseline="-16081" dirty="0">
                <a:solidFill>
                  <a:prstClr val="black"/>
                </a:solidFill>
                <a:latin typeface="Cambria Math"/>
                <a:cs typeface="Cambria Math"/>
              </a:rPr>
              <a:t>m</a:t>
            </a:r>
            <a:r>
              <a:rPr lang="en-US" altLang="zh-CN" sz="1200" kern="1200" spc="-20" dirty="0">
                <a:solidFill>
                  <a:prstClr val="black"/>
                </a:solidFill>
                <a:latin typeface="Cambria Math"/>
                <a:cs typeface="Cambria Math"/>
              </a:rPr>
              <a:t>A’ </a:t>
            </a:r>
            <a:r>
              <a:rPr lang="en-US" altLang="zh-CN" sz="1200" kern="1200" spc="-10" dirty="0">
                <a:solidFill>
                  <a:prstClr val="black"/>
                </a:solidFill>
                <a:latin typeface="Cambria Math"/>
                <a:cs typeface="Cambria Math"/>
              </a:rPr>
              <a:t> |</a:t>
            </a:r>
            <a:r>
              <a:rPr lang="zh-CN" altLang="en-US" sz="1200" kern="1200" dirty="0">
                <a:solidFill>
                  <a:prstClr val="black"/>
                </a:solidFill>
                <a:latin typeface="Cambria Math"/>
                <a:cs typeface="Cambria Math"/>
              </a:rPr>
              <a:t>𝜖</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32</a:t>
            </a:fld>
            <a:endParaRPr lang="zh-CN" altLang="en-US"/>
          </a:p>
        </p:txBody>
      </p:sp>
    </p:spTree>
    <p:extLst>
      <p:ext uri="{BB962C8B-B14F-4D97-AF65-F5344CB8AC3E}">
        <p14:creationId xmlns:p14="http://schemas.microsoft.com/office/powerpoint/2010/main" val="1553981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消除左递归</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消除立即左递归的技术不适用于非立即左递归</a:t>
            </a:r>
            <a:endParaRPr lang="en-US" altLang="zh-CN" sz="1200" dirty="0">
              <a:latin typeface="黑体" panose="02010609060101010101" pitchFamily="49" charset="-122"/>
              <a:ea typeface="黑体" panose="02010609060101010101" pitchFamily="49" charset="-122"/>
            </a:endParaRPr>
          </a:p>
          <a:p>
            <a:r>
              <a:rPr lang="zh-CN" altLang="en-US" b="0" i="0" dirty="0">
                <a:solidFill>
                  <a:srgbClr val="333333"/>
                </a:solidFill>
                <a:effectLst/>
                <a:latin typeface="-apple-system"/>
              </a:rPr>
              <a:t>虽然形式上产生式没有直接左递归，但由于形成了环，导致进行推导后后出现左递归。</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通用左递归消除算法（迭代）</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输入：没有循环或</a:t>
            </a:r>
            <a:r>
              <a:rPr lang="zh-CN" altLang="en-US" kern="1200" dirty="0">
                <a:solidFill>
                  <a:prstClr val="black"/>
                </a:solidFill>
                <a:latin typeface="Cambria Math"/>
                <a:cs typeface="Cambria Math"/>
              </a:rPr>
              <a:t>𝜖</a:t>
            </a:r>
            <a:r>
              <a:rPr lang="en-US" altLang="zh-CN" kern="1200" dirty="0">
                <a:solidFill>
                  <a:prstClr val="black"/>
                </a:solidFill>
                <a:latin typeface="Cambria Math"/>
                <a:cs typeface="Cambria Math"/>
              </a:rPr>
              <a:t>-</a:t>
            </a:r>
            <a:r>
              <a:rPr lang="zh-CN" altLang="en-US" sz="1200" dirty="0">
                <a:latin typeface="黑体" panose="02010609060101010101" pitchFamily="49" charset="-122"/>
                <a:ea typeface="黑体" panose="02010609060101010101" pitchFamily="49" charset="-122"/>
              </a:rPr>
              <a:t>产生式的语法</a:t>
            </a:r>
            <a:r>
              <a:rPr lang="en-US" altLang="zh-CN" sz="1200" dirty="0">
                <a:latin typeface="黑体" panose="02010609060101010101" pitchFamily="49" charset="-122"/>
                <a:ea typeface="黑体" panose="02010609060101010101" pitchFamily="49" charset="-122"/>
              </a:rPr>
              <a:t>G</a:t>
            </a: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输出：没有左递归的等价语法</a:t>
            </a:r>
            <a:endParaRPr lang="zh-CN" altLang="en-US" dirty="0"/>
          </a:p>
          <a:p>
            <a:r>
              <a:rPr lang="zh-CN" altLang="en-US" dirty="0"/>
              <a:t>以下是算法</a:t>
            </a:r>
            <a:endParaRPr lang="en-US" altLang="zh-CN" dirty="0"/>
          </a:p>
          <a:p>
            <a:r>
              <a:rPr lang="zh-CN" altLang="en-US" dirty="0"/>
              <a:t>对于每个非终结符</a:t>
            </a:r>
            <a:r>
              <a:rPr lang="en-US" altLang="zh-CN" dirty="0"/>
              <a:t>Ai</a:t>
            </a:r>
            <a:r>
              <a:rPr lang="zh-CN" altLang="en-US" dirty="0"/>
              <a:t>，检查是否有形如</a:t>
            </a:r>
            <a:r>
              <a:rPr lang="en-US" altLang="zh-CN" dirty="0"/>
              <a:t>Ai-&gt;</a:t>
            </a:r>
            <a:r>
              <a:rPr lang="en-US" altLang="zh-CN" dirty="0" err="1"/>
              <a:t>Ajv</a:t>
            </a:r>
            <a:r>
              <a:rPr lang="zh-CN" altLang="en-US" dirty="0"/>
              <a:t>的产生式（</a:t>
            </a:r>
            <a:r>
              <a:rPr lang="en-US" altLang="zh-CN" dirty="0" err="1"/>
              <a:t>Aj</a:t>
            </a:r>
            <a:r>
              <a:rPr lang="zh-CN" altLang="en-US" dirty="0"/>
              <a:t>是其他的非终结符）</a:t>
            </a:r>
            <a:endParaRPr lang="en-US" altLang="zh-CN" dirty="0"/>
          </a:p>
          <a:p>
            <a:r>
              <a:rPr lang="zh-CN" altLang="en-US" dirty="0"/>
              <a:t>将</a:t>
            </a:r>
            <a:r>
              <a:rPr lang="en-US" altLang="zh-CN" dirty="0"/>
              <a:t>Ai-&gt;</a:t>
            </a:r>
            <a:r>
              <a:rPr lang="en-US" altLang="zh-CN" dirty="0" err="1"/>
              <a:t>Ajv</a:t>
            </a:r>
            <a:r>
              <a:rPr lang="zh-CN" altLang="en-US" dirty="0"/>
              <a:t>修改为</a:t>
            </a:r>
            <a:r>
              <a:rPr lang="en-US" altLang="zh-CN" dirty="0"/>
              <a:t>Ai-&gt;delta1 v | delta2 v | … | </a:t>
            </a:r>
            <a:r>
              <a:rPr lang="en-US" altLang="zh-CN" dirty="0" err="1"/>
              <a:t>delta_k</a:t>
            </a:r>
            <a:r>
              <a:rPr lang="en-US" altLang="zh-CN" dirty="0"/>
              <a:t> v</a:t>
            </a:r>
          </a:p>
          <a:p>
            <a:r>
              <a:rPr lang="zh-CN" altLang="en-US" dirty="0"/>
              <a:t>如果</a:t>
            </a:r>
            <a:r>
              <a:rPr lang="en-US" altLang="zh-CN" dirty="0" err="1"/>
              <a:t>Aj</a:t>
            </a:r>
            <a:r>
              <a:rPr lang="en-US" altLang="zh-CN" dirty="0"/>
              <a:t>-&gt;delta1|delta2|… </a:t>
            </a:r>
          </a:p>
          <a:p>
            <a:r>
              <a:rPr lang="zh-CN" altLang="en-US" dirty="0"/>
              <a:t>接着消除</a:t>
            </a:r>
            <a:r>
              <a:rPr lang="en-US" altLang="zh-CN" dirty="0"/>
              <a:t>Ai</a:t>
            </a:r>
            <a:r>
              <a:rPr lang="zh-CN" altLang="en-US" dirty="0"/>
              <a:t>的所有直接左递归</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34</a:t>
            </a:fld>
            <a:endParaRPr lang="zh-CN" altLang="en-US"/>
          </a:p>
        </p:txBody>
      </p:sp>
    </p:spTree>
    <p:extLst>
      <p:ext uri="{BB962C8B-B14F-4D97-AF65-F5344CB8AC3E}">
        <p14:creationId xmlns:p14="http://schemas.microsoft.com/office/powerpoint/2010/main" val="20487006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35</a:t>
            </a:fld>
            <a:endParaRPr lang="zh-CN" altLang="en-US"/>
          </a:p>
        </p:txBody>
      </p:sp>
    </p:spTree>
    <p:extLst>
      <p:ext uri="{BB962C8B-B14F-4D97-AF65-F5344CB8AC3E}">
        <p14:creationId xmlns:p14="http://schemas.microsoft.com/office/powerpoint/2010/main" val="2104162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如果我们有以下两个产生式</a:t>
            </a:r>
            <a:endParaRPr lang="en-US" altLang="zh-CN" dirty="0"/>
          </a:p>
          <a:p>
            <a:r>
              <a:rPr lang="zh-CN" altLang="en-US" dirty="0"/>
              <a:t>看到输入时𝐢𝐟</a:t>
            </a:r>
            <a:r>
              <a:rPr lang="en-US" altLang="zh-CN" dirty="0"/>
              <a:t>, </a:t>
            </a:r>
            <a:r>
              <a:rPr lang="zh-CN" altLang="en-US" dirty="0"/>
              <a:t>我们无法立即决定选择哪个产生式</a:t>
            </a:r>
            <a:endParaRPr lang="en-US" altLang="zh-CN" dirty="0"/>
          </a:p>
          <a:p>
            <a:r>
              <a:rPr lang="zh-CN" altLang="en-US" dirty="0"/>
              <a:t>一般来说，如果</a:t>
            </a:r>
            <a:r>
              <a:rPr lang="zh-CN" altLang="en-US" sz="1200" kern="1200" dirty="0">
                <a:solidFill>
                  <a:srgbClr val="0432FF"/>
                </a:solidFill>
                <a:latin typeface="Cambria Math"/>
                <a:cs typeface="Cambria Math"/>
              </a:rPr>
              <a:t>𝐴</a:t>
            </a:r>
            <a:r>
              <a:rPr lang="zh-CN" altLang="en-US" sz="1200" kern="1200" spc="130" dirty="0">
                <a:solidFill>
                  <a:srgbClr val="0432FF"/>
                </a:solidFill>
                <a:latin typeface="Cambria Math"/>
                <a:cs typeface="Cambria Math"/>
              </a:rPr>
              <a:t> </a:t>
            </a:r>
            <a:r>
              <a:rPr lang="zh-CN" altLang="en-US" sz="1200" kern="1200" dirty="0">
                <a:solidFill>
                  <a:srgbClr val="0432FF"/>
                </a:solidFill>
                <a:latin typeface="Cambria Math"/>
                <a:cs typeface="Cambria Math"/>
              </a:rPr>
              <a:t>→</a:t>
            </a:r>
            <a:r>
              <a:rPr lang="zh-CN" altLang="en-US" sz="1200" kern="1200" spc="114" dirty="0">
                <a:solidFill>
                  <a:srgbClr val="0432FF"/>
                </a:solidFill>
                <a:latin typeface="Cambria Math"/>
                <a:cs typeface="Cambria Math"/>
              </a:rPr>
              <a:t> </a:t>
            </a:r>
            <a:r>
              <a:rPr lang="zh-CN" altLang="en-US" sz="1200" kern="1200" spc="-30" dirty="0">
                <a:solidFill>
                  <a:srgbClr val="0432FF"/>
                </a:solidFill>
                <a:latin typeface="Cambria Math"/>
                <a:cs typeface="Cambria Math"/>
              </a:rPr>
              <a:t>𝛼𝛽</a:t>
            </a:r>
            <a:r>
              <a:rPr lang="en-US" altLang="zh-CN" sz="1400" kern="1200" spc="-44" baseline="-14814" dirty="0">
                <a:solidFill>
                  <a:srgbClr val="0432FF"/>
                </a:solidFill>
                <a:latin typeface="Cambria Math"/>
                <a:cs typeface="Cambria Math"/>
              </a:rPr>
              <a:t>1</a:t>
            </a:r>
            <a:r>
              <a:rPr lang="zh-CN" altLang="en-US" sz="1400" kern="1200" spc="254" baseline="-14814" dirty="0">
                <a:solidFill>
                  <a:srgbClr val="0432FF"/>
                </a:solidFill>
                <a:latin typeface="Cambria Math"/>
                <a:cs typeface="Cambria Math"/>
              </a:rPr>
              <a:t> </a:t>
            </a:r>
            <a:r>
              <a:rPr lang="en-US" altLang="zh-CN" sz="1200" kern="1200" dirty="0">
                <a:solidFill>
                  <a:srgbClr val="0432FF"/>
                </a:solidFill>
                <a:latin typeface="Cambria Math"/>
                <a:cs typeface="Cambria Math"/>
              </a:rPr>
              <a:t>| </a:t>
            </a:r>
            <a:r>
              <a:rPr lang="zh-CN" altLang="en-US" sz="1200" kern="1200" spc="-80" dirty="0">
                <a:solidFill>
                  <a:srgbClr val="0432FF"/>
                </a:solidFill>
                <a:latin typeface="Cambria Math"/>
                <a:cs typeface="Cambria Math"/>
              </a:rPr>
              <a:t>𝛼𝛽</a:t>
            </a:r>
            <a:r>
              <a:rPr lang="en-US" altLang="zh-CN" sz="1400" kern="1200" spc="-120" baseline="-14814" dirty="0">
                <a:solidFill>
                  <a:srgbClr val="0432FF"/>
                </a:solidFill>
                <a:latin typeface="Cambria Math"/>
                <a:cs typeface="Cambria Math"/>
              </a:rPr>
              <a:t>2</a:t>
            </a:r>
            <a:r>
              <a:rPr lang="zh-CN" altLang="en-US" dirty="0"/>
              <a:t>是两个产生式，并且输入以从𝛼派生的非空字符串开始</a:t>
            </a:r>
            <a:r>
              <a:rPr lang="en-US" altLang="zh-CN" dirty="0"/>
              <a:t>. </a:t>
            </a:r>
            <a:r>
              <a:rPr lang="zh-CN" altLang="en-US" dirty="0"/>
              <a:t>我们可以通过扩大𝐴 到𝛼𝐴</a:t>
            </a:r>
            <a:r>
              <a:rPr lang="en-US" altLang="zh-CN" dirty="0"/>
              <a:t>‘</a:t>
            </a:r>
            <a:r>
              <a:rPr lang="zh-CN" altLang="en-US" dirty="0"/>
              <a:t>来推迟选择产生式</a:t>
            </a:r>
            <a:endParaRPr lang="en-US" altLang="zh-CN" dirty="0"/>
          </a:p>
          <a:p>
            <a:r>
              <a:rPr lang="zh-CN" altLang="en-US" dirty="0"/>
              <a:t>通过改写产生式来推迟决策，直到输入足够多的信息后再做出。</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36</a:t>
            </a:fld>
            <a:endParaRPr lang="zh-CN" altLang="en-US"/>
          </a:p>
        </p:txBody>
      </p:sp>
    </p:spTree>
    <p:extLst>
      <p:ext uri="{BB962C8B-B14F-4D97-AF65-F5344CB8AC3E}">
        <p14:creationId xmlns:p14="http://schemas.microsoft.com/office/powerpoint/2010/main" val="8646486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算法：语法的左公因子提取</a:t>
            </a:r>
            <a:endParaRPr lang="en-US" altLang="zh-CN" dirty="0"/>
          </a:p>
          <a:p>
            <a:r>
              <a:rPr lang="zh-CN" altLang="en-US" dirty="0"/>
              <a:t>输入：语法</a:t>
            </a:r>
            <a:r>
              <a:rPr lang="en-US" altLang="zh-CN" dirty="0"/>
              <a:t>G</a:t>
            </a:r>
          </a:p>
          <a:p>
            <a:r>
              <a:rPr lang="zh-CN" altLang="en-US" dirty="0"/>
              <a:t>输出：等效的左公因子提取语法</a:t>
            </a:r>
            <a:endParaRPr lang="en-US" altLang="zh-CN" dirty="0"/>
          </a:p>
          <a:p>
            <a:r>
              <a:rPr lang="en-US" altLang="zh-CN" dirty="0"/>
              <a:t>•</a:t>
            </a:r>
            <a:r>
              <a:rPr lang="zh-CN" altLang="en-US" dirty="0"/>
              <a:t>对于每个非终结符</a:t>
            </a:r>
            <a:r>
              <a:rPr lang="en-US" altLang="zh-CN" dirty="0"/>
              <a:t>A, </a:t>
            </a:r>
            <a:r>
              <a:rPr lang="zh-CN" altLang="en-US" dirty="0"/>
              <a:t>查找最长的前缀</a:t>
            </a:r>
            <a:r>
              <a:rPr lang="zh-CN" altLang="en-US" sz="1200" kern="1200" dirty="0">
                <a:solidFill>
                  <a:prstClr val="black"/>
                </a:solidFill>
                <a:latin typeface="Cambria Math"/>
                <a:cs typeface="Cambria Math"/>
              </a:rPr>
              <a:t>𝛼，</a:t>
            </a:r>
            <a:r>
              <a:rPr lang="zh-CN" altLang="en-US" dirty="0"/>
              <a:t>它是两个或多个替换项的公共前缀。</a:t>
            </a:r>
            <a:endParaRPr lang="en-US" altLang="zh-CN" dirty="0"/>
          </a:p>
          <a:p>
            <a:r>
              <a:rPr lang="en-US" altLang="zh-CN" dirty="0"/>
              <a:t>•</a:t>
            </a:r>
            <a:r>
              <a:rPr lang="zh-CN" altLang="en-US" dirty="0"/>
              <a:t>重复转换，直到非终结符的两个替代项都没有公共前缀为止</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37</a:t>
            </a:fld>
            <a:endParaRPr lang="zh-CN" altLang="en-US"/>
          </a:p>
        </p:txBody>
      </p:sp>
    </p:spTree>
    <p:extLst>
      <p:ext uri="{BB962C8B-B14F-4D97-AF65-F5344CB8AC3E}">
        <p14:creationId xmlns:p14="http://schemas.microsoft.com/office/powerpoint/2010/main" val="1987911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dirty="0">
                <a:latin typeface="黑体" panose="02010609060101010101" pitchFamily="49" charset="-122"/>
                <a:ea typeface="黑体" panose="02010609060101010101" pitchFamily="49" charset="-122"/>
              </a:rPr>
              <a:t>引言</a:t>
            </a:r>
            <a:endParaRPr lang="en-US" altLang="zh-CN" sz="1800" b="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上下文无关语法</a:t>
            </a:r>
            <a:endParaRPr lang="en-US" altLang="zh-CN" sz="1800" dirty="0">
              <a:latin typeface="黑体" panose="02010609060101010101" pitchFamily="49" charset="-122"/>
              <a:ea typeface="黑体" panose="02010609060101010101" pitchFamily="49" charset="-122"/>
            </a:endParaRPr>
          </a:p>
          <a:p>
            <a:r>
              <a:rPr lang="zh-CN" altLang="en-US" sz="1800" b="1" dirty="0">
                <a:latin typeface="黑体" panose="02010609060101010101" pitchFamily="49" charset="-122"/>
                <a:ea typeface="黑体" panose="02010609060101010101" pitchFamily="49" charset="-122"/>
              </a:rPr>
              <a:t>语法分析技术概述</a:t>
            </a:r>
            <a:endParaRPr lang="en-US" altLang="zh-CN" sz="1800" b="1"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自顶向下解析</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自底向上解析</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解析器生成器</a:t>
            </a:r>
            <a:endParaRPr lang="zh-CN" altLang="en-US" sz="1800"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38</a:t>
            </a:fld>
            <a:endParaRPr lang="zh-CN" altLang="en-US"/>
          </a:p>
        </p:txBody>
      </p:sp>
    </p:spTree>
    <p:extLst>
      <p:ext uri="{BB962C8B-B14F-4D97-AF65-F5344CB8AC3E}">
        <p14:creationId xmlns:p14="http://schemas.microsoft.com/office/powerpoint/2010/main" val="37362068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自顶向下语法分析</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问题定义：为输入字符串构建一个语法分析树，从根开始，按预序创建语法分析树的节点（深度优先）</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相当于为输入字符串找到最左推导</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基本思想（两个步骤）：</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预测：在解析的每一步，确定最左边非终结符所用的产生式</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匹配：将所选产生式主体中的终结符与输入字符串相匹配</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39</a:t>
            </a:fld>
            <a:endParaRPr lang="zh-CN" altLang="en-US"/>
          </a:p>
        </p:txBody>
      </p:sp>
    </p:spTree>
    <p:extLst>
      <p:ext uri="{BB962C8B-B14F-4D97-AF65-F5344CB8AC3E}">
        <p14:creationId xmlns:p14="http://schemas.microsoft.com/office/powerpoint/2010/main" val="29416698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问题：输入串是该文法的句子吗？</a:t>
            </a:r>
            <a:endParaRPr lang="en-US" altLang="zh-CN" dirty="0"/>
          </a:p>
          <a:p>
            <a:r>
              <a:rPr lang="zh-CN" altLang="en-US" dirty="0"/>
              <a:t>答案：是，语法分析树见下一页</a:t>
            </a:r>
            <a:r>
              <a:rPr lang="en-US" altLang="zh-CN" dirty="0"/>
              <a:t>PPT</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40</a:t>
            </a:fld>
            <a:endParaRPr lang="zh-CN" altLang="en-US"/>
          </a:p>
        </p:txBody>
      </p:sp>
    </p:spTree>
    <p:extLst>
      <p:ext uri="{BB962C8B-B14F-4D97-AF65-F5344CB8AC3E}">
        <p14:creationId xmlns:p14="http://schemas.microsoft.com/office/powerpoint/2010/main" val="42407193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自顶向下解析中的关键决策：在每一步应用哪个产生式？</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42</a:t>
            </a:fld>
            <a:endParaRPr lang="zh-CN" altLang="en-US"/>
          </a:p>
        </p:txBody>
      </p:sp>
    </p:spTree>
    <p:extLst>
      <p:ext uri="{BB962C8B-B14F-4D97-AF65-F5344CB8AC3E}">
        <p14:creationId xmlns:p14="http://schemas.microsoft.com/office/powerpoint/2010/main" val="6715795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自底向上语法分析</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问题定义：为输入字符串构建一个从叶子（终结符）开始并向上延伸到根（语法的开始符号）的语法分析树</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相当于为输入字符串找到最右推导（相反）</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移入</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归约分析技术是自底向上语法分析的通用方式（使用栈来保存语法符号）</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43</a:t>
            </a:fld>
            <a:endParaRPr lang="zh-CN" altLang="en-US"/>
          </a:p>
        </p:txBody>
      </p:sp>
    </p:spTree>
    <p:extLst>
      <p:ext uri="{BB962C8B-B14F-4D97-AF65-F5344CB8AC3E}">
        <p14:creationId xmlns:p14="http://schemas.microsoft.com/office/powerpoint/2010/main" val="9747582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自底向上语法分析可以看作是一个将字符串</a:t>
            </a:r>
            <a:r>
              <a:rPr lang="zh-CN" altLang="en-US" sz="1200" kern="1200" dirty="0">
                <a:solidFill>
                  <a:srgbClr val="0432FF"/>
                </a:solidFill>
                <a:latin typeface="Cambria Math"/>
                <a:cs typeface="Cambria Math"/>
              </a:rPr>
              <a:t>𝜔“归约”到开始符号</a:t>
            </a:r>
            <a:r>
              <a:rPr lang="zh-CN" altLang="en-US" sz="1200" dirty="0">
                <a:latin typeface="黑体" panose="02010609060101010101" pitchFamily="49" charset="-122"/>
                <a:ea typeface="黑体" panose="02010609060101010101" pitchFamily="49" charset="-122"/>
              </a:rPr>
              <a:t>的过程</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在每一个归约步骤中，与产生式主体匹配的特定子串（位于堆栈顶部）都会被产生式的头部替换（与推导步骤相反）</a:t>
            </a:r>
            <a:endParaRPr lang="en-US" altLang="zh-CN" sz="1200"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44</a:t>
            </a:fld>
            <a:endParaRPr lang="zh-CN" altLang="en-US"/>
          </a:p>
        </p:txBody>
      </p:sp>
    </p:spTree>
    <p:extLst>
      <p:ext uri="{BB962C8B-B14F-4D97-AF65-F5344CB8AC3E}">
        <p14:creationId xmlns:p14="http://schemas.microsoft.com/office/powerpoint/2010/main" val="39417038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移入</a:t>
            </a:r>
            <a:r>
              <a:rPr lang="en-US" altLang="zh-CN" dirty="0"/>
              <a:t>-</a:t>
            </a:r>
            <a:r>
              <a:rPr lang="zh-CN" altLang="en-US" dirty="0"/>
              <a:t>归约分析技术示例</a:t>
            </a:r>
            <a:endParaRPr lang="en-US" altLang="zh-CN" dirty="0"/>
          </a:p>
          <a:p>
            <a:r>
              <a:rPr lang="zh-CN" altLang="en-US" dirty="0"/>
              <a:t>关键决策：</a:t>
            </a:r>
            <a:endParaRPr lang="en-US" altLang="zh-CN" dirty="0"/>
          </a:p>
          <a:p>
            <a:r>
              <a:rPr lang="en-US" altLang="zh-CN" dirty="0"/>
              <a:t>1.</a:t>
            </a:r>
            <a:r>
              <a:rPr lang="zh-CN" altLang="en-US" dirty="0"/>
              <a:t>什么时候归约？</a:t>
            </a:r>
            <a:endParaRPr lang="en-US" altLang="zh-CN" dirty="0"/>
          </a:p>
          <a:p>
            <a:r>
              <a:rPr lang="en-US" altLang="zh-CN" dirty="0"/>
              <a:t>2.</a:t>
            </a:r>
            <a:r>
              <a:rPr lang="zh-CN" altLang="en-US" dirty="0"/>
              <a:t>应用哪个产生式？</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45</a:t>
            </a:fld>
            <a:endParaRPr lang="zh-CN" altLang="en-US"/>
          </a:p>
        </p:txBody>
      </p:sp>
    </p:spTree>
    <p:extLst>
      <p:ext uri="{BB962C8B-B14F-4D97-AF65-F5344CB8AC3E}">
        <p14:creationId xmlns:p14="http://schemas.microsoft.com/office/powerpoint/2010/main" val="9923451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1" dirty="0">
                <a:latin typeface="黑体" panose="02010609060101010101" pitchFamily="49" charset="-122"/>
                <a:ea typeface="黑体" panose="02010609060101010101" pitchFamily="49" charset="-122"/>
              </a:rPr>
              <a:t>递归下降的语法分析</a:t>
            </a:r>
            <a:endParaRPr lang="en-US" altLang="zh-CN" sz="1800" b="1"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非递归预测的语法分析</a:t>
            </a:r>
            <a:endParaRPr lang="zh-CN" altLang="en-US" sz="1800"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46</a:t>
            </a:fld>
            <a:endParaRPr lang="zh-CN" altLang="en-US"/>
          </a:p>
        </p:txBody>
      </p:sp>
    </p:spTree>
    <p:extLst>
      <p:ext uri="{BB962C8B-B14F-4D97-AF65-F5344CB8AC3E}">
        <p14:creationId xmlns:p14="http://schemas.microsoft.com/office/powerpoint/2010/main" val="408316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110" normalizeH="0" baseline="0" noProof="0" dirty="0">
                <a:ln>
                  <a:noFill/>
                </a:ln>
                <a:solidFill>
                  <a:sysClr val="windowText" lastClr="000000"/>
                </a:solidFill>
                <a:effectLst/>
                <a:uLnTx/>
                <a:uFillTx/>
                <a:latin typeface="SimSun"/>
                <a:ea typeface="宋体" panose="02010600030101010101" pitchFamily="2" charset="-122"/>
                <a:cs typeface="SimSun"/>
              </a:rPr>
              <a:t>递归下降的语法分析</a:t>
            </a:r>
            <a:r>
              <a:rPr lang="zh-CN" altLang="en-US" sz="1200" dirty="0">
                <a:latin typeface="黑体" panose="02010609060101010101" pitchFamily="49" charset="-122"/>
                <a:ea typeface="黑体" panose="02010609060101010101" pitchFamily="49" charset="-122"/>
              </a:rPr>
              <a:t>程序对于每个非终结符都有一套程序</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该程序会扫描与非终结符对应的结构（输入的子字符串）</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从开始符号的程序开始执行</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如果程序扫描整个输入字符串，则宣布成功</a:t>
            </a:r>
          </a:p>
          <a:p>
            <a:endParaRPr lang="zh-CN" altLang="en-US" sz="1200" dirty="0">
              <a:latin typeface="黑体" panose="02010609060101010101" pitchFamily="49" charset="-122"/>
              <a:ea typeface="黑体" panose="02010609060101010101" pitchFamily="49"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47</a:t>
            </a:fld>
            <a:endParaRPr lang="zh-CN" altLang="en-US"/>
          </a:p>
        </p:txBody>
      </p:sp>
    </p:spTree>
    <p:extLst>
      <p:ext uri="{BB962C8B-B14F-4D97-AF65-F5344CB8AC3E}">
        <p14:creationId xmlns:p14="http://schemas.microsoft.com/office/powerpoint/2010/main" val="34062753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问题：如果第</a:t>
            </a:r>
            <a:r>
              <a:rPr lang="en-US" altLang="zh-CN" dirty="0"/>
              <a:t>7</a:t>
            </a:r>
            <a:r>
              <a:rPr lang="zh-CN" altLang="en-US" dirty="0"/>
              <a:t>行出现故障，这是否意味着一定存在语法错误？</a:t>
            </a:r>
            <a:endParaRPr lang="en-US" altLang="zh-CN" dirty="0"/>
          </a:p>
          <a:p>
            <a:r>
              <a:rPr lang="zh-CN" altLang="en-US" dirty="0"/>
              <a:t>答案：不一定。见下一页</a:t>
            </a:r>
            <a:r>
              <a:rPr lang="en-US" altLang="zh-CN" dirty="0"/>
              <a:t>PPT</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48</a:t>
            </a:fld>
            <a:endParaRPr lang="zh-CN" altLang="en-US"/>
          </a:p>
        </p:txBody>
      </p:sp>
    </p:spTree>
    <p:extLst>
      <p:ext uri="{BB962C8B-B14F-4D97-AF65-F5344CB8AC3E}">
        <p14:creationId xmlns:p14="http://schemas.microsoft.com/office/powerpoint/2010/main" val="8221794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故障可能是由于在底</a:t>
            </a:r>
            <a:r>
              <a:rPr lang="en-US" altLang="zh-CN" dirty="0"/>
              <a:t>=</a:t>
            </a:r>
            <a:r>
              <a:rPr lang="zh-CN" altLang="en-US" dirty="0"/>
              <a:t>第</a:t>
            </a:r>
            <a:r>
              <a:rPr lang="en-US" altLang="zh-CN" dirty="0"/>
              <a:t>1</a:t>
            </a:r>
            <a:r>
              <a:rPr lang="zh-CN" altLang="en-US" dirty="0"/>
              <a:t>行选错了𝐴</a:t>
            </a:r>
            <a:r>
              <a:rPr lang="en-US" altLang="zh-CN" dirty="0"/>
              <a:t>-</a:t>
            </a:r>
            <a:r>
              <a:rPr lang="zh-CN" altLang="en-US" dirty="0"/>
              <a:t>产生式</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49</a:t>
            </a:fld>
            <a:endParaRPr lang="zh-CN" altLang="en-US"/>
          </a:p>
        </p:txBody>
      </p:sp>
    </p:spTree>
    <p:extLst>
      <p:ext uri="{BB962C8B-B14F-4D97-AF65-F5344CB8AC3E}">
        <p14:creationId xmlns:p14="http://schemas.microsoft.com/office/powerpoint/2010/main" val="38358539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一般的递归下降语法分析可能需要对输入进行重复扫描，以尝试不同的产生式（回溯）</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为了允许回溯，我们需要修改算法</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与考察</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产生式不同，我们必须按照一定的顺序尝试每一种可能的产生式。</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黑体" panose="02010609060101010101" pitchFamily="49" charset="-122"/>
              <a:ea typeface="黑体" panose="02010609060101010101" pitchFamily="49"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50</a:t>
            </a:fld>
            <a:endParaRPr lang="zh-CN" altLang="en-US"/>
          </a:p>
        </p:txBody>
      </p:sp>
    </p:spTree>
    <p:extLst>
      <p:ext uri="{BB962C8B-B14F-4D97-AF65-F5344CB8AC3E}">
        <p14:creationId xmlns:p14="http://schemas.microsoft.com/office/powerpoint/2010/main" val="25926900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当第</a:t>
            </a:r>
            <a:r>
              <a:rPr lang="en-US" altLang="zh-CN" sz="1200" dirty="0">
                <a:latin typeface="黑体" panose="02010609060101010101" pitchFamily="49" charset="-122"/>
                <a:ea typeface="黑体" panose="02010609060101010101" pitchFamily="49" charset="-122"/>
              </a:rPr>
              <a:t>7</a:t>
            </a:r>
            <a:r>
              <a:rPr lang="zh-CN" altLang="en-US" sz="1200" dirty="0">
                <a:latin typeface="黑体" panose="02010609060101010101" pitchFamily="49" charset="-122"/>
                <a:ea typeface="黑体" panose="02010609060101010101" pitchFamily="49" charset="-122"/>
              </a:rPr>
              <a:t>行出现故障时，返回第</a:t>
            </a:r>
            <a:r>
              <a:rPr lang="en-US" altLang="zh-CN" sz="1200" dirty="0">
                <a:latin typeface="黑体" panose="02010609060101010101" pitchFamily="49" charset="-122"/>
                <a:ea typeface="黑体" panose="02010609060101010101" pitchFamily="49" charset="-122"/>
              </a:rPr>
              <a:t>1</a:t>
            </a:r>
            <a:r>
              <a:rPr lang="zh-CN" altLang="en-US" sz="1200" dirty="0">
                <a:latin typeface="黑体" panose="02010609060101010101" pitchFamily="49" charset="-122"/>
                <a:ea typeface="黑体" panose="02010609060101010101" pitchFamily="49" charset="-122"/>
              </a:rPr>
              <a:t>行并尝试另一个</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产生式</a:t>
            </a:r>
          </a:p>
          <a:p>
            <a:endParaRPr lang="zh-CN" altLang="en-US" sz="1200" dirty="0">
              <a:latin typeface="黑体" panose="02010609060101010101" pitchFamily="49" charset="-122"/>
              <a:ea typeface="黑体" panose="02010609060101010101" pitchFamily="49"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51</a:t>
            </a:fld>
            <a:endParaRPr lang="zh-CN" altLang="en-US"/>
          </a:p>
        </p:txBody>
      </p:sp>
    </p:spTree>
    <p:extLst>
      <p:ext uri="{BB962C8B-B14F-4D97-AF65-F5344CB8AC3E}">
        <p14:creationId xmlns:p14="http://schemas.microsoft.com/office/powerpoint/2010/main" val="320018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为了尝试另一个</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产生式时，我们必须重置指向下一个要扫描的符号的输入指针（失败尝试的消耗符号）</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52</a:t>
            </a:fld>
            <a:endParaRPr lang="zh-CN" altLang="en-US"/>
          </a:p>
        </p:txBody>
      </p:sp>
    </p:spTree>
    <p:extLst>
      <p:ext uri="{BB962C8B-B14F-4D97-AF65-F5344CB8AC3E}">
        <p14:creationId xmlns:p14="http://schemas.microsoft.com/office/powerpoint/2010/main" val="33338765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a:t>
            </a:r>
            <a:r>
              <a:rPr lang="zh-CN" altLang="en-US" dirty="0"/>
              <a:t>结点最左边的叶子匹配输入中的𝑐</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移进输入指针</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53</a:t>
            </a:fld>
            <a:endParaRPr lang="zh-CN" altLang="en-US"/>
          </a:p>
        </p:txBody>
      </p:sp>
    </p:spTree>
    <p:extLst>
      <p:ext uri="{BB962C8B-B14F-4D97-AF65-F5344CB8AC3E}">
        <p14:creationId xmlns:p14="http://schemas.microsoft.com/office/powerpoint/2010/main" val="28366945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使用第</a:t>
            </a:r>
            <a:r>
              <a:rPr lang="en-US" altLang="zh-CN" dirty="0"/>
              <a:t>1</a:t>
            </a:r>
            <a:r>
              <a:rPr lang="zh-CN" altLang="en-US" dirty="0"/>
              <a:t>个产生式扩展</a:t>
            </a:r>
            <a:r>
              <a:rPr lang="en-US" altLang="zh-CN" dirty="0"/>
              <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a:t>
            </a:r>
            <a:r>
              <a:rPr lang="zh-CN" altLang="en-US" dirty="0"/>
              <a:t>结点最左边的叶子匹配输入中的</a:t>
            </a:r>
            <a:r>
              <a:rPr lang="en-US" altLang="zh-CN" dirty="0"/>
              <a:t>a</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移进输入指针</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54</a:t>
            </a:fld>
            <a:endParaRPr lang="zh-CN" altLang="en-US"/>
          </a:p>
        </p:txBody>
      </p:sp>
    </p:spTree>
    <p:extLst>
      <p:ext uri="{BB962C8B-B14F-4D97-AF65-F5344CB8AC3E}">
        <p14:creationId xmlns:p14="http://schemas.microsoft.com/office/powerpoint/2010/main" val="13810309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指针指向的</a:t>
            </a:r>
            <a:r>
              <a:rPr lang="en-US" altLang="zh-CN" dirty="0"/>
              <a:t>d</a:t>
            </a:r>
            <a:r>
              <a:rPr lang="zh-CN" altLang="en-US" dirty="0"/>
              <a:t>与符号</a:t>
            </a:r>
            <a:r>
              <a:rPr lang="en-US" altLang="zh-CN" dirty="0"/>
              <a:t>b</a:t>
            </a:r>
            <a:r>
              <a:rPr lang="zh-CN" altLang="en-US" dirty="0"/>
              <a:t>不匹配</a:t>
            </a:r>
            <a:endParaRPr lang="en-US" altLang="zh-CN" dirty="0"/>
          </a:p>
          <a:p>
            <a:r>
              <a:rPr lang="zh-CN" altLang="en-US" dirty="0"/>
              <a:t>返回尝试另一个</a:t>
            </a:r>
            <a:r>
              <a:rPr lang="en-US" altLang="zh-CN" dirty="0"/>
              <a:t>A-</a:t>
            </a:r>
            <a:r>
              <a:rPr lang="zh-CN" altLang="en-US" dirty="0"/>
              <a:t>产生式</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55</a:t>
            </a:fld>
            <a:endParaRPr lang="zh-CN" altLang="en-US"/>
          </a:p>
        </p:txBody>
      </p:sp>
    </p:spTree>
    <p:extLst>
      <p:ext uri="{BB962C8B-B14F-4D97-AF65-F5344CB8AC3E}">
        <p14:creationId xmlns:p14="http://schemas.microsoft.com/office/powerpoint/2010/main" val="11971260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重置输入指针的位置</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使用</a:t>
            </a:r>
            <a:r>
              <a:rPr lang="en-US" altLang="zh-CN" dirty="0"/>
              <a:t>A</a:t>
            </a:r>
            <a:r>
              <a:rPr lang="zh-CN" altLang="en-US" dirty="0"/>
              <a:t>的第二个产生式扩展</a:t>
            </a:r>
            <a:r>
              <a:rPr lang="en-US" altLang="zh-CN" dirty="0"/>
              <a:t>A</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56</a:t>
            </a:fld>
            <a:endParaRPr lang="zh-CN" altLang="en-US"/>
          </a:p>
        </p:txBody>
      </p:sp>
    </p:spTree>
    <p:extLst>
      <p:ext uri="{BB962C8B-B14F-4D97-AF65-F5344CB8AC3E}">
        <p14:creationId xmlns:p14="http://schemas.microsoft.com/office/powerpoint/2010/main" val="16396794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a:t>
            </a:r>
            <a:r>
              <a:rPr lang="zh-CN" altLang="en-US" dirty="0"/>
              <a:t>结点最左边的叶子匹配输入中的</a:t>
            </a:r>
            <a:r>
              <a:rPr lang="en-US" altLang="zh-CN" dirty="0"/>
              <a:t>a</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移进输入指针</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57</a:t>
            </a:fld>
            <a:endParaRPr lang="zh-CN" altLang="en-US"/>
          </a:p>
        </p:txBody>
      </p:sp>
    </p:spTree>
    <p:extLst>
      <p:ext uri="{BB962C8B-B14F-4D97-AF65-F5344CB8AC3E}">
        <p14:creationId xmlns:p14="http://schemas.microsoft.com/office/powerpoint/2010/main" val="25244563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最后的叶子匹配输入中的</a:t>
            </a:r>
            <a:r>
              <a:rPr lang="en-US" altLang="zh-CN" dirty="0"/>
              <a:t>d</a:t>
            </a:r>
          </a:p>
          <a:p>
            <a:r>
              <a:rPr lang="zh-CN" altLang="en-US" dirty="0"/>
              <a:t>成功</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58</a:t>
            </a:fld>
            <a:endParaRPr lang="zh-CN" altLang="en-US"/>
          </a:p>
        </p:txBody>
      </p:sp>
    </p:spTree>
    <p:extLst>
      <p:ext uri="{BB962C8B-B14F-4D97-AF65-F5344CB8AC3E}">
        <p14:creationId xmlns:p14="http://schemas.microsoft.com/office/powerpoint/2010/main" val="4170810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左递归带来的问题</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如果</a:t>
            </a:r>
            <a:r>
              <a:rPr lang="en-US" altLang="zh-CN" sz="1200" dirty="0">
                <a:latin typeface="黑体" panose="02010609060101010101" pitchFamily="49" charset="-122"/>
                <a:ea typeface="黑体" panose="02010609060101010101" pitchFamily="49" charset="-122"/>
              </a:rPr>
              <a:t>CFG</a:t>
            </a:r>
            <a:r>
              <a:rPr lang="zh-CN" altLang="en-US" sz="1200" dirty="0">
                <a:latin typeface="黑体" panose="02010609060101010101" pitchFamily="49" charset="-122"/>
                <a:ea typeface="黑体" panose="02010609060101010101" pitchFamily="49" charset="-122"/>
              </a:rPr>
              <a:t>中有左递归，递归下降的语法分析器可能会进入无限循环，所以需要解析前修改</a:t>
            </a:r>
            <a:r>
              <a:rPr lang="en-US" altLang="zh-CN" sz="1200" dirty="0">
                <a:latin typeface="黑体" panose="02010609060101010101" pitchFamily="49" charset="-122"/>
                <a:ea typeface="黑体" panose="02010609060101010101" pitchFamily="49" charset="-122"/>
              </a:rPr>
              <a:t>CFG</a:t>
            </a:r>
            <a:endParaRPr lang="zh-CN" altLang="en-US" sz="1200" dirty="0">
              <a:latin typeface="黑体" panose="02010609060101010101" pitchFamily="49" charset="-122"/>
              <a:ea typeface="黑体" panose="02010609060101010101" pitchFamily="49" charset="-122"/>
            </a:endParaRPr>
          </a:p>
          <a:p>
            <a:endParaRPr lang="zh-CN" altLang="en-US" sz="1200" dirty="0">
              <a:latin typeface="黑体" panose="02010609060101010101" pitchFamily="49" charset="-122"/>
              <a:ea typeface="黑体" panose="02010609060101010101" pitchFamily="49"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59</a:t>
            </a:fld>
            <a:endParaRPr lang="zh-CN" altLang="en-US"/>
          </a:p>
        </p:txBody>
      </p:sp>
    </p:spTree>
    <p:extLst>
      <p:ext uri="{BB962C8B-B14F-4D97-AF65-F5344CB8AC3E}">
        <p14:creationId xmlns:p14="http://schemas.microsoft.com/office/powerpoint/2010/main" val="24360430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我们能避免回溯吗？</a:t>
            </a:r>
            <a:endParaRPr lang="en-US" altLang="zh-CN" dirty="0"/>
          </a:p>
          <a:p>
            <a:r>
              <a:rPr lang="zh-CN" altLang="en-US" dirty="0"/>
              <a:t>关键问题：在第</a:t>
            </a:r>
            <a:r>
              <a:rPr lang="en-US" altLang="zh-CN" dirty="0"/>
              <a:t>1</a:t>
            </a:r>
            <a:r>
              <a:rPr lang="zh-CN" altLang="en-US" dirty="0"/>
              <a:t>行，我们进行随机选择（暴力搜索）</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60</a:t>
            </a:fld>
            <a:endParaRPr lang="zh-CN" altLang="en-US"/>
          </a:p>
        </p:txBody>
      </p:sp>
    </p:spTree>
    <p:extLst>
      <p:ext uri="{BB962C8B-B14F-4D97-AF65-F5344CB8AC3E}">
        <p14:creationId xmlns:p14="http://schemas.microsoft.com/office/powerpoint/2010/main" val="12920883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重写时𝐴</a:t>
            </a:r>
            <a:r>
              <a:rPr lang="en-US" altLang="zh-CN" dirty="0"/>
              <a:t>, </a:t>
            </a:r>
            <a:r>
              <a:rPr lang="zh-CN" altLang="en-US" dirty="0"/>
              <a:t>选择产生式𝐴 → 𝑐好吗</a:t>
            </a:r>
            <a:r>
              <a:rPr lang="en-US" altLang="zh-CN" dirty="0"/>
              <a:t>? </a:t>
            </a:r>
          </a:p>
          <a:p>
            <a:r>
              <a:rPr lang="zh-CN" altLang="en-US" dirty="0"/>
              <a:t>不，如果我们向前看，输入中的下一个字符是𝑎</a:t>
            </a:r>
            <a:endParaRPr lang="en-US" altLang="zh-CN" dirty="0"/>
          </a:p>
          <a:p>
            <a:r>
              <a:rPr lang="zh-CN" altLang="en-US" dirty="0"/>
              <a:t>𝐴 → 𝑐 显然是个糟糕的选择</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61</a:t>
            </a:fld>
            <a:endParaRPr lang="zh-CN" altLang="en-US"/>
          </a:p>
        </p:txBody>
      </p:sp>
    </p:spTree>
    <p:extLst>
      <p:ext uri="{BB962C8B-B14F-4D97-AF65-F5344CB8AC3E}">
        <p14:creationId xmlns:p14="http://schemas.microsoft.com/office/powerpoint/2010/main" val="20155315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向前看有用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假设输入字符串为</a:t>
            </a:r>
            <a:r>
              <a:rPr lang="zh-CN" altLang="en-US" sz="1200" kern="1200" dirty="0">
                <a:solidFill>
                  <a:prstClr val="black"/>
                </a:solidFill>
                <a:latin typeface="Cambria Math"/>
                <a:cs typeface="Cambria Math"/>
              </a:rPr>
              <a:t>𝒙</a:t>
            </a:r>
            <a:r>
              <a:rPr lang="zh-CN" altLang="en-US" sz="1200" kern="1200" dirty="0">
                <a:solidFill>
                  <a:srgbClr val="FF0000"/>
                </a:solidFill>
                <a:latin typeface="Cambria Math"/>
                <a:cs typeface="Cambria Math"/>
              </a:rPr>
              <a:t>𝒂</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假设当前的句型是</a:t>
            </a:r>
            <a:r>
              <a:rPr lang="zh-CN" altLang="el-GR" sz="1200" kern="1200" spc="15" dirty="0">
                <a:solidFill>
                  <a:prstClr val="black"/>
                </a:solidFill>
                <a:latin typeface="Cambria Math"/>
                <a:cs typeface="Cambria Math"/>
              </a:rPr>
              <a:t>𝒙</a:t>
            </a:r>
            <a:r>
              <a:rPr lang="zh-CN" altLang="el-GR" sz="1200" kern="1200" spc="15" dirty="0">
                <a:solidFill>
                  <a:srgbClr val="FF0000"/>
                </a:solidFill>
                <a:latin typeface="Cambria Math"/>
                <a:cs typeface="Cambria Math"/>
              </a:rPr>
              <a:t>𝑨</a:t>
            </a:r>
            <a:r>
              <a:rPr lang="el-GR" altLang="zh-CN" sz="1200" b="1" kern="1200" spc="15" dirty="0">
                <a:latin typeface="Cambria Math"/>
                <a:cs typeface="Cambria Math"/>
              </a:rPr>
              <a:t>β</a:t>
            </a:r>
            <a:endParaRPr lang="en-US" altLang="zh-CN" sz="1200" b="1" kern="1200" spc="15" dirty="0">
              <a:latin typeface="Cambria Math"/>
              <a:cs typeface="Cambria Math"/>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𝑨 是非终结符；</a:t>
            </a:r>
            <a:r>
              <a:rPr lang="en-US" altLang="zh-CN" sz="1200" dirty="0">
                <a:latin typeface="黑体" panose="02010609060101010101" pitchFamily="49" charset="-122"/>
                <a:ea typeface="黑体" panose="02010609060101010101" pitchFamily="49" charset="-122"/>
              </a:rPr>
              <a:t>β</a:t>
            </a:r>
            <a:r>
              <a:rPr lang="zh-CN" altLang="en-US" sz="1200" dirty="0">
                <a:latin typeface="黑体" panose="02010609060101010101" pitchFamily="49" charset="-122"/>
                <a:ea typeface="黑体" panose="02010609060101010101" pitchFamily="49" charset="-122"/>
              </a:rPr>
              <a:t>可以同时包含终结符和非终结符</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如果我们知道产生式𝑨 → 𝑎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𝜸的以下事实</a:t>
            </a:r>
            <a:r>
              <a:rPr lang="en-US" altLang="zh-CN" sz="1200" dirty="0">
                <a:latin typeface="黑体" panose="02010609060101010101" pitchFamily="49" charset="-122"/>
                <a:ea typeface="黑体" panose="02010609060101010101" pitchFamily="49" charset="-122"/>
              </a:rPr>
              <a:t>:</a:t>
            </a:r>
          </a:p>
          <a:p>
            <a:r>
              <a:rPr lang="en-US" altLang="zh-CN" sz="1200" dirty="0">
                <a:latin typeface="黑体" panose="02010609060101010101" pitchFamily="49" charset="-122"/>
                <a:ea typeface="黑体" panose="02010609060101010101" pitchFamily="49" charset="-122"/>
              </a:rPr>
              <a:t>   ·</a:t>
            </a:r>
            <a:r>
              <a:rPr lang="zh-CN" altLang="en-US" kern="1200" dirty="0">
                <a:solidFill>
                  <a:srgbClr val="FF0000"/>
                </a:solidFill>
                <a:latin typeface="Cambria Math"/>
                <a:cs typeface="Cambria Math"/>
              </a:rPr>
              <a:t>𝑎</a:t>
            </a:r>
            <a:r>
              <a:rPr lang="zh-CN" altLang="en-US" kern="1200" spc="140" dirty="0">
                <a:solidFill>
                  <a:srgbClr val="FF0000"/>
                </a:solidFill>
                <a:latin typeface="Cambria Math"/>
                <a:cs typeface="Cambria Math"/>
              </a:rPr>
              <a:t> </a:t>
            </a:r>
            <a:r>
              <a:rPr lang="zh-CN" altLang="en-US" kern="1200" dirty="0">
                <a:solidFill>
                  <a:srgbClr val="FF0000"/>
                </a:solidFill>
                <a:latin typeface="Cambria Math"/>
                <a:cs typeface="Cambria Math"/>
              </a:rPr>
              <a:t>∈</a:t>
            </a:r>
            <a:r>
              <a:rPr lang="zh-CN" altLang="en-US" kern="1200" spc="105" dirty="0">
                <a:solidFill>
                  <a:srgbClr val="FF0000"/>
                </a:solidFill>
                <a:latin typeface="Cambria Math"/>
                <a:cs typeface="Cambria Math"/>
              </a:rPr>
              <a:t> </a:t>
            </a:r>
            <a:r>
              <a:rPr lang="zh-CN" altLang="en-US" kern="1200" spc="10" dirty="0">
                <a:solidFill>
                  <a:srgbClr val="FF0000"/>
                </a:solidFill>
                <a:latin typeface="Cambria Math"/>
                <a:cs typeface="Cambria Math"/>
              </a:rPr>
              <a:t>𝐹𝐼𝑅𝑆𝑇</a:t>
            </a:r>
            <a:r>
              <a:rPr lang="en-US" altLang="zh-CN" kern="1200" spc="10" dirty="0">
                <a:solidFill>
                  <a:srgbClr val="FF0000"/>
                </a:solidFill>
                <a:latin typeface="Cambria Math"/>
                <a:cs typeface="Cambria Math"/>
              </a:rPr>
              <a:t>(</a:t>
            </a:r>
            <a:r>
              <a:rPr lang="zh-CN" altLang="en-US" kern="1200" spc="10" dirty="0">
                <a:solidFill>
                  <a:srgbClr val="FF0000"/>
                </a:solidFill>
                <a:latin typeface="Cambria Math"/>
                <a:cs typeface="Cambria Math"/>
              </a:rPr>
              <a:t>𝛼</a:t>
            </a:r>
            <a:r>
              <a:rPr lang="en-US" altLang="zh-CN" kern="1200" spc="10" dirty="0">
                <a:solidFill>
                  <a:srgbClr val="FF0000"/>
                </a:solidFill>
                <a:latin typeface="Cambria Math"/>
                <a:cs typeface="Cambria Math"/>
              </a:rPr>
              <a:t>)</a:t>
            </a:r>
            <a:r>
              <a:rPr lang="zh-CN" altLang="en-US" kern="1200" spc="15" dirty="0">
                <a:solidFill>
                  <a:srgbClr val="FF0000"/>
                </a:solidFill>
                <a:latin typeface="Cambria Math"/>
                <a:cs typeface="Cambria Math"/>
              </a:rPr>
              <a:t> </a:t>
            </a:r>
            <a:r>
              <a:rPr lang="zh-CN" altLang="en-US" kern="1200" spc="15" dirty="0">
                <a:solidFill>
                  <a:prstClr val="black"/>
                </a:solidFill>
                <a:latin typeface="Cambria Math"/>
                <a:cs typeface="Calibri"/>
              </a:rPr>
              <a:t>：</a:t>
            </a:r>
            <a:r>
              <a:rPr lang="zh-CN" altLang="en-US" sz="1200" dirty="0">
                <a:latin typeface="黑体" panose="02010609060101010101" pitchFamily="49" charset="-122"/>
                <a:ea typeface="黑体" panose="02010609060101010101" pitchFamily="49" charset="-122"/>
              </a:rPr>
              <a:t>𝛼 可以推导以</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开头的字符串</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a:t>
            </a:r>
            <a:r>
              <a:rPr lang="zh-CN" altLang="en-US" kern="1200" dirty="0">
                <a:solidFill>
                  <a:srgbClr val="FF0000"/>
                </a:solidFill>
                <a:latin typeface="Cambria Math"/>
                <a:cs typeface="Cambria Math"/>
              </a:rPr>
              <a:t>𝑎</a:t>
            </a:r>
            <a:r>
              <a:rPr lang="zh-CN" altLang="en-US" kern="1200" spc="140" dirty="0">
                <a:solidFill>
                  <a:srgbClr val="FF0000"/>
                </a:solidFill>
                <a:latin typeface="Cambria Math"/>
                <a:cs typeface="Cambria Math"/>
              </a:rPr>
              <a:t> </a:t>
            </a:r>
            <a:r>
              <a:rPr lang="zh-CN" altLang="en-US" kern="1200" dirty="0">
                <a:solidFill>
                  <a:srgbClr val="FF0000"/>
                </a:solidFill>
                <a:latin typeface="Cambria Math"/>
                <a:cs typeface="Cambria Math"/>
              </a:rPr>
              <a:t>∉</a:t>
            </a:r>
            <a:r>
              <a:rPr lang="zh-CN" altLang="en-US" kern="1200" spc="100" dirty="0">
                <a:solidFill>
                  <a:srgbClr val="FF0000"/>
                </a:solidFill>
                <a:latin typeface="Cambria Math"/>
                <a:cs typeface="Cambria Math"/>
              </a:rPr>
              <a:t> </a:t>
            </a:r>
            <a:r>
              <a:rPr lang="zh-CN" altLang="en-US" kern="1200" spc="10" dirty="0">
                <a:solidFill>
                  <a:srgbClr val="FF0000"/>
                </a:solidFill>
                <a:latin typeface="Cambria Math"/>
                <a:cs typeface="Cambria Math"/>
              </a:rPr>
              <a:t>𝐹𝐼𝑅𝑆𝑇</a:t>
            </a:r>
            <a:r>
              <a:rPr lang="en-US" altLang="zh-CN" kern="1200" spc="10" dirty="0">
                <a:solidFill>
                  <a:srgbClr val="FF0000"/>
                </a:solidFill>
                <a:latin typeface="Cambria Math"/>
                <a:cs typeface="Cambria Math"/>
              </a:rPr>
              <a:t>(</a:t>
            </a:r>
            <a:r>
              <a:rPr lang="zh-CN" altLang="en-US" kern="1200" spc="10" dirty="0">
                <a:solidFill>
                  <a:srgbClr val="FF0000"/>
                </a:solidFill>
                <a:latin typeface="Cambria Math"/>
                <a:cs typeface="Cambria Math"/>
              </a:rPr>
              <a:t>𝛾</a:t>
            </a:r>
            <a:r>
              <a:rPr lang="en-US" altLang="zh-CN" kern="1200" spc="10" dirty="0">
                <a:solidFill>
                  <a:srgbClr val="FF0000"/>
                </a:solidFill>
                <a:latin typeface="Cambria Math"/>
                <a:cs typeface="Cambria Math"/>
              </a:rPr>
              <a:t>)</a:t>
            </a:r>
            <a:r>
              <a:rPr lang="zh-CN" altLang="en-US" kern="1200" spc="10" dirty="0">
                <a:solidFill>
                  <a:srgbClr val="FF0000"/>
                </a:solidFill>
                <a:latin typeface="Cambria Math"/>
                <a:cs typeface="Cambria Math"/>
              </a:rPr>
              <a:t>：</a:t>
            </a:r>
            <a:r>
              <a:rPr lang="zh-CN" altLang="en-US" sz="1200" dirty="0">
                <a:latin typeface="黑体" panose="02010609060101010101" pitchFamily="49" charset="-122"/>
                <a:ea typeface="黑体" panose="02010609060101010101" pitchFamily="49" charset="-122"/>
              </a:rPr>
              <a:t>𝛾 不可以推导出以</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开头的字符串</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*𝐹𝐼𝑅𝑆𝑇</a:t>
            </a:r>
            <a:r>
              <a:rPr lang="en-US" altLang="zh-CN" sz="1200" dirty="0">
                <a:latin typeface="黑体" panose="02010609060101010101" pitchFamily="49" charset="-122"/>
                <a:ea typeface="黑体" panose="02010609060101010101" pitchFamily="49" charset="-122"/>
              </a:rPr>
              <a:t>(</a:t>
            </a:r>
            <a:r>
              <a:rPr lang="zh-CN" altLang="en-US" sz="1200" dirty="0">
                <a:latin typeface="黑体" panose="02010609060101010101" pitchFamily="49" charset="-122"/>
                <a:ea typeface="黑体" panose="02010609060101010101" pitchFamily="49" charset="-122"/>
              </a:rPr>
              <a:t>𝛼</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表示可从</a:t>
            </a:r>
            <a:r>
              <a:rPr lang="en-US" altLang="zh-CN" sz="1200" dirty="0">
                <a:latin typeface="黑体" panose="02010609060101010101" pitchFamily="49" charset="-122"/>
                <a:ea typeface="黑体" panose="02010609060101010101" pitchFamily="49" charset="-122"/>
              </a:rPr>
              <a:t>α</a:t>
            </a:r>
            <a:r>
              <a:rPr lang="zh-CN" altLang="en-US" sz="1200" dirty="0">
                <a:latin typeface="黑体" panose="02010609060101010101" pitchFamily="49" charset="-122"/>
                <a:ea typeface="黑体" panose="02010609060101010101" pitchFamily="49" charset="-122"/>
              </a:rPr>
              <a:t>推导得到的串的首符号的集合</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62</a:t>
            </a:fld>
            <a:endParaRPr lang="zh-CN" altLang="en-US"/>
          </a:p>
        </p:txBody>
      </p:sp>
    </p:spTree>
    <p:extLst>
      <p:ext uri="{BB962C8B-B14F-4D97-AF65-F5344CB8AC3E}">
        <p14:creationId xmlns:p14="http://schemas.microsoft.com/office/powerpoint/2010/main" val="41050024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a:t>
            </a:r>
            <a:r>
              <a:rPr lang="zh-CN" altLang="en-US" dirty="0"/>
              <a:t>（</a:t>
            </a:r>
            <a:r>
              <a:rPr lang="en-US" altLang="zh-CN" dirty="0"/>
              <a:t>alpha) </a:t>
            </a:r>
            <a:r>
              <a:rPr lang="zh-CN" altLang="en-US" dirty="0"/>
              <a:t>，</a:t>
            </a:r>
            <a:r>
              <a:rPr lang="en-US" altLang="zh-CN" dirty="0"/>
              <a:t>alpha</a:t>
            </a:r>
            <a:r>
              <a:rPr lang="zh-CN" altLang="en-US" dirty="0"/>
              <a:t>是语法符号串</a:t>
            </a:r>
            <a:endParaRPr lang="en-US" altLang="zh-CN" dirty="0"/>
          </a:p>
          <a:p>
            <a:r>
              <a:rPr lang="zh-CN" altLang="en-US" dirty="0"/>
              <a:t>如果</a:t>
            </a:r>
            <a:r>
              <a:rPr lang="en-US" altLang="zh-CN" dirty="0"/>
              <a:t>alpha</a:t>
            </a:r>
            <a:r>
              <a:rPr lang="zh-CN" altLang="en-US" dirty="0"/>
              <a:t>是终结符，</a:t>
            </a:r>
            <a:r>
              <a:rPr lang="en-US" altLang="zh-CN" dirty="0"/>
              <a:t>FIRST</a:t>
            </a:r>
            <a:r>
              <a:rPr lang="zh-CN" altLang="en-US" dirty="0"/>
              <a:t>集为字符串首字母</a:t>
            </a:r>
            <a:endParaRPr lang="en-US" altLang="zh-CN" dirty="0"/>
          </a:p>
          <a:p>
            <a:r>
              <a:rPr lang="zh-CN" altLang="en-US" dirty="0"/>
              <a:t>如果</a:t>
            </a:r>
            <a:r>
              <a:rPr lang="en-US" altLang="zh-CN" dirty="0"/>
              <a:t>alpha</a:t>
            </a:r>
            <a:r>
              <a:rPr lang="zh-CN" altLang="en-US" dirty="0"/>
              <a:t>可以推导为空，则空在</a:t>
            </a:r>
            <a:r>
              <a:rPr lang="en-US" altLang="zh-CN" dirty="0"/>
              <a:t>FIRST</a:t>
            </a:r>
            <a:r>
              <a:rPr lang="zh-CN" altLang="en-US" dirty="0"/>
              <a:t>集中</a:t>
            </a:r>
            <a:endParaRPr lang="en-US" altLang="zh-CN" dirty="0"/>
          </a:p>
          <a:p>
            <a:endParaRPr lang="en-US" altLang="zh-CN" dirty="0"/>
          </a:p>
          <a:p>
            <a:r>
              <a:rPr lang="en-US" altLang="zh-CN" dirty="0" err="1"/>
              <a:t>FIRSt</a:t>
            </a:r>
            <a:r>
              <a:rPr lang="zh-CN" altLang="en-US" dirty="0"/>
              <a:t>集在语法分析是有用的</a:t>
            </a:r>
            <a:endParaRPr lang="en-US" altLang="zh-CN" dirty="0"/>
          </a:p>
          <a:p>
            <a:r>
              <a:rPr lang="zh-CN" altLang="en-US" sz="1200" kern="1200" dirty="0">
                <a:latin typeface="Cambria Math"/>
                <a:cs typeface="Cambria Math"/>
              </a:rPr>
              <a:t>𝑨</a:t>
            </a:r>
            <a:r>
              <a:rPr lang="zh-CN" altLang="en-US" sz="1200" kern="1200" spc="114" dirty="0">
                <a:latin typeface="Cambria Math"/>
                <a:cs typeface="Cambria Math"/>
              </a:rPr>
              <a:t> </a:t>
            </a:r>
            <a:r>
              <a:rPr lang="zh-CN" altLang="en-US" sz="1200" kern="1200" dirty="0">
                <a:latin typeface="Cambria Math"/>
                <a:cs typeface="Cambria Math"/>
              </a:rPr>
              <a:t>→</a:t>
            </a:r>
            <a:r>
              <a:rPr lang="zh-CN" altLang="en-US" sz="1200" kern="1200" spc="5" dirty="0">
                <a:latin typeface="Cambria Math"/>
                <a:cs typeface="Cambria Math"/>
              </a:rPr>
              <a:t>𝛼</a:t>
            </a:r>
            <a:r>
              <a:rPr lang="en-US" altLang="zh-CN" sz="1200" kern="1200" dirty="0">
                <a:latin typeface="Cambria Math"/>
                <a:cs typeface="Cambria Math"/>
              </a:rPr>
              <a:t>| </a:t>
            </a:r>
            <a:r>
              <a:rPr lang="el-GR" altLang="zh-CN" sz="1200" kern="1200" spc="15" dirty="0">
                <a:latin typeface="Cambria Math"/>
                <a:cs typeface="Cambria Math"/>
              </a:rPr>
              <a:t>β</a:t>
            </a:r>
            <a:r>
              <a:rPr lang="zh-CN" altLang="en-US" sz="1200" kern="1200" spc="15" dirty="0">
                <a:latin typeface="Cambria Math"/>
                <a:cs typeface="Cambria Math"/>
              </a:rPr>
              <a:t>， 假设</a:t>
            </a:r>
            <a:r>
              <a:rPr lang="en-US" altLang="zh-CN" sz="1200" kern="1200" spc="-5" dirty="0">
                <a:latin typeface="Cambria Math"/>
                <a:cs typeface="Cambria Math"/>
              </a:rPr>
              <a:t>FIRST(</a:t>
            </a:r>
            <a:r>
              <a:rPr lang="zh-CN" altLang="en-US" sz="1200" kern="1200" spc="5" dirty="0">
                <a:latin typeface="Cambria Math"/>
                <a:cs typeface="Cambria Math"/>
              </a:rPr>
              <a:t>𝛼</a:t>
            </a:r>
            <a:r>
              <a:rPr lang="en-US" altLang="zh-CN" sz="1200" kern="1200" spc="-5" dirty="0">
                <a:latin typeface="Cambria Math"/>
                <a:cs typeface="Cambria Math"/>
              </a:rPr>
              <a:t>) and FIRST(</a:t>
            </a:r>
            <a:r>
              <a:rPr lang="el-GR" altLang="zh-CN" sz="1200" kern="1200" spc="15" dirty="0">
                <a:latin typeface="Cambria Math"/>
                <a:cs typeface="Cambria Math"/>
              </a:rPr>
              <a:t>β</a:t>
            </a:r>
            <a:r>
              <a:rPr lang="en-US" altLang="zh-CN" sz="1200" kern="1200" spc="-5" dirty="0">
                <a:latin typeface="Cambria Math"/>
                <a:cs typeface="Cambria Math"/>
              </a:rPr>
              <a:t>) </a:t>
            </a:r>
            <a:r>
              <a:rPr lang="zh-CN" altLang="en-US" sz="1200" kern="1200" spc="-5" dirty="0">
                <a:latin typeface="Cambria Math"/>
                <a:cs typeface="Cambria Math"/>
              </a:rPr>
              <a:t>并集为空</a:t>
            </a:r>
            <a:endParaRPr lang="en-US" altLang="zh-CN" sz="1200" kern="1200" spc="-5" dirty="0">
              <a:latin typeface="Cambria Math"/>
              <a:cs typeface="Cambria Math"/>
            </a:endParaRPr>
          </a:p>
          <a:p>
            <a:r>
              <a:rPr lang="zh-CN" altLang="en-US" sz="1200" kern="1200" dirty="0">
                <a:latin typeface="Cambria Math"/>
                <a:cs typeface="Cambria Math"/>
              </a:rPr>
              <a:t>如果下一个</a:t>
            </a:r>
            <a:r>
              <a:rPr lang="zh-CN" altLang="en-US" sz="1200" dirty="0"/>
              <a:t>𝑎在</a:t>
            </a:r>
            <a:r>
              <a:rPr lang="en-US" altLang="zh-CN" sz="1200" kern="1200" spc="-5" dirty="0">
                <a:latin typeface="Cambria Math"/>
                <a:cs typeface="Cambria Math"/>
              </a:rPr>
              <a:t>FIRST(</a:t>
            </a:r>
            <a:r>
              <a:rPr lang="zh-CN" altLang="en-US" sz="1200" kern="1200" spc="5" dirty="0">
                <a:latin typeface="Cambria Math"/>
                <a:cs typeface="Cambria Math"/>
              </a:rPr>
              <a:t>𝛼</a:t>
            </a:r>
            <a:r>
              <a:rPr lang="en-US" altLang="zh-CN" sz="1200" kern="1200" spc="-5" dirty="0">
                <a:latin typeface="Cambria Math"/>
                <a:cs typeface="Cambria Math"/>
              </a:rPr>
              <a:t>)</a:t>
            </a:r>
            <a:r>
              <a:rPr lang="zh-CN" altLang="en-US" sz="1200" kern="1200" spc="-5" dirty="0">
                <a:latin typeface="Cambria Math"/>
                <a:cs typeface="Cambria Math"/>
              </a:rPr>
              <a:t>中，选择产生式</a:t>
            </a:r>
            <a:r>
              <a:rPr lang="zh-CN" altLang="en-US" sz="1200" kern="1200" dirty="0">
                <a:latin typeface="Cambria Math"/>
                <a:cs typeface="Cambria Math"/>
              </a:rPr>
              <a:t>𝑨</a:t>
            </a:r>
            <a:r>
              <a:rPr lang="zh-CN" altLang="en-US" sz="1200" kern="1200" spc="114" dirty="0">
                <a:latin typeface="Cambria Math"/>
                <a:cs typeface="Cambria Math"/>
              </a:rPr>
              <a:t> </a:t>
            </a:r>
            <a:r>
              <a:rPr lang="zh-CN" altLang="en-US" sz="1200" kern="1200" dirty="0">
                <a:latin typeface="Cambria Math"/>
                <a:cs typeface="Cambria Math"/>
              </a:rPr>
              <a:t>→</a:t>
            </a:r>
            <a:r>
              <a:rPr lang="zh-CN" altLang="en-US" sz="1200" kern="1200" spc="5" dirty="0">
                <a:latin typeface="Cambria Math"/>
                <a:cs typeface="Cambria Math"/>
              </a:rPr>
              <a:t>𝛼</a:t>
            </a:r>
            <a:endParaRPr lang="en-US" altLang="zh-CN" sz="1200" kern="1200" spc="5" dirty="0">
              <a:latin typeface="Cambria Math"/>
              <a:cs typeface="Cambria Mat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latin typeface="Cambria Math"/>
                <a:cs typeface="Cambria Math"/>
              </a:rPr>
              <a:t>如果下一个</a:t>
            </a:r>
            <a:r>
              <a:rPr lang="zh-CN" altLang="en-US" sz="1200" dirty="0"/>
              <a:t>𝑎在</a:t>
            </a:r>
            <a:r>
              <a:rPr lang="en-US" altLang="zh-CN" sz="1200" kern="1200" spc="-5" dirty="0">
                <a:latin typeface="Cambria Math"/>
                <a:cs typeface="Cambria Math"/>
              </a:rPr>
              <a:t>FIRST(</a:t>
            </a:r>
            <a:r>
              <a:rPr lang="el-GR" altLang="zh-CN" sz="1800" kern="1200" spc="15" dirty="0">
                <a:solidFill>
                  <a:srgbClr val="000000"/>
                </a:solidFill>
                <a:effectLst/>
                <a:latin typeface="Cambria Math" panose="02040503050406030204" pitchFamily="18" charset="0"/>
                <a:ea typeface="等线" panose="02010600030101010101" pitchFamily="2" charset="-122"/>
                <a:cs typeface="Cambria Math" panose="02040503050406030204" pitchFamily="18" charset="0"/>
              </a:rPr>
              <a:t>β</a:t>
            </a:r>
            <a:r>
              <a:rPr lang="en-US" altLang="zh-CN" sz="1200" kern="1200" spc="-5" dirty="0">
                <a:latin typeface="Cambria Math"/>
                <a:cs typeface="Cambria Math"/>
              </a:rPr>
              <a:t>)</a:t>
            </a:r>
            <a:r>
              <a:rPr lang="zh-CN" altLang="en-US" sz="1200" kern="1200" spc="-5" dirty="0">
                <a:latin typeface="Cambria Math"/>
                <a:cs typeface="Cambria Math"/>
              </a:rPr>
              <a:t>中，选择产生式</a:t>
            </a:r>
            <a:r>
              <a:rPr lang="zh-CN" altLang="en-US" sz="1200" kern="1200" dirty="0">
                <a:latin typeface="Cambria Math"/>
                <a:cs typeface="Cambria Math"/>
              </a:rPr>
              <a:t>𝑨</a:t>
            </a:r>
            <a:r>
              <a:rPr lang="zh-CN" altLang="en-US" sz="1200" kern="1200" spc="114" dirty="0">
                <a:latin typeface="Cambria Math"/>
                <a:cs typeface="Cambria Math"/>
              </a:rPr>
              <a:t> </a:t>
            </a:r>
            <a:r>
              <a:rPr lang="zh-CN" altLang="en-US" sz="1200" kern="1200" dirty="0">
                <a:latin typeface="Cambria Math"/>
                <a:cs typeface="Cambria Math"/>
              </a:rPr>
              <a:t>→</a:t>
            </a:r>
            <a:r>
              <a:rPr lang="el-GR" altLang="zh-CN" sz="1800" kern="1200" spc="15" dirty="0">
                <a:solidFill>
                  <a:srgbClr val="000000"/>
                </a:solidFill>
                <a:effectLst/>
                <a:latin typeface="Cambria Math" panose="02040503050406030204" pitchFamily="18" charset="0"/>
                <a:ea typeface="等线" panose="02010600030101010101" pitchFamily="2" charset="-122"/>
                <a:cs typeface="Cambria Math" panose="02040503050406030204" pitchFamily="18" charset="0"/>
              </a:rPr>
              <a:t>β</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63</a:t>
            </a:fld>
            <a:endParaRPr lang="zh-CN" altLang="en-US"/>
          </a:p>
        </p:txBody>
      </p:sp>
    </p:spTree>
    <p:extLst>
      <p:ext uri="{BB962C8B-B14F-4D97-AF65-F5344CB8AC3E}">
        <p14:creationId xmlns:p14="http://schemas.microsoft.com/office/powerpoint/2010/main" val="13413200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计算</a:t>
            </a:r>
            <a:r>
              <a:rPr lang="en-US" altLang="zh-CN" dirty="0"/>
              <a:t>FIRST</a:t>
            </a:r>
            <a:r>
              <a:rPr lang="zh-CN" altLang="en-US" dirty="0"/>
              <a:t>集</a:t>
            </a:r>
            <a:endParaRPr lang="en-US" altLang="zh-CN" dirty="0"/>
          </a:p>
          <a:p>
            <a:r>
              <a:rPr lang="zh-CN" altLang="en-US" dirty="0"/>
              <a:t>计算</a:t>
            </a:r>
            <a:r>
              <a:rPr lang="en-US" altLang="zh-CN" sz="1200" b="1" kern="1200" spc="-5" dirty="0">
                <a:solidFill>
                  <a:srgbClr val="0432FF"/>
                </a:solidFill>
                <a:latin typeface="Palatino Linotype"/>
                <a:cs typeface="Palatino Linotype"/>
              </a:rPr>
              <a:t>FIRST(</a:t>
            </a:r>
            <a:r>
              <a:rPr lang="zh-CN" altLang="en-US" sz="1200" kern="1200" spc="-5" dirty="0">
                <a:solidFill>
                  <a:srgbClr val="0432FF"/>
                </a:solidFill>
                <a:latin typeface="Cambria Math"/>
                <a:cs typeface="Cambria Math"/>
              </a:rPr>
              <a:t>𝑿</a:t>
            </a:r>
            <a:r>
              <a:rPr lang="en-US" altLang="zh-CN" sz="1200" b="1" kern="1200" spc="-5" dirty="0">
                <a:solidFill>
                  <a:srgbClr val="0432FF"/>
                </a:solidFill>
                <a:latin typeface="Palatino Linotype"/>
                <a:cs typeface="Palatino Linotype"/>
              </a:rPr>
              <a:t>)</a:t>
            </a:r>
            <a:r>
              <a:rPr lang="en-US" altLang="zh-CN" sz="1200" b="1" kern="1200" spc="-5" dirty="0">
                <a:solidFill>
                  <a:prstClr val="black"/>
                </a:solidFill>
                <a:latin typeface="Palatino Linotype"/>
                <a:cs typeface="Palatino Linotype"/>
              </a:rPr>
              <a:t>  </a:t>
            </a:r>
            <a:r>
              <a:rPr lang="zh-CN" altLang="en-US" dirty="0"/>
              <a:t>𝑋 是语法符号</a:t>
            </a:r>
            <a:endParaRPr lang="en-US" altLang="zh-CN" dirty="0"/>
          </a:p>
          <a:p>
            <a:r>
              <a:rPr lang="en-US" altLang="zh-CN" dirty="0"/>
              <a:t>   · </a:t>
            </a:r>
            <a:r>
              <a:rPr lang="zh-CN" altLang="en-US" dirty="0"/>
              <a:t>如果𝑋 是一个终结符，那么</a:t>
            </a:r>
            <a:r>
              <a:rPr lang="en-US" altLang="zh-CN" dirty="0"/>
              <a:t>FIRST(</a:t>
            </a:r>
            <a:r>
              <a:rPr lang="zh-CN" altLang="en-US" dirty="0"/>
              <a:t>𝑋</a:t>
            </a:r>
            <a:r>
              <a:rPr lang="en-US" altLang="zh-CN" dirty="0"/>
              <a:t>) = {</a:t>
            </a:r>
            <a:r>
              <a:rPr lang="zh-CN" altLang="en-US" dirty="0"/>
              <a:t>𝑋</a:t>
            </a:r>
            <a:r>
              <a:rPr lang="en-US" altLang="zh-CN" dirty="0"/>
              <a:t>}</a:t>
            </a:r>
          </a:p>
          <a:p>
            <a:r>
              <a:rPr lang="zh-CN" altLang="en-US" dirty="0"/>
              <a:t>   </a:t>
            </a:r>
            <a:r>
              <a:rPr lang="en-US" altLang="zh-CN" dirty="0"/>
              <a:t>· </a:t>
            </a:r>
            <a:r>
              <a:rPr lang="zh-CN" altLang="en-US" dirty="0"/>
              <a:t>如果</a:t>
            </a:r>
            <a:r>
              <a:rPr lang="en-US" altLang="zh-CN" dirty="0"/>
              <a:t>X</a:t>
            </a:r>
            <a:r>
              <a:rPr lang="zh-CN" altLang="en-US" dirty="0"/>
              <a:t>是一个非终结符，且</a:t>
            </a:r>
            <a:r>
              <a:rPr lang="zh-CN" altLang="en-US" sz="1200" kern="1200" dirty="0">
                <a:solidFill>
                  <a:prstClr val="black"/>
                </a:solidFill>
                <a:latin typeface="Cambria Math"/>
                <a:cs typeface="Cambria Math"/>
              </a:rPr>
              <a:t>𝑋</a:t>
            </a:r>
            <a:r>
              <a:rPr lang="zh-CN" altLang="en-US" sz="1200" kern="1200" spc="160"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110" dirty="0">
                <a:solidFill>
                  <a:prstClr val="black"/>
                </a:solidFill>
                <a:latin typeface="Cambria Math"/>
                <a:cs typeface="Cambria Math"/>
              </a:rPr>
              <a:t> </a:t>
            </a:r>
            <a:r>
              <a:rPr lang="zh-CN" altLang="en-US" sz="1200" kern="1200" spc="-380" dirty="0">
                <a:solidFill>
                  <a:prstClr val="black"/>
                </a:solidFill>
                <a:latin typeface="Cambria Math"/>
                <a:cs typeface="Cambria Math"/>
              </a:rPr>
              <a:t>𝑌</a:t>
            </a:r>
            <a:r>
              <a:rPr lang="en-US" altLang="zh-CN" sz="1400" kern="1200" spc="150" baseline="-14814" dirty="0">
                <a:solidFill>
                  <a:prstClr val="black"/>
                </a:solidFill>
                <a:latin typeface="Cambria Math"/>
                <a:cs typeface="Cambria Math"/>
              </a:rPr>
              <a:t>1</a:t>
            </a:r>
            <a:r>
              <a:rPr lang="zh-CN" altLang="en-US" sz="1200" kern="1200" spc="-335" dirty="0">
                <a:solidFill>
                  <a:prstClr val="black"/>
                </a:solidFill>
                <a:latin typeface="Cambria Math"/>
                <a:cs typeface="Cambria Math"/>
              </a:rPr>
              <a:t>𝑌</a:t>
            </a:r>
            <a:r>
              <a:rPr lang="en-US" altLang="zh-CN" sz="1400" kern="1200" spc="-247" baseline="-14814" dirty="0">
                <a:solidFill>
                  <a:prstClr val="black"/>
                </a:solidFill>
                <a:latin typeface="Cambria Math"/>
                <a:cs typeface="Cambria Math"/>
              </a:rPr>
              <a:t>2</a:t>
            </a:r>
            <a:r>
              <a:rPr lang="zh-CN" altLang="en-US" sz="1400" kern="1200" spc="97" baseline="-14814"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zh-CN" altLang="en-US" sz="1200" kern="1200" spc="-114" dirty="0">
                <a:solidFill>
                  <a:prstClr val="black"/>
                </a:solidFill>
                <a:latin typeface="Cambria Math"/>
                <a:cs typeface="Cambria Math"/>
              </a:rPr>
              <a:t> </a:t>
            </a:r>
            <a:r>
              <a:rPr lang="zh-CN" altLang="en-US" sz="1200" kern="1200" spc="-335" dirty="0">
                <a:solidFill>
                  <a:prstClr val="black"/>
                </a:solidFill>
                <a:latin typeface="Cambria Math"/>
                <a:cs typeface="Cambria Math"/>
              </a:rPr>
              <a:t>𝑌</a:t>
            </a:r>
            <a:r>
              <a:rPr lang="zh-CN" altLang="en-US" sz="1400" kern="1200" spc="209" baseline="-14814" dirty="0">
                <a:solidFill>
                  <a:prstClr val="black"/>
                </a:solidFill>
                <a:latin typeface="Cambria Math"/>
                <a:cs typeface="Cambria Math"/>
              </a:rPr>
              <a:t>𝑘</a:t>
            </a:r>
            <a:r>
              <a:rPr lang="zh-CN" altLang="en-US" sz="1400" kern="1200" baseline="-14814" dirty="0">
                <a:solidFill>
                  <a:prstClr val="black"/>
                </a:solidFill>
                <a:latin typeface="Cambria Math"/>
                <a:cs typeface="Cambria Math"/>
              </a:rPr>
              <a:t> </a:t>
            </a:r>
            <a:r>
              <a:rPr lang="zh-CN" altLang="en-US" sz="1400" kern="1200" spc="-82" baseline="-14814" dirty="0">
                <a:solidFill>
                  <a:prstClr val="black"/>
                </a:solidFill>
                <a:latin typeface="Cambria Math"/>
                <a:cs typeface="Cambria Math"/>
              </a:rPr>
              <a:t> </a:t>
            </a:r>
            <a:r>
              <a:rPr lang="en-US" altLang="zh-CN" sz="1200" kern="1200" spc="-5" dirty="0">
                <a:solidFill>
                  <a:prstClr val="black"/>
                </a:solidFill>
                <a:latin typeface="Palatino Linotype"/>
                <a:cs typeface="Palatino Linotype"/>
              </a:rPr>
              <a:t>(</a:t>
            </a:r>
            <a:r>
              <a:rPr lang="zh-CN" altLang="en-US" sz="1200" kern="1200" dirty="0">
                <a:solidFill>
                  <a:prstClr val="black"/>
                </a:solidFill>
                <a:latin typeface="Cambria Math"/>
                <a:cs typeface="Cambria Math"/>
              </a:rPr>
              <a:t>𝑘</a:t>
            </a:r>
            <a:r>
              <a:rPr lang="zh-CN" altLang="en-US" sz="1200" kern="1200" spc="170"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114" dirty="0">
                <a:solidFill>
                  <a:prstClr val="black"/>
                </a:solidFill>
                <a:latin typeface="Cambria Math"/>
                <a:cs typeface="Cambria Math"/>
              </a:rPr>
              <a:t> </a:t>
            </a:r>
            <a:r>
              <a:rPr lang="en-US" altLang="zh-CN" sz="1200" kern="1200" spc="5" dirty="0">
                <a:solidFill>
                  <a:prstClr val="black"/>
                </a:solidFill>
                <a:latin typeface="Cambria Math"/>
                <a:cs typeface="Cambria Math"/>
              </a:rPr>
              <a:t>1</a:t>
            </a:r>
            <a:r>
              <a:rPr lang="en-US" altLang="zh-CN" sz="1200" kern="1200" dirty="0">
                <a:solidFill>
                  <a:prstClr val="black"/>
                </a:solidFill>
                <a:latin typeface="Palatino Linotype"/>
                <a:cs typeface="Palatino Linotype"/>
              </a:rPr>
              <a:t>)</a:t>
            </a:r>
            <a:r>
              <a:rPr lang="zh-CN" altLang="en-US" sz="1200" kern="1200" spc="-5" dirty="0">
                <a:solidFill>
                  <a:prstClr val="black"/>
                </a:solidFill>
                <a:latin typeface="Palatino Linotype"/>
                <a:cs typeface="Palatino Linotype"/>
              </a:rPr>
              <a:t> 是一个产生式</a:t>
            </a:r>
            <a:endParaRPr lang="en-US" altLang="zh-CN" sz="1200" kern="1200" spc="-5" dirty="0">
              <a:solidFill>
                <a:prstClr val="black"/>
              </a:solidFill>
              <a:latin typeface="Palatino Linotype"/>
              <a:cs typeface="Palatino Linotype"/>
            </a:endParaRPr>
          </a:p>
          <a:p>
            <a:r>
              <a:rPr lang="en-US" altLang="zh-CN" sz="1200" kern="1200" spc="-5" dirty="0">
                <a:solidFill>
                  <a:prstClr val="black"/>
                </a:solidFill>
                <a:latin typeface="Palatino Linotype"/>
              </a:rPr>
              <a:t>      · </a:t>
            </a:r>
            <a:r>
              <a:rPr lang="zh-CN" altLang="en-US" sz="1200" kern="1200" spc="-5" dirty="0">
                <a:solidFill>
                  <a:prstClr val="black"/>
                </a:solidFill>
                <a:latin typeface="Palatino Linotype"/>
              </a:rPr>
              <a:t>如果对于某个</a:t>
            </a:r>
            <a:r>
              <a:rPr lang="zh-CN" altLang="en-US" kern="1200" spc="30" dirty="0">
                <a:solidFill>
                  <a:prstClr val="black"/>
                </a:solidFill>
                <a:latin typeface="Cambria Math"/>
                <a:cs typeface="Cambria Math"/>
              </a:rPr>
              <a:t>𝑖</a:t>
            </a:r>
            <a:r>
              <a:rPr lang="zh-CN" altLang="en-US" sz="1200" kern="1200" spc="-5" dirty="0">
                <a:solidFill>
                  <a:prstClr val="black"/>
                </a:solidFill>
                <a:latin typeface="Palatino Linotype"/>
              </a:rPr>
              <a:t>，</a:t>
            </a:r>
            <a:r>
              <a:rPr lang="zh-CN" altLang="en-US" kern="1200" dirty="0">
                <a:solidFill>
                  <a:srgbClr val="FF0000"/>
                </a:solidFill>
                <a:latin typeface="Cambria Math"/>
                <a:cs typeface="Cambria Math"/>
              </a:rPr>
              <a:t>𝑎</a:t>
            </a:r>
            <a:r>
              <a:rPr lang="zh-CN" altLang="en-US" sz="1200" kern="1200" spc="-5" dirty="0">
                <a:solidFill>
                  <a:prstClr val="black"/>
                </a:solidFill>
                <a:latin typeface="Palatino Linotype"/>
              </a:rPr>
              <a:t>在</a:t>
            </a:r>
            <a:r>
              <a:rPr lang="en-US" altLang="zh-CN" kern="1200" spc="-10" dirty="0">
                <a:solidFill>
                  <a:prstClr val="black"/>
                </a:solidFill>
                <a:latin typeface="Palatino Linotype"/>
                <a:cs typeface="Palatino Linotype"/>
              </a:rPr>
              <a:t>FIRST(</a:t>
            </a:r>
            <a:r>
              <a:rPr lang="zh-CN" altLang="en-US" kern="1200" spc="-10" dirty="0">
                <a:solidFill>
                  <a:prstClr val="black"/>
                </a:solidFill>
                <a:latin typeface="Cambria Math"/>
                <a:cs typeface="Cambria Math"/>
              </a:rPr>
              <a:t>𝑌</a:t>
            </a:r>
            <a:r>
              <a:rPr lang="en-US" altLang="zh-CN" sz="1400" kern="1200" spc="-15" baseline="-14957" dirty="0" err="1">
                <a:solidFill>
                  <a:prstClr val="black"/>
                </a:solidFill>
                <a:latin typeface="Cambria Math"/>
                <a:cs typeface="Cambria Math"/>
              </a:rPr>
              <a:t>i</a:t>
            </a:r>
            <a:r>
              <a:rPr lang="en-US" altLang="zh-CN" kern="1200" spc="-10" dirty="0">
                <a:solidFill>
                  <a:prstClr val="black"/>
                </a:solidFill>
                <a:latin typeface="Palatino Linotype"/>
                <a:cs typeface="Palatino Linotype"/>
              </a:rPr>
              <a:t>)</a:t>
            </a:r>
            <a:r>
              <a:rPr lang="zh-CN" altLang="en-US" sz="1200" kern="1200" spc="-5" dirty="0">
                <a:solidFill>
                  <a:prstClr val="black"/>
                </a:solidFill>
                <a:latin typeface="Palatino Linotype"/>
              </a:rPr>
              <a:t>中且</a:t>
            </a:r>
            <a:r>
              <a:rPr lang="zh-CN" altLang="en-US" kern="1200" dirty="0">
                <a:solidFill>
                  <a:srgbClr val="FF0000"/>
                </a:solidFill>
                <a:latin typeface="Cambria Math"/>
                <a:cs typeface="Cambria Math"/>
              </a:rPr>
              <a:t>𝜖</a:t>
            </a:r>
            <a:r>
              <a:rPr lang="zh-CN" altLang="en-US" sz="1200" kern="1200" spc="-5" dirty="0">
                <a:solidFill>
                  <a:prstClr val="black"/>
                </a:solidFill>
                <a:latin typeface="Palatino Linotype"/>
              </a:rPr>
              <a:t>在所有的</a:t>
            </a:r>
            <a:r>
              <a:rPr lang="en-US" altLang="zh-CN" kern="1200" spc="-45" dirty="0">
                <a:solidFill>
                  <a:prstClr val="black"/>
                </a:solidFill>
                <a:latin typeface="Palatino Linotype"/>
                <a:cs typeface="Palatino Linotype"/>
              </a:rPr>
              <a:t>FIRST(</a:t>
            </a:r>
            <a:r>
              <a:rPr lang="zh-CN" altLang="en-US" kern="1200" spc="-45" dirty="0">
                <a:solidFill>
                  <a:prstClr val="black"/>
                </a:solidFill>
                <a:latin typeface="Cambria Math"/>
                <a:cs typeface="Cambria Math"/>
              </a:rPr>
              <a:t>𝑌</a:t>
            </a:r>
            <a:r>
              <a:rPr lang="en-US" altLang="zh-CN" sz="1400" kern="1200" spc="-67" baseline="-14957" dirty="0">
                <a:solidFill>
                  <a:prstClr val="black"/>
                </a:solidFill>
                <a:latin typeface="Cambria Math"/>
                <a:cs typeface="Cambria Math"/>
              </a:rPr>
              <a:t>1</a:t>
            </a:r>
            <a:r>
              <a:rPr lang="en-US" altLang="zh-CN" kern="1200" spc="-45" dirty="0">
                <a:solidFill>
                  <a:prstClr val="black"/>
                </a:solidFill>
                <a:latin typeface="Palatino Linotype"/>
                <a:cs typeface="Palatino Linotype"/>
              </a:rPr>
              <a:t>),</a:t>
            </a:r>
            <a:r>
              <a:rPr lang="en-US" altLang="zh-CN" kern="1200" spc="-5" dirty="0">
                <a:solidFill>
                  <a:prstClr val="black"/>
                </a:solidFill>
                <a:latin typeface="Palatino Linotype"/>
                <a:cs typeface="Palatino Linotype"/>
              </a:rPr>
              <a:t> </a:t>
            </a:r>
            <a:r>
              <a:rPr lang="en-US" altLang="zh-CN" kern="1200" dirty="0">
                <a:solidFill>
                  <a:prstClr val="black"/>
                </a:solidFill>
                <a:latin typeface="Palatino Linotype"/>
                <a:cs typeface="Palatino Linotype"/>
              </a:rPr>
              <a:t>…, </a:t>
            </a:r>
            <a:r>
              <a:rPr lang="en-US" altLang="zh-CN" kern="1200" spc="-434" dirty="0">
                <a:solidFill>
                  <a:prstClr val="black"/>
                </a:solidFill>
                <a:latin typeface="Palatino Linotype"/>
                <a:cs typeface="Palatino Linotype"/>
              </a:rPr>
              <a:t> </a:t>
            </a:r>
            <a:r>
              <a:rPr lang="en-US" altLang="zh-CN" kern="1200" spc="30" dirty="0">
                <a:solidFill>
                  <a:prstClr val="black"/>
                </a:solidFill>
                <a:latin typeface="Palatino Linotype"/>
                <a:cs typeface="Palatino Linotype"/>
              </a:rPr>
              <a:t>FIRST(</a:t>
            </a:r>
            <a:r>
              <a:rPr lang="zh-CN" altLang="en-US" kern="1200" spc="30" dirty="0">
                <a:solidFill>
                  <a:prstClr val="black"/>
                </a:solidFill>
                <a:latin typeface="Cambria Math"/>
                <a:cs typeface="Cambria Math"/>
              </a:rPr>
              <a:t>𝑌</a:t>
            </a:r>
            <a:r>
              <a:rPr lang="en-US" altLang="zh-CN" sz="1400" kern="1200" spc="44" baseline="-14957" dirty="0">
                <a:solidFill>
                  <a:prstClr val="black"/>
                </a:solidFill>
                <a:latin typeface="Cambria Math"/>
                <a:cs typeface="Cambria Math"/>
              </a:rPr>
              <a:t>i-1</a:t>
            </a:r>
            <a:r>
              <a:rPr lang="en-US" altLang="zh-CN" kern="1200" spc="30" dirty="0">
                <a:solidFill>
                  <a:prstClr val="black"/>
                </a:solidFill>
                <a:latin typeface="Palatino Linotype"/>
                <a:cs typeface="Palatino Linotype"/>
              </a:rPr>
              <a:t>)</a:t>
            </a:r>
            <a:r>
              <a:rPr lang="zh-CN" altLang="en-US" sz="1200" kern="1200" spc="-5" dirty="0">
                <a:solidFill>
                  <a:prstClr val="black"/>
                </a:solidFill>
                <a:latin typeface="Palatino Linotype"/>
              </a:rPr>
              <a:t>中，就把</a:t>
            </a:r>
            <a:r>
              <a:rPr lang="zh-CN" altLang="en-US" kern="1200" dirty="0">
                <a:solidFill>
                  <a:srgbClr val="FF0000"/>
                </a:solidFill>
                <a:latin typeface="Cambria Math"/>
                <a:cs typeface="Cambria Math"/>
              </a:rPr>
              <a:t>𝑎</a:t>
            </a:r>
            <a:r>
              <a:rPr lang="zh-CN" altLang="en-US" sz="1200" kern="1200" spc="-5" dirty="0">
                <a:solidFill>
                  <a:prstClr val="black"/>
                </a:solidFill>
                <a:latin typeface="Palatino Linotype"/>
              </a:rPr>
              <a:t>加入到</a:t>
            </a:r>
            <a:r>
              <a:rPr lang="en-US" altLang="zh-CN" kern="1200" spc="5" dirty="0">
                <a:solidFill>
                  <a:prstClr val="black"/>
                </a:solidFill>
                <a:latin typeface="Palatino Linotype"/>
                <a:cs typeface="Palatino Linotype"/>
              </a:rPr>
              <a:t>FIRST(</a:t>
            </a:r>
            <a:r>
              <a:rPr lang="zh-CN" altLang="en-US" kern="1200" spc="5" dirty="0">
                <a:solidFill>
                  <a:prstClr val="black"/>
                </a:solidFill>
                <a:latin typeface="Cambria Math"/>
                <a:cs typeface="Cambria Math"/>
              </a:rPr>
              <a:t>𝑋</a:t>
            </a:r>
            <a:r>
              <a:rPr lang="en-US" altLang="zh-CN" kern="1200" spc="5" dirty="0">
                <a:solidFill>
                  <a:prstClr val="black"/>
                </a:solidFill>
                <a:latin typeface="Palatino Linotype"/>
                <a:cs typeface="Palatino Linotype"/>
              </a:rPr>
              <a:t>)</a:t>
            </a:r>
            <a:r>
              <a:rPr lang="zh-CN" altLang="en-US" kern="1200" spc="5" dirty="0">
                <a:solidFill>
                  <a:prstClr val="black"/>
                </a:solidFill>
                <a:latin typeface="Palatino Linotype"/>
                <a:cs typeface="Palatino Linotype"/>
              </a:rPr>
              <a:t>中</a:t>
            </a:r>
            <a:endParaRPr lang="en-US" altLang="zh-CN" sz="1200" kern="1200" spc="-5" dirty="0">
              <a:solidFill>
                <a:prstClr val="black"/>
              </a:solidFill>
              <a:latin typeface="Palatino Linotype"/>
            </a:endParaRPr>
          </a:p>
          <a:p>
            <a:r>
              <a:rPr lang="en-US" altLang="zh-CN" sz="1200" kern="1200" spc="-5" dirty="0">
                <a:solidFill>
                  <a:prstClr val="black"/>
                </a:solidFill>
                <a:latin typeface="Palatino Linotype"/>
              </a:rPr>
              <a:t>      · </a:t>
            </a:r>
            <a:r>
              <a:rPr lang="zh-CN" altLang="en-US" sz="1200" kern="1200" spc="-5" dirty="0">
                <a:solidFill>
                  <a:prstClr val="black"/>
                </a:solidFill>
                <a:latin typeface="Palatino Linotype"/>
              </a:rPr>
              <a:t>如果对于所有的</a:t>
            </a:r>
            <a:r>
              <a:rPr lang="en-US" altLang="zh-CN" kern="1200" spc="-45" dirty="0">
                <a:solidFill>
                  <a:prstClr val="black"/>
                </a:solidFill>
                <a:latin typeface="Palatino Linotype"/>
                <a:cs typeface="Palatino Linotype"/>
              </a:rPr>
              <a:t>FIRST(</a:t>
            </a:r>
            <a:r>
              <a:rPr lang="zh-CN" altLang="en-US" kern="1200" spc="-45" dirty="0">
                <a:solidFill>
                  <a:prstClr val="black"/>
                </a:solidFill>
                <a:latin typeface="Cambria Math"/>
                <a:cs typeface="Cambria Math"/>
              </a:rPr>
              <a:t>𝑌</a:t>
            </a:r>
            <a:r>
              <a:rPr lang="en-US" altLang="zh-CN" sz="1400" kern="1200" spc="-67" baseline="-14957" dirty="0">
                <a:solidFill>
                  <a:prstClr val="black"/>
                </a:solidFill>
                <a:latin typeface="Cambria Math"/>
                <a:cs typeface="Cambria Math"/>
              </a:rPr>
              <a:t>1</a:t>
            </a:r>
            <a:r>
              <a:rPr lang="en-US" altLang="zh-CN" kern="1200" spc="-45" dirty="0">
                <a:solidFill>
                  <a:prstClr val="black"/>
                </a:solidFill>
                <a:latin typeface="Palatino Linotype"/>
                <a:cs typeface="Palatino Linotype"/>
              </a:rPr>
              <a:t>),</a:t>
            </a:r>
            <a:r>
              <a:rPr lang="en-US" altLang="zh-CN" kern="1200" dirty="0">
                <a:solidFill>
                  <a:prstClr val="black"/>
                </a:solidFill>
                <a:latin typeface="Palatino Linotype"/>
                <a:cs typeface="Palatino Linotype"/>
              </a:rPr>
              <a:t> …, </a:t>
            </a:r>
            <a:r>
              <a:rPr lang="en-US" altLang="zh-CN" kern="1200" spc="-15" dirty="0">
                <a:solidFill>
                  <a:prstClr val="black"/>
                </a:solidFill>
                <a:latin typeface="Palatino Linotype"/>
                <a:cs typeface="Palatino Linotype"/>
              </a:rPr>
              <a:t>FIRST(</a:t>
            </a:r>
            <a:r>
              <a:rPr lang="zh-CN" altLang="en-US" kern="1200" spc="-15" dirty="0">
                <a:solidFill>
                  <a:prstClr val="black"/>
                </a:solidFill>
                <a:latin typeface="Cambria Math"/>
                <a:cs typeface="Cambria Math"/>
              </a:rPr>
              <a:t>𝑌</a:t>
            </a:r>
            <a:r>
              <a:rPr lang="zh-CN" altLang="en-US" sz="1400" kern="1200" spc="-22" baseline="-14957" dirty="0">
                <a:solidFill>
                  <a:prstClr val="black"/>
                </a:solidFill>
                <a:latin typeface="Cambria Math"/>
                <a:cs typeface="Cambria Math"/>
              </a:rPr>
              <a:t>𝑘</a:t>
            </a:r>
            <a:r>
              <a:rPr lang="en-US" altLang="zh-CN" kern="1200" spc="-15" dirty="0">
                <a:solidFill>
                  <a:prstClr val="black"/>
                </a:solidFill>
                <a:latin typeface="Palatino Linotype"/>
                <a:cs typeface="Palatino Linotype"/>
              </a:rPr>
              <a:t>)</a:t>
            </a:r>
            <a:r>
              <a:rPr lang="zh-CN" altLang="en-US" sz="1200" kern="1200" spc="-5" dirty="0">
                <a:solidFill>
                  <a:prstClr val="black"/>
                </a:solidFill>
                <a:latin typeface="Palatino Linotype"/>
              </a:rPr>
              <a:t>，</a:t>
            </a:r>
            <a:r>
              <a:rPr lang="zh-CN" altLang="en-US" kern="1200" dirty="0">
                <a:solidFill>
                  <a:srgbClr val="FF0000"/>
                </a:solidFill>
                <a:latin typeface="Cambria Math"/>
                <a:cs typeface="Cambria Math"/>
              </a:rPr>
              <a:t>𝜖</a:t>
            </a:r>
            <a:r>
              <a:rPr lang="zh-CN" altLang="en-US" sz="1200" kern="1200" spc="-5" dirty="0">
                <a:solidFill>
                  <a:prstClr val="black"/>
                </a:solidFill>
                <a:latin typeface="Palatino Linotype"/>
              </a:rPr>
              <a:t>在其中，那么将</a:t>
            </a:r>
            <a:r>
              <a:rPr lang="zh-CN" altLang="en-US" kern="1200" dirty="0">
                <a:solidFill>
                  <a:srgbClr val="FF0000"/>
                </a:solidFill>
                <a:latin typeface="Cambria Math"/>
                <a:cs typeface="Cambria Math"/>
              </a:rPr>
              <a:t>𝜖</a:t>
            </a:r>
            <a:r>
              <a:rPr lang="zh-CN" altLang="en-US" sz="1200" kern="1200" spc="-5" dirty="0">
                <a:solidFill>
                  <a:prstClr val="black"/>
                </a:solidFill>
                <a:latin typeface="Palatino Linotype"/>
              </a:rPr>
              <a:t>加入到</a:t>
            </a:r>
            <a:r>
              <a:rPr lang="en-US" altLang="zh-CN" kern="1200" spc="5" dirty="0">
                <a:solidFill>
                  <a:prstClr val="black"/>
                </a:solidFill>
                <a:latin typeface="Palatino Linotype"/>
                <a:cs typeface="Palatino Linotype"/>
              </a:rPr>
              <a:t>FIRST(</a:t>
            </a:r>
            <a:r>
              <a:rPr lang="zh-CN" altLang="en-US" kern="1200" spc="5" dirty="0">
                <a:solidFill>
                  <a:prstClr val="black"/>
                </a:solidFill>
                <a:latin typeface="Cambria Math"/>
                <a:cs typeface="Cambria Math"/>
              </a:rPr>
              <a:t>𝑋</a:t>
            </a:r>
            <a:r>
              <a:rPr lang="en-US" altLang="zh-CN" kern="1200" spc="5" dirty="0">
                <a:solidFill>
                  <a:prstClr val="black"/>
                </a:solidFill>
                <a:latin typeface="Palatino Linotype"/>
                <a:cs typeface="Palatino Linotype"/>
              </a:rPr>
              <a:t>)</a:t>
            </a:r>
            <a:r>
              <a:rPr lang="zh-CN" altLang="en-US" sz="1200" kern="1200" spc="-5" dirty="0">
                <a:solidFill>
                  <a:prstClr val="black"/>
                </a:solidFill>
                <a:latin typeface="Palatino Linotype"/>
              </a:rPr>
              <a:t>中</a:t>
            </a:r>
            <a:endParaRPr lang="en-US" altLang="zh-CN" sz="1200" kern="1200" spc="-5" dirty="0">
              <a:solidFill>
                <a:prstClr val="black"/>
              </a:solidFill>
              <a:latin typeface="Palatino Linotyp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spc="-5" dirty="0">
                <a:solidFill>
                  <a:prstClr val="black"/>
                </a:solidFill>
                <a:latin typeface="Palatino Linotype"/>
              </a:rPr>
              <a:t>   · </a:t>
            </a:r>
            <a:r>
              <a:rPr lang="zh-CN" altLang="en-US" sz="1200" kern="1200" spc="-5" dirty="0">
                <a:solidFill>
                  <a:prstClr val="black"/>
                </a:solidFill>
                <a:latin typeface="Palatino Linotype"/>
              </a:rPr>
              <a:t>如果</a:t>
            </a:r>
            <a:r>
              <a:rPr lang="en-US" altLang="zh-CN" sz="1200" kern="1200" spc="-5" dirty="0">
                <a:solidFill>
                  <a:prstClr val="black"/>
                </a:solidFill>
                <a:latin typeface="Palatino Linotype"/>
              </a:rPr>
              <a:t>X</a:t>
            </a:r>
            <a:r>
              <a:rPr lang="zh-CN" altLang="en-US" sz="1200" kern="1200" spc="-5" dirty="0">
                <a:solidFill>
                  <a:prstClr val="black"/>
                </a:solidFill>
                <a:latin typeface="Palatino Linotype"/>
              </a:rPr>
              <a:t>是一个非终结符，并且存在产生式</a:t>
            </a:r>
            <a:r>
              <a:rPr lang="zh-CN" altLang="en-US" sz="1200" kern="1200" dirty="0">
                <a:solidFill>
                  <a:srgbClr val="FF0000"/>
                </a:solidFill>
                <a:latin typeface="Cambria Math"/>
                <a:cs typeface="Cambria Math"/>
              </a:rPr>
              <a:t>𝑋</a:t>
            </a:r>
            <a:r>
              <a:rPr lang="zh-CN" altLang="en-US" sz="1200" kern="1200" spc="160" dirty="0">
                <a:solidFill>
                  <a:srgbClr val="FF0000"/>
                </a:solidFill>
                <a:latin typeface="Cambria Math"/>
                <a:cs typeface="Cambria Math"/>
              </a:rPr>
              <a:t> </a:t>
            </a:r>
            <a:r>
              <a:rPr lang="zh-CN" altLang="en-US" sz="1200" kern="1200" dirty="0">
                <a:solidFill>
                  <a:srgbClr val="FF0000"/>
                </a:solidFill>
                <a:latin typeface="Cambria Math"/>
                <a:cs typeface="Cambria Math"/>
              </a:rPr>
              <a:t>→</a:t>
            </a:r>
            <a:r>
              <a:rPr lang="zh-CN" altLang="en-US" sz="1200" kern="1200" spc="110" dirty="0">
                <a:solidFill>
                  <a:srgbClr val="FF0000"/>
                </a:solidFill>
                <a:latin typeface="Cambria Math"/>
                <a:cs typeface="Cambria Math"/>
              </a:rPr>
              <a:t> </a:t>
            </a:r>
            <a:r>
              <a:rPr lang="zh-CN" altLang="en-US" sz="1200" kern="1200" spc="25" dirty="0">
                <a:solidFill>
                  <a:srgbClr val="FF0000"/>
                </a:solidFill>
                <a:latin typeface="Cambria Math"/>
                <a:cs typeface="Cambria Math"/>
              </a:rPr>
              <a:t>𝜖，</a:t>
            </a:r>
            <a:r>
              <a:rPr lang="zh-CN" altLang="en-US" sz="1200" kern="1200" spc="-5" dirty="0">
                <a:solidFill>
                  <a:prstClr val="black"/>
                </a:solidFill>
                <a:latin typeface="Palatino Linotype"/>
              </a:rPr>
              <a:t>那么将</a:t>
            </a:r>
            <a:r>
              <a:rPr lang="zh-CN" altLang="en-US" kern="1200" dirty="0">
                <a:solidFill>
                  <a:srgbClr val="FF0000"/>
                </a:solidFill>
                <a:latin typeface="Cambria Math"/>
                <a:cs typeface="Cambria Math"/>
              </a:rPr>
              <a:t>𝜖</a:t>
            </a:r>
            <a:r>
              <a:rPr lang="zh-CN" altLang="en-US" sz="1200" kern="1200" spc="-5" dirty="0">
                <a:solidFill>
                  <a:prstClr val="black"/>
                </a:solidFill>
                <a:latin typeface="Palatino Linotype"/>
              </a:rPr>
              <a:t>加入到</a:t>
            </a:r>
            <a:r>
              <a:rPr lang="en-US" altLang="zh-CN" kern="1200" spc="5" dirty="0">
                <a:solidFill>
                  <a:prstClr val="black"/>
                </a:solidFill>
                <a:latin typeface="Palatino Linotype"/>
                <a:cs typeface="Palatino Linotype"/>
              </a:rPr>
              <a:t>FIRST(</a:t>
            </a:r>
            <a:r>
              <a:rPr lang="zh-CN" altLang="en-US" kern="1200" spc="5" dirty="0">
                <a:solidFill>
                  <a:prstClr val="black"/>
                </a:solidFill>
                <a:latin typeface="Cambria Math"/>
                <a:cs typeface="Cambria Math"/>
              </a:rPr>
              <a:t>𝑋</a:t>
            </a:r>
            <a:r>
              <a:rPr lang="en-US" altLang="zh-CN" kern="1200" spc="5" dirty="0">
                <a:solidFill>
                  <a:prstClr val="black"/>
                </a:solidFill>
                <a:latin typeface="Palatino Linotype"/>
                <a:cs typeface="Palatino Linotype"/>
              </a:rPr>
              <a:t>)</a:t>
            </a:r>
            <a:r>
              <a:rPr lang="zh-CN" altLang="en-US" sz="1200" kern="1200" spc="-5" dirty="0">
                <a:solidFill>
                  <a:prstClr val="black"/>
                </a:solidFill>
                <a:latin typeface="Palatino Linotype"/>
              </a:rPr>
              <a:t>中</a:t>
            </a:r>
            <a:endParaRPr lang="en-US" altLang="zh-CN" sz="1200" kern="1200" spc="-5" dirty="0">
              <a:solidFill>
                <a:prstClr val="black"/>
              </a:solidFill>
              <a:latin typeface="Palatino Linotype"/>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64</a:t>
            </a:fld>
            <a:endParaRPr lang="zh-CN" altLang="en-US"/>
          </a:p>
        </p:txBody>
      </p:sp>
    </p:spTree>
    <p:extLst>
      <p:ext uri="{BB962C8B-B14F-4D97-AF65-F5344CB8AC3E}">
        <p14:creationId xmlns:p14="http://schemas.microsoft.com/office/powerpoint/2010/main" val="31615894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计算</a:t>
            </a:r>
            <a:r>
              <a:rPr lang="en-US" altLang="zh-CN" dirty="0"/>
              <a:t>FIRST</a:t>
            </a:r>
            <a:r>
              <a:rPr lang="zh-CN" altLang="en-US" dirty="0"/>
              <a:t>集</a:t>
            </a:r>
            <a:endParaRPr lang="en-US" altLang="zh-CN" dirty="0"/>
          </a:p>
          <a:p>
            <a:r>
              <a:rPr lang="zh-CN" altLang="en-US" dirty="0"/>
              <a:t>计算</a:t>
            </a:r>
            <a:r>
              <a:rPr lang="en-US" altLang="zh-CN" sz="1200" b="1" kern="1200" spc="-5" dirty="0">
                <a:solidFill>
                  <a:srgbClr val="0432FF"/>
                </a:solidFill>
                <a:latin typeface="Palatino Linotype"/>
                <a:cs typeface="Palatino Linotype"/>
              </a:rPr>
              <a:t>FIRST(</a:t>
            </a:r>
            <a:r>
              <a:rPr lang="zh-CN" altLang="en-US" sz="1200" kern="1200" dirty="0">
                <a:solidFill>
                  <a:srgbClr val="0432FF"/>
                </a:solidFill>
                <a:latin typeface="Cambria Math"/>
                <a:cs typeface="Cambria Math"/>
              </a:rPr>
              <a:t>𝑿</a:t>
            </a:r>
            <a:r>
              <a:rPr lang="zh-CN" altLang="en-US" sz="1400" kern="1200" spc="104" baseline="-15432" dirty="0">
                <a:solidFill>
                  <a:srgbClr val="0432FF"/>
                </a:solidFill>
                <a:latin typeface="Cambria Math"/>
                <a:cs typeface="Cambria Math"/>
              </a:rPr>
              <a:t>𝟏</a:t>
            </a:r>
            <a:r>
              <a:rPr lang="zh-CN" altLang="en-US" sz="1200" kern="1200" dirty="0">
                <a:solidFill>
                  <a:srgbClr val="0432FF"/>
                </a:solidFill>
                <a:latin typeface="Cambria Math"/>
                <a:cs typeface="Cambria Math"/>
              </a:rPr>
              <a:t>𝑿</a:t>
            </a:r>
            <a:r>
              <a:rPr lang="zh-CN" altLang="en-US" sz="1400" kern="1200" baseline="-15432" dirty="0">
                <a:solidFill>
                  <a:srgbClr val="0432FF"/>
                </a:solidFill>
                <a:latin typeface="Cambria Math"/>
                <a:cs typeface="Cambria Math"/>
              </a:rPr>
              <a:t>𝟐</a:t>
            </a:r>
            <a:r>
              <a:rPr lang="zh-CN" altLang="en-US" sz="1400" kern="1200" spc="112" baseline="-15432" dirty="0">
                <a:solidFill>
                  <a:srgbClr val="0432FF"/>
                </a:solidFill>
                <a:latin typeface="Cambria Math"/>
                <a:cs typeface="Cambria Math"/>
              </a:rPr>
              <a:t> </a:t>
            </a:r>
            <a:r>
              <a:rPr lang="en-US" altLang="zh-CN" sz="1200" kern="1200" dirty="0">
                <a:solidFill>
                  <a:srgbClr val="0432FF"/>
                </a:solidFill>
                <a:latin typeface="Cambria Math"/>
                <a:cs typeface="Cambria Math"/>
              </a:rPr>
              <a:t>…</a:t>
            </a:r>
            <a:r>
              <a:rPr lang="zh-CN" altLang="en-US" sz="1200" kern="1200" spc="-135" dirty="0">
                <a:solidFill>
                  <a:srgbClr val="0432FF"/>
                </a:solidFill>
                <a:latin typeface="Cambria Math"/>
                <a:cs typeface="Cambria Math"/>
              </a:rPr>
              <a:t> </a:t>
            </a:r>
            <a:r>
              <a:rPr lang="zh-CN" altLang="en-US" sz="1200" kern="1200" dirty="0">
                <a:solidFill>
                  <a:srgbClr val="0432FF"/>
                </a:solidFill>
                <a:latin typeface="Cambria Math"/>
                <a:cs typeface="Cambria Math"/>
              </a:rPr>
              <a:t>𝑿</a:t>
            </a:r>
            <a:r>
              <a:rPr lang="zh-CN" altLang="en-US" sz="1400" kern="1200" spc="104" baseline="-15432" dirty="0">
                <a:solidFill>
                  <a:srgbClr val="0432FF"/>
                </a:solidFill>
                <a:latin typeface="Cambria Math"/>
                <a:cs typeface="Cambria Math"/>
              </a:rPr>
              <a:t>𝒏</a:t>
            </a:r>
            <a:r>
              <a:rPr lang="en-US" altLang="zh-CN" sz="1200" b="1" kern="1200" spc="-5" dirty="0">
                <a:solidFill>
                  <a:srgbClr val="0432FF"/>
                </a:solidFill>
                <a:latin typeface="Palatino Linotype"/>
                <a:cs typeface="Palatino Linotype"/>
              </a:rPr>
              <a:t>)   </a:t>
            </a:r>
            <a:r>
              <a:rPr lang="zh-CN" altLang="en-US" sz="1200" kern="1200" dirty="0">
                <a:solidFill>
                  <a:srgbClr val="0432FF"/>
                </a:solidFill>
                <a:latin typeface="Cambria Math"/>
                <a:cs typeface="Cambria Math"/>
              </a:rPr>
              <a:t>𝑿</a:t>
            </a:r>
            <a:r>
              <a:rPr lang="zh-CN" altLang="en-US" sz="1400" kern="1200" spc="104" baseline="-15432" dirty="0">
                <a:solidFill>
                  <a:srgbClr val="0432FF"/>
                </a:solidFill>
                <a:latin typeface="Cambria Math"/>
                <a:cs typeface="Cambria Math"/>
              </a:rPr>
              <a:t>𝟏</a:t>
            </a:r>
            <a:r>
              <a:rPr lang="zh-CN" altLang="en-US" sz="1200" kern="1200" dirty="0">
                <a:solidFill>
                  <a:srgbClr val="0432FF"/>
                </a:solidFill>
                <a:latin typeface="Cambria Math"/>
                <a:cs typeface="Cambria Math"/>
              </a:rPr>
              <a:t>𝑿</a:t>
            </a:r>
            <a:r>
              <a:rPr lang="zh-CN" altLang="en-US" sz="1400" kern="1200" baseline="-15432" dirty="0">
                <a:solidFill>
                  <a:srgbClr val="0432FF"/>
                </a:solidFill>
                <a:latin typeface="Cambria Math"/>
                <a:cs typeface="Cambria Math"/>
              </a:rPr>
              <a:t>𝟐</a:t>
            </a:r>
            <a:r>
              <a:rPr lang="zh-CN" altLang="en-US" sz="1400" kern="1200" spc="112" baseline="-15432" dirty="0">
                <a:solidFill>
                  <a:srgbClr val="0432FF"/>
                </a:solidFill>
                <a:latin typeface="Cambria Math"/>
                <a:cs typeface="Cambria Math"/>
              </a:rPr>
              <a:t> </a:t>
            </a:r>
            <a:r>
              <a:rPr lang="en-US" altLang="zh-CN" sz="1200" kern="1200" dirty="0">
                <a:solidFill>
                  <a:srgbClr val="0432FF"/>
                </a:solidFill>
                <a:latin typeface="Cambria Math"/>
                <a:cs typeface="Cambria Math"/>
              </a:rPr>
              <a:t>…</a:t>
            </a:r>
            <a:r>
              <a:rPr lang="zh-CN" altLang="en-US" sz="1200" kern="1200" spc="-135" dirty="0">
                <a:solidFill>
                  <a:srgbClr val="0432FF"/>
                </a:solidFill>
                <a:latin typeface="Cambria Math"/>
                <a:cs typeface="Cambria Math"/>
              </a:rPr>
              <a:t> </a:t>
            </a:r>
            <a:r>
              <a:rPr lang="zh-CN" altLang="en-US" sz="1200" kern="1200" dirty="0">
                <a:solidFill>
                  <a:srgbClr val="0432FF"/>
                </a:solidFill>
                <a:latin typeface="Cambria Math"/>
                <a:cs typeface="Cambria Math"/>
              </a:rPr>
              <a:t>𝑿</a:t>
            </a:r>
            <a:r>
              <a:rPr lang="zh-CN" altLang="en-US" sz="1400" kern="1200" spc="104" baseline="-15432" dirty="0">
                <a:solidFill>
                  <a:srgbClr val="0432FF"/>
                </a:solidFill>
                <a:latin typeface="Cambria Math"/>
                <a:cs typeface="Cambria Math"/>
              </a:rPr>
              <a:t>𝒏</a:t>
            </a:r>
            <a:r>
              <a:rPr lang="zh-CN" altLang="en-US" dirty="0"/>
              <a:t>是语法符号的串</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t>
            </a:r>
            <a:r>
              <a:rPr lang="en-US" altLang="zh-CN" dirty="0"/>
              <a:t>· </a:t>
            </a:r>
            <a:r>
              <a:rPr lang="zh-CN" altLang="en-US" dirty="0"/>
              <a:t>向</a:t>
            </a:r>
            <a:r>
              <a:rPr lang="en-US" altLang="zh-CN" sz="1200" kern="1200" spc="-35" dirty="0">
                <a:solidFill>
                  <a:prstClr val="black"/>
                </a:solidFill>
                <a:latin typeface="Palatino Linotype"/>
                <a:cs typeface="Palatino Linotype"/>
              </a:rPr>
              <a:t>FIRST(</a:t>
            </a:r>
            <a:r>
              <a:rPr lang="zh-CN" altLang="en-US" sz="1200" kern="1200" spc="-35" dirty="0">
                <a:solidFill>
                  <a:prstClr val="black"/>
                </a:solidFill>
                <a:latin typeface="Cambria Math"/>
                <a:cs typeface="Cambria Math"/>
              </a:rPr>
              <a:t>𝑋</a:t>
            </a:r>
            <a:r>
              <a:rPr lang="en-US" altLang="zh-CN" sz="1400" kern="1200" spc="-52" baseline="-14814" dirty="0">
                <a:solidFill>
                  <a:prstClr val="black"/>
                </a:solidFill>
                <a:latin typeface="Cambria Math"/>
                <a:cs typeface="Cambria Math"/>
              </a:rPr>
              <a:t>1</a:t>
            </a:r>
            <a:r>
              <a:rPr lang="zh-CN" altLang="en-US" sz="1200" kern="1200" spc="-35" dirty="0">
                <a:solidFill>
                  <a:prstClr val="black"/>
                </a:solidFill>
                <a:latin typeface="Cambria Math"/>
                <a:cs typeface="Cambria Math"/>
              </a:rPr>
              <a:t>𝑋</a:t>
            </a:r>
            <a:r>
              <a:rPr lang="en-US" altLang="zh-CN" sz="1400" kern="1200" spc="-52" baseline="-14814" dirty="0">
                <a:solidFill>
                  <a:prstClr val="black"/>
                </a:solidFill>
                <a:latin typeface="Cambria Math"/>
                <a:cs typeface="Cambria Math"/>
              </a:rPr>
              <a:t>2</a:t>
            </a:r>
            <a:r>
              <a:rPr lang="en-US" altLang="zh-CN" sz="1400" kern="1200" spc="97" baseline="-14814"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en-US" altLang="zh-CN" sz="1200" kern="1200" spc="-114" dirty="0">
                <a:solidFill>
                  <a:prstClr val="black"/>
                </a:solidFill>
                <a:latin typeface="Cambria Math"/>
                <a:cs typeface="Cambria Math"/>
              </a:rPr>
              <a:t> </a:t>
            </a:r>
            <a:r>
              <a:rPr lang="zh-CN" altLang="en-US" sz="1200" kern="1200" spc="30" dirty="0">
                <a:solidFill>
                  <a:prstClr val="black"/>
                </a:solidFill>
                <a:latin typeface="Cambria Math"/>
                <a:cs typeface="Cambria Math"/>
              </a:rPr>
              <a:t>𝑋</a:t>
            </a:r>
            <a:r>
              <a:rPr lang="zh-CN" altLang="en-US" sz="1400" kern="1200" spc="44" baseline="-14814" dirty="0">
                <a:solidFill>
                  <a:prstClr val="black"/>
                </a:solidFill>
                <a:latin typeface="Cambria Math"/>
                <a:cs typeface="Cambria Math"/>
              </a:rPr>
              <a:t>𝑛</a:t>
            </a:r>
            <a:r>
              <a:rPr lang="en-US" altLang="zh-CN" sz="1200" kern="1200" spc="30" dirty="0">
                <a:solidFill>
                  <a:prstClr val="black"/>
                </a:solidFill>
                <a:latin typeface="Palatino Linotype"/>
                <a:cs typeface="Palatino Linotype"/>
              </a:rPr>
              <a:t>)</a:t>
            </a:r>
            <a:r>
              <a:rPr lang="zh-CN" altLang="en-US" dirty="0"/>
              <a:t>加入</a:t>
            </a:r>
            <a:r>
              <a:rPr lang="en-US" altLang="zh-CN" sz="1200" kern="1200" spc="-10" dirty="0">
                <a:solidFill>
                  <a:prstClr val="black"/>
                </a:solidFill>
                <a:latin typeface="Palatino Linotype"/>
                <a:cs typeface="Palatino Linotype"/>
              </a:rPr>
              <a:t>FIRST(</a:t>
            </a:r>
            <a:r>
              <a:rPr lang="zh-CN" altLang="en-US" sz="1200" kern="1200" spc="-10" dirty="0">
                <a:solidFill>
                  <a:prstClr val="black"/>
                </a:solidFill>
                <a:latin typeface="Cambria Math"/>
                <a:cs typeface="Cambria Math"/>
              </a:rPr>
              <a:t>𝑋</a:t>
            </a:r>
            <a:r>
              <a:rPr lang="en-US" altLang="zh-CN" sz="1400" kern="1200" spc="-15" baseline="-14814" dirty="0">
                <a:solidFill>
                  <a:prstClr val="black"/>
                </a:solidFill>
                <a:latin typeface="Cambria Math"/>
                <a:cs typeface="Cambria Math"/>
              </a:rPr>
              <a:t>1</a:t>
            </a:r>
            <a:r>
              <a:rPr lang="en-US" altLang="zh-CN" sz="1200" kern="1200" spc="-10" dirty="0">
                <a:solidFill>
                  <a:prstClr val="black"/>
                </a:solidFill>
                <a:latin typeface="Palatino Linotype"/>
                <a:cs typeface="Palatino Linotype"/>
              </a:rPr>
              <a:t>)</a:t>
            </a:r>
            <a:r>
              <a:rPr lang="zh-CN" altLang="en-US" dirty="0"/>
              <a:t>中所有的非</a:t>
            </a:r>
            <a:r>
              <a:rPr lang="zh-CN" altLang="en-US" sz="1200" kern="1200" spc="-5" dirty="0">
                <a:solidFill>
                  <a:srgbClr val="FF0000"/>
                </a:solidFill>
                <a:latin typeface="Cambria Math"/>
                <a:cs typeface="Cambria Math"/>
              </a:rPr>
              <a:t>𝜖</a:t>
            </a:r>
            <a:r>
              <a:rPr lang="zh-CN" altLang="en-US" dirty="0"/>
              <a:t>符号</a:t>
            </a:r>
            <a:endParaRPr lang="en-US" altLang="zh-CN" dirty="0"/>
          </a:p>
          <a:p>
            <a:r>
              <a:rPr lang="zh-CN" altLang="en-US" dirty="0"/>
              <a:t>   </a:t>
            </a:r>
            <a:r>
              <a:rPr lang="en-US" altLang="zh-CN" dirty="0"/>
              <a:t>· </a:t>
            </a:r>
            <a:r>
              <a:rPr lang="zh-CN" altLang="en-US" dirty="0"/>
              <a:t>如果</a:t>
            </a:r>
            <a:r>
              <a:rPr lang="zh-CN" altLang="en-US" sz="1200" kern="1200" spc="-5" dirty="0">
                <a:solidFill>
                  <a:srgbClr val="FF0000"/>
                </a:solidFill>
                <a:latin typeface="Cambria Math"/>
                <a:cs typeface="Cambria Math"/>
              </a:rPr>
              <a:t>𝜖</a:t>
            </a:r>
            <a:r>
              <a:rPr lang="zh-CN" altLang="en-US" dirty="0"/>
              <a:t>在</a:t>
            </a:r>
            <a:r>
              <a:rPr lang="en-US" altLang="zh-CN" sz="1200" kern="1200" spc="-10" dirty="0">
                <a:solidFill>
                  <a:prstClr val="black"/>
                </a:solidFill>
                <a:latin typeface="Palatino Linotype"/>
                <a:cs typeface="Palatino Linotype"/>
              </a:rPr>
              <a:t>FIRST(</a:t>
            </a:r>
            <a:r>
              <a:rPr lang="zh-CN" altLang="en-US" sz="1200" kern="1200" spc="-10" dirty="0">
                <a:solidFill>
                  <a:prstClr val="black"/>
                </a:solidFill>
                <a:latin typeface="Cambria Math"/>
                <a:cs typeface="Cambria Math"/>
              </a:rPr>
              <a:t>𝑋</a:t>
            </a:r>
            <a:r>
              <a:rPr lang="en-US" altLang="zh-CN" sz="1400" kern="1200" spc="-15" baseline="-14814" dirty="0">
                <a:solidFill>
                  <a:prstClr val="black"/>
                </a:solidFill>
                <a:latin typeface="Cambria Math"/>
                <a:cs typeface="Cambria Math"/>
              </a:rPr>
              <a:t>1</a:t>
            </a:r>
            <a:r>
              <a:rPr lang="en-US" altLang="zh-CN" sz="1200" kern="1200" spc="-10" dirty="0">
                <a:solidFill>
                  <a:prstClr val="black"/>
                </a:solidFill>
                <a:latin typeface="Palatino Linotype"/>
                <a:cs typeface="Palatino Linotype"/>
              </a:rPr>
              <a:t>)</a:t>
            </a:r>
            <a:r>
              <a:rPr lang="zh-CN" altLang="en-US" dirty="0"/>
              <a:t>中，再加入</a:t>
            </a:r>
            <a:r>
              <a:rPr lang="en-US" altLang="zh-CN" sz="1200" kern="1200" spc="-10" dirty="0">
                <a:solidFill>
                  <a:prstClr val="black"/>
                </a:solidFill>
                <a:latin typeface="Palatino Linotype"/>
                <a:cs typeface="Palatino Linotype"/>
              </a:rPr>
              <a:t>FIRST(</a:t>
            </a:r>
            <a:r>
              <a:rPr lang="zh-CN" altLang="en-US" sz="1200" kern="1200" spc="-10" dirty="0">
                <a:solidFill>
                  <a:prstClr val="black"/>
                </a:solidFill>
                <a:latin typeface="Cambria Math"/>
                <a:cs typeface="Cambria Math"/>
              </a:rPr>
              <a:t>𝑋</a:t>
            </a:r>
            <a:r>
              <a:rPr lang="en-US" altLang="zh-CN" sz="1400" kern="1200" spc="-15" baseline="-14814" dirty="0">
                <a:solidFill>
                  <a:prstClr val="black"/>
                </a:solidFill>
                <a:latin typeface="Cambria Math"/>
                <a:cs typeface="Cambria Math"/>
              </a:rPr>
              <a:t>2</a:t>
            </a:r>
            <a:r>
              <a:rPr lang="en-US" altLang="zh-CN" sz="1200" kern="1200" spc="-10" dirty="0">
                <a:solidFill>
                  <a:prstClr val="black"/>
                </a:solidFill>
                <a:latin typeface="Palatino Linotype"/>
                <a:cs typeface="Palatino Linotype"/>
              </a:rPr>
              <a:t>)</a:t>
            </a:r>
            <a:r>
              <a:rPr lang="zh-CN" altLang="en-US" dirty="0"/>
              <a:t>中所有的非</a:t>
            </a:r>
            <a:r>
              <a:rPr lang="zh-CN" altLang="en-US" sz="1200" kern="1200" spc="-5" dirty="0">
                <a:solidFill>
                  <a:srgbClr val="FF0000"/>
                </a:solidFill>
                <a:latin typeface="Cambria Math"/>
                <a:cs typeface="Cambria Math"/>
              </a:rPr>
              <a:t>𝜖</a:t>
            </a:r>
            <a:r>
              <a:rPr lang="zh-CN" altLang="en-US" dirty="0"/>
              <a:t>符号；如果</a:t>
            </a:r>
            <a:r>
              <a:rPr lang="zh-CN" altLang="en-US" sz="1200" kern="1200" spc="-5" dirty="0">
                <a:solidFill>
                  <a:srgbClr val="FF0000"/>
                </a:solidFill>
                <a:latin typeface="Cambria Math"/>
                <a:cs typeface="Cambria Math"/>
              </a:rPr>
              <a:t>𝜖</a:t>
            </a:r>
            <a:r>
              <a:rPr lang="zh-CN" altLang="en-US" dirty="0"/>
              <a:t>在</a:t>
            </a:r>
            <a:r>
              <a:rPr lang="en-US" altLang="zh-CN" sz="1200" kern="1200" spc="-10" dirty="0">
                <a:solidFill>
                  <a:prstClr val="black"/>
                </a:solidFill>
                <a:latin typeface="Palatino Linotype"/>
                <a:cs typeface="Palatino Linotype"/>
              </a:rPr>
              <a:t>FIRST(</a:t>
            </a:r>
            <a:r>
              <a:rPr lang="zh-CN" altLang="en-US" sz="1200" kern="1200" spc="-10" dirty="0">
                <a:solidFill>
                  <a:prstClr val="black"/>
                </a:solidFill>
                <a:latin typeface="Cambria Math"/>
                <a:cs typeface="Cambria Math"/>
              </a:rPr>
              <a:t>𝑋</a:t>
            </a:r>
            <a:r>
              <a:rPr lang="en-US" altLang="zh-CN" sz="1400" kern="1200" spc="-15" baseline="-14814" dirty="0">
                <a:solidFill>
                  <a:prstClr val="black"/>
                </a:solidFill>
                <a:latin typeface="Cambria Math"/>
                <a:cs typeface="Cambria Math"/>
              </a:rPr>
              <a:t>1</a:t>
            </a:r>
            <a:r>
              <a:rPr lang="en-US" altLang="zh-CN" sz="1200" kern="1200" spc="-10" dirty="0">
                <a:solidFill>
                  <a:prstClr val="black"/>
                </a:solidFill>
                <a:latin typeface="Palatino Linotype"/>
                <a:cs typeface="Palatino Linotype"/>
              </a:rPr>
              <a:t>)</a:t>
            </a:r>
            <a:r>
              <a:rPr lang="zh-CN" altLang="en-US" dirty="0"/>
              <a:t>和</a:t>
            </a:r>
            <a:r>
              <a:rPr lang="en-US" altLang="zh-CN" sz="1200" kern="1200" spc="-10" dirty="0">
                <a:solidFill>
                  <a:prstClr val="black"/>
                </a:solidFill>
                <a:latin typeface="Palatino Linotype"/>
                <a:cs typeface="Palatino Linotype"/>
              </a:rPr>
              <a:t>FIRST(</a:t>
            </a:r>
            <a:r>
              <a:rPr lang="zh-CN" altLang="en-US" sz="1200" kern="1200" spc="-10" dirty="0">
                <a:solidFill>
                  <a:prstClr val="black"/>
                </a:solidFill>
                <a:latin typeface="Cambria Math"/>
                <a:cs typeface="Cambria Math"/>
              </a:rPr>
              <a:t>𝑋</a:t>
            </a:r>
            <a:r>
              <a:rPr lang="en-US" altLang="zh-CN" sz="1400" kern="1200" spc="-15" baseline="-14814" dirty="0">
                <a:solidFill>
                  <a:prstClr val="black"/>
                </a:solidFill>
                <a:latin typeface="Cambria Math"/>
                <a:cs typeface="Cambria Math"/>
              </a:rPr>
              <a:t>2</a:t>
            </a:r>
            <a:r>
              <a:rPr lang="en-US" altLang="zh-CN" sz="1200" kern="1200" spc="-10" dirty="0">
                <a:solidFill>
                  <a:prstClr val="black"/>
                </a:solidFill>
                <a:latin typeface="Palatino Linotype"/>
                <a:cs typeface="Palatino Linotype"/>
              </a:rPr>
              <a:t>)</a:t>
            </a:r>
            <a:r>
              <a:rPr lang="zh-CN" altLang="en-US" dirty="0"/>
              <a:t>中，加入</a:t>
            </a:r>
            <a:r>
              <a:rPr lang="en-US" altLang="zh-CN" sz="1200" kern="1200" spc="-10" dirty="0">
                <a:solidFill>
                  <a:prstClr val="black"/>
                </a:solidFill>
                <a:latin typeface="Palatino Linotype"/>
                <a:cs typeface="Palatino Linotype"/>
              </a:rPr>
              <a:t>FIRST(</a:t>
            </a:r>
            <a:r>
              <a:rPr lang="zh-CN" altLang="en-US" sz="1200" kern="1200" spc="-10" dirty="0">
                <a:solidFill>
                  <a:prstClr val="black"/>
                </a:solidFill>
                <a:latin typeface="Cambria Math"/>
                <a:cs typeface="Cambria Math"/>
              </a:rPr>
              <a:t>𝑋</a:t>
            </a:r>
            <a:r>
              <a:rPr lang="en-US" altLang="zh-CN" sz="1400" kern="1200" spc="-15" baseline="-14814" dirty="0">
                <a:solidFill>
                  <a:prstClr val="black"/>
                </a:solidFill>
                <a:latin typeface="Cambria Math"/>
                <a:cs typeface="Cambria Math"/>
              </a:rPr>
              <a:t>3</a:t>
            </a:r>
            <a:r>
              <a:rPr lang="en-US" altLang="zh-CN" sz="1200" kern="1200" spc="-10" dirty="0">
                <a:solidFill>
                  <a:prstClr val="black"/>
                </a:solidFill>
                <a:latin typeface="Palatino Linotype"/>
                <a:cs typeface="Palatino Linotype"/>
              </a:rPr>
              <a:t>)</a:t>
            </a:r>
            <a:r>
              <a:rPr lang="zh-CN" altLang="en-US" dirty="0"/>
              <a:t>中的所有非</a:t>
            </a:r>
            <a:r>
              <a:rPr lang="zh-CN" altLang="en-US" sz="1200" kern="1200" spc="-5" dirty="0">
                <a:solidFill>
                  <a:srgbClr val="FF0000"/>
                </a:solidFill>
                <a:latin typeface="Cambria Math"/>
                <a:cs typeface="Cambria Math"/>
              </a:rPr>
              <a:t>𝜖</a:t>
            </a:r>
            <a:r>
              <a:rPr lang="zh-CN" altLang="en-US" dirty="0"/>
              <a:t>符号，以此类推。</a:t>
            </a:r>
            <a:endParaRPr lang="en-US" altLang="zh-CN" dirty="0"/>
          </a:p>
          <a:p>
            <a:r>
              <a:rPr lang="zh-CN" altLang="en-US" dirty="0"/>
              <a:t>   </a:t>
            </a:r>
            <a:r>
              <a:rPr lang="en-US" altLang="zh-CN" dirty="0"/>
              <a:t>· </a:t>
            </a:r>
            <a:r>
              <a:rPr lang="zh-CN" altLang="en-US" dirty="0"/>
              <a:t>最后，如果对于所有的</a:t>
            </a:r>
            <a:r>
              <a:rPr lang="en-US" altLang="zh-CN" dirty="0" err="1"/>
              <a:t>i</a:t>
            </a:r>
            <a:r>
              <a:rPr lang="zh-CN" altLang="en-US" dirty="0"/>
              <a:t>，</a:t>
            </a:r>
            <a:r>
              <a:rPr lang="zh-CN" altLang="en-US" sz="1200" kern="1200" spc="-5" dirty="0">
                <a:solidFill>
                  <a:srgbClr val="FF0000"/>
                </a:solidFill>
                <a:latin typeface="Cambria Math"/>
                <a:cs typeface="Cambria Math"/>
              </a:rPr>
              <a:t>𝜖</a:t>
            </a:r>
            <a:r>
              <a:rPr lang="zh-CN" altLang="en-US" dirty="0"/>
              <a:t>都在</a:t>
            </a:r>
            <a:r>
              <a:rPr lang="en-US" altLang="zh-CN" sz="1200" kern="1200" spc="-10" dirty="0">
                <a:solidFill>
                  <a:prstClr val="black"/>
                </a:solidFill>
                <a:latin typeface="Palatino Linotype"/>
                <a:cs typeface="Palatino Linotype"/>
              </a:rPr>
              <a:t>FIRST(</a:t>
            </a:r>
            <a:r>
              <a:rPr lang="zh-CN" altLang="en-US" sz="1200" kern="1200" spc="-10" dirty="0">
                <a:solidFill>
                  <a:prstClr val="black"/>
                </a:solidFill>
                <a:latin typeface="Cambria Math"/>
                <a:cs typeface="Cambria Math"/>
              </a:rPr>
              <a:t>𝑋</a:t>
            </a:r>
            <a:r>
              <a:rPr lang="en-US" altLang="zh-CN" sz="1400" kern="1200" spc="-15" baseline="-14814" dirty="0" err="1">
                <a:solidFill>
                  <a:prstClr val="black"/>
                </a:solidFill>
                <a:latin typeface="Cambria Math"/>
                <a:cs typeface="Cambria Math"/>
              </a:rPr>
              <a:t>i</a:t>
            </a:r>
            <a:r>
              <a:rPr lang="en-US" altLang="zh-CN" sz="1200" kern="1200" spc="-10" dirty="0">
                <a:solidFill>
                  <a:prstClr val="black"/>
                </a:solidFill>
                <a:latin typeface="Palatino Linotype"/>
                <a:cs typeface="Palatino Linotype"/>
              </a:rPr>
              <a:t>)</a:t>
            </a:r>
            <a:r>
              <a:rPr lang="zh-CN" altLang="en-US" dirty="0"/>
              <a:t>中，那么将加入到</a:t>
            </a:r>
            <a:r>
              <a:rPr lang="en-US" altLang="zh-CN" sz="1200" kern="1200" spc="-35" dirty="0">
                <a:solidFill>
                  <a:prstClr val="black"/>
                </a:solidFill>
                <a:latin typeface="Palatino Linotype"/>
                <a:cs typeface="Palatino Linotype"/>
              </a:rPr>
              <a:t>FIRST(</a:t>
            </a:r>
            <a:r>
              <a:rPr lang="zh-CN" altLang="en-US" sz="1200" kern="1200" spc="-35" dirty="0">
                <a:solidFill>
                  <a:prstClr val="black"/>
                </a:solidFill>
                <a:latin typeface="Cambria Math"/>
                <a:cs typeface="Cambria Math"/>
              </a:rPr>
              <a:t>𝑋</a:t>
            </a:r>
            <a:r>
              <a:rPr lang="en-US" altLang="zh-CN" sz="1400" kern="1200" spc="-52" baseline="-14814" dirty="0">
                <a:solidFill>
                  <a:prstClr val="black"/>
                </a:solidFill>
                <a:latin typeface="Cambria Math"/>
                <a:cs typeface="Cambria Math"/>
              </a:rPr>
              <a:t>1</a:t>
            </a:r>
            <a:r>
              <a:rPr lang="zh-CN" altLang="en-US" sz="1200" kern="1200" spc="-35" dirty="0">
                <a:solidFill>
                  <a:prstClr val="black"/>
                </a:solidFill>
                <a:latin typeface="Cambria Math"/>
                <a:cs typeface="Cambria Math"/>
              </a:rPr>
              <a:t>𝑋</a:t>
            </a:r>
            <a:r>
              <a:rPr lang="en-US" altLang="zh-CN" sz="1400" kern="1200" spc="-52" baseline="-14814" dirty="0">
                <a:solidFill>
                  <a:prstClr val="black"/>
                </a:solidFill>
                <a:latin typeface="Cambria Math"/>
                <a:cs typeface="Cambria Math"/>
              </a:rPr>
              <a:t>2</a:t>
            </a:r>
            <a:r>
              <a:rPr lang="en-US" altLang="zh-CN" sz="1400" kern="1200" spc="97" baseline="-14814"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en-US" altLang="zh-CN" sz="1200" kern="1200" spc="-114" dirty="0">
                <a:solidFill>
                  <a:prstClr val="black"/>
                </a:solidFill>
                <a:latin typeface="Cambria Math"/>
                <a:cs typeface="Cambria Math"/>
              </a:rPr>
              <a:t> </a:t>
            </a:r>
            <a:r>
              <a:rPr lang="zh-CN" altLang="en-US" sz="1200" kern="1200" spc="30" dirty="0">
                <a:solidFill>
                  <a:prstClr val="black"/>
                </a:solidFill>
                <a:latin typeface="Cambria Math"/>
                <a:cs typeface="Cambria Math"/>
              </a:rPr>
              <a:t>𝑋</a:t>
            </a:r>
            <a:r>
              <a:rPr lang="zh-CN" altLang="en-US" sz="1400" kern="1200" spc="44" baseline="-14814" dirty="0">
                <a:solidFill>
                  <a:prstClr val="black"/>
                </a:solidFill>
                <a:latin typeface="Cambria Math"/>
                <a:cs typeface="Cambria Math"/>
              </a:rPr>
              <a:t>𝑛</a:t>
            </a:r>
            <a:r>
              <a:rPr lang="en-US" altLang="zh-CN" sz="1200" kern="1200" spc="30" dirty="0">
                <a:solidFill>
                  <a:prstClr val="black"/>
                </a:solidFill>
                <a:latin typeface="Palatino Linotype"/>
                <a:cs typeface="Palatino Linotype"/>
              </a:rPr>
              <a:t>)</a:t>
            </a:r>
            <a:r>
              <a:rPr lang="zh-CN" altLang="en-US" dirty="0"/>
              <a:t>中。</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65</a:t>
            </a:fld>
            <a:endParaRPr lang="zh-CN" altLang="en-US"/>
          </a:p>
        </p:txBody>
      </p:sp>
    </p:spTree>
    <p:extLst>
      <p:ext uri="{BB962C8B-B14F-4D97-AF65-F5344CB8AC3E}">
        <p14:creationId xmlns:p14="http://schemas.microsoft.com/office/powerpoint/2010/main" val="192716184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向前看有用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假设输入字符串为</a:t>
            </a:r>
            <a:r>
              <a:rPr lang="zh-CN" altLang="en-US" sz="1200" kern="1200" dirty="0">
                <a:solidFill>
                  <a:prstClr val="black"/>
                </a:solidFill>
                <a:latin typeface="Cambria Math"/>
                <a:cs typeface="Cambria Math"/>
              </a:rPr>
              <a:t>𝒙</a:t>
            </a:r>
            <a:r>
              <a:rPr lang="zh-CN" altLang="en-US" sz="1200" kern="1200" dirty="0">
                <a:solidFill>
                  <a:srgbClr val="FF0000"/>
                </a:solidFill>
                <a:latin typeface="Cambria Math"/>
                <a:cs typeface="Cambria Math"/>
              </a:rPr>
              <a:t>𝒂</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假设当前的句型是</a:t>
            </a:r>
            <a:r>
              <a:rPr lang="zh-CN" altLang="el-GR" sz="1200" kern="1200" spc="15" dirty="0">
                <a:solidFill>
                  <a:prstClr val="black"/>
                </a:solidFill>
                <a:latin typeface="Cambria Math"/>
                <a:cs typeface="Cambria Math"/>
              </a:rPr>
              <a:t>𝒙</a:t>
            </a:r>
            <a:r>
              <a:rPr lang="zh-CN" altLang="el-GR" sz="1200" kern="1200" spc="15" dirty="0">
                <a:solidFill>
                  <a:srgbClr val="FF0000"/>
                </a:solidFill>
                <a:latin typeface="Cambria Math"/>
                <a:cs typeface="Cambria Math"/>
              </a:rPr>
              <a:t>𝑨</a:t>
            </a:r>
            <a:r>
              <a:rPr lang="el-GR" altLang="zh-CN" sz="1200" b="1" kern="1200" spc="15" dirty="0">
                <a:latin typeface="Cambria Math"/>
                <a:cs typeface="Cambria Math"/>
              </a:rPr>
              <a:t>β</a:t>
            </a:r>
            <a:endParaRPr lang="en-US" altLang="zh-CN" sz="1200" b="1" kern="1200" spc="15" dirty="0">
              <a:latin typeface="Cambria Math"/>
              <a:cs typeface="Cambria Math"/>
            </a:endParaRPr>
          </a:p>
          <a:p>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𝑨 是非终结符；</a:t>
            </a:r>
            <a:r>
              <a:rPr lang="en-US" altLang="zh-CN" sz="1200" dirty="0">
                <a:latin typeface="黑体" panose="02010609060101010101" pitchFamily="49" charset="-122"/>
                <a:ea typeface="黑体" panose="02010609060101010101" pitchFamily="49" charset="-122"/>
              </a:rPr>
              <a:t>β</a:t>
            </a:r>
            <a:r>
              <a:rPr lang="zh-CN" altLang="en-US" sz="1200" dirty="0">
                <a:latin typeface="黑体" panose="02010609060101010101" pitchFamily="49" charset="-122"/>
                <a:ea typeface="黑体" panose="02010609060101010101" pitchFamily="49" charset="-122"/>
              </a:rPr>
              <a:t>可以同时包含终结符和非终结符</a:t>
            </a:r>
            <a:endParaRPr lang="en-US" altLang="zh-CN" sz="1200" dirty="0">
              <a:latin typeface="黑体" panose="02010609060101010101" pitchFamily="49" charset="-122"/>
              <a:ea typeface="黑体" panose="02010609060101010101" pitchFamily="49" charset="-122"/>
            </a:endParaRPr>
          </a:p>
          <a:p>
            <a:endParaRPr lang="en-US" altLang="zh-CN" dirty="0"/>
          </a:p>
          <a:p>
            <a:r>
              <a:rPr lang="zh-CN" altLang="en-US" dirty="0"/>
              <a:t>如果我们知道生产𝑨 →</a:t>
            </a:r>
            <a:r>
              <a:rPr lang="zh-CN" altLang="en-US" sz="1200" kern="1200" spc="5" dirty="0">
                <a:solidFill>
                  <a:srgbClr val="FF0000"/>
                </a:solidFill>
                <a:latin typeface="Cambria Math"/>
                <a:cs typeface="Cambria Math"/>
              </a:rPr>
              <a:t>𝛼</a:t>
            </a:r>
            <a:r>
              <a:rPr lang="en-US" altLang="zh-CN" dirty="0"/>
              <a:t>, </a:t>
            </a:r>
            <a:r>
              <a:rPr lang="zh-CN" altLang="en-US" dirty="0"/>
              <a:t>𝜖 ∈ 𝐹𝐼𝑅𝑆𝑇</a:t>
            </a:r>
            <a:r>
              <a:rPr lang="en-US" altLang="zh-CN" dirty="0"/>
              <a:t>(</a:t>
            </a:r>
            <a:r>
              <a:rPr lang="zh-CN" altLang="en-US" dirty="0"/>
              <a:t>𝛼</a:t>
            </a:r>
            <a:r>
              <a:rPr lang="en-US" altLang="zh-CN" dirty="0"/>
              <a:t>), </a:t>
            </a:r>
            <a:r>
              <a:rPr lang="zh-CN" altLang="en-US" dirty="0"/>
              <a:t>我们能选择重写</a:t>
            </a:r>
            <a:r>
              <a:rPr lang="en-US" altLang="zh-CN" dirty="0"/>
              <a:t>A</a:t>
            </a:r>
            <a:r>
              <a:rPr lang="zh-CN" altLang="en-US" dirty="0"/>
              <a:t>的产生式吗</a:t>
            </a:r>
            <a:r>
              <a:rPr lang="en-US" altLang="zh-CN" dirty="0"/>
              <a:t>?</a:t>
            </a:r>
          </a:p>
          <a:p>
            <a:r>
              <a:rPr lang="zh-CN" altLang="en-US" dirty="0"/>
              <a:t>可以，只有在𝛽 可以推导以𝑎开头的字符串</a:t>
            </a:r>
            <a:r>
              <a:rPr lang="en-US" altLang="zh-CN" dirty="0"/>
              <a:t>, </a:t>
            </a:r>
            <a:r>
              <a:rPr lang="zh-CN" altLang="en-US" dirty="0"/>
              <a:t>即，在一些句型中𝐴 后面可以跟着𝑎 （即，𝒂 ∈ 𝑭𝑶𝑳𝑳𝑶𝑾</a:t>
            </a:r>
            <a:r>
              <a:rPr lang="en-US" altLang="zh-CN" dirty="0"/>
              <a:t>(</a:t>
            </a:r>
            <a:r>
              <a:rPr lang="zh-CN" altLang="en-US" dirty="0"/>
              <a:t>𝑨</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67</a:t>
            </a:fld>
            <a:endParaRPr lang="zh-CN" altLang="en-US"/>
          </a:p>
        </p:txBody>
      </p:sp>
    </p:spTree>
    <p:extLst>
      <p:ext uri="{BB962C8B-B14F-4D97-AF65-F5344CB8AC3E}">
        <p14:creationId xmlns:p14="http://schemas.microsoft.com/office/powerpoint/2010/main" val="42047463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kern="1200" spc="-5" dirty="0">
                <a:solidFill>
                  <a:srgbClr val="0432FF"/>
                </a:solidFill>
                <a:latin typeface="Palatino Linotype"/>
                <a:cs typeface="Palatino Linotype"/>
              </a:rPr>
              <a:t>FOLLOW(A)</a:t>
            </a:r>
            <a:r>
              <a:rPr lang="en-US" altLang="zh-CN" sz="1200" kern="1200" spc="-5" dirty="0">
                <a:solidFill>
                  <a:prstClr val="black"/>
                </a:solidFill>
                <a:latin typeface="Palatino Linotype"/>
                <a:cs typeface="Palatino Linotype"/>
              </a:rPr>
              <a:t>, A</a:t>
            </a:r>
            <a:r>
              <a:rPr lang="zh-CN" altLang="en-US" sz="1200" kern="1200" spc="-5" dirty="0">
                <a:solidFill>
                  <a:prstClr val="black"/>
                </a:solidFill>
                <a:latin typeface="Palatino Linotype"/>
                <a:cs typeface="Palatino Linotype"/>
              </a:rPr>
              <a:t>是非终结符</a:t>
            </a:r>
            <a:endParaRPr lang="en-US" altLang="zh-CN" sz="1200" kern="1200" spc="-5" dirty="0">
              <a:solidFill>
                <a:prstClr val="black"/>
              </a:solidFill>
              <a:latin typeface="Palatino Linotype"/>
              <a:cs typeface="Palatino Linotyp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rgbClr val="FF0000"/>
                </a:solidFill>
                <a:latin typeface="Cambria Math"/>
                <a:cs typeface="Cambria Math"/>
              </a:rPr>
              <a:t>𝑎 ∈</a:t>
            </a:r>
            <a:r>
              <a:rPr lang="en-US" altLang="zh-CN" sz="1200" b="1" kern="1200" spc="-5" dirty="0">
                <a:solidFill>
                  <a:srgbClr val="FF0000"/>
                </a:solidFill>
                <a:latin typeface="Palatino Linotype"/>
              </a:rPr>
              <a:t>FOLLOW(</a:t>
            </a:r>
            <a:r>
              <a:rPr lang="en-US" altLang="zh-CN" sz="1200" b="1" i="1" kern="1200" spc="-5" dirty="0">
                <a:solidFill>
                  <a:srgbClr val="FF0000"/>
                </a:solidFill>
                <a:latin typeface="Palatino Linotype"/>
              </a:rPr>
              <a:t>A</a:t>
            </a:r>
            <a:r>
              <a:rPr lang="en-US" altLang="zh-CN" sz="1200" b="1" kern="1200" spc="-5" dirty="0">
                <a:solidFill>
                  <a:srgbClr val="FF0000"/>
                </a:solidFill>
                <a:latin typeface="Palatino Linotype"/>
              </a:rPr>
              <a:t>)</a:t>
            </a:r>
            <a:r>
              <a:rPr lang="zh-CN" altLang="en-US" sz="1200" kern="1200" dirty="0">
                <a:solidFill>
                  <a:prstClr val="black"/>
                </a:solidFill>
                <a:latin typeface="Palatino Linotype"/>
                <a:cs typeface="Palatino Linotype"/>
              </a:rPr>
              <a:t>表示终结符在某些句型中</a:t>
            </a:r>
            <a:r>
              <a:rPr lang="zh-CN" altLang="en-US" sz="1200" kern="1200" dirty="0">
                <a:solidFill>
                  <a:srgbClr val="FF0000"/>
                </a:solidFill>
                <a:latin typeface="Cambria Math"/>
                <a:cs typeface="Cambria Math"/>
              </a:rPr>
              <a:t>可以出现在</a:t>
            </a:r>
            <a:r>
              <a:rPr lang="en-US" altLang="zh-CN" sz="1200" kern="1200" spc="-5" dirty="0">
                <a:solidFill>
                  <a:srgbClr val="FF0000"/>
                </a:solidFill>
                <a:latin typeface="Palatino Linotype"/>
                <a:cs typeface="Palatino Linotype"/>
              </a:rPr>
              <a:t>A</a:t>
            </a:r>
            <a:r>
              <a:rPr lang="zh-CN" altLang="en-US" sz="1200" kern="1200" spc="-5" dirty="0">
                <a:solidFill>
                  <a:srgbClr val="FF0000"/>
                </a:solidFill>
                <a:latin typeface="Palatino Linotype"/>
                <a:cs typeface="Palatino Linotype"/>
              </a:rPr>
              <a:t>的右边</a:t>
            </a:r>
            <a:endParaRPr lang="en-US" altLang="zh-CN" sz="1200" kern="1200" spc="-5" dirty="0">
              <a:solidFill>
                <a:srgbClr val="FF0000"/>
              </a:solidFill>
              <a:latin typeface="Palatino Linotype"/>
              <a:cs typeface="Palatino Linotyp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kern="1200" dirty="0">
                <a:latin typeface="Cambria Math"/>
                <a:cs typeface="Cambria Math"/>
              </a:rPr>
              <a:t>对产生式𝑨</a:t>
            </a:r>
            <a:r>
              <a:rPr lang="zh-CN" altLang="en-US" sz="1600" kern="1200" spc="114" dirty="0">
                <a:latin typeface="Cambria Math"/>
                <a:cs typeface="Cambria Math"/>
              </a:rPr>
              <a:t> </a:t>
            </a:r>
            <a:r>
              <a:rPr lang="zh-CN" altLang="en-US" sz="1600" kern="1200" dirty="0">
                <a:latin typeface="Cambria Math"/>
                <a:cs typeface="Cambria Math"/>
              </a:rPr>
              <a:t>→</a:t>
            </a:r>
            <a:r>
              <a:rPr lang="zh-CN" altLang="en-US" sz="1600" kern="1200" spc="5" dirty="0">
                <a:latin typeface="Cambria Math"/>
                <a:cs typeface="Cambria Math"/>
              </a:rPr>
              <a:t>𝛼，</a:t>
            </a:r>
            <a:r>
              <a:rPr lang="zh-CN" altLang="en-US" sz="1600" kern="1200" spc="-5" dirty="0">
                <a:latin typeface="Cambria Math"/>
                <a:cs typeface="Cambria Math"/>
              </a:rPr>
              <a:t>当</a:t>
            </a:r>
            <a:r>
              <a:rPr lang="zh-CN" altLang="en-US" sz="1600" kern="1200" spc="5" dirty="0">
                <a:latin typeface="Cambria Math"/>
                <a:cs typeface="Cambria Math"/>
              </a:rPr>
              <a:t>𝛼</a:t>
            </a:r>
            <a:r>
              <a:rPr lang="zh-CN" altLang="en-US" sz="1600" kern="1200" dirty="0">
                <a:latin typeface="Cambria Math"/>
                <a:cs typeface="Cambria Math"/>
              </a:rPr>
              <a:t>⇒*</a:t>
            </a:r>
            <a:r>
              <a:rPr lang="zh-CN" altLang="en-US" sz="2400" dirty="0"/>
              <a:t>𝜖 </a:t>
            </a:r>
            <a:r>
              <a:rPr lang="en-US" altLang="zh-CN" sz="1600" kern="1200" spc="-5" dirty="0">
                <a:latin typeface="Cambria Math"/>
                <a:cs typeface="Cambria Math"/>
              </a:rPr>
              <a:t>, FOLLOW(A)</a:t>
            </a:r>
            <a:r>
              <a:rPr lang="zh-CN" altLang="en-US" sz="1600" kern="1200" spc="-5" dirty="0">
                <a:latin typeface="Cambria Math"/>
                <a:cs typeface="Cambria Math"/>
              </a:rPr>
              <a:t>可以帮助我们选择正确的产生式</a:t>
            </a:r>
            <a:endParaRPr lang="en-US" altLang="zh-CN" sz="1600" kern="1200" dirty="0">
              <a:solidFill>
                <a:prstClr val="black"/>
              </a:solidFill>
              <a:latin typeface="Cambria Math"/>
              <a:cs typeface="Cambria Math"/>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68</a:t>
            </a:fld>
            <a:endParaRPr lang="zh-CN" altLang="en-US"/>
          </a:p>
        </p:txBody>
      </p:sp>
    </p:spTree>
    <p:extLst>
      <p:ext uri="{BB962C8B-B14F-4D97-AF65-F5344CB8AC3E}">
        <p14:creationId xmlns:p14="http://schemas.microsoft.com/office/powerpoint/2010/main" val="15995985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计算</a:t>
            </a:r>
            <a:r>
              <a:rPr lang="en-US" altLang="zh-CN" dirty="0"/>
              <a:t>FOLLOW</a:t>
            </a:r>
            <a:r>
              <a:rPr lang="zh-CN" altLang="en-US" dirty="0"/>
              <a:t>集</a:t>
            </a:r>
            <a:endParaRPr lang="en-US" altLang="zh-CN" dirty="0"/>
          </a:p>
          <a:p>
            <a:r>
              <a:rPr lang="zh-CN" altLang="en-US" dirty="0"/>
              <a:t>计算所有非终结符</a:t>
            </a:r>
            <a:r>
              <a:rPr lang="en-US" altLang="zh-CN" dirty="0"/>
              <a:t>A</a:t>
            </a:r>
            <a:r>
              <a:rPr lang="zh-CN" altLang="en-US" dirty="0"/>
              <a:t>的</a:t>
            </a:r>
            <a:r>
              <a:rPr lang="en-US" altLang="zh-CN" dirty="0"/>
              <a:t>FOLLOW(A)</a:t>
            </a:r>
            <a:r>
              <a:rPr lang="zh-CN" altLang="en-US" dirty="0"/>
              <a:t>集合</a:t>
            </a:r>
            <a:endParaRPr lang="en-US" altLang="zh-CN" dirty="0"/>
          </a:p>
          <a:p>
            <a:r>
              <a:rPr lang="en-US" altLang="zh-CN" dirty="0"/>
              <a:t>   · </a:t>
            </a:r>
            <a:r>
              <a:rPr lang="zh-CN" altLang="en-US" dirty="0"/>
              <a:t>将</a:t>
            </a:r>
            <a:r>
              <a:rPr lang="en-US" altLang="zh-CN" dirty="0"/>
              <a:t>$</a:t>
            </a:r>
            <a:r>
              <a:rPr lang="zh-CN" altLang="en-US" dirty="0"/>
              <a:t>添加到</a:t>
            </a:r>
            <a:r>
              <a:rPr lang="en-US" altLang="zh-CN" dirty="0"/>
              <a:t>FOLLOW</a:t>
            </a:r>
            <a:r>
              <a:rPr lang="zh-CN" altLang="en-US" dirty="0"/>
              <a:t>（</a:t>
            </a:r>
            <a:r>
              <a:rPr lang="en-US" altLang="zh-CN" dirty="0"/>
              <a:t>S</a:t>
            </a:r>
            <a:r>
              <a:rPr lang="zh-CN" altLang="en-US" dirty="0"/>
              <a:t>）中，其中</a:t>
            </a:r>
            <a:r>
              <a:rPr lang="en-US" altLang="zh-CN" dirty="0"/>
              <a:t>S</a:t>
            </a:r>
            <a:r>
              <a:rPr lang="zh-CN" altLang="en-US" dirty="0"/>
              <a:t>是开始符号，</a:t>
            </a:r>
            <a:r>
              <a:rPr lang="en-US" altLang="zh-CN" dirty="0"/>
              <a:t>$</a:t>
            </a:r>
            <a:r>
              <a:rPr lang="zh-CN" altLang="en-US" dirty="0"/>
              <a:t>是输入右端的结束标记</a:t>
            </a:r>
            <a:endParaRPr lang="en-US" altLang="zh-CN" dirty="0"/>
          </a:p>
          <a:p>
            <a:r>
              <a:rPr lang="en-US" altLang="zh-CN" dirty="0"/>
              <a:t>   · </a:t>
            </a:r>
            <a:r>
              <a:rPr lang="zh-CN" altLang="en-US" dirty="0"/>
              <a:t>不断应用下面的规则，直到所有</a:t>
            </a:r>
            <a:r>
              <a:rPr lang="en-US" altLang="zh-CN" dirty="0"/>
              <a:t>FOLLOW</a:t>
            </a:r>
            <a:r>
              <a:rPr lang="zh-CN" altLang="en-US" dirty="0"/>
              <a:t>集不再改变</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 </a:t>
            </a:r>
            <a:r>
              <a:rPr lang="zh-CN" altLang="en-US" dirty="0"/>
              <a:t>如果存在一个产生式</a:t>
            </a:r>
            <a:r>
              <a:rPr lang="zh-CN" altLang="en-US" kern="1200" dirty="0">
                <a:solidFill>
                  <a:prstClr val="black"/>
                </a:solidFill>
                <a:latin typeface="Cambria Math"/>
                <a:cs typeface="Cambria Math"/>
              </a:rPr>
              <a:t>𝐴</a:t>
            </a:r>
            <a:r>
              <a:rPr lang="zh-CN" altLang="en-US" kern="1200" spc="110" dirty="0">
                <a:solidFill>
                  <a:prstClr val="black"/>
                </a:solidFill>
                <a:latin typeface="Cambria Math"/>
                <a:cs typeface="Cambria Math"/>
              </a:rPr>
              <a:t> </a:t>
            </a:r>
            <a:r>
              <a:rPr lang="zh-CN" altLang="en-US" kern="1200" dirty="0">
                <a:solidFill>
                  <a:prstClr val="black"/>
                </a:solidFill>
                <a:latin typeface="Cambria Math"/>
                <a:cs typeface="Cambria Math"/>
              </a:rPr>
              <a:t>→</a:t>
            </a:r>
            <a:r>
              <a:rPr lang="zh-CN" altLang="en-US" kern="1200" spc="95" dirty="0">
                <a:solidFill>
                  <a:prstClr val="black"/>
                </a:solidFill>
                <a:latin typeface="Cambria Math"/>
                <a:cs typeface="Cambria Math"/>
              </a:rPr>
              <a:t> </a:t>
            </a:r>
            <a:r>
              <a:rPr lang="zh-CN" altLang="en-US" kern="1200" spc="5" dirty="0">
                <a:solidFill>
                  <a:prstClr val="black"/>
                </a:solidFill>
                <a:latin typeface="Cambria Math"/>
                <a:cs typeface="Cambria Math"/>
              </a:rPr>
              <a:t>𝛼𝐵𝛽</a:t>
            </a:r>
            <a:r>
              <a:rPr lang="zh-CN" altLang="en-US" dirty="0"/>
              <a:t>，那么</a:t>
            </a:r>
            <a:r>
              <a:rPr lang="en-US" altLang="zh-CN" kern="1200" spc="5" dirty="0">
                <a:solidFill>
                  <a:prstClr val="black"/>
                </a:solidFill>
                <a:latin typeface="Palatino Linotype"/>
                <a:cs typeface="Palatino Linotype"/>
              </a:rPr>
              <a:t>FIRST(</a:t>
            </a:r>
            <a:r>
              <a:rPr lang="zh-CN" altLang="en-US" kern="1200" spc="5" dirty="0">
                <a:solidFill>
                  <a:prstClr val="black"/>
                </a:solidFill>
                <a:latin typeface="Cambria Math"/>
                <a:cs typeface="Cambria Math"/>
              </a:rPr>
              <a:t>𝛽</a:t>
            </a:r>
            <a:r>
              <a:rPr lang="en-US" altLang="zh-CN" kern="1200" spc="5" dirty="0">
                <a:solidFill>
                  <a:prstClr val="black"/>
                </a:solidFill>
                <a:latin typeface="Palatino Linotype"/>
                <a:cs typeface="Palatino Linotype"/>
              </a:rPr>
              <a:t>)</a:t>
            </a:r>
            <a:r>
              <a:rPr lang="zh-CN" altLang="en-US" dirty="0"/>
              <a:t>中除</a:t>
            </a:r>
            <a:r>
              <a:rPr lang="zh-CN" altLang="en-US" kern="1200" dirty="0">
                <a:solidFill>
                  <a:prstClr val="black"/>
                </a:solidFill>
                <a:latin typeface="Cambria Math"/>
                <a:cs typeface="Cambria Math"/>
              </a:rPr>
              <a:t>𝜖</a:t>
            </a:r>
            <a:r>
              <a:rPr lang="zh-CN" altLang="en-US" dirty="0"/>
              <a:t>之外的所有符号都在</a:t>
            </a:r>
            <a:r>
              <a:rPr lang="en-US" altLang="zh-CN" kern="1200" dirty="0">
                <a:solidFill>
                  <a:prstClr val="black"/>
                </a:solidFill>
                <a:latin typeface="Palatino Linotype"/>
                <a:cs typeface="Palatino Linotype"/>
              </a:rPr>
              <a:t>FOLLOW(</a:t>
            </a:r>
            <a:r>
              <a:rPr lang="zh-CN" altLang="en-US" kern="1200" dirty="0">
                <a:solidFill>
                  <a:prstClr val="black"/>
                </a:solidFill>
                <a:latin typeface="Cambria Math"/>
                <a:cs typeface="Cambria Math"/>
              </a:rPr>
              <a:t>𝐵</a:t>
            </a:r>
            <a:r>
              <a:rPr lang="en-US" altLang="zh-CN" kern="1200" dirty="0">
                <a:solidFill>
                  <a:prstClr val="black"/>
                </a:solidFill>
                <a:latin typeface="Palatino Linotype"/>
                <a:cs typeface="Palatino Linotype"/>
              </a:rPr>
              <a:t>)</a:t>
            </a:r>
          </a:p>
          <a:p>
            <a:r>
              <a:rPr lang="zh-CN" altLang="en-US" dirty="0"/>
              <a:t>中</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 </a:t>
            </a:r>
            <a:r>
              <a:rPr lang="zh-CN" altLang="en-US" dirty="0"/>
              <a:t>如果存在一个产生式</a:t>
            </a:r>
            <a:r>
              <a:rPr lang="zh-CN" altLang="en-US" kern="1200" dirty="0">
                <a:solidFill>
                  <a:prstClr val="black"/>
                </a:solidFill>
                <a:latin typeface="Cambria Math"/>
                <a:cs typeface="Cambria Math"/>
              </a:rPr>
              <a:t>𝐴</a:t>
            </a:r>
            <a:r>
              <a:rPr lang="zh-CN" altLang="en-US" kern="1200" spc="110" dirty="0">
                <a:solidFill>
                  <a:prstClr val="black"/>
                </a:solidFill>
                <a:latin typeface="Cambria Math"/>
                <a:cs typeface="Cambria Math"/>
              </a:rPr>
              <a:t> </a:t>
            </a:r>
            <a:r>
              <a:rPr lang="zh-CN" altLang="en-US" kern="1200" dirty="0">
                <a:solidFill>
                  <a:prstClr val="black"/>
                </a:solidFill>
                <a:latin typeface="Cambria Math"/>
                <a:cs typeface="Cambria Math"/>
              </a:rPr>
              <a:t>→</a:t>
            </a:r>
            <a:r>
              <a:rPr lang="zh-CN" altLang="en-US" kern="1200" spc="100" dirty="0">
                <a:solidFill>
                  <a:prstClr val="black"/>
                </a:solidFill>
                <a:latin typeface="Cambria Math"/>
                <a:cs typeface="Cambria Math"/>
              </a:rPr>
              <a:t> </a:t>
            </a:r>
            <a:r>
              <a:rPr lang="zh-CN" altLang="en-US" kern="1200" spc="-5" dirty="0">
                <a:solidFill>
                  <a:prstClr val="black"/>
                </a:solidFill>
                <a:latin typeface="Cambria Math"/>
                <a:cs typeface="Cambria Math"/>
              </a:rPr>
              <a:t>𝛼𝐵</a:t>
            </a:r>
            <a:r>
              <a:rPr lang="zh-CN" altLang="en-US" kern="1200" spc="90" dirty="0">
                <a:solidFill>
                  <a:prstClr val="black"/>
                </a:solidFill>
                <a:latin typeface="Cambria Math"/>
                <a:cs typeface="Cambria Math"/>
              </a:rPr>
              <a:t> </a:t>
            </a:r>
            <a:r>
              <a:rPr lang="zh-CN" altLang="en-US" dirty="0"/>
              <a:t>，或存在产生式</a:t>
            </a:r>
            <a:r>
              <a:rPr lang="zh-CN" altLang="en-US" kern="1200" dirty="0">
                <a:solidFill>
                  <a:prstClr val="black"/>
                </a:solidFill>
                <a:latin typeface="Cambria Math"/>
                <a:cs typeface="Cambria Math"/>
              </a:rPr>
              <a:t>𝐴</a:t>
            </a:r>
            <a:r>
              <a:rPr lang="zh-CN" altLang="en-US" kern="1200" spc="110" dirty="0">
                <a:solidFill>
                  <a:prstClr val="black"/>
                </a:solidFill>
                <a:latin typeface="Cambria Math"/>
                <a:cs typeface="Cambria Math"/>
              </a:rPr>
              <a:t> </a:t>
            </a:r>
            <a:r>
              <a:rPr lang="zh-CN" altLang="en-US" kern="1200" dirty="0">
                <a:solidFill>
                  <a:prstClr val="black"/>
                </a:solidFill>
                <a:latin typeface="Cambria Math"/>
                <a:cs typeface="Cambria Math"/>
              </a:rPr>
              <a:t>→</a:t>
            </a:r>
            <a:r>
              <a:rPr lang="zh-CN" altLang="en-US" kern="1200" spc="100" dirty="0">
                <a:solidFill>
                  <a:prstClr val="black"/>
                </a:solidFill>
                <a:latin typeface="Cambria Math"/>
                <a:cs typeface="Cambria Math"/>
              </a:rPr>
              <a:t> </a:t>
            </a:r>
            <a:r>
              <a:rPr lang="zh-CN" altLang="en-US" kern="1200" spc="-5" dirty="0">
                <a:solidFill>
                  <a:prstClr val="black"/>
                </a:solidFill>
                <a:latin typeface="Cambria Math"/>
                <a:cs typeface="Cambria Math"/>
              </a:rPr>
              <a:t>𝛼𝐵𝛽</a:t>
            </a:r>
            <a:r>
              <a:rPr lang="zh-CN" altLang="en-US" dirty="0"/>
              <a:t>且</a:t>
            </a:r>
            <a:r>
              <a:rPr lang="en-US" altLang="zh-CN" kern="1200" spc="5" dirty="0">
                <a:solidFill>
                  <a:prstClr val="black"/>
                </a:solidFill>
                <a:latin typeface="Palatino Linotype"/>
                <a:cs typeface="Palatino Linotype"/>
              </a:rPr>
              <a:t>FIRST(</a:t>
            </a:r>
            <a:r>
              <a:rPr lang="zh-CN" altLang="en-US" kern="1200" spc="5" dirty="0">
                <a:solidFill>
                  <a:prstClr val="black"/>
                </a:solidFill>
                <a:latin typeface="Cambria Math"/>
                <a:cs typeface="Cambria Math"/>
              </a:rPr>
              <a:t>𝛽</a:t>
            </a:r>
            <a:r>
              <a:rPr lang="en-US" altLang="zh-CN" kern="1200" spc="5" dirty="0">
                <a:solidFill>
                  <a:prstClr val="black"/>
                </a:solidFill>
                <a:latin typeface="Palatino Linotype"/>
                <a:cs typeface="Palatino Linotype"/>
              </a:rPr>
              <a:t>)</a:t>
            </a:r>
            <a:r>
              <a:rPr lang="zh-CN" altLang="en-US" dirty="0"/>
              <a:t>包含</a:t>
            </a:r>
            <a:r>
              <a:rPr lang="zh-CN" altLang="en-US" kern="1200" dirty="0">
                <a:solidFill>
                  <a:prstClr val="black"/>
                </a:solidFill>
                <a:latin typeface="Cambria Math"/>
                <a:cs typeface="Cambria Math"/>
              </a:rPr>
              <a:t>𝜖</a:t>
            </a:r>
            <a:r>
              <a:rPr lang="zh-CN" altLang="en-US" dirty="0"/>
              <a:t>，那么</a:t>
            </a:r>
            <a:r>
              <a:rPr lang="en-US" altLang="zh-CN" kern="1200" dirty="0">
                <a:solidFill>
                  <a:prstClr val="black"/>
                </a:solidFill>
                <a:latin typeface="Palatino Linotype"/>
                <a:cs typeface="Palatino Linotype"/>
              </a:rPr>
              <a:t>FOLLOW(</a:t>
            </a:r>
            <a:r>
              <a:rPr lang="zh-CN" altLang="en-US" kern="1200" dirty="0">
                <a:solidFill>
                  <a:prstClr val="black"/>
                </a:solidFill>
                <a:latin typeface="Cambria Math"/>
                <a:cs typeface="Cambria Math"/>
              </a:rPr>
              <a:t>𝐴</a:t>
            </a:r>
            <a:r>
              <a:rPr lang="en-US" altLang="zh-CN" kern="1200" dirty="0">
                <a:solidFill>
                  <a:prstClr val="black"/>
                </a:solidFill>
                <a:latin typeface="Palatino Linotype"/>
                <a:cs typeface="Palatino Linotype"/>
              </a:rPr>
              <a:t>)</a:t>
            </a:r>
            <a:r>
              <a:rPr lang="zh-CN" altLang="en-US" dirty="0"/>
              <a:t>中的所有符号都在</a:t>
            </a:r>
            <a:r>
              <a:rPr lang="en-US" altLang="zh-CN" kern="1200" dirty="0">
                <a:solidFill>
                  <a:prstClr val="black"/>
                </a:solidFill>
                <a:latin typeface="Palatino Linotype"/>
                <a:cs typeface="Palatino Linotype"/>
              </a:rPr>
              <a:t>FOLLOW(</a:t>
            </a:r>
            <a:r>
              <a:rPr lang="zh-CN" altLang="en-US" kern="1200" dirty="0">
                <a:solidFill>
                  <a:prstClr val="black"/>
                </a:solidFill>
                <a:latin typeface="Cambria Math"/>
                <a:cs typeface="Cambria Math"/>
              </a:rPr>
              <a:t>𝐵</a:t>
            </a:r>
            <a:r>
              <a:rPr lang="en-US" altLang="zh-CN" kern="1200" dirty="0">
                <a:solidFill>
                  <a:prstClr val="black"/>
                </a:solidFill>
                <a:latin typeface="Palatino Linotype"/>
                <a:cs typeface="Palatino Linotype"/>
              </a:rPr>
              <a:t>)</a:t>
            </a:r>
          </a:p>
          <a:p>
            <a:r>
              <a:rPr lang="zh-CN" altLang="en-US" dirty="0"/>
              <a:t>中</a:t>
            </a:r>
            <a:endParaRPr lang="en-US" altLang="zh-CN" dirty="0"/>
          </a:p>
          <a:p>
            <a:r>
              <a:rPr lang="zh-CN" altLang="en-US" kern="1200" dirty="0">
                <a:solidFill>
                  <a:prstClr val="black"/>
                </a:solidFill>
                <a:latin typeface="Cambria Math"/>
                <a:cs typeface="Cambria Math"/>
              </a:rPr>
              <a:t>𝜖不会在任何</a:t>
            </a:r>
            <a:r>
              <a:rPr lang="en-US" altLang="zh-CN" kern="1200" dirty="0">
                <a:solidFill>
                  <a:prstClr val="black"/>
                </a:solidFill>
                <a:latin typeface="Cambria Math"/>
                <a:cs typeface="Cambria Math"/>
              </a:rPr>
              <a:t>FOLLOW</a:t>
            </a:r>
            <a:r>
              <a:rPr lang="zh-CN" altLang="en-US" kern="1200" dirty="0">
                <a:solidFill>
                  <a:prstClr val="black"/>
                </a:solidFill>
                <a:latin typeface="Cambria Math"/>
                <a:cs typeface="Cambria Math"/>
              </a:rPr>
              <a:t>集中</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69</a:t>
            </a:fld>
            <a:endParaRPr lang="zh-CN" altLang="en-US"/>
          </a:p>
        </p:txBody>
      </p:sp>
    </p:spTree>
    <p:extLst>
      <p:ext uri="{BB962C8B-B14F-4D97-AF65-F5344CB8AC3E}">
        <p14:creationId xmlns:p14="http://schemas.microsoft.com/office/powerpoint/2010/main" val="32999111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FOLLOW</a:t>
            </a:r>
            <a:r>
              <a:rPr lang="zh-CN" altLang="en-US" dirty="0"/>
              <a:t>集示例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70</a:t>
            </a:fld>
            <a:endParaRPr lang="zh-CN" altLang="en-US"/>
          </a:p>
        </p:txBody>
      </p:sp>
    </p:spTree>
    <p:extLst>
      <p:ext uri="{BB962C8B-B14F-4D97-AF65-F5344CB8AC3E}">
        <p14:creationId xmlns:p14="http://schemas.microsoft.com/office/powerpoint/2010/main" val="10937925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我们可以为一类称为</a:t>
            </a:r>
            <a:r>
              <a:rPr lang="en-US" altLang="zh-CN" sz="1200" dirty="0">
                <a:latin typeface="黑体" panose="02010609060101010101" pitchFamily="49" charset="-122"/>
                <a:ea typeface="黑体" panose="02010609060101010101" pitchFamily="49" charset="-122"/>
              </a:rPr>
              <a:t>LL(1)</a:t>
            </a:r>
            <a:r>
              <a:rPr lang="zh-CN" altLang="en-US" sz="1200" dirty="0">
                <a:latin typeface="黑体" panose="02010609060101010101" pitchFamily="49" charset="-122"/>
                <a:ea typeface="黑体" panose="02010609060101010101" pitchFamily="49" charset="-122"/>
              </a:rPr>
              <a:t>的语法构造不需要回溯的递归下降语法分析器</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从左到右扫描输入</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产生最左推导</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在每一步使用一个前瞻输入符号来作出分析决策</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71</a:t>
            </a:fld>
            <a:endParaRPr lang="zh-CN" altLang="en-US"/>
          </a:p>
        </p:txBody>
      </p:sp>
    </p:spTree>
    <p:extLst>
      <p:ext uri="{BB962C8B-B14F-4D97-AF65-F5344CB8AC3E}">
        <p14:creationId xmlns:p14="http://schemas.microsoft.com/office/powerpoint/2010/main" val="322823704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语法𝑮 是</a:t>
            </a:r>
            <a:r>
              <a:rPr lang="en-US" altLang="zh-CN" dirty="0"/>
              <a:t>LL(1)</a:t>
            </a:r>
            <a:r>
              <a:rPr lang="zh-CN" altLang="en-US" dirty="0"/>
              <a:t>当且仅当对于任意两个不同的产生式𝐴 → 𝛼 </a:t>
            </a:r>
            <a:r>
              <a:rPr lang="en-US" altLang="zh-CN" dirty="0"/>
              <a:t>| </a:t>
            </a:r>
            <a:r>
              <a:rPr lang="zh-CN" altLang="en-US" dirty="0"/>
              <a:t>𝛽</a:t>
            </a:r>
            <a:r>
              <a:rPr lang="en-US" altLang="zh-CN" dirty="0"/>
              <a:t>, </a:t>
            </a:r>
            <a:r>
              <a:rPr lang="zh-CN" altLang="en-US" dirty="0"/>
              <a:t>以下条件成立：</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不存在终结符𝑎 使得𝛼 和𝛽 都可以推导以𝑎开头的字符串</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𝛼 和𝛽 中最多只有一个可以推导空字符串</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如果𝛽 </a:t>
            </a:r>
            <a:r>
              <a:rPr lang="zh-CN" altLang="en-US" kern="1200" dirty="0">
                <a:solidFill>
                  <a:prstClr val="black"/>
                </a:solidFill>
                <a:latin typeface="Cambria Math"/>
                <a:cs typeface="Cambria Math"/>
              </a:rPr>
              <a:t>⇒* </a:t>
            </a:r>
            <a:r>
              <a:rPr lang="zh-CN" altLang="en-US" dirty="0"/>
              <a:t>𝜖</a:t>
            </a:r>
            <a:r>
              <a:rPr lang="en-US" altLang="zh-CN" dirty="0"/>
              <a:t>, </a:t>
            </a:r>
            <a:r>
              <a:rPr lang="zh-CN" altLang="en-US" dirty="0"/>
              <a:t>那么𝛼 不能推导出任何以</a:t>
            </a:r>
            <a:r>
              <a:rPr lang="en-US" altLang="zh-CN" kern="1200" spc="-5" dirty="0">
                <a:solidFill>
                  <a:prstClr val="black"/>
                </a:solidFill>
                <a:latin typeface="Cambria Math"/>
                <a:cs typeface="Cambria Math"/>
              </a:rPr>
              <a:t>FOLLOW(</a:t>
            </a:r>
            <a:r>
              <a:rPr lang="zh-CN" altLang="en-US" kern="1200" spc="-5" dirty="0">
                <a:solidFill>
                  <a:prstClr val="black"/>
                </a:solidFill>
                <a:latin typeface="Cambria Math"/>
                <a:cs typeface="Cambria Math"/>
              </a:rPr>
              <a:t>𝐴</a:t>
            </a:r>
            <a:r>
              <a:rPr lang="en-US" altLang="zh-CN" kern="1200" spc="-5" dirty="0">
                <a:solidFill>
                  <a:prstClr val="black"/>
                </a:solidFill>
                <a:latin typeface="Cambria Math"/>
                <a:cs typeface="Cambria Math"/>
              </a:rPr>
              <a:t>)</a:t>
            </a:r>
            <a:r>
              <a:rPr lang="zh-CN" altLang="en-US" dirty="0"/>
              <a:t>中某个终结符开头的字符串，反之亦然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*这三个条件基本上排除了应用两个产生式的可能性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更正式地说：</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 </a:t>
            </a:r>
            <a:r>
              <a:rPr lang="en-US" altLang="zh-CN" sz="1200" kern="1200" spc="-15" dirty="0">
                <a:solidFill>
                  <a:srgbClr val="A6A6A6"/>
                </a:solidFill>
                <a:latin typeface="Cambria Math"/>
                <a:cs typeface="Cambria Math"/>
              </a:rPr>
              <a:t>FIRST</a:t>
            </a:r>
            <a:r>
              <a:rPr lang="en-US" altLang="zh-CN" sz="1200" kern="1200" spc="340" dirty="0">
                <a:solidFill>
                  <a:srgbClr val="A6A6A6"/>
                </a:solidFill>
                <a:latin typeface="Cambria Math"/>
                <a:cs typeface="Cambria Math"/>
              </a:rPr>
              <a:t>(</a:t>
            </a:r>
            <a:r>
              <a:rPr lang="zh-CN" altLang="en-US" sz="1200" kern="1200" dirty="0">
                <a:solidFill>
                  <a:srgbClr val="A6A6A6"/>
                </a:solidFill>
                <a:latin typeface="Cambria Math"/>
                <a:cs typeface="Cambria Math"/>
              </a:rPr>
              <a:t>𝛼</a:t>
            </a:r>
            <a:r>
              <a:rPr lang="en-US" altLang="zh-CN" sz="1200" kern="1200" dirty="0">
                <a:solidFill>
                  <a:srgbClr val="A6A6A6"/>
                </a:solidFill>
                <a:latin typeface="Cambria Math"/>
                <a:cs typeface="Cambria Math"/>
              </a:rPr>
              <a:t>)</a:t>
            </a:r>
            <a:r>
              <a:rPr lang="zh-CN" altLang="en-US" sz="1200" kern="1200" dirty="0">
                <a:solidFill>
                  <a:srgbClr val="A6A6A6"/>
                </a:solidFill>
                <a:latin typeface="Cambria Math"/>
                <a:cs typeface="Cambria Math"/>
              </a:rPr>
              <a:t>∩</a:t>
            </a:r>
            <a:r>
              <a:rPr lang="en-US" altLang="zh-CN" sz="1200" kern="1200" spc="10" dirty="0">
                <a:solidFill>
                  <a:srgbClr val="A6A6A6"/>
                </a:solidFill>
                <a:latin typeface="Cambria Math"/>
                <a:cs typeface="Cambria Math"/>
              </a:rPr>
              <a:t> </a:t>
            </a:r>
            <a:r>
              <a:rPr lang="en-US" altLang="zh-CN" sz="1200" kern="1200" spc="-15" dirty="0">
                <a:solidFill>
                  <a:srgbClr val="A6A6A6"/>
                </a:solidFill>
                <a:latin typeface="Cambria Math"/>
                <a:cs typeface="Cambria Math"/>
              </a:rPr>
              <a:t>FIRST</a:t>
            </a:r>
            <a:r>
              <a:rPr lang="en-US" altLang="zh-CN" sz="1200" kern="1200" spc="340" dirty="0">
                <a:solidFill>
                  <a:srgbClr val="A6A6A6"/>
                </a:solidFill>
                <a:latin typeface="Cambria Math"/>
                <a:cs typeface="Cambria Math"/>
              </a:rPr>
              <a:t>(</a:t>
            </a:r>
            <a:r>
              <a:rPr lang="zh-CN" altLang="en-US" sz="1200" kern="1200" dirty="0">
                <a:solidFill>
                  <a:srgbClr val="A6A6A6"/>
                </a:solidFill>
                <a:latin typeface="Cambria Math"/>
                <a:cs typeface="Cambria Math"/>
              </a:rPr>
              <a:t>𝛽</a:t>
            </a:r>
            <a:r>
              <a:rPr lang="en-US" altLang="zh-CN" sz="1200" kern="1200" dirty="0">
                <a:solidFill>
                  <a:srgbClr val="A6A6A6"/>
                </a:solidFill>
                <a:latin typeface="Cambria Math"/>
                <a:cs typeface="Cambria Math"/>
              </a:rPr>
              <a:t>)=</a:t>
            </a:r>
            <a:r>
              <a:rPr lang="en-US" altLang="zh-CN" sz="1200" kern="1200" spc="90" dirty="0">
                <a:solidFill>
                  <a:srgbClr val="A6A6A6"/>
                </a:solidFill>
                <a:latin typeface="Cambria Math"/>
                <a:cs typeface="Cambria Math"/>
              </a:rPr>
              <a:t> </a:t>
            </a:r>
            <a:r>
              <a:rPr lang="en-US" altLang="zh-CN" sz="1200" kern="1200" dirty="0">
                <a:solidFill>
                  <a:srgbClr val="A6A6A6"/>
                </a:solidFill>
                <a:latin typeface="Cambria Math"/>
                <a:cs typeface="Cambria Math"/>
              </a:rPr>
              <a:t>∅</a:t>
            </a:r>
            <a:r>
              <a:rPr lang="en-US" altLang="zh-CN" sz="1200" kern="1200" spc="35" dirty="0">
                <a:solidFill>
                  <a:srgbClr val="A6A6A6"/>
                </a:solidFill>
                <a:latin typeface="Cambria Math"/>
                <a:cs typeface="Cambria Math"/>
              </a:rPr>
              <a:t> </a:t>
            </a:r>
            <a:r>
              <a:rPr lang="zh-CN" altLang="en-US" dirty="0"/>
              <a:t>（上述条件</a:t>
            </a:r>
            <a:r>
              <a:rPr lang="en-US" altLang="zh-CN" dirty="0"/>
              <a:t>1-2</a:t>
            </a:r>
            <a:r>
              <a:rPr lang="zh-CN" alt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如果</a:t>
            </a:r>
            <a:r>
              <a:rPr lang="zh-CN" altLang="en-US" sz="1200" kern="1200" dirty="0">
                <a:solidFill>
                  <a:srgbClr val="A6A6A6"/>
                </a:solidFill>
                <a:latin typeface="Cambria Math"/>
                <a:cs typeface="Cambria Math"/>
              </a:rPr>
              <a:t>𝜖</a:t>
            </a:r>
            <a:r>
              <a:rPr lang="en-US" altLang="zh-CN" sz="1200" kern="1200" spc="150" dirty="0">
                <a:solidFill>
                  <a:srgbClr val="A6A6A6"/>
                </a:solidFill>
                <a:latin typeface="Cambria Math"/>
                <a:cs typeface="Cambria Math"/>
              </a:rPr>
              <a:t> </a:t>
            </a:r>
            <a:r>
              <a:rPr lang="en-US" altLang="zh-CN" sz="1200" kern="1200" dirty="0">
                <a:solidFill>
                  <a:srgbClr val="A6A6A6"/>
                </a:solidFill>
                <a:latin typeface="Cambria Math"/>
                <a:cs typeface="Cambria Math"/>
              </a:rPr>
              <a:t>∈</a:t>
            </a:r>
            <a:r>
              <a:rPr lang="en-US" altLang="zh-CN" sz="1200" kern="1200" spc="105" dirty="0">
                <a:solidFill>
                  <a:srgbClr val="A6A6A6"/>
                </a:solidFill>
                <a:latin typeface="Cambria Math"/>
                <a:cs typeface="Cambria Math"/>
              </a:rPr>
              <a:t> </a:t>
            </a:r>
            <a:r>
              <a:rPr lang="en-US" altLang="zh-CN" sz="1200" kern="1200" spc="-15" dirty="0">
                <a:solidFill>
                  <a:srgbClr val="A6A6A6"/>
                </a:solidFill>
                <a:latin typeface="Cambria Math"/>
                <a:cs typeface="Cambria Math"/>
              </a:rPr>
              <a:t>FIRST</a:t>
            </a:r>
            <a:r>
              <a:rPr lang="en-US" altLang="zh-CN" sz="1200" kern="1200" spc="340" dirty="0">
                <a:solidFill>
                  <a:srgbClr val="A6A6A6"/>
                </a:solidFill>
                <a:latin typeface="Cambria Math"/>
                <a:cs typeface="Cambria Math"/>
              </a:rPr>
              <a:t>(</a:t>
            </a:r>
            <a:r>
              <a:rPr lang="zh-CN" altLang="en-US" sz="1200" kern="1200" dirty="0">
                <a:solidFill>
                  <a:srgbClr val="A6A6A6"/>
                </a:solidFill>
                <a:latin typeface="Cambria Math"/>
                <a:cs typeface="Cambria Math"/>
              </a:rPr>
              <a:t>𝛽</a:t>
            </a:r>
            <a:r>
              <a:rPr lang="en-US" altLang="zh-CN" sz="1200" kern="1200" spc="380" dirty="0">
                <a:solidFill>
                  <a:srgbClr val="A6A6A6"/>
                </a:solidFill>
                <a:latin typeface="Cambria Math"/>
                <a:cs typeface="Cambria Math"/>
              </a:rPr>
              <a:t>)</a:t>
            </a:r>
            <a:r>
              <a:rPr lang="zh-CN" altLang="en-US" sz="1200" kern="1200" spc="380" dirty="0">
                <a:solidFill>
                  <a:srgbClr val="A6A6A6"/>
                </a:solidFill>
                <a:latin typeface="Palatino Linotype"/>
                <a:cs typeface="Cambria Math"/>
              </a:rPr>
              <a:t>，那么</a:t>
            </a:r>
            <a:r>
              <a:rPr lang="en-US" altLang="zh-CN" sz="1200" kern="1200" spc="-5" dirty="0">
                <a:solidFill>
                  <a:srgbClr val="A6A6A6"/>
                </a:solidFill>
                <a:latin typeface="Palatino Linotype"/>
                <a:cs typeface="Palatino Linotype"/>
              </a:rPr>
              <a:t> </a:t>
            </a:r>
            <a:r>
              <a:rPr lang="en-US" altLang="zh-CN" sz="1200" kern="1200" spc="-15" dirty="0">
                <a:solidFill>
                  <a:srgbClr val="A6A6A6"/>
                </a:solidFill>
                <a:latin typeface="Cambria Math"/>
                <a:cs typeface="Cambria Math"/>
              </a:rPr>
              <a:t>FIRST</a:t>
            </a:r>
            <a:r>
              <a:rPr lang="en-US" altLang="zh-CN" sz="1200" kern="1200" spc="340" dirty="0">
                <a:solidFill>
                  <a:srgbClr val="A6A6A6"/>
                </a:solidFill>
                <a:latin typeface="Cambria Math"/>
                <a:cs typeface="Cambria Math"/>
              </a:rPr>
              <a:t>(</a:t>
            </a:r>
            <a:r>
              <a:rPr lang="zh-CN" altLang="en-US" sz="1200" kern="1200" dirty="0">
                <a:solidFill>
                  <a:srgbClr val="A6A6A6"/>
                </a:solidFill>
                <a:latin typeface="Cambria Math"/>
                <a:cs typeface="Cambria Math"/>
              </a:rPr>
              <a:t>𝛼</a:t>
            </a:r>
            <a:r>
              <a:rPr lang="en-US" altLang="zh-CN" sz="1200" kern="1200" dirty="0">
                <a:solidFill>
                  <a:srgbClr val="A6A6A6"/>
                </a:solidFill>
                <a:latin typeface="Cambria Math"/>
                <a:cs typeface="Cambria Math"/>
              </a:rPr>
              <a:t>)</a:t>
            </a:r>
            <a:r>
              <a:rPr lang="zh-CN" altLang="en-US" sz="1200" kern="1200" dirty="0">
                <a:solidFill>
                  <a:srgbClr val="A6A6A6"/>
                </a:solidFill>
                <a:latin typeface="Cambria Math"/>
                <a:cs typeface="Cambria Math"/>
              </a:rPr>
              <a:t>∩</a:t>
            </a:r>
            <a:r>
              <a:rPr lang="en-US" altLang="zh-CN" sz="1200" kern="1200" spc="10" dirty="0">
                <a:solidFill>
                  <a:srgbClr val="A6A6A6"/>
                </a:solidFill>
                <a:latin typeface="Cambria Math"/>
                <a:cs typeface="Cambria Math"/>
              </a:rPr>
              <a:t> </a:t>
            </a:r>
            <a:r>
              <a:rPr lang="en-US" altLang="zh-CN" sz="1200" kern="1200" spc="-10" dirty="0">
                <a:solidFill>
                  <a:srgbClr val="A6A6A6"/>
                </a:solidFill>
                <a:latin typeface="Cambria Math"/>
                <a:cs typeface="Cambria Math"/>
              </a:rPr>
              <a:t>FOLLOW</a:t>
            </a:r>
            <a:r>
              <a:rPr lang="en-US" altLang="zh-CN" sz="1200" kern="1200" spc="330" dirty="0">
                <a:solidFill>
                  <a:srgbClr val="A6A6A6"/>
                </a:solidFill>
                <a:latin typeface="Cambria Math"/>
                <a:cs typeface="Cambria Math"/>
              </a:rPr>
              <a:t>(</a:t>
            </a:r>
            <a:r>
              <a:rPr lang="zh-CN" altLang="en-US" sz="1200" kern="1200" dirty="0">
                <a:solidFill>
                  <a:srgbClr val="A6A6A6"/>
                </a:solidFill>
                <a:latin typeface="Cambria Math"/>
                <a:cs typeface="Cambria Math"/>
              </a:rPr>
              <a:t>𝐴</a:t>
            </a:r>
            <a:r>
              <a:rPr lang="en-US" altLang="zh-CN" sz="1200" kern="1200" dirty="0">
                <a:solidFill>
                  <a:srgbClr val="A6A6A6"/>
                </a:solidFill>
                <a:latin typeface="Cambria Math"/>
                <a:cs typeface="Cambria Math"/>
              </a:rPr>
              <a:t>)=</a:t>
            </a:r>
            <a:r>
              <a:rPr lang="en-US" altLang="zh-CN" sz="1200" kern="1200" spc="80" dirty="0">
                <a:solidFill>
                  <a:srgbClr val="A6A6A6"/>
                </a:solidFill>
                <a:latin typeface="Cambria Math"/>
                <a:cs typeface="Cambria Math"/>
              </a:rPr>
              <a:t> </a:t>
            </a:r>
            <a:r>
              <a:rPr lang="en-US" altLang="zh-CN" sz="1200" kern="1200" dirty="0">
                <a:solidFill>
                  <a:srgbClr val="A6A6A6"/>
                </a:solidFill>
                <a:latin typeface="Cambria Math"/>
                <a:cs typeface="Cambria Math"/>
              </a:rPr>
              <a:t>∅</a:t>
            </a:r>
            <a:r>
              <a:rPr lang="en-US" altLang="zh-CN" sz="1200" kern="1200" spc="35" dirty="0">
                <a:solidFill>
                  <a:srgbClr val="A6A6A6"/>
                </a:solidFill>
                <a:latin typeface="Cambria Math"/>
                <a:cs typeface="Cambria Math"/>
              </a:rPr>
              <a:t> </a:t>
            </a:r>
            <a:r>
              <a:rPr lang="zh-CN" altLang="en-US" dirty="0"/>
              <a:t>，反之亦然</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72</a:t>
            </a:fld>
            <a:endParaRPr lang="zh-CN" altLang="en-US"/>
          </a:p>
        </p:txBody>
      </p:sp>
    </p:spTree>
    <p:extLst>
      <p:ext uri="{BB962C8B-B14F-4D97-AF65-F5344CB8AC3E}">
        <p14:creationId xmlns:p14="http://schemas.microsoft.com/office/powerpoint/2010/main" val="20801139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对于</a:t>
            </a:r>
            <a:r>
              <a:rPr lang="en-US" altLang="zh-CN" sz="1800" dirty="0">
                <a:latin typeface="黑体" panose="02010609060101010101" pitchFamily="49" charset="-122"/>
                <a:ea typeface="黑体" panose="02010609060101010101" pitchFamily="49" charset="-122"/>
              </a:rPr>
              <a:t>LL(1)</a:t>
            </a:r>
            <a:r>
              <a:rPr lang="zh-CN" altLang="en-US" sz="1800" dirty="0">
                <a:latin typeface="黑体" panose="02010609060101010101" pitchFamily="49" charset="-122"/>
                <a:ea typeface="黑体" panose="02010609060101010101" pitchFamily="49" charset="-122"/>
              </a:rPr>
              <a:t>语法，在递归下降语法分析过程中，只需查看当前输入符号，就可以选择应用于非终结符的正确产生式：</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给定文法</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给出输入的分析步骤：</a:t>
            </a:r>
            <a:endParaRPr lang="en-US" altLang="zh-CN" sz="1800" dirty="0">
              <a:latin typeface="黑体" panose="02010609060101010101" pitchFamily="49" charset="-122"/>
              <a:ea typeface="黑体" panose="02010609060101010101" pitchFamily="49" charset="-122"/>
            </a:endParaRPr>
          </a:p>
          <a:p>
            <a:r>
              <a:rPr lang="en-US" altLang="zh-CN" dirty="0"/>
              <a:t>1.</a:t>
            </a:r>
            <a:r>
              <a:rPr lang="zh-CN" altLang="en-US" dirty="0"/>
              <a:t>用产生式</a:t>
            </a:r>
            <a:r>
              <a:rPr lang="zh-CN" altLang="en-US" sz="1200" kern="1200" spc="-5" dirty="0">
                <a:solidFill>
                  <a:prstClr val="black"/>
                </a:solidFill>
                <a:latin typeface="Wingdings"/>
              </a:rPr>
              <a:t>①</a:t>
            </a:r>
            <a:r>
              <a:rPr lang="zh-CN" altLang="en-US" dirty="0"/>
              <a:t>重写开始符号</a:t>
            </a:r>
            <a:r>
              <a:rPr lang="en-US" altLang="zh-CN" dirty="0" err="1"/>
              <a:t>stmt</a:t>
            </a:r>
            <a:r>
              <a:rPr lang="zh-CN" altLang="en-US" dirty="0"/>
              <a:t>：</a:t>
            </a:r>
            <a:r>
              <a:rPr lang="zh-CN" altLang="en-US" sz="1200" kern="1200" spc="-5" dirty="0">
                <a:solidFill>
                  <a:prstClr val="black"/>
                </a:solidFill>
                <a:latin typeface="Wingdings"/>
              </a:rPr>
              <a:t> </a:t>
            </a:r>
            <a:r>
              <a:rPr lang="zh-CN" altLang="en-US" sz="1200" kern="1200" spc="-5" dirty="0">
                <a:solidFill>
                  <a:srgbClr val="FF0000"/>
                </a:solidFill>
                <a:latin typeface="Cambria Math"/>
                <a:cs typeface="Cambria Math"/>
              </a:rPr>
              <a:t>𝐢𝐟</a:t>
            </a:r>
            <a:r>
              <a:rPr lang="en-US" altLang="zh-CN" sz="1200" kern="1200" spc="310" dirty="0">
                <a:solidFill>
                  <a:srgbClr val="FF0000"/>
                </a:solidFill>
                <a:latin typeface="Cambria Math"/>
                <a:cs typeface="Cambria Math"/>
              </a:rPr>
              <a:t>(</a:t>
            </a:r>
            <a:r>
              <a:rPr lang="zh-CN" altLang="en-US" sz="1200" kern="1200" spc="-5" dirty="0">
                <a:solidFill>
                  <a:srgbClr val="FF0000"/>
                </a:solidFill>
                <a:latin typeface="Cambria Math"/>
                <a:cs typeface="Cambria Math"/>
              </a:rPr>
              <a:t>𝐞𝐱𝐩𝐫</a:t>
            </a:r>
            <a:r>
              <a:rPr lang="en-US" altLang="zh-CN" sz="1200" kern="1200" spc="-5" dirty="0">
                <a:solidFill>
                  <a:srgbClr val="FF0000"/>
                </a:solidFill>
                <a:latin typeface="Cambria Math"/>
                <a:cs typeface="Cambria Math"/>
              </a:rPr>
              <a:t>)</a:t>
            </a:r>
            <a:r>
              <a:rPr lang="zh-CN" altLang="en-US" sz="1200" kern="1200" spc="-5" dirty="0">
                <a:solidFill>
                  <a:srgbClr val="FF0000"/>
                </a:solidFill>
                <a:latin typeface="Cambria Math"/>
                <a:cs typeface="Cambria Math"/>
              </a:rPr>
              <a:t>𝑠𝑡𝑚𝑡</a:t>
            </a:r>
            <a:r>
              <a:rPr lang="zh-CN" altLang="en-US" sz="1200" kern="1200" spc="20" dirty="0">
                <a:solidFill>
                  <a:srgbClr val="FF0000"/>
                </a:solidFill>
                <a:latin typeface="Cambria Math"/>
                <a:cs typeface="Cambria Math"/>
              </a:rPr>
              <a:t> </a:t>
            </a:r>
            <a:r>
              <a:rPr lang="zh-CN" altLang="en-US" sz="1200" kern="1200" spc="-5" dirty="0">
                <a:solidFill>
                  <a:srgbClr val="FF0000"/>
                </a:solidFill>
                <a:latin typeface="Cambria Math"/>
                <a:cs typeface="Cambria Math"/>
              </a:rPr>
              <a:t>𝐞𝐥𝐬𝐞</a:t>
            </a:r>
            <a:r>
              <a:rPr lang="zh-CN" altLang="en-US" sz="1200" kern="1200" spc="-15" dirty="0">
                <a:solidFill>
                  <a:srgbClr val="FF0000"/>
                </a:solidFill>
                <a:latin typeface="Cambria Math"/>
                <a:cs typeface="Cambria Math"/>
              </a:rPr>
              <a:t> </a:t>
            </a:r>
            <a:r>
              <a:rPr lang="zh-CN" altLang="en-US" sz="1200" kern="1200" spc="-5" dirty="0">
                <a:solidFill>
                  <a:srgbClr val="FF0000"/>
                </a:solidFill>
                <a:latin typeface="Cambria Math"/>
                <a:cs typeface="Cambria Math"/>
              </a:rPr>
              <a:t>𝑠𝑡𝑚𝑡</a:t>
            </a:r>
            <a:endParaRPr lang="en-US" altLang="zh-CN" dirty="0"/>
          </a:p>
          <a:p>
            <a:r>
              <a:rPr lang="en-US" altLang="zh-CN" dirty="0"/>
              <a:t>2.</a:t>
            </a:r>
            <a:r>
              <a:rPr lang="zh-CN" altLang="en-US" dirty="0"/>
              <a:t>用产生式②重写最左边的</a:t>
            </a:r>
            <a:r>
              <a:rPr lang="en-US" altLang="zh-CN" dirty="0" err="1"/>
              <a:t>stmt</a:t>
            </a:r>
            <a:r>
              <a:rPr lang="zh-CN" altLang="en-US" dirty="0"/>
              <a:t>：</a:t>
            </a:r>
            <a:r>
              <a:rPr lang="zh-CN" altLang="en-US" sz="1200" kern="1200" spc="-5" dirty="0">
                <a:solidFill>
                  <a:srgbClr val="FF0000"/>
                </a:solidFill>
                <a:latin typeface="Cambria Math"/>
                <a:cs typeface="Cambria Math"/>
              </a:rPr>
              <a:t>𝐢𝐟</a:t>
            </a:r>
            <a:r>
              <a:rPr lang="en-US" altLang="zh-CN" sz="1200" kern="1200" spc="310" dirty="0">
                <a:solidFill>
                  <a:srgbClr val="FF0000"/>
                </a:solidFill>
                <a:latin typeface="Cambria Math"/>
                <a:cs typeface="Cambria Math"/>
              </a:rPr>
              <a:t>(</a:t>
            </a:r>
            <a:r>
              <a:rPr lang="zh-CN" altLang="en-US" sz="1200" kern="1200" spc="-5" dirty="0">
                <a:solidFill>
                  <a:srgbClr val="FF0000"/>
                </a:solidFill>
                <a:latin typeface="Cambria Math"/>
                <a:cs typeface="Cambria Math"/>
              </a:rPr>
              <a:t>𝐞𝐱𝐩𝐫</a:t>
            </a:r>
            <a:r>
              <a:rPr lang="en-US" altLang="zh-CN" sz="1200" kern="1200" spc="-5" dirty="0">
                <a:solidFill>
                  <a:srgbClr val="FF0000"/>
                </a:solidFill>
                <a:latin typeface="Cambria Math"/>
                <a:cs typeface="Cambria Math"/>
              </a:rPr>
              <a:t>)</a:t>
            </a:r>
            <a:r>
              <a:rPr lang="zh-CN" altLang="en-US" sz="1200" kern="1200" dirty="0">
                <a:solidFill>
                  <a:prstClr val="black"/>
                </a:solidFill>
                <a:latin typeface="Cambria Math"/>
                <a:cs typeface="Cambria Math"/>
              </a:rPr>
              <a:t>𝐰𝐡𝐢𝐥𝐞</a:t>
            </a:r>
            <a:r>
              <a:rPr lang="en-US" altLang="zh-CN" sz="1200" kern="1200" spc="395" dirty="0">
                <a:solidFill>
                  <a:prstClr val="black"/>
                </a:solidFill>
                <a:latin typeface="Cambria Math"/>
                <a:cs typeface="Cambria Math"/>
              </a:rPr>
              <a:t>(</a:t>
            </a:r>
            <a:r>
              <a:rPr lang="zh-CN" altLang="en-US" sz="1200" kern="1200" spc="-5" dirty="0">
                <a:solidFill>
                  <a:prstClr val="black"/>
                </a:solidFill>
                <a:latin typeface="Cambria Math"/>
                <a:cs typeface="Cambria Math"/>
              </a:rPr>
              <a:t>𝐞𝐱𝐩𝐫</a:t>
            </a:r>
            <a:r>
              <a:rPr lang="en-US" altLang="zh-CN" sz="1200" kern="1200" spc="-5" dirty="0">
                <a:solidFill>
                  <a:prstClr val="black"/>
                </a:solidFill>
                <a:latin typeface="Cambria Math"/>
                <a:cs typeface="Cambria Math"/>
              </a:rPr>
              <a:t>)</a:t>
            </a:r>
            <a:r>
              <a:rPr lang="zh-CN" altLang="en-US" sz="1200" kern="1200" spc="-5" dirty="0">
                <a:solidFill>
                  <a:prstClr val="black"/>
                </a:solidFill>
                <a:latin typeface="Cambria Math"/>
                <a:cs typeface="Cambria Math"/>
              </a:rPr>
              <a:t> 𝑠𝑡𝑚𝑡</a:t>
            </a:r>
            <a:r>
              <a:rPr lang="zh-CN" altLang="en-US" sz="1200" kern="1200" dirty="0">
                <a:solidFill>
                  <a:prstClr val="black"/>
                </a:solidFill>
                <a:latin typeface="Cambria Math"/>
                <a:cs typeface="Cambria Math"/>
              </a:rPr>
              <a:t> </a:t>
            </a:r>
            <a:r>
              <a:rPr lang="zh-CN" altLang="en-US" sz="1200" kern="1200" spc="20" dirty="0">
                <a:solidFill>
                  <a:srgbClr val="FF0000"/>
                </a:solidFill>
                <a:latin typeface="Cambria Math"/>
                <a:cs typeface="Cambria Math"/>
              </a:rPr>
              <a:t> </a:t>
            </a:r>
            <a:r>
              <a:rPr lang="zh-CN" altLang="en-US" sz="1200" kern="1200" spc="-5" dirty="0">
                <a:solidFill>
                  <a:srgbClr val="FF0000"/>
                </a:solidFill>
                <a:latin typeface="Cambria Math"/>
                <a:cs typeface="Cambria Math"/>
              </a:rPr>
              <a:t>𝐞𝐥𝐬𝐞</a:t>
            </a:r>
            <a:r>
              <a:rPr lang="zh-CN" altLang="en-US" sz="1200" kern="1200" spc="-15" dirty="0">
                <a:solidFill>
                  <a:srgbClr val="FF0000"/>
                </a:solidFill>
                <a:latin typeface="Cambria Math"/>
                <a:cs typeface="Cambria Math"/>
              </a:rPr>
              <a:t> </a:t>
            </a:r>
            <a:r>
              <a:rPr lang="zh-CN" altLang="en-US" sz="1200" kern="1200" spc="-5" dirty="0">
                <a:solidFill>
                  <a:srgbClr val="FF0000"/>
                </a:solidFill>
                <a:latin typeface="Cambria Math"/>
                <a:cs typeface="Cambria Math"/>
              </a:rPr>
              <a:t>𝑠𝑡𝑚𝑡</a:t>
            </a:r>
            <a:endParaRPr lang="en-US" altLang="zh-CN" sz="1200" kern="1200" spc="-5" dirty="0">
              <a:solidFill>
                <a:srgbClr val="FF0000"/>
              </a:solidFill>
              <a:latin typeface="Cambria Math"/>
              <a:cs typeface="Cambria Math"/>
            </a:endParaRPr>
          </a:p>
          <a:p>
            <a:pPr marL="27432" algn="l" fontAlgn="t">
              <a:spcBef>
                <a:spcPts val="740"/>
              </a:spcBef>
              <a:spcAft>
                <a:spcPts val="0"/>
              </a:spcAft>
              <a:tabLst>
                <a:tab pos="374015" algn="l"/>
              </a:tabLst>
            </a:pPr>
            <a:r>
              <a:rPr lang="en-US" altLang="zh-CN" dirty="0"/>
              <a:t>3.</a:t>
            </a:r>
            <a:r>
              <a:rPr lang="zh-CN" altLang="en-US" dirty="0"/>
              <a:t>用产生式③重写最左边的</a:t>
            </a:r>
            <a:r>
              <a:rPr lang="en-US" altLang="zh-CN" dirty="0" err="1"/>
              <a:t>stmt</a:t>
            </a:r>
            <a:r>
              <a:rPr lang="zh-CN" altLang="en-US" dirty="0"/>
              <a:t>：</a:t>
            </a:r>
            <a:r>
              <a:rPr lang="zh-CN" altLang="zh-CN" sz="18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𝐢𝐟</a:t>
            </a:r>
            <a:r>
              <a:rPr lang="en-US" altLang="zh-CN" sz="1800" b="0" i="0" u="none" strike="noStrike" spc="300"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zh-CN" altLang="zh-CN" sz="18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𝐞𝐱𝐩𝐫</a:t>
            </a:r>
            <a:r>
              <a:rPr lang="en-US" altLang="zh-CN" sz="18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zh-CN" altLang="zh-CN" sz="18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𝐰𝐡𝐢𝐥𝐞</a:t>
            </a:r>
            <a:r>
              <a:rPr lang="en-US" altLang="zh-CN" sz="1800" b="0" i="0" u="none" strike="noStrike" spc="260"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zh-CN" altLang="zh-CN" sz="18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𝐞𝐱𝐩𝐫</a:t>
            </a:r>
            <a:r>
              <a:rPr lang="en-US" altLang="zh-CN" sz="1800" b="0" i="0" u="none" strike="noStrike" spc="-5" dirty="0">
                <a:solidFill>
                  <a:schemeClr val="tx1"/>
                </a:solidFill>
                <a:effectLst/>
                <a:latin typeface="Arial" panose="020B0604020202020204" pitchFamily="34" charset="0"/>
                <a:ea typeface="+mn-ea"/>
                <a:cs typeface="+mn-cs"/>
              </a:rPr>
              <a:t>) </a:t>
            </a:r>
            <a:r>
              <a:rPr lang="zh-CN" altLang="zh-CN" sz="1800" b="0" i="0" u="none" strike="noStrike" dirty="0">
                <a:solidFill>
                  <a:srgbClr val="FF0000"/>
                </a:solidFill>
                <a:effectLst/>
                <a:latin typeface="Cambria Math" panose="02040503050406030204" pitchFamily="18" charset="0"/>
                <a:ea typeface="Cambria Math" panose="02040503050406030204" pitchFamily="18" charset="0"/>
                <a:cs typeface="Cambria Math" panose="02040503050406030204" pitchFamily="18" charset="0"/>
              </a:rPr>
              <a:t>𝐚</a:t>
            </a:r>
            <a:r>
              <a:rPr lang="zh-CN" altLang="zh-CN" sz="1800" b="0" i="0" u="none" strike="noStrike" spc="-30" dirty="0">
                <a:solidFill>
                  <a:srgbClr val="FF0000"/>
                </a:solidFill>
                <a:effectLst/>
                <a:latin typeface="Cambria Math" panose="02040503050406030204" pitchFamily="18" charset="0"/>
                <a:ea typeface="Cambria Math" panose="02040503050406030204" pitchFamily="18" charset="0"/>
                <a:cs typeface="Cambria Math" panose="02040503050406030204" pitchFamily="18" charset="0"/>
              </a:rPr>
              <a:t> </a:t>
            </a:r>
            <a:r>
              <a:rPr lang="zh-CN" altLang="zh-CN" sz="18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𝐞𝐥𝐬𝐞</a:t>
            </a:r>
            <a:r>
              <a:rPr lang="zh-CN" altLang="zh-CN" sz="1800" b="0" i="0" u="none" strike="noStrike" spc="-20"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 </a:t>
            </a:r>
            <a:r>
              <a:rPr lang="zh-CN" altLang="zh-CN" sz="18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𝑠𝑡𝑚𝑡</a:t>
            </a:r>
            <a:endParaRPr lang="zh-CN" altLang="zh-CN" sz="1800" b="0" i="0" u="none" strike="noStrike" dirty="0">
              <a:effectLst/>
              <a:latin typeface="Arial" panose="020B0604020202020204" pitchFamily="34" charset="0"/>
            </a:endParaRPr>
          </a:p>
          <a:p>
            <a:pPr marL="27432" algn="l" fontAlgn="t">
              <a:spcBef>
                <a:spcPts val="740"/>
              </a:spcBef>
              <a:spcAft>
                <a:spcPts val="0"/>
              </a:spcAft>
              <a:tabLst>
                <a:tab pos="374015" algn="l"/>
              </a:tabLst>
            </a:pPr>
            <a:r>
              <a:rPr lang="en-US" altLang="zh-CN" dirty="0"/>
              <a:t>4.</a:t>
            </a:r>
            <a:r>
              <a:rPr lang="zh-CN" altLang="en-US" dirty="0"/>
              <a:t>用产生式③重写最左边的</a:t>
            </a:r>
            <a:r>
              <a:rPr lang="en-US" altLang="zh-CN" dirty="0" err="1"/>
              <a:t>stmt</a:t>
            </a:r>
            <a:r>
              <a:rPr lang="zh-CN" altLang="en-US" dirty="0"/>
              <a:t>：</a:t>
            </a:r>
            <a:r>
              <a:rPr lang="zh-CN" altLang="zh-CN" sz="12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𝐢𝐟</a:t>
            </a:r>
            <a:r>
              <a:rPr lang="en-US" altLang="zh-CN" sz="1200" b="0" i="0" u="none" strike="noStrike" spc="300"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zh-CN" altLang="zh-CN" sz="12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𝐞𝐱𝐩𝐫</a:t>
            </a:r>
            <a:r>
              <a:rPr lang="en-US" altLang="zh-CN" sz="12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zh-CN" altLang="zh-CN" sz="12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𝐰𝐡𝐢𝐥𝐞</a:t>
            </a:r>
            <a:r>
              <a:rPr lang="en-US" altLang="zh-CN" sz="1200" b="0" i="0" u="none" strike="noStrike" spc="260"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zh-CN" altLang="zh-CN" sz="12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𝐞𝐱𝐩𝐫</a:t>
            </a:r>
            <a:r>
              <a:rPr lang="en-US" altLang="zh-CN" sz="1200" b="0" i="0" u="none" strike="noStrike" spc="-5" dirty="0">
                <a:solidFill>
                  <a:schemeClr val="tx1"/>
                </a:solidFill>
                <a:effectLst/>
                <a:latin typeface="Arial" panose="020B0604020202020204" pitchFamily="34" charset="0"/>
                <a:ea typeface="+mn-ea"/>
                <a:cs typeface="+mn-cs"/>
              </a:rPr>
              <a:t>) </a:t>
            </a:r>
            <a:r>
              <a:rPr lang="zh-CN" altLang="zh-CN" sz="1200" b="0" i="0" u="none" strike="noStrike" dirty="0">
                <a:solidFill>
                  <a:srgbClr val="FF0000"/>
                </a:solidFill>
                <a:effectLst/>
                <a:latin typeface="Cambria Math" panose="02040503050406030204" pitchFamily="18" charset="0"/>
                <a:ea typeface="Cambria Math" panose="02040503050406030204" pitchFamily="18" charset="0"/>
                <a:cs typeface="Cambria Math" panose="02040503050406030204" pitchFamily="18" charset="0"/>
              </a:rPr>
              <a:t>𝐚</a:t>
            </a:r>
            <a:r>
              <a:rPr lang="zh-CN" altLang="zh-CN" sz="1200" b="0" i="0" u="none" strike="noStrike" spc="-30" dirty="0">
                <a:solidFill>
                  <a:srgbClr val="FF0000"/>
                </a:solidFill>
                <a:effectLst/>
                <a:latin typeface="Cambria Math" panose="02040503050406030204" pitchFamily="18" charset="0"/>
                <a:ea typeface="Cambria Math" panose="02040503050406030204" pitchFamily="18" charset="0"/>
                <a:cs typeface="Cambria Math" panose="02040503050406030204" pitchFamily="18" charset="0"/>
              </a:rPr>
              <a:t> </a:t>
            </a:r>
            <a:r>
              <a:rPr lang="zh-CN" altLang="zh-CN" sz="1200" b="0" i="0" u="none" strike="noStrike" spc="-5"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𝐞𝐥𝐬𝐞</a:t>
            </a:r>
            <a:r>
              <a:rPr lang="zh-CN" altLang="zh-CN" sz="1200" b="0" i="0" u="none" strike="noStrike" spc="-20"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 </a:t>
            </a:r>
            <a:r>
              <a:rPr lang="en-US" altLang="zh-CN" sz="1200" b="1" i="0" u="none" strike="noStrike" spc="-20"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a:t>
            </a:r>
            <a:endParaRPr lang="zh-CN" altLang="zh-CN" sz="1200" b="0" i="0" u="none" strike="noStrike" dirty="0">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73</a:t>
            </a:fld>
            <a:endParaRPr lang="zh-CN" altLang="en-US"/>
          </a:p>
        </p:txBody>
      </p:sp>
    </p:spTree>
    <p:extLst>
      <p:ext uri="{BB962C8B-B14F-4D97-AF65-F5344CB8AC3E}">
        <p14:creationId xmlns:p14="http://schemas.microsoft.com/office/powerpoint/2010/main" val="22534390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递归下降语法分析器（或</a:t>
            </a:r>
            <a:r>
              <a:rPr lang="en-US" altLang="zh-CN" sz="1200" dirty="0">
                <a:latin typeface="黑体" panose="02010609060101010101" pitchFamily="49" charset="-122"/>
                <a:ea typeface="黑体" panose="02010609060101010101" pitchFamily="49" charset="-122"/>
              </a:rPr>
              <a:t>LL</a:t>
            </a:r>
            <a:r>
              <a:rPr lang="zh-CN" altLang="en-US" sz="1200" dirty="0">
                <a:latin typeface="黑体" panose="02010609060101010101" pitchFamily="49" charset="-122"/>
                <a:ea typeface="黑体" panose="02010609060101010101" pitchFamily="49" charset="-122"/>
              </a:rPr>
              <a:t>分析器）是基于表的解析器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预测分析表是一个二维数组，用于确定解析器在看到非终结符</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和符号</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时应该选择哪个产生式</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LL(1)</a:t>
            </a:r>
            <a:r>
              <a:rPr lang="zh-CN" altLang="en-US" sz="1200" dirty="0">
                <a:latin typeface="黑体" panose="02010609060101010101" pitchFamily="49" charset="-122"/>
                <a:ea typeface="黑体" panose="02010609060101010101" pitchFamily="49" charset="-122"/>
              </a:rPr>
              <a:t>解析器的预测分析表没有包含多个产生式的条目</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74</a:t>
            </a:fld>
            <a:endParaRPr lang="zh-CN" altLang="en-US"/>
          </a:p>
        </p:txBody>
      </p:sp>
    </p:spTree>
    <p:extLst>
      <p:ext uri="{BB962C8B-B14F-4D97-AF65-F5344CB8AC3E}">
        <p14:creationId xmlns:p14="http://schemas.microsoft.com/office/powerpoint/2010/main" val="273387970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黑体" panose="02010609060101010101" pitchFamily="49" charset="-122"/>
                <a:ea typeface="黑体" panose="02010609060101010101" pitchFamily="49" charset="-122"/>
              </a:rPr>
              <a:t>构造预测分析表</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以下算法可以应用于任何</a:t>
            </a:r>
            <a:r>
              <a:rPr lang="en-US" altLang="zh-CN" sz="1200" dirty="0">
                <a:latin typeface="黑体" panose="02010609060101010101" pitchFamily="49" charset="-122"/>
                <a:ea typeface="黑体" panose="02010609060101010101" pitchFamily="49" charset="-122"/>
              </a:rPr>
              <a:t>CFG</a:t>
            </a:r>
          </a:p>
          <a:p>
            <a:r>
              <a:rPr lang="zh-CN" altLang="en-US" sz="1200" dirty="0">
                <a:latin typeface="黑体" panose="02010609060101010101" pitchFamily="49" charset="-122"/>
                <a:ea typeface="黑体" panose="02010609060101010101" pitchFamily="49" charset="-122"/>
              </a:rPr>
              <a:t>输入：文法</a:t>
            </a:r>
            <a:r>
              <a:rPr lang="en-US" altLang="zh-CN" sz="1200" dirty="0">
                <a:latin typeface="黑体" panose="02010609060101010101" pitchFamily="49" charset="-122"/>
                <a:ea typeface="黑体" panose="02010609060101010101" pitchFamily="49" charset="-122"/>
              </a:rPr>
              <a:t>G</a:t>
            </a:r>
          </a:p>
          <a:p>
            <a:r>
              <a:rPr lang="zh-CN" altLang="en-US" sz="1200" dirty="0">
                <a:latin typeface="黑体" panose="02010609060101010101" pitchFamily="49" charset="-122"/>
                <a:ea typeface="黑体" panose="02010609060101010101" pitchFamily="49" charset="-122"/>
              </a:rPr>
              <a:t>输出：预测分析表</a:t>
            </a:r>
            <a:r>
              <a:rPr lang="en-US" altLang="zh-CN" sz="1200" dirty="0">
                <a:latin typeface="黑体" panose="02010609060101010101" pitchFamily="49" charset="-122"/>
                <a:ea typeface="黑体" panose="02010609060101010101" pitchFamily="49" charset="-122"/>
              </a:rPr>
              <a:t>M</a:t>
            </a:r>
          </a:p>
          <a:p>
            <a:r>
              <a:rPr lang="zh-CN" altLang="en-US" sz="1200" dirty="0">
                <a:latin typeface="黑体" panose="02010609060101010101" pitchFamily="49" charset="-122"/>
                <a:ea typeface="黑体" panose="02010609060101010101" pitchFamily="49" charset="-122"/>
              </a:rPr>
              <a:t>方法：对于每个产生式</a:t>
            </a:r>
            <a:r>
              <a:rPr lang="zh-CN" altLang="en-US" sz="1200" dirty="0">
                <a:latin typeface="Cambria Math"/>
                <a:cs typeface="Cambria Math"/>
              </a:rPr>
              <a:t>𝐴</a:t>
            </a:r>
            <a:r>
              <a:rPr lang="en-US" altLang="zh-CN" sz="1200" spc="125" dirty="0">
                <a:latin typeface="Cambria Math"/>
                <a:cs typeface="Cambria Math"/>
              </a:rPr>
              <a:t> </a:t>
            </a:r>
            <a:r>
              <a:rPr lang="en-US" altLang="zh-CN" sz="1200" dirty="0">
                <a:latin typeface="Cambria Math"/>
                <a:cs typeface="Cambria Math"/>
              </a:rPr>
              <a:t>→</a:t>
            </a:r>
            <a:r>
              <a:rPr lang="en-US" altLang="zh-CN" sz="1200" spc="110" dirty="0">
                <a:latin typeface="Cambria Math"/>
                <a:cs typeface="Cambria Math"/>
              </a:rPr>
              <a:t> </a:t>
            </a:r>
            <a:r>
              <a:rPr lang="zh-CN" altLang="en-US" sz="1200" dirty="0">
                <a:latin typeface="Cambria Math"/>
                <a:cs typeface="Cambria Math"/>
              </a:rPr>
              <a:t>𝛼</a:t>
            </a:r>
            <a:r>
              <a:rPr lang="en-US" altLang="zh-CN" sz="1200" spc="120" dirty="0">
                <a:latin typeface="Cambria Math"/>
                <a:cs typeface="Cambria Math"/>
              </a:rPr>
              <a:t> </a:t>
            </a:r>
            <a:r>
              <a:rPr lang="zh-CN" altLang="en-US" sz="1200" spc="120" dirty="0">
                <a:latin typeface="Cambria Math"/>
                <a:cs typeface="Cambria Math"/>
              </a:rPr>
              <a:t>，进行以下处理：</a:t>
            </a:r>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执行以下操作：</a:t>
            </a:r>
            <a:endParaRPr lang="en-US" altLang="zh-CN" sz="1200" dirty="0">
              <a:latin typeface="黑体" panose="02010609060101010101" pitchFamily="49" charset="-122"/>
              <a:ea typeface="黑体" panose="02010609060101010101" pitchFamily="49" charset="-122"/>
            </a:endParaRPr>
          </a:p>
          <a:p>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对于</a:t>
            </a:r>
            <a:r>
              <a:rPr lang="en-US" altLang="zh-CN" kern="1200" spc="-5" dirty="0">
                <a:solidFill>
                  <a:prstClr val="black"/>
                </a:solidFill>
                <a:latin typeface="Cambria Math"/>
                <a:cs typeface="Cambria Math"/>
              </a:rPr>
              <a:t>FIRST(</a:t>
            </a:r>
            <a:r>
              <a:rPr lang="zh-CN" altLang="en-US" kern="1200" spc="-5" dirty="0">
                <a:solidFill>
                  <a:prstClr val="black"/>
                </a:solidFill>
                <a:latin typeface="Cambria Math"/>
                <a:cs typeface="Cambria Math"/>
              </a:rPr>
              <a:t>𝛼</a:t>
            </a:r>
            <a:r>
              <a:rPr lang="en-US" altLang="zh-CN" kern="1200" spc="-5" dirty="0">
                <a:solidFill>
                  <a:prstClr val="black"/>
                </a:solidFill>
                <a:latin typeface="Cambria Math"/>
                <a:cs typeface="Cambria Math"/>
              </a:rPr>
              <a:t>)</a:t>
            </a:r>
            <a:r>
              <a:rPr lang="zh-CN" altLang="en-US" sz="1200" dirty="0">
                <a:latin typeface="黑体" panose="02010609060101010101" pitchFamily="49" charset="-122"/>
                <a:ea typeface="黑体" panose="02010609060101010101" pitchFamily="49" charset="-122"/>
              </a:rPr>
              <a:t>中每个终结符</a:t>
            </a:r>
            <a:r>
              <a:rPr lang="zh-CN" altLang="en-US" kern="1200" dirty="0">
                <a:solidFill>
                  <a:prstClr val="black"/>
                </a:solidFill>
                <a:latin typeface="Cambria Math"/>
                <a:cs typeface="Cambria Math"/>
              </a:rPr>
              <a:t>𝑎</a:t>
            </a:r>
            <a:r>
              <a:rPr lang="zh-CN" altLang="en-US" sz="1200" dirty="0">
                <a:latin typeface="黑体" panose="02010609060101010101" pitchFamily="49" charset="-122"/>
                <a:ea typeface="黑体" panose="02010609060101010101" pitchFamily="49" charset="-122"/>
              </a:rPr>
              <a:t>，将</a:t>
            </a:r>
            <a:r>
              <a:rPr lang="zh-CN" altLang="en-US" kern="1200" dirty="0">
                <a:solidFill>
                  <a:prstClr val="black"/>
                </a:solidFill>
                <a:latin typeface="Cambria Math"/>
                <a:cs typeface="Cambria Math"/>
              </a:rPr>
              <a:t>𝐴</a:t>
            </a:r>
            <a:r>
              <a:rPr lang="zh-CN" altLang="en-US" kern="1200" spc="114" dirty="0">
                <a:solidFill>
                  <a:prstClr val="black"/>
                </a:solidFill>
                <a:latin typeface="Cambria Math"/>
                <a:cs typeface="Cambria Math"/>
              </a:rPr>
              <a:t> </a:t>
            </a:r>
            <a:r>
              <a:rPr lang="zh-CN" altLang="en-US" kern="1200" dirty="0">
                <a:solidFill>
                  <a:prstClr val="black"/>
                </a:solidFill>
                <a:latin typeface="Cambria Math"/>
                <a:cs typeface="Cambria Math"/>
              </a:rPr>
              <a:t>→</a:t>
            </a:r>
            <a:r>
              <a:rPr lang="zh-CN" altLang="en-US" kern="1200" spc="105" dirty="0">
                <a:solidFill>
                  <a:prstClr val="black"/>
                </a:solidFill>
                <a:latin typeface="Cambria Math"/>
                <a:cs typeface="Cambria Math"/>
              </a:rPr>
              <a:t> </a:t>
            </a:r>
            <a:r>
              <a:rPr lang="zh-CN" altLang="en-US" kern="1200" dirty="0">
                <a:solidFill>
                  <a:prstClr val="black"/>
                </a:solidFill>
                <a:latin typeface="Cambria Math"/>
                <a:cs typeface="Cambria Math"/>
              </a:rPr>
              <a:t>𝛼</a:t>
            </a:r>
            <a:r>
              <a:rPr lang="zh-CN" altLang="en-US" sz="1200" dirty="0">
                <a:latin typeface="黑体" panose="02010609060101010101" pitchFamily="49" charset="-122"/>
                <a:ea typeface="黑体" panose="02010609060101010101" pitchFamily="49" charset="-122"/>
              </a:rPr>
              <a:t>加入到</a:t>
            </a:r>
            <a:r>
              <a:rPr lang="zh-CN" altLang="en-US" kern="1200" spc="10" dirty="0">
                <a:solidFill>
                  <a:prstClr val="black"/>
                </a:solidFill>
                <a:latin typeface="Cambria Math"/>
                <a:cs typeface="Cambria Math"/>
              </a:rPr>
              <a:t>𝑀</a:t>
            </a:r>
            <a:r>
              <a:rPr lang="en-US" altLang="zh-CN" kern="1200" spc="10" dirty="0">
                <a:solidFill>
                  <a:prstClr val="black"/>
                </a:solidFill>
                <a:latin typeface="Cambria Math"/>
                <a:cs typeface="Cambria Math"/>
              </a:rPr>
              <a:t>[</a:t>
            </a:r>
            <a:r>
              <a:rPr lang="zh-CN" altLang="en-US" kern="1200" spc="10" dirty="0">
                <a:solidFill>
                  <a:prstClr val="black"/>
                </a:solidFill>
                <a:latin typeface="Cambria Math"/>
                <a:cs typeface="Cambria Math"/>
              </a:rPr>
              <a:t>𝐴</a:t>
            </a:r>
            <a:r>
              <a:rPr lang="en-US" altLang="zh-CN" kern="1200" spc="10" dirty="0">
                <a:solidFill>
                  <a:prstClr val="black"/>
                </a:solidFill>
                <a:latin typeface="Cambria Math"/>
                <a:cs typeface="Cambria Math"/>
              </a:rPr>
              <a:t>,</a:t>
            </a:r>
            <a:r>
              <a:rPr lang="zh-CN" altLang="en-US" kern="1200" spc="-95" dirty="0">
                <a:solidFill>
                  <a:prstClr val="black"/>
                </a:solidFill>
                <a:latin typeface="Cambria Math"/>
                <a:cs typeface="Cambria Math"/>
              </a:rPr>
              <a:t> </a:t>
            </a:r>
            <a:r>
              <a:rPr lang="zh-CN" altLang="en-US" kern="1200" spc="20" dirty="0">
                <a:solidFill>
                  <a:prstClr val="black"/>
                </a:solidFill>
                <a:latin typeface="Cambria Math"/>
                <a:cs typeface="Cambria Math"/>
              </a:rPr>
              <a:t>𝑎</a:t>
            </a:r>
            <a:r>
              <a:rPr lang="en-US" altLang="zh-CN" kern="1200" spc="20" dirty="0">
                <a:solidFill>
                  <a:prstClr val="black"/>
                </a:solidFill>
                <a:latin typeface="Cambria Math"/>
                <a:cs typeface="Cambria Math"/>
              </a:rPr>
              <a:t>]</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    · </a:t>
            </a:r>
            <a:r>
              <a:rPr lang="zh-CN" altLang="en-US" sz="1200" dirty="0">
                <a:latin typeface="黑体" panose="02010609060101010101" pitchFamily="49" charset="-122"/>
                <a:ea typeface="黑体" panose="02010609060101010101" pitchFamily="49" charset="-122"/>
              </a:rPr>
              <a:t>如果</a:t>
            </a:r>
            <a:r>
              <a:rPr lang="zh-CN" altLang="en-US" kern="1200" dirty="0">
                <a:solidFill>
                  <a:prstClr val="black"/>
                </a:solidFill>
                <a:latin typeface="Cambria Math"/>
                <a:cs typeface="Cambria Math"/>
              </a:rPr>
              <a:t>𝜖</a:t>
            </a:r>
            <a:r>
              <a:rPr lang="zh-CN" altLang="en-US" sz="1200" dirty="0">
                <a:latin typeface="黑体" panose="02010609060101010101" pitchFamily="49" charset="-122"/>
                <a:ea typeface="黑体" panose="02010609060101010101" pitchFamily="49" charset="-122"/>
              </a:rPr>
              <a:t>在</a:t>
            </a:r>
            <a:r>
              <a:rPr lang="en-US" altLang="zh-CN" kern="1200" spc="-5" dirty="0">
                <a:solidFill>
                  <a:prstClr val="black"/>
                </a:solidFill>
                <a:latin typeface="Cambria Math"/>
                <a:cs typeface="Cambria Math"/>
              </a:rPr>
              <a:t>FIRST(</a:t>
            </a:r>
            <a:r>
              <a:rPr lang="zh-CN" altLang="en-US" kern="1200" spc="-5" dirty="0">
                <a:solidFill>
                  <a:prstClr val="black"/>
                </a:solidFill>
                <a:latin typeface="Cambria Math"/>
                <a:cs typeface="Cambria Math"/>
              </a:rPr>
              <a:t>𝛼</a:t>
            </a:r>
            <a:r>
              <a:rPr lang="en-US" altLang="zh-CN" kern="1200" spc="-5" dirty="0">
                <a:solidFill>
                  <a:prstClr val="black"/>
                </a:solidFill>
                <a:latin typeface="Cambria Math"/>
                <a:cs typeface="Cambria Math"/>
              </a:rPr>
              <a:t>)</a:t>
            </a:r>
            <a:r>
              <a:rPr lang="zh-CN" altLang="en-US" sz="1200" dirty="0">
                <a:latin typeface="黑体" panose="02010609060101010101" pitchFamily="49" charset="-122"/>
                <a:ea typeface="黑体" panose="02010609060101010101" pitchFamily="49" charset="-122"/>
              </a:rPr>
              <a:t>中，对于</a:t>
            </a:r>
            <a:r>
              <a:rPr lang="en-US" altLang="zh-CN" kern="1200" spc="-5" dirty="0">
                <a:solidFill>
                  <a:prstClr val="black"/>
                </a:solidFill>
                <a:latin typeface="Cambria Math"/>
                <a:cs typeface="Cambria Math"/>
              </a:rPr>
              <a:t>FOLLOW(</a:t>
            </a:r>
            <a:r>
              <a:rPr lang="zh-CN" altLang="en-US" kern="1200" spc="-5" dirty="0">
                <a:solidFill>
                  <a:prstClr val="black"/>
                </a:solidFill>
                <a:latin typeface="Cambria Math"/>
                <a:cs typeface="Cambria Math"/>
              </a:rPr>
              <a:t>𝐴</a:t>
            </a:r>
            <a:r>
              <a:rPr lang="en-US" altLang="zh-CN" kern="1200" spc="-5" dirty="0">
                <a:solidFill>
                  <a:prstClr val="black"/>
                </a:solidFill>
                <a:latin typeface="Cambria Math"/>
                <a:cs typeface="Cambria Math"/>
              </a:rPr>
              <a:t>)</a:t>
            </a:r>
            <a:r>
              <a:rPr lang="zh-CN" altLang="en-US" sz="1200" dirty="0">
                <a:latin typeface="黑体" panose="02010609060101010101" pitchFamily="49" charset="-122"/>
                <a:ea typeface="黑体" panose="02010609060101010101" pitchFamily="49" charset="-122"/>
              </a:rPr>
              <a:t>中每个终结符</a:t>
            </a:r>
            <a:r>
              <a:rPr lang="en-US" altLang="zh-CN" sz="1200" dirty="0">
                <a:latin typeface="黑体" panose="02010609060101010101" pitchFamily="49" charset="-122"/>
                <a:ea typeface="黑体" panose="02010609060101010101" pitchFamily="49" charset="-122"/>
              </a:rPr>
              <a:t>b</a:t>
            </a:r>
            <a:r>
              <a:rPr lang="zh-CN" altLang="en-US" sz="1200" dirty="0">
                <a:latin typeface="黑体" panose="02010609060101010101" pitchFamily="49" charset="-122"/>
                <a:ea typeface="黑体" panose="02010609060101010101" pitchFamily="49" charset="-122"/>
              </a:rPr>
              <a:t>，包括</a:t>
            </a:r>
            <a:r>
              <a:rPr lang="en-US" altLang="zh-CN" kern="1200" dirty="0">
                <a:solidFill>
                  <a:prstClr val="black"/>
                </a:solidFill>
                <a:latin typeface="Palatino Linotype"/>
                <a:cs typeface="Palatino Linotype"/>
              </a:rPr>
              <a:t>$</a:t>
            </a:r>
            <a:r>
              <a:rPr lang="zh-CN" altLang="en-US" sz="1200" dirty="0">
                <a:latin typeface="黑体" panose="02010609060101010101" pitchFamily="49" charset="-122"/>
                <a:ea typeface="黑体" panose="02010609060101010101" pitchFamily="49" charset="-122"/>
              </a:rPr>
              <a:t>，将</a:t>
            </a:r>
            <a:r>
              <a:rPr lang="zh-CN" altLang="en-US" kern="1200" dirty="0">
                <a:solidFill>
                  <a:prstClr val="black"/>
                </a:solidFill>
                <a:latin typeface="Cambria Math"/>
                <a:cs typeface="Cambria Math"/>
              </a:rPr>
              <a:t>𝐴</a:t>
            </a:r>
            <a:r>
              <a:rPr lang="zh-CN" altLang="en-US" kern="1200" spc="114" dirty="0">
                <a:solidFill>
                  <a:prstClr val="black"/>
                </a:solidFill>
                <a:latin typeface="Cambria Math"/>
                <a:cs typeface="Cambria Math"/>
              </a:rPr>
              <a:t> </a:t>
            </a:r>
            <a:r>
              <a:rPr lang="zh-CN" altLang="en-US" kern="1200" dirty="0">
                <a:solidFill>
                  <a:prstClr val="black"/>
                </a:solidFill>
                <a:latin typeface="Cambria Math"/>
                <a:cs typeface="Cambria Math"/>
              </a:rPr>
              <a:t>→</a:t>
            </a:r>
            <a:r>
              <a:rPr lang="zh-CN" altLang="en-US" kern="1200" spc="105" dirty="0">
                <a:solidFill>
                  <a:prstClr val="black"/>
                </a:solidFill>
                <a:latin typeface="Cambria Math"/>
                <a:cs typeface="Cambria Math"/>
              </a:rPr>
              <a:t> </a:t>
            </a:r>
            <a:r>
              <a:rPr lang="zh-CN" altLang="en-US" kern="1200" dirty="0">
                <a:solidFill>
                  <a:prstClr val="black"/>
                </a:solidFill>
                <a:latin typeface="Cambria Math"/>
                <a:cs typeface="Cambria Math"/>
              </a:rPr>
              <a:t>𝛼</a:t>
            </a:r>
            <a:r>
              <a:rPr lang="zh-CN" altLang="en-US" sz="1200" dirty="0">
                <a:latin typeface="黑体" panose="02010609060101010101" pitchFamily="49" charset="-122"/>
                <a:ea typeface="黑体" panose="02010609060101010101" pitchFamily="49" charset="-122"/>
              </a:rPr>
              <a:t>加入到</a:t>
            </a:r>
            <a:r>
              <a:rPr lang="zh-CN" altLang="en-US" kern="1200" spc="10" dirty="0">
                <a:solidFill>
                  <a:prstClr val="black"/>
                </a:solidFill>
                <a:latin typeface="Cambria Math"/>
                <a:cs typeface="Cambria Math"/>
              </a:rPr>
              <a:t>𝑀</a:t>
            </a:r>
            <a:r>
              <a:rPr lang="en-US" altLang="zh-CN" kern="1200" spc="10" dirty="0">
                <a:solidFill>
                  <a:prstClr val="black"/>
                </a:solidFill>
                <a:latin typeface="Cambria Math"/>
                <a:cs typeface="Cambria Math"/>
              </a:rPr>
              <a:t>[</a:t>
            </a:r>
            <a:r>
              <a:rPr lang="zh-CN" altLang="en-US" kern="1200" spc="10" dirty="0">
                <a:solidFill>
                  <a:prstClr val="black"/>
                </a:solidFill>
                <a:latin typeface="Cambria Math"/>
                <a:cs typeface="Cambria Math"/>
              </a:rPr>
              <a:t>𝐴</a:t>
            </a:r>
            <a:r>
              <a:rPr lang="en-US" altLang="zh-CN" kern="1200" spc="10" dirty="0">
                <a:solidFill>
                  <a:prstClr val="black"/>
                </a:solidFill>
                <a:latin typeface="Cambria Math"/>
                <a:cs typeface="Cambria Math"/>
              </a:rPr>
              <a:t>,</a:t>
            </a:r>
            <a:r>
              <a:rPr lang="zh-CN" altLang="en-US" kern="1200" spc="-95" dirty="0">
                <a:solidFill>
                  <a:prstClr val="black"/>
                </a:solidFill>
                <a:latin typeface="Cambria Math"/>
                <a:cs typeface="Cambria Math"/>
              </a:rPr>
              <a:t> </a:t>
            </a:r>
            <a:r>
              <a:rPr lang="en-US" altLang="zh-CN" kern="1200" spc="20" dirty="0">
                <a:solidFill>
                  <a:prstClr val="black"/>
                </a:solidFill>
                <a:latin typeface="Cambria Math"/>
                <a:cs typeface="Cambria Math"/>
              </a:rPr>
              <a:t>b]</a:t>
            </a:r>
            <a:endParaRPr lang="en-US" altLang="zh-CN" sz="1200" dirty="0">
              <a:latin typeface="黑体" panose="02010609060101010101" pitchFamily="49" charset="-122"/>
              <a:ea typeface="黑体" panose="02010609060101010101" pitchFamily="49" charset="-122"/>
            </a:endParaRPr>
          </a:p>
          <a:p>
            <a:endParaRPr lang="en-US" altLang="zh-CN" sz="1200" dirty="0">
              <a:latin typeface="黑体" panose="02010609060101010101" pitchFamily="49" charset="-122"/>
              <a:ea typeface="黑体" panose="02010609060101010101" pitchFamily="49" charset="-122"/>
            </a:endParaRPr>
          </a:p>
          <a:p>
            <a:r>
              <a:rPr lang="zh-CN" altLang="en-US" sz="1200" dirty="0">
                <a:latin typeface="黑体" panose="02010609060101010101" pitchFamily="49" charset="-122"/>
                <a:ea typeface="黑体" panose="02010609060101010101" pitchFamily="49" charset="-122"/>
              </a:rPr>
              <a:t>将表中的所有空条目设置为错误</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75</a:t>
            </a:fld>
            <a:endParaRPr lang="zh-CN" altLang="en-US"/>
          </a:p>
        </p:txBody>
      </p:sp>
    </p:spTree>
    <p:extLst>
      <p:ext uri="{BB962C8B-B14F-4D97-AF65-F5344CB8AC3E}">
        <p14:creationId xmlns:p14="http://schemas.microsoft.com/office/powerpoint/2010/main" val="299163063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预测分析表构造示例</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76</a:t>
            </a:fld>
            <a:endParaRPr lang="zh-CN" altLang="en-US"/>
          </a:p>
        </p:txBody>
      </p:sp>
    </p:spTree>
    <p:extLst>
      <p:ext uri="{BB962C8B-B14F-4D97-AF65-F5344CB8AC3E}">
        <p14:creationId xmlns:p14="http://schemas.microsoft.com/office/powerpoint/2010/main" val="32966151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预测分析表中的冲突</a:t>
            </a:r>
            <a:endParaRPr lang="en-US" altLang="zh-CN" dirty="0"/>
          </a:p>
          <a:p>
            <a:r>
              <a:rPr lang="en-US" altLang="zh-CN" dirty="0"/>
              <a:t>LL(1)</a:t>
            </a:r>
            <a:r>
              <a:rPr lang="zh-CN" altLang="en-US" dirty="0"/>
              <a:t>文法不存在二义性</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78</a:t>
            </a:fld>
            <a:endParaRPr lang="zh-CN" altLang="en-US"/>
          </a:p>
        </p:txBody>
      </p:sp>
    </p:spTree>
    <p:extLst>
      <p:ext uri="{BB962C8B-B14F-4D97-AF65-F5344CB8AC3E}">
        <p14:creationId xmlns:p14="http://schemas.microsoft.com/office/powerpoint/2010/main" val="301465281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解决方案：选择𝑆’ → 𝑒𝑠 解决歧义（将</a:t>
            </a:r>
            <a:r>
              <a:rPr lang="en-US" altLang="zh-CN" dirty="0"/>
              <a:t>else</a:t>
            </a:r>
            <a:r>
              <a:rPr lang="zh-CN" altLang="en-US" dirty="0"/>
              <a:t>与最接近的前一个</a:t>
            </a:r>
            <a:r>
              <a:rPr lang="en-US" altLang="zh-CN" dirty="0"/>
              <a:t>then</a:t>
            </a:r>
            <a:r>
              <a:rPr lang="zh-CN" altLang="en-US" dirty="0"/>
              <a:t>关联）</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79</a:t>
            </a:fld>
            <a:endParaRPr lang="zh-CN" altLang="en-US"/>
          </a:p>
        </p:txBody>
      </p:sp>
    </p:spTree>
    <p:extLst>
      <p:ext uri="{BB962C8B-B14F-4D97-AF65-F5344CB8AC3E}">
        <p14:creationId xmlns:p14="http://schemas.microsoft.com/office/powerpoint/2010/main" val="128398824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黑体" panose="02010609060101010101" pitchFamily="49" charset="-122"/>
                <a:ea typeface="黑体" panose="02010609060101010101" pitchFamily="49" charset="-122"/>
              </a:rPr>
              <a:t>LL(1)</a:t>
            </a:r>
            <a:r>
              <a:rPr lang="zh-CN" altLang="en-US" sz="1200" dirty="0">
                <a:latin typeface="黑体" panose="02010609060101010101" pitchFamily="49" charset="-122"/>
                <a:ea typeface="黑体" panose="02010609060101010101" pitchFamily="49" charset="-122"/>
              </a:rPr>
              <a:t>文法的递归下降语法分析</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将第</a:t>
            </a:r>
            <a:r>
              <a:rPr lang="en-US" altLang="zh-CN" sz="1200" dirty="0">
                <a:latin typeface="黑体" panose="02010609060101010101" pitchFamily="49" charset="-122"/>
                <a:ea typeface="黑体" panose="02010609060101010101" pitchFamily="49" charset="-122"/>
              </a:rPr>
              <a:t>1</a:t>
            </a:r>
            <a:r>
              <a:rPr lang="zh-CN" altLang="en-US" sz="1200" dirty="0">
                <a:latin typeface="黑体" panose="02010609060101010101" pitchFamily="49" charset="-122"/>
                <a:ea typeface="黑体" panose="02010609060101010101" pitchFamily="49" charset="-122"/>
              </a:rPr>
              <a:t>行替换为：根据预测分析表选择</a:t>
            </a:r>
            <a:r>
              <a:rPr lang="en-US" altLang="zh-CN" sz="1200" dirty="0">
                <a:latin typeface="黑体" panose="02010609060101010101" pitchFamily="49" charset="-122"/>
                <a:ea typeface="黑体" panose="02010609060101010101" pitchFamily="49" charset="-122"/>
              </a:rPr>
              <a:t>A-</a:t>
            </a:r>
            <a:r>
              <a:rPr lang="zh-CN" altLang="en-US" sz="1200" dirty="0">
                <a:latin typeface="黑体" panose="02010609060101010101" pitchFamily="49" charset="-122"/>
                <a:ea typeface="黑体" panose="02010609060101010101" pitchFamily="49" charset="-122"/>
              </a:rPr>
              <a:t>产生式</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假设输入符号为</a:t>
            </a:r>
            <a:r>
              <a:rPr lang="zh-CN" altLang="en-US" kern="1200" spc="20" dirty="0">
                <a:solidFill>
                  <a:prstClr val="black"/>
                </a:solidFill>
                <a:latin typeface="Cambria Math"/>
                <a:cs typeface="Cambria Math"/>
              </a:rPr>
              <a:t>𝑎</a:t>
            </a:r>
            <a:r>
              <a:rPr lang="en-US" altLang="zh-CN" sz="1200"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那么选择</a:t>
            </a:r>
            <a:r>
              <a:rPr lang="zh-CN" altLang="en-US" kern="1200" spc="10" dirty="0">
                <a:solidFill>
                  <a:prstClr val="black"/>
                </a:solidFill>
                <a:latin typeface="Cambria Math"/>
                <a:cs typeface="Cambria Math"/>
              </a:rPr>
              <a:t>𝑀</a:t>
            </a:r>
            <a:r>
              <a:rPr lang="en-US" altLang="zh-CN" kern="1200" spc="10" dirty="0">
                <a:solidFill>
                  <a:prstClr val="black"/>
                </a:solidFill>
                <a:latin typeface="Cambria Math"/>
                <a:cs typeface="Cambria Math"/>
              </a:rPr>
              <a:t>[</a:t>
            </a:r>
            <a:r>
              <a:rPr lang="zh-CN" altLang="en-US" kern="1200" spc="10" dirty="0">
                <a:solidFill>
                  <a:prstClr val="black"/>
                </a:solidFill>
                <a:latin typeface="Cambria Math"/>
                <a:cs typeface="Cambria Math"/>
              </a:rPr>
              <a:t>𝐴</a:t>
            </a:r>
            <a:r>
              <a:rPr lang="en-US" altLang="zh-CN" kern="1200" spc="10" dirty="0">
                <a:solidFill>
                  <a:prstClr val="black"/>
                </a:solidFill>
                <a:latin typeface="Cambria Math"/>
                <a:cs typeface="Cambria Math"/>
              </a:rPr>
              <a:t>,</a:t>
            </a:r>
            <a:r>
              <a:rPr lang="zh-CN" altLang="en-US" kern="1200" spc="-95" dirty="0">
                <a:solidFill>
                  <a:prstClr val="black"/>
                </a:solidFill>
                <a:latin typeface="Cambria Math"/>
                <a:cs typeface="Cambria Math"/>
              </a:rPr>
              <a:t> </a:t>
            </a:r>
            <a:r>
              <a:rPr lang="zh-CN" altLang="en-US" kern="1200" spc="20" dirty="0">
                <a:solidFill>
                  <a:prstClr val="black"/>
                </a:solidFill>
                <a:latin typeface="Cambria Math"/>
                <a:cs typeface="Cambria Math"/>
              </a:rPr>
              <a:t>𝑎</a:t>
            </a:r>
            <a:r>
              <a:rPr lang="en-US" altLang="zh-CN" kern="1200" spc="20" dirty="0">
                <a:solidFill>
                  <a:prstClr val="black"/>
                </a:solidFill>
                <a:latin typeface="Cambria Math"/>
                <a:cs typeface="Cambria Math"/>
              </a:rPr>
              <a:t>]</a:t>
            </a:r>
            <a:r>
              <a:rPr lang="zh-CN" altLang="en-US" kern="1200" spc="20" dirty="0">
                <a:solidFill>
                  <a:prstClr val="black"/>
                </a:solidFill>
                <a:latin typeface="Cambria Math"/>
                <a:cs typeface="Cambria Math"/>
              </a:rPr>
              <a:t>中的产生式</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80</a:t>
            </a:fld>
            <a:endParaRPr lang="zh-CN" altLang="en-US"/>
          </a:p>
        </p:txBody>
      </p:sp>
    </p:spTree>
    <p:extLst>
      <p:ext uri="{BB962C8B-B14F-4D97-AF65-F5344CB8AC3E}">
        <p14:creationId xmlns:p14="http://schemas.microsoft.com/office/powerpoint/2010/main" val="85789954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递归下降的语法分析</a:t>
            </a:r>
            <a:endParaRPr lang="en-US" altLang="zh-CN" sz="1800" dirty="0">
              <a:latin typeface="黑体" panose="02010609060101010101" pitchFamily="49" charset="-122"/>
              <a:ea typeface="黑体" panose="02010609060101010101" pitchFamily="49" charset="-122"/>
            </a:endParaRPr>
          </a:p>
          <a:p>
            <a:r>
              <a:rPr lang="zh-CN" altLang="en-US" sz="1800" b="1" dirty="0">
                <a:latin typeface="黑体" panose="02010609060101010101" pitchFamily="49" charset="-122"/>
                <a:ea typeface="黑体" panose="02010609060101010101" pitchFamily="49" charset="-122"/>
              </a:rPr>
              <a:t>非递归的预测分析</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81</a:t>
            </a:fld>
            <a:endParaRPr lang="zh-CN" altLang="en-US"/>
          </a:p>
        </p:txBody>
      </p:sp>
    </p:spTree>
    <p:extLst>
      <p:ext uri="{BB962C8B-B14F-4D97-AF65-F5344CB8AC3E}">
        <p14:creationId xmlns:p14="http://schemas.microsoft.com/office/powerpoint/2010/main" val="29286600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递归下降的语法分析具有递归调用。</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我们能设计一个非递归解析器吗？</a:t>
            </a:r>
          </a:p>
          <a:p>
            <a:endParaRPr lang="zh-CN" altLang="en-US" sz="1800"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82</a:t>
            </a:fld>
            <a:endParaRPr lang="zh-CN" altLang="en-US"/>
          </a:p>
        </p:txBody>
      </p:sp>
    </p:spTree>
    <p:extLst>
      <p:ext uri="{BB962C8B-B14F-4D97-AF65-F5344CB8AC3E}">
        <p14:creationId xmlns:p14="http://schemas.microsoft.com/office/powerpoint/2010/main" val="245450156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非递归的预测分析器可以通过显式维护堆栈（而不是通过递归调用隐式维护）来构建</a:t>
            </a:r>
            <a:endParaRPr lang="en-US" altLang="zh-CN" sz="1800" dirty="0">
              <a:latin typeface="黑体" panose="02010609060101010101" pitchFamily="49" charset="-122"/>
              <a:ea typeface="黑体" panose="02010609060101010101" pitchFamily="49" charset="-122"/>
            </a:endParaRPr>
          </a:p>
          <a:p>
            <a:r>
              <a:rPr lang="en-US" altLang="zh-CN" sz="1800" dirty="0">
                <a:latin typeface="黑体" panose="02010609060101010101" pitchFamily="49" charset="-122"/>
                <a:ea typeface="黑体" panose="02010609060101010101" pitchFamily="49" charset="-122"/>
              </a:rPr>
              <a:t>   · </a:t>
            </a:r>
            <a:r>
              <a:rPr lang="zh-CN" altLang="en-US" sz="1800" dirty="0">
                <a:latin typeface="黑体" panose="02010609060101010101" pitchFamily="49" charset="-122"/>
                <a:ea typeface="黑体" panose="02010609060101010101" pitchFamily="49" charset="-122"/>
              </a:rPr>
              <a:t>输入缓冲区包含要解析的字符串，以</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结尾</a:t>
            </a:r>
            <a:endParaRPr lang="en-US" altLang="zh-CN" sz="1800" dirty="0">
              <a:latin typeface="黑体" panose="02010609060101010101" pitchFamily="49" charset="-122"/>
              <a:ea typeface="黑体" panose="02010609060101010101" pitchFamily="49" charset="-122"/>
            </a:endParaRPr>
          </a:p>
          <a:p>
            <a:r>
              <a:rPr lang="en-US" altLang="zh-CN" sz="1800" dirty="0">
                <a:latin typeface="黑体" panose="02010609060101010101" pitchFamily="49" charset="-122"/>
                <a:ea typeface="黑体" panose="02010609060101010101" pitchFamily="49" charset="-122"/>
              </a:rPr>
              <a:t>   · </a:t>
            </a:r>
            <a:r>
              <a:rPr lang="zh-CN" altLang="en-US" sz="1800" dirty="0">
                <a:latin typeface="黑体" panose="02010609060101010101" pitchFamily="49" charset="-122"/>
                <a:ea typeface="黑体" panose="02010609060101010101" pitchFamily="49" charset="-122"/>
              </a:rPr>
              <a:t>堆栈包含底部为</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的语法符号序列。</a:t>
            </a:r>
            <a:endParaRPr lang="en-US" altLang="zh-CN" sz="1800" dirty="0">
              <a:latin typeface="黑体" panose="02010609060101010101" pitchFamily="49" charset="-122"/>
              <a:ea typeface="黑体" panose="02010609060101010101" pitchFamily="49" charset="-122"/>
            </a:endParaRPr>
          </a:p>
          <a:p>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最初，堆栈只包含</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和在</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顶部的开始符号𝑆 </a:t>
            </a:r>
          </a:p>
          <a:p>
            <a:endParaRPr lang="zh-CN" altLang="en-US" sz="1800"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83</a:t>
            </a:fld>
            <a:endParaRPr lang="zh-CN" altLang="en-US"/>
          </a:p>
        </p:txBody>
      </p:sp>
    </p:spTree>
    <p:extLst>
      <p:ext uri="{BB962C8B-B14F-4D97-AF65-F5344CB8AC3E}">
        <p14:creationId xmlns:p14="http://schemas.microsoft.com/office/powerpoint/2010/main" val="92437071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表驱动的预测语法分析</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输入：字符串𝜔 和文法</a:t>
            </a:r>
            <a:r>
              <a:rPr lang="en-US" altLang="zh-CN" sz="1800" dirty="0">
                <a:latin typeface="黑体" panose="02010609060101010101" pitchFamily="49" charset="-122"/>
                <a:ea typeface="黑体" panose="02010609060101010101" pitchFamily="49" charset="-122"/>
              </a:rPr>
              <a:t>G</a:t>
            </a:r>
            <a:r>
              <a:rPr lang="zh-CN" altLang="en-US" sz="1800" dirty="0">
                <a:latin typeface="黑体" panose="02010609060101010101" pitchFamily="49" charset="-122"/>
                <a:ea typeface="黑体" panose="02010609060101010101" pitchFamily="49" charset="-122"/>
              </a:rPr>
              <a:t>的预测分析表</a:t>
            </a:r>
            <a:r>
              <a:rPr lang="en-US" altLang="zh-CN" sz="1800" dirty="0">
                <a:latin typeface="黑体" panose="02010609060101010101" pitchFamily="49" charset="-122"/>
                <a:ea typeface="黑体" panose="02010609060101010101" pitchFamily="49" charset="-122"/>
              </a:rPr>
              <a:t>M</a:t>
            </a:r>
            <a:r>
              <a:rPr lang="zh-CN" altLang="en-US" sz="1800" dirty="0">
                <a:latin typeface="黑体" panose="02010609060101010101" pitchFamily="49" charset="-122"/>
                <a:ea typeface="黑体" panose="02010609060101010101" pitchFamily="49" charset="-122"/>
              </a:rPr>
              <a:t> </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输出：如果𝜔 在𝐿</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𝐺</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中</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输出𝜔的一个最左边推导</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否则，给出一个错误指示</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最初，输入缓冲区包含𝜔</a:t>
            </a:r>
            <a:r>
              <a:rPr lang="en-US" altLang="zh-CN" sz="1800" dirty="0">
                <a:latin typeface="黑体" panose="02010609060101010101" pitchFamily="49" charset="-122"/>
                <a:ea typeface="黑体" panose="02010609060101010101" pitchFamily="49" charset="-122"/>
              </a:rPr>
              <a:t>$</a:t>
            </a:r>
          </a:p>
          <a:p>
            <a:r>
              <a:rPr lang="zh-CN" altLang="en-US" sz="1800" dirty="0">
                <a:latin typeface="黑体" panose="02010609060101010101" pitchFamily="49" charset="-122"/>
                <a:ea typeface="黑体" panose="02010609060101010101" pitchFamily="49" charset="-122"/>
              </a:rPr>
              <a:t>开始符号𝑆 位于堆栈顶部，在</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上方。</a:t>
            </a:r>
          </a:p>
          <a:p>
            <a:endParaRPr lang="zh-CN" altLang="en-US" sz="1800"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84</a:t>
            </a:fld>
            <a:endParaRPr lang="zh-CN" altLang="en-US"/>
          </a:p>
        </p:txBody>
      </p:sp>
    </p:spTree>
    <p:extLst>
      <p:ext uri="{BB962C8B-B14F-4D97-AF65-F5344CB8AC3E}">
        <p14:creationId xmlns:p14="http://schemas.microsoft.com/office/powerpoint/2010/main" val="391064455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分析算法</a:t>
            </a:r>
          </a:p>
          <a:p>
            <a:endParaRPr lang="zh-CN" altLang="en-US" sz="1800" dirty="0">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85</a:t>
            </a:fld>
            <a:endParaRPr lang="zh-CN" altLang="en-US"/>
          </a:p>
        </p:txBody>
      </p:sp>
    </p:spTree>
    <p:extLst>
      <p:ext uri="{BB962C8B-B14F-4D97-AF65-F5344CB8AC3E}">
        <p14:creationId xmlns:p14="http://schemas.microsoft.com/office/powerpoint/2010/main" val="325479684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匹配部分</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栈内容（从顶部到底部）</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总是最左句型</a:t>
            </a:r>
          </a:p>
          <a:p>
            <a:endParaRPr lang="zh-CN" altLang="en-US" sz="1800"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86</a:t>
            </a:fld>
            <a:endParaRPr lang="zh-CN" altLang="en-US"/>
          </a:p>
        </p:txBody>
      </p:sp>
    </p:spTree>
    <p:extLst>
      <p:ext uri="{BB962C8B-B14F-4D97-AF65-F5344CB8AC3E}">
        <p14:creationId xmlns:p14="http://schemas.microsoft.com/office/powerpoint/2010/main" val="236078396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自底向上分析</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87</a:t>
            </a:fld>
            <a:endParaRPr lang="zh-CN" altLang="en-US"/>
          </a:p>
        </p:txBody>
      </p:sp>
    </p:spTree>
    <p:extLst>
      <p:ext uri="{BB962C8B-B14F-4D97-AF65-F5344CB8AC3E}">
        <p14:creationId xmlns:p14="http://schemas.microsoft.com/office/powerpoint/2010/main" val="163827057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自底向上的语法分析</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问题定义：为输入字符串构建一个从叶子（终结符）开始并向上延伸到根（语法的开始符号）的语法分析树</a:t>
            </a:r>
            <a:endParaRPr lang="en-US" altLang="zh-CN" sz="1800" dirty="0">
              <a:latin typeface="黑体" panose="02010609060101010101" pitchFamily="49" charset="-122"/>
              <a:ea typeface="黑体" panose="02010609060101010101" pitchFamily="49" charset="-122"/>
            </a:endParaRPr>
          </a:p>
          <a:p>
            <a:r>
              <a:rPr lang="en-US" altLang="zh-CN" sz="1800" dirty="0">
                <a:latin typeface="黑体" panose="02010609060101010101" pitchFamily="49" charset="-122"/>
                <a:ea typeface="黑体" panose="02010609060101010101" pitchFamily="49" charset="-122"/>
              </a:rPr>
              <a:t>   · </a:t>
            </a:r>
            <a:r>
              <a:rPr lang="zh-CN" altLang="en-US" sz="1800" dirty="0">
                <a:latin typeface="黑体" panose="02010609060101010101" pitchFamily="49" charset="-122"/>
                <a:ea typeface="黑体" panose="02010609060101010101" pitchFamily="49" charset="-122"/>
              </a:rPr>
              <a:t>相当于为输入字符串找到最右边的推导（相反）</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移入</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归约分析技术是一种自底向上语法分析的通用方式（使用栈来保存语法符号）</a:t>
            </a:r>
          </a:p>
          <a:p>
            <a:endParaRPr lang="zh-CN" altLang="en-US" sz="1800"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88</a:t>
            </a:fld>
            <a:endParaRPr lang="zh-CN" altLang="en-US"/>
          </a:p>
        </p:txBody>
      </p:sp>
    </p:spTree>
    <p:extLst>
      <p:ext uri="{BB962C8B-B14F-4D97-AF65-F5344CB8AC3E}">
        <p14:creationId xmlns:p14="http://schemas.microsoft.com/office/powerpoint/2010/main" val="233767053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自底向上语法分析可以看作是一个将字符串</a:t>
            </a:r>
            <a:r>
              <a:rPr lang="zh-CN" altLang="en-US" sz="1800" kern="1200" dirty="0">
                <a:solidFill>
                  <a:srgbClr val="0432FF"/>
                </a:solidFill>
                <a:latin typeface="Cambria Math"/>
                <a:cs typeface="Cambria Math"/>
              </a:rPr>
              <a:t>𝜔“归约”到开始符号</a:t>
            </a:r>
            <a:r>
              <a:rPr lang="zh-CN" altLang="en-US" sz="1800" dirty="0">
                <a:latin typeface="黑体" panose="02010609060101010101" pitchFamily="49" charset="-122"/>
                <a:ea typeface="黑体" panose="02010609060101010101" pitchFamily="49" charset="-122"/>
              </a:rPr>
              <a:t>的过程</a:t>
            </a:r>
            <a:endParaRPr lang="en-US" altLang="zh-CN" sz="180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黑体" panose="02010609060101010101" pitchFamily="49" charset="-122"/>
                <a:ea typeface="黑体" panose="02010609060101010101" pitchFamily="49" charset="-122"/>
              </a:rPr>
              <a:t>在每一个归约步骤中，与产生式体匹配的特定子串（位于栈顶部）会被产生式的头部替换（与推导步骤相反）</a:t>
            </a:r>
            <a:endParaRPr lang="en-US" altLang="zh-CN" sz="1800" dirty="0">
              <a:latin typeface="黑体" panose="02010609060101010101" pitchFamily="49" charset="-122"/>
              <a:ea typeface="黑体" panose="02010609060101010101" pitchFamily="49" charset="-122"/>
            </a:endParaRPr>
          </a:p>
          <a:p>
            <a:endParaRPr lang="zh-CN" altLang="en-US" sz="1800"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89</a:t>
            </a:fld>
            <a:endParaRPr lang="zh-CN" altLang="en-US"/>
          </a:p>
        </p:txBody>
      </p:sp>
    </p:spTree>
    <p:extLst>
      <p:ext uri="{BB962C8B-B14F-4D97-AF65-F5344CB8AC3E}">
        <p14:creationId xmlns:p14="http://schemas.microsoft.com/office/powerpoint/2010/main" val="330566584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对于句型𝑇 ∗ 𝐢𝐝</a:t>
            </a:r>
            <a:r>
              <a:rPr lang="en-US" altLang="zh-CN" dirty="0"/>
              <a:t>, </a:t>
            </a:r>
            <a:r>
              <a:rPr lang="zh-CN" altLang="en-US" dirty="0"/>
              <a:t>有两个适用的产生式：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a:t>
            </a:r>
            <a:r>
              <a:rPr lang="zh-CN" altLang="en-US" dirty="0"/>
              <a:t>是</a:t>
            </a:r>
            <a:r>
              <a:rPr lang="zh-CN" altLang="en-US" kern="1200" dirty="0">
                <a:solidFill>
                  <a:prstClr val="black"/>
                </a:solidFill>
                <a:latin typeface="Cambria Math"/>
                <a:cs typeface="Cambria Math"/>
              </a:rPr>
              <a:t>𝐸</a:t>
            </a:r>
            <a:r>
              <a:rPr lang="zh-CN" altLang="en-US" kern="1200" spc="160" dirty="0">
                <a:solidFill>
                  <a:prstClr val="black"/>
                </a:solidFill>
                <a:latin typeface="Cambria Math"/>
                <a:cs typeface="Cambria Math"/>
              </a:rPr>
              <a:t> </a:t>
            </a:r>
            <a:r>
              <a:rPr lang="zh-CN" altLang="en-US" kern="1200" dirty="0">
                <a:solidFill>
                  <a:prstClr val="black"/>
                </a:solidFill>
                <a:latin typeface="Cambria Math"/>
                <a:cs typeface="Cambria Math"/>
              </a:rPr>
              <a:t>→</a:t>
            </a:r>
            <a:r>
              <a:rPr lang="zh-CN" altLang="en-US" kern="1200" spc="95" dirty="0">
                <a:solidFill>
                  <a:prstClr val="black"/>
                </a:solidFill>
                <a:latin typeface="Cambria Math"/>
                <a:cs typeface="Cambria Math"/>
              </a:rPr>
              <a:t> </a:t>
            </a:r>
            <a:r>
              <a:rPr lang="zh-CN" altLang="en-US" kern="1200" dirty="0">
                <a:solidFill>
                  <a:prstClr val="black"/>
                </a:solidFill>
                <a:latin typeface="Cambria Math"/>
                <a:cs typeface="Cambria Math"/>
              </a:rPr>
              <a:t>𝑇</a:t>
            </a:r>
            <a:r>
              <a:rPr lang="zh-CN" altLang="en-US" dirty="0"/>
              <a:t>的体</a:t>
            </a:r>
            <a:endParaRPr lang="en-US" altLang="zh-CN" dirty="0"/>
          </a:p>
          <a:p>
            <a:r>
              <a:rPr lang="zh-CN" altLang="en-US" kern="1200" spc="-5" dirty="0">
                <a:solidFill>
                  <a:prstClr val="black"/>
                </a:solidFill>
                <a:latin typeface="Cambria Math"/>
                <a:cs typeface="Cambria Math"/>
              </a:rPr>
              <a:t>𝐢𝐝</a:t>
            </a:r>
            <a:r>
              <a:rPr lang="zh-CN" altLang="en-US" dirty="0"/>
              <a:t>是</a:t>
            </a:r>
            <a:r>
              <a:rPr lang="zh-CN" altLang="en-US" kern="1200" dirty="0">
                <a:solidFill>
                  <a:prstClr val="black"/>
                </a:solidFill>
                <a:latin typeface="Cambria Math"/>
                <a:cs typeface="Cambria Math"/>
              </a:rPr>
              <a:t>𝐹</a:t>
            </a:r>
            <a:r>
              <a:rPr lang="zh-CN" altLang="en-US" kern="1200" spc="155" dirty="0">
                <a:solidFill>
                  <a:prstClr val="black"/>
                </a:solidFill>
                <a:latin typeface="Cambria Math"/>
                <a:cs typeface="Cambria Math"/>
              </a:rPr>
              <a:t> </a:t>
            </a:r>
            <a:r>
              <a:rPr lang="zh-CN" altLang="en-US" kern="1200" dirty="0">
                <a:solidFill>
                  <a:prstClr val="black"/>
                </a:solidFill>
                <a:latin typeface="Cambria Math"/>
                <a:cs typeface="Cambria Math"/>
              </a:rPr>
              <a:t>→</a:t>
            </a:r>
            <a:r>
              <a:rPr lang="zh-CN" altLang="en-US" kern="1200" spc="90" dirty="0">
                <a:solidFill>
                  <a:prstClr val="black"/>
                </a:solidFill>
                <a:latin typeface="Cambria Math"/>
                <a:cs typeface="Cambria Math"/>
              </a:rPr>
              <a:t> </a:t>
            </a:r>
            <a:r>
              <a:rPr lang="zh-CN" altLang="en-US" kern="1200" spc="-5" dirty="0">
                <a:solidFill>
                  <a:prstClr val="black"/>
                </a:solidFill>
                <a:latin typeface="Cambria Math"/>
                <a:cs typeface="Cambria Math"/>
              </a:rPr>
              <a:t>𝐢𝐝</a:t>
            </a:r>
            <a:r>
              <a:rPr lang="zh-CN" altLang="en-US" dirty="0"/>
              <a:t>的体</a:t>
            </a:r>
            <a:endParaRPr lang="en-US" altLang="zh-CN" dirty="0"/>
          </a:p>
          <a:p>
            <a:r>
              <a:rPr lang="zh-CN" altLang="en-US" dirty="0"/>
              <a:t>为什么把</a:t>
            </a:r>
            <a:r>
              <a:rPr lang="en-US" altLang="zh-CN" dirty="0"/>
              <a:t>id</a:t>
            </a:r>
            <a:r>
              <a:rPr lang="zh-CN" altLang="en-US" dirty="0"/>
              <a:t>归约为</a:t>
            </a:r>
            <a:r>
              <a:rPr lang="zh-CN" altLang="en-US" kern="1200" dirty="0">
                <a:solidFill>
                  <a:prstClr val="black"/>
                </a:solidFill>
                <a:latin typeface="Cambria Math"/>
                <a:cs typeface="Cambria Math"/>
              </a:rPr>
              <a:t>𝐹</a:t>
            </a:r>
            <a:r>
              <a:rPr lang="zh-CN" altLang="en-US" dirty="0"/>
              <a:t>，而不是将</a:t>
            </a:r>
            <a:r>
              <a:rPr lang="zh-CN" altLang="en-US" kern="1200" dirty="0">
                <a:solidFill>
                  <a:prstClr val="black"/>
                </a:solidFill>
                <a:latin typeface="Cambria Math"/>
                <a:cs typeface="Cambria Math"/>
              </a:rPr>
              <a:t>𝑇</a:t>
            </a:r>
            <a:r>
              <a:rPr lang="zh-CN" altLang="en-US" dirty="0"/>
              <a:t>归约为</a:t>
            </a:r>
            <a:r>
              <a:rPr lang="zh-CN" altLang="en-US" kern="1200" dirty="0">
                <a:solidFill>
                  <a:prstClr val="black"/>
                </a:solidFill>
                <a:latin typeface="Cambria Math"/>
                <a:cs typeface="Cambria Math"/>
              </a:rPr>
              <a:t>𝐸</a:t>
            </a:r>
            <a:endParaRPr lang="en-US" altLang="zh-CN" dirty="0"/>
          </a:p>
          <a:p>
            <a:r>
              <a:rPr lang="en-US" altLang="zh-CN" dirty="0"/>
              <a:t>   · </a:t>
            </a:r>
            <a:r>
              <a:rPr lang="zh-CN" altLang="en-US" dirty="0"/>
              <a:t>原因：如果将</a:t>
            </a:r>
            <a:r>
              <a:rPr lang="zh-CN" altLang="en-US" kern="1200" dirty="0">
                <a:solidFill>
                  <a:prstClr val="black"/>
                </a:solidFill>
                <a:latin typeface="Cambria Math"/>
                <a:cs typeface="Cambria Math"/>
              </a:rPr>
              <a:t>𝑇</a:t>
            </a:r>
            <a:r>
              <a:rPr lang="zh-CN" altLang="en-US" dirty="0"/>
              <a:t>归约为</a:t>
            </a:r>
            <a:r>
              <a:rPr lang="zh-CN" altLang="en-US" kern="1200" dirty="0">
                <a:solidFill>
                  <a:prstClr val="black"/>
                </a:solidFill>
                <a:latin typeface="Cambria Math"/>
                <a:cs typeface="Cambria Math"/>
              </a:rPr>
              <a:t>𝐸</a:t>
            </a:r>
            <a:r>
              <a:rPr lang="zh-CN" altLang="en-US" dirty="0"/>
              <a:t>，</a:t>
            </a:r>
            <a:r>
              <a:rPr lang="zh-CN" altLang="en-US" kern="1200" dirty="0">
                <a:solidFill>
                  <a:prstClr val="black"/>
                </a:solidFill>
                <a:latin typeface="Cambria Math"/>
                <a:cs typeface="Cambria Math"/>
              </a:rPr>
              <a:t>𝐸 </a:t>
            </a:r>
            <a:r>
              <a:rPr lang="zh-CN" altLang="en-US" dirty="0"/>
              <a:t>∗ 𝐢𝐝不再是句型</a:t>
            </a:r>
            <a:endParaRPr lang="en-US" altLang="zh-CN" dirty="0"/>
          </a:p>
          <a:p>
            <a:r>
              <a:rPr lang="en-US" altLang="zh-CN" dirty="0"/>
              <a:t>   · </a:t>
            </a:r>
            <a:r>
              <a:rPr lang="zh-CN" altLang="en-US" dirty="0"/>
              <a:t>在这之前我们如何作决定？</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90</a:t>
            </a:fld>
            <a:endParaRPr lang="zh-CN" altLang="en-US"/>
          </a:p>
        </p:txBody>
      </p:sp>
    </p:spTree>
    <p:extLst>
      <p:ext uri="{BB962C8B-B14F-4D97-AF65-F5344CB8AC3E}">
        <p14:creationId xmlns:p14="http://schemas.microsoft.com/office/powerpoint/2010/main" val="296719021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非正式地讲，句柄是和某个产生式体匹配的子串，对它的归约代表了相应的最右推导中的一个反向步骤</a:t>
            </a:r>
            <a:endParaRPr lang="en-US" altLang="zh-CN" dirty="0"/>
          </a:p>
          <a:p>
            <a:r>
              <a:rPr lang="zh-CN" altLang="en-US" dirty="0"/>
              <a:t>正式地讲，如果</a:t>
            </a:r>
            <a:r>
              <a:rPr lang="en-US" altLang="zh-CN" dirty="0"/>
              <a:t>S-&gt;*rm </a:t>
            </a:r>
            <a:r>
              <a:rPr lang="zh-CN" altLang="en-US" dirty="0"/>
              <a:t>𝛼</a:t>
            </a:r>
            <a:r>
              <a:rPr lang="en-US" altLang="zh-CN" dirty="0"/>
              <a:t>A</a:t>
            </a:r>
            <a:r>
              <a:rPr lang="zh-CN" altLang="en-US" dirty="0"/>
              <a:t>𝜔 </a:t>
            </a:r>
            <a:r>
              <a:rPr lang="en-US" altLang="zh-CN" dirty="0"/>
              <a:t>-&gt;rm </a:t>
            </a:r>
            <a:r>
              <a:rPr lang="zh-CN" altLang="en-US" dirty="0"/>
              <a:t>𝛼𝛽𝜔，那么紧跟𝛼的产生式𝐴 → 𝛽 （或者简单地𝛽</a:t>
            </a:r>
            <a:r>
              <a:rPr lang="en-US" altLang="zh-CN" dirty="0"/>
              <a:t>) </a:t>
            </a:r>
            <a:r>
              <a:rPr lang="zh-CN" altLang="en-US" dirty="0"/>
              <a:t>是句型𝛼𝛽𝜔的一个句柄</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91</a:t>
            </a:fld>
            <a:endParaRPr lang="zh-CN" altLang="en-US"/>
          </a:p>
        </p:txBody>
      </p:sp>
    </p:spTree>
    <p:extLst>
      <p:ext uri="{BB962C8B-B14F-4D97-AF65-F5344CB8AC3E}">
        <p14:creationId xmlns:p14="http://schemas.microsoft.com/office/powerpoint/2010/main" val="276460478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在最右句型中，</a:t>
            </a:r>
            <a:r>
              <a:rPr lang="en-US" altLang="zh-CN" dirty="0"/>
              <a:t> </a:t>
            </a:r>
            <a:r>
              <a:rPr lang="zh-CN" altLang="en-US" dirty="0"/>
              <a:t>句柄右侧的字符串必须仅包含终结符号</a:t>
            </a:r>
            <a:endParaRPr lang="en-US" altLang="zh-CN" dirty="0"/>
          </a:p>
          <a:p>
            <a:r>
              <a:rPr lang="zh-CN" altLang="en-US" dirty="0"/>
              <a:t>如果一个文法是无二义性的，那么该文法的每个右句型都有且只有一个句柄（如果文法二义，句柄可能不唯一）</a:t>
            </a:r>
            <a:endParaRPr lang="en-US" altLang="zh-CN" dirty="0"/>
          </a:p>
          <a:p>
            <a:r>
              <a:rPr lang="zh-CN" altLang="en-US" dirty="0"/>
              <a:t>通过句柄剪枝可以得到一个反向的最右推导</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92</a:t>
            </a:fld>
            <a:endParaRPr lang="zh-CN" altLang="en-US"/>
          </a:p>
        </p:txBody>
      </p:sp>
    </p:spTree>
    <p:extLst>
      <p:ext uri="{BB962C8B-B14F-4D97-AF65-F5344CB8AC3E}">
        <p14:creationId xmlns:p14="http://schemas.microsoft.com/office/powerpoint/2010/main" val="357493374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移入</a:t>
            </a:r>
            <a:r>
              <a:rPr lang="en-US" altLang="zh-CN" dirty="0"/>
              <a:t>-</a:t>
            </a:r>
            <a:r>
              <a:rPr lang="zh-CN" altLang="en-US" dirty="0"/>
              <a:t>归约语法分析技术是自底向上语法分析的一种通用方式，其中：</a:t>
            </a:r>
          </a:p>
          <a:p>
            <a:r>
              <a:rPr lang="zh-CN" altLang="en-US" dirty="0"/>
              <a:t>  </a:t>
            </a:r>
            <a:r>
              <a:rPr lang="en-US" altLang="zh-CN" dirty="0"/>
              <a:t>· </a:t>
            </a:r>
            <a:r>
              <a:rPr lang="zh-CN" altLang="en-US" dirty="0"/>
              <a:t>使用栈保存文法符号</a:t>
            </a:r>
            <a:endParaRPr lang="en-US" altLang="zh-CN" dirty="0"/>
          </a:p>
          <a:p>
            <a:r>
              <a:rPr lang="zh-CN" altLang="en-US" dirty="0"/>
              <a:t>  </a:t>
            </a:r>
            <a:r>
              <a:rPr lang="en-US" altLang="zh-CN" dirty="0"/>
              <a:t>· </a:t>
            </a:r>
            <a:r>
              <a:rPr lang="zh-CN" altLang="en-US" dirty="0"/>
              <a:t>使用输入缓冲区保存要进行语法分析的字符串的其余部分</a:t>
            </a:r>
            <a:endParaRPr lang="en-US" altLang="zh-CN" dirty="0"/>
          </a:p>
          <a:p>
            <a:r>
              <a:rPr lang="en-US" altLang="zh-CN" dirty="0"/>
              <a:t>  · </a:t>
            </a:r>
            <a:r>
              <a:rPr lang="zh-CN" altLang="en-US" dirty="0"/>
              <a:t>栈内容（从底部到顶部）和输入缓冲区内容形成最右句型（假设没有错误）</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93</a:t>
            </a:fld>
            <a:endParaRPr lang="zh-CN" altLang="en-US"/>
          </a:p>
        </p:txBody>
      </p:sp>
    </p:spTree>
    <p:extLst>
      <p:ext uri="{BB962C8B-B14F-4D97-AF65-F5344CB8AC3E}">
        <p14:creationId xmlns:p14="http://schemas.microsoft.com/office/powerpoint/2010/main" val="335872692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初始状态：</a:t>
            </a:r>
          </a:p>
          <a:p>
            <a:r>
              <a:rPr lang="zh-CN" altLang="en-US" dirty="0"/>
              <a:t>移入</a:t>
            </a:r>
            <a:r>
              <a:rPr lang="en-US" altLang="zh-CN" dirty="0"/>
              <a:t>-</a:t>
            </a:r>
            <a:r>
              <a:rPr lang="zh-CN" altLang="en-US" dirty="0"/>
              <a:t>归约过程：</a:t>
            </a:r>
          </a:p>
          <a:p>
            <a:r>
              <a:rPr lang="zh-CN" altLang="en-US" dirty="0"/>
              <a:t>   </a:t>
            </a:r>
            <a:r>
              <a:rPr lang="en-US" altLang="zh-CN" dirty="0"/>
              <a:t>· </a:t>
            </a:r>
            <a:r>
              <a:rPr lang="zh-CN" altLang="en-US" dirty="0"/>
              <a:t>语法分析器将零个或多个输入符号转移到栈顶上，直到它可以对栈顶的一个文法符号串𝛽进行归约为止</a:t>
            </a:r>
            <a:endParaRPr lang="en-US" altLang="zh-CN" dirty="0"/>
          </a:p>
          <a:p>
            <a:r>
              <a:rPr lang="zh-CN" altLang="en-US" dirty="0"/>
              <a:t>   </a:t>
            </a:r>
            <a:r>
              <a:rPr lang="en-US" altLang="zh-CN" dirty="0"/>
              <a:t>· </a:t>
            </a:r>
            <a:r>
              <a:rPr lang="zh-CN" altLang="en-US" dirty="0"/>
              <a:t>将𝛽归约为某个产生式的头</a:t>
            </a:r>
            <a:endParaRPr lang="en-US" altLang="zh-CN" dirty="0"/>
          </a:p>
          <a:p>
            <a:r>
              <a:rPr lang="zh-CN" altLang="en-US" dirty="0"/>
              <a:t>语法分析器重复上述循环，直到检测到错误或栈包含开始符号且输入为空</a:t>
            </a:r>
            <a:endParaRPr lang="en-US" altLang="zh-CN" dirty="0"/>
          </a:p>
          <a:p>
            <a:endParaRPr lang="zh-CN" altLang="en-US" dirty="0"/>
          </a:p>
          <a:p>
            <a:r>
              <a:rPr lang="zh-CN" altLang="en-US" dirty="0"/>
              <a:t>*在移入</a:t>
            </a:r>
            <a:r>
              <a:rPr lang="en-US" altLang="zh-CN" dirty="0"/>
              <a:t>-</a:t>
            </a:r>
            <a:r>
              <a:rPr lang="zh-CN" altLang="en-US" dirty="0"/>
              <a:t>归约解析过程中，句柄最终总是出现在栈的顶部</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94</a:t>
            </a:fld>
            <a:endParaRPr lang="zh-CN" altLang="en-US"/>
          </a:p>
        </p:txBody>
      </p:sp>
    </p:spTree>
    <p:extLst>
      <p:ext uri="{BB962C8B-B14F-4D97-AF65-F5344CB8AC3E}">
        <p14:creationId xmlns:p14="http://schemas.microsoft.com/office/powerpoint/2010/main" val="249121907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示例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95</a:t>
            </a:fld>
            <a:endParaRPr lang="zh-CN" altLang="en-US"/>
          </a:p>
        </p:txBody>
      </p:sp>
    </p:spTree>
    <p:extLst>
      <p:ext uri="{BB962C8B-B14F-4D97-AF65-F5344CB8AC3E}">
        <p14:creationId xmlns:p14="http://schemas.microsoft.com/office/powerpoint/2010/main" val="51628009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为什么句柄总是出现在栈顶？</a:t>
            </a:r>
            <a:endParaRPr lang="en-US" altLang="zh-CN" dirty="0"/>
          </a:p>
          <a:p>
            <a:r>
              <a:rPr lang="zh-CN" altLang="en-US" dirty="0"/>
              <a:t>（枚举分析）考虑在任何最右推导中两个连续步骤的可能具有的形式</a:t>
            </a:r>
            <a:endParaRPr lang="en-US" altLang="zh-CN" dirty="0"/>
          </a:p>
          <a:p>
            <a:r>
              <a:rPr lang="zh-CN" altLang="en-US" dirty="0"/>
              <a:t>情况</a:t>
            </a:r>
            <a:r>
              <a:rPr lang="en-US" altLang="zh-CN" dirty="0"/>
              <a:t>1</a:t>
            </a:r>
            <a:r>
              <a:rPr lang="zh-CN" altLang="en-US" dirty="0"/>
              <a:t>：</a:t>
            </a:r>
            <a:endParaRPr lang="en-US" altLang="zh-CN" dirty="0"/>
          </a:p>
          <a:p>
            <a:r>
              <a:rPr lang="zh-CN" altLang="en-US" dirty="0"/>
              <a:t>   步骤</a:t>
            </a:r>
            <a:r>
              <a:rPr lang="en-US" altLang="zh-CN" dirty="0"/>
              <a:t>1</a:t>
            </a:r>
            <a:r>
              <a:rPr lang="zh-CN" altLang="en-US" dirty="0"/>
              <a:t>：最右边的非终结符𝐴 被一个带有非终结符的字符串替换。假设𝐵 是字符串中最右边的非终结符。</a:t>
            </a:r>
          </a:p>
          <a:p>
            <a:r>
              <a:rPr lang="zh-CN" altLang="en-US" dirty="0"/>
              <a:t>   步骤</a:t>
            </a:r>
            <a:r>
              <a:rPr lang="en-US" altLang="zh-CN" dirty="0"/>
              <a:t>2</a:t>
            </a:r>
            <a:r>
              <a:rPr lang="zh-CN" altLang="en-US" dirty="0"/>
              <a:t>：𝐵 被替换为𝛾</a:t>
            </a:r>
            <a:endParaRPr lang="en-US" altLang="zh-CN" dirty="0"/>
          </a:p>
          <a:p>
            <a:r>
              <a:rPr lang="zh-CN" altLang="en-US" dirty="0"/>
              <a:t>情况</a:t>
            </a:r>
            <a:r>
              <a:rPr lang="en-US" altLang="zh-CN" dirty="0"/>
              <a:t>2</a:t>
            </a:r>
            <a:r>
              <a:rPr lang="zh-CN" altLang="en-US" dirty="0"/>
              <a:t>：</a:t>
            </a:r>
            <a:endParaRPr lang="en-US" altLang="zh-CN" dirty="0"/>
          </a:p>
          <a:p>
            <a:r>
              <a:rPr lang="zh-CN" altLang="en-US" dirty="0"/>
              <a:t>   步骤</a:t>
            </a:r>
            <a:r>
              <a:rPr lang="en-US" altLang="zh-CN" dirty="0"/>
              <a:t>1</a:t>
            </a:r>
            <a:r>
              <a:rPr lang="zh-CN" altLang="en-US" dirty="0"/>
              <a:t>：最右边的非终结符𝐴 被替换为𝑦，𝑦中仅包含终结符。</a:t>
            </a:r>
          </a:p>
          <a:p>
            <a:r>
              <a:rPr lang="zh-CN" altLang="en-US" dirty="0"/>
              <a:t>   步骤</a:t>
            </a:r>
            <a:r>
              <a:rPr lang="en-US" altLang="zh-CN" dirty="0"/>
              <a:t>2</a:t>
            </a:r>
            <a:r>
              <a:rPr lang="zh-CN" altLang="en-US" dirty="0"/>
              <a:t>：下一个最右边的非终结符𝐵 将位于𝛾左侧的某个地方</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96</a:t>
            </a:fld>
            <a:endParaRPr lang="zh-CN" altLang="en-US"/>
          </a:p>
        </p:txBody>
      </p:sp>
    </p:spTree>
    <p:extLst>
      <p:ext uri="{BB962C8B-B14F-4D97-AF65-F5344CB8AC3E}">
        <p14:creationId xmlns:p14="http://schemas.microsoft.com/office/powerpoint/2010/main" val="24467455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在这两种情况下，语法分析器在进行一次归约后，都必须接着移入零个或多个符号才能在栈顶找到下一个句柄。因此它不需要到栈中间去寻找句柄。</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97</a:t>
            </a:fld>
            <a:endParaRPr lang="zh-CN" altLang="en-US"/>
          </a:p>
        </p:txBody>
      </p:sp>
    </p:spTree>
    <p:extLst>
      <p:ext uri="{BB962C8B-B14F-4D97-AF65-F5344CB8AC3E}">
        <p14:creationId xmlns:p14="http://schemas.microsoft.com/office/powerpoint/2010/main" val="36371752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移入</a:t>
            </a:r>
            <a:r>
              <a:rPr lang="en-US" altLang="zh-CN" dirty="0"/>
              <a:t>-</a:t>
            </a:r>
            <a:r>
              <a:rPr lang="zh-CN" altLang="en-US" dirty="0"/>
              <a:t>归约语法分析中的冲突</a:t>
            </a:r>
            <a:endParaRPr lang="en-US" altLang="zh-CN" dirty="0"/>
          </a:p>
          <a:p>
            <a:r>
              <a:rPr lang="zh-CN" altLang="en-US" dirty="0"/>
              <a:t>有些上下文无关文法不能使用移入</a:t>
            </a:r>
            <a:r>
              <a:rPr lang="en-US" altLang="zh-CN" dirty="0"/>
              <a:t>-</a:t>
            </a:r>
            <a:r>
              <a:rPr lang="zh-CN" altLang="en-US" dirty="0"/>
              <a:t>归约语法分析技术</a:t>
            </a:r>
          </a:p>
          <a:p>
            <a:r>
              <a:rPr lang="zh-CN" altLang="en-US" dirty="0"/>
              <a:t>这种文法的每一个移入</a:t>
            </a:r>
            <a:r>
              <a:rPr lang="en-US" altLang="zh-CN" dirty="0"/>
              <a:t>-</a:t>
            </a:r>
            <a:r>
              <a:rPr lang="zh-CN" altLang="en-US" dirty="0"/>
              <a:t>归约语法分析器都会达到这样一种格局：即使移入</a:t>
            </a:r>
            <a:r>
              <a:rPr lang="en-US" altLang="zh-CN" dirty="0"/>
              <a:t>-</a:t>
            </a:r>
            <a:r>
              <a:rPr lang="zh-CN" altLang="en-US" dirty="0"/>
              <a:t>归约语法分析器知道整个栈的内容以及下一个输入符号</a:t>
            </a:r>
            <a:r>
              <a:rPr lang="en-US" altLang="zh-CN" dirty="0"/>
              <a:t>k</a:t>
            </a:r>
            <a:r>
              <a:rPr lang="zh-CN" altLang="en-US" dirty="0"/>
              <a:t>，仍然无法决定是进行移入还是归约（移入</a:t>
            </a:r>
            <a:r>
              <a:rPr lang="en-US" altLang="zh-CN" dirty="0"/>
              <a:t>/</a:t>
            </a:r>
            <a:r>
              <a:rPr lang="zh-CN" altLang="en-US" dirty="0"/>
              <a:t>归约冲突）或者无法在多个可能的归约方法中选择正确的归约动作（归约</a:t>
            </a:r>
            <a:r>
              <a:rPr lang="en-US" altLang="zh-CN" dirty="0"/>
              <a:t>/</a:t>
            </a:r>
            <a:r>
              <a:rPr lang="zh-CN" altLang="en-US" dirty="0"/>
              <a:t>归约冲突）</a:t>
            </a:r>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98</a:t>
            </a:fld>
            <a:endParaRPr lang="zh-CN" altLang="en-US"/>
          </a:p>
        </p:txBody>
      </p:sp>
    </p:spTree>
    <p:extLst>
      <p:ext uri="{BB962C8B-B14F-4D97-AF65-F5344CB8AC3E}">
        <p14:creationId xmlns:p14="http://schemas.microsoft.com/office/powerpoint/2010/main" val="95148650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移入</a:t>
            </a:r>
            <a:r>
              <a:rPr lang="en-US" altLang="zh-CN" dirty="0"/>
              <a:t>/</a:t>
            </a:r>
            <a:r>
              <a:rPr lang="zh-CN" altLang="en-US" dirty="0"/>
              <a:t>归约冲突示例，是应该把栈内的进行规约还是继续移入？</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99</a:t>
            </a:fld>
            <a:endParaRPr lang="zh-CN" altLang="en-US"/>
          </a:p>
        </p:txBody>
      </p:sp>
    </p:spTree>
    <p:extLst>
      <p:ext uri="{BB962C8B-B14F-4D97-AF65-F5344CB8AC3E}">
        <p14:creationId xmlns:p14="http://schemas.microsoft.com/office/powerpoint/2010/main" val="327817209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归约</a:t>
            </a:r>
            <a:r>
              <a:rPr lang="en-US" altLang="zh-CN" dirty="0"/>
              <a:t>/</a:t>
            </a:r>
            <a:r>
              <a:rPr lang="zh-CN" altLang="en-US" dirty="0"/>
              <a:t>归约冲突示例，不知用哪个产生式进行规约</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100</a:t>
            </a:fld>
            <a:endParaRPr lang="zh-CN" altLang="en-US"/>
          </a:p>
        </p:txBody>
      </p:sp>
    </p:spTree>
    <p:extLst>
      <p:ext uri="{BB962C8B-B14F-4D97-AF65-F5344CB8AC3E}">
        <p14:creationId xmlns:p14="http://schemas.microsoft.com/office/powerpoint/2010/main" val="68376869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1" dirty="0">
                <a:latin typeface="黑体" panose="02010609060101010101" pitchFamily="49" charset="-122"/>
                <a:ea typeface="黑体" panose="02010609060101010101" pitchFamily="49" charset="-122"/>
              </a:rPr>
              <a:t>简单</a:t>
            </a:r>
            <a:r>
              <a:rPr lang="en-US" altLang="zh-CN" sz="1800" b="1" dirty="0">
                <a:latin typeface="黑体" panose="02010609060101010101" pitchFamily="49" charset="-122"/>
                <a:ea typeface="黑体" panose="02010609060101010101" pitchFamily="49" charset="-122"/>
              </a:rPr>
              <a:t>LR</a:t>
            </a:r>
          </a:p>
          <a:p>
            <a:r>
              <a:rPr lang="zh-CN" altLang="en-US" sz="1800" dirty="0">
                <a:latin typeface="黑体" panose="02010609060101010101" pitchFamily="49" charset="-122"/>
                <a:ea typeface="黑体" panose="02010609060101010101" pitchFamily="49" charset="-122"/>
              </a:rPr>
              <a:t>规范</a:t>
            </a:r>
            <a:r>
              <a:rPr lang="en-US" altLang="zh-CN" sz="1800" dirty="0">
                <a:latin typeface="黑体" panose="02010609060101010101" pitchFamily="49" charset="-122"/>
                <a:ea typeface="黑体" panose="02010609060101010101" pitchFamily="49" charset="-122"/>
              </a:rPr>
              <a:t>LR</a:t>
            </a:r>
          </a:p>
          <a:p>
            <a:r>
              <a:rPr lang="zh-CN" altLang="en-US" sz="1800" dirty="0">
                <a:latin typeface="黑体" panose="02010609060101010101" pitchFamily="49" charset="-122"/>
                <a:ea typeface="黑体" panose="02010609060101010101" pitchFamily="49" charset="-122"/>
              </a:rPr>
              <a:t>错误恢复</a:t>
            </a:r>
            <a:endParaRPr lang="en-US" altLang="zh-CN" sz="1800" dirty="0">
              <a:latin typeface="黑体" panose="02010609060101010101" pitchFamily="49" charset="-122"/>
              <a:ea typeface="黑体" panose="02010609060101010101" pitchFamily="49" charset="-122"/>
            </a:endParaRPr>
          </a:p>
          <a:p>
            <a:endParaRPr lang="zh-CN" altLang="en-US" sz="1800" dirty="0">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101</a:t>
            </a:fld>
            <a:endParaRPr lang="zh-CN" altLang="en-US"/>
          </a:p>
        </p:txBody>
      </p:sp>
    </p:spTree>
    <p:extLst>
      <p:ext uri="{BB962C8B-B14F-4D97-AF65-F5344CB8AC3E}">
        <p14:creationId xmlns:p14="http://schemas.microsoft.com/office/powerpoint/2010/main" val="271687797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LR(k)</a:t>
            </a:r>
            <a:r>
              <a:rPr lang="zh-CN" altLang="en-US" dirty="0"/>
              <a:t>语法分析器：最流行的自底向上的语法分析器类型</a:t>
            </a:r>
          </a:p>
          <a:p>
            <a:r>
              <a:rPr lang="en-US" altLang="zh-CN" dirty="0"/>
              <a:t>   · L</a:t>
            </a:r>
            <a:r>
              <a:rPr lang="zh-CN" altLang="en-US" dirty="0"/>
              <a:t>： 从左到右扫描输入</a:t>
            </a:r>
          </a:p>
          <a:p>
            <a:r>
              <a:rPr lang="en-US" altLang="zh-CN" dirty="0"/>
              <a:t>   · R</a:t>
            </a:r>
            <a:r>
              <a:rPr lang="zh-CN" altLang="en-US" dirty="0"/>
              <a:t>： 反向构造最右推导</a:t>
            </a:r>
          </a:p>
          <a:p>
            <a:r>
              <a:rPr lang="en-US" altLang="zh-CN" dirty="0"/>
              <a:t>   · k</a:t>
            </a:r>
            <a:r>
              <a:rPr lang="zh-CN" altLang="en-US" dirty="0"/>
              <a:t>： 在做出解析决策时使用</a:t>
            </a:r>
            <a:r>
              <a:rPr lang="en-US" altLang="zh-CN" dirty="0"/>
              <a:t>k</a:t>
            </a:r>
            <a:r>
              <a:rPr lang="zh-CN" altLang="en-US" dirty="0"/>
              <a:t>个前瞻性输入符号</a:t>
            </a:r>
          </a:p>
          <a:p>
            <a:r>
              <a:rPr lang="en-US" altLang="zh-CN" dirty="0"/>
              <a:t>LR(0)</a:t>
            </a:r>
            <a:r>
              <a:rPr lang="zh-CN" altLang="en-US" dirty="0"/>
              <a:t>和</a:t>
            </a:r>
            <a:r>
              <a:rPr lang="en-US" altLang="zh-CN" dirty="0"/>
              <a:t>LR(1)</a:t>
            </a:r>
            <a:r>
              <a:rPr lang="zh-CN" altLang="en-US" dirty="0"/>
              <a:t>语法分析器具有实际意义</a:t>
            </a:r>
          </a:p>
          <a:p>
            <a:r>
              <a:rPr lang="zh-CN" altLang="en-US" dirty="0"/>
              <a:t>当𝑘 ≥ </a:t>
            </a:r>
            <a:r>
              <a:rPr lang="en-US" altLang="zh-CN" dirty="0"/>
              <a:t>2</a:t>
            </a:r>
            <a:r>
              <a:rPr lang="zh-CN" altLang="en-US" dirty="0"/>
              <a:t>时，语法分析器变得太复杂，无法构建（解析表太大，无法管理）</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102</a:t>
            </a:fld>
            <a:endParaRPr lang="zh-CN" altLang="en-US"/>
          </a:p>
        </p:txBody>
      </p:sp>
    </p:spTree>
    <p:extLst>
      <p:ext uri="{BB962C8B-B14F-4D97-AF65-F5344CB8AC3E}">
        <p14:creationId xmlns:p14="http://schemas.microsoft.com/office/powerpoint/2010/main" val="210455305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a:t>
            </a:r>
            <a:r>
              <a:rPr lang="zh-CN" altLang="en-US" dirty="0"/>
              <a:t>语法分析器的优势</a:t>
            </a:r>
            <a:endParaRPr lang="en-US" altLang="zh-CN" dirty="0"/>
          </a:p>
          <a:p>
            <a:r>
              <a:rPr lang="en-US" altLang="zh-CN" dirty="0"/>
              <a:t>· </a:t>
            </a:r>
            <a:r>
              <a:rPr lang="zh-CN" altLang="en-US" dirty="0"/>
              <a:t>表驱动（类似于非递归</a:t>
            </a:r>
            <a:r>
              <a:rPr lang="en-US" altLang="zh-CN" dirty="0"/>
              <a:t>LL</a:t>
            </a:r>
            <a:r>
              <a:rPr lang="zh-CN" altLang="en-US" dirty="0"/>
              <a:t>语法分析器）、强大</a:t>
            </a:r>
          </a:p>
          <a:p>
            <a:r>
              <a:rPr lang="zh-CN" altLang="en-US" dirty="0"/>
              <a:t>   </a:t>
            </a:r>
            <a:r>
              <a:rPr lang="en-US" altLang="zh-CN" dirty="0"/>
              <a:t>· </a:t>
            </a:r>
            <a:r>
              <a:rPr lang="zh-CN" altLang="en-US" dirty="0"/>
              <a:t>尽管手工构建</a:t>
            </a:r>
            <a:r>
              <a:rPr lang="en-US" altLang="zh-CN" dirty="0"/>
              <a:t>LR</a:t>
            </a:r>
            <a:r>
              <a:rPr lang="zh-CN" altLang="en-US" dirty="0"/>
              <a:t>语法分析器工作量太大，但也有一些语法分析器生成器可以自动构建语法分析表</a:t>
            </a:r>
          </a:p>
          <a:p>
            <a:r>
              <a:rPr lang="zh-CN" altLang="en-US" dirty="0"/>
              <a:t>   </a:t>
            </a:r>
            <a:r>
              <a:rPr lang="en-US" altLang="zh-CN" dirty="0"/>
              <a:t>· </a:t>
            </a:r>
            <a:r>
              <a:rPr lang="zh-CN" altLang="en-US" dirty="0"/>
              <a:t>相比之下，</a:t>
            </a:r>
            <a:r>
              <a:rPr lang="en-US" altLang="zh-CN" dirty="0"/>
              <a:t>LL</a:t>
            </a:r>
            <a:r>
              <a:rPr lang="zh-CN" altLang="en-US" dirty="0"/>
              <a:t>语法分析器往往更容易手工编写，但功能较弱（处理的语法较少）</a:t>
            </a:r>
          </a:p>
          <a:p>
            <a:r>
              <a:rPr lang="en-US" altLang="zh-CN" dirty="0"/>
              <a:t>· LR</a:t>
            </a:r>
            <a:r>
              <a:rPr lang="zh-CN" altLang="en-US" dirty="0"/>
              <a:t>语法分析技术是已知的最通用的非回溯移入</a:t>
            </a:r>
            <a:r>
              <a:rPr lang="en-US" altLang="zh-CN" dirty="0"/>
              <a:t>-</a:t>
            </a:r>
            <a:r>
              <a:rPr lang="zh-CN" altLang="en-US" dirty="0"/>
              <a:t>归约语法分析方法</a:t>
            </a:r>
          </a:p>
          <a:p>
            <a:r>
              <a:rPr lang="en-US" altLang="zh-CN" dirty="0"/>
              <a:t>· LR</a:t>
            </a:r>
            <a:r>
              <a:rPr lang="zh-CN" altLang="en-US" dirty="0"/>
              <a:t>语法分析器可以被构造为识别几乎所有可以为其编写</a:t>
            </a:r>
            <a:r>
              <a:rPr lang="en-US" altLang="zh-CN" dirty="0"/>
              <a:t>CFG</a:t>
            </a:r>
            <a:r>
              <a:rPr lang="zh-CN" altLang="en-US" dirty="0"/>
              <a:t>的编程语言结构</a:t>
            </a:r>
          </a:p>
          <a:p>
            <a:r>
              <a:rPr lang="en-US" altLang="zh-CN" dirty="0"/>
              <a:t>· LR</a:t>
            </a:r>
            <a:r>
              <a:rPr lang="zh-CN" altLang="en-US" dirty="0"/>
              <a:t>语法比</a:t>
            </a:r>
            <a:r>
              <a:rPr lang="en-US" altLang="zh-CN" dirty="0"/>
              <a:t>LL</a:t>
            </a:r>
            <a:r>
              <a:rPr lang="zh-CN" altLang="en-US" dirty="0"/>
              <a:t>语法可以描述更多的语言</a:t>
            </a:r>
          </a:p>
          <a:p>
            <a:r>
              <a:rPr lang="zh-CN" altLang="en-US" dirty="0"/>
              <a:t>   </a:t>
            </a:r>
            <a:r>
              <a:rPr lang="en-US" altLang="zh-CN" dirty="0"/>
              <a:t>· </a:t>
            </a:r>
            <a:r>
              <a:rPr lang="zh-CN" altLang="en-US" dirty="0"/>
              <a:t>回想文法成为</a:t>
            </a:r>
            <a:r>
              <a:rPr lang="en-US" altLang="zh-CN" dirty="0"/>
              <a:t>LL(1)</a:t>
            </a:r>
            <a:r>
              <a:rPr lang="zh-CN" altLang="en-US" dirty="0"/>
              <a:t>的严格条件</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103</a:t>
            </a:fld>
            <a:endParaRPr lang="zh-CN" altLang="en-US"/>
          </a:p>
        </p:txBody>
      </p:sp>
    </p:spTree>
    <p:extLst>
      <p:ext uri="{BB962C8B-B14F-4D97-AF65-F5344CB8AC3E}">
        <p14:creationId xmlns:p14="http://schemas.microsoft.com/office/powerpoint/2010/main" val="369026709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移入</a:t>
            </a:r>
            <a:r>
              <a:rPr lang="en-US" altLang="zh-CN" dirty="0"/>
              <a:t>-</a:t>
            </a:r>
            <a:r>
              <a:rPr lang="zh-CN" altLang="en-US" dirty="0"/>
              <a:t>归约语法分析器如何知道𝑇 栈顶上没有句柄（所以正确的操作是移入，而不是归约𝑇 到𝐸</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104</a:t>
            </a:fld>
            <a:endParaRPr lang="zh-CN" altLang="en-US"/>
          </a:p>
        </p:txBody>
      </p:sp>
    </p:spTree>
    <p:extLst>
      <p:ext uri="{BB962C8B-B14F-4D97-AF65-F5344CB8AC3E}">
        <p14:creationId xmlns:p14="http://schemas.microsoft.com/office/powerpoint/2010/main" val="362855180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a:t>
            </a:r>
            <a:r>
              <a:rPr lang="en-US" altLang="zh-CN" dirty="0"/>
              <a:t>LR</a:t>
            </a:r>
            <a:r>
              <a:rPr lang="zh-CN" altLang="en-US" dirty="0"/>
              <a:t>语法分析器通过维护一些状态来跟踪在语法分析中所处的位置，从而来做出移入</a:t>
            </a:r>
            <a:r>
              <a:rPr lang="en-US" altLang="zh-CN" dirty="0"/>
              <a:t>-</a:t>
            </a:r>
            <a:r>
              <a:rPr lang="zh-CN" altLang="en-US" dirty="0"/>
              <a:t>归约的决策。</a:t>
            </a:r>
          </a:p>
          <a:p>
            <a:r>
              <a:rPr lang="en-US" altLang="zh-CN" dirty="0"/>
              <a:t>LR(0)</a:t>
            </a:r>
            <a:r>
              <a:rPr lang="zh-CN" altLang="en-US" dirty="0"/>
              <a:t>项（简称</a:t>
            </a:r>
            <a:r>
              <a:rPr lang="en-US" altLang="zh-CN" dirty="0"/>
              <a:t>item</a:t>
            </a:r>
            <a:r>
              <a:rPr lang="zh-CN" altLang="en-US" dirty="0"/>
              <a:t>）是产生式再加上一个位于它的体中某处的点，表示在语法分析过程中的给定点上，我们已经看到了一个产生式的哪些部分。</a:t>
            </a:r>
          </a:p>
          <a:p>
            <a:r>
              <a:rPr lang="zh-CN" altLang="en-US" dirty="0"/>
              <a:t>𝐴 →</a:t>
            </a:r>
            <a:r>
              <a:rPr lang="en-US" altLang="zh-CN" dirty="0"/>
              <a:t>} </a:t>
            </a:r>
            <a:r>
              <a:rPr lang="zh-CN" altLang="en-US" dirty="0"/>
              <a:t>𝑋𝑌𝑍𝐴 → 𝑋 </a:t>
            </a:r>
            <a:r>
              <a:rPr lang="en-US" altLang="zh-CN" dirty="0"/>
              <a:t>} </a:t>
            </a:r>
            <a:r>
              <a:rPr lang="zh-CN" altLang="en-US" dirty="0"/>
              <a:t>𝑌𝑍𝐴 → 𝑋𝑌 </a:t>
            </a:r>
            <a:r>
              <a:rPr lang="en-US" altLang="zh-CN" dirty="0"/>
              <a:t>} </a:t>
            </a:r>
            <a:r>
              <a:rPr lang="zh-CN" altLang="en-US" dirty="0"/>
              <a:t>𝑍𝐴 → 𝑋𝑌𝑍 </a:t>
            </a:r>
            <a:r>
              <a:rPr lang="en-US" altLang="zh-CN" dirty="0"/>
              <a:t>}</a:t>
            </a:r>
          </a:p>
          <a:p>
            <a:r>
              <a:rPr lang="zh-CN" altLang="en-US" dirty="0"/>
              <a:t>𝐴 → 𝑋 </a:t>
            </a:r>
            <a:r>
              <a:rPr lang="en-US" altLang="zh-CN" dirty="0"/>
              <a:t>} </a:t>
            </a:r>
            <a:r>
              <a:rPr lang="zh-CN" altLang="en-US" dirty="0"/>
              <a:t>𝑌𝑍</a:t>
            </a:r>
            <a:r>
              <a:rPr lang="en-US" altLang="zh-CN" dirty="0"/>
              <a:t>: </a:t>
            </a:r>
            <a:r>
              <a:rPr lang="zh-CN" altLang="en-US" dirty="0"/>
              <a:t>我们刚刚在输入中看到了一个可以由</a:t>
            </a:r>
            <a:r>
              <a:rPr lang="en-US" altLang="zh-CN" dirty="0"/>
              <a:t>X</a:t>
            </a:r>
            <a:r>
              <a:rPr lang="zh-CN" altLang="en-US" dirty="0"/>
              <a:t>推导得到的字符串，我们希望接下来看到一个能从</a:t>
            </a:r>
            <a:r>
              <a:rPr lang="en-US" altLang="zh-CN" dirty="0"/>
              <a:t>YZ</a:t>
            </a:r>
            <a:r>
              <a:rPr lang="zh-CN" altLang="en-US" dirty="0"/>
              <a:t>推导得到的字符串</a:t>
            </a:r>
          </a:p>
          <a:p>
            <a:r>
              <a:rPr lang="zh-CN" altLang="en-US" dirty="0"/>
              <a:t>状态：</a:t>
            </a:r>
            <a:r>
              <a:rPr lang="en-US" altLang="zh-CN" dirty="0"/>
              <a:t>LR(0)</a:t>
            </a:r>
            <a:r>
              <a:rPr lang="zh-CN" altLang="en-US" dirty="0"/>
              <a:t>项集</a:t>
            </a:r>
            <a:endParaRPr lang="en-US" altLang="zh-CN" dirty="0"/>
          </a:p>
          <a:p>
            <a:r>
              <a:rPr lang="zh-CN" altLang="en-US" dirty="0"/>
              <a:t>产生式𝐴 → 𝜖 仅生成一个</a:t>
            </a:r>
            <a:r>
              <a:rPr lang="en-US" altLang="zh-CN" dirty="0"/>
              <a:t>item </a:t>
            </a:r>
            <a:r>
              <a:rPr lang="zh-CN" altLang="en-US" dirty="0"/>
              <a:t>𝐴 →</a:t>
            </a:r>
            <a:r>
              <a:rPr lang="en-US" altLang="zh-CN" dirty="0"/>
              <a:t> ·</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105</a:t>
            </a:fld>
            <a:endParaRPr lang="zh-CN" altLang="en-US"/>
          </a:p>
        </p:txBody>
      </p:sp>
    </p:spTree>
    <p:extLst>
      <p:ext uri="{BB962C8B-B14F-4D97-AF65-F5344CB8AC3E}">
        <p14:creationId xmlns:p14="http://schemas.microsoft.com/office/powerpoint/2010/main" val="35380197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规范</a:t>
            </a:r>
            <a:r>
              <a:rPr lang="en-US" altLang="zh-CN" dirty="0"/>
              <a:t>LR(0)</a:t>
            </a:r>
            <a:r>
              <a:rPr lang="zh-CN" altLang="en-US" dirty="0"/>
              <a:t>项集族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LR(0)</a:t>
            </a:r>
            <a:r>
              <a:rPr lang="zh-CN" altLang="en-US" dirty="0"/>
              <a:t>项集合的一个集合，称为规范</a:t>
            </a:r>
            <a:r>
              <a:rPr lang="en-US" altLang="zh-CN" dirty="0"/>
              <a:t>LR(0)</a:t>
            </a:r>
            <a:r>
              <a:rPr lang="zh-CN" altLang="en-US" dirty="0"/>
              <a:t>项集族</a:t>
            </a:r>
            <a:r>
              <a:rPr lang="en-US" altLang="zh-CN" dirty="0"/>
              <a:t>, </a:t>
            </a:r>
            <a:r>
              <a:rPr lang="zh-CN" altLang="en-US" dirty="0"/>
              <a:t>为构建用于做出语法分析决定的</a:t>
            </a:r>
            <a:r>
              <a:rPr lang="en-US" altLang="zh-CN" dirty="0"/>
              <a:t>DFA</a:t>
            </a:r>
            <a:r>
              <a:rPr lang="zh-CN" altLang="en-US" dirty="0"/>
              <a:t>提供了基础</a:t>
            </a:r>
          </a:p>
          <a:p>
            <a:r>
              <a:rPr lang="zh-CN" altLang="en-US" dirty="0"/>
              <a:t>为了构造文法的</a:t>
            </a:r>
            <a:r>
              <a:rPr lang="en-US" altLang="zh-CN" dirty="0"/>
              <a:t>LR(0)</a:t>
            </a:r>
            <a:r>
              <a:rPr lang="zh-CN" altLang="en-US" dirty="0"/>
              <a:t>项集规范族，我们需要定义：</a:t>
            </a:r>
          </a:p>
          <a:p>
            <a:r>
              <a:rPr lang="zh-CN" altLang="en-US" dirty="0"/>
              <a:t>   </a:t>
            </a:r>
            <a:r>
              <a:rPr lang="en-US" altLang="zh-CN" dirty="0"/>
              <a:t>· </a:t>
            </a:r>
            <a:r>
              <a:rPr lang="zh-CN" altLang="en-US" dirty="0"/>
              <a:t>增广文法</a:t>
            </a:r>
            <a:endParaRPr lang="en-US" altLang="zh-CN" dirty="0"/>
          </a:p>
          <a:p>
            <a:r>
              <a:rPr lang="zh-CN" altLang="en-US" dirty="0"/>
              <a:t>   </a:t>
            </a:r>
            <a:r>
              <a:rPr lang="en-US" altLang="zh-CN" dirty="0"/>
              <a:t>· </a:t>
            </a:r>
            <a:r>
              <a:rPr lang="zh-CN" altLang="en-US" dirty="0"/>
              <a:t>两个函数：（</a:t>
            </a:r>
            <a:r>
              <a:rPr lang="en-US" altLang="zh-CN" dirty="0"/>
              <a:t>1</a:t>
            </a:r>
            <a:r>
              <a:rPr lang="zh-CN" altLang="en-US" dirty="0"/>
              <a:t>）项集闭包的</a:t>
            </a:r>
            <a:r>
              <a:rPr lang="en-US" altLang="zh-CN" dirty="0"/>
              <a:t>CLOSURE </a:t>
            </a:r>
            <a:r>
              <a:rPr lang="zh-CN" altLang="en-US" dirty="0"/>
              <a:t>和（</a:t>
            </a:r>
            <a:r>
              <a:rPr lang="en-US" altLang="zh-CN" dirty="0"/>
              <a:t>2</a:t>
            </a:r>
            <a:r>
              <a:rPr lang="zh-CN" altLang="en-US" dirty="0"/>
              <a:t>）</a:t>
            </a:r>
            <a:r>
              <a:rPr lang="en-US" altLang="zh-CN" dirty="0"/>
              <a:t>GOTO</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106</a:t>
            </a:fld>
            <a:endParaRPr lang="zh-CN" altLang="en-US"/>
          </a:p>
        </p:txBody>
      </p:sp>
    </p:spTree>
    <p:extLst>
      <p:ext uri="{BB962C8B-B14F-4D97-AF65-F5344CB8AC3E}">
        <p14:creationId xmlns:p14="http://schemas.microsoft.com/office/powerpoint/2010/main" val="102591761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增广文法</a:t>
            </a:r>
            <a:endParaRPr lang="en-US" altLang="zh-CN" dirty="0"/>
          </a:p>
          <a:p>
            <a:r>
              <a:rPr lang="zh-CN" altLang="en-US" dirty="0"/>
              <a:t>增广一个以</a:t>
            </a:r>
            <a:r>
              <a:rPr lang="en-US" altLang="zh-CN" dirty="0"/>
              <a:t>S</a:t>
            </a:r>
            <a:r>
              <a:rPr lang="zh-CN" altLang="en-US" dirty="0"/>
              <a:t>为开始符号的文法</a:t>
            </a:r>
            <a:r>
              <a:rPr lang="en-US" altLang="zh-CN" dirty="0"/>
              <a:t>G</a:t>
            </a:r>
            <a:r>
              <a:rPr lang="zh-CN" altLang="en-US" dirty="0"/>
              <a:t>：</a:t>
            </a:r>
            <a:endParaRPr lang="en-US" altLang="zh-CN" dirty="0"/>
          </a:p>
          <a:p>
            <a:r>
              <a:rPr lang="en-US" altLang="zh-CN" dirty="0"/>
              <a:t>   · </a:t>
            </a:r>
            <a:r>
              <a:rPr lang="zh-CN" altLang="en-US" dirty="0"/>
              <a:t>引入一个新开始符号</a:t>
            </a:r>
            <a:r>
              <a:rPr lang="en-US" altLang="zh-CN" dirty="0"/>
              <a:t>S</a:t>
            </a:r>
            <a:r>
              <a:rPr lang="zh-CN" altLang="en-US" dirty="0"/>
              <a:t>‘代替</a:t>
            </a:r>
            <a:r>
              <a:rPr lang="en-US" altLang="zh-CN" dirty="0"/>
              <a:t>S</a:t>
            </a:r>
          </a:p>
          <a:p>
            <a:r>
              <a:rPr lang="en-US" altLang="zh-CN" dirty="0"/>
              <a:t>   · </a:t>
            </a:r>
            <a:r>
              <a:rPr lang="zh-CN" altLang="en-US" dirty="0"/>
              <a:t>增加产生式</a:t>
            </a:r>
            <a:r>
              <a:rPr lang="en-US" altLang="zh-CN" dirty="0"/>
              <a:t>S</a:t>
            </a:r>
            <a:r>
              <a:rPr lang="zh-CN" altLang="en-US" dirty="0"/>
              <a:t>‘ </a:t>
            </a:r>
            <a:r>
              <a:rPr lang="en-US" altLang="zh-CN" dirty="0"/>
              <a:t>-&gt; S</a:t>
            </a:r>
          </a:p>
          <a:p>
            <a:r>
              <a:rPr lang="zh-CN" altLang="en-US" dirty="0"/>
              <a:t>明显地𝐿</a:t>
            </a:r>
            <a:r>
              <a:rPr lang="en-US" altLang="zh-CN" dirty="0"/>
              <a:t>(</a:t>
            </a:r>
            <a:r>
              <a:rPr lang="zh-CN" altLang="en-US" dirty="0"/>
              <a:t>𝐺</a:t>
            </a:r>
            <a:r>
              <a:rPr lang="en-US" altLang="zh-CN" dirty="0"/>
              <a:t>)=</a:t>
            </a:r>
            <a:r>
              <a:rPr lang="zh-CN" altLang="en-US" dirty="0"/>
              <a:t>𝐿</a:t>
            </a:r>
            <a:r>
              <a:rPr lang="en-US" altLang="zh-CN" dirty="0"/>
              <a:t>(</a:t>
            </a:r>
            <a:r>
              <a:rPr lang="zh-CN" altLang="en-US" dirty="0"/>
              <a:t>𝐺’</a:t>
            </a:r>
            <a:r>
              <a:rPr lang="en-US" altLang="zh-CN" dirty="0"/>
              <a:t>)</a:t>
            </a:r>
          </a:p>
          <a:p>
            <a:r>
              <a:rPr lang="zh-CN" altLang="en-US" dirty="0"/>
              <a:t>优点：通过增广，只有当语法分析器使用𝑆’ → 𝑆进行归约时输入符号串被接受。否则，输入符号串可能在多处被接受，因为可能存在多个𝑆</a:t>
            </a:r>
            <a:r>
              <a:rPr lang="en-US" altLang="zh-CN" dirty="0"/>
              <a:t>-</a:t>
            </a:r>
            <a:r>
              <a:rPr lang="zh-CN" altLang="en-US" dirty="0"/>
              <a:t>产生式</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107</a:t>
            </a:fld>
            <a:endParaRPr lang="zh-CN" altLang="en-US"/>
          </a:p>
        </p:txBody>
      </p:sp>
    </p:spTree>
    <p:extLst>
      <p:ext uri="{BB962C8B-B14F-4D97-AF65-F5344CB8AC3E}">
        <p14:creationId xmlns:p14="http://schemas.microsoft.com/office/powerpoint/2010/main" val="312729004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项集闭包</a:t>
            </a:r>
            <a:endParaRPr lang="en-US" altLang="zh-CN" dirty="0"/>
          </a:p>
          <a:p>
            <a:r>
              <a:rPr lang="zh-CN" altLang="en-US" dirty="0"/>
              <a:t>如果𝐼 是文法𝐺的一组项集</a:t>
            </a:r>
            <a:r>
              <a:rPr lang="en-US" altLang="zh-CN" dirty="0"/>
              <a:t>, </a:t>
            </a:r>
            <a:r>
              <a:rPr lang="zh-CN" altLang="en-US" dirty="0"/>
              <a:t>那么</a:t>
            </a:r>
            <a:r>
              <a:rPr lang="en-US" altLang="zh-CN" sz="1200" kern="1200" dirty="0">
                <a:solidFill>
                  <a:prstClr val="black"/>
                </a:solidFill>
                <a:latin typeface="Cambria Math"/>
                <a:cs typeface="Cambria Math"/>
              </a:rPr>
              <a:t>CLOSURE(</a:t>
            </a:r>
            <a:r>
              <a:rPr lang="zh-CN" altLang="en-US" sz="1200" kern="1200" dirty="0">
                <a:solidFill>
                  <a:prstClr val="black"/>
                </a:solidFill>
                <a:latin typeface="Cambria Math"/>
                <a:cs typeface="Cambria Math"/>
              </a:rPr>
              <a:t>𝐼</a:t>
            </a:r>
            <a:r>
              <a:rPr lang="en-US" altLang="zh-CN" sz="1200" kern="1200" dirty="0">
                <a:solidFill>
                  <a:prstClr val="black"/>
                </a:solidFill>
                <a:latin typeface="Cambria Math"/>
                <a:cs typeface="Cambria Math"/>
              </a:rPr>
              <a:t>)</a:t>
            </a:r>
            <a:r>
              <a:rPr lang="zh-CN" altLang="en-US" sz="1200" kern="1200" dirty="0">
                <a:solidFill>
                  <a:prstClr val="black"/>
                </a:solidFill>
                <a:latin typeface="Cambria Math"/>
                <a:cs typeface="Cambria Math"/>
              </a:rPr>
              <a:t>就</a:t>
            </a:r>
            <a:r>
              <a:rPr lang="zh-CN" altLang="en-US" dirty="0"/>
              <a:t>是按照下面两条规则构造的项集：</a:t>
            </a:r>
            <a:endParaRPr lang="en-US" altLang="zh-CN" dirty="0"/>
          </a:p>
          <a:p>
            <a:r>
              <a:rPr lang="en-US" altLang="zh-CN" dirty="0"/>
              <a:t>   1. </a:t>
            </a:r>
            <a:r>
              <a:rPr lang="zh-CN" altLang="en-US" dirty="0"/>
              <a:t>一开始，将</a:t>
            </a:r>
            <a:r>
              <a:rPr lang="zh-CN" altLang="en-US" sz="1200" kern="1200" dirty="0">
                <a:solidFill>
                  <a:prstClr val="black"/>
                </a:solidFill>
                <a:latin typeface="Cambria Math"/>
                <a:cs typeface="Cambria Math"/>
              </a:rPr>
              <a:t>𝐼</a:t>
            </a:r>
            <a:r>
              <a:rPr lang="zh-CN" altLang="en-US" dirty="0"/>
              <a:t>中的各个项加入到</a:t>
            </a:r>
            <a:r>
              <a:rPr lang="en-US" altLang="zh-CN" sz="1200" kern="1200" spc="5" dirty="0">
                <a:solidFill>
                  <a:prstClr val="black"/>
                </a:solidFill>
                <a:latin typeface="Cambria Math"/>
                <a:cs typeface="Cambria Math"/>
              </a:rPr>
              <a:t>CLOSURE(</a:t>
            </a:r>
            <a:r>
              <a:rPr lang="zh-CN" altLang="en-US" sz="1200" kern="1200" spc="5" dirty="0">
                <a:solidFill>
                  <a:prstClr val="black"/>
                </a:solidFill>
                <a:latin typeface="Cambria Math"/>
                <a:cs typeface="Cambria Math"/>
              </a:rPr>
              <a:t>𝐼</a:t>
            </a:r>
            <a:r>
              <a:rPr lang="en-US" altLang="zh-CN" sz="1200" kern="1200" spc="5" dirty="0">
                <a:solidFill>
                  <a:prstClr val="black"/>
                </a:solidFill>
                <a:latin typeface="Cambria Math"/>
                <a:cs typeface="Cambria Math"/>
              </a:rPr>
              <a:t>)</a:t>
            </a:r>
            <a:endParaRPr lang="en-US" altLang="zh-CN" dirty="0"/>
          </a:p>
          <a:p>
            <a:r>
              <a:rPr lang="en-US" altLang="zh-CN" dirty="0"/>
              <a:t>   2. </a:t>
            </a:r>
            <a:r>
              <a:rPr lang="zh-CN" altLang="en-US" dirty="0"/>
              <a:t>如果</a:t>
            </a:r>
            <a:r>
              <a:rPr lang="zh-CN" altLang="en-US" sz="1200" kern="1200" dirty="0">
                <a:solidFill>
                  <a:prstClr val="black"/>
                </a:solidFill>
                <a:latin typeface="Cambria Math"/>
                <a:cs typeface="Cambria Math"/>
              </a:rPr>
              <a:t>𝐴</a:t>
            </a:r>
            <a:r>
              <a:rPr lang="zh-CN" altLang="en-US" sz="1200" kern="1200" spc="105"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5" dirty="0">
                <a:solidFill>
                  <a:prstClr val="black"/>
                </a:solidFill>
                <a:latin typeface="Cambria Math"/>
                <a:cs typeface="Cambria Math"/>
              </a:rPr>
              <a:t> </a:t>
            </a:r>
            <a:r>
              <a:rPr lang="zh-CN" altLang="en-US" sz="1200" kern="1200" dirty="0">
                <a:solidFill>
                  <a:prstClr val="black"/>
                </a:solidFill>
                <a:latin typeface="Cambria Math"/>
                <a:cs typeface="Cambria Math"/>
              </a:rPr>
              <a:t>𝛼 </a:t>
            </a:r>
            <a:r>
              <a:rPr lang="en-US" altLang="zh-CN" sz="1200" kern="1200" spc="50" dirty="0">
                <a:solidFill>
                  <a:prstClr val="black"/>
                </a:solidFill>
                <a:latin typeface="Cambria Math"/>
                <a:cs typeface="Cambria Math"/>
              </a:rPr>
              <a:t>· </a:t>
            </a:r>
            <a:r>
              <a:rPr lang="zh-CN" altLang="en-US" sz="1200" kern="1200" dirty="0">
                <a:solidFill>
                  <a:srgbClr val="FF0000"/>
                </a:solidFill>
                <a:latin typeface="Cambria Math"/>
                <a:cs typeface="Cambria Math"/>
              </a:rPr>
              <a:t>𝐵</a:t>
            </a:r>
            <a:r>
              <a:rPr lang="zh-CN" altLang="en-US" sz="1200" kern="1200" dirty="0">
                <a:solidFill>
                  <a:prstClr val="black"/>
                </a:solidFill>
                <a:latin typeface="Cambria Math"/>
                <a:cs typeface="Cambria Math"/>
              </a:rPr>
              <a:t>𝛽</a:t>
            </a:r>
            <a:r>
              <a:rPr lang="zh-CN" altLang="en-US" dirty="0"/>
              <a:t>在</a:t>
            </a:r>
            <a:r>
              <a:rPr lang="en-US" altLang="zh-CN" sz="1200" kern="1200" spc="5" dirty="0">
                <a:solidFill>
                  <a:prstClr val="black"/>
                </a:solidFill>
                <a:latin typeface="Cambria Math"/>
                <a:cs typeface="Cambria Math"/>
              </a:rPr>
              <a:t>CLOSURE(</a:t>
            </a:r>
            <a:r>
              <a:rPr lang="zh-CN" altLang="en-US" sz="1200" kern="1200" spc="5" dirty="0">
                <a:solidFill>
                  <a:prstClr val="black"/>
                </a:solidFill>
                <a:latin typeface="Cambria Math"/>
                <a:cs typeface="Cambria Math"/>
              </a:rPr>
              <a:t>𝐼</a:t>
            </a:r>
            <a:r>
              <a:rPr lang="en-US" altLang="zh-CN" sz="1200" kern="1200" spc="5" dirty="0">
                <a:solidFill>
                  <a:prstClr val="black"/>
                </a:solidFill>
                <a:latin typeface="Cambria Math"/>
                <a:cs typeface="Cambria Math"/>
              </a:rPr>
              <a:t>)</a:t>
            </a:r>
            <a:r>
              <a:rPr lang="zh-CN" altLang="en-US" dirty="0"/>
              <a:t>中，</a:t>
            </a:r>
            <a:r>
              <a:rPr lang="zh-CN" altLang="en-US" sz="1200" kern="1200" dirty="0">
                <a:solidFill>
                  <a:srgbClr val="FF0000"/>
                </a:solidFill>
                <a:latin typeface="Cambria Math"/>
                <a:cs typeface="Cambria Math"/>
              </a:rPr>
              <a:t>𝐵</a:t>
            </a:r>
            <a:r>
              <a:rPr lang="zh-CN" altLang="en-US" sz="1200" kern="1200" spc="135" dirty="0">
                <a:solidFill>
                  <a:srgbClr val="FF0000"/>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5" dirty="0">
                <a:solidFill>
                  <a:prstClr val="black"/>
                </a:solidFill>
                <a:latin typeface="Cambria Math"/>
                <a:cs typeface="Cambria Math"/>
              </a:rPr>
              <a:t> </a:t>
            </a:r>
            <a:r>
              <a:rPr lang="zh-CN" altLang="en-US" sz="1200" kern="1200" dirty="0">
                <a:solidFill>
                  <a:prstClr val="black"/>
                </a:solidFill>
                <a:latin typeface="Cambria Math"/>
                <a:cs typeface="Cambria Math"/>
              </a:rPr>
              <a:t>𝛾</a:t>
            </a:r>
            <a:r>
              <a:rPr lang="zh-CN" altLang="en-US" dirty="0"/>
              <a:t>是一个产生式，并且</a:t>
            </a:r>
            <a:r>
              <a:rPr lang="zh-CN" altLang="en-US" sz="1200" kern="1200" dirty="0">
                <a:solidFill>
                  <a:srgbClr val="FF0000"/>
                </a:solidFill>
                <a:latin typeface="Cambria Math"/>
                <a:cs typeface="Cambria Math"/>
              </a:rPr>
              <a:t>𝐵</a:t>
            </a:r>
            <a:r>
              <a:rPr lang="zh-CN" altLang="en-US" sz="1200" kern="1200" spc="135" dirty="0">
                <a:solidFill>
                  <a:srgbClr val="FF0000"/>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5" dirty="0">
                <a:solidFill>
                  <a:prstClr val="black"/>
                </a:solidFill>
                <a:latin typeface="Cambria Math"/>
                <a:cs typeface="Cambria Math"/>
              </a:rPr>
              <a:t> </a:t>
            </a:r>
            <a:r>
              <a:rPr lang="en-US" altLang="zh-CN" sz="1200" kern="1200" spc="85" dirty="0">
                <a:solidFill>
                  <a:prstClr val="black"/>
                </a:solidFill>
                <a:latin typeface="Cambria Math"/>
                <a:cs typeface="Cambria Math"/>
              </a:rPr>
              <a:t>·</a:t>
            </a:r>
            <a:r>
              <a:rPr lang="zh-CN" altLang="en-US" sz="1200" kern="1200" dirty="0">
                <a:solidFill>
                  <a:prstClr val="black"/>
                </a:solidFill>
                <a:latin typeface="Cambria Math"/>
                <a:cs typeface="Cambria Math"/>
              </a:rPr>
              <a:t>𝛾不</a:t>
            </a:r>
            <a:r>
              <a:rPr lang="zh-CN" altLang="en-US" dirty="0"/>
              <a:t>在</a:t>
            </a:r>
            <a:r>
              <a:rPr lang="en-US" altLang="zh-CN" sz="1200" kern="1200" spc="5" dirty="0">
                <a:solidFill>
                  <a:prstClr val="black"/>
                </a:solidFill>
                <a:latin typeface="Cambria Math"/>
                <a:cs typeface="Cambria Math"/>
              </a:rPr>
              <a:t>CLOSURE(</a:t>
            </a:r>
            <a:r>
              <a:rPr lang="zh-CN" altLang="en-US" sz="1200" kern="1200" spc="5" dirty="0">
                <a:solidFill>
                  <a:prstClr val="black"/>
                </a:solidFill>
                <a:latin typeface="Cambria Math"/>
                <a:cs typeface="Cambria Math"/>
              </a:rPr>
              <a:t>𝐼</a:t>
            </a:r>
            <a:r>
              <a:rPr lang="en-US" altLang="zh-CN" sz="1200" kern="1200" spc="5" dirty="0">
                <a:solidFill>
                  <a:prstClr val="black"/>
                </a:solidFill>
                <a:latin typeface="Cambria Math"/>
                <a:cs typeface="Cambria Math"/>
              </a:rPr>
              <a:t>)</a:t>
            </a:r>
            <a:r>
              <a:rPr lang="zh-CN" altLang="en-US" dirty="0"/>
              <a:t>中，那么将</a:t>
            </a:r>
            <a:r>
              <a:rPr lang="zh-CN" altLang="en-US" sz="1200" kern="1200" dirty="0">
                <a:solidFill>
                  <a:srgbClr val="FF0000"/>
                </a:solidFill>
                <a:latin typeface="Cambria Math"/>
                <a:cs typeface="Cambria Math"/>
              </a:rPr>
              <a:t>𝐵</a:t>
            </a:r>
            <a:r>
              <a:rPr lang="zh-CN" altLang="en-US" sz="1200" kern="1200" spc="135" dirty="0">
                <a:solidFill>
                  <a:srgbClr val="FF0000"/>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5" dirty="0">
                <a:solidFill>
                  <a:prstClr val="black"/>
                </a:solidFill>
                <a:latin typeface="Cambria Math"/>
                <a:cs typeface="Cambria Math"/>
              </a:rPr>
              <a:t> </a:t>
            </a:r>
            <a:r>
              <a:rPr lang="en-US" altLang="zh-CN" sz="1200" kern="1200" spc="85" dirty="0">
                <a:solidFill>
                  <a:prstClr val="black"/>
                </a:solidFill>
                <a:latin typeface="Cambria Math"/>
                <a:cs typeface="Cambria Math"/>
              </a:rPr>
              <a:t>·</a:t>
            </a:r>
            <a:r>
              <a:rPr lang="zh-CN" altLang="en-US" sz="1200" kern="1200" dirty="0">
                <a:solidFill>
                  <a:prstClr val="black"/>
                </a:solidFill>
                <a:latin typeface="Cambria Math"/>
                <a:cs typeface="Cambria Math"/>
              </a:rPr>
              <a:t>𝛾</a:t>
            </a:r>
            <a:r>
              <a:rPr lang="zh-CN" altLang="en-US" dirty="0"/>
              <a:t>加入</a:t>
            </a:r>
            <a:r>
              <a:rPr lang="en-US" altLang="zh-CN" sz="1200" kern="1200" spc="5" dirty="0">
                <a:solidFill>
                  <a:prstClr val="black"/>
                </a:solidFill>
                <a:latin typeface="Cambria Math"/>
                <a:cs typeface="Cambria Math"/>
              </a:rPr>
              <a:t>CLOSURE(</a:t>
            </a:r>
            <a:r>
              <a:rPr lang="zh-CN" altLang="en-US" sz="1200" kern="1200" spc="5" dirty="0">
                <a:solidFill>
                  <a:prstClr val="black"/>
                </a:solidFill>
                <a:latin typeface="Cambria Math"/>
                <a:cs typeface="Cambria Math"/>
              </a:rPr>
              <a:t>𝐼</a:t>
            </a:r>
            <a:r>
              <a:rPr lang="en-US" altLang="zh-CN" sz="1200" kern="1200" spc="5" dirty="0">
                <a:solidFill>
                  <a:prstClr val="black"/>
                </a:solidFill>
                <a:latin typeface="Cambria Math"/>
                <a:cs typeface="Cambria Math"/>
              </a:rPr>
              <a:t>)</a:t>
            </a:r>
            <a:r>
              <a:rPr lang="zh-CN" altLang="en-US" dirty="0"/>
              <a:t>中。不断应用这条规则，直到没有新项可以加入到</a:t>
            </a:r>
            <a:endParaRPr lang="en-US" altLang="zh-CN" dirty="0"/>
          </a:p>
          <a:p>
            <a:r>
              <a:rPr lang="zh-CN" altLang="en-US" dirty="0"/>
              <a:t>直观地讲：𝐴 → 𝛼 </a:t>
            </a:r>
            <a:r>
              <a:rPr lang="en-US" altLang="zh-CN" dirty="0"/>
              <a:t>· </a:t>
            </a:r>
            <a:r>
              <a:rPr lang="zh-CN" altLang="en-US" dirty="0"/>
              <a:t>𝐵𝛽 表示我们希望看到从一个能够从𝐵𝛽推导得到的子串。这个子串的某个前缀可以从</a:t>
            </a:r>
            <a:r>
              <a:rPr lang="en-US" altLang="zh-CN" dirty="0"/>
              <a:t>B</a:t>
            </a:r>
            <a:r>
              <a:rPr lang="zh-CN" altLang="en-US" dirty="0"/>
              <a:t>推导得到。因此，我们将所有𝐵</a:t>
            </a:r>
            <a:r>
              <a:rPr lang="en-US" altLang="zh-CN" dirty="0"/>
              <a:t>-</a:t>
            </a:r>
            <a:r>
              <a:rPr lang="zh-CN" altLang="en-US" dirty="0"/>
              <a:t>产生式加入到项集。</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108</a:t>
            </a:fld>
            <a:endParaRPr lang="zh-CN" altLang="en-US"/>
          </a:p>
        </p:txBody>
      </p:sp>
    </p:spTree>
    <p:extLst>
      <p:ext uri="{BB962C8B-B14F-4D97-AF65-F5344CB8AC3E}">
        <p14:creationId xmlns:p14="http://schemas.microsoft.com/office/powerpoint/2010/main" val="174917092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109</a:t>
            </a:fld>
            <a:endParaRPr lang="zh-CN" altLang="en-US"/>
          </a:p>
        </p:txBody>
      </p:sp>
    </p:spTree>
    <p:extLst>
      <p:ext uri="{BB962C8B-B14F-4D97-AF65-F5344CB8AC3E}">
        <p14:creationId xmlns:p14="http://schemas.microsoft.com/office/powerpoint/2010/main" val="306004860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GOTO</a:t>
            </a:r>
            <a:r>
              <a:rPr lang="zh-CN" altLang="en-US" dirty="0"/>
              <a:t>函数</a:t>
            </a:r>
            <a:endParaRPr lang="en-US" altLang="zh-CN" dirty="0"/>
          </a:p>
          <a:p>
            <a:r>
              <a:rPr lang="zh-CN" altLang="en-US" sz="1200" kern="1200" spc="-5" dirty="0">
                <a:solidFill>
                  <a:srgbClr val="FF0000"/>
                </a:solidFill>
                <a:latin typeface="Cambria Math"/>
                <a:cs typeface="Cambria Math"/>
              </a:rPr>
              <a:t>返回项目集</a:t>
            </a:r>
            <a:r>
              <a:rPr lang="en-US" altLang="zh-CN" sz="1200" kern="1200" spc="-5" dirty="0">
                <a:solidFill>
                  <a:srgbClr val="FF0000"/>
                </a:solidFill>
                <a:latin typeface="Cambria Math"/>
                <a:cs typeface="Cambria Math"/>
              </a:rPr>
              <a:t>I</a:t>
            </a:r>
            <a:r>
              <a:rPr lang="zh-CN" altLang="en-US" sz="1200" kern="1200" spc="-5" dirty="0">
                <a:solidFill>
                  <a:srgbClr val="FF0000"/>
                </a:solidFill>
                <a:latin typeface="Cambria Math"/>
                <a:cs typeface="Cambria Math"/>
              </a:rPr>
              <a:t>对应于文法符号</a:t>
            </a:r>
            <a:r>
              <a:rPr lang="en-US" altLang="zh-CN" sz="1200" kern="1200" spc="-5" dirty="0">
                <a:solidFill>
                  <a:srgbClr val="FF0000"/>
                </a:solidFill>
                <a:latin typeface="Cambria Math"/>
                <a:cs typeface="Cambria Math"/>
              </a:rPr>
              <a:t>X</a:t>
            </a:r>
            <a:r>
              <a:rPr lang="zh-CN" altLang="en-US" sz="1200" kern="1200" spc="-5" dirty="0">
                <a:solidFill>
                  <a:srgbClr val="FF0000"/>
                </a:solidFill>
                <a:latin typeface="Cambria Math"/>
                <a:cs typeface="Cambria Math"/>
              </a:rPr>
              <a:t>的后继项目集闭包</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111</a:t>
            </a:fld>
            <a:endParaRPr lang="zh-CN" altLang="en-US"/>
          </a:p>
        </p:txBody>
      </p:sp>
    </p:spTree>
    <p:extLst>
      <p:ext uri="{BB962C8B-B14F-4D97-AF65-F5344CB8AC3E}">
        <p14:creationId xmlns:p14="http://schemas.microsoft.com/office/powerpoint/2010/main" val="71548598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构造规范</a:t>
            </a:r>
            <a:r>
              <a:rPr lang="en-US" altLang="zh-CN" dirty="0"/>
              <a:t>LR(0)</a:t>
            </a:r>
            <a:r>
              <a:rPr lang="zh-CN" altLang="en-US" dirty="0"/>
              <a:t>项集族</a:t>
            </a:r>
            <a:endParaRPr lang="en-US" altLang="zh-CN" dirty="0"/>
          </a:p>
          <a:p>
            <a:endParaRPr lang="en-US" altLang="zh-CN" dirty="0"/>
          </a:p>
          <a:p>
            <a:r>
              <a:rPr lang="zh-CN" altLang="en-US" dirty="0"/>
              <a:t>迭代查找所有可能的</a:t>
            </a:r>
            <a:r>
              <a:rPr lang="en-US" altLang="zh-CN" dirty="0"/>
              <a:t>GOTO</a:t>
            </a:r>
            <a:r>
              <a:rPr lang="zh-CN" altLang="en-US" dirty="0"/>
              <a:t>目标（对应于用于语法分析的自动机中的状态）</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112</a:t>
            </a:fld>
            <a:endParaRPr lang="zh-CN" altLang="en-US"/>
          </a:p>
        </p:txBody>
      </p:sp>
    </p:spTree>
    <p:extLst>
      <p:ext uri="{BB962C8B-B14F-4D97-AF65-F5344CB8AC3E}">
        <p14:creationId xmlns:p14="http://schemas.microsoft.com/office/powerpoint/2010/main" val="143372408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LR(0)</a:t>
            </a:r>
            <a:r>
              <a:rPr lang="zh-CN" altLang="en-US" dirty="0"/>
              <a:t>自动机</a:t>
            </a:r>
            <a:endParaRPr lang="en-US" altLang="zh-CN" dirty="0"/>
          </a:p>
          <a:p>
            <a:r>
              <a:rPr lang="zh-CN" altLang="en-US" dirty="0"/>
              <a:t>“简单</a:t>
            </a:r>
            <a:r>
              <a:rPr lang="en-US" altLang="zh-CN" dirty="0"/>
              <a:t>LR</a:t>
            </a:r>
            <a:r>
              <a:rPr lang="zh-CN" altLang="en-US" dirty="0"/>
              <a:t>语法分析技术”（即</a:t>
            </a:r>
            <a:r>
              <a:rPr lang="en-US" altLang="zh-CN" dirty="0"/>
              <a:t>SLR</a:t>
            </a:r>
            <a:r>
              <a:rPr lang="zh-CN" altLang="en-US" dirty="0"/>
              <a:t>分析技术）的中心思想是根据文法构造出</a:t>
            </a:r>
            <a:r>
              <a:rPr lang="en-US" altLang="zh-CN" dirty="0"/>
              <a:t>LR(0)</a:t>
            </a:r>
            <a:r>
              <a:rPr lang="zh-CN" altLang="en-US" dirty="0"/>
              <a:t>自动机。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t>
            </a:r>
            <a:r>
              <a:rPr lang="en-US" altLang="zh-CN" dirty="0"/>
              <a:t>· </a:t>
            </a:r>
            <a:r>
              <a:rPr lang="zh-CN" altLang="en-US" dirty="0"/>
              <a:t>这个自动机的状态是规范</a:t>
            </a:r>
            <a:r>
              <a:rPr lang="en-US" altLang="zh-CN" dirty="0"/>
              <a:t>LR(0)</a:t>
            </a:r>
            <a:r>
              <a:rPr lang="zh-CN" altLang="en-US" dirty="0"/>
              <a:t>项集族</a:t>
            </a:r>
            <a:endParaRPr lang="en-US" altLang="zh-CN" dirty="0"/>
          </a:p>
          <a:p>
            <a:r>
              <a:rPr lang="zh-CN" altLang="en-US" dirty="0"/>
              <a:t>   </a:t>
            </a:r>
            <a:r>
              <a:rPr lang="en-US" altLang="zh-CN" dirty="0"/>
              <a:t>· </a:t>
            </a:r>
            <a:r>
              <a:rPr lang="zh-CN" altLang="en-US" dirty="0"/>
              <a:t>它的转换由</a:t>
            </a:r>
            <a:r>
              <a:rPr lang="en-US" altLang="zh-CN" dirty="0"/>
              <a:t>GOTO</a:t>
            </a:r>
            <a:r>
              <a:rPr lang="zh-CN" altLang="en-US" dirty="0"/>
              <a:t>函数给出</a:t>
            </a:r>
            <a:endParaRPr lang="en-US" altLang="zh-CN" dirty="0"/>
          </a:p>
          <a:p>
            <a:r>
              <a:rPr lang="en-US" altLang="zh-CN" dirty="0"/>
              <a:t>   · </a:t>
            </a:r>
            <a:r>
              <a:rPr lang="zh-CN" altLang="en-US" dirty="0"/>
              <a:t>开始状态是</a:t>
            </a:r>
            <a:r>
              <a:rPr lang="en-US" altLang="zh-CN" kern="1200" spc="-5" dirty="0">
                <a:solidFill>
                  <a:srgbClr val="0432FF"/>
                </a:solidFill>
                <a:latin typeface="Cambria Math"/>
                <a:cs typeface="Cambria Math"/>
              </a:rPr>
              <a:t>CLOSURE({</a:t>
            </a:r>
            <a:r>
              <a:rPr lang="zh-CN" altLang="en-US" kern="1200" spc="-5" dirty="0">
                <a:solidFill>
                  <a:srgbClr val="0432FF"/>
                </a:solidFill>
                <a:latin typeface="Cambria Math"/>
                <a:cs typeface="Cambria Math"/>
              </a:rPr>
              <a:t>𝑆’</a:t>
            </a:r>
            <a:r>
              <a:rPr lang="en-US" altLang="zh-CN" kern="1200" spc="95" dirty="0">
                <a:solidFill>
                  <a:srgbClr val="0432FF"/>
                </a:solidFill>
                <a:latin typeface="Cambria Math"/>
                <a:cs typeface="Cambria Math"/>
              </a:rPr>
              <a:t> </a:t>
            </a:r>
            <a:r>
              <a:rPr lang="en-US" altLang="zh-CN" kern="1200" spc="-95" dirty="0">
                <a:solidFill>
                  <a:srgbClr val="0432FF"/>
                </a:solidFill>
                <a:latin typeface="Cambria Math"/>
                <a:cs typeface="Cambria Math"/>
              </a:rPr>
              <a:t>→·</a:t>
            </a:r>
            <a:r>
              <a:rPr lang="en-US" altLang="zh-CN" kern="1200" dirty="0">
                <a:solidFill>
                  <a:srgbClr val="0432FF"/>
                </a:solidFill>
                <a:latin typeface="Cambria Math"/>
                <a:cs typeface="Cambria Math"/>
              </a:rPr>
              <a:t> </a:t>
            </a:r>
            <a:r>
              <a:rPr lang="zh-CN" altLang="en-US" kern="1200" spc="10" dirty="0">
                <a:solidFill>
                  <a:srgbClr val="0432FF"/>
                </a:solidFill>
                <a:latin typeface="Cambria Math"/>
                <a:cs typeface="Cambria Math"/>
              </a:rPr>
              <a:t>𝑆</a:t>
            </a:r>
            <a:r>
              <a:rPr lang="en-US" altLang="zh-CN" kern="1200" spc="10" dirty="0">
                <a:solidFill>
                  <a:srgbClr val="0432FF"/>
                </a:solidFill>
                <a:latin typeface="Cambria Math"/>
                <a:cs typeface="Cambria Math"/>
              </a:rPr>
              <a:t>})</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114</a:t>
            </a:fld>
            <a:endParaRPr lang="zh-CN" altLang="en-US"/>
          </a:p>
        </p:txBody>
      </p:sp>
    </p:spTree>
    <p:extLst>
      <p:ext uri="{BB962C8B-B14F-4D97-AF65-F5344CB8AC3E}">
        <p14:creationId xmlns:p14="http://schemas.microsoft.com/office/powerpoint/2010/main" val="374892438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LR(0)</a:t>
            </a:r>
            <a:r>
              <a:rPr lang="zh-CN" altLang="en-US" dirty="0"/>
              <a:t>自动机的使用</a:t>
            </a:r>
            <a:endParaRPr lang="en-US" altLang="zh-CN" dirty="0"/>
          </a:p>
          <a:p>
            <a:r>
              <a:rPr lang="zh-CN" altLang="en-US" dirty="0"/>
              <a:t>帮助做出移入</a:t>
            </a:r>
            <a:r>
              <a:rPr lang="en-US" altLang="zh-CN" dirty="0"/>
              <a:t>-</a:t>
            </a:r>
            <a:r>
              <a:rPr lang="zh-CN" altLang="en-US" dirty="0"/>
              <a:t>归约决定：</a:t>
            </a:r>
          </a:p>
          <a:p>
            <a:r>
              <a:rPr lang="zh-CN" altLang="en-US" dirty="0"/>
              <a:t>   </a:t>
            </a:r>
            <a:r>
              <a:rPr lang="en-US" altLang="zh-CN" dirty="0"/>
              <a:t>· </a:t>
            </a:r>
            <a:r>
              <a:rPr lang="zh-CN" altLang="en-US" dirty="0"/>
              <a:t>假设文法符号𝛾 使自动机从开始状态</a:t>
            </a:r>
            <a:r>
              <a:rPr lang="en-US" altLang="zh-CN" dirty="0"/>
              <a:t>0</a:t>
            </a:r>
            <a:r>
              <a:rPr lang="zh-CN" altLang="en-US" dirty="0"/>
              <a:t>运行到某个状态𝑗</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 </a:t>
            </a:r>
            <a:r>
              <a:rPr lang="zh-CN" altLang="en-US" dirty="0"/>
              <a:t>如果下一个输入符号为</a:t>
            </a:r>
            <a:r>
              <a:rPr lang="zh-CN" altLang="en-US" kern="1200" dirty="0">
                <a:solidFill>
                  <a:srgbClr val="FF0000"/>
                </a:solidFill>
                <a:latin typeface="Cambria Math"/>
                <a:cs typeface="Cambria Math"/>
              </a:rPr>
              <a:t>𝑎</a:t>
            </a:r>
            <a:r>
              <a:rPr lang="zh-CN" altLang="en-US" dirty="0"/>
              <a:t>且状态</a:t>
            </a:r>
            <a:r>
              <a:rPr lang="zh-CN" altLang="en-US" kern="1200" dirty="0">
                <a:solidFill>
                  <a:srgbClr val="FF0000"/>
                </a:solidFill>
                <a:latin typeface="Cambria Math"/>
                <a:cs typeface="Cambria Math"/>
              </a:rPr>
              <a:t>𝑗</a:t>
            </a:r>
            <a:r>
              <a:rPr lang="zh-CN" altLang="en-US" dirty="0"/>
              <a:t>有一个在</a:t>
            </a:r>
            <a:r>
              <a:rPr lang="zh-CN" altLang="en-US" kern="1200" dirty="0">
                <a:solidFill>
                  <a:srgbClr val="FF0000"/>
                </a:solidFill>
                <a:latin typeface="Cambria Math"/>
                <a:cs typeface="Cambria Math"/>
              </a:rPr>
              <a:t>𝑎</a:t>
            </a:r>
            <a:r>
              <a:rPr lang="zh-CN" altLang="en-US" dirty="0"/>
              <a:t>上的转换，那就移入</a:t>
            </a:r>
            <a:r>
              <a:rPr lang="zh-CN" altLang="en-US" kern="1200" dirty="0">
                <a:solidFill>
                  <a:srgbClr val="FF0000"/>
                </a:solidFill>
                <a:latin typeface="Cambria Math"/>
                <a:cs typeface="Cambria Math"/>
              </a:rPr>
              <a:t>𝑎</a:t>
            </a:r>
            <a:endParaRPr lang="en-US" altLang="zh-CN" dirty="0"/>
          </a:p>
          <a:p>
            <a:r>
              <a:rPr lang="en-US" altLang="zh-CN" dirty="0"/>
              <a:t>   · </a:t>
            </a:r>
            <a:r>
              <a:rPr lang="zh-CN" altLang="en-US" dirty="0"/>
              <a:t>否则，归约；状态</a:t>
            </a:r>
            <a:r>
              <a:rPr lang="zh-CN" altLang="en-US" kern="1200" dirty="0">
                <a:solidFill>
                  <a:srgbClr val="FF0000"/>
                </a:solidFill>
                <a:latin typeface="Cambria Math"/>
                <a:cs typeface="Cambria Math"/>
              </a:rPr>
              <a:t>𝑗</a:t>
            </a:r>
            <a:r>
              <a:rPr lang="zh-CN" altLang="en-US" dirty="0"/>
              <a:t>的项将会告诉我们使用哪个产生式进行归约</a:t>
            </a:r>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115</a:t>
            </a:fld>
            <a:endParaRPr lang="zh-CN" altLang="en-US"/>
          </a:p>
        </p:txBody>
      </p:sp>
    </p:spTree>
    <p:extLst>
      <p:ext uri="{BB962C8B-B14F-4D97-AF65-F5344CB8AC3E}">
        <p14:creationId xmlns:p14="http://schemas.microsoft.com/office/powerpoint/2010/main" val="230037098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栈只保存状态，文法符号可以从相应状态中获取</a:t>
            </a:r>
            <a:endParaRPr lang="en-US" altLang="zh-CN" dirty="0"/>
          </a:p>
          <a:p>
            <a:r>
              <a:rPr lang="zh-CN" altLang="en-US" dirty="0"/>
              <a:t>从状态</a:t>
            </a:r>
            <a:r>
              <a:rPr lang="en-US" altLang="zh-CN" dirty="0"/>
              <a:t>0</a:t>
            </a:r>
            <a:r>
              <a:rPr lang="zh-CN" altLang="en-US" dirty="0"/>
              <a:t>开始，移入</a:t>
            </a:r>
            <a:r>
              <a:rPr lang="en-US" altLang="zh-CN" dirty="0"/>
              <a:t>id</a:t>
            </a:r>
            <a:r>
              <a:rPr lang="zh-CN" altLang="en-US" dirty="0"/>
              <a:t>，进入状态</a:t>
            </a:r>
            <a:r>
              <a:rPr lang="en-US" altLang="zh-CN" dirty="0"/>
              <a:t>5</a:t>
            </a:r>
            <a:r>
              <a:rPr lang="zh-CN" altLang="en-US" dirty="0"/>
              <a:t>，</a:t>
            </a:r>
            <a:r>
              <a:rPr lang="en-US" altLang="zh-CN" dirty="0"/>
              <a:t>id</a:t>
            </a:r>
            <a:r>
              <a:rPr lang="zh-CN" altLang="en-US" dirty="0"/>
              <a:t>出栈规约为</a:t>
            </a:r>
            <a:r>
              <a:rPr lang="en-US" altLang="zh-CN" dirty="0"/>
              <a:t>F</a:t>
            </a:r>
            <a:r>
              <a:rPr lang="zh-CN" altLang="en-US" dirty="0"/>
              <a:t>，</a:t>
            </a:r>
            <a:r>
              <a:rPr lang="en-US" altLang="zh-CN" dirty="0"/>
              <a:t>F</a:t>
            </a:r>
            <a:r>
              <a:rPr lang="zh-CN" altLang="en-US" dirty="0"/>
              <a:t>进栈，状态</a:t>
            </a:r>
            <a:r>
              <a:rPr lang="en-US" altLang="zh-CN" dirty="0"/>
              <a:t>5</a:t>
            </a:r>
            <a:r>
              <a:rPr lang="zh-CN" altLang="en-US" dirty="0"/>
              <a:t>出栈，状态</a:t>
            </a:r>
            <a:r>
              <a:rPr lang="en-US" altLang="zh-CN" dirty="0"/>
              <a:t>3</a:t>
            </a:r>
            <a:r>
              <a:rPr lang="zh-CN" altLang="en-US" dirty="0"/>
              <a:t>进栈；</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116</a:t>
            </a:fld>
            <a:endParaRPr lang="zh-CN" altLang="en-US"/>
          </a:p>
        </p:txBody>
      </p:sp>
    </p:spTree>
    <p:extLst>
      <p:ext uri="{BB962C8B-B14F-4D97-AF65-F5344CB8AC3E}">
        <p14:creationId xmlns:p14="http://schemas.microsoft.com/office/powerpoint/2010/main" val="308682442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在第</a:t>
            </a:r>
            <a:r>
              <a:rPr lang="en-US" altLang="zh-CN" dirty="0"/>
              <a:t>2</a:t>
            </a:r>
            <a:r>
              <a:rPr lang="zh-CN" altLang="en-US" dirty="0"/>
              <a:t>行，状态</a:t>
            </a:r>
            <a:r>
              <a:rPr lang="en-US" altLang="zh-CN" dirty="0"/>
              <a:t>5</a:t>
            </a:r>
            <a:r>
              <a:rPr lang="zh-CN" altLang="en-US" dirty="0"/>
              <a:t>已压入栈中，从状态</a:t>
            </a:r>
            <a:r>
              <a:rPr lang="en-US" altLang="zh-CN" dirty="0"/>
              <a:t>5</a:t>
            </a:r>
            <a:r>
              <a:rPr lang="zh-CN" altLang="en-US" dirty="0"/>
              <a:t>出发没有输入</a:t>
            </a:r>
            <a:r>
              <a:rPr lang="en-US" altLang="zh-CN" dirty="0"/>
              <a:t>*</a:t>
            </a:r>
            <a:r>
              <a:rPr lang="zh-CN" altLang="en-US" dirty="0"/>
              <a:t>上的转换，因此选择归约。</a:t>
            </a:r>
            <a:endParaRPr lang="en-US" altLang="zh-CN" dirty="0"/>
          </a:p>
          <a:p>
            <a:r>
              <a:rPr lang="zh-CN" altLang="en-US" dirty="0"/>
              <a:t>因为</a:t>
            </a:r>
            <a:r>
              <a:rPr lang="en-US" altLang="zh-CN" dirty="0"/>
              <a:t>id</a:t>
            </a:r>
            <a:r>
              <a:rPr lang="zh-CN" altLang="en-US" dirty="0"/>
              <a:t>将会被</a:t>
            </a:r>
            <a:r>
              <a:rPr lang="en-US" altLang="zh-CN" dirty="0"/>
              <a:t>F</a:t>
            </a:r>
            <a:r>
              <a:rPr lang="zh-CN" altLang="en-US" dirty="0"/>
              <a:t>代替，状态</a:t>
            </a:r>
            <a:r>
              <a:rPr lang="en-US" altLang="zh-CN" dirty="0"/>
              <a:t>5</a:t>
            </a:r>
            <a:r>
              <a:rPr lang="zh-CN" altLang="en-US" dirty="0"/>
              <a:t>将会被状态</a:t>
            </a:r>
            <a:r>
              <a:rPr lang="en-US" altLang="zh-CN" dirty="0"/>
              <a:t>3</a:t>
            </a:r>
            <a:r>
              <a:rPr lang="zh-CN" altLang="en-US" dirty="0"/>
              <a:t>代替，所以弹出状态</a:t>
            </a:r>
            <a:r>
              <a:rPr lang="en-US" altLang="zh-CN" dirty="0"/>
              <a:t>5</a:t>
            </a:r>
            <a:r>
              <a:rPr lang="zh-CN" altLang="en-US" dirty="0"/>
              <a:t>，压入状态</a:t>
            </a:r>
            <a:r>
              <a:rPr lang="en-US" altLang="zh-CN" dirty="0"/>
              <a:t>3</a:t>
            </a:r>
            <a:r>
              <a:rPr lang="zh-CN" altLang="en-US" dirty="0"/>
              <a:t>。</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117</a:t>
            </a:fld>
            <a:endParaRPr lang="zh-CN" altLang="en-US"/>
          </a:p>
        </p:txBody>
      </p:sp>
    </p:spTree>
    <p:extLst>
      <p:ext uri="{BB962C8B-B14F-4D97-AF65-F5344CB8AC3E}">
        <p14:creationId xmlns:p14="http://schemas.microsoft.com/office/powerpoint/2010/main" val="201574593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a:t>
            </a:r>
            <a:r>
              <a:rPr lang="zh-CN" altLang="en-US" dirty="0"/>
              <a:t>语法分析器结构</a:t>
            </a:r>
            <a:endParaRPr lang="en-US" altLang="zh-CN" dirty="0"/>
          </a:p>
          <a:p>
            <a:r>
              <a:rPr lang="en-US" altLang="zh-CN" dirty="0"/>
              <a:t>LR</a:t>
            </a:r>
            <a:r>
              <a:rPr lang="zh-CN" altLang="en-US" dirty="0"/>
              <a:t>语法分析器由一个输入、一个输出、一个栈、一个驱动程序和一个语法分析表（</a:t>
            </a:r>
            <a:r>
              <a:rPr lang="en-US" altLang="zh-CN" dirty="0"/>
              <a:t>ACTION+GOTO</a:t>
            </a:r>
            <a:r>
              <a:rPr lang="zh-CN" altLang="en-US" dirty="0"/>
              <a:t>）组成</a:t>
            </a:r>
          </a:p>
          <a:p>
            <a:r>
              <a:rPr lang="zh-CN" altLang="en-US" dirty="0"/>
              <a:t>所有</a:t>
            </a:r>
            <a:r>
              <a:rPr lang="en-US" altLang="zh-CN" dirty="0"/>
              <a:t>LR</a:t>
            </a:r>
            <a:r>
              <a:rPr lang="zh-CN" altLang="en-US" dirty="0"/>
              <a:t>语法分析器的驱动程序都是相同的；只有语法分析表随语法分析器的不同而变化</a:t>
            </a:r>
            <a:endParaRPr lang="en-US" altLang="zh-CN" dirty="0"/>
          </a:p>
          <a:p>
            <a:r>
              <a:rPr lang="zh-CN" altLang="en-US" dirty="0"/>
              <a:t>栈保存一个状态序列</a:t>
            </a:r>
          </a:p>
          <a:p>
            <a:r>
              <a:rPr lang="zh-CN" altLang="en-US" dirty="0"/>
              <a:t>   在</a:t>
            </a:r>
            <a:r>
              <a:rPr lang="en-US" altLang="zh-CN" dirty="0"/>
              <a:t>SLR</a:t>
            </a:r>
            <a:r>
              <a:rPr lang="zh-CN" altLang="en-US" dirty="0"/>
              <a:t>中，栈保存来自</a:t>
            </a:r>
            <a:r>
              <a:rPr lang="en-US" altLang="zh-CN" dirty="0"/>
              <a:t>LR(0)</a:t>
            </a:r>
            <a:r>
              <a:rPr lang="zh-CN" altLang="en-US" dirty="0"/>
              <a:t>自动机的状态</a:t>
            </a:r>
          </a:p>
          <a:p>
            <a:r>
              <a:rPr lang="zh-CN" altLang="en-US" dirty="0"/>
              <a:t>语法分析器根据（</a:t>
            </a:r>
            <a:r>
              <a:rPr lang="en-US" altLang="zh-CN" dirty="0"/>
              <a:t>1</a:t>
            </a:r>
            <a:r>
              <a:rPr lang="zh-CN" altLang="en-US" dirty="0"/>
              <a:t>）栈顶部的状态和（</a:t>
            </a:r>
            <a:r>
              <a:rPr lang="en-US" altLang="zh-CN" dirty="0"/>
              <a:t>2</a:t>
            </a:r>
            <a:r>
              <a:rPr lang="zh-CN" altLang="en-US" dirty="0"/>
              <a:t>）从输入缓冲区读取的终结符来决定下一个动作</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118</a:t>
            </a:fld>
            <a:endParaRPr lang="zh-CN" altLang="en-US"/>
          </a:p>
        </p:txBody>
      </p:sp>
    </p:spTree>
    <p:extLst>
      <p:ext uri="{BB962C8B-B14F-4D97-AF65-F5344CB8AC3E}">
        <p14:creationId xmlns:p14="http://schemas.microsoft.com/office/powerpoint/2010/main" val="323208759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a:t>
            </a:r>
            <a:r>
              <a:rPr lang="zh-CN" altLang="en-US" dirty="0"/>
              <a:t>语法分析表：</a:t>
            </a:r>
            <a:r>
              <a:rPr lang="en-US" altLang="zh-CN" dirty="0"/>
              <a:t>ACTION + GOTO</a:t>
            </a:r>
          </a:p>
          <a:p>
            <a:r>
              <a:rPr lang="en-US" altLang="zh-CN" dirty="0"/>
              <a:t>ACTION</a:t>
            </a:r>
            <a:r>
              <a:rPr lang="zh-CN" altLang="en-US" dirty="0"/>
              <a:t>函数接受两个参数：（</a:t>
            </a:r>
            <a:r>
              <a:rPr lang="en-US" altLang="zh-CN" dirty="0"/>
              <a:t>1</a:t>
            </a:r>
            <a:r>
              <a:rPr lang="zh-CN" altLang="en-US" dirty="0"/>
              <a:t>）状态𝑖 和（</a:t>
            </a:r>
            <a:r>
              <a:rPr lang="en-US" altLang="zh-CN" dirty="0"/>
              <a:t>2</a:t>
            </a:r>
            <a:r>
              <a:rPr lang="zh-CN" altLang="en-US" dirty="0"/>
              <a:t>）终结符𝑎 （或</a:t>
            </a:r>
            <a:r>
              <a:rPr lang="en-US" altLang="zh-CN" dirty="0"/>
              <a:t>$</a:t>
            </a:r>
            <a:r>
              <a:rPr lang="zh-CN" altLang="en-US" dirty="0"/>
              <a:t>）</a:t>
            </a:r>
          </a:p>
          <a:p>
            <a:r>
              <a:rPr lang="en-US" altLang="zh-CN" dirty="0"/>
              <a:t>ACTION[</a:t>
            </a:r>
            <a:r>
              <a:rPr lang="zh-CN" altLang="en-US" dirty="0"/>
              <a:t>𝒊</a:t>
            </a:r>
            <a:r>
              <a:rPr lang="en-US" altLang="zh-CN" dirty="0"/>
              <a:t>, </a:t>
            </a:r>
            <a:r>
              <a:rPr lang="zh-CN" altLang="en-US" dirty="0"/>
              <a:t>𝒂</a:t>
            </a:r>
            <a:r>
              <a:rPr lang="en-US" altLang="zh-CN" dirty="0"/>
              <a:t>] </a:t>
            </a:r>
            <a:r>
              <a:rPr lang="zh-CN" altLang="en-US" dirty="0"/>
              <a:t>可以具有以下四种形式的值之一：</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t>
            </a:r>
            <a:r>
              <a:rPr lang="en-US" altLang="zh-CN" dirty="0"/>
              <a:t>· </a:t>
            </a:r>
            <a:r>
              <a:rPr lang="zh-CN" altLang="en-US" dirty="0"/>
              <a:t>移入𝒋</a:t>
            </a:r>
            <a:r>
              <a:rPr lang="en-US" altLang="zh-CN" dirty="0"/>
              <a:t>: </a:t>
            </a:r>
            <a:r>
              <a:rPr lang="zh-CN" altLang="en-US" dirty="0"/>
              <a:t>其中</a:t>
            </a:r>
            <a:r>
              <a:rPr lang="zh-CN" altLang="en-US" sz="1200" kern="1200" dirty="0">
                <a:solidFill>
                  <a:srgbClr val="0432FF"/>
                </a:solidFill>
                <a:latin typeface="Cambria Math"/>
                <a:cs typeface="Cambria Math"/>
              </a:rPr>
              <a:t>𝑗</a:t>
            </a:r>
            <a:r>
              <a:rPr lang="zh-CN" altLang="en-US" dirty="0"/>
              <a:t>是一个状态，把输入符号𝑎移入栈中，但使用状态𝑗 代表𝑎</a:t>
            </a:r>
          </a:p>
          <a:p>
            <a:r>
              <a:rPr lang="zh-CN" altLang="en-US" dirty="0"/>
              <a:t>   </a:t>
            </a:r>
            <a:r>
              <a:rPr lang="en-US" altLang="zh-CN" dirty="0"/>
              <a:t>· </a:t>
            </a:r>
            <a:r>
              <a:rPr lang="zh-CN" altLang="en-US" dirty="0"/>
              <a:t>归约𝑨 →𝛽</a:t>
            </a:r>
            <a:r>
              <a:rPr lang="en-US" altLang="zh-CN" dirty="0"/>
              <a:t>: </a:t>
            </a:r>
            <a:r>
              <a:rPr lang="zh-CN" altLang="en-US" dirty="0"/>
              <a:t>将栈顶的𝛽归约为产生式头</a:t>
            </a:r>
            <a:r>
              <a:rPr lang="en-US" altLang="zh-CN" dirty="0"/>
              <a:t>A</a:t>
            </a:r>
          </a:p>
          <a:p>
            <a:r>
              <a:rPr lang="en-US" altLang="zh-CN" dirty="0"/>
              <a:t>   · </a:t>
            </a:r>
            <a:r>
              <a:rPr lang="zh-CN" altLang="en-US" dirty="0"/>
              <a:t>接受：语法分析器接受输入并完成语法分析过程</a:t>
            </a:r>
            <a:endParaRPr lang="en-US" altLang="zh-CN" dirty="0"/>
          </a:p>
          <a:p>
            <a:r>
              <a:rPr lang="en-US" altLang="zh-CN" dirty="0"/>
              <a:t>   · </a:t>
            </a:r>
            <a:r>
              <a:rPr lang="zh-CN" altLang="en-US" dirty="0"/>
              <a:t>报错：存在语法错误</a:t>
            </a:r>
            <a:endParaRPr lang="en-US" altLang="zh-CN" dirty="0"/>
          </a:p>
          <a:p>
            <a:r>
              <a:rPr lang="zh-CN" altLang="en-US" dirty="0"/>
              <a:t>将定义在项集上的</a:t>
            </a:r>
            <a:r>
              <a:rPr lang="en-US" altLang="zh-CN" dirty="0"/>
              <a:t>GOTO</a:t>
            </a:r>
            <a:r>
              <a:rPr lang="zh-CN" altLang="en-US" dirty="0"/>
              <a:t>函数扩展为定义在状态集上的函数：如果</a:t>
            </a:r>
            <a:r>
              <a:rPr lang="en-US" altLang="zh-CN" sz="1200" kern="1200" spc="-80" dirty="0">
                <a:solidFill>
                  <a:prstClr val="black"/>
                </a:solidFill>
                <a:latin typeface="Palatino Linotype"/>
                <a:cs typeface="Palatino Linotype"/>
              </a:rPr>
              <a:t>GOTO(</a:t>
            </a:r>
            <a:r>
              <a:rPr lang="zh-CN" altLang="en-US" sz="1200" kern="1200" spc="-80" dirty="0">
                <a:solidFill>
                  <a:srgbClr val="0432FF"/>
                </a:solidFill>
                <a:latin typeface="Cambria Math"/>
                <a:cs typeface="Cambria Math"/>
              </a:rPr>
              <a:t>𝐼</a:t>
            </a:r>
            <a:r>
              <a:rPr lang="zh-CN" altLang="en-US" sz="1400" kern="1200" spc="-120" baseline="-14814" dirty="0">
                <a:solidFill>
                  <a:srgbClr val="0432FF"/>
                </a:solidFill>
                <a:latin typeface="Cambria Math"/>
                <a:cs typeface="Cambria Math"/>
              </a:rPr>
              <a:t>𝑖</a:t>
            </a:r>
            <a:r>
              <a:rPr lang="en-US" altLang="zh-CN" sz="1200" kern="1200" spc="-80" dirty="0">
                <a:solidFill>
                  <a:prstClr val="black"/>
                </a:solidFill>
                <a:latin typeface="Palatino Linotype"/>
                <a:cs typeface="Palatino Linotype"/>
              </a:rPr>
              <a:t>,</a:t>
            </a:r>
            <a:r>
              <a:rPr lang="en-US" altLang="zh-CN" sz="1200" kern="1200" dirty="0">
                <a:solidFill>
                  <a:prstClr val="black"/>
                </a:solidFill>
                <a:latin typeface="Palatino Linotype"/>
                <a:cs typeface="Palatino Linotype"/>
              </a:rPr>
              <a:t> </a:t>
            </a:r>
            <a:r>
              <a:rPr lang="zh-CN" altLang="en-US" sz="1200" kern="1200" spc="5" dirty="0">
                <a:solidFill>
                  <a:prstClr val="black"/>
                </a:solidFill>
                <a:latin typeface="Cambria Math"/>
                <a:cs typeface="Cambria Math"/>
              </a:rPr>
              <a:t>𝐴</a:t>
            </a:r>
            <a:r>
              <a:rPr lang="en-US" altLang="zh-CN" sz="1200" kern="1200" spc="5" dirty="0">
                <a:solidFill>
                  <a:prstClr val="black"/>
                </a:solidFill>
                <a:latin typeface="Palatino Linotype"/>
                <a:cs typeface="Palatino Linotype"/>
              </a:rPr>
              <a:t>)</a:t>
            </a:r>
            <a:r>
              <a:rPr lang="en-US" altLang="zh-CN" sz="1200" kern="1200" dirty="0">
                <a:solidFill>
                  <a:prstClr val="black"/>
                </a:solidFill>
                <a:latin typeface="Palatino Linotype"/>
                <a:cs typeface="Palatino Linotype"/>
              </a:rPr>
              <a:t> =</a:t>
            </a:r>
            <a:r>
              <a:rPr lang="en-US" altLang="zh-CN" sz="1200" kern="1200" spc="-5" dirty="0">
                <a:solidFill>
                  <a:prstClr val="black"/>
                </a:solidFill>
                <a:latin typeface="Palatino Linotype"/>
                <a:cs typeface="Palatino Linotype"/>
              </a:rPr>
              <a:t> </a:t>
            </a:r>
            <a:r>
              <a:rPr lang="zh-CN" altLang="en-US" sz="1200" kern="1200" spc="-105" dirty="0">
                <a:solidFill>
                  <a:srgbClr val="0432FF"/>
                </a:solidFill>
                <a:latin typeface="Cambria Math"/>
                <a:cs typeface="Cambria Math"/>
              </a:rPr>
              <a:t>𝐼</a:t>
            </a:r>
            <a:r>
              <a:rPr lang="zh-CN" altLang="en-US" sz="1400" kern="1200" spc="-157" baseline="-14814" dirty="0">
                <a:solidFill>
                  <a:srgbClr val="0432FF"/>
                </a:solidFill>
                <a:latin typeface="Cambria Math"/>
                <a:cs typeface="Cambria Math"/>
              </a:rPr>
              <a:t>𝑗</a:t>
            </a:r>
            <a:r>
              <a:rPr lang="zh-CN" altLang="en-US" dirty="0"/>
              <a:t>，那么</a:t>
            </a:r>
            <a:r>
              <a:rPr lang="en-US" altLang="zh-CN" dirty="0"/>
              <a:t>GOTO</a:t>
            </a:r>
            <a:r>
              <a:rPr lang="zh-CN" altLang="en-US" dirty="0"/>
              <a:t>也把状态</a:t>
            </a:r>
            <a:r>
              <a:rPr lang="zh-CN" altLang="en-US" sz="1200" kern="1200" spc="5" dirty="0">
                <a:solidFill>
                  <a:srgbClr val="0432FF"/>
                </a:solidFill>
                <a:latin typeface="Cambria Math"/>
                <a:cs typeface="Cambria Math"/>
              </a:rPr>
              <a:t>𝑖</a:t>
            </a:r>
            <a:r>
              <a:rPr lang="zh-CN" altLang="en-US" dirty="0"/>
              <a:t>和一个非终结符</a:t>
            </a:r>
            <a:r>
              <a:rPr lang="en-US" altLang="zh-CN" dirty="0"/>
              <a:t>A</a:t>
            </a:r>
            <a:r>
              <a:rPr lang="zh-CN" altLang="en-US" dirty="0"/>
              <a:t>映射到状态</a:t>
            </a:r>
            <a:r>
              <a:rPr lang="zh-CN" altLang="en-US" sz="1200" kern="1200" dirty="0">
                <a:solidFill>
                  <a:srgbClr val="0432FF"/>
                </a:solidFill>
                <a:latin typeface="Cambria Math"/>
                <a:cs typeface="Cambria Math"/>
              </a:rPr>
              <a:t>𝑗</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119</a:t>
            </a:fld>
            <a:endParaRPr lang="zh-CN" altLang="en-US"/>
          </a:p>
        </p:txBody>
      </p:sp>
    </p:spTree>
    <p:extLst>
      <p:ext uri="{BB962C8B-B14F-4D97-AF65-F5344CB8AC3E}">
        <p14:creationId xmlns:p14="http://schemas.microsoft.com/office/powerpoint/2010/main" val="51247304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a:t>
            </a:r>
            <a:r>
              <a:rPr lang="zh-CN" altLang="en-US" dirty="0"/>
              <a:t>语法分析器的态势</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“态势”是表示语法分析器完整状态的符号。态势是一个形如：</a:t>
            </a:r>
            <a:r>
              <a:rPr lang="en-US" altLang="zh-CN" sz="1200" kern="1200" spc="-5" dirty="0">
                <a:solidFill>
                  <a:prstClr val="black"/>
                </a:solidFill>
                <a:latin typeface="Cambria Math"/>
                <a:cs typeface="Cambria Math"/>
              </a:rPr>
              <a:t>(</a:t>
            </a:r>
            <a:r>
              <a:rPr lang="zh-CN" altLang="en-US" sz="1200" kern="1200" spc="-60" dirty="0">
                <a:solidFill>
                  <a:prstClr val="black"/>
                </a:solidFill>
                <a:latin typeface="Cambria Math"/>
                <a:cs typeface="Cambria Math"/>
              </a:rPr>
              <a:t>𝑠</a:t>
            </a:r>
            <a:r>
              <a:rPr lang="en-US" altLang="zh-CN" sz="1200" kern="1200" spc="150" baseline="-15625" dirty="0">
                <a:solidFill>
                  <a:prstClr val="black"/>
                </a:solidFill>
                <a:latin typeface="Cambria Math"/>
                <a:cs typeface="Cambria Math"/>
              </a:rPr>
              <a:t>0</a:t>
            </a:r>
            <a:r>
              <a:rPr lang="zh-CN" altLang="en-US" sz="1200" kern="1200" spc="-110" dirty="0">
                <a:solidFill>
                  <a:prstClr val="black"/>
                </a:solidFill>
                <a:latin typeface="Cambria Math"/>
                <a:cs typeface="Cambria Math"/>
              </a:rPr>
              <a:t>𝑠</a:t>
            </a:r>
            <a:r>
              <a:rPr lang="en-US" altLang="zh-CN" sz="1200" kern="1200" spc="359" baseline="-15625" dirty="0">
                <a:solidFill>
                  <a:prstClr val="black"/>
                </a:solidFill>
                <a:latin typeface="Cambria Math"/>
                <a:cs typeface="Cambria Math"/>
              </a:rPr>
              <a:t>1</a:t>
            </a:r>
            <a:r>
              <a:rPr lang="en-US" altLang="zh-CN" sz="1200" kern="1200" spc="150" baseline="-15625"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en-US" altLang="zh-CN" sz="1200" kern="1200" spc="-125" dirty="0">
                <a:solidFill>
                  <a:prstClr val="black"/>
                </a:solidFill>
                <a:latin typeface="Cambria Math"/>
                <a:cs typeface="Cambria Math"/>
              </a:rPr>
              <a:t> </a:t>
            </a:r>
            <a:r>
              <a:rPr lang="zh-CN" altLang="en-US" sz="1200" kern="1200" spc="-105" dirty="0">
                <a:solidFill>
                  <a:prstClr val="black"/>
                </a:solidFill>
                <a:latin typeface="Cambria Math"/>
                <a:cs typeface="Cambria Math"/>
              </a:rPr>
              <a:t>𝑠</a:t>
            </a:r>
            <a:r>
              <a:rPr lang="zh-CN" altLang="en-US" sz="1200" kern="1200" spc="450" baseline="-15625" dirty="0">
                <a:solidFill>
                  <a:prstClr val="black"/>
                </a:solidFill>
                <a:latin typeface="Cambria Math"/>
                <a:cs typeface="Cambria Math"/>
              </a:rPr>
              <a:t>𝑚</a:t>
            </a:r>
            <a:r>
              <a:rPr lang="en-US" altLang="zh-CN" sz="1200" kern="1200" dirty="0">
                <a:solidFill>
                  <a:prstClr val="black"/>
                </a:solidFill>
                <a:latin typeface="Cambria Math"/>
                <a:cs typeface="Cambria Math"/>
              </a:rPr>
              <a:t>,</a:t>
            </a:r>
            <a:r>
              <a:rPr lang="en-US" altLang="zh-CN" sz="1200" kern="1200" spc="-120" dirty="0">
                <a:solidFill>
                  <a:prstClr val="black"/>
                </a:solidFill>
                <a:latin typeface="Cambria Math"/>
                <a:cs typeface="Cambria Math"/>
              </a:rPr>
              <a:t> </a:t>
            </a:r>
            <a:r>
              <a:rPr lang="zh-CN" altLang="en-US" sz="1200" kern="1200" spc="-5" dirty="0">
                <a:solidFill>
                  <a:prstClr val="black"/>
                </a:solidFill>
                <a:latin typeface="Cambria Math"/>
                <a:cs typeface="Cambria Math"/>
              </a:rPr>
              <a:t>𝑎</a:t>
            </a:r>
            <a:r>
              <a:rPr lang="en-US" altLang="zh-CN" sz="1200" kern="1200" spc="390" baseline="-15625" dirty="0" err="1">
                <a:solidFill>
                  <a:prstClr val="black"/>
                </a:solidFill>
                <a:latin typeface="Cambria Math"/>
                <a:cs typeface="Cambria Math"/>
              </a:rPr>
              <a:t>i</a:t>
            </a:r>
            <a:r>
              <a:rPr lang="zh-CN" altLang="en-US" sz="1200" kern="1200" spc="-5" dirty="0">
                <a:solidFill>
                  <a:prstClr val="black"/>
                </a:solidFill>
                <a:latin typeface="Cambria Math"/>
                <a:cs typeface="Cambria Math"/>
              </a:rPr>
              <a:t>𝑎</a:t>
            </a:r>
            <a:r>
              <a:rPr lang="en-US" altLang="zh-CN" sz="1200" kern="1200" spc="254" baseline="-15625" dirty="0">
                <a:solidFill>
                  <a:prstClr val="black"/>
                </a:solidFill>
                <a:latin typeface="Cambria Math"/>
                <a:cs typeface="Cambria Math"/>
              </a:rPr>
              <a:t>i</a:t>
            </a:r>
            <a:r>
              <a:rPr lang="en-US" altLang="zh-CN" sz="1200" kern="1200" spc="742" baseline="-15625" dirty="0">
                <a:solidFill>
                  <a:prstClr val="black"/>
                </a:solidFill>
                <a:latin typeface="Cambria Math"/>
                <a:cs typeface="Cambria Math"/>
              </a:rPr>
              <a:t>+1</a:t>
            </a:r>
            <a:r>
              <a:rPr lang="en-US" altLang="zh-CN" sz="1200" kern="1200" spc="150" baseline="-15625"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en-US" altLang="zh-CN" sz="1200" kern="1200" spc="-125" dirty="0">
                <a:solidFill>
                  <a:prstClr val="black"/>
                </a:solidFill>
                <a:latin typeface="Cambria Math"/>
                <a:cs typeface="Cambria Math"/>
              </a:rPr>
              <a:t> </a:t>
            </a:r>
            <a:r>
              <a:rPr lang="zh-CN" altLang="en-US" sz="1200" kern="1200" spc="-5" dirty="0">
                <a:solidFill>
                  <a:prstClr val="black"/>
                </a:solidFill>
                <a:latin typeface="Cambria Math"/>
                <a:cs typeface="Cambria Math"/>
              </a:rPr>
              <a:t>𝑎</a:t>
            </a:r>
            <a:r>
              <a:rPr lang="zh-CN" altLang="en-US" sz="1200" kern="1200" spc="487" baseline="-15625" dirty="0">
                <a:solidFill>
                  <a:prstClr val="black"/>
                </a:solidFill>
                <a:latin typeface="Cambria Math"/>
                <a:cs typeface="Cambria Math"/>
              </a:rPr>
              <a:t>𝑛</a:t>
            </a:r>
            <a:r>
              <a:rPr lang="en-US" altLang="zh-CN" sz="1200" kern="1200" spc="-5" dirty="0">
                <a:solidFill>
                  <a:prstClr val="black"/>
                </a:solidFill>
                <a:latin typeface="Cambria Math"/>
                <a:cs typeface="Cambria Math"/>
              </a:rPr>
              <a:t>$</a:t>
            </a:r>
            <a:r>
              <a:rPr lang="en-US" altLang="zh-CN" sz="1200" kern="1200" dirty="0">
                <a:solidFill>
                  <a:prstClr val="black"/>
                </a:solidFill>
                <a:latin typeface="Cambria Math"/>
                <a:cs typeface="Cambria Math"/>
              </a:rPr>
              <a:t>)</a:t>
            </a:r>
            <a:r>
              <a:rPr lang="zh-CN" altLang="en-US" dirty="0"/>
              <a:t>的对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第一个分量是栈中的内容，第二个分量是余下的输入。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根据结构，每个状态（除𝑠</a:t>
            </a:r>
            <a:r>
              <a:rPr lang="en-US" altLang="zh-CN" dirty="0"/>
              <a:t>0</a:t>
            </a:r>
            <a:r>
              <a:rPr lang="zh-CN" altLang="en-US" dirty="0"/>
              <a:t>）对应于一组项和文法符号（导致状态转换的符号，即传入边上的符号）</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 </a:t>
            </a:r>
            <a:r>
              <a:rPr lang="zh-CN" altLang="en-US" dirty="0"/>
              <a:t>假设</a:t>
            </a:r>
            <a:r>
              <a:rPr lang="zh-CN" altLang="en-US" sz="1200" kern="1200" spc="5" dirty="0">
                <a:solidFill>
                  <a:prstClr val="black"/>
                </a:solidFill>
                <a:latin typeface="Cambria Math"/>
                <a:cs typeface="Cambria Math"/>
              </a:rPr>
              <a:t>𝑋</a:t>
            </a:r>
            <a:r>
              <a:rPr lang="en-US" altLang="zh-CN" kern="1200" spc="7" baseline="-16203" dirty="0" err="1">
                <a:solidFill>
                  <a:prstClr val="black"/>
                </a:solidFill>
                <a:latin typeface="Cambria Math"/>
                <a:cs typeface="Cambria Math"/>
              </a:rPr>
              <a:t>i</a:t>
            </a:r>
            <a:r>
              <a:rPr lang="zh-CN" altLang="en-US" dirty="0"/>
              <a:t>是状态</a:t>
            </a:r>
            <a:r>
              <a:rPr lang="zh-CN" altLang="en-US" sz="1200" kern="1200" spc="20" dirty="0">
                <a:solidFill>
                  <a:prstClr val="black"/>
                </a:solidFill>
                <a:latin typeface="Cambria Math"/>
                <a:cs typeface="Cambria Math"/>
              </a:rPr>
              <a:t>𝑠</a:t>
            </a:r>
            <a:r>
              <a:rPr lang="en-US" altLang="zh-CN" kern="1200" spc="30" baseline="-16203" dirty="0" err="1">
                <a:solidFill>
                  <a:prstClr val="black"/>
                </a:solidFill>
                <a:latin typeface="Cambria Math"/>
                <a:cs typeface="Cambria Math"/>
              </a:rPr>
              <a:t>i</a:t>
            </a:r>
            <a:r>
              <a:rPr lang="zh-CN" altLang="en-US" dirty="0"/>
              <a:t>的文法符号</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 </a:t>
            </a:r>
            <a:r>
              <a:rPr lang="zh-CN" altLang="en-US" dirty="0"/>
              <a:t>那么</a:t>
            </a:r>
            <a:r>
              <a:rPr lang="zh-CN" altLang="en-US" sz="1200" kern="1200" spc="-55" dirty="0">
                <a:solidFill>
                  <a:srgbClr val="FF0000"/>
                </a:solidFill>
                <a:latin typeface="Cambria Math"/>
                <a:cs typeface="Cambria Math"/>
              </a:rPr>
              <a:t>𝑋</a:t>
            </a:r>
            <a:r>
              <a:rPr lang="en-US" altLang="zh-CN" sz="1200" kern="1200" spc="-82" baseline="-16203" dirty="0">
                <a:solidFill>
                  <a:srgbClr val="FF0000"/>
                </a:solidFill>
                <a:latin typeface="Cambria Math"/>
                <a:cs typeface="Cambria Math"/>
              </a:rPr>
              <a:t>0</a:t>
            </a:r>
            <a:r>
              <a:rPr lang="zh-CN" altLang="en-US" sz="1200" kern="1200" spc="-55" dirty="0">
                <a:solidFill>
                  <a:srgbClr val="FF0000"/>
                </a:solidFill>
                <a:latin typeface="Cambria Math"/>
                <a:cs typeface="Cambria Math"/>
              </a:rPr>
              <a:t>𝑋</a:t>
            </a:r>
            <a:r>
              <a:rPr lang="en-US" altLang="zh-CN" kern="1200" spc="-82" baseline="-16203" dirty="0">
                <a:solidFill>
                  <a:srgbClr val="FF0000"/>
                </a:solidFill>
                <a:latin typeface="Cambria Math"/>
                <a:cs typeface="Cambria Math"/>
              </a:rPr>
              <a:t>1</a:t>
            </a:r>
            <a:r>
              <a:rPr lang="en-US" altLang="zh-CN" kern="1200" spc="157" baseline="-16203" dirty="0">
                <a:solidFill>
                  <a:srgbClr val="FF0000"/>
                </a:solidFill>
                <a:latin typeface="Cambria Math"/>
                <a:cs typeface="Cambria Math"/>
              </a:rPr>
              <a:t> </a:t>
            </a:r>
            <a:r>
              <a:rPr lang="en-US" altLang="zh-CN" sz="1200" kern="1200" dirty="0">
                <a:solidFill>
                  <a:srgbClr val="FF0000"/>
                </a:solidFill>
                <a:latin typeface="Cambria Math"/>
                <a:cs typeface="Cambria Math"/>
              </a:rPr>
              <a:t>…</a:t>
            </a:r>
            <a:r>
              <a:rPr lang="en-US" altLang="zh-CN" sz="1200" kern="1200" spc="-90" dirty="0">
                <a:solidFill>
                  <a:srgbClr val="FF0000"/>
                </a:solidFill>
                <a:latin typeface="Cambria Math"/>
                <a:cs typeface="Cambria Math"/>
              </a:rPr>
              <a:t> </a:t>
            </a:r>
            <a:r>
              <a:rPr lang="zh-CN" altLang="en-US" sz="1200" kern="1200" spc="114" dirty="0">
                <a:solidFill>
                  <a:srgbClr val="FF0000"/>
                </a:solidFill>
                <a:latin typeface="Cambria Math"/>
                <a:cs typeface="Cambria Math"/>
              </a:rPr>
              <a:t>𝑋</a:t>
            </a:r>
            <a:r>
              <a:rPr lang="zh-CN" altLang="en-US" kern="1200" spc="172" baseline="-16203" dirty="0">
                <a:solidFill>
                  <a:srgbClr val="FF0000"/>
                </a:solidFill>
                <a:latin typeface="Cambria Math"/>
                <a:cs typeface="Cambria Math"/>
              </a:rPr>
              <a:t>𝑚</a:t>
            </a:r>
            <a:r>
              <a:rPr lang="zh-CN" altLang="en-US" sz="1200" kern="1200" spc="114" dirty="0">
                <a:solidFill>
                  <a:srgbClr val="FF0000"/>
                </a:solidFill>
                <a:latin typeface="Cambria Math"/>
                <a:cs typeface="Cambria Math"/>
              </a:rPr>
              <a:t>𝑎</a:t>
            </a:r>
            <a:r>
              <a:rPr lang="en-US" altLang="zh-CN" kern="1200" spc="172" baseline="-16203" dirty="0" err="1">
                <a:solidFill>
                  <a:srgbClr val="FF0000"/>
                </a:solidFill>
                <a:latin typeface="Cambria Math"/>
                <a:cs typeface="Cambria Math"/>
              </a:rPr>
              <a:t>i</a:t>
            </a:r>
            <a:r>
              <a:rPr lang="zh-CN" altLang="en-US" sz="1200" kern="1200" spc="114" dirty="0">
                <a:solidFill>
                  <a:srgbClr val="FF0000"/>
                </a:solidFill>
                <a:latin typeface="Cambria Math"/>
                <a:cs typeface="Cambria Math"/>
              </a:rPr>
              <a:t>𝑎</a:t>
            </a:r>
            <a:r>
              <a:rPr lang="en-US" altLang="zh-CN" kern="1200" spc="172" baseline="-16203" dirty="0">
                <a:solidFill>
                  <a:srgbClr val="FF0000"/>
                </a:solidFill>
                <a:latin typeface="Cambria Math"/>
                <a:cs typeface="Cambria Math"/>
              </a:rPr>
              <a:t>i+1</a:t>
            </a:r>
            <a:r>
              <a:rPr lang="en-US" altLang="zh-CN" kern="1200" spc="165" baseline="-16203" dirty="0">
                <a:solidFill>
                  <a:srgbClr val="FF0000"/>
                </a:solidFill>
                <a:latin typeface="Cambria Math"/>
                <a:cs typeface="Cambria Math"/>
              </a:rPr>
              <a:t> </a:t>
            </a:r>
            <a:r>
              <a:rPr lang="en-US" altLang="zh-CN" sz="1200" kern="1200" dirty="0">
                <a:solidFill>
                  <a:srgbClr val="FF0000"/>
                </a:solidFill>
                <a:latin typeface="Cambria Math"/>
                <a:cs typeface="Cambria Math"/>
              </a:rPr>
              <a:t>…</a:t>
            </a:r>
            <a:r>
              <a:rPr lang="en-US" altLang="zh-CN" sz="1200" kern="1200" spc="-90" dirty="0">
                <a:solidFill>
                  <a:srgbClr val="FF0000"/>
                </a:solidFill>
                <a:latin typeface="Cambria Math"/>
                <a:cs typeface="Cambria Math"/>
              </a:rPr>
              <a:t> </a:t>
            </a:r>
            <a:r>
              <a:rPr lang="zh-CN" altLang="en-US" sz="1200" kern="1200" spc="45" dirty="0">
                <a:solidFill>
                  <a:srgbClr val="FF0000"/>
                </a:solidFill>
                <a:latin typeface="Cambria Math"/>
                <a:cs typeface="Cambria Math"/>
              </a:rPr>
              <a:t>𝑎</a:t>
            </a:r>
            <a:r>
              <a:rPr lang="zh-CN" altLang="en-US" kern="1200" spc="67" baseline="-16203" dirty="0">
                <a:solidFill>
                  <a:srgbClr val="FF0000"/>
                </a:solidFill>
                <a:latin typeface="Cambria Math"/>
                <a:cs typeface="Cambria Math"/>
              </a:rPr>
              <a:t>𝑛</a:t>
            </a:r>
            <a:r>
              <a:rPr lang="zh-CN" altLang="en-US" dirty="0"/>
              <a:t>是最右句型（假设没有错误）</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120</a:t>
            </a:fld>
            <a:endParaRPr lang="zh-CN" altLang="en-US"/>
          </a:p>
        </p:txBody>
      </p:sp>
    </p:spTree>
    <p:extLst>
      <p:ext uri="{BB962C8B-B14F-4D97-AF65-F5344CB8AC3E}">
        <p14:creationId xmlns:p14="http://schemas.microsoft.com/office/powerpoint/2010/main" val="234759679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a:t>
            </a:r>
            <a:r>
              <a:rPr lang="zh-CN" altLang="en-US" dirty="0"/>
              <a:t>语法分析器的行为</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121</a:t>
            </a:fld>
            <a:endParaRPr lang="zh-CN" altLang="en-US"/>
          </a:p>
        </p:txBody>
      </p:sp>
    </p:spTree>
    <p:extLst>
      <p:ext uri="{BB962C8B-B14F-4D97-AF65-F5344CB8AC3E}">
        <p14:creationId xmlns:p14="http://schemas.microsoft.com/office/powerpoint/2010/main" val="335306507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a:t>
            </a:r>
            <a:r>
              <a:rPr lang="zh-CN" altLang="en-US" dirty="0"/>
              <a:t>语法分析算法</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122</a:t>
            </a:fld>
            <a:endParaRPr lang="zh-CN" altLang="en-US"/>
          </a:p>
        </p:txBody>
      </p:sp>
    </p:spTree>
    <p:extLst>
      <p:ext uri="{BB962C8B-B14F-4D97-AF65-F5344CB8AC3E}">
        <p14:creationId xmlns:p14="http://schemas.microsoft.com/office/powerpoint/2010/main" val="351979194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构造</a:t>
            </a:r>
            <a:r>
              <a:rPr lang="en-US" altLang="zh-CN" dirty="0"/>
              <a:t>SLR</a:t>
            </a:r>
            <a:r>
              <a:rPr lang="zh-CN" altLang="en-US" dirty="0"/>
              <a:t>语法分析表</a:t>
            </a:r>
            <a:endParaRPr lang="en-US" altLang="zh-CN" dirty="0"/>
          </a:p>
          <a:p>
            <a:r>
              <a:rPr lang="en-US" altLang="zh-CN" dirty="0"/>
              <a:t>SLR</a:t>
            </a:r>
            <a:r>
              <a:rPr lang="zh-CN" altLang="en-US" dirty="0"/>
              <a:t>语法分析表𝐺以</a:t>
            </a:r>
            <a:r>
              <a:rPr lang="en-US" altLang="zh-CN" dirty="0"/>
              <a:t>LR(0)</a:t>
            </a:r>
            <a:r>
              <a:rPr lang="zh-CN" altLang="en-US" dirty="0"/>
              <a:t>项和</a:t>
            </a:r>
            <a:r>
              <a:rPr lang="en-US" altLang="zh-CN" dirty="0"/>
              <a:t>LR(0)</a:t>
            </a:r>
            <a:r>
              <a:rPr lang="zh-CN" altLang="en-US" dirty="0"/>
              <a:t>自动机为基础。</a:t>
            </a:r>
            <a:endParaRPr lang="en-US" altLang="zh-CN" dirty="0"/>
          </a:p>
          <a:p>
            <a:r>
              <a:rPr lang="en-US" altLang="zh-CN" dirty="0"/>
              <a:t>   1. </a:t>
            </a:r>
            <a:r>
              <a:rPr lang="zh-CN" altLang="en-US" dirty="0"/>
              <a:t>构造增广文法</a:t>
            </a:r>
            <a:r>
              <a:rPr lang="en-US" altLang="zh-CN" dirty="0"/>
              <a:t>G</a:t>
            </a:r>
            <a:r>
              <a:rPr lang="zh-CN" altLang="en-US" dirty="0"/>
              <a:t>‘的规范</a:t>
            </a:r>
            <a:r>
              <a:rPr lang="en-US" altLang="zh-CN" dirty="0"/>
              <a:t>LR(0)</a:t>
            </a:r>
            <a:r>
              <a:rPr lang="zh-CN" altLang="en-US" dirty="0"/>
              <a:t>项集族</a:t>
            </a:r>
            <a:r>
              <a:rPr lang="en-US" altLang="zh-CN" sz="1200" kern="1200" spc="-45" dirty="0">
                <a:solidFill>
                  <a:prstClr val="black"/>
                </a:solidFill>
                <a:latin typeface="Cambria Math"/>
                <a:cs typeface="Cambria Math"/>
              </a:rPr>
              <a:t>{</a:t>
            </a:r>
            <a:r>
              <a:rPr lang="zh-CN" altLang="en-US" sz="1200" kern="1200" spc="-45" dirty="0">
                <a:solidFill>
                  <a:prstClr val="black"/>
                </a:solidFill>
                <a:latin typeface="Cambria Math"/>
                <a:cs typeface="Cambria Math"/>
              </a:rPr>
              <a:t>𝐼</a:t>
            </a:r>
            <a:r>
              <a:rPr lang="en-US" altLang="zh-CN" sz="1200" kern="1200" spc="-67" baseline="-16203" dirty="0">
                <a:solidFill>
                  <a:prstClr val="black"/>
                </a:solidFill>
                <a:latin typeface="Cambria Math"/>
                <a:cs typeface="Cambria Math"/>
              </a:rPr>
              <a:t>0</a:t>
            </a:r>
            <a:r>
              <a:rPr lang="en-US" altLang="zh-CN" sz="1200" kern="1200" spc="-45" dirty="0">
                <a:solidFill>
                  <a:prstClr val="black"/>
                </a:solidFill>
                <a:latin typeface="Cambria Math"/>
                <a:cs typeface="Cambria Math"/>
              </a:rPr>
              <a:t>,</a:t>
            </a:r>
            <a:r>
              <a:rPr lang="zh-CN" altLang="en-US" sz="1200" kern="1200" spc="-90" dirty="0">
                <a:solidFill>
                  <a:prstClr val="black"/>
                </a:solidFill>
                <a:latin typeface="Cambria Math"/>
                <a:cs typeface="Cambria Math"/>
              </a:rPr>
              <a:t> </a:t>
            </a:r>
            <a:r>
              <a:rPr lang="zh-CN" altLang="en-US" sz="1200" kern="1200" spc="-20" dirty="0">
                <a:solidFill>
                  <a:prstClr val="black"/>
                </a:solidFill>
                <a:latin typeface="Cambria Math"/>
                <a:cs typeface="Cambria Math"/>
              </a:rPr>
              <a:t>𝐼</a:t>
            </a:r>
            <a:r>
              <a:rPr lang="en-US" altLang="zh-CN" kern="1200" spc="-30" baseline="-16203" dirty="0">
                <a:solidFill>
                  <a:prstClr val="black"/>
                </a:solidFill>
                <a:latin typeface="Cambria Math"/>
                <a:cs typeface="Cambria Math"/>
              </a:rPr>
              <a:t>1</a:t>
            </a:r>
            <a:r>
              <a:rPr lang="en-US" altLang="zh-CN" sz="1200" kern="1200" spc="-20" dirty="0">
                <a:solidFill>
                  <a:prstClr val="black"/>
                </a:solidFill>
                <a:latin typeface="Cambria Math"/>
                <a:cs typeface="Cambria Math"/>
              </a:rPr>
              <a:t>,</a:t>
            </a:r>
            <a:r>
              <a:rPr lang="zh-CN" altLang="en-US" sz="1200" kern="1200" spc="-90"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zh-CN" altLang="en-US" sz="1200" kern="1200" spc="-90"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zh-CN" altLang="en-US" sz="1200" kern="1200" spc="-90" dirty="0">
                <a:solidFill>
                  <a:prstClr val="black"/>
                </a:solidFill>
                <a:latin typeface="Cambria Math"/>
                <a:cs typeface="Cambria Math"/>
              </a:rPr>
              <a:t> </a:t>
            </a:r>
            <a:r>
              <a:rPr lang="zh-CN" altLang="en-US" sz="1200" kern="1200" spc="20" dirty="0">
                <a:solidFill>
                  <a:prstClr val="black"/>
                </a:solidFill>
                <a:latin typeface="Cambria Math"/>
                <a:cs typeface="Cambria Math"/>
              </a:rPr>
              <a:t>𝐼</a:t>
            </a:r>
            <a:r>
              <a:rPr lang="zh-CN" altLang="en-US" kern="1200" spc="30" baseline="-16203" dirty="0">
                <a:solidFill>
                  <a:prstClr val="black"/>
                </a:solidFill>
                <a:latin typeface="Cambria Math"/>
                <a:cs typeface="Cambria Math"/>
              </a:rPr>
              <a:t>𝑛</a:t>
            </a:r>
            <a:r>
              <a:rPr lang="en-US" altLang="zh-CN" sz="1200" kern="1200" spc="20" dirty="0">
                <a:solidFill>
                  <a:prstClr val="black"/>
                </a:solidFill>
                <a:latin typeface="Cambria Math"/>
                <a:cs typeface="Cambria Math"/>
              </a:rPr>
              <a:t>}</a:t>
            </a:r>
            <a:r>
              <a:rPr lang="zh-CN" altLang="en-US" sz="1200" kern="1200" spc="50" dirty="0">
                <a:solidFill>
                  <a:prstClr val="black"/>
                </a:solidFill>
                <a:latin typeface="Cambria Math"/>
                <a:cs typeface="Cambria Math"/>
              </a:rPr>
              <a:t> </a:t>
            </a:r>
            <a:endParaRPr lang="en-US" altLang="zh-CN" dirty="0"/>
          </a:p>
          <a:p>
            <a:r>
              <a:rPr lang="en-US" altLang="zh-CN" dirty="0"/>
              <a:t>   2. </a:t>
            </a:r>
            <a:r>
              <a:rPr lang="zh-CN" altLang="en-US" dirty="0"/>
              <a:t>根据</a:t>
            </a:r>
            <a:r>
              <a:rPr lang="zh-CN" altLang="en-US" sz="1200" kern="1200" spc="30" dirty="0">
                <a:solidFill>
                  <a:prstClr val="black"/>
                </a:solidFill>
                <a:latin typeface="Cambria Math"/>
                <a:cs typeface="Cambria Math"/>
              </a:rPr>
              <a:t>𝐼</a:t>
            </a:r>
            <a:r>
              <a:rPr lang="en-US" altLang="zh-CN" kern="1200" spc="44" baseline="-16203" dirty="0" err="1">
                <a:solidFill>
                  <a:prstClr val="black"/>
                </a:solidFill>
                <a:latin typeface="Cambria Math"/>
                <a:cs typeface="Cambria Math"/>
              </a:rPr>
              <a:t>i</a:t>
            </a:r>
            <a:r>
              <a:rPr lang="zh-CN" altLang="en-US" dirty="0"/>
              <a:t>构造得到状态</a:t>
            </a:r>
            <a:r>
              <a:rPr lang="en-US" altLang="zh-CN" sz="1200" i="1" kern="1200" dirty="0" err="1">
                <a:solidFill>
                  <a:prstClr val="black"/>
                </a:solidFill>
                <a:latin typeface="Palatino Linotype"/>
                <a:cs typeface="Palatino Linotype"/>
              </a:rPr>
              <a:t>i</a:t>
            </a:r>
            <a:r>
              <a:rPr lang="zh-CN" altLang="en-US" dirty="0"/>
              <a:t>，状态</a:t>
            </a:r>
            <a:r>
              <a:rPr lang="en-US" altLang="zh-CN" sz="1200" i="1" kern="1200" dirty="0" err="1">
                <a:solidFill>
                  <a:prstClr val="black"/>
                </a:solidFill>
                <a:latin typeface="Palatino Linotype"/>
                <a:cs typeface="Palatino Linotype"/>
              </a:rPr>
              <a:t>i</a:t>
            </a:r>
            <a:r>
              <a:rPr lang="zh-CN" altLang="en-US" dirty="0"/>
              <a:t>的语法分析动作按照下面的方法决定：</a:t>
            </a:r>
            <a:endParaRPr lang="en-US" altLang="zh-CN" dirty="0"/>
          </a:p>
          <a:p>
            <a:r>
              <a:rPr lang="en-US" altLang="zh-CN" dirty="0"/>
              <a:t>      · </a:t>
            </a:r>
            <a:r>
              <a:rPr lang="zh-CN" altLang="en-US" dirty="0"/>
              <a:t>如果</a:t>
            </a:r>
            <a:r>
              <a:rPr lang="en-US" altLang="zh-CN" sz="1200" kern="1200" spc="-5" dirty="0">
                <a:solidFill>
                  <a:prstClr val="black"/>
                </a:solidFill>
                <a:latin typeface="Cambria Math"/>
                <a:cs typeface="Cambria Math"/>
              </a:rPr>
              <a:t>[</a:t>
            </a:r>
            <a:r>
              <a:rPr lang="zh-CN" altLang="en-US" sz="1200" kern="1200" spc="-5" dirty="0">
                <a:solidFill>
                  <a:prstClr val="black"/>
                </a:solidFill>
                <a:latin typeface="Cambria Math"/>
                <a:cs typeface="Cambria Math"/>
              </a:rPr>
              <a:t>𝐴</a:t>
            </a:r>
            <a:r>
              <a:rPr lang="zh-CN" altLang="en-US" sz="1200" kern="1200" spc="95"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𝛼</a:t>
            </a:r>
            <a:r>
              <a:rPr lang="zh-CN" altLang="en-US" sz="1200" kern="1200" spc="40" dirty="0">
                <a:solidFill>
                  <a:prstClr val="black"/>
                </a:solidFill>
                <a:latin typeface="Cambria Math"/>
                <a:cs typeface="Cambria Math"/>
              </a:rPr>
              <a:t> </a:t>
            </a:r>
            <a:r>
              <a:rPr lang="en-US" altLang="zh-CN" sz="1200" kern="1200" spc="-655" dirty="0">
                <a:solidFill>
                  <a:prstClr val="black"/>
                </a:solidFill>
                <a:latin typeface="Cambria Math"/>
                <a:cs typeface="Cambria Math"/>
              </a:rPr>
              <a:t>·    </a:t>
            </a:r>
            <a:r>
              <a:rPr lang="zh-CN" altLang="en-US" sz="1200" kern="1200" spc="5" dirty="0">
                <a:solidFill>
                  <a:prstClr val="black"/>
                </a:solidFill>
                <a:latin typeface="Cambria Math"/>
                <a:cs typeface="Cambria Math"/>
              </a:rPr>
              <a:t>  </a:t>
            </a:r>
            <a:r>
              <a:rPr lang="zh-CN" altLang="en-US" sz="1200" kern="1200" spc="10" dirty="0">
                <a:solidFill>
                  <a:prstClr val="black"/>
                </a:solidFill>
                <a:latin typeface="Cambria Math"/>
                <a:cs typeface="Cambria Math"/>
              </a:rPr>
              <a:t>𝑎𝛽</a:t>
            </a:r>
            <a:r>
              <a:rPr lang="en-US" altLang="zh-CN" sz="1200" kern="1200" spc="10" dirty="0">
                <a:solidFill>
                  <a:prstClr val="black"/>
                </a:solidFill>
                <a:latin typeface="Cambria Math"/>
                <a:cs typeface="Cambria Math"/>
              </a:rPr>
              <a:t>]</a:t>
            </a:r>
            <a:r>
              <a:rPr lang="zh-CN" altLang="en-US" dirty="0"/>
              <a:t>在</a:t>
            </a:r>
            <a:r>
              <a:rPr lang="zh-CN" altLang="en-US" sz="1200" kern="1200" spc="25" dirty="0">
                <a:solidFill>
                  <a:prstClr val="black"/>
                </a:solidFill>
                <a:latin typeface="Cambria Math"/>
                <a:cs typeface="Cambria Math"/>
              </a:rPr>
              <a:t>𝐼</a:t>
            </a:r>
            <a:r>
              <a:rPr lang="zh-CN" altLang="en-US" sz="1400" kern="1200" spc="37" baseline="-16666" dirty="0">
                <a:solidFill>
                  <a:prstClr val="black"/>
                </a:solidFill>
                <a:latin typeface="Cambria Math"/>
                <a:cs typeface="Cambria Math"/>
              </a:rPr>
              <a:t>𝑖</a:t>
            </a:r>
            <a:r>
              <a:rPr lang="zh-CN" altLang="en-US" dirty="0"/>
              <a:t>中并且</a:t>
            </a:r>
            <a:r>
              <a:rPr lang="en-US" altLang="zh-CN" sz="1200" kern="1200" spc="-15" dirty="0">
                <a:solidFill>
                  <a:prstClr val="black"/>
                </a:solidFill>
                <a:latin typeface="Cambria Math"/>
                <a:cs typeface="Cambria Math"/>
              </a:rPr>
              <a:t>GOTO [</a:t>
            </a:r>
            <a:r>
              <a:rPr lang="zh-CN" altLang="en-US" sz="1200" kern="1200" spc="25" dirty="0">
                <a:solidFill>
                  <a:prstClr val="black"/>
                </a:solidFill>
                <a:latin typeface="Cambria Math"/>
                <a:cs typeface="Cambria Math"/>
              </a:rPr>
              <a:t>𝐼</a:t>
            </a:r>
            <a:r>
              <a:rPr lang="zh-CN" altLang="en-US" sz="1400" kern="1200" spc="37" baseline="-16666" dirty="0">
                <a:solidFill>
                  <a:prstClr val="black"/>
                </a:solidFill>
                <a:latin typeface="Cambria Math"/>
                <a:cs typeface="Cambria Math"/>
              </a:rPr>
              <a:t>𝑖</a:t>
            </a:r>
            <a:r>
              <a:rPr lang="en-US" altLang="zh-CN" sz="1200" kern="1200" dirty="0">
                <a:solidFill>
                  <a:prstClr val="black"/>
                </a:solidFill>
                <a:latin typeface="Cambria Math"/>
                <a:cs typeface="Cambria Math"/>
              </a:rPr>
              <a:t>,</a:t>
            </a:r>
            <a:r>
              <a:rPr lang="en-US" altLang="zh-CN" sz="1200" kern="1200" spc="-75" dirty="0">
                <a:solidFill>
                  <a:prstClr val="black"/>
                </a:solidFill>
                <a:latin typeface="Cambria Math"/>
                <a:cs typeface="Cambria Math"/>
              </a:rPr>
              <a:t> </a:t>
            </a:r>
            <a:r>
              <a:rPr lang="zh-CN" altLang="en-US" sz="1200" kern="1200" dirty="0">
                <a:solidFill>
                  <a:prstClr val="black"/>
                </a:solidFill>
                <a:latin typeface="Cambria Math"/>
                <a:cs typeface="Cambria Math"/>
              </a:rPr>
              <a:t>𝑎</a:t>
            </a:r>
            <a:r>
              <a:rPr lang="en-US" altLang="zh-CN" sz="1200" kern="1200" dirty="0">
                <a:solidFill>
                  <a:prstClr val="black"/>
                </a:solidFill>
                <a:latin typeface="Cambria Math"/>
                <a:cs typeface="Cambria Math"/>
              </a:rPr>
              <a:t> </a:t>
            </a:r>
            <a:r>
              <a:rPr lang="en-US" altLang="zh-CN" sz="1200" kern="1200" spc="595" dirty="0">
                <a:solidFill>
                  <a:prstClr val="black"/>
                </a:solidFill>
                <a:latin typeface="Cambria Math"/>
                <a:cs typeface="Cambria Math"/>
              </a:rPr>
              <a:t>]</a:t>
            </a:r>
            <a:r>
              <a:rPr lang="en-US" altLang="zh-CN" sz="1200" kern="1200" dirty="0">
                <a:solidFill>
                  <a:prstClr val="black"/>
                </a:solidFill>
                <a:latin typeface="Cambria Math"/>
                <a:cs typeface="Cambria Math"/>
              </a:rPr>
              <a:t>=</a:t>
            </a:r>
            <a:r>
              <a:rPr lang="en-US" altLang="zh-CN" sz="1200" kern="1200" spc="80" dirty="0">
                <a:solidFill>
                  <a:prstClr val="black"/>
                </a:solidFill>
                <a:latin typeface="Cambria Math"/>
                <a:cs typeface="Cambria Math"/>
              </a:rPr>
              <a:t> </a:t>
            </a:r>
            <a:r>
              <a:rPr lang="zh-CN" altLang="en-US" sz="1200" kern="1200" spc="25" dirty="0">
                <a:solidFill>
                  <a:prstClr val="black"/>
                </a:solidFill>
                <a:latin typeface="Cambria Math"/>
                <a:cs typeface="Cambria Math"/>
              </a:rPr>
              <a:t>𝐼</a:t>
            </a:r>
            <a:r>
              <a:rPr lang="en-US" altLang="zh-CN" sz="1400" kern="1200" spc="37" baseline="-16666" dirty="0">
                <a:solidFill>
                  <a:prstClr val="black"/>
                </a:solidFill>
                <a:latin typeface="Cambria Math"/>
                <a:cs typeface="Cambria Math"/>
              </a:rPr>
              <a:t>j</a:t>
            </a:r>
            <a:r>
              <a:rPr lang="zh-CN" altLang="en-US" dirty="0"/>
              <a:t>，那么将</a:t>
            </a:r>
            <a:r>
              <a:rPr lang="en-US" altLang="zh-CN" sz="1200" kern="1200" spc="-25" dirty="0">
                <a:solidFill>
                  <a:prstClr val="black"/>
                </a:solidFill>
                <a:latin typeface="Cambria Math"/>
                <a:cs typeface="Cambria Math"/>
              </a:rPr>
              <a:t>A</a:t>
            </a:r>
            <a:r>
              <a:rPr lang="en-US" altLang="zh-CN" sz="1200" kern="1200" spc="-5" dirty="0">
                <a:solidFill>
                  <a:prstClr val="black"/>
                </a:solidFill>
                <a:latin typeface="Cambria Math"/>
                <a:cs typeface="Cambria Math"/>
              </a:rPr>
              <a:t>C</a:t>
            </a:r>
            <a:r>
              <a:rPr lang="en-US" altLang="zh-CN" sz="1200" kern="1200" spc="-10" dirty="0">
                <a:solidFill>
                  <a:prstClr val="black"/>
                </a:solidFill>
                <a:latin typeface="Cambria Math"/>
                <a:cs typeface="Cambria Math"/>
              </a:rPr>
              <a:t>T</a:t>
            </a:r>
            <a:r>
              <a:rPr lang="en-US" altLang="zh-CN" sz="1200" kern="1200" spc="-5" dirty="0">
                <a:solidFill>
                  <a:prstClr val="black"/>
                </a:solidFill>
                <a:latin typeface="Cambria Math"/>
                <a:cs typeface="Cambria Math"/>
              </a:rPr>
              <a:t>IO</a:t>
            </a:r>
            <a:r>
              <a:rPr lang="en-US" altLang="zh-CN" sz="1200" kern="1200" dirty="0">
                <a:solidFill>
                  <a:prstClr val="black"/>
                </a:solidFill>
                <a:latin typeface="Cambria Math"/>
                <a:cs typeface="Cambria Math"/>
              </a:rPr>
              <a:t>N[</a:t>
            </a:r>
            <a:r>
              <a:rPr lang="en-US" altLang="zh-CN" sz="1200" kern="1200" spc="-130" dirty="0">
                <a:solidFill>
                  <a:prstClr val="black"/>
                </a:solidFill>
                <a:latin typeface="Cambria Math"/>
                <a:cs typeface="Cambria Math"/>
              </a:rPr>
              <a:t> </a:t>
            </a:r>
            <a:r>
              <a:rPr lang="zh-CN" altLang="en-US" sz="1200" kern="1200" spc="35" dirty="0">
                <a:solidFill>
                  <a:prstClr val="black"/>
                </a:solidFill>
                <a:latin typeface="Cambria Math"/>
                <a:cs typeface="Cambria Math"/>
              </a:rPr>
              <a:t>𝑖</a:t>
            </a:r>
            <a:r>
              <a:rPr lang="en-US" altLang="zh-CN" sz="1200" kern="1200" dirty="0">
                <a:solidFill>
                  <a:prstClr val="black"/>
                </a:solidFill>
                <a:latin typeface="Cambria Math"/>
                <a:cs typeface="Cambria Math"/>
              </a:rPr>
              <a:t>,</a:t>
            </a:r>
            <a:r>
              <a:rPr lang="en-US" altLang="zh-CN" sz="1200" kern="1200" spc="-75" dirty="0">
                <a:solidFill>
                  <a:prstClr val="black"/>
                </a:solidFill>
                <a:latin typeface="Cambria Math"/>
                <a:cs typeface="Cambria Math"/>
              </a:rPr>
              <a:t> </a:t>
            </a:r>
            <a:r>
              <a:rPr lang="zh-CN" altLang="en-US" sz="1200" kern="1200" dirty="0">
                <a:solidFill>
                  <a:prstClr val="black"/>
                </a:solidFill>
                <a:latin typeface="Cambria Math"/>
                <a:cs typeface="Cambria Math"/>
              </a:rPr>
              <a:t>𝑎</a:t>
            </a:r>
            <a:r>
              <a:rPr lang="en-US" altLang="zh-CN" sz="1200" kern="1200" dirty="0">
                <a:solidFill>
                  <a:prstClr val="black"/>
                </a:solidFill>
                <a:latin typeface="Cambria Math"/>
                <a:cs typeface="Cambria Math"/>
              </a:rPr>
              <a:t>]</a:t>
            </a:r>
            <a:r>
              <a:rPr lang="zh-CN" altLang="en-US" dirty="0"/>
              <a:t>设置为“移入</a:t>
            </a:r>
            <a:r>
              <a:rPr lang="en-US" altLang="zh-CN" dirty="0"/>
              <a:t>j</a:t>
            </a:r>
            <a:r>
              <a:rPr lang="zh-CN" altLang="en-US" dirty="0"/>
              <a:t>”</a:t>
            </a:r>
            <a:endParaRPr lang="en-US" altLang="zh-CN" dirty="0"/>
          </a:p>
          <a:p>
            <a:r>
              <a:rPr lang="en-US" altLang="zh-CN" dirty="0"/>
              <a:t>      · </a:t>
            </a:r>
            <a:r>
              <a:rPr lang="zh-CN" altLang="en-US" dirty="0"/>
              <a:t>如果</a:t>
            </a:r>
            <a:r>
              <a:rPr lang="en-US" altLang="zh-CN" sz="1200" kern="1200" spc="-5" dirty="0">
                <a:solidFill>
                  <a:prstClr val="black"/>
                </a:solidFill>
                <a:latin typeface="Cambria Math"/>
                <a:cs typeface="Cambria Math"/>
              </a:rPr>
              <a:t>[</a:t>
            </a:r>
            <a:r>
              <a:rPr lang="zh-CN" altLang="en-US" sz="1200" kern="1200" dirty="0">
                <a:solidFill>
                  <a:prstClr val="black"/>
                </a:solidFill>
                <a:latin typeface="Cambria Math"/>
                <a:cs typeface="Cambria Math"/>
              </a:rPr>
              <a:t>𝐴</a:t>
            </a:r>
            <a:r>
              <a:rPr lang="zh-CN" altLang="en-US" sz="1200" kern="1200" spc="95"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𝛼</a:t>
            </a:r>
            <a:r>
              <a:rPr lang="en-US" altLang="zh-CN" sz="1200" kern="1200" spc="40" dirty="0">
                <a:solidFill>
                  <a:prstClr val="black"/>
                </a:solidFill>
                <a:latin typeface="Cambria Math"/>
                <a:cs typeface="Cambria Math"/>
              </a:rPr>
              <a:t>·</a:t>
            </a:r>
            <a:r>
              <a:rPr lang="en-US" altLang="zh-CN" sz="1200" kern="1200" dirty="0">
                <a:solidFill>
                  <a:prstClr val="black"/>
                </a:solidFill>
                <a:latin typeface="Cambria Math"/>
                <a:cs typeface="Cambria Math"/>
              </a:rPr>
              <a:t>]</a:t>
            </a:r>
            <a:r>
              <a:rPr lang="zh-CN" altLang="en-US" dirty="0"/>
              <a:t>在</a:t>
            </a:r>
            <a:r>
              <a:rPr lang="zh-CN" altLang="en-US" sz="1200" kern="1200" spc="25" dirty="0">
                <a:solidFill>
                  <a:prstClr val="black"/>
                </a:solidFill>
                <a:latin typeface="Cambria Math"/>
                <a:cs typeface="Cambria Math"/>
              </a:rPr>
              <a:t>𝐼</a:t>
            </a:r>
            <a:r>
              <a:rPr lang="zh-CN" altLang="en-US" sz="1400" kern="1200" spc="37" baseline="-16666" dirty="0">
                <a:solidFill>
                  <a:prstClr val="black"/>
                </a:solidFill>
                <a:latin typeface="Cambria Math"/>
                <a:cs typeface="Cambria Math"/>
              </a:rPr>
              <a:t>𝑖</a:t>
            </a:r>
            <a:r>
              <a:rPr lang="zh-CN" altLang="en-US" dirty="0"/>
              <a:t>中，那么对于</a:t>
            </a:r>
            <a:r>
              <a:rPr lang="zh-CN" altLang="en-US" sz="1200" kern="1200" spc="-5" dirty="0">
                <a:solidFill>
                  <a:srgbClr val="FF0000"/>
                </a:solidFill>
                <a:latin typeface="Cambria Math"/>
                <a:cs typeface="Cambria Math"/>
              </a:rPr>
              <a:t>𝐅</a:t>
            </a:r>
            <a:r>
              <a:rPr lang="zh-CN" altLang="en-US" sz="1200" kern="1200" spc="-10" dirty="0">
                <a:solidFill>
                  <a:srgbClr val="FF0000"/>
                </a:solidFill>
                <a:latin typeface="Cambria Math"/>
                <a:cs typeface="Cambria Math"/>
              </a:rPr>
              <a:t>𝐎</a:t>
            </a:r>
            <a:r>
              <a:rPr lang="zh-CN" altLang="en-US" sz="1200" kern="1200" spc="-5" dirty="0">
                <a:solidFill>
                  <a:srgbClr val="FF0000"/>
                </a:solidFill>
                <a:latin typeface="Cambria Math"/>
                <a:cs typeface="Cambria Math"/>
              </a:rPr>
              <a:t>𝐋𝐋</a:t>
            </a:r>
            <a:r>
              <a:rPr lang="zh-CN" altLang="en-US" sz="1200" kern="1200" spc="5" dirty="0">
                <a:solidFill>
                  <a:srgbClr val="FF0000"/>
                </a:solidFill>
                <a:latin typeface="Cambria Math"/>
                <a:cs typeface="Cambria Math"/>
              </a:rPr>
              <a:t>𝐎</a:t>
            </a:r>
            <a:r>
              <a:rPr lang="zh-CN" altLang="en-US" sz="1200" kern="1200" spc="-5" dirty="0">
                <a:solidFill>
                  <a:srgbClr val="FF0000"/>
                </a:solidFill>
                <a:latin typeface="Cambria Math"/>
                <a:cs typeface="Cambria Math"/>
              </a:rPr>
              <a:t>𝐖</a:t>
            </a:r>
            <a:r>
              <a:rPr lang="en-US" altLang="zh-CN" sz="1200" kern="1200" spc="-10" dirty="0">
                <a:solidFill>
                  <a:srgbClr val="FF0000"/>
                </a:solidFill>
                <a:latin typeface="Cambria Math"/>
                <a:cs typeface="Cambria Math"/>
              </a:rPr>
              <a:t>(</a:t>
            </a:r>
            <a:r>
              <a:rPr lang="zh-CN" altLang="en-US" sz="1200" kern="1200" spc="-5" dirty="0">
                <a:solidFill>
                  <a:srgbClr val="FF0000"/>
                </a:solidFill>
                <a:latin typeface="Cambria Math"/>
                <a:cs typeface="Cambria Math"/>
              </a:rPr>
              <a:t>𝑨</a:t>
            </a:r>
            <a:r>
              <a:rPr lang="en-US" altLang="zh-CN" sz="1200" kern="1200" spc="-10" dirty="0">
                <a:solidFill>
                  <a:srgbClr val="FF0000"/>
                </a:solidFill>
                <a:latin typeface="Cambria Math"/>
                <a:cs typeface="Cambria Math"/>
              </a:rPr>
              <a:t>)</a:t>
            </a:r>
            <a:r>
              <a:rPr lang="zh-CN" altLang="en-US" dirty="0"/>
              <a:t>中的所有</a:t>
            </a:r>
            <a:r>
              <a:rPr lang="zh-CN" altLang="en-US" sz="1200" kern="1200" dirty="0">
                <a:solidFill>
                  <a:prstClr val="black"/>
                </a:solidFill>
                <a:latin typeface="Cambria Math"/>
                <a:cs typeface="Cambria Math"/>
              </a:rPr>
              <a:t>𝑎</a:t>
            </a:r>
            <a:r>
              <a:rPr lang="zh-CN" altLang="en-US" dirty="0"/>
              <a:t>，将设置</a:t>
            </a:r>
            <a:r>
              <a:rPr lang="en-US" altLang="zh-CN" sz="1200" kern="1200" spc="-25" dirty="0">
                <a:solidFill>
                  <a:prstClr val="black"/>
                </a:solidFill>
                <a:latin typeface="Cambria Math"/>
                <a:cs typeface="Cambria Math"/>
              </a:rPr>
              <a:t>A</a:t>
            </a:r>
            <a:r>
              <a:rPr lang="en-US" altLang="zh-CN" sz="1200" kern="1200" spc="-5" dirty="0">
                <a:solidFill>
                  <a:prstClr val="black"/>
                </a:solidFill>
                <a:latin typeface="Cambria Math"/>
                <a:cs typeface="Cambria Math"/>
              </a:rPr>
              <a:t>C</a:t>
            </a:r>
            <a:r>
              <a:rPr lang="en-US" altLang="zh-CN" sz="1200" kern="1200" spc="-10" dirty="0">
                <a:solidFill>
                  <a:prstClr val="black"/>
                </a:solidFill>
                <a:latin typeface="Cambria Math"/>
                <a:cs typeface="Cambria Math"/>
              </a:rPr>
              <a:t>T</a:t>
            </a:r>
            <a:r>
              <a:rPr lang="en-US" altLang="zh-CN" sz="1200" kern="1200" spc="-5" dirty="0">
                <a:solidFill>
                  <a:prstClr val="black"/>
                </a:solidFill>
                <a:latin typeface="Cambria Math"/>
                <a:cs typeface="Cambria Math"/>
              </a:rPr>
              <a:t>IO</a:t>
            </a:r>
            <a:r>
              <a:rPr lang="en-US" altLang="zh-CN" sz="1200" kern="1200" dirty="0">
                <a:solidFill>
                  <a:prstClr val="black"/>
                </a:solidFill>
                <a:latin typeface="Cambria Math"/>
                <a:cs typeface="Cambria Math"/>
              </a:rPr>
              <a:t>N[</a:t>
            </a:r>
            <a:r>
              <a:rPr lang="en-US" altLang="zh-CN" sz="1200" kern="1200" spc="-130" dirty="0">
                <a:solidFill>
                  <a:prstClr val="black"/>
                </a:solidFill>
                <a:latin typeface="Cambria Math"/>
                <a:cs typeface="Cambria Math"/>
              </a:rPr>
              <a:t> </a:t>
            </a:r>
            <a:r>
              <a:rPr lang="zh-CN" altLang="en-US" sz="1200" kern="1200" spc="35" dirty="0">
                <a:solidFill>
                  <a:prstClr val="black"/>
                </a:solidFill>
                <a:latin typeface="Cambria Math"/>
                <a:cs typeface="Cambria Math"/>
              </a:rPr>
              <a:t>𝑖</a:t>
            </a:r>
            <a:r>
              <a:rPr lang="en-US" altLang="zh-CN" sz="1200" kern="1200" dirty="0">
                <a:solidFill>
                  <a:prstClr val="black"/>
                </a:solidFill>
                <a:latin typeface="Cambria Math"/>
                <a:cs typeface="Cambria Math"/>
              </a:rPr>
              <a:t>,</a:t>
            </a:r>
            <a:r>
              <a:rPr lang="en-US" altLang="zh-CN" sz="1200" kern="1200" spc="-75" dirty="0">
                <a:solidFill>
                  <a:prstClr val="black"/>
                </a:solidFill>
                <a:latin typeface="Cambria Math"/>
                <a:cs typeface="Cambria Math"/>
              </a:rPr>
              <a:t> </a:t>
            </a:r>
            <a:r>
              <a:rPr lang="zh-CN" altLang="en-US" sz="1200" kern="1200" dirty="0">
                <a:solidFill>
                  <a:prstClr val="black"/>
                </a:solidFill>
                <a:latin typeface="Cambria Math"/>
                <a:cs typeface="Cambria Math"/>
              </a:rPr>
              <a:t>𝑎</a:t>
            </a:r>
            <a:r>
              <a:rPr lang="en-US" altLang="zh-CN" sz="1200" kern="1200" dirty="0">
                <a:solidFill>
                  <a:prstClr val="black"/>
                </a:solidFill>
                <a:latin typeface="Cambria Math"/>
                <a:cs typeface="Cambria Math"/>
              </a:rPr>
              <a:t>]</a:t>
            </a:r>
            <a:r>
              <a:rPr lang="zh-CN" altLang="en-US" dirty="0"/>
              <a:t>为“归约</a:t>
            </a:r>
            <a:r>
              <a:rPr lang="zh-CN" altLang="en-US" sz="1200" kern="1200" dirty="0">
                <a:solidFill>
                  <a:prstClr val="black"/>
                </a:solidFill>
                <a:latin typeface="Cambria Math"/>
                <a:cs typeface="Cambria Math"/>
              </a:rPr>
              <a:t>𝐴</a:t>
            </a:r>
            <a:r>
              <a:rPr lang="zh-CN" altLang="en-US" sz="1200" kern="1200" spc="95"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𝛼</a:t>
            </a:r>
            <a:r>
              <a:rPr lang="zh-CN" altLang="en-US" dirty="0"/>
              <a:t>”。这里</a:t>
            </a:r>
            <a:r>
              <a:rPr lang="zh-CN" altLang="en-US" sz="1200" kern="1200" dirty="0">
                <a:solidFill>
                  <a:prstClr val="black"/>
                </a:solidFill>
                <a:latin typeface="Cambria Math"/>
                <a:cs typeface="Cambria Math"/>
              </a:rPr>
              <a:t>𝐴</a:t>
            </a:r>
            <a:r>
              <a:rPr lang="zh-CN" altLang="en-US" dirty="0"/>
              <a:t>不等于</a:t>
            </a:r>
            <a:r>
              <a:rPr lang="en-US" altLang="zh-CN" dirty="0"/>
              <a:t>S’</a:t>
            </a:r>
          </a:p>
          <a:p>
            <a:r>
              <a:rPr lang="en-US" altLang="zh-CN" dirty="0"/>
              <a:t>      · </a:t>
            </a:r>
            <a:r>
              <a:rPr lang="zh-CN" altLang="en-US" dirty="0"/>
              <a:t>如果</a:t>
            </a:r>
            <a:r>
              <a:rPr lang="en-US" altLang="zh-CN" sz="1200" kern="1200" spc="-5" dirty="0">
                <a:solidFill>
                  <a:prstClr val="black"/>
                </a:solidFill>
                <a:latin typeface="Cambria Math"/>
                <a:cs typeface="Cambria Math"/>
              </a:rPr>
              <a:t>[</a:t>
            </a:r>
            <a:r>
              <a:rPr lang="zh-CN" altLang="en-US" sz="1200" kern="1200" spc="-5" dirty="0">
                <a:solidFill>
                  <a:prstClr val="black"/>
                </a:solidFill>
                <a:latin typeface="Cambria Math"/>
                <a:cs typeface="Cambria Math"/>
              </a:rPr>
              <a:t>𝑆</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𝑆</a:t>
            </a:r>
            <a:r>
              <a:rPr lang="en-US" altLang="zh-CN" sz="1200" kern="1200" spc="25" dirty="0">
                <a:solidFill>
                  <a:prstClr val="black"/>
                </a:solidFill>
                <a:latin typeface="Cambria Math"/>
                <a:cs typeface="Cambria Math"/>
              </a:rPr>
              <a:t>·</a:t>
            </a:r>
            <a:r>
              <a:rPr lang="en-US" altLang="zh-CN" sz="1200" kern="1200" dirty="0">
                <a:solidFill>
                  <a:prstClr val="black"/>
                </a:solidFill>
                <a:latin typeface="Cambria Math"/>
                <a:cs typeface="Cambria Math"/>
              </a:rPr>
              <a:t>]</a:t>
            </a:r>
            <a:r>
              <a:rPr lang="zh-CN" altLang="en-US" dirty="0"/>
              <a:t>在</a:t>
            </a:r>
            <a:r>
              <a:rPr lang="zh-CN" altLang="en-US" sz="1200" kern="1200" spc="25" dirty="0">
                <a:solidFill>
                  <a:prstClr val="black"/>
                </a:solidFill>
                <a:latin typeface="Cambria Math"/>
                <a:cs typeface="Cambria Math"/>
              </a:rPr>
              <a:t>𝐼</a:t>
            </a:r>
            <a:r>
              <a:rPr lang="zh-CN" altLang="en-US" sz="1400" kern="1200" spc="37" baseline="-16666" dirty="0">
                <a:solidFill>
                  <a:prstClr val="black"/>
                </a:solidFill>
                <a:latin typeface="Cambria Math"/>
                <a:cs typeface="Cambria Math"/>
              </a:rPr>
              <a:t>𝑖</a:t>
            </a:r>
            <a:r>
              <a:rPr lang="zh-CN" altLang="en-US" dirty="0"/>
              <a:t>中，那么将设置</a:t>
            </a:r>
            <a:r>
              <a:rPr lang="en-US" altLang="zh-CN" sz="1200" kern="1200" spc="-25" dirty="0">
                <a:solidFill>
                  <a:prstClr val="black"/>
                </a:solidFill>
                <a:latin typeface="Cambria Math"/>
                <a:cs typeface="Cambria Math"/>
              </a:rPr>
              <a:t>A</a:t>
            </a:r>
            <a:r>
              <a:rPr lang="en-US" altLang="zh-CN" sz="1200" kern="1200" spc="-5" dirty="0">
                <a:solidFill>
                  <a:prstClr val="black"/>
                </a:solidFill>
                <a:latin typeface="Cambria Math"/>
                <a:cs typeface="Cambria Math"/>
              </a:rPr>
              <a:t>C</a:t>
            </a:r>
            <a:r>
              <a:rPr lang="en-US" altLang="zh-CN" sz="1200" kern="1200" spc="-10" dirty="0">
                <a:solidFill>
                  <a:prstClr val="black"/>
                </a:solidFill>
                <a:latin typeface="Cambria Math"/>
                <a:cs typeface="Cambria Math"/>
              </a:rPr>
              <a:t>T</a:t>
            </a:r>
            <a:r>
              <a:rPr lang="en-US" altLang="zh-CN" sz="1200" kern="1200" spc="-5" dirty="0">
                <a:solidFill>
                  <a:prstClr val="black"/>
                </a:solidFill>
                <a:latin typeface="Cambria Math"/>
                <a:cs typeface="Cambria Math"/>
              </a:rPr>
              <a:t>IO</a:t>
            </a:r>
            <a:r>
              <a:rPr lang="en-US" altLang="zh-CN" sz="1200" kern="1200" dirty="0">
                <a:solidFill>
                  <a:prstClr val="black"/>
                </a:solidFill>
                <a:latin typeface="Cambria Math"/>
                <a:cs typeface="Cambria Math"/>
              </a:rPr>
              <a:t>N[</a:t>
            </a:r>
            <a:r>
              <a:rPr lang="zh-CN" altLang="en-US" sz="1200" kern="1200" spc="35" dirty="0">
                <a:solidFill>
                  <a:prstClr val="black"/>
                </a:solidFill>
                <a:latin typeface="Cambria Math"/>
                <a:cs typeface="Cambria Math"/>
              </a:rPr>
              <a:t>𝑖</a:t>
            </a:r>
            <a:r>
              <a:rPr lang="en-US" altLang="zh-CN" sz="1200" kern="1200" dirty="0">
                <a:solidFill>
                  <a:prstClr val="black"/>
                </a:solidFill>
                <a:latin typeface="Cambria Math"/>
                <a:cs typeface="Cambria Math"/>
              </a:rPr>
              <a:t>,</a:t>
            </a:r>
            <a:r>
              <a:rPr lang="en-US" altLang="zh-CN" sz="1200" kern="1200" spc="-75"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zh-CN" altLang="en-US" dirty="0"/>
              <a:t>为“接受”</a:t>
            </a:r>
            <a:endParaRPr lang="en-US" altLang="zh-CN" dirty="0"/>
          </a:p>
          <a:p>
            <a:r>
              <a:rPr lang="en-US" altLang="zh-CN" dirty="0"/>
              <a:t>  3. </a:t>
            </a:r>
            <a:r>
              <a:rPr lang="zh-CN" altLang="en-US" dirty="0"/>
              <a:t>状态</a:t>
            </a:r>
            <a:r>
              <a:rPr lang="en-US" altLang="zh-CN" sz="1200" i="1" kern="1200" dirty="0" err="1">
                <a:solidFill>
                  <a:prstClr val="black"/>
                </a:solidFill>
                <a:latin typeface="Palatino Linotype"/>
                <a:cs typeface="Palatino Linotype"/>
              </a:rPr>
              <a:t>i</a:t>
            </a:r>
            <a:r>
              <a:rPr lang="zh-CN" altLang="en-US" dirty="0"/>
              <a:t>对于各个非终结符号</a:t>
            </a:r>
            <a:r>
              <a:rPr lang="en-US" altLang="zh-CN" sz="1200" i="1" kern="1200" dirty="0">
                <a:solidFill>
                  <a:prstClr val="black"/>
                </a:solidFill>
                <a:latin typeface="Palatino Linotype"/>
                <a:cs typeface="Palatino Linotype"/>
              </a:rPr>
              <a:t>A</a:t>
            </a:r>
            <a:r>
              <a:rPr lang="zh-CN" altLang="en-US" dirty="0"/>
              <a:t>的转换使用下面的规则构造得到：如果</a:t>
            </a:r>
            <a:r>
              <a:rPr lang="en-US" altLang="zh-CN" sz="1200" kern="1200" spc="-15" dirty="0">
                <a:solidFill>
                  <a:prstClr val="black"/>
                </a:solidFill>
                <a:latin typeface="Cambria Math"/>
                <a:cs typeface="Cambria Math"/>
              </a:rPr>
              <a:t>GOTO [</a:t>
            </a:r>
            <a:r>
              <a:rPr lang="zh-CN" altLang="en-US" sz="1200" kern="1200" spc="30" dirty="0">
                <a:solidFill>
                  <a:prstClr val="black"/>
                </a:solidFill>
                <a:latin typeface="Cambria Math"/>
                <a:cs typeface="Cambria Math"/>
              </a:rPr>
              <a:t>𝐼</a:t>
            </a:r>
            <a:r>
              <a:rPr lang="en-US" altLang="zh-CN" kern="1200" spc="44" baseline="-16203" dirty="0" err="1">
                <a:solidFill>
                  <a:prstClr val="black"/>
                </a:solidFill>
                <a:latin typeface="Cambria Math"/>
                <a:cs typeface="Cambria Math"/>
              </a:rPr>
              <a:t>i</a:t>
            </a:r>
            <a:r>
              <a:rPr lang="en-US" altLang="zh-CN" sz="1200" kern="1200" spc="30" dirty="0">
                <a:solidFill>
                  <a:prstClr val="black"/>
                </a:solidFill>
                <a:latin typeface="Cambria Math"/>
                <a:cs typeface="Cambria Math"/>
              </a:rPr>
              <a:t>,</a:t>
            </a:r>
            <a:r>
              <a:rPr lang="en-US" altLang="zh-CN" sz="1200" kern="1200" spc="-90" dirty="0">
                <a:solidFill>
                  <a:prstClr val="black"/>
                </a:solidFill>
                <a:latin typeface="Cambria Math"/>
                <a:cs typeface="Cambria Math"/>
              </a:rPr>
              <a:t> </a:t>
            </a:r>
            <a:r>
              <a:rPr lang="zh-CN" altLang="en-US" sz="1200" kern="1200" dirty="0">
                <a:solidFill>
                  <a:prstClr val="black"/>
                </a:solidFill>
                <a:latin typeface="Cambria Math"/>
                <a:cs typeface="Cambria Math"/>
              </a:rPr>
              <a:t>𝐴</a:t>
            </a:r>
            <a:r>
              <a:rPr lang="en-US" altLang="zh-CN" sz="1200" kern="1200" dirty="0">
                <a:solidFill>
                  <a:prstClr val="black"/>
                </a:solidFill>
                <a:latin typeface="Cambria Math"/>
                <a:cs typeface="Cambria Math"/>
              </a:rPr>
              <a:t>]=</a:t>
            </a:r>
            <a:r>
              <a:rPr lang="en-US" altLang="zh-CN" sz="1200" kern="1200" spc="100" dirty="0">
                <a:solidFill>
                  <a:prstClr val="black"/>
                </a:solidFill>
                <a:latin typeface="Cambria Math"/>
                <a:cs typeface="Cambria Math"/>
              </a:rPr>
              <a:t> </a:t>
            </a:r>
            <a:r>
              <a:rPr lang="zh-CN" altLang="en-US" sz="1200" kern="1200" spc="-30" dirty="0">
                <a:solidFill>
                  <a:prstClr val="black"/>
                </a:solidFill>
                <a:latin typeface="Cambria Math"/>
                <a:cs typeface="Cambria Math"/>
              </a:rPr>
              <a:t>𝐼</a:t>
            </a:r>
            <a:r>
              <a:rPr lang="zh-CN" altLang="en-US" kern="1200" spc="-44" baseline="-16203" dirty="0">
                <a:solidFill>
                  <a:prstClr val="black"/>
                </a:solidFill>
                <a:latin typeface="Cambria Math"/>
                <a:cs typeface="Cambria Math"/>
              </a:rPr>
              <a:t>𝑗</a:t>
            </a:r>
            <a:r>
              <a:rPr lang="zh-CN" altLang="en-US" dirty="0"/>
              <a:t>，那么</a:t>
            </a:r>
            <a:r>
              <a:rPr lang="en-US" altLang="zh-CN" sz="1200" kern="1200" spc="-15" dirty="0">
                <a:solidFill>
                  <a:prstClr val="black"/>
                </a:solidFill>
                <a:latin typeface="Cambria Math"/>
                <a:cs typeface="Cambria Math"/>
              </a:rPr>
              <a:t>GOTO[</a:t>
            </a:r>
            <a:r>
              <a:rPr lang="zh-CN" altLang="en-US" sz="1200" kern="1200" spc="25" dirty="0">
                <a:solidFill>
                  <a:prstClr val="black"/>
                </a:solidFill>
                <a:latin typeface="Cambria Math"/>
                <a:cs typeface="Cambria Math"/>
              </a:rPr>
              <a:t>𝑖</a:t>
            </a:r>
            <a:r>
              <a:rPr lang="en-US" altLang="zh-CN" sz="1200" kern="1200" spc="25" dirty="0">
                <a:solidFill>
                  <a:prstClr val="black"/>
                </a:solidFill>
                <a:latin typeface="Cambria Math"/>
                <a:cs typeface="Cambria Math"/>
              </a:rPr>
              <a:t>,</a:t>
            </a:r>
            <a:r>
              <a:rPr lang="en-US" altLang="zh-CN" sz="1200" kern="1200" spc="-90" dirty="0">
                <a:solidFill>
                  <a:prstClr val="black"/>
                </a:solidFill>
                <a:latin typeface="Cambria Math"/>
                <a:cs typeface="Cambria Math"/>
              </a:rPr>
              <a:t> </a:t>
            </a:r>
            <a:r>
              <a:rPr lang="zh-CN" altLang="en-US" sz="1200" kern="1200" dirty="0">
                <a:solidFill>
                  <a:prstClr val="black"/>
                </a:solidFill>
                <a:latin typeface="Cambria Math"/>
                <a:cs typeface="Cambria Math"/>
              </a:rPr>
              <a:t>𝐴</a:t>
            </a:r>
            <a:r>
              <a:rPr lang="en-US" altLang="zh-CN" sz="1200" kern="1200" dirty="0">
                <a:solidFill>
                  <a:prstClr val="black"/>
                </a:solidFill>
                <a:latin typeface="Cambria Math"/>
                <a:cs typeface="Cambria Math"/>
              </a:rPr>
              <a:t>]=</a:t>
            </a:r>
            <a:r>
              <a:rPr lang="en-US" altLang="zh-CN" sz="1200" kern="1200" spc="90" dirty="0">
                <a:solidFill>
                  <a:prstClr val="black"/>
                </a:solidFill>
                <a:latin typeface="Cambria Math"/>
                <a:cs typeface="Cambria Math"/>
              </a:rPr>
              <a:t> </a:t>
            </a:r>
            <a:r>
              <a:rPr lang="zh-CN" altLang="en-US" sz="1200" kern="1200" dirty="0">
                <a:solidFill>
                  <a:prstClr val="black"/>
                </a:solidFill>
                <a:latin typeface="Cambria Math"/>
                <a:cs typeface="Cambria Math"/>
              </a:rPr>
              <a:t>𝑗</a:t>
            </a:r>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125</a:t>
            </a:fld>
            <a:endParaRPr lang="zh-CN" altLang="en-US"/>
          </a:p>
        </p:txBody>
      </p:sp>
    </p:spTree>
    <p:extLst>
      <p:ext uri="{BB962C8B-B14F-4D97-AF65-F5344CB8AC3E}">
        <p14:creationId xmlns:p14="http://schemas.microsoft.com/office/powerpoint/2010/main" val="340612084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4. </a:t>
            </a:r>
            <a:r>
              <a:rPr lang="zh-CN" altLang="en-US" dirty="0"/>
              <a:t>规则</a:t>
            </a:r>
            <a:r>
              <a:rPr lang="en-US" altLang="zh-CN" dirty="0"/>
              <a:t>2</a:t>
            </a:r>
            <a:r>
              <a:rPr lang="zh-CN" altLang="en-US" dirty="0"/>
              <a:t>、</a:t>
            </a:r>
            <a:r>
              <a:rPr lang="en-US" altLang="zh-CN" dirty="0"/>
              <a:t>3</a:t>
            </a:r>
            <a:r>
              <a:rPr lang="zh-CN" altLang="en-US" dirty="0"/>
              <a:t>没有定义的所有条目都设置为“报错”</a:t>
            </a:r>
            <a:endParaRPr lang="en-US" altLang="zh-CN" dirty="0"/>
          </a:p>
          <a:p>
            <a:r>
              <a:rPr lang="en-US" altLang="zh-CN" dirty="0"/>
              <a:t>   5. </a:t>
            </a:r>
            <a:r>
              <a:rPr lang="zh-CN" altLang="en-US" dirty="0"/>
              <a:t>语法分析器的初始状态就是根据</a:t>
            </a:r>
            <a:r>
              <a:rPr lang="en-US" altLang="zh-CN" kern="1200" spc="-5" dirty="0">
                <a:solidFill>
                  <a:prstClr val="black"/>
                </a:solidFill>
                <a:latin typeface="Cambria Math"/>
                <a:cs typeface="Cambria Math"/>
              </a:rPr>
              <a:t>[</a:t>
            </a:r>
            <a:r>
              <a:rPr lang="zh-CN" altLang="en-US" kern="1200" spc="-5" dirty="0">
                <a:solidFill>
                  <a:prstClr val="black"/>
                </a:solidFill>
                <a:latin typeface="Cambria Math"/>
                <a:cs typeface="Cambria Math"/>
              </a:rPr>
              <a:t>𝑆</a:t>
            </a:r>
            <a:r>
              <a:rPr lang="en-US" altLang="zh-CN" kern="1200" spc="-5" dirty="0">
                <a:solidFill>
                  <a:prstClr val="black"/>
                </a:solidFill>
                <a:latin typeface="Cambria Math"/>
                <a:cs typeface="Cambria Math"/>
              </a:rPr>
              <a:t>′</a:t>
            </a:r>
            <a:r>
              <a:rPr lang="zh-CN" altLang="en-US" kern="1200" spc="100" dirty="0">
                <a:solidFill>
                  <a:prstClr val="black"/>
                </a:solidFill>
                <a:latin typeface="Cambria Math"/>
                <a:cs typeface="Cambria Math"/>
              </a:rPr>
              <a:t> </a:t>
            </a:r>
            <a:r>
              <a:rPr lang="zh-CN" altLang="en-US" kern="1200" spc="-95" dirty="0">
                <a:solidFill>
                  <a:prstClr val="black"/>
                </a:solidFill>
                <a:latin typeface="Cambria Math"/>
                <a:cs typeface="Cambria Math"/>
              </a:rPr>
              <a:t>→ </a:t>
            </a:r>
            <a:r>
              <a:rPr lang="en-US" altLang="zh-CN" kern="1200" spc="-95" dirty="0">
                <a:solidFill>
                  <a:prstClr val="black"/>
                </a:solidFill>
                <a:latin typeface="Cambria Math"/>
                <a:cs typeface="Cambria Math"/>
              </a:rPr>
              <a:t>·</a:t>
            </a:r>
            <a:r>
              <a:rPr lang="zh-CN" altLang="en-US" kern="1200" spc="5" dirty="0">
                <a:solidFill>
                  <a:prstClr val="black"/>
                </a:solidFill>
                <a:latin typeface="Cambria Math"/>
                <a:cs typeface="Cambria Math"/>
              </a:rPr>
              <a:t> </a:t>
            </a:r>
            <a:r>
              <a:rPr lang="zh-CN" altLang="en-US" kern="1200" spc="15" dirty="0">
                <a:solidFill>
                  <a:prstClr val="black"/>
                </a:solidFill>
                <a:latin typeface="Cambria Math"/>
                <a:cs typeface="Cambria Math"/>
              </a:rPr>
              <a:t>𝑆</a:t>
            </a:r>
            <a:r>
              <a:rPr lang="en-US" altLang="zh-CN" kern="1200" spc="15" dirty="0">
                <a:solidFill>
                  <a:prstClr val="black"/>
                </a:solidFill>
                <a:latin typeface="Cambria Math"/>
                <a:cs typeface="Cambria Math"/>
              </a:rPr>
              <a:t>]</a:t>
            </a:r>
            <a:r>
              <a:rPr lang="zh-CN" altLang="en-US" dirty="0"/>
              <a:t>所在项集构造得到的状态</a:t>
            </a:r>
            <a:endParaRPr lang="en-US" altLang="zh-CN" dirty="0"/>
          </a:p>
          <a:p>
            <a:endParaRPr lang="en-US" altLang="zh-CN" dirty="0"/>
          </a:p>
          <a:p>
            <a:r>
              <a:rPr lang="zh-CN" altLang="en-US" dirty="0"/>
              <a:t>如果在语法分析构造过程中没有冲突（即，一个表项的多个条目），则语法为</a:t>
            </a:r>
            <a:r>
              <a:rPr lang="en-US" altLang="zh-CN" dirty="0"/>
              <a:t>SLR</a:t>
            </a:r>
            <a:r>
              <a:rPr lang="zh-CN" altLang="en-US" dirty="0"/>
              <a:t>（</a:t>
            </a:r>
            <a:r>
              <a:rPr lang="en-US" altLang="zh-CN" dirty="0"/>
              <a:t>1</a:t>
            </a:r>
            <a:r>
              <a:rPr lang="zh-CN" altLang="en-US" dirty="0"/>
              <a:t>）</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126</a:t>
            </a:fld>
            <a:endParaRPr lang="zh-CN" altLang="en-US"/>
          </a:p>
        </p:txBody>
      </p:sp>
    </p:spTree>
    <p:extLst>
      <p:ext uri="{BB962C8B-B14F-4D97-AF65-F5344CB8AC3E}">
        <p14:creationId xmlns:p14="http://schemas.microsoft.com/office/powerpoint/2010/main" val="298410588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CLR</a:t>
            </a:r>
            <a:r>
              <a:rPr lang="zh-CN" altLang="en-US" dirty="0"/>
              <a:t>和</a:t>
            </a:r>
            <a:r>
              <a:rPr lang="en-US" altLang="zh-CN" dirty="0"/>
              <a:t>LALR</a:t>
            </a:r>
            <a:r>
              <a:rPr lang="zh-CN" altLang="en-US" dirty="0"/>
              <a:t>将在更大的文法集合上取得成功，包括上面的文法集合。然而，存在着明确的文法，对于这些文法，每个</a:t>
            </a:r>
            <a:r>
              <a:rPr lang="en-US" altLang="zh-CN" dirty="0"/>
              <a:t>LR</a:t>
            </a:r>
            <a:r>
              <a:rPr lang="zh-CN" altLang="en-US" dirty="0"/>
              <a:t>语法分析器构造方法都会遇到冲突。</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130</a:t>
            </a:fld>
            <a:endParaRPr lang="zh-CN" altLang="en-US"/>
          </a:p>
        </p:txBody>
      </p:sp>
    </p:spTree>
    <p:extLst>
      <p:ext uri="{BB962C8B-B14F-4D97-AF65-F5344CB8AC3E}">
        <p14:creationId xmlns:p14="http://schemas.microsoft.com/office/powerpoint/2010/main" val="349469327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SLR</a:t>
            </a:r>
            <a:r>
              <a:rPr lang="zh-CN" altLang="en-US" dirty="0"/>
              <a:t>中，状态𝑖 要求归约𝐴 → 𝛼，如果项集𝐼𝑖包含项</a:t>
            </a:r>
            <a:r>
              <a:rPr lang="en-US" altLang="zh-CN" dirty="0"/>
              <a:t>[</a:t>
            </a:r>
            <a:r>
              <a:rPr lang="zh-CN" altLang="en-US" dirty="0"/>
              <a:t>𝐴 → 𝛼 </a:t>
            </a:r>
            <a:r>
              <a:rPr lang="en-US" altLang="zh-CN" dirty="0"/>
              <a:t>· ] </a:t>
            </a:r>
            <a:r>
              <a:rPr lang="zh-CN" altLang="en-US" dirty="0"/>
              <a:t>，同时输入符号𝑎 在</a:t>
            </a:r>
            <a:r>
              <a:rPr lang="en-US" altLang="zh-CN" dirty="0"/>
              <a:t>FOLLOW(</a:t>
            </a:r>
            <a:r>
              <a:rPr lang="zh-CN" altLang="en-US" dirty="0"/>
              <a:t>𝐴</a:t>
            </a:r>
            <a:r>
              <a:rPr lang="en-US" altLang="zh-CN" dirty="0"/>
              <a:t>)</a:t>
            </a:r>
            <a:r>
              <a:rPr lang="zh-CN" altLang="en-US" dirty="0"/>
              <a:t>中</a:t>
            </a:r>
            <a:endParaRPr lang="en-US" altLang="zh-CN" dirty="0"/>
          </a:p>
          <a:p>
            <a:r>
              <a:rPr lang="zh-CN" altLang="en-US" dirty="0"/>
              <a:t>在某些情况下，归约后𝛽𝛼 在栈顶上会变成𝛽𝐴， 后面跟着的不是𝑎的任何最右句型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131</a:t>
            </a:fld>
            <a:endParaRPr lang="zh-CN" altLang="en-US"/>
          </a:p>
        </p:txBody>
      </p:sp>
    </p:spTree>
    <p:extLst>
      <p:ext uri="{BB962C8B-B14F-4D97-AF65-F5344CB8AC3E}">
        <p14:creationId xmlns:p14="http://schemas.microsoft.com/office/powerpoint/2010/main" val="127113556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如何知道归约是否是一个好的决定？利用下一个输入符号精确地确定是否要求归约。</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132</a:t>
            </a:fld>
            <a:endParaRPr lang="zh-CN" altLang="en-US"/>
          </a:p>
        </p:txBody>
      </p:sp>
    </p:spTree>
    <p:extLst>
      <p:ext uri="{BB962C8B-B14F-4D97-AF65-F5344CB8AC3E}">
        <p14:creationId xmlns:p14="http://schemas.microsoft.com/office/powerpoint/2010/main" val="293310377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dirty="0">
                <a:latin typeface="黑体" panose="02010609060101010101" pitchFamily="49" charset="-122"/>
                <a:ea typeface="黑体" panose="02010609060101010101" pitchFamily="49" charset="-122"/>
              </a:rPr>
              <a:t>简单</a:t>
            </a:r>
            <a:r>
              <a:rPr lang="en-US" altLang="zh-CN" sz="1800" b="0" dirty="0">
                <a:latin typeface="黑体" panose="02010609060101010101" pitchFamily="49" charset="-122"/>
                <a:ea typeface="黑体" panose="02010609060101010101" pitchFamily="49" charset="-122"/>
              </a:rPr>
              <a:t>LR</a:t>
            </a:r>
          </a:p>
          <a:p>
            <a:r>
              <a:rPr lang="zh-CN" altLang="en-US" sz="1800" b="1" dirty="0">
                <a:latin typeface="黑体" panose="02010609060101010101" pitchFamily="49" charset="-122"/>
                <a:ea typeface="黑体" panose="02010609060101010101" pitchFamily="49" charset="-122"/>
              </a:rPr>
              <a:t>规范</a:t>
            </a:r>
            <a:r>
              <a:rPr lang="en-US" altLang="zh-CN" sz="1800" b="1" dirty="0">
                <a:latin typeface="黑体" panose="02010609060101010101" pitchFamily="49" charset="-122"/>
                <a:ea typeface="黑体" panose="02010609060101010101" pitchFamily="49" charset="-122"/>
              </a:rPr>
              <a:t>LR</a:t>
            </a:r>
          </a:p>
          <a:p>
            <a:r>
              <a:rPr lang="zh-CN" altLang="en-US" sz="1800" dirty="0">
                <a:latin typeface="黑体" panose="02010609060101010101" pitchFamily="49" charset="-122"/>
                <a:ea typeface="黑体" panose="02010609060101010101" pitchFamily="49" charset="-122"/>
              </a:rPr>
              <a:t>错误恢复</a:t>
            </a:r>
            <a:endParaRPr lang="en-US" altLang="zh-CN" sz="1800" dirty="0">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133</a:t>
            </a:fld>
            <a:endParaRPr lang="zh-CN" altLang="en-US"/>
          </a:p>
        </p:txBody>
      </p:sp>
    </p:spTree>
    <p:extLst>
      <p:ext uri="{BB962C8B-B14F-4D97-AF65-F5344CB8AC3E}">
        <p14:creationId xmlns:p14="http://schemas.microsoft.com/office/powerpoint/2010/main" val="297506112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规范</a:t>
            </a:r>
            <a:r>
              <a:rPr lang="en-US" altLang="zh-CN" dirty="0"/>
              <a:t>LR(1)</a:t>
            </a:r>
            <a:r>
              <a:rPr lang="zh-CN" altLang="en-US" dirty="0"/>
              <a:t>项</a:t>
            </a:r>
            <a:endParaRPr lang="en-US" altLang="zh-CN" dirty="0"/>
          </a:p>
          <a:p>
            <a:r>
              <a:rPr lang="zh-CN" altLang="en-US" dirty="0"/>
              <a:t>在状态中携带更多信息以排除一些无效的归约（通过分裂</a:t>
            </a:r>
            <a:r>
              <a:rPr lang="en-US" altLang="zh-CN" dirty="0"/>
              <a:t>LR</a:t>
            </a:r>
            <a:r>
              <a:rPr lang="zh-CN" altLang="en-US" dirty="0"/>
              <a:t>（</a:t>
            </a:r>
            <a:r>
              <a:rPr lang="en-US" altLang="zh-CN" dirty="0"/>
              <a:t>0</a:t>
            </a:r>
            <a:r>
              <a:rPr lang="zh-CN" altLang="en-US" dirty="0"/>
              <a:t>）状态）</a:t>
            </a:r>
            <a:endParaRPr lang="en-US" altLang="zh-CN" dirty="0"/>
          </a:p>
          <a:p>
            <a:r>
              <a:rPr lang="en-US" altLang="zh-CN" dirty="0"/>
              <a:t>LR(1)</a:t>
            </a:r>
            <a:r>
              <a:rPr lang="zh-CN" altLang="en-US" dirty="0"/>
              <a:t>项的一般形式：</a:t>
            </a:r>
            <a:r>
              <a:rPr lang="en-US" altLang="zh-CN" dirty="0"/>
              <a:t>[</a:t>
            </a:r>
            <a:r>
              <a:rPr lang="zh-CN" altLang="en-US" dirty="0"/>
              <a:t>𝐴 → 𝛼 </a:t>
            </a:r>
            <a:r>
              <a:rPr lang="en-US" altLang="zh-CN" dirty="0"/>
              <a:t>·  </a:t>
            </a:r>
            <a:r>
              <a:rPr lang="zh-CN" altLang="en-US" dirty="0"/>
              <a:t>𝛽</a:t>
            </a:r>
            <a:r>
              <a:rPr lang="en-US" altLang="zh-CN" dirty="0"/>
              <a:t>, </a:t>
            </a:r>
            <a:r>
              <a:rPr lang="zh-CN" altLang="en-US" dirty="0"/>
              <a:t>𝑎</a:t>
            </a:r>
            <a:r>
              <a:rPr lang="en-US" altLang="zh-CN" dirty="0"/>
              <a:t>]</a:t>
            </a:r>
          </a:p>
          <a:p>
            <a:r>
              <a:rPr lang="en-US" altLang="zh-CN" dirty="0"/>
              <a:t>   · </a:t>
            </a:r>
            <a:r>
              <a:rPr lang="zh-CN" altLang="en-US" dirty="0"/>
              <a:t>𝐴 → 𝛼𝛽是一个产生式，𝑎是一个终结符或右端结束标记</a:t>
            </a:r>
            <a:endParaRPr lang="en-US" altLang="zh-CN" dirty="0"/>
          </a:p>
          <a:p>
            <a:r>
              <a:rPr lang="en-US" altLang="zh-CN" dirty="0"/>
              <a:t>   · 1</a:t>
            </a:r>
            <a:r>
              <a:rPr lang="zh-CN" altLang="en-US" dirty="0"/>
              <a:t>指的是第二个分量𝑎的长度，第二个分量𝑎叫做向前看字符</a:t>
            </a:r>
            <a:endParaRPr lang="en-US" altLang="zh-CN" dirty="0"/>
          </a:p>
          <a:p>
            <a:r>
              <a:rPr lang="en-US" altLang="zh-CN" dirty="0"/>
              <a:t>   · </a:t>
            </a:r>
            <a:r>
              <a:rPr lang="zh-CN" altLang="en-US" dirty="0"/>
              <a:t>当𝛽不为空时，向前看字符没有任何作用因为它决定是否归约</a:t>
            </a:r>
            <a:endParaRPr lang="en-US" altLang="zh-CN" dirty="0"/>
          </a:p>
          <a:p>
            <a:r>
              <a:rPr lang="en-US" altLang="zh-CN" dirty="0"/>
              <a:t>   · </a:t>
            </a:r>
            <a:r>
              <a:rPr lang="zh-CN" altLang="en-US" dirty="0"/>
              <a:t>一个形如</a:t>
            </a:r>
            <a:r>
              <a:rPr lang="en-US" altLang="zh-CN" sz="1200" kern="1200" spc="-5" dirty="0">
                <a:solidFill>
                  <a:prstClr val="black"/>
                </a:solidFill>
                <a:latin typeface="Palatino Linotype"/>
              </a:rPr>
              <a:t>[</a:t>
            </a:r>
            <a:r>
              <a:rPr lang="zh-CN" altLang="en-US" sz="1200" kern="1200" dirty="0">
                <a:solidFill>
                  <a:srgbClr val="0432FF"/>
                </a:solidFill>
                <a:latin typeface="Cambria Math"/>
                <a:cs typeface="Cambria Math"/>
              </a:rPr>
              <a:t>𝐴</a:t>
            </a:r>
            <a:r>
              <a:rPr lang="zh-CN" altLang="en-US" sz="1200" kern="1200" spc="110" dirty="0">
                <a:solidFill>
                  <a:srgbClr val="0432FF"/>
                </a:solidFill>
                <a:latin typeface="Cambria Math"/>
                <a:cs typeface="Cambria Math"/>
              </a:rPr>
              <a:t> </a:t>
            </a:r>
            <a:r>
              <a:rPr lang="zh-CN" altLang="en-US" sz="1200" kern="1200" dirty="0">
                <a:solidFill>
                  <a:srgbClr val="0432FF"/>
                </a:solidFill>
                <a:latin typeface="Cambria Math"/>
                <a:cs typeface="Cambria Math"/>
              </a:rPr>
              <a:t>→</a:t>
            </a:r>
            <a:r>
              <a:rPr lang="zh-CN" altLang="en-US" sz="1200" kern="1200" spc="95" dirty="0">
                <a:solidFill>
                  <a:srgbClr val="0432FF"/>
                </a:solidFill>
                <a:latin typeface="Cambria Math"/>
                <a:cs typeface="Cambria Math"/>
              </a:rPr>
              <a:t> </a:t>
            </a:r>
            <a:r>
              <a:rPr lang="zh-CN" altLang="en-US" sz="1200" kern="1200" dirty="0">
                <a:solidFill>
                  <a:srgbClr val="0432FF"/>
                </a:solidFill>
                <a:latin typeface="Cambria Math"/>
                <a:cs typeface="Cambria Math"/>
              </a:rPr>
              <a:t>𝛼</a:t>
            </a:r>
            <a:r>
              <a:rPr lang="en-US" altLang="zh-CN" sz="1200" kern="1200" spc="60" dirty="0">
                <a:solidFill>
                  <a:srgbClr val="0432FF"/>
                </a:solidFill>
                <a:latin typeface="Cambria Math"/>
                <a:cs typeface="Cambria Math"/>
              </a:rPr>
              <a:t>· </a:t>
            </a:r>
            <a:r>
              <a:rPr lang="en-US" altLang="zh-CN" sz="1200" kern="1200" spc="-325" dirty="0">
                <a:solidFill>
                  <a:srgbClr val="0432FF"/>
                </a:solidFill>
                <a:latin typeface="Cambria Math"/>
                <a:cs typeface="Cambria Math"/>
              </a:rPr>
              <a:t>,</a:t>
            </a:r>
            <a:r>
              <a:rPr lang="zh-CN" altLang="en-US" sz="1200" kern="1200" spc="-90" dirty="0">
                <a:solidFill>
                  <a:srgbClr val="0432FF"/>
                </a:solidFill>
                <a:latin typeface="Cambria Math"/>
                <a:cs typeface="Cambria Math"/>
              </a:rPr>
              <a:t> </a:t>
            </a:r>
            <a:r>
              <a:rPr lang="zh-CN" altLang="en-US" sz="1200" kern="1200" dirty="0">
                <a:solidFill>
                  <a:srgbClr val="0432FF"/>
                </a:solidFill>
                <a:latin typeface="Cambria Math"/>
                <a:cs typeface="Cambria Math"/>
              </a:rPr>
              <a:t>𝑎</a:t>
            </a:r>
            <a:r>
              <a:rPr lang="en-US" altLang="zh-CN" sz="1200" kern="1200" dirty="0">
                <a:solidFill>
                  <a:srgbClr val="0432FF"/>
                </a:solidFill>
                <a:latin typeface="Cambria Math"/>
                <a:cs typeface="Cambria Math"/>
              </a:rPr>
              <a:t>]</a:t>
            </a:r>
            <a:r>
              <a:rPr lang="zh-CN" altLang="en-US" dirty="0"/>
              <a:t>的项只有在下一个输入符号等于</a:t>
            </a:r>
            <a:r>
              <a:rPr lang="zh-CN" altLang="en-US" sz="1200" kern="1200" dirty="0">
                <a:solidFill>
                  <a:srgbClr val="FF0000"/>
                </a:solidFill>
                <a:latin typeface="Cambria Math"/>
                <a:cs typeface="Cambria Math"/>
              </a:rPr>
              <a:t>𝑎</a:t>
            </a:r>
            <a:r>
              <a:rPr lang="zh-CN" altLang="en-US" dirty="0"/>
              <a:t>时，才会按照</a:t>
            </a:r>
            <a:r>
              <a:rPr lang="zh-CN" altLang="en-US" sz="1200" kern="1200" dirty="0">
                <a:solidFill>
                  <a:srgbClr val="0432FF"/>
                </a:solidFill>
                <a:latin typeface="Cambria Math"/>
                <a:cs typeface="Cambria Math"/>
              </a:rPr>
              <a:t>𝐴</a:t>
            </a:r>
            <a:r>
              <a:rPr lang="zh-CN" altLang="en-US" sz="1200" kern="1200" spc="105" dirty="0">
                <a:solidFill>
                  <a:srgbClr val="0432FF"/>
                </a:solidFill>
                <a:latin typeface="Cambria Math"/>
                <a:cs typeface="Cambria Math"/>
              </a:rPr>
              <a:t> </a:t>
            </a:r>
            <a:r>
              <a:rPr lang="zh-CN" altLang="en-US" sz="1200" kern="1200" dirty="0">
                <a:solidFill>
                  <a:srgbClr val="0432FF"/>
                </a:solidFill>
                <a:latin typeface="Cambria Math"/>
                <a:cs typeface="Cambria Math"/>
              </a:rPr>
              <a:t>→</a:t>
            </a:r>
            <a:r>
              <a:rPr lang="zh-CN" altLang="en-US" sz="1200" kern="1200" spc="90" dirty="0">
                <a:solidFill>
                  <a:srgbClr val="0432FF"/>
                </a:solidFill>
                <a:latin typeface="Cambria Math"/>
                <a:cs typeface="Cambria Math"/>
              </a:rPr>
              <a:t> </a:t>
            </a:r>
            <a:r>
              <a:rPr lang="zh-CN" altLang="en-US" sz="1200" kern="1200" dirty="0">
                <a:solidFill>
                  <a:srgbClr val="0432FF"/>
                </a:solidFill>
                <a:latin typeface="Cambria Math"/>
                <a:cs typeface="Cambria Math"/>
              </a:rPr>
              <a:t>𝛼</a:t>
            </a:r>
            <a:r>
              <a:rPr lang="zh-CN" altLang="en-US" dirty="0"/>
              <a:t>进行归约。这样的</a:t>
            </a:r>
            <a:r>
              <a:rPr lang="zh-CN" altLang="en-US" sz="1200" kern="1200" dirty="0">
                <a:solidFill>
                  <a:srgbClr val="FF0000"/>
                </a:solidFill>
                <a:latin typeface="Cambria Math"/>
                <a:cs typeface="Cambria Math"/>
              </a:rPr>
              <a:t>𝑎的</a:t>
            </a:r>
            <a:r>
              <a:rPr lang="zh-CN" altLang="en-US" dirty="0"/>
              <a:t>集合总是的</a:t>
            </a:r>
            <a:r>
              <a:rPr lang="en-US" altLang="zh-CN" sz="1200" kern="1200" spc="-10" dirty="0">
                <a:solidFill>
                  <a:srgbClr val="FF0000"/>
                </a:solidFill>
                <a:latin typeface="Cambria Math"/>
                <a:cs typeface="Cambria Math"/>
              </a:rPr>
              <a:t>FOLLOW(</a:t>
            </a:r>
            <a:r>
              <a:rPr lang="zh-CN" altLang="en-US" sz="1200" kern="1200" spc="-10" dirty="0">
                <a:solidFill>
                  <a:srgbClr val="FF0000"/>
                </a:solidFill>
                <a:latin typeface="Cambria Math"/>
                <a:cs typeface="Cambria Math"/>
              </a:rPr>
              <a:t>𝐴</a:t>
            </a:r>
            <a:r>
              <a:rPr lang="en-US" altLang="zh-CN" sz="1200" kern="1200" spc="-10" dirty="0">
                <a:solidFill>
                  <a:srgbClr val="FF0000"/>
                </a:solidFill>
                <a:latin typeface="Cambria Math"/>
                <a:cs typeface="Cambria Math"/>
              </a:rPr>
              <a:t>)</a:t>
            </a:r>
            <a:r>
              <a:rPr lang="zh-CN" altLang="en-US" dirty="0"/>
              <a:t>子集</a:t>
            </a:r>
            <a:endParaRPr lang="en-US" altLang="zh-CN" dirty="0"/>
          </a:p>
          <a:p>
            <a:endParaRPr lang="en-US" altLang="zh-CN" dirty="0"/>
          </a:p>
          <a:p>
            <a:r>
              <a:rPr lang="zh-CN" altLang="en-US" dirty="0"/>
              <a:t>𝐴 → 𝛼𝛽 是一个生产和𝑎 是终端还是</a:t>
            </a:r>
            <a:r>
              <a:rPr lang="en-US" altLang="zh-CN" dirty="0"/>
              <a:t>$“1”</a:t>
            </a:r>
            <a:r>
              <a:rPr lang="zh-CN" altLang="en-US" dirty="0"/>
              <a:t>是指第二个组成部分的长度：展望</a:t>
            </a:r>
            <a:r>
              <a:rPr lang="en-US" altLang="zh-CN" dirty="0"/>
              <a:t>(</a:t>
            </a:r>
            <a:r>
              <a:rPr lang="zh-CN" altLang="en-US" dirty="0"/>
              <a:t>向前看字符</a:t>
            </a:r>
            <a:r>
              <a:rPr lang="en-US" altLang="zh-CN" dirty="0"/>
              <a:t>)*</a:t>
            </a:r>
            <a:r>
              <a:rPr lang="zh-CN" altLang="en-US" dirty="0"/>
              <a:t>如果𝛽 不是𝜖 因为它只帮助确定是否减少</a:t>
            </a:r>
            <a:r>
              <a:rPr lang="en-US" altLang="zh-CN" dirty="0"/>
              <a:t>(</a:t>
            </a:r>
            <a:r>
              <a:rPr lang="zh-CN" altLang="en-US" dirty="0"/>
              <a:t>𝑎 将在状态转换期间继承）表单中的一项𝐴 → 𝛼</a:t>
            </a:r>
            <a:r>
              <a:rPr lang="en-US" altLang="zh-CN" dirty="0"/>
              <a:t>· , </a:t>
            </a:r>
            <a:r>
              <a:rPr lang="zh-CN" altLang="en-US" dirty="0"/>
              <a:t>𝑎要求减少𝐴 → 𝛼 仅当下一个输入符号𝑎 （𝑎’</a:t>
            </a:r>
            <a:r>
              <a:rPr lang="en-US" altLang="zh-CN" dirty="0"/>
              <a:t>s</a:t>
            </a:r>
            <a:r>
              <a:rPr lang="zh-CN" altLang="en-US" dirty="0"/>
              <a:t>是</a:t>
            </a:r>
            <a:r>
              <a:rPr lang="en-US" altLang="zh-CN" dirty="0"/>
              <a:t>FOLLOW</a:t>
            </a:r>
            <a:r>
              <a:rPr lang="zh-CN" altLang="en-US" dirty="0"/>
              <a:t>的子集</a:t>
            </a:r>
            <a:r>
              <a:rPr lang="en-US" altLang="zh-CN" dirty="0"/>
              <a:t>(</a:t>
            </a:r>
            <a:r>
              <a:rPr lang="zh-CN" altLang="en-US" dirty="0"/>
              <a:t>𝐴</a:t>
            </a:r>
            <a:r>
              <a:rPr lang="en-US" altLang="zh-CN" dirty="0"/>
              <a:t>))*</a:t>
            </a:r>
            <a:r>
              <a:rPr lang="zh-CN" altLang="en-US" dirty="0"/>
              <a:t>：</a:t>
            </a:r>
            <a:r>
              <a:rPr lang="en-US" altLang="zh-CN" dirty="0"/>
              <a:t>LR</a:t>
            </a:r>
            <a:r>
              <a:rPr lang="zh-CN" altLang="en-US" dirty="0"/>
              <a:t>（</a:t>
            </a:r>
            <a:r>
              <a:rPr lang="en-US" altLang="zh-CN" dirty="0"/>
              <a:t>0</a:t>
            </a:r>
            <a:r>
              <a:rPr lang="zh-CN" altLang="en-US" dirty="0"/>
              <a:t>）项没有先行符号，因此它们被称为</a:t>
            </a:r>
            <a:r>
              <a:rPr lang="en-US" altLang="zh-CN" dirty="0"/>
              <a:t>LR</a:t>
            </a:r>
            <a:r>
              <a:rPr lang="zh-CN" altLang="en-US" dirty="0"/>
              <a:t>（</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134</a:t>
            </a:fld>
            <a:endParaRPr lang="zh-CN" altLang="en-US"/>
          </a:p>
        </p:txBody>
      </p:sp>
    </p:spTree>
    <p:extLst>
      <p:ext uri="{BB962C8B-B14F-4D97-AF65-F5344CB8AC3E}">
        <p14:creationId xmlns:p14="http://schemas.microsoft.com/office/powerpoint/2010/main" val="278487420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构造</a:t>
            </a:r>
            <a:r>
              <a:rPr lang="en-US" altLang="zh-CN" dirty="0"/>
              <a:t>LR</a:t>
            </a:r>
            <a:r>
              <a:rPr lang="zh-CN" altLang="en-US" dirty="0"/>
              <a:t>（</a:t>
            </a:r>
            <a:r>
              <a:rPr lang="en-US" altLang="zh-CN" dirty="0"/>
              <a:t>1</a:t>
            </a:r>
            <a:r>
              <a:rPr lang="zh-CN" altLang="en-US" dirty="0"/>
              <a:t>）项集族本质上与构造规范</a:t>
            </a:r>
            <a:r>
              <a:rPr lang="en-US" altLang="zh-CN" dirty="0"/>
              <a:t>LR</a:t>
            </a:r>
            <a:r>
              <a:rPr lang="zh-CN" altLang="en-US" dirty="0"/>
              <a:t>（</a:t>
            </a:r>
            <a:r>
              <a:rPr lang="en-US" altLang="zh-CN" dirty="0"/>
              <a:t>0</a:t>
            </a:r>
            <a:r>
              <a:rPr lang="zh-CN" altLang="en-US" dirty="0"/>
              <a:t>）项集族相同。唯一的区别在于</a:t>
            </a:r>
            <a:r>
              <a:rPr lang="en-US" altLang="zh-CN" b="1" dirty="0"/>
              <a:t>CLOSURE</a:t>
            </a:r>
            <a:r>
              <a:rPr lang="zh-CN" altLang="en-US" dirty="0"/>
              <a:t>和</a:t>
            </a:r>
            <a:r>
              <a:rPr lang="en-US" altLang="zh-CN" dirty="0"/>
              <a:t>GOTO</a:t>
            </a:r>
            <a:r>
              <a:rPr lang="zh-CN" altLang="en-US" dirty="0"/>
              <a:t>函数。</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135</a:t>
            </a:fld>
            <a:endParaRPr lang="zh-CN" altLang="en-US"/>
          </a:p>
        </p:txBody>
      </p:sp>
    </p:spTree>
    <p:extLst>
      <p:ext uri="{BB962C8B-B14F-4D97-AF65-F5344CB8AC3E}">
        <p14:creationId xmlns:p14="http://schemas.microsoft.com/office/powerpoint/2010/main" val="411550218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136</a:t>
            </a:fld>
            <a:endParaRPr lang="zh-CN" altLang="en-US"/>
          </a:p>
        </p:txBody>
      </p:sp>
    </p:spTree>
    <p:extLst>
      <p:ext uri="{BB962C8B-B14F-4D97-AF65-F5344CB8AC3E}">
        <p14:creationId xmlns:p14="http://schemas.microsoft.com/office/powerpoint/2010/main" val="42371807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构造</a:t>
            </a:r>
            <a:r>
              <a:rPr lang="en-US" altLang="zh-CN" dirty="0"/>
              <a:t>LR</a:t>
            </a:r>
            <a:r>
              <a:rPr lang="zh-CN" altLang="en-US" dirty="0"/>
              <a:t>（</a:t>
            </a:r>
            <a:r>
              <a:rPr lang="en-US" altLang="zh-CN" dirty="0"/>
              <a:t>1</a:t>
            </a:r>
            <a:r>
              <a:rPr lang="zh-CN" altLang="en-US" dirty="0"/>
              <a:t>）项集族本质上与构造规范</a:t>
            </a:r>
            <a:r>
              <a:rPr lang="en-US" altLang="zh-CN" dirty="0"/>
              <a:t>LR</a:t>
            </a:r>
            <a:r>
              <a:rPr lang="zh-CN" altLang="en-US" dirty="0"/>
              <a:t>（</a:t>
            </a:r>
            <a:r>
              <a:rPr lang="en-US" altLang="zh-CN" dirty="0"/>
              <a:t>0</a:t>
            </a:r>
            <a:r>
              <a:rPr lang="zh-CN" altLang="en-US" dirty="0"/>
              <a:t>）项集族相同。唯一的区别在于</a:t>
            </a:r>
            <a:r>
              <a:rPr lang="en-US" altLang="zh-CN" b="0" dirty="0"/>
              <a:t>CLOSURE</a:t>
            </a:r>
            <a:r>
              <a:rPr lang="zh-CN" altLang="en-US" dirty="0"/>
              <a:t>和</a:t>
            </a:r>
            <a:r>
              <a:rPr lang="en-US" altLang="zh-CN" b="1" dirty="0"/>
              <a:t>GOTO</a:t>
            </a:r>
            <a:r>
              <a:rPr lang="zh-CN" altLang="en-US" dirty="0"/>
              <a:t>函数。</a:t>
            </a:r>
          </a:p>
          <a:p>
            <a:r>
              <a:rPr lang="zh-CN" altLang="en-US" dirty="0"/>
              <a:t>向前看符号从现有项传递到新项</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137</a:t>
            </a:fld>
            <a:endParaRPr lang="zh-CN" altLang="en-US"/>
          </a:p>
        </p:txBody>
      </p:sp>
    </p:spTree>
    <p:extLst>
      <p:ext uri="{BB962C8B-B14F-4D97-AF65-F5344CB8AC3E}">
        <p14:creationId xmlns:p14="http://schemas.microsoft.com/office/powerpoint/2010/main" val="100911073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构造规范</a:t>
            </a:r>
            <a:r>
              <a:rPr lang="en-US" altLang="zh-CN" dirty="0"/>
              <a:t>LR(1)</a:t>
            </a:r>
            <a:r>
              <a:rPr lang="zh-CN" altLang="en-US" dirty="0"/>
              <a:t>语法分析表</a:t>
            </a:r>
            <a:endParaRPr lang="en-US" altLang="zh-CN" dirty="0"/>
          </a:p>
          <a:p>
            <a:r>
              <a:rPr lang="en-US" altLang="zh-CN" dirty="0"/>
              <a:t>1. </a:t>
            </a:r>
            <a:r>
              <a:rPr lang="zh-CN" altLang="en-US" dirty="0"/>
              <a:t>构造增广文法</a:t>
            </a:r>
            <a:r>
              <a:rPr lang="en-US" altLang="zh-CN" dirty="0"/>
              <a:t>G</a:t>
            </a:r>
            <a:r>
              <a:rPr lang="zh-CN" altLang="en-US" dirty="0"/>
              <a:t>‘的规范</a:t>
            </a:r>
            <a:r>
              <a:rPr lang="en-US" altLang="zh-CN" dirty="0"/>
              <a:t>LR(1)</a:t>
            </a:r>
            <a:r>
              <a:rPr lang="zh-CN" altLang="en-US" dirty="0"/>
              <a:t>项集族</a:t>
            </a:r>
            <a:r>
              <a:rPr lang="en-US" altLang="zh-CN" sz="1200" kern="1200" spc="-45" dirty="0">
                <a:solidFill>
                  <a:prstClr val="black"/>
                </a:solidFill>
                <a:latin typeface="Cambria Math"/>
                <a:cs typeface="Cambria Math"/>
              </a:rPr>
              <a:t>{</a:t>
            </a:r>
            <a:r>
              <a:rPr lang="zh-CN" altLang="en-US" sz="1200" kern="1200" spc="-45" dirty="0">
                <a:solidFill>
                  <a:prstClr val="black"/>
                </a:solidFill>
                <a:latin typeface="Cambria Math"/>
                <a:cs typeface="Cambria Math"/>
              </a:rPr>
              <a:t>𝐼</a:t>
            </a:r>
            <a:r>
              <a:rPr lang="en-US" altLang="zh-CN" sz="1200" kern="1200" spc="-67" baseline="-16203" dirty="0">
                <a:solidFill>
                  <a:prstClr val="black"/>
                </a:solidFill>
                <a:latin typeface="Cambria Math"/>
                <a:cs typeface="Cambria Math"/>
              </a:rPr>
              <a:t>0</a:t>
            </a:r>
            <a:r>
              <a:rPr lang="en-US" altLang="zh-CN" sz="1200" kern="1200" spc="-45" dirty="0">
                <a:solidFill>
                  <a:prstClr val="black"/>
                </a:solidFill>
                <a:latin typeface="Cambria Math"/>
                <a:cs typeface="Cambria Math"/>
              </a:rPr>
              <a:t>,</a:t>
            </a:r>
            <a:r>
              <a:rPr lang="zh-CN" altLang="en-US" sz="1200" kern="1200" spc="-90" dirty="0">
                <a:solidFill>
                  <a:prstClr val="black"/>
                </a:solidFill>
                <a:latin typeface="Cambria Math"/>
                <a:cs typeface="Cambria Math"/>
              </a:rPr>
              <a:t> </a:t>
            </a:r>
            <a:r>
              <a:rPr lang="zh-CN" altLang="en-US" sz="1200" kern="1200" spc="-20" dirty="0">
                <a:solidFill>
                  <a:prstClr val="black"/>
                </a:solidFill>
                <a:latin typeface="Cambria Math"/>
                <a:cs typeface="Cambria Math"/>
              </a:rPr>
              <a:t>𝐼</a:t>
            </a:r>
            <a:r>
              <a:rPr lang="en-US" altLang="zh-CN" kern="1200" spc="-30" baseline="-16203" dirty="0">
                <a:solidFill>
                  <a:prstClr val="black"/>
                </a:solidFill>
                <a:latin typeface="Cambria Math"/>
                <a:cs typeface="Cambria Math"/>
              </a:rPr>
              <a:t>1</a:t>
            </a:r>
            <a:r>
              <a:rPr lang="en-US" altLang="zh-CN" sz="1200" kern="1200" spc="-20" dirty="0">
                <a:solidFill>
                  <a:prstClr val="black"/>
                </a:solidFill>
                <a:latin typeface="Cambria Math"/>
                <a:cs typeface="Cambria Math"/>
              </a:rPr>
              <a:t>,</a:t>
            </a:r>
            <a:r>
              <a:rPr lang="zh-CN" altLang="en-US" sz="1200" kern="1200" spc="-90"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zh-CN" altLang="en-US" sz="1200" kern="1200" spc="-90"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zh-CN" altLang="en-US" sz="1200" kern="1200" spc="-90" dirty="0">
                <a:solidFill>
                  <a:prstClr val="black"/>
                </a:solidFill>
                <a:latin typeface="Cambria Math"/>
                <a:cs typeface="Cambria Math"/>
              </a:rPr>
              <a:t> </a:t>
            </a:r>
            <a:r>
              <a:rPr lang="zh-CN" altLang="en-US" sz="1200" kern="1200" spc="20" dirty="0">
                <a:solidFill>
                  <a:prstClr val="black"/>
                </a:solidFill>
                <a:latin typeface="Cambria Math"/>
                <a:cs typeface="Cambria Math"/>
              </a:rPr>
              <a:t>𝐼</a:t>
            </a:r>
            <a:r>
              <a:rPr lang="zh-CN" altLang="en-US" kern="1200" spc="30" baseline="-16203" dirty="0">
                <a:solidFill>
                  <a:prstClr val="black"/>
                </a:solidFill>
                <a:latin typeface="Cambria Math"/>
                <a:cs typeface="Cambria Math"/>
              </a:rPr>
              <a:t>𝑛</a:t>
            </a:r>
            <a:r>
              <a:rPr lang="en-US" altLang="zh-CN" sz="1200" kern="1200" spc="20" dirty="0">
                <a:solidFill>
                  <a:prstClr val="black"/>
                </a:solidFill>
                <a:latin typeface="Cambria Math"/>
                <a:cs typeface="Cambria Math"/>
              </a:rPr>
              <a:t>}</a:t>
            </a:r>
            <a:r>
              <a:rPr lang="zh-CN" altLang="en-US" sz="1200" kern="1200" spc="50" dirty="0">
                <a:solidFill>
                  <a:prstClr val="black"/>
                </a:solidFill>
                <a:latin typeface="Cambria Math"/>
                <a:cs typeface="Cambria Math"/>
              </a:rPr>
              <a:t> </a:t>
            </a:r>
            <a:endParaRPr lang="en-US" altLang="zh-CN" dirty="0"/>
          </a:p>
          <a:p>
            <a:r>
              <a:rPr lang="en-US" altLang="zh-CN" dirty="0"/>
              <a:t>   2. </a:t>
            </a:r>
            <a:r>
              <a:rPr lang="zh-CN" altLang="en-US" dirty="0"/>
              <a:t>根据</a:t>
            </a:r>
            <a:r>
              <a:rPr lang="zh-CN" altLang="en-US" sz="1200" kern="1200" spc="30" dirty="0">
                <a:solidFill>
                  <a:prstClr val="black"/>
                </a:solidFill>
                <a:latin typeface="Cambria Math"/>
                <a:cs typeface="Cambria Math"/>
              </a:rPr>
              <a:t>𝐼</a:t>
            </a:r>
            <a:r>
              <a:rPr lang="en-US" altLang="zh-CN" kern="1200" spc="44" baseline="-16203" dirty="0" err="1">
                <a:solidFill>
                  <a:prstClr val="black"/>
                </a:solidFill>
                <a:latin typeface="Cambria Math"/>
                <a:cs typeface="Cambria Math"/>
              </a:rPr>
              <a:t>i</a:t>
            </a:r>
            <a:r>
              <a:rPr lang="zh-CN" altLang="en-US" dirty="0"/>
              <a:t>构造得到状态</a:t>
            </a:r>
            <a:r>
              <a:rPr lang="en-US" altLang="zh-CN" sz="1200" i="1" kern="1200" dirty="0" err="1">
                <a:solidFill>
                  <a:prstClr val="black"/>
                </a:solidFill>
                <a:latin typeface="Palatino Linotype"/>
                <a:cs typeface="Palatino Linotype"/>
              </a:rPr>
              <a:t>i</a:t>
            </a:r>
            <a:r>
              <a:rPr lang="zh-CN" altLang="en-US" dirty="0"/>
              <a:t>，状态</a:t>
            </a:r>
            <a:r>
              <a:rPr lang="en-US" altLang="zh-CN" sz="1200" i="1" kern="1200" dirty="0" err="1">
                <a:solidFill>
                  <a:prstClr val="black"/>
                </a:solidFill>
                <a:latin typeface="Palatino Linotype"/>
                <a:cs typeface="Palatino Linotype"/>
              </a:rPr>
              <a:t>i</a:t>
            </a:r>
            <a:r>
              <a:rPr lang="zh-CN" altLang="en-US" dirty="0"/>
              <a:t>的语法分析动作按照下面的方法决定：</a:t>
            </a:r>
            <a:endParaRPr lang="en-US" altLang="zh-CN" dirty="0"/>
          </a:p>
          <a:p>
            <a:r>
              <a:rPr lang="en-US" altLang="zh-CN" dirty="0"/>
              <a:t>      · </a:t>
            </a:r>
            <a:r>
              <a:rPr lang="zh-CN" altLang="en-US" dirty="0"/>
              <a:t>如果</a:t>
            </a:r>
            <a:r>
              <a:rPr lang="en-US" altLang="zh-CN" sz="1200" kern="1200" spc="-5" dirty="0">
                <a:solidFill>
                  <a:prstClr val="black"/>
                </a:solidFill>
                <a:latin typeface="Cambria Math"/>
                <a:cs typeface="Cambria Math"/>
              </a:rPr>
              <a:t>[</a:t>
            </a:r>
            <a:r>
              <a:rPr lang="zh-CN" altLang="en-US" sz="1200" kern="1200" spc="-5" dirty="0">
                <a:solidFill>
                  <a:prstClr val="black"/>
                </a:solidFill>
                <a:latin typeface="Cambria Math"/>
                <a:cs typeface="Cambria Math"/>
              </a:rPr>
              <a:t>𝐴</a:t>
            </a:r>
            <a:r>
              <a:rPr lang="zh-CN" altLang="en-US" sz="1200" kern="1200" spc="95"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𝛼</a:t>
            </a:r>
            <a:r>
              <a:rPr lang="zh-CN" altLang="en-US" sz="1200" kern="1200" spc="40" dirty="0">
                <a:solidFill>
                  <a:prstClr val="black"/>
                </a:solidFill>
                <a:latin typeface="Cambria Math"/>
                <a:cs typeface="Cambria Math"/>
              </a:rPr>
              <a:t> </a:t>
            </a:r>
            <a:r>
              <a:rPr lang="en-US" altLang="zh-CN" sz="1200" kern="1200" spc="-655" dirty="0">
                <a:solidFill>
                  <a:prstClr val="black"/>
                </a:solidFill>
                <a:latin typeface="Cambria Math"/>
                <a:cs typeface="Cambria Math"/>
              </a:rPr>
              <a:t>·    </a:t>
            </a:r>
            <a:r>
              <a:rPr lang="zh-CN" altLang="en-US" sz="1200" kern="1200" spc="5" dirty="0">
                <a:solidFill>
                  <a:prstClr val="black"/>
                </a:solidFill>
                <a:latin typeface="Cambria Math"/>
                <a:cs typeface="Cambria Math"/>
              </a:rPr>
              <a:t>  </a:t>
            </a:r>
            <a:r>
              <a:rPr lang="zh-CN" altLang="en-US" sz="1200" kern="1200" spc="10" dirty="0">
                <a:solidFill>
                  <a:prstClr val="black"/>
                </a:solidFill>
                <a:latin typeface="Cambria Math"/>
                <a:cs typeface="Cambria Math"/>
              </a:rPr>
              <a:t>𝑎𝛽</a:t>
            </a:r>
            <a:r>
              <a:rPr lang="en-US" altLang="zh-CN" sz="1200" kern="1200" dirty="0">
                <a:solidFill>
                  <a:prstClr val="black"/>
                </a:solidFill>
                <a:latin typeface="Cambria Math"/>
                <a:cs typeface="Cambria Math"/>
              </a:rPr>
              <a:t>,</a:t>
            </a:r>
            <a:r>
              <a:rPr lang="zh-CN" altLang="en-US" sz="1200" kern="1200" spc="-90" dirty="0">
                <a:solidFill>
                  <a:prstClr val="black"/>
                </a:solidFill>
                <a:latin typeface="Cambria Math"/>
                <a:cs typeface="Cambria Math"/>
              </a:rPr>
              <a:t> </a:t>
            </a:r>
            <a:r>
              <a:rPr lang="zh-CN" altLang="en-US" sz="1200" kern="1200" dirty="0">
                <a:solidFill>
                  <a:prstClr val="black"/>
                </a:solidFill>
                <a:latin typeface="Cambria Math"/>
                <a:cs typeface="Cambria Math"/>
              </a:rPr>
              <a:t>𝑏 </a:t>
            </a:r>
            <a:r>
              <a:rPr lang="en-US" altLang="zh-CN" sz="1200" kern="1200" spc="10" dirty="0">
                <a:solidFill>
                  <a:prstClr val="black"/>
                </a:solidFill>
                <a:latin typeface="Cambria Math"/>
                <a:cs typeface="Cambria Math"/>
              </a:rPr>
              <a:t>]</a:t>
            </a:r>
            <a:r>
              <a:rPr lang="zh-CN" altLang="en-US" dirty="0"/>
              <a:t>在</a:t>
            </a:r>
            <a:r>
              <a:rPr lang="zh-CN" altLang="en-US" sz="1200" kern="1200" spc="25" dirty="0">
                <a:solidFill>
                  <a:prstClr val="black"/>
                </a:solidFill>
                <a:latin typeface="Cambria Math"/>
                <a:cs typeface="Cambria Math"/>
              </a:rPr>
              <a:t>𝐼</a:t>
            </a:r>
            <a:r>
              <a:rPr lang="zh-CN" altLang="en-US" sz="1400" kern="1200" spc="37" baseline="-16666" dirty="0">
                <a:solidFill>
                  <a:prstClr val="black"/>
                </a:solidFill>
                <a:latin typeface="Cambria Math"/>
                <a:cs typeface="Cambria Math"/>
              </a:rPr>
              <a:t>𝑖</a:t>
            </a:r>
            <a:r>
              <a:rPr lang="zh-CN" altLang="en-US" dirty="0"/>
              <a:t>中并且</a:t>
            </a:r>
            <a:r>
              <a:rPr lang="en-US" altLang="zh-CN" sz="1200" kern="1200" spc="-15" dirty="0">
                <a:solidFill>
                  <a:prstClr val="black"/>
                </a:solidFill>
                <a:latin typeface="Cambria Math"/>
                <a:cs typeface="Cambria Math"/>
              </a:rPr>
              <a:t>GOTO [</a:t>
            </a:r>
            <a:r>
              <a:rPr lang="zh-CN" altLang="en-US" sz="1200" kern="1200" spc="25" dirty="0">
                <a:solidFill>
                  <a:prstClr val="black"/>
                </a:solidFill>
                <a:latin typeface="Cambria Math"/>
                <a:cs typeface="Cambria Math"/>
              </a:rPr>
              <a:t>𝐼</a:t>
            </a:r>
            <a:r>
              <a:rPr lang="zh-CN" altLang="en-US" sz="1400" kern="1200" spc="37" baseline="-16666" dirty="0">
                <a:solidFill>
                  <a:prstClr val="black"/>
                </a:solidFill>
                <a:latin typeface="Cambria Math"/>
                <a:cs typeface="Cambria Math"/>
              </a:rPr>
              <a:t>𝑖</a:t>
            </a:r>
            <a:r>
              <a:rPr lang="en-US" altLang="zh-CN" sz="1200" kern="1200" dirty="0">
                <a:solidFill>
                  <a:prstClr val="black"/>
                </a:solidFill>
                <a:latin typeface="Cambria Math"/>
                <a:cs typeface="Cambria Math"/>
              </a:rPr>
              <a:t>,</a:t>
            </a:r>
            <a:r>
              <a:rPr lang="en-US" altLang="zh-CN" sz="1200" kern="1200" spc="-75" dirty="0">
                <a:solidFill>
                  <a:prstClr val="black"/>
                </a:solidFill>
                <a:latin typeface="Cambria Math"/>
                <a:cs typeface="Cambria Math"/>
              </a:rPr>
              <a:t> </a:t>
            </a:r>
            <a:r>
              <a:rPr lang="zh-CN" altLang="en-US" sz="1200" kern="1200" dirty="0">
                <a:solidFill>
                  <a:prstClr val="black"/>
                </a:solidFill>
                <a:latin typeface="Cambria Math"/>
                <a:cs typeface="Cambria Math"/>
              </a:rPr>
              <a:t>𝑎</a:t>
            </a:r>
            <a:r>
              <a:rPr lang="en-US" altLang="zh-CN" sz="1200" kern="1200" dirty="0">
                <a:solidFill>
                  <a:prstClr val="black"/>
                </a:solidFill>
                <a:latin typeface="Cambria Math"/>
                <a:cs typeface="Cambria Math"/>
              </a:rPr>
              <a:t> </a:t>
            </a:r>
            <a:r>
              <a:rPr lang="en-US" altLang="zh-CN" sz="1200" kern="1200" spc="595" dirty="0">
                <a:solidFill>
                  <a:prstClr val="black"/>
                </a:solidFill>
                <a:latin typeface="Cambria Math"/>
                <a:cs typeface="Cambria Math"/>
              </a:rPr>
              <a:t>]</a:t>
            </a:r>
            <a:r>
              <a:rPr lang="en-US" altLang="zh-CN" sz="1200" kern="1200" dirty="0">
                <a:solidFill>
                  <a:prstClr val="black"/>
                </a:solidFill>
                <a:latin typeface="Cambria Math"/>
                <a:cs typeface="Cambria Math"/>
              </a:rPr>
              <a:t>=</a:t>
            </a:r>
            <a:r>
              <a:rPr lang="en-US" altLang="zh-CN" sz="1200" kern="1200" spc="80" dirty="0">
                <a:solidFill>
                  <a:prstClr val="black"/>
                </a:solidFill>
                <a:latin typeface="Cambria Math"/>
                <a:cs typeface="Cambria Math"/>
              </a:rPr>
              <a:t> </a:t>
            </a:r>
            <a:r>
              <a:rPr lang="zh-CN" altLang="en-US" sz="1200" kern="1200" spc="25" dirty="0">
                <a:solidFill>
                  <a:prstClr val="black"/>
                </a:solidFill>
                <a:latin typeface="Cambria Math"/>
                <a:cs typeface="Cambria Math"/>
              </a:rPr>
              <a:t>𝐼</a:t>
            </a:r>
            <a:r>
              <a:rPr lang="en-US" altLang="zh-CN" sz="1400" kern="1200" spc="37" baseline="-16666" dirty="0">
                <a:solidFill>
                  <a:prstClr val="black"/>
                </a:solidFill>
                <a:latin typeface="Cambria Math"/>
                <a:cs typeface="Cambria Math"/>
              </a:rPr>
              <a:t>j</a:t>
            </a:r>
            <a:r>
              <a:rPr lang="zh-CN" altLang="en-US" dirty="0"/>
              <a:t>，那么将</a:t>
            </a:r>
            <a:r>
              <a:rPr lang="en-US" altLang="zh-CN" sz="1200" kern="1200" spc="-25" dirty="0">
                <a:solidFill>
                  <a:prstClr val="black"/>
                </a:solidFill>
                <a:latin typeface="Cambria Math"/>
                <a:cs typeface="Cambria Math"/>
              </a:rPr>
              <a:t>A</a:t>
            </a:r>
            <a:r>
              <a:rPr lang="en-US" altLang="zh-CN" sz="1200" kern="1200" spc="-5" dirty="0">
                <a:solidFill>
                  <a:prstClr val="black"/>
                </a:solidFill>
                <a:latin typeface="Cambria Math"/>
                <a:cs typeface="Cambria Math"/>
              </a:rPr>
              <a:t>C</a:t>
            </a:r>
            <a:r>
              <a:rPr lang="en-US" altLang="zh-CN" sz="1200" kern="1200" spc="-10" dirty="0">
                <a:solidFill>
                  <a:prstClr val="black"/>
                </a:solidFill>
                <a:latin typeface="Cambria Math"/>
                <a:cs typeface="Cambria Math"/>
              </a:rPr>
              <a:t>T</a:t>
            </a:r>
            <a:r>
              <a:rPr lang="en-US" altLang="zh-CN" sz="1200" kern="1200" spc="-5" dirty="0">
                <a:solidFill>
                  <a:prstClr val="black"/>
                </a:solidFill>
                <a:latin typeface="Cambria Math"/>
                <a:cs typeface="Cambria Math"/>
              </a:rPr>
              <a:t>IO</a:t>
            </a:r>
            <a:r>
              <a:rPr lang="en-US" altLang="zh-CN" sz="1200" kern="1200" dirty="0">
                <a:solidFill>
                  <a:prstClr val="black"/>
                </a:solidFill>
                <a:latin typeface="Cambria Math"/>
                <a:cs typeface="Cambria Math"/>
              </a:rPr>
              <a:t>N[</a:t>
            </a:r>
            <a:r>
              <a:rPr lang="en-US" altLang="zh-CN" sz="1200" kern="1200" spc="-130" dirty="0">
                <a:solidFill>
                  <a:prstClr val="black"/>
                </a:solidFill>
                <a:latin typeface="Cambria Math"/>
                <a:cs typeface="Cambria Math"/>
              </a:rPr>
              <a:t> </a:t>
            </a:r>
            <a:r>
              <a:rPr lang="zh-CN" altLang="en-US" sz="1200" kern="1200" spc="35" dirty="0">
                <a:solidFill>
                  <a:prstClr val="black"/>
                </a:solidFill>
                <a:latin typeface="Cambria Math"/>
                <a:cs typeface="Cambria Math"/>
              </a:rPr>
              <a:t>𝑖</a:t>
            </a:r>
            <a:r>
              <a:rPr lang="en-US" altLang="zh-CN" sz="1200" kern="1200" dirty="0">
                <a:solidFill>
                  <a:prstClr val="black"/>
                </a:solidFill>
                <a:latin typeface="Cambria Math"/>
                <a:cs typeface="Cambria Math"/>
              </a:rPr>
              <a:t>,</a:t>
            </a:r>
            <a:r>
              <a:rPr lang="en-US" altLang="zh-CN" sz="1200" kern="1200" spc="-75" dirty="0">
                <a:solidFill>
                  <a:prstClr val="black"/>
                </a:solidFill>
                <a:latin typeface="Cambria Math"/>
                <a:cs typeface="Cambria Math"/>
              </a:rPr>
              <a:t> </a:t>
            </a:r>
            <a:r>
              <a:rPr lang="zh-CN" altLang="en-US" sz="1200" kern="1200" dirty="0">
                <a:solidFill>
                  <a:prstClr val="black"/>
                </a:solidFill>
                <a:latin typeface="Cambria Math"/>
                <a:cs typeface="Cambria Math"/>
              </a:rPr>
              <a:t>𝑎</a:t>
            </a:r>
            <a:r>
              <a:rPr lang="en-US" altLang="zh-CN" sz="1200" kern="1200" dirty="0">
                <a:solidFill>
                  <a:prstClr val="black"/>
                </a:solidFill>
                <a:latin typeface="Cambria Math"/>
                <a:cs typeface="Cambria Math"/>
              </a:rPr>
              <a:t>]</a:t>
            </a:r>
            <a:r>
              <a:rPr lang="zh-CN" altLang="en-US" dirty="0"/>
              <a:t>设置为“移入</a:t>
            </a:r>
            <a:r>
              <a:rPr lang="en-US" altLang="zh-CN" dirty="0"/>
              <a:t>j</a:t>
            </a:r>
            <a:r>
              <a:rPr lang="zh-CN" altLang="en-US" dirty="0"/>
              <a:t>”</a:t>
            </a:r>
            <a:endParaRPr lang="en-US" altLang="zh-CN" dirty="0"/>
          </a:p>
          <a:p>
            <a:r>
              <a:rPr lang="en-US" altLang="zh-CN" dirty="0"/>
              <a:t>      · </a:t>
            </a:r>
            <a:r>
              <a:rPr lang="zh-CN" altLang="en-US" dirty="0"/>
              <a:t>如果</a:t>
            </a:r>
            <a:r>
              <a:rPr lang="en-US" altLang="zh-CN" sz="1200" kern="1200" spc="-5" dirty="0">
                <a:solidFill>
                  <a:prstClr val="black"/>
                </a:solidFill>
                <a:latin typeface="Cambria Math"/>
                <a:cs typeface="Cambria Math"/>
              </a:rPr>
              <a:t>[</a:t>
            </a:r>
            <a:r>
              <a:rPr lang="zh-CN" altLang="en-US" sz="1200" kern="1200" dirty="0">
                <a:solidFill>
                  <a:prstClr val="black"/>
                </a:solidFill>
                <a:latin typeface="Cambria Math"/>
                <a:cs typeface="Cambria Math"/>
              </a:rPr>
              <a:t>𝐴</a:t>
            </a:r>
            <a:r>
              <a:rPr lang="zh-CN" altLang="en-US" sz="1200" kern="1200" spc="95"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𝛼</a:t>
            </a:r>
            <a:r>
              <a:rPr lang="en-US" altLang="zh-CN" sz="1200" kern="1200" spc="40" dirty="0">
                <a:solidFill>
                  <a:prstClr val="black"/>
                </a:solidFill>
                <a:latin typeface="Cambria Math"/>
                <a:cs typeface="Cambria Math"/>
              </a:rPr>
              <a:t>·</a:t>
            </a:r>
            <a:r>
              <a:rPr lang="en-US" altLang="zh-CN" sz="1200" kern="1200" spc="50" dirty="0">
                <a:solidFill>
                  <a:prstClr val="black"/>
                </a:solidFill>
                <a:latin typeface="Cambria Math"/>
                <a:cs typeface="Cambria Math"/>
              </a:rPr>
              <a:t>, </a:t>
            </a:r>
            <a:r>
              <a:rPr lang="zh-CN" altLang="en-US" sz="1200" kern="1200" dirty="0">
                <a:solidFill>
                  <a:prstClr val="black"/>
                </a:solidFill>
                <a:latin typeface="Cambria Math"/>
                <a:cs typeface="Cambria Math"/>
              </a:rPr>
              <a:t>𝑎 </a:t>
            </a:r>
            <a:r>
              <a:rPr lang="en-US" altLang="zh-CN" sz="1200" kern="1200" dirty="0">
                <a:solidFill>
                  <a:prstClr val="black"/>
                </a:solidFill>
                <a:latin typeface="Cambria Math"/>
                <a:cs typeface="Cambria Math"/>
              </a:rPr>
              <a:t>]</a:t>
            </a:r>
            <a:r>
              <a:rPr lang="zh-CN" altLang="en-US" dirty="0"/>
              <a:t>在</a:t>
            </a:r>
            <a:r>
              <a:rPr lang="zh-CN" altLang="en-US" sz="1200" kern="1200" spc="25" dirty="0">
                <a:solidFill>
                  <a:prstClr val="black"/>
                </a:solidFill>
                <a:latin typeface="Cambria Math"/>
                <a:cs typeface="Cambria Math"/>
              </a:rPr>
              <a:t>𝐼</a:t>
            </a:r>
            <a:r>
              <a:rPr lang="zh-CN" altLang="en-US" sz="1400" kern="1200" spc="37" baseline="-16666" dirty="0">
                <a:solidFill>
                  <a:prstClr val="black"/>
                </a:solidFill>
                <a:latin typeface="Cambria Math"/>
                <a:cs typeface="Cambria Math"/>
              </a:rPr>
              <a:t>𝑖</a:t>
            </a:r>
            <a:r>
              <a:rPr lang="zh-CN" altLang="en-US" dirty="0"/>
              <a:t>中，设置</a:t>
            </a:r>
            <a:r>
              <a:rPr lang="en-US" altLang="zh-CN" sz="1200" kern="1200" spc="-25" dirty="0">
                <a:solidFill>
                  <a:prstClr val="black"/>
                </a:solidFill>
                <a:latin typeface="Cambria Math"/>
                <a:cs typeface="Cambria Math"/>
              </a:rPr>
              <a:t>A</a:t>
            </a:r>
            <a:r>
              <a:rPr lang="en-US" altLang="zh-CN" sz="1200" kern="1200" spc="-5" dirty="0">
                <a:solidFill>
                  <a:prstClr val="black"/>
                </a:solidFill>
                <a:latin typeface="Cambria Math"/>
                <a:cs typeface="Cambria Math"/>
              </a:rPr>
              <a:t>C</a:t>
            </a:r>
            <a:r>
              <a:rPr lang="en-US" altLang="zh-CN" sz="1200" kern="1200" spc="-10" dirty="0">
                <a:solidFill>
                  <a:prstClr val="black"/>
                </a:solidFill>
                <a:latin typeface="Cambria Math"/>
                <a:cs typeface="Cambria Math"/>
              </a:rPr>
              <a:t>T</a:t>
            </a:r>
            <a:r>
              <a:rPr lang="en-US" altLang="zh-CN" sz="1200" kern="1200" spc="-5" dirty="0">
                <a:solidFill>
                  <a:prstClr val="black"/>
                </a:solidFill>
                <a:latin typeface="Cambria Math"/>
                <a:cs typeface="Cambria Math"/>
              </a:rPr>
              <a:t>IO</a:t>
            </a:r>
            <a:r>
              <a:rPr lang="en-US" altLang="zh-CN" sz="1200" kern="1200" dirty="0">
                <a:solidFill>
                  <a:prstClr val="black"/>
                </a:solidFill>
                <a:latin typeface="Cambria Math"/>
                <a:cs typeface="Cambria Math"/>
              </a:rPr>
              <a:t>N[</a:t>
            </a:r>
            <a:r>
              <a:rPr lang="en-US" altLang="zh-CN" sz="1200" kern="1200" spc="-130" dirty="0">
                <a:solidFill>
                  <a:prstClr val="black"/>
                </a:solidFill>
                <a:latin typeface="Cambria Math"/>
                <a:cs typeface="Cambria Math"/>
              </a:rPr>
              <a:t> </a:t>
            </a:r>
            <a:r>
              <a:rPr lang="zh-CN" altLang="en-US" sz="1200" kern="1200" spc="35" dirty="0">
                <a:solidFill>
                  <a:prstClr val="black"/>
                </a:solidFill>
                <a:latin typeface="Cambria Math"/>
                <a:cs typeface="Cambria Math"/>
              </a:rPr>
              <a:t>𝑖</a:t>
            </a:r>
            <a:r>
              <a:rPr lang="en-US" altLang="zh-CN" sz="1200" kern="1200" dirty="0">
                <a:solidFill>
                  <a:prstClr val="black"/>
                </a:solidFill>
                <a:latin typeface="Cambria Math"/>
                <a:cs typeface="Cambria Math"/>
              </a:rPr>
              <a:t>,</a:t>
            </a:r>
            <a:r>
              <a:rPr lang="en-US" altLang="zh-CN" sz="1200" kern="1200" spc="-75" dirty="0">
                <a:solidFill>
                  <a:prstClr val="black"/>
                </a:solidFill>
                <a:latin typeface="Cambria Math"/>
                <a:cs typeface="Cambria Math"/>
              </a:rPr>
              <a:t> </a:t>
            </a:r>
            <a:r>
              <a:rPr lang="zh-CN" altLang="en-US" sz="1200" kern="1200" dirty="0">
                <a:solidFill>
                  <a:prstClr val="black"/>
                </a:solidFill>
                <a:latin typeface="Cambria Math"/>
                <a:cs typeface="Cambria Math"/>
              </a:rPr>
              <a:t>𝑎</a:t>
            </a:r>
            <a:r>
              <a:rPr lang="en-US" altLang="zh-CN" sz="1200" kern="1200" dirty="0">
                <a:solidFill>
                  <a:prstClr val="black"/>
                </a:solidFill>
                <a:latin typeface="Cambria Math"/>
                <a:cs typeface="Cambria Math"/>
              </a:rPr>
              <a:t>]</a:t>
            </a:r>
            <a:r>
              <a:rPr lang="zh-CN" altLang="en-US" dirty="0"/>
              <a:t>为“归约</a:t>
            </a:r>
            <a:r>
              <a:rPr lang="zh-CN" altLang="en-US" sz="1200" kern="1200" dirty="0">
                <a:solidFill>
                  <a:prstClr val="black"/>
                </a:solidFill>
                <a:latin typeface="Cambria Math"/>
                <a:cs typeface="Cambria Math"/>
              </a:rPr>
              <a:t>𝐴</a:t>
            </a:r>
            <a:r>
              <a:rPr lang="zh-CN" altLang="en-US" sz="1200" kern="1200" spc="95"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𝛼</a:t>
            </a:r>
            <a:r>
              <a:rPr lang="zh-CN" altLang="en-US" dirty="0"/>
              <a:t>”。这里</a:t>
            </a:r>
            <a:r>
              <a:rPr lang="zh-CN" altLang="en-US" sz="1200" kern="1200" dirty="0">
                <a:solidFill>
                  <a:prstClr val="black"/>
                </a:solidFill>
                <a:latin typeface="Cambria Math"/>
                <a:cs typeface="Cambria Math"/>
              </a:rPr>
              <a:t>𝐴</a:t>
            </a:r>
            <a:r>
              <a:rPr lang="zh-CN" altLang="en-US" dirty="0"/>
              <a:t>不等于</a:t>
            </a:r>
            <a:r>
              <a:rPr lang="en-US" altLang="zh-CN" dirty="0"/>
              <a:t>S’</a:t>
            </a:r>
          </a:p>
          <a:p>
            <a:r>
              <a:rPr lang="en-US" altLang="zh-CN" dirty="0"/>
              <a:t>      · </a:t>
            </a:r>
            <a:r>
              <a:rPr lang="zh-CN" altLang="en-US" dirty="0"/>
              <a:t>如果</a:t>
            </a:r>
            <a:r>
              <a:rPr lang="en-US" altLang="zh-CN" sz="1200" kern="1200" spc="-5" dirty="0">
                <a:solidFill>
                  <a:prstClr val="black"/>
                </a:solidFill>
                <a:latin typeface="Cambria Math"/>
                <a:cs typeface="Cambria Math"/>
              </a:rPr>
              <a:t>[</a:t>
            </a:r>
            <a:r>
              <a:rPr lang="zh-CN" altLang="en-US" sz="1200" kern="1200" spc="-5" dirty="0">
                <a:solidFill>
                  <a:prstClr val="black"/>
                </a:solidFill>
                <a:latin typeface="Cambria Math"/>
                <a:cs typeface="Cambria Math"/>
              </a:rPr>
              <a:t>𝑆</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a:t>
            </a:r>
            <a:r>
              <a:rPr lang="zh-CN" altLang="en-US" sz="1200" kern="1200" spc="80" dirty="0">
                <a:solidFill>
                  <a:prstClr val="black"/>
                </a:solidFill>
                <a:latin typeface="Cambria Math"/>
                <a:cs typeface="Cambria Math"/>
              </a:rPr>
              <a:t> </a:t>
            </a:r>
            <a:r>
              <a:rPr lang="zh-CN" altLang="en-US" sz="1200" kern="1200" dirty="0">
                <a:solidFill>
                  <a:prstClr val="black"/>
                </a:solidFill>
                <a:latin typeface="Cambria Math"/>
                <a:cs typeface="Cambria Math"/>
              </a:rPr>
              <a:t>𝑆</a:t>
            </a:r>
            <a:r>
              <a:rPr lang="en-US" altLang="zh-CN" sz="1200" kern="1200" spc="25" dirty="0">
                <a:solidFill>
                  <a:prstClr val="black"/>
                </a:solidFill>
                <a:latin typeface="Cambria Math"/>
                <a:cs typeface="Cambria Math"/>
              </a:rPr>
              <a:t>·</a:t>
            </a:r>
            <a:r>
              <a:rPr lang="en-US" altLang="zh-CN" sz="1200" kern="1200" spc="35" dirty="0">
                <a:solidFill>
                  <a:prstClr val="black"/>
                </a:solidFill>
                <a:latin typeface="Cambria Math"/>
                <a:cs typeface="Cambria Math"/>
              </a:rPr>
              <a:t>, </a:t>
            </a:r>
            <a:r>
              <a:rPr lang="en-US" altLang="zh-CN" sz="1200" kern="1200" dirty="0">
                <a:solidFill>
                  <a:prstClr val="black"/>
                </a:solidFill>
                <a:latin typeface="Cambria Math"/>
                <a:cs typeface="Cambria Math"/>
              </a:rPr>
              <a:t>$ ]</a:t>
            </a:r>
            <a:r>
              <a:rPr lang="zh-CN" altLang="en-US" dirty="0"/>
              <a:t>在</a:t>
            </a:r>
            <a:r>
              <a:rPr lang="zh-CN" altLang="en-US" sz="1200" kern="1200" spc="25" dirty="0">
                <a:solidFill>
                  <a:prstClr val="black"/>
                </a:solidFill>
                <a:latin typeface="Cambria Math"/>
                <a:cs typeface="Cambria Math"/>
              </a:rPr>
              <a:t>𝐼</a:t>
            </a:r>
            <a:r>
              <a:rPr lang="zh-CN" altLang="en-US" sz="1400" kern="1200" spc="37" baseline="-16666" dirty="0">
                <a:solidFill>
                  <a:prstClr val="black"/>
                </a:solidFill>
                <a:latin typeface="Cambria Math"/>
                <a:cs typeface="Cambria Math"/>
              </a:rPr>
              <a:t>𝑖</a:t>
            </a:r>
            <a:r>
              <a:rPr lang="zh-CN" altLang="en-US" dirty="0"/>
              <a:t>中，那么将设置</a:t>
            </a:r>
            <a:r>
              <a:rPr lang="en-US" altLang="zh-CN" sz="1200" kern="1200" spc="-25" dirty="0">
                <a:solidFill>
                  <a:prstClr val="black"/>
                </a:solidFill>
                <a:latin typeface="Cambria Math"/>
                <a:cs typeface="Cambria Math"/>
              </a:rPr>
              <a:t>A</a:t>
            </a:r>
            <a:r>
              <a:rPr lang="en-US" altLang="zh-CN" sz="1200" kern="1200" spc="-5" dirty="0">
                <a:solidFill>
                  <a:prstClr val="black"/>
                </a:solidFill>
                <a:latin typeface="Cambria Math"/>
                <a:cs typeface="Cambria Math"/>
              </a:rPr>
              <a:t>C</a:t>
            </a:r>
            <a:r>
              <a:rPr lang="en-US" altLang="zh-CN" sz="1200" kern="1200" spc="-10" dirty="0">
                <a:solidFill>
                  <a:prstClr val="black"/>
                </a:solidFill>
                <a:latin typeface="Cambria Math"/>
                <a:cs typeface="Cambria Math"/>
              </a:rPr>
              <a:t>T</a:t>
            </a:r>
            <a:r>
              <a:rPr lang="en-US" altLang="zh-CN" sz="1200" kern="1200" spc="-5" dirty="0">
                <a:solidFill>
                  <a:prstClr val="black"/>
                </a:solidFill>
                <a:latin typeface="Cambria Math"/>
                <a:cs typeface="Cambria Math"/>
              </a:rPr>
              <a:t>IO</a:t>
            </a:r>
            <a:r>
              <a:rPr lang="en-US" altLang="zh-CN" sz="1200" kern="1200" dirty="0">
                <a:solidFill>
                  <a:prstClr val="black"/>
                </a:solidFill>
                <a:latin typeface="Cambria Math"/>
                <a:cs typeface="Cambria Math"/>
              </a:rPr>
              <a:t>N[</a:t>
            </a:r>
            <a:r>
              <a:rPr lang="zh-CN" altLang="en-US" sz="1200" kern="1200" spc="35" dirty="0">
                <a:solidFill>
                  <a:prstClr val="black"/>
                </a:solidFill>
                <a:latin typeface="Cambria Math"/>
                <a:cs typeface="Cambria Math"/>
              </a:rPr>
              <a:t>𝑖</a:t>
            </a:r>
            <a:r>
              <a:rPr lang="en-US" altLang="zh-CN" sz="1200" kern="1200" dirty="0">
                <a:solidFill>
                  <a:prstClr val="black"/>
                </a:solidFill>
                <a:latin typeface="Cambria Math"/>
                <a:cs typeface="Cambria Math"/>
              </a:rPr>
              <a:t>,</a:t>
            </a:r>
            <a:r>
              <a:rPr lang="en-US" altLang="zh-CN" sz="1200" kern="1200" spc="-75"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zh-CN" altLang="en-US" dirty="0"/>
              <a:t>为“接受”</a:t>
            </a:r>
            <a:endParaRPr lang="en-US" altLang="zh-CN" dirty="0"/>
          </a:p>
          <a:p>
            <a:r>
              <a:rPr lang="zh-CN" altLang="en-US" dirty="0"/>
              <a:t>如果以上规则导致任何冲突的动作，我们就说这个文法不是</a:t>
            </a:r>
            <a:r>
              <a:rPr lang="en-US" altLang="zh-CN" dirty="0"/>
              <a:t>LR(1)</a:t>
            </a:r>
            <a:r>
              <a:rPr lang="zh-CN" altLang="en-US" dirty="0"/>
              <a:t>的。</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141</a:t>
            </a:fld>
            <a:endParaRPr lang="zh-CN" altLang="en-US"/>
          </a:p>
        </p:txBody>
      </p:sp>
    </p:spTree>
    <p:extLst>
      <p:ext uri="{BB962C8B-B14F-4D97-AF65-F5344CB8AC3E}">
        <p14:creationId xmlns:p14="http://schemas.microsoft.com/office/powerpoint/2010/main" val="426945449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3. </a:t>
            </a:r>
            <a:r>
              <a:rPr lang="zh-CN" altLang="en-US" dirty="0"/>
              <a:t>状态</a:t>
            </a:r>
            <a:r>
              <a:rPr lang="en-US" altLang="zh-CN" sz="1200" i="1" kern="1200" dirty="0" err="1">
                <a:solidFill>
                  <a:prstClr val="black"/>
                </a:solidFill>
                <a:latin typeface="Palatino Linotype"/>
                <a:cs typeface="Palatino Linotype"/>
              </a:rPr>
              <a:t>i</a:t>
            </a:r>
            <a:r>
              <a:rPr lang="zh-CN" altLang="en-US" dirty="0"/>
              <a:t>对于各个非终结符号</a:t>
            </a:r>
            <a:r>
              <a:rPr lang="en-US" altLang="zh-CN" sz="1200" i="1" kern="1200" dirty="0">
                <a:solidFill>
                  <a:prstClr val="black"/>
                </a:solidFill>
                <a:latin typeface="Palatino Linotype"/>
                <a:cs typeface="Palatino Linotype"/>
              </a:rPr>
              <a:t>A</a:t>
            </a:r>
            <a:r>
              <a:rPr lang="zh-CN" altLang="en-US" dirty="0"/>
              <a:t>的转换使用下面的规则构造得到：如果</a:t>
            </a:r>
            <a:r>
              <a:rPr lang="en-US" altLang="zh-CN" sz="1200" kern="1200" spc="-15" dirty="0">
                <a:solidFill>
                  <a:prstClr val="black"/>
                </a:solidFill>
                <a:latin typeface="Cambria Math"/>
                <a:cs typeface="Cambria Math"/>
              </a:rPr>
              <a:t>GOTO [</a:t>
            </a:r>
            <a:r>
              <a:rPr lang="zh-CN" altLang="en-US" sz="1200" kern="1200" spc="30" dirty="0">
                <a:solidFill>
                  <a:prstClr val="black"/>
                </a:solidFill>
                <a:latin typeface="Cambria Math"/>
                <a:cs typeface="Cambria Math"/>
              </a:rPr>
              <a:t>𝐼</a:t>
            </a:r>
            <a:r>
              <a:rPr lang="en-US" altLang="zh-CN" kern="1200" spc="44" baseline="-16203" dirty="0" err="1">
                <a:solidFill>
                  <a:prstClr val="black"/>
                </a:solidFill>
                <a:latin typeface="Cambria Math"/>
                <a:cs typeface="Cambria Math"/>
              </a:rPr>
              <a:t>i</a:t>
            </a:r>
            <a:r>
              <a:rPr lang="en-US" altLang="zh-CN" sz="1200" kern="1200" spc="30" dirty="0">
                <a:solidFill>
                  <a:prstClr val="black"/>
                </a:solidFill>
                <a:latin typeface="Cambria Math"/>
                <a:cs typeface="Cambria Math"/>
              </a:rPr>
              <a:t>,</a:t>
            </a:r>
            <a:r>
              <a:rPr lang="en-US" altLang="zh-CN" sz="1200" kern="1200" spc="-90" dirty="0">
                <a:solidFill>
                  <a:prstClr val="black"/>
                </a:solidFill>
                <a:latin typeface="Cambria Math"/>
                <a:cs typeface="Cambria Math"/>
              </a:rPr>
              <a:t> </a:t>
            </a:r>
            <a:r>
              <a:rPr lang="zh-CN" altLang="en-US" sz="1200" kern="1200" dirty="0">
                <a:solidFill>
                  <a:prstClr val="black"/>
                </a:solidFill>
                <a:latin typeface="Cambria Math"/>
                <a:cs typeface="Cambria Math"/>
              </a:rPr>
              <a:t>𝐴</a:t>
            </a:r>
            <a:r>
              <a:rPr lang="en-US" altLang="zh-CN" sz="1200" kern="1200" dirty="0">
                <a:solidFill>
                  <a:prstClr val="black"/>
                </a:solidFill>
                <a:latin typeface="Cambria Math"/>
                <a:cs typeface="Cambria Math"/>
              </a:rPr>
              <a:t>]=</a:t>
            </a:r>
            <a:r>
              <a:rPr lang="en-US" altLang="zh-CN" sz="1200" kern="1200" spc="100" dirty="0">
                <a:solidFill>
                  <a:prstClr val="black"/>
                </a:solidFill>
                <a:latin typeface="Cambria Math"/>
                <a:cs typeface="Cambria Math"/>
              </a:rPr>
              <a:t> </a:t>
            </a:r>
            <a:r>
              <a:rPr lang="zh-CN" altLang="en-US" sz="1200" kern="1200" spc="-30" dirty="0">
                <a:solidFill>
                  <a:prstClr val="black"/>
                </a:solidFill>
                <a:latin typeface="Cambria Math"/>
                <a:cs typeface="Cambria Math"/>
              </a:rPr>
              <a:t>𝐼</a:t>
            </a:r>
            <a:r>
              <a:rPr lang="zh-CN" altLang="en-US" kern="1200" spc="-44" baseline="-16203" dirty="0">
                <a:solidFill>
                  <a:prstClr val="black"/>
                </a:solidFill>
                <a:latin typeface="Cambria Math"/>
                <a:cs typeface="Cambria Math"/>
              </a:rPr>
              <a:t>𝑗</a:t>
            </a:r>
            <a:r>
              <a:rPr lang="zh-CN" altLang="en-US" dirty="0"/>
              <a:t>，那么</a:t>
            </a:r>
            <a:r>
              <a:rPr lang="en-US" altLang="zh-CN" sz="1200" kern="1200" spc="-15" dirty="0">
                <a:solidFill>
                  <a:prstClr val="black"/>
                </a:solidFill>
                <a:latin typeface="Cambria Math"/>
                <a:cs typeface="Cambria Math"/>
              </a:rPr>
              <a:t>GOTO[</a:t>
            </a:r>
            <a:r>
              <a:rPr lang="zh-CN" altLang="en-US" sz="1200" kern="1200" spc="25" dirty="0">
                <a:solidFill>
                  <a:prstClr val="black"/>
                </a:solidFill>
                <a:latin typeface="Cambria Math"/>
                <a:cs typeface="Cambria Math"/>
              </a:rPr>
              <a:t>𝑖</a:t>
            </a:r>
            <a:r>
              <a:rPr lang="en-US" altLang="zh-CN" sz="1200" kern="1200" spc="25" dirty="0">
                <a:solidFill>
                  <a:prstClr val="black"/>
                </a:solidFill>
                <a:latin typeface="Cambria Math"/>
                <a:cs typeface="Cambria Math"/>
              </a:rPr>
              <a:t>,</a:t>
            </a:r>
            <a:r>
              <a:rPr lang="en-US" altLang="zh-CN" sz="1200" kern="1200" spc="-90" dirty="0">
                <a:solidFill>
                  <a:prstClr val="black"/>
                </a:solidFill>
                <a:latin typeface="Cambria Math"/>
                <a:cs typeface="Cambria Math"/>
              </a:rPr>
              <a:t> </a:t>
            </a:r>
            <a:r>
              <a:rPr lang="zh-CN" altLang="en-US" sz="1200" kern="1200" dirty="0">
                <a:solidFill>
                  <a:prstClr val="black"/>
                </a:solidFill>
                <a:latin typeface="Cambria Math"/>
                <a:cs typeface="Cambria Math"/>
              </a:rPr>
              <a:t>𝐴</a:t>
            </a:r>
            <a:r>
              <a:rPr lang="en-US" altLang="zh-CN" sz="1200" kern="1200" dirty="0">
                <a:solidFill>
                  <a:prstClr val="black"/>
                </a:solidFill>
                <a:latin typeface="Cambria Math"/>
                <a:cs typeface="Cambria Math"/>
              </a:rPr>
              <a:t>]=</a:t>
            </a:r>
            <a:r>
              <a:rPr lang="en-US" altLang="zh-CN" sz="1200" kern="1200" spc="90" dirty="0">
                <a:solidFill>
                  <a:prstClr val="black"/>
                </a:solidFill>
                <a:latin typeface="Cambria Math"/>
                <a:cs typeface="Cambria Math"/>
              </a:rPr>
              <a:t> </a:t>
            </a:r>
            <a:r>
              <a:rPr lang="zh-CN" altLang="en-US" sz="1200" kern="1200" dirty="0">
                <a:solidFill>
                  <a:prstClr val="black"/>
                </a:solidFill>
                <a:latin typeface="Cambria Math"/>
                <a:cs typeface="Cambria Math"/>
              </a:rPr>
              <a:t>𝑗</a:t>
            </a:r>
            <a:endParaRPr lang="en-US" altLang="zh-CN" sz="1200" kern="1200" dirty="0">
              <a:solidFill>
                <a:prstClr val="black"/>
              </a:solidFill>
              <a:latin typeface="Cambria Math"/>
            </a:endParaRPr>
          </a:p>
          <a:p>
            <a:r>
              <a:rPr lang="en-US" altLang="zh-CN" dirty="0"/>
              <a:t> 4. </a:t>
            </a:r>
            <a:r>
              <a:rPr lang="zh-CN" altLang="en-US" dirty="0"/>
              <a:t>规则</a:t>
            </a:r>
            <a:r>
              <a:rPr lang="en-US" altLang="zh-CN" dirty="0"/>
              <a:t>2</a:t>
            </a:r>
            <a:r>
              <a:rPr lang="zh-CN" altLang="en-US" dirty="0"/>
              <a:t>、</a:t>
            </a:r>
            <a:r>
              <a:rPr lang="en-US" altLang="zh-CN" dirty="0"/>
              <a:t>3</a:t>
            </a:r>
            <a:r>
              <a:rPr lang="zh-CN" altLang="en-US" dirty="0"/>
              <a:t>没有定义的所有条目都设置为“报错”</a:t>
            </a:r>
            <a:endParaRPr lang="en-US" altLang="zh-CN" dirty="0"/>
          </a:p>
          <a:p>
            <a:r>
              <a:rPr lang="en-US" altLang="zh-CN" dirty="0"/>
              <a:t> 5. </a:t>
            </a:r>
            <a:r>
              <a:rPr lang="zh-CN" altLang="en-US" dirty="0"/>
              <a:t>语法分析器的初始状态就是根据</a:t>
            </a:r>
            <a:r>
              <a:rPr lang="en-US" altLang="zh-CN" kern="1200" spc="-5" dirty="0">
                <a:solidFill>
                  <a:prstClr val="black"/>
                </a:solidFill>
                <a:latin typeface="Cambria Math"/>
                <a:cs typeface="Cambria Math"/>
              </a:rPr>
              <a:t>[</a:t>
            </a:r>
            <a:r>
              <a:rPr lang="zh-CN" altLang="en-US" kern="1200" spc="-5" dirty="0">
                <a:solidFill>
                  <a:prstClr val="black"/>
                </a:solidFill>
                <a:latin typeface="Cambria Math"/>
                <a:cs typeface="Cambria Math"/>
              </a:rPr>
              <a:t>𝑆</a:t>
            </a:r>
            <a:r>
              <a:rPr lang="en-US" altLang="zh-CN" kern="1200" spc="-5" dirty="0">
                <a:solidFill>
                  <a:prstClr val="black"/>
                </a:solidFill>
                <a:latin typeface="Cambria Math"/>
                <a:cs typeface="Cambria Math"/>
              </a:rPr>
              <a:t>′</a:t>
            </a:r>
            <a:r>
              <a:rPr lang="zh-CN" altLang="en-US" kern="1200" spc="100" dirty="0">
                <a:solidFill>
                  <a:prstClr val="black"/>
                </a:solidFill>
                <a:latin typeface="Cambria Math"/>
                <a:cs typeface="Cambria Math"/>
              </a:rPr>
              <a:t> </a:t>
            </a:r>
            <a:r>
              <a:rPr lang="zh-CN" altLang="en-US" kern="1200" spc="-95" dirty="0">
                <a:solidFill>
                  <a:prstClr val="black"/>
                </a:solidFill>
                <a:latin typeface="Cambria Math"/>
                <a:cs typeface="Cambria Math"/>
              </a:rPr>
              <a:t>→ </a:t>
            </a:r>
            <a:r>
              <a:rPr lang="en-US" altLang="zh-CN" kern="1200" spc="-95" dirty="0">
                <a:solidFill>
                  <a:prstClr val="black"/>
                </a:solidFill>
                <a:latin typeface="Cambria Math"/>
                <a:cs typeface="Cambria Math"/>
              </a:rPr>
              <a:t>·</a:t>
            </a:r>
            <a:r>
              <a:rPr lang="zh-CN" altLang="en-US" kern="1200" spc="5" dirty="0">
                <a:solidFill>
                  <a:prstClr val="black"/>
                </a:solidFill>
                <a:latin typeface="Cambria Math"/>
                <a:cs typeface="Cambria Math"/>
              </a:rPr>
              <a:t> </a:t>
            </a:r>
            <a:r>
              <a:rPr lang="zh-CN" altLang="en-US" kern="1200" spc="15" dirty="0">
                <a:solidFill>
                  <a:prstClr val="black"/>
                </a:solidFill>
                <a:latin typeface="Cambria Math"/>
                <a:cs typeface="Cambria Math"/>
              </a:rPr>
              <a:t>𝑆</a:t>
            </a:r>
            <a:r>
              <a:rPr lang="en-US" altLang="zh-CN" sz="1200" kern="1200" spc="20" dirty="0">
                <a:solidFill>
                  <a:prstClr val="black"/>
                </a:solidFill>
                <a:latin typeface="Cambria Math"/>
                <a:cs typeface="Cambria Math"/>
              </a:rPr>
              <a:t>,</a:t>
            </a:r>
            <a:r>
              <a:rPr lang="zh-CN" altLang="en-US" sz="1200" kern="1200" spc="-105" dirty="0">
                <a:solidFill>
                  <a:prstClr val="black"/>
                </a:solidFill>
                <a:latin typeface="Cambria Math"/>
                <a:cs typeface="Cambria Math"/>
              </a:rPr>
              <a:t> </a:t>
            </a:r>
            <a:r>
              <a:rPr lang="en-US" altLang="zh-CN" sz="1200" kern="1200" dirty="0">
                <a:solidFill>
                  <a:prstClr val="black"/>
                </a:solidFill>
                <a:latin typeface="Cambria Math"/>
                <a:cs typeface="Cambria Math"/>
              </a:rPr>
              <a:t>$</a:t>
            </a:r>
            <a:r>
              <a:rPr lang="en-US" altLang="zh-CN" kern="1200" spc="15" dirty="0">
                <a:solidFill>
                  <a:prstClr val="black"/>
                </a:solidFill>
                <a:latin typeface="Cambria Math"/>
                <a:cs typeface="Cambria Math"/>
              </a:rPr>
              <a:t>]</a:t>
            </a:r>
            <a:r>
              <a:rPr lang="zh-CN" altLang="en-US" dirty="0"/>
              <a:t>所在项集构造得到的状态</a:t>
            </a:r>
          </a:p>
          <a:p>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142</a:t>
            </a:fld>
            <a:endParaRPr lang="zh-CN" altLang="en-US"/>
          </a:p>
        </p:txBody>
      </p:sp>
    </p:spTree>
    <p:extLst>
      <p:ext uri="{BB962C8B-B14F-4D97-AF65-F5344CB8AC3E}">
        <p14:creationId xmlns:p14="http://schemas.microsoft.com/office/powerpoint/2010/main" val="332050946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错误恢复</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144</a:t>
            </a:fld>
            <a:endParaRPr lang="zh-CN" altLang="en-US"/>
          </a:p>
        </p:txBody>
      </p:sp>
    </p:spTree>
    <p:extLst>
      <p:ext uri="{BB962C8B-B14F-4D97-AF65-F5344CB8AC3E}">
        <p14:creationId xmlns:p14="http://schemas.microsoft.com/office/powerpoint/2010/main" val="26745015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LR</a:t>
            </a:r>
            <a:r>
              <a:rPr lang="zh-CN" altLang="en-US" dirty="0"/>
              <a:t>语法分析中的错误恢复</a:t>
            </a:r>
            <a:endParaRPr lang="en-US" altLang="zh-CN" dirty="0"/>
          </a:p>
          <a:p>
            <a:r>
              <a:rPr lang="en-US" altLang="zh-CN" dirty="0"/>
              <a:t>LR</a:t>
            </a:r>
            <a:r>
              <a:rPr lang="zh-CN" altLang="en-US" dirty="0"/>
              <a:t>语法分析器应该能够处理错误：</a:t>
            </a:r>
            <a:endParaRPr lang="en-US" altLang="zh-CN" dirty="0"/>
          </a:p>
          <a:p>
            <a:r>
              <a:rPr lang="en-US" altLang="zh-CN" dirty="0"/>
              <a:t>   · </a:t>
            </a:r>
            <a:r>
              <a:rPr lang="zh-CN" altLang="en-US" dirty="0"/>
              <a:t>报告错误的精确位置</a:t>
            </a:r>
            <a:endParaRPr lang="en-US" altLang="zh-CN" dirty="0"/>
          </a:p>
          <a:p>
            <a:r>
              <a:rPr lang="zh-CN" altLang="en-US" dirty="0"/>
              <a:t>   </a:t>
            </a:r>
            <a:r>
              <a:rPr lang="en-US" altLang="zh-CN" dirty="0"/>
              <a:t>· </a:t>
            </a:r>
            <a:r>
              <a:rPr lang="zh-CN" altLang="en-US" dirty="0"/>
              <a:t>从错误中恢复并继续分析</a:t>
            </a:r>
            <a:endParaRPr lang="en-US" altLang="zh-CN" dirty="0"/>
          </a:p>
          <a:p>
            <a:r>
              <a:rPr lang="zh-CN" altLang="en-US" dirty="0"/>
              <a:t>两种典型的错误</a:t>
            </a:r>
            <a:endParaRPr lang="en-US" altLang="zh-CN" dirty="0"/>
          </a:p>
          <a:p>
            <a:r>
              <a:rPr lang="en-US" altLang="zh-CN" dirty="0"/>
              <a:t>   · </a:t>
            </a:r>
            <a:r>
              <a:rPr lang="zh-CN" altLang="en-US" dirty="0"/>
              <a:t>恐慌模式</a:t>
            </a:r>
            <a:endParaRPr lang="en-US" altLang="zh-CN" dirty="0"/>
          </a:p>
          <a:p>
            <a:r>
              <a:rPr lang="en-US" altLang="zh-CN" dirty="0"/>
              <a:t>   · </a:t>
            </a:r>
            <a:r>
              <a:rPr lang="zh-CN" altLang="en-US" dirty="0"/>
              <a:t>短语层次的恢复</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145</a:t>
            </a:fld>
            <a:endParaRPr lang="zh-CN" altLang="en-US"/>
          </a:p>
        </p:txBody>
      </p:sp>
    </p:spTree>
    <p:extLst>
      <p:ext uri="{BB962C8B-B14F-4D97-AF65-F5344CB8AC3E}">
        <p14:creationId xmlns:p14="http://schemas.microsoft.com/office/powerpoint/2010/main" val="183431767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恐慌模式</a:t>
            </a:r>
            <a:endParaRPr lang="en-US" altLang="zh-CN" dirty="0"/>
          </a:p>
          <a:p>
            <a:r>
              <a:rPr lang="zh-CN" altLang="en-US" dirty="0"/>
              <a:t>基本思想：丢弃零个或多个输入符号，直到同步词法单元已找到</a:t>
            </a:r>
            <a:endParaRPr lang="en-US" altLang="zh-CN" dirty="0"/>
          </a:p>
          <a:p>
            <a:r>
              <a:rPr lang="zh-CN" altLang="en-US" dirty="0"/>
              <a:t>原理：</a:t>
            </a:r>
            <a:endParaRPr lang="en-US" altLang="zh-CN" dirty="0"/>
          </a:p>
          <a:p>
            <a:r>
              <a:rPr lang="en-US" altLang="zh-CN" dirty="0"/>
              <a:t>   · </a:t>
            </a:r>
            <a:r>
              <a:rPr lang="zh-CN" altLang="en-US" dirty="0"/>
              <a:t>语法分析器总是查找可以从非终结符𝐴推导的输入的前缀</a:t>
            </a:r>
            <a:endParaRPr lang="en-US" altLang="zh-CN" dirty="0"/>
          </a:p>
          <a:p>
            <a:r>
              <a:rPr lang="zh-CN" altLang="en-US" dirty="0"/>
              <a:t>   </a:t>
            </a:r>
            <a:r>
              <a:rPr lang="en-US" altLang="zh-CN" dirty="0"/>
              <a:t>· </a:t>
            </a:r>
            <a:r>
              <a:rPr lang="zh-CN" altLang="en-US" dirty="0"/>
              <a:t>当出现错误时，意味着无法找到这样的前缀</a:t>
            </a:r>
            <a:endParaRPr lang="en-US" altLang="zh-CN" dirty="0"/>
          </a:p>
          <a:p>
            <a:r>
              <a:rPr lang="en-US" altLang="zh-CN" dirty="0"/>
              <a:t>   · </a:t>
            </a:r>
            <a:r>
              <a:rPr lang="zh-CN" altLang="en-US" dirty="0"/>
              <a:t>如果错误仅发生在与𝐴相关的部分</a:t>
            </a:r>
            <a:r>
              <a:rPr lang="en-US" altLang="zh-CN" dirty="0"/>
              <a:t>, </a:t>
            </a:r>
            <a:r>
              <a:rPr lang="zh-CN" altLang="en-US" dirty="0"/>
              <a:t>我们可以通过寻找一个可以合法跟随的符号来跳过这一部分</a:t>
            </a:r>
            <a:endParaRPr lang="en-US" altLang="zh-CN" dirty="0"/>
          </a:p>
          <a:p>
            <a:r>
              <a:rPr lang="en-US" altLang="zh-CN" dirty="0"/>
              <a:t>       · </a:t>
            </a:r>
            <a:r>
              <a:rPr lang="zh-CN" altLang="en-US" dirty="0"/>
              <a:t>示例：如果𝐴 是𝑠𝑡𝑚𝑡</a:t>
            </a:r>
            <a:r>
              <a:rPr lang="en-US" altLang="zh-CN" dirty="0"/>
              <a:t>, </a:t>
            </a:r>
            <a:r>
              <a:rPr lang="zh-CN" altLang="en-US" dirty="0"/>
              <a:t>则同步词法单元可以是分号</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146</a:t>
            </a:fld>
            <a:endParaRPr lang="zh-CN" altLang="en-US"/>
          </a:p>
        </p:txBody>
      </p:sp>
    </p:spTree>
    <p:extLst>
      <p:ext uri="{BB962C8B-B14F-4D97-AF65-F5344CB8AC3E}">
        <p14:creationId xmlns:p14="http://schemas.microsoft.com/office/powerpoint/2010/main" val="45784022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短语层次的恢复</a:t>
            </a:r>
            <a:endParaRPr lang="en-US" altLang="zh-CN" dirty="0"/>
          </a:p>
          <a:p>
            <a:r>
              <a:rPr lang="zh-CN" altLang="en-US" dirty="0"/>
              <a:t>基本思路：</a:t>
            </a:r>
            <a:endParaRPr lang="en-US" altLang="zh-CN" dirty="0"/>
          </a:p>
          <a:p>
            <a:r>
              <a:rPr lang="en-US" altLang="zh-CN" dirty="0"/>
              <a:t>   · </a:t>
            </a:r>
            <a:r>
              <a:rPr lang="zh-CN" altLang="en-US" dirty="0"/>
              <a:t>检查语法分析表中的每个错误条目，并确定最有可能导致错误的程序员错误</a:t>
            </a:r>
            <a:endParaRPr lang="en-US" altLang="zh-CN" dirty="0"/>
          </a:p>
          <a:p>
            <a:r>
              <a:rPr lang="en-US" altLang="zh-CN" dirty="0"/>
              <a:t>   · </a:t>
            </a:r>
            <a:r>
              <a:rPr lang="zh-CN" altLang="en-US" dirty="0"/>
              <a:t>修改栈顶部或第一个输入符号，并向程序员发出消息</a:t>
            </a:r>
            <a:endParaRPr lang="en-US" altLang="zh-CN" dirty="0"/>
          </a:p>
          <a:p>
            <a:r>
              <a:rPr lang="zh-CN" altLang="en-US" dirty="0"/>
              <a:t>短语层次的恢复示例：</a:t>
            </a:r>
            <a:endParaRPr lang="en-US" altLang="zh-CN" dirty="0"/>
          </a:p>
          <a:p>
            <a:r>
              <a:rPr lang="en-US" altLang="zh-CN" dirty="0"/>
              <a:t>   · </a:t>
            </a:r>
            <a:r>
              <a:rPr lang="zh-CN" altLang="en-US" dirty="0"/>
              <a:t>删除右侧的）</a:t>
            </a:r>
            <a:endParaRPr lang="en-US" altLang="zh-CN" dirty="0"/>
          </a:p>
          <a:p>
            <a:r>
              <a:rPr lang="en-US" altLang="zh-CN" dirty="0"/>
              <a:t>   · </a:t>
            </a:r>
            <a:r>
              <a:rPr lang="zh-CN" altLang="en-US" dirty="0"/>
              <a:t>提示“不匹配的右括号”。</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147</a:t>
            </a:fld>
            <a:endParaRPr lang="zh-CN" altLang="en-US"/>
          </a:p>
        </p:txBody>
      </p:sp>
    </p:spTree>
    <p:extLst>
      <p:ext uri="{BB962C8B-B14F-4D97-AF65-F5344CB8AC3E}">
        <p14:creationId xmlns:p14="http://schemas.microsoft.com/office/powerpoint/2010/main" val="331826025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语法分析器生成工具</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148</a:t>
            </a:fld>
            <a:endParaRPr lang="zh-CN" altLang="en-US"/>
          </a:p>
        </p:txBody>
      </p:sp>
    </p:spTree>
    <p:extLst>
      <p:ext uri="{BB962C8B-B14F-4D97-AF65-F5344CB8AC3E}">
        <p14:creationId xmlns:p14="http://schemas.microsoft.com/office/powerpoint/2010/main" val="391948824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本节将介绍如何使用语法分析器生成工具来帮助构造一个编译器的前端，我们将使用</a:t>
            </a:r>
            <a:r>
              <a:rPr lang="en-US" altLang="zh-CN" dirty="0"/>
              <a:t>LALR</a:t>
            </a:r>
            <a:r>
              <a:rPr lang="zh-CN" altLang="en-US" dirty="0"/>
              <a:t>语法分析生成工具</a:t>
            </a:r>
            <a:r>
              <a:rPr lang="en-US" altLang="zh-CN" dirty="0" err="1"/>
              <a:t>Yacc</a:t>
            </a:r>
            <a:r>
              <a:rPr lang="zh-CN" altLang="en-US" dirty="0"/>
              <a:t>作为讨论的基础。</a:t>
            </a:r>
            <a:r>
              <a:rPr lang="en-US" altLang="zh-CN" dirty="0" err="1"/>
              <a:t>Yacc</a:t>
            </a:r>
            <a:r>
              <a:rPr lang="zh-CN" altLang="en-US" dirty="0"/>
              <a:t>，又一个编译器的编译器</a:t>
            </a:r>
            <a:endParaRPr lang="en-US" altLang="zh-CN" dirty="0"/>
          </a:p>
          <a:p>
            <a:r>
              <a:rPr lang="en-US" altLang="zh-CN" dirty="0" err="1"/>
              <a:t>Yacc</a:t>
            </a:r>
            <a:r>
              <a:rPr lang="zh-CN" altLang="en-US" dirty="0"/>
              <a:t>在</a:t>
            </a:r>
            <a:r>
              <a:rPr lang="en-US" altLang="zh-CN" dirty="0"/>
              <a:t>UNIX</a:t>
            </a:r>
            <a:r>
              <a:rPr lang="zh-CN" altLang="en-US" dirty="0"/>
              <a:t>系统中是以命令的方式出现的，它已经用于实现多个编译器产品。</a:t>
            </a:r>
            <a:r>
              <a:rPr lang="en-US" altLang="zh-CN" b="0" i="0" dirty="0">
                <a:solidFill>
                  <a:srgbClr val="374151"/>
                </a:solidFill>
                <a:effectLst/>
                <a:latin typeface="Söhne"/>
              </a:rPr>
              <a:t>Bison </a:t>
            </a:r>
            <a:r>
              <a:rPr lang="zh-CN" altLang="en-US" b="0" i="0" dirty="0">
                <a:solidFill>
                  <a:srgbClr val="374151"/>
                </a:solidFill>
                <a:effectLst/>
                <a:latin typeface="Söhne"/>
              </a:rPr>
              <a:t>是</a:t>
            </a:r>
            <a:r>
              <a:rPr lang="en-US" altLang="zh-CN" b="0" i="0" dirty="0">
                <a:solidFill>
                  <a:srgbClr val="374151"/>
                </a:solidFill>
                <a:effectLst/>
                <a:latin typeface="Söhne"/>
              </a:rPr>
              <a:t>GNU</a:t>
            </a:r>
            <a:r>
              <a:rPr lang="zh-CN" altLang="en-US" b="0" i="0" dirty="0">
                <a:solidFill>
                  <a:srgbClr val="374151"/>
                </a:solidFill>
                <a:effectLst/>
                <a:latin typeface="Söhne"/>
              </a:rPr>
              <a:t>项目的一部分，是对</a:t>
            </a:r>
            <a:r>
              <a:rPr lang="en-US" altLang="zh-CN" b="0" i="0" dirty="0" err="1">
                <a:solidFill>
                  <a:srgbClr val="374151"/>
                </a:solidFill>
                <a:effectLst/>
                <a:latin typeface="Söhne"/>
              </a:rPr>
              <a:t>Yacc</a:t>
            </a:r>
            <a:r>
              <a:rPr lang="zh-CN" altLang="en-US" b="0" i="0" dirty="0">
                <a:solidFill>
                  <a:srgbClr val="374151"/>
                </a:solidFill>
                <a:effectLst/>
                <a:latin typeface="Söhne"/>
              </a:rPr>
              <a:t>的扩展和改进。</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149</a:t>
            </a:fld>
            <a:endParaRPr lang="zh-CN" altLang="en-US"/>
          </a:p>
        </p:txBody>
      </p:sp>
    </p:spTree>
    <p:extLst>
      <p:ext uri="{BB962C8B-B14F-4D97-AF65-F5344CB8AC3E}">
        <p14:creationId xmlns:p14="http://schemas.microsoft.com/office/powerpoint/2010/main" val="6568624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声明</a:t>
            </a:r>
            <a:endParaRPr lang="en-US" altLang="zh-CN" dirty="0"/>
          </a:p>
          <a:p>
            <a:r>
              <a:rPr lang="en-US" altLang="zh-CN" dirty="0"/>
              <a:t>   · </a:t>
            </a:r>
            <a:r>
              <a:rPr lang="zh-CN" altLang="en-US" dirty="0"/>
              <a:t>通常的</a:t>
            </a:r>
            <a:r>
              <a:rPr lang="en-US" altLang="zh-CN" dirty="0"/>
              <a:t>C</a:t>
            </a:r>
            <a:r>
              <a:rPr lang="zh-CN" altLang="en-US" dirty="0"/>
              <a:t>声明</a:t>
            </a:r>
            <a:endParaRPr lang="en-US" altLang="zh-CN" dirty="0"/>
          </a:p>
          <a:p>
            <a:r>
              <a:rPr lang="en-US" altLang="zh-CN" dirty="0"/>
              <a:t>   · </a:t>
            </a:r>
            <a:r>
              <a:rPr lang="zh-CN" altLang="en-US" dirty="0"/>
              <a:t>对词法单元的声明</a:t>
            </a:r>
            <a:endParaRPr lang="en-US" altLang="zh-CN" dirty="0"/>
          </a:p>
          <a:p>
            <a:r>
              <a:rPr lang="zh-CN" altLang="en-US" dirty="0"/>
              <a:t>翻译规则</a:t>
            </a:r>
            <a:endParaRPr lang="en-US" altLang="zh-CN" dirty="0"/>
          </a:p>
          <a:p>
            <a:r>
              <a:rPr lang="en-US" altLang="zh-CN" dirty="0"/>
              <a:t>   · </a:t>
            </a:r>
            <a:r>
              <a:rPr lang="zh-CN" altLang="en-US" dirty="0"/>
              <a:t>翻译规则 </a:t>
            </a:r>
            <a:r>
              <a:rPr lang="en-US" altLang="zh-CN" dirty="0"/>
              <a:t>= </a:t>
            </a:r>
            <a:r>
              <a:rPr lang="zh-CN" altLang="en-US" dirty="0"/>
              <a:t>产生式 </a:t>
            </a:r>
            <a:r>
              <a:rPr lang="en-US" altLang="zh-CN" dirty="0"/>
              <a:t>+ </a:t>
            </a:r>
            <a:r>
              <a:rPr lang="zh-CN" altLang="en-US" dirty="0"/>
              <a:t>语义动作</a:t>
            </a:r>
            <a:endParaRPr lang="en-US" altLang="zh-CN" dirty="0"/>
          </a:p>
          <a:p>
            <a:r>
              <a:rPr lang="zh-CN" altLang="en-US" dirty="0"/>
              <a:t>辅助性</a:t>
            </a:r>
            <a:r>
              <a:rPr lang="en-US" altLang="zh-CN" dirty="0"/>
              <a:t>C</a:t>
            </a:r>
            <a:r>
              <a:rPr lang="zh-CN" altLang="en-US" dirty="0"/>
              <a:t>语言例程</a:t>
            </a:r>
            <a:endParaRPr lang="en-US" altLang="zh-CN" dirty="0"/>
          </a:p>
          <a:p>
            <a:r>
              <a:rPr lang="zh-CN" altLang="en-US" dirty="0"/>
              <a:t>   </a:t>
            </a:r>
            <a:r>
              <a:rPr lang="en-US" altLang="zh-CN" dirty="0"/>
              <a:t>· </a:t>
            </a:r>
            <a:r>
              <a:rPr lang="zh-CN" altLang="en-US" dirty="0"/>
              <a:t>将会被直接拷贝至</a:t>
            </a:r>
            <a:r>
              <a:rPr lang="en-US" altLang="zh-CN" dirty="0" err="1"/>
              <a:t>y.tab.c</a:t>
            </a:r>
            <a:endParaRPr lang="en-US" altLang="zh-CN" dirty="0"/>
          </a:p>
          <a:p>
            <a:r>
              <a:rPr lang="en-US" altLang="zh-CN" dirty="0"/>
              <a:t>   · </a:t>
            </a:r>
            <a:r>
              <a:rPr lang="zh-CN" altLang="en-US" dirty="0"/>
              <a:t>可以在语义动作中调用</a:t>
            </a:r>
            <a:endParaRPr lang="en-US" altLang="zh-CN" dirty="0"/>
          </a:p>
          <a:p>
            <a:r>
              <a:rPr lang="en-US" altLang="zh-CN" dirty="0"/>
              <a:t>   · </a:t>
            </a:r>
            <a:r>
              <a:rPr lang="zh-CN" altLang="en-US" dirty="0"/>
              <a:t>必须提供</a:t>
            </a:r>
            <a:r>
              <a:rPr lang="en-US" altLang="zh-CN" dirty="0" err="1"/>
              <a:t>yylex</a:t>
            </a:r>
            <a:r>
              <a:rPr lang="en-US" altLang="zh-CN" dirty="0"/>
              <a:t>()</a:t>
            </a:r>
            <a:r>
              <a:rPr lang="zh-CN" altLang="en-US" dirty="0"/>
              <a:t>这一词法分析器，它将返回一个由词法单元和相关属性组成的词法单元</a:t>
            </a:r>
            <a:endParaRPr lang="en-US" altLang="zh-CN" dirty="0"/>
          </a:p>
          <a:p>
            <a:r>
              <a:rPr lang="en-US" altLang="zh-CN" dirty="0"/>
              <a:t>   · </a:t>
            </a:r>
            <a:r>
              <a:rPr lang="zh-CN" altLang="en-US" dirty="0"/>
              <a:t>可以添加错误恢复例程等其他过程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150</a:t>
            </a:fld>
            <a:endParaRPr lang="zh-CN" altLang="en-US"/>
          </a:p>
        </p:txBody>
      </p:sp>
    </p:spTree>
    <p:extLst>
      <p:ext uri="{BB962C8B-B14F-4D97-AF65-F5344CB8AC3E}">
        <p14:creationId xmlns:p14="http://schemas.microsoft.com/office/powerpoint/2010/main" val="280054331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翻译规则</a:t>
            </a:r>
            <a:endParaRPr lang="en-US" altLang="zh-CN" dirty="0"/>
          </a:p>
          <a:p>
            <a:r>
              <a:rPr lang="zh-CN" altLang="en-US" dirty="0"/>
              <a:t>第一个产生式头符号被视为开始符号</a:t>
            </a:r>
            <a:endParaRPr lang="en-US" altLang="zh-CN" dirty="0"/>
          </a:p>
          <a:p>
            <a:r>
              <a:rPr lang="zh-CN" altLang="en-US" dirty="0"/>
              <a:t>一个语义动作是一个</a:t>
            </a:r>
            <a:r>
              <a:rPr lang="en-US" altLang="zh-CN" dirty="0"/>
              <a:t>C</a:t>
            </a:r>
            <a:r>
              <a:rPr lang="zh-CN" altLang="en-US" dirty="0"/>
              <a:t>语句的序列</a:t>
            </a:r>
            <a:endParaRPr lang="en-US" altLang="zh-CN" dirty="0"/>
          </a:p>
          <a:p>
            <a:r>
              <a:rPr lang="en-US" altLang="zh-CN" dirty="0"/>
              <a:t>   · $$</a:t>
            </a:r>
            <a:r>
              <a:rPr lang="zh-CN" altLang="en-US" dirty="0"/>
              <a:t>表示和相应产生时头部的非终结符关联的属性值</a:t>
            </a:r>
            <a:endParaRPr lang="en-US" altLang="zh-CN" dirty="0"/>
          </a:p>
          <a:p>
            <a:r>
              <a:rPr lang="en-US" altLang="zh-CN" dirty="0"/>
              <a:t>   · $</a:t>
            </a:r>
            <a:r>
              <a:rPr lang="en-US" altLang="zh-CN" dirty="0" err="1"/>
              <a:t>i</a:t>
            </a:r>
            <a:r>
              <a:rPr lang="zh-CN" altLang="en-US" dirty="0"/>
              <a:t>表示和相应产生式体中第</a:t>
            </a:r>
            <a:r>
              <a:rPr lang="en-US" altLang="zh-CN" dirty="0" err="1"/>
              <a:t>i</a:t>
            </a:r>
            <a:r>
              <a:rPr lang="zh-CN" altLang="en-US" dirty="0"/>
              <a:t>个文法符号关联的属性值</a:t>
            </a:r>
            <a:endParaRPr lang="en-US" altLang="zh-CN" dirty="0"/>
          </a:p>
          <a:p>
            <a:r>
              <a:rPr lang="zh-CN" altLang="en-US" dirty="0"/>
              <a:t>当我们按照一个产生式归约时就会执行盒盖产生式相关联的语义动作</a:t>
            </a:r>
            <a:endParaRPr lang="en-US" altLang="zh-CN" dirty="0"/>
          </a:p>
          <a:p>
            <a:r>
              <a:rPr lang="en-US" altLang="zh-CN" dirty="0"/>
              <a:t>   · </a:t>
            </a:r>
            <a:r>
              <a:rPr lang="zh-CN" altLang="en-US" dirty="0"/>
              <a:t>我们通常根据</a:t>
            </a:r>
            <a:r>
              <a:rPr lang="en-US" altLang="zh-CN" dirty="0"/>
              <a:t>$</a:t>
            </a:r>
            <a:r>
              <a:rPr lang="en-US" altLang="zh-CN" dirty="0" err="1"/>
              <a:t>i</a:t>
            </a:r>
            <a:r>
              <a:rPr lang="zh-CN" altLang="en-US" dirty="0"/>
              <a:t>的值来计算</a:t>
            </a:r>
            <a:r>
              <a:rPr lang="en-US" altLang="zh-CN" dirty="0"/>
              <a:t>$$</a:t>
            </a:r>
            <a:r>
              <a:rPr lang="zh-CN" altLang="en-US" dirty="0"/>
              <a:t>的值</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151</a:t>
            </a:fld>
            <a:endParaRPr lang="zh-CN" altLang="en-US"/>
          </a:p>
        </p:txBody>
      </p:sp>
    </p:spTree>
    <p:extLst>
      <p:ext uri="{BB962C8B-B14F-4D97-AF65-F5344CB8AC3E}">
        <p14:creationId xmlns:p14="http://schemas.microsoft.com/office/powerpoint/2010/main" val="2149795360"/>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Yacc</a:t>
            </a:r>
            <a:r>
              <a:rPr lang="zh-CN" altLang="en-US" dirty="0"/>
              <a:t>的冲突解决</a:t>
            </a:r>
            <a:endParaRPr lang="en-US" altLang="zh-CN" dirty="0"/>
          </a:p>
          <a:p>
            <a:r>
              <a:rPr lang="zh-CN" altLang="en-US" dirty="0"/>
              <a:t>默认策略：</a:t>
            </a:r>
            <a:endParaRPr lang="en-US" altLang="zh-CN" dirty="0"/>
          </a:p>
          <a:p>
            <a:r>
              <a:rPr lang="en-US" altLang="zh-CN" dirty="0"/>
              <a:t>   · </a:t>
            </a:r>
            <a:r>
              <a:rPr lang="zh-CN" altLang="en-US" dirty="0"/>
              <a:t>移入</a:t>
            </a:r>
            <a:r>
              <a:rPr lang="en-US" altLang="zh-CN" dirty="0"/>
              <a:t>/</a:t>
            </a:r>
            <a:r>
              <a:rPr lang="zh-CN" altLang="en-US" dirty="0"/>
              <a:t>归约冲突：始终移入</a:t>
            </a:r>
            <a:endParaRPr lang="en-US" altLang="zh-CN" dirty="0"/>
          </a:p>
          <a:p>
            <a:r>
              <a:rPr lang="en-US" altLang="zh-CN" dirty="0"/>
              <a:t>   · </a:t>
            </a:r>
            <a:r>
              <a:rPr lang="zh-CN" altLang="en-US" dirty="0"/>
              <a:t>归约</a:t>
            </a:r>
            <a:r>
              <a:rPr lang="en-US" altLang="zh-CN" dirty="0"/>
              <a:t>/</a:t>
            </a:r>
            <a:r>
              <a:rPr lang="zh-CN" altLang="en-US" dirty="0"/>
              <a:t>归约冲突：归约第一个列出的产生式</a:t>
            </a:r>
            <a:endParaRPr lang="en-US" altLang="zh-CN" dirty="0"/>
          </a:p>
          <a:p>
            <a:r>
              <a:rPr lang="zh-CN" altLang="en-US" dirty="0"/>
              <a:t>指定终结符的优先级和结合性：</a:t>
            </a:r>
            <a:endParaRPr lang="en-US" altLang="zh-CN" dirty="0"/>
          </a:p>
          <a:p>
            <a:r>
              <a:rPr lang="en-US" altLang="zh-CN" dirty="0"/>
              <a:t>   · </a:t>
            </a:r>
            <a:r>
              <a:rPr lang="zh-CN" altLang="en-US" dirty="0"/>
              <a:t>结核性：</a:t>
            </a:r>
            <a:r>
              <a:rPr lang="en-US" altLang="zh-CN" dirty="0"/>
              <a:t>%left</a:t>
            </a:r>
            <a:r>
              <a:rPr lang="zh-CN" altLang="en-US" dirty="0"/>
              <a:t>、</a:t>
            </a:r>
            <a:r>
              <a:rPr lang="en-US" altLang="zh-CN" dirty="0"/>
              <a:t>%right</a:t>
            </a:r>
            <a:r>
              <a:rPr lang="zh-CN" altLang="en-US" dirty="0"/>
              <a:t>、</a:t>
            </a:r>
            <a:r>
              <a:rPr lang="en-US" altLang="zh-CN" dirty="0"/>
              <a:t>%</a:t>
            </a:r>
            <a:r>
              <a:rPr lang="en-US" altLang="zh-CN" dirty="0" err="1"/>
              <a:t>nonassoc</a:t>
            </a:r>
            <a:endParaRPr lang="en-US" altLang="zh-CN" dirty="0"/>
          </a:p>
          <a:p>
            <a:r>
              <a:rPr lang="en-US" altLang="zh-CN" dirty="0"/>
              <a:t>   · </a:t>
            </a:r>
            <a:r>
              <a:rPr lang="zh-CN" altLang="en-US" dirty="0"/>
              <a:t>移入𝒂</a:t>
            </a:r>
            <a:r>
              <a:rPr lang="en-US" altLang="zh-CN" dirty="0"/>
              <a:t>/</a:t>
            </a:r>
            <a:r>
              <a:rPr lang="zh-CN" altLang="en-US" dirty="0"/>
              <a:t>归约𝑨 → 𝑎 冲突：比较的优先级𝑎 和𝐴 →𝛼 （优先级不够时使用结合性）</a:t>
            </a:r>
            <a:endParaRPr lang="en-US" altLang="zh-CN" dirty="0"/>
          </a:p>
          <a:p>
            <a:r>
              <a:rPr lang="en-US" altLang="zh-CN" dirty="0"/>
              <a:t>      · </a:t>
            </a:r>
            <a:r>
              <a:rPr lang="zh-CN" altLang="en-US" dirty="0"/>
              <a:t>终结符的声明顺序决定了它们的优先级</a:t>
            </a:r>
            <a:endParaRPr lang="en-US" altLang="zh-CN" dirty="0"/>
          </a:p>
          <a:p>
            <a:r>
              <a:rPr lang="en-US" altLang="zh-CN" dirty="0"/>
              <a:t>      · </a:t>
            </a:r>
            <a:r>
              <a:rPr lang="zh-CN" altLang="en-US" dirty="0"/>
              <a:t>一个产生式的优先级等于它最右边终结符的优先级。也可以使用</a:t>
            </a:r>
            <a:r>
              <a:rPr lang="en-US" altLang="zh-CN" dirty="0"/>
              <a:t>%</a:t>
            </a:r>
            <a:r>
              <a:rPr lang="en-US" altLang="zh-CN" dirty="0" err="1"/>
              <a:t>prec</a:t>
            </a:r>
            <a:r>
              <a:rPr lang="en-US" altLang="zh-CN" dirty="0"/>
              <a:t>&lt;terminal&gt;</a:t>
            </a:r>
            <a:r>
              <a:rPr lang="zh-CN" altLang="en-US" dirty="0"/>
              <a:t>指定，它将产生式的优先级定义为与终结符相同</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153</a:t>
            </a:fld>
            <a:endParaRPr lang="zh-CN" altLang="en-US"/>
          </a:p>
        </p:txBody>
      </p:sp>
    </p:spTree>
    <p:extLst>
      <p:ext uri="{BB962C8B-B14F-4D97-AF65-F5344CB8AC3E}">
        <p14:creationId xmlns:p14="http://schemas.microsoft.com/office/powerpoint/2010/main" val="328910888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Yacc</a:t>
            </a:r>
            <a:r>
              <a:rPr lang="zh-CN" altLang="en-US" dirty="0"/>
              <a:t>的错误恢复</a:t>
            </a:r>
            <a:endParaRPr lang="en-US" altLang="zh-CN" dirty="0"/>
          </a:p>
          <a:p>
            <a:r>
              <a:rPr lang="zh-CN" altLang="en-US" dirty="0"/>
              <a:t>在</a:t>
            </a:r>
            <a:r>
              <a:rPr lang="en-US" altLang="zh-CN" dirty="0" err="1"/>
              <a:t>Yacc</a:t>
            </a:r>
            <a:r>
              <a:rPr lang="zh-CN" altLang="en-US" dirty="0"/>
              <a:t>中，错误恢复使用一种错误产生式的形式：</a:t>
            </a:r>
            <a:endParaRPr lang="en-US" altLang="zh-CN" dirty="0"/>
          </a:p>
          <a:p>
            <a:r>
              <a:rPr lang="en-US" altLang="zh-CN" dirty="0"/>
              <a:t>   · </a:t>
            </a:r>
            <a:r>
              <a:rPr lang="zh-CN" altLang="en-US" dirty="0"/>
              <a:t>一般形式：𝐴 → 𝐞𝐫𝐫𝐨𝐫 𝛼</a:t>
            </a:r>
            <a:endParaRPr lang="en-US" altLang="zh-CN" dirty="0"/>
          </a:p>
          <a:p>
            <a:r>
              <a:rPr lang="en-US" altLang="zh-CN" dirty="0"/>
              <a:t>   · </a:t>
            </a:r>
            <a:r>
              <a:rPr lang="zh-CN" altLang="en-US" dirty="0"/>
              <a:t>用户可以决定哪些非终结符（例如，生成表达式、语句、块等的非终结符）将具有错误产生式</a:t>
            </a:r>
            <a:endParaRPr lang="en-US" altLang="zh-CN" dirty="0"/>
          </a:p>
          <a:p>
            <a:r>
              <a:rPr lang="zh-CN" altLang="en-US" dirty="0"/>
              <a:t>错误示例：𝒔𝒕𝒎𝒕 → 𝐞𝐫𝐫𝐨𝐫 </a:t>
            </a:r>
            <a:r>
              <a:rPr lang="en-US" altLang="zh-CN" dirty="0"/>
              <a:t>;</a:t>
            </a:r>
          </a:p>
          <a:p>
            <a:r>
              <a:rPr lang="en-US" altLang="zh-CN" dirty="0"/>
              <a:t>    · </a:t>
            </a:r>
            <a:r>
              <a:rPr lang="zh-CN" altLang="en-US" dirty="0"/>
              <a:t>该错误产生式规定当语法分析器遇到错误时，它要跳到下一个分号之后，并假设已经找到一条语句</a:t>
            </a:r>
            <a:endParaRPr lang="en-US" altLang="zh-CN" dirty="0"/>
          </a:p>
          <a:p>
            <a:r>
              <a:rPr lang="en-US" altLang="zh-CN" dirty="0"/>
              <a:t>    · </a:t>
            </a:r>
            <a:r>
              <a:rPr lang="zh-CN" altLang="en-US" dirty="0"/>
              <a:t>将调用错误产生式的语义动作不需要处理输入，只需生成诊断消息</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154</a:t>
            </a:fld>
            <a:endParaRPr lang="zh-CN" altLang="en-US"/>
          </a:p>
        </p:txBody>
      </p:sp>
    </p:spTree>
    <p:extLst>
      <p:ext uri="{BB962C8B-B14F-4D97-AF65-F5344CB8AC3E}">
        <p14:creationId xmlns:p14="http://schemas.microsoft.com/office/powerpoint/2010/main" val="21473878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hasCustomPrompt="1"/>
          </p:nvPr>
        </p:nvSpPr>
        <p:spPr bwMode="auto">
          <a:xfrm>
            <a:off x="1143000" y="1122363"/>
            <a:ext cx="6858000" cy="2387600"/>
          </a:xfrm>
        </p:spPr>
        <p:txBody>
          <a:bodyPr anchor="b"/>
          <a:lstStyle>
            <a:lvl1pPr algn="ctr">
              <a:defRPr sz="6000" b="0" i="0">
                <a:latin typeface="Ubuntu Mono derivative Powerlin"/>
                <a:cs typeface="Courier New"/>
              </a:defRPr>
            </a:lvl1pPr>
          </a:lstStyle>
          <a:p>
            <a:pPr>
              <a:defRPr/>
            </a:pPr>
            <a:r>
              <a:rPr lang="en-US"/>
              <a:t>Chapter</a:t>
            </a:r>
            <a:r>
              <a:rPr lang="zh-CN"/>
              <a:t> </a:t>
            </a:r>
            <a:r>
              <a:rPr lang="en-US"/>
              <a:t>1: Introduction</a:t>
            </a:r>
            <a:endParaRPr/>
          </a:p>
        </p:txBody>
      </p:sp>
      <p:sp>
        <p:nvSpPr>
          <p:cNvPr id="3" name="Subtitle 2"/>
          <p:cNvSpPr>
            <a:spLocks noGrp="1"/>
          </p:cNvSpPr>
          <p:nvPr>
            <p:ph type="subTitle" idx="1"/>
          </p:nvPr>
        </p:nvSpPr>
        <p:spPr bwMode="auto">
          <a:xfrm>
            <a:off x="1143000" y="3602038"/>
            <a:ext cx="6858000" cy="1655762"/>
          </a:xfrm>
        </p:spPr>
        <p:txBody>
          <a:bodyPr/>
          <a:lstStyle>
            <a:lvl1pPr marL="0" indent="0" algn="ctr">
              <a:buNone/>
              <a:defRPr sz="2400">
                <a:latin typeface="Ubuntu Mono derivative Powerli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endParaRPr lang="en-US"/>
          </a:p>
          <a:p>
            <a:pPr>
              <a:defRPr/>
            </a:pPr>
            <a:r>
              <a:rPr lang="en-US"/>
              <a:t>Yanhui Guo</a:t>
            </a:r>
            <a:endParaRP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pic>
        <p:nvPicPr>
          <p:cNvPr id="7" name="Picture 7" descr="A picture containing text, font, logo, symbol&#10;&#10;Description automatically generated">
            <a:extLst>
              <a:ext uri="{FF2B5EF4-FFF2-40B4-BE49-F238E27FC236}">
                <a16:creationId xmlns:a16="http://schemas.microsoft.com/office/drawing/2014/main" id="{782B8BB1-B0D2-C76F-8E59-FA264C6B0E54}"/>
              </a:ext>
            </a:extLst>
          </p:cNvPr>
          <p:cNvPicPr>
            <a:picLocks noChangeAspect="1"/>
          </p:cNvPicPr>
          <p:nvPr userDrawn="1"/>
        </p:nvPicPr>
        <p:blipFill>
          <a:blip r:embed="rId2"/>
          <a:stretch/>
        </p:blipFill>
        <p:spPr bwMode="auto">
          <a:xfrm>
            <a:off x="0" y="0"/>
            <a:ext cx="3543024" cy="1235110"/>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Outline</a:t>
            </a:r>
            <a:endParaRPr/>
          </a:p>
        </p:txBody>
      </p:sp>
      <p:sp>
        <p:nvSpPr>
          <p:cNvPr id="3" name="Content Placeholder 2"/>
          <p:cNvSpPr>
            <a:spLocks noGrp="1"/>
          </p:cNvSpPr>
          <p:nvPr>
            <p:ph idx="1" hasCustomPrompt="1"/>
          </p:nvPr>
        </p:nvSpPr>
        <p:spPr bwMode="auto"/>
        <p:txBody>
          <a:bodyPr/>
          <a:lstStyle>
            <a:lvl1pPr>
              <a:lnSpc>
                <a:spcPct val="150000"/>
              </a:lnSpc>
              <a:defRPr>
                <a:latin typeface="Ubuntu Mono derivative Powerlin"/>
              </a:defRPr>
            </a:lvl1pPr>
          </a:lstStyle>
          <a:p>
            <a:pPr lvl="0">
              <a:defRPr/>
            </a:pPr>
            <a:r>
              <a:rPr lang="en-US"/>
              <a:t>One</a:t>
            </a:r>
            <a:endParaRPr/>
          </a:p>
          <a:p>
            <a:pPr lvl="0">
              <a:defRPr/>
            </a:pPr>
            <a:r>
              <a:t>Two</a:t>
            </a:r>
          </a:p>
          <a:p>
            <a:pPr lvl="0">
              <a:defRPr/>
            </a:pPr>
            <a:r>
              <a:t>Three</a:t>
            </a:r>
          </a:p>
          <a:p>
            <a:pPr lvl="0">
              <a:defRPr/>
            </a:pPr>
            <a:r>
              <a:t>Four</a:t>
            </a: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Title</a:t>
            </a:r>
            <a:endParaRPr/>
          </a:p>
        </p:txBody>
      </p:sp>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Title Only">
    <p:spTree>
      <p:nvGrpSpPr>
        <p:cNvPr id="1" name=""/>
        <p:cNvGrpSpPr/>
        <p:nvPr/>
      </p:nvGrpSpPr>
      <p:grpSpPr bwMode="auto">
        <a:xfrm>
          <a:off x="0" y="0"/>
          <a:ext cx="0" cy="0"/>
          <a:chOff x="0" y="0"/>
          <a:chExt cx="0" cy="0"/>
        </a:xfrm>
      </p:grpSpPr>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28650" y="365126"/>
            <a:ext cx="78867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3"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2"/>
          </p:nvPr>
        </p:nvSpPr>
        <p:spPr bwMode="auto">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Ubuntu Mono derivative Powerlin"/>
              </a:defRPr>
            </a:lvl1pPr>
          </a:lstStyle>
          <a:p>
            <a:pPr>
              <a:defRPr/>
            </a:pPr>
            <a:r>
              <a:rPr lang="en-US" altLang="zh-CN"/>
              <a:t>Fall 2024</a:t>
            </a:r>
            <a:endParaRPr/>
          </a:p>
        </p:txBody>
      </p:sp>
      <p:sp>
        <p:nvSpPr>
          <p:cNvPr id="5" name="Footer Placeholder 4"/>
          <p:cNvSpPr>
            <a:spLocks noGrp="1"/>
          </p:cNvSpPr>
          <p:nvPr>
            <p:ph type="ftr" sz="quarter" idx="3"/>
          </p:nvPr>
        </p:nvSpPr>
        <p:spPr bwMode="auto">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Ubuntu Mono derivative Powerlin"/>
              </a:defRPr>
            </a:lvl1pPr>
          </a:lstStyle>
          <a:p>
            <a:pPr>
              <a:defRPr/>
            </a:pPr>
            <a:r>
              <a:t>BUPT Compilers</a:t>
            </a:r>
          </a:p>
        </p:txBody>
      </p:sp>
      <p:sp>
        <p:nvSpPr>
          <p:cNvPr id="6" name="Slide Number Placeholder 5"/>
          <p:cNvSpPr>
            <a:spLocks noGrp="1"/>
          </p:cNvSpPr>
          <p:nvPr>
            <p:ph type="sldNum" sz="quarter" idx="4"/>
          </p:nvPr>
        </p:nvSpPr>
        <p:spPr bwMode="auto">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FBC720A-3716-234A-B2DF-CBC7E48049F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914400">
        <a:lnSpc>
          <a:spcPct val="90000"/>
        </a:lnSpc>
        <a:spcBef>
          <a:spcPts val="0"/>
        </a:spcBef>
        <a:buNone/>
        <a:defRPr sz="4400">
          <a:solidFill>
            <a:schemeClr val="tx1"/>
          </a:solidFill>
          <a:latin typeface="Ubuntu Mono derivative Powerlin"/>
          <a:ea typeface="+mj-ea"/>
          <a:cs typeface="+mj-cs"/>
        </a:defRPr>
      </a:lvl1pPr>
    </p:titleStyle>
    <p:bodyStyle>
      <a:lvl1pPr marL="228600" indent="-228600" algn="l" defTabSz="914400">
        <a:lnSpc>
          <a:spcPct val="150000"/>
        </a:lnSpc>
        <a:spcBef>
          <a:spcPts val="1000"/>
        </a:spcBef>
        <a:buFont typeface="Arial"/>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loup-vaillant.fr/tutorials/earley-parsing/"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file:///D:\work\&#25945;&#23398;\&#25480;&#35838;\&#32534;&#35793;&#21407;&#29702;&#19982;&#25216;&#26415;&#65288;&#26412;&#65289;\&#35838;&#31243;&#24314;&#35774;\&#32534;&#35793;&#21407;&#29702;&#35838;&#20214;\&#21704;&#24037;&#22823;\&#20998;&#31456;&#35838;&#20214;\&#26032;&#24314;&#25991;&#20214;&#22841;\&#31532;02&#35762;%20&#31243;&#24207;&#35774;&#35745;&#35821;&#35328;&#21450;&#20854;&#25991;&#27861;.pptx#-1,12,&#31526;&#21495;&#32422;&#23450;  "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jpg"/></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jpg"/></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jpg"/><Relationship Id="rId4" Type="http://schemas.openxmlformats.org/officeDocument/2006/relationships/image" Target="../media/image20.jpg"/></Relationships>
</file>

<file path=ppt/slides/_rels/slide2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4.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jpg"/><Relationship Id="rId9"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jpg"/><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48.jp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48.jp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52.jpg"/></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7.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8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0.xml"/><Relationship Id="rId1" Type="http://schemas.openxmlformats.org/officeDocument/2006/relationships/slideLayout" Target="../slideLayouts/slideLayout4.xml"/><Relationship Id="rId4" Type="http://schemas.openxmlformats.org/officeDocument/2006/relationships/hyperlink" Target="file:///D:\work\&#25945;&#23398;\&#25480;&#35838;\&#32534;&#35793;&#21407;&#29702;&#19982;&#25216;&#26415;&#65288;&#26412;&#65289;\&#35838;&#31243;&#24314;&#35774;\&#32534;&#35793;&#21407;&#29702;&#35838;&#20214;\&#21704;&#24037;&#22823;\&#20998;&#31456;&#35838;&#20214;\&#26032;&#24314;&#25991;&#20214;&#22841;\&#31532;05&#35762;%20&#35821;&#27861;&#20998;&#26512;2.pptx#-1,23,PowerPoint &#28436;&#31034;&#25991;&#31295;" TargetMode="External"/></Relationships>
</file>

<file path=ppt/slides/_rels/slide8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1.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59.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3.xml"/><Relationship Id="rId1" Type="http://schemas.openxmlformats.org/officeDocument/2006/relationships/slideLayout" Target="../slideLayouts/slideLayout4.xml"/><Relationship Id="rId4" Type="http://schemas.openxmlformats.org/officeDocument/2006/relationships/image" Target="../media/image48.jpg"/></Relationships>
</file>

<file path=ppt/slides/_rels/slide8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5.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48.jpg"/></Relationships>
</file>

<file path=ppt/slides/_rels/slide9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6.xml"/><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9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7.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90.xml"/><Relationship Id="rId1" Type="http://schemas.openxmlformats.org/officeDocument/2006/relationships/slideLayout" Target="../slideLayouts/slideLayout4.xml"/><Relationship Id="rId4" Type="http://schemas.openxmlformats.org/officeDocument/2006/relationships/image" Target="../media/image48.jpg"/></Relationships>
</file>

<file path=ppt/slides/_rels/slide96.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91.xml"/><Relationship Id="rId1" Type="http://schemas.openxmlformats.org/officeDocument/2006/relationships/slideLayout" Target="../slideLayouts/slideLayout4.xml"/><Relationship Id="rId4" Type="http://schemas.openxmlformats.org/officeDocument/2006/relationships/image" Target="../media/image70.jpg"/></Relationships>
</file>

<file path=ppt/slides/_rels/slide97.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92.xml"/><Relationship Id="rId1" Type="http://schemas.openxmlformats.org/officeDocument/2006/relationships/slideLayout" Target="../slideLayouts/slideLayout4.xml"/><Relationship Id="rId4" Type="http://schemas.openxmlformats.org/officeDocument/2006/relationships/image" Target="../media/image70.jp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94.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72.jpg"/></Relationships>
</file>

<file path=ppt/slides/_rels/slide100.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95.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99.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48.jp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105.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108.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110.xml"/><Relationship Id="rId1" Type="http://schemas.openxmlformats.org/officeDocument/2006/relationships/slideLayout" Target="../slideLayouts/slideLayout4.xml"/><Relationship Id="rId5" Type="http://schemas.openxmlformats.org/officeDocument/2006/relationships/image" Target="../media/image80.jpg"/><Relationship Id="rId4" Type="http://schemas.openxmlformats.org/officeDocument/2006/relationships/image" Target="../media/image79.png"/></Relationships>
</file>

<file path=ppt/slides/_rels/slide118.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111.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image" Target="../media/image80.jpg"/><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image" Target="../media/image84.jpg"/><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notesSlide" Target="../notesSlides/notesSlide118.xml"/><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20.xml"/><Relationship Id="rId1" Type="http://schemas.openxmlformats.org/officeDocument/2006/relationships/slideLayout" Target="../slideLayouts/slideLayout4.xml"/><Relationship Id="rId4" Type="http://schemas.openxmlformats.org/officeDocument/2006/relationships/image" Target="../media/image87.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notesSlide" Target="../notesSlides/notesSlide123.xml"/><Relationship Id="rId1" Type="http://schemas.openxmlformats.org/officeDocument/2006/relationships/slideLayout" Target="../slideLayouts/slideLayout4.xml"/><Relationship Id="rId4" Type="http://schemas.openxmlformats.org/officeDocument/2006/relationships/image" Target="../media/image89.pn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notesSlide" Target="../notesSlides/notesSlide125.xml"/><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2" Type="http://schemas.openxmlformats.org/officeDocument/2006/relationships/image" Target="../media/image92.jpg"/><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2" Type="http://schemas.openxmlformats.org/officeDocument/2006/relationships/image" Target="../media/image93.jpg"/><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3" Type="http://schemas.openxmlformats.org/officeDocument/2006/relationships/hyperlink" Target="file:///D:\work\&#25945;&#23398;\&#25480;&#35838;\&#32534;&#35793;&#21407;&#29702;&#19982;&#25216;&#26415;&#65288;&#26412;&#65289;\&#35838;&#31243;&#24314;&#35774;\&#32534;&#35793;&#21407;&#29702;&#35838;&#20214;\&#21704;&#24037;&#22823;\&#20998;&#31456;&#35838;&#20214;\&#31532;7&#35762;%20&#35821;&#27861;&#20998;&#26512;_4.ppt#-1,32,&#21512;&#24182;&#21516;&#24515;&#39033;&#38598;&#21518;&#65292;&#34429;&#28982;&#19981;&#20135;&#29983;&#20914;&#31361;&#65292;&#20294;&#21487;&#33021;&#20250; &#25512;&#36831;&#38169;&#35823;&#30340;&#21457;&#29616;" TargetMode="External"/><Relationship Id="rId2" Type="http://schemas.openxmlformats.org/officeDocument/2006/relationships/notesSlide" Target="../notesSlides/notesSlide131.xml"/><Relationship Id="rId1" Type="http://schemas.openxmlformats.org/officeDocument/2006/relationships/slideLayout" Target="../slideLayouts/slideLayout4.xml"/><Relationship Id="rId4" Type="http://schemas.openxmlformats.org/officeDocument/2006/relationships/image" Target="../media/image94.jpg"/></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3" Type="http://schemas.openxmlformats.org/officeDocument/2006/relationships/image" Target="../media/image95.jpg"/><Relationship Id="rId2" Type="http://schemas.openxmlformats.org/officeDocument/2006/relationships/notesSlide" Target="../notesSlides/notesSlide133.xml"/><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135.xml"/><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image" Target="../media/image97.jpg"/><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Subtitle 2"/>
          <p:cNvSpPr>
            <a:spLocks noGrp="1"/>
          </p:cNvSpPr>
          <p:nvPr>
            <p:ph type="subTitle" idx="1"/>
          </p:nvPr>
        </p:nvSpPr>
        <p:spPr bwMode="auto"/>
        <p:txBody>
          <a:bodyPr>
            <a:normAutofit/>
          </a:bodyPr>
          <a:lstStyle/>
          <a:p>
            <a:pPr>
              <a:defRPr/>
            </a:pPr>
            <a:r>
              <a:rPr lang="en-US" altLang="zh-CN" sz="3200" dirty="0" err="1">
                <a:solidFill>
                  <a:srgbClr val="000000"/>
                </a:solidFill>
                <a:latin typeface="Palatino Linotype"/>
                <a:ea typeface="Palatino Linotype"/>
                <a:cs typeface="Palatino Linotype"/>
              </a:rPr>
              <a:t>Yanhui</a:t>
            </a:r>
            <a:r>
              <a:rPr lang="en-US" altLang="zh-CN" sz="3200" dirty="0">
                <a:solidFill>
                  <a:srgbClr val="000000"/>
                </a:solidFill>
                <a:latin typeface="Palatino Linotype"/>
                <a:ea typeface="Palatino Linotype"/>
                <a:cs typeface="Palatino Linotype"/>
              </a:rPr>
              <a:t> Guo</a:t>
            </a:r>
            <a:endParaRPr lang="zh-CN" altLang="en-US" sz="3200" dirty="0">
              <a:solidFill>
                <a:srgbClr val="000000"/>
              </a:solidFill>
              <a:latin typeface="Palatino Linotype"/>
              <a:ea typeface="Palatino Linotype"/>
              <a:cs typeface="Palatino Linotype"/>
            </a:endParaRPr>
          </a:p>
          <a:p>
            <a:pPr>
              <a:defRPr/>
            </a:pPr>
            <a:r>
              <a:rPr lang="en-US" sz="3200" spc="4" dirty="0">
                <a:solidFill>
                  <a:srgbClr val="000000"/>
                </a:solidFill>
                <a:latin typeface="Palatino Linotype"/>
                <a:ea typeface="Palatino Linotype"/>
                <a:cs typeface="Palatino Linotype"/>
              </a:rPr>
              <a:t> </a:t>
            </a:r>
            <a:r>
              <a:rPr lang="en-US" sz="3200" spc="-4" dirty="0">
                <a:solidFill>
                  <a:srgbClr val="000000"/>
                </a:solidFill>
                <a:latin typeface="Palatino Linotype"/>
                <a:ea typeface="Palatino Linotype"/>
                <a:cs typeface="Palatino Linotype"/>
              </a:rPr>
              <a:t>yhguo@bupt.edu.cn</a:t>
            </a:r>
            <a:endParaRPr dirty="0"/>
          </a:p>
        </p:txBody>
      </p:sp>
      <p:sp>
        <p:nvSpPr>
          <p:cNvPr id="1688287224" name="Slide Number Placeholder 5"/>
          <p:cNvSpPr>
            <a:spLocks noGrp="1"/>
          </p:cNvSpPr>
          <p:nvPr>
            <p:ph type="sldNum" sz="quarter" idx="12"/>
          </p:nvPr>
        </p:nvSpPr>
        <p:spPr bwMode="auto"/>
        <p:txBody>
          <a:bodyPr/>
          <a:lstStyle/>
          <a:p>
            <a:pPr>
              <a:defRPr/>
            </a:pPr>
            <a:fld id="{FB84656F-ACB0-5C0A-4CED-E490BACA254F}" type="slidenum">
              <a:rPr/>
              <a:t>1</a:t>
            </a:fld>
            <a:endParaRPr/>
          </a:p>
        </p:txBody>
      </p:sp>
      <p:sp>
        <p:nvSpPr>
          <p:cNvPr id="1341913610"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83812125"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8" name="object 2">
            <a:extLst>
              <a:ext uri="{FF2B5EF4-FFF2-40B4-BE49-F238E27FC236}">
                <a16:creationId xmlns:a16="http://schemas.microsoft.com/office/drawing/2014/main" id="{C7517EB6-2384-4B0F-E333-0EE2A8963860}"/>
              </a:ext>
            </a:extLst>
          </p:cNvPr>
          <p:cNvSpPr txBox="1"/>
          <p:nvPr/>
        </p:nvSpPr>
        <p:spPr>
          <a:xfrm>
            <a:off x="892251" y="2052015"/>
            <a:ext cx="7359015" cy="751488"/>
          </a:xfrm>
          <a:prstGeom prst="rect">
            <a:avLst/>
          </a:prstGeom>
        </p:spPr>
        <p:txBody>
          <a:bodyPr vert="horz" wrap="square" lIns="0" tIns="12700" rIns="0" bIns="0" rtlCol="0">
            <a:spAutoFit/>
          </a:bodyPr>
          <a:lstStyle/>
          <a:p>
            <a:pPr marL="12700">
              <a:lnSpc>
                <a:spcPct val="100000"/>
              </a:lnSpc>
              <a:spcBef>
                <a:spcPts val="100"/>
              </a:spcBef>
            </a:pPr>
            <a:r>
              <a:rPr kumimoji="0" lang="en-US" altLang="zh-CN" sz="4800" b="1" i="0" u="none" strike="noStrike" kern="0" cap="none" spc="-5" normalizeH="0" baseline="0" noProof="0" dirty="0">
                <a:ln>
                  <a:noFill/>
                </a:ln>
                <a:solidFill>
                  <a:srgbClr val="262626"/>
                </a:solidFill>
                <a:effectLst/>
                <a:uLnTx/>
                <a:uFillTx/>
                <a:latin typeface="Times New Roman"/>
                <a:ea typeface="+mj-ea"/>
                <a:cs typeface="Times New Roman"/>
              </a:rPr>
              <a:t>Chapter</a:t>
            </a:r>
            <a:r>
              <a:rPr kumimoji="0" lang="en-US" altLang="zh-CN" sz="4800" b="1" i="0" u="none" strike="noStrike" kern="0" cap="none" spc="-105" normalizeH="0" baseline="0" noProof="0" dirty="0">
                <a:ln>
                  <a:noFill/>
                </a:ln>
                <a:solidFill>
                  <a:srgbClr val="262626"/>
                </a:solidFill>
                <a:effectLst/>
                <a:uLnTx/>
                <a:uFillTx/>
                <a:latin typeface="Times New Roman"/>
                <a:ea typeface="+mj-ea"/>
                <a:cs typeface="Times New Roman"/>
              </a:rPr>
              <a:t> </a:t>
            </a:r>
            <a:r>
              <a:rPr kumimoji="0" lang="en-US" altLang="zh-CN" sz="4800" b="1" i="0" u="none" strike="noStrike" kern="0" cap="none" spc="0" normalizeH="0" baseline="0" noProof="0" dirty="0">
                <a:ln>
                  <a:noFill/>
                </a:ln>
                <a:solidFill>
                  <a:srgbClr val="262626"/>
                </a:solidFill>
                <a:effectLst/>
                <a:uLnTx/>
                <a:uFillTx/>
                <a:latin typeface="Times New Roman"/>
                <a:ea typeface="+mj-ea"/>
                <a:cs typeface="Times New Roman"/>
              </a:rPr>
              <a:t>3:</a:t>
            </a:r>
            <a:r>
              <a:rPr kumimoji="0" lang="en-US" altLang="zh-CN" sz="4800" b="1" i="0" u="none" strike="noStrike" kern="0" cap="none" spc="-10" normalizeH="0" baseline="0" noProof="0" dirty="0">
                <a:ln>
                  <a:noFill/>
                </a:ln>
                <a:solidFill>
                  <a:srgbClr val="262626"/>
                </a:solidFill>
                <a:effectLst/>
                <a:uLnTx/>
                <a:uFillTx/>
                <a:latin typeface="Times New Roman"/>
                <a:ea typeface="+mj-ea"/>
                <a:cs typeface="Times New Roman"/>
              </a:rPr>
              <a:t> </a:t>
            </a:r>
            <a:r>
              <a:rPr kumimoji="0" lang="en-US" altLang="zh-CN" sz="4800" b="1" i="0" u="none" strike="noStrike" kern="0" cap="none" spc="0" normalizeH="0" baseline="0" noProof="0" dirty="0">
                <a:ln>
                  <a:noFill/>
                </a:ln>
                <a:solidFill>
                  <a:srgbClr val="262626"/>
                </a:solidFill>
                <a:effectLst/>
                <a:uLnTx/>
                <a:uFillTx/>
                <a:latin typeface="Times New Roman"/>
                <a:ea typeface="+mj-ea"/>
                <a:cs typeface="Times New Roman"/>
              </a:rPr>
              <a:t>Syntax</a:t>
            </a:r>
            <a:r>
              <a:rPr kumimoji="0" lang="en-US" altLang="zh-CN" sz="4800" b="1" i="0" u="none" strike="noStrike" kern="0" cap="none" spc="-270" normalizeH="0" baseline="0" noProof="0" dirty="0">
                <a:ln>
                  <a:noFill/>
                </a:ln>
                <a:solidFill>
                  <a:srgbClr val="262626"/>
                </a:solidFill>
                <a:effectLst/>
                <a:uLnTx/>
                <a:uFillTx/>
                <a:latin typeface="Times New Roman"/>
                <a:ea typeface="+mj-ea"/>
                <a:cs typeface="Times New Roman"/>
              </a:rPr>
              <a:t> </a:t>
            </a:r>
            <a:r>
              <a:rPr kumimoji="0" lang="en-US" altLang="zh-CN" sz="4800" b="1" i="0" u="none" strike="noStrike" kern="0" cap="none" spc="-5" normalizeH="0" baseline="0" noProof="0" dirty="0">
                <a:ln>
                  <a:noFill/>
                </a:ln>
                <a:solidFill>
                  <a:srgbClr val="262626"/>
                </a:solidFill>
                <a:effectLst/>
                <a:uLnTx/>
                <a:uFillTx/>
                <a:latin typeface="Times New Roman"/>
                <a:ea typeface="+mj-ea"/>
                <a:cs typeface="Times New Roman"/>
              </a:rPr>
              <a:t>Analysis</a:t>
            </a:r>
            <a:endParaRPr lang="en-US" sz="5400" dirty="0">
              <a:latin typeface="Palatino Linotype"/>
              <a:cs typeface="Palatino Linotyp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Tree>
    <p:extLst>
      <p:ext uri="{BB962C8B-B14F-4D97-AF65-F5344CB8AC3E}">
        <p14:creationId xmlns:p14="http://schemas.microsoft.com/office/powerpoint/2010/main" val="46969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a:t>
            </a:fld>
            <a:endParaRPr lang="en-US"/>
          </a:p>
        </p:txBody>
      </p:sp>
      <p:sp>
        <p:nvSpPr>
          <p:cNvPr id="9" name="object 2">
            <a:extLst>
              <a:ext uri="{FF2B5EF4-FFF2-40B4-BE49-F238E27FC236}">
                <a16:creationId xmlns:a16="http://schemas.microsoft.com/office/drawing/2014/main" id="{39608D1B-F52F-FD0C-06A9-7B3942901C41}"/>
              </a:ext>
            </a:extLst>
          </p:cNvPr>
          <p:cNvSpPr txBox="1">
            <a:spLocks/>
          </p:cNvSpPr>
          <p:nvPr/>
        </p:nvSpPr>
        <p:spPr>
          <a:xfrm>
            <a:off x="707390" y="541019"/>
            <a:ext cx="4086225" cy="60452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800" b="1" i="0" u="none" strike="noStrike" kern="0" cap="none" spc="-5" normalizeH="0" baseline="0" noProof="0" dirty="0">
                <a:ln>
                  <a:noFill/>
                </a:ln>
                <a:solidFill>
                  <a:sysClr val="windowText" lastClr="000000"/>
                </a:solidFill>
                <a:effectLst/>
                <a:uLnTx/>
                <a:uFillTx/>
                <a:latin typeface="Palatino Linotype"/>
                <a:ea typeface="+mj-ea"/>
              </a:rPr>
              <a:t>Describing</a:t>
            </a:r>
            <a:r>
              <a:rPr kumimoji="0" lang="en-US" sz="3800" b="1" i="0" u="none" strike="noStrike" kern="0" cap="none" spc="-40" normalizeH="0" baseline="0" noProof="0" dirty="0">
                <a:ln>
                  <a:noFill/>
                </a:ln>
                <a:solidFill>
                  <a:sysClr val="windowText" lastClr="000000"/>
                </a:solidFill>
                <a:effectLst/>
                <a:uLnTx/>
                <a:uFillTx/>
                <a:latin typeface="Palatino Linotype"/>
                <a:ea typeface="+mj-ea"/>
              </a:rPr>
              <a:t> </a:t>
            </a:r>
            <a:r>
              <a:rPr kumimoji="0" lang="en-US" sz="3800" b="1" i="0" u="none" strike="noStrike" kern="0" cap="none" spc="-5" normalizeH="0" baseline="0" noProof="0" dirty="0">
                <a:ln>
                  <a:noFill/>
                </a:ln>
                <a:solidFill>
                  <a:sysClr val="windowText" lastClr="000000"/>
                </a:solidFill>
                <a:effectLst/>
                <a:uLnTx/>
                <a:uFillTx/>
                <a:latin typeface="Palatino Linotype"/>
                <a:ea typeface="+mj-ea"/>
              </a:rPr>
              <a:t>Syntax</a:t>
            </a:r>
            <a:endParaRPr kumimoji="0" lang="en-US" sz="38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0" name="object 3">
            <a:extLst>
              <a:ext uri="{FF2B5EF4-FFF2-40B4-BE49-F238E27FC236}">
                <a16:creationId xmlns:a16="http://schemas.microsoft.com/office/drawing/2014/main" id="{5D02EC5D-9D75-531E-019F-521F3296D398}"/>
              </a:ext>
            </a:extLst>
          </p:cNvPr>
          <p:cNvSpPr txBox="1"/>
          <p:nvPr/>
        </p:nvSpPr>
        <p:spPr>
          <a:xfrm>
            <a:off x="656590" y="1507235"/>
            <a:ext cx="7677784" cy="3706495"/>
          </a:xfrm>
          <a:prstGeom prst="rect">
            <a:avLst/>
          </a:prstGeom>
        </p:spPr>
        <p:txBody>
          <a:bodyPr vert="horz" wrap="square" lIns="0" tIns="12700" rIns="0" bIns="0" rtlCol="0">
            <a:spAutoFit/>
          </a:bodyPr>
          <a:lstStyle/>
          <a:p>
            <a:pPr marL="293370" marR="76200" indent="-230504" rtl="0">
              <a:lnSpc>
                <a:spcPct val="115999"/>
              </a:lnSpc>
              <a:spcBef>
                <a:spcPts val="100"/>
              </a:spcBef>
              <a:buFont typeface="Arial MT"/>
              <a:buChar char="•"/>
              <a:tabLst>
                <a:tab pos="293370" algn="l"/>
                <a:tab pos="294005" algn="l"/>
              </a:tabLst>
            </a:pP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syntax</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of</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programming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language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constructs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can</a:t>
            </a:r>
            <a:r>
              <a:rPr sz="2000" kern="1200" dirty="0">
                <a:solidFill>
                  <a:prstClr val="black"/>
                </a:solidFill>
                <a:latin typeface="Palatino Linotype"/>
                <a:cs typeface="Palatino Linotype"/>
              </a:rPr>
              <a:t> be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specified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by </a:t>
            </a:r>
            <a:r>
              <a:rPr sz="2000" kern="1200" spc="-5" dirty="0">
                <a:solidFill>
                  <a:srgbClr val="FF0000"/>
                </a:solidFill>
                <a:latin typeface="Palatino Linotype"/>
                <a:cs typeface="Palatino Linotype"/>
              </a:rPr>
              <a:t>context-free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grammars</a:t>
            </a:r>
            <a:r>
              <a:rPr sz="2000" kern="1200" spc="5" dirty="0">
                <a:solidFill>
                  <a:srgbClr val="FF0000"/>
                </a:solidFill>
                <a:latin typeface="Palatino Linotype"/>
                <a:cs typeface="Palatino Linotype"/>
              </a:rPr>
              <a:t> </a:t>
            </a:r>
            <a:r>
              <a:rPr sz="2000" kern="1200" spc="-5" dirty="0">
                <a:solidFill>
                  <a:prstClr val="black"/>
                </a:solidFill>
                <a:latin typeface="Palatino Linotype"/>
                <a:cs typeface="Palatino Linotype"/>
              </a:rPr>
              <a:t>or </a:t>
            </a:r>
            <a:r>
              <a:rPr sz="2000" kern="1200" dirty="0">
                <a:solidFill>
                  <a:prstClr val="black"/>
                </a:solidFill>
                <a:latin typeface="Palatino Linotype"/>
                <a:cs typeface="Palatino Linotype"/>
              </a:rPr>
              <a:t>BNF </a:t>
            </a:r>
            <a:r>
              <a:rPr sz="2000" kern="1200" spc="-5" dirty="0">
                <a:solidFill>
                  <a:prstClr val="black"/>
                </a:solidFill>
                <a:latin typeface="Palatino Linotype"/>
                <a:cs typeface="Palatino Linotype"/>
              </a:rPr>
              <a:t>(Backus-Naur</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Form) notation</a:t>
            </a:r>
            <a:endParaRPr lang="en-US" sz="1950" kern="1200" baseline="25641" dirty="0">
              <a:solidFill>
                <a:prstClr val="black"/>
              </a:solidFill>
              <a:latin typeface="Palatino Linotype"/>
              <a:cs typeface="Palatino Linotype"/>
            </a:endParaRPr>
          </a:p>
          <a:p>
            <a:pPr marL="749300" marR="55880" lvl="1" indent="-228600" rtl="0">
              <a:lnSpc>
                <a:spcPct val="120000"/>
              </a:lnSpc>
              <a:spcBef>
                <a:spcPts val="1910"/>
              </a:spcBef>
              <a:buFont typeface="Wingdings"/>
              <a:buChar char=""/>
              <a:tabLst>
                <a:tab pos="748665" algn="l"/>
                <a:tab pos="749300" algn="l"/>
              </a:tabLst>
            </a:pPr>
            <a:r>
              <a:rPr lang="en-US" sz="1600" kern="1200" dirty="0">
                <a:solidFill>
                  <a:prstClr val="black"/>
                </a:solidFill>
                <a:latin typeface="Palatino Linotype"/>
                <a:cs typeface="Palatino Linotype"/>
              </a:rPr>
              <a:t>A</a:t>
            </a:r>
            <a:r>
              <a:rPr lang="en-US" sz="1600" kern="1200" spc="-80" dirty="0">
                <a:solidFill>
                  <a:prstClr val="black"/>
                </a:solidFill>
                <a:latin typeface="Palatino Linotype"/>
                <a:cs typeface="Palatino Linotype"/>
              </a:rPr>
              <a:t> </a:t>
            </a:r>
            <a:r>
              <a:rPr lang="en-US" sz="1600" kern="1200" spc="-5" dirty="0">
                <a:solidFill>
                  <a:prstClr val="black"/>
                </a:solidFill>
                <a:latin typeface="Palatino Linotype"/>
                <a:cs typeface="Palatino Linotype"/>
              </a:rPr>
              <a:t>grammar</a:t>
            </a:r>
            <a:r>
              <a:rPr lang="en-US" sz="1600" kern="1200" spc="20" dirty="0">
                <a:solidFill>
                  <a:prstClr val="black"/>
                </a:solidFill>
                <a:latin typeface="Palatino Linotype"/>
                <a:cs typeface="Palatino Linotype"/>
              </a:rPr>
              <a:t> </a:t>
            </a:r>
            <a:r>
              <a:rPr lang="en-US" sz="1600" kern="1200" spc="-10" dirty="0">
                <a:solidFill>
                  <a:prstClr val="black"/>
                </a:solidFill>
                <a:latin typeface="Palatino Linotype"/>
                <a:cs typeface="Palatino Linotype"/>
              </a:rPr>
              <a:t>gives</a:t>
            </a:r>
            <a:r>
              <a:rPr lang="en-US" sz="1600" kern="1200" spc="5" dirty="0">
                <a:solidFill>
                  <a:prstClr val="black"/>
                </a:solidFill>
                <a:latin typeface="Palatino Linotype"/>
                <a:cs typeface="Palatino Linotype"/>
              </a:rPr>
              <a:t> </a:t>
            </a:r>
            <a:r>
              <a:rPr lang="en-US" sz="1600" kern="1200" dirty="0">
                <a:solidFill>
                  <a:prstClr val="black"/>
                </a:solidFill>
                <a:latin typeface="Palatino Linotype"/>
                <a:cs typeface="Palatino Linotype"/>
              </a:rPr>
              <a:t>a</a:t>
            </a:r>
            <a:r>
              <a:rPr lang="en-US" sz="1600" kern="1200" spc="15" dirty="0">
                <a:solidFill>
                  <a:prstClr val="black"/>
                </a:solidFill>
                <a:latin typeface="Palatino Linotype"/>
                <a:cs typeface="Palatino Linotype"/>
              </a:rPr>
              <a:t> </a:t>
            </a:r>
            <a:r>
              <a:rPr lang="en-US" sz="1600" kern="1200" spc="-5" dirty="0">
                <a:solidFill>
                  <a:prstClr val="black"/>
                </a:solidFill>
                <a:latin typeface="Palatino Linotype"/>
                <a:cs typeface="Palatino Linotype"/>
              </a:rPr>
              <a:t>precise,</a:t>
            </a:r>
            <a:r>
              <a:rPr lang="en-US" sz="1600" kern="1200" spc="10" dirty="0">
                <a:solidFill>
                  <a:prstClr val="black"/>
                </a:solidFill>
                <a:latin typeface="Palatino Linotype"/>
                <a:cs typeface="Palatino Linotype"/>
              </a:rPr>
              <a:t> </a:t>
            </a:r>
            <a:r>
              <a:rPr lang="en-US" sz="1600" kern="1200" spc="-15" dirty="0">
                <a:solidFill>
                  <a:prstClr val="black"/>
                </a:solidFill>
                <a:latin typeface="Palatino Linotype"/>
                <a:cs typeface="Palatino Linotype"/>
              </a:rPr>
              <a:t>yet</a:t>
            </a:r>
            <a:r>
              <a:rPr lang="en-US" sz="1600" kern="1200" spc="10" dirty="0">
                <a:solidFill>
                  <a:prstClr val="black"/>
                </a:solidFill>
                <a:latin typeface="Palatino Linotype"/>
                <a:cs typeface="Palatino Linotype"/>
              </a:rPr>
              <a:t> </a:t>
            </a:r>
            <a:r>
              <a:rPr lang="en-US" sz="1600" kern="1200" spc="-5" dirty="0">
                <a:solidFill>
                  <a:prstClr val="black"/>
                </a:solidFill>
                <a:latin typeface="Palatino Linotype"/>
                <a:cs typeface="Palatino Linotype"/>
              </a:rPr>
              <a:t>easy-to-understand,</a:t>
            </a:r>
            <a:r>
              <a:rPr lang="en-US" sz="1600" kern="1200" spc="10" dirty="0">
                <a:solidFill>
                  <a:prstClr val="black"/>
                </a:solidFill>
                <a:latin typeface="Palatino Linotype"/>
                <a:cs typeface="Palatino Linotype"/>
              </a:rPr>
              <a:t> </a:t>
            </a:r>
            <a:r>
              <a:rPr lang="en-US" sz="1600" kern="1200" spc="-5" dirty="0">
                <a:solidFill>
                  <a:srgbClr val="FF0000"/>
                </a:solidFill>
                <a:latin typeface="Palatino Linotype"/>
                <a:cs typeface="Palatino Linotype"/>
              </a:rPr>
              <a:t>syntactic</a:t>
            </a:r>
            <a:r>
              <a:rPr lang="en-US" sz="1600" kern="1200" spc="10" dirty="0">
                <a:solidFill>
                  <a:srgbClr val="FF0000"/>
                </a:solidFill>
                <a:latin typeface="Palatino Linotype"/>
                <a:cs typeface="Palatino Linotype"/>
              </a:rPr>
              <a:t> </a:t>
            </a:r>
            <a:r>
              <a:rPr lang="en-US" sz="1600" kern="1200" spc="-5" dirty="0">
                <a:solidFill>
                  <a:srgbClr val="FF0000"/>
                </a:solidFill>
                <a:latin typeface="Palatino Linotype"/>
                <a:cs typeface="Palatino Linotype"/>
              </a:rPr>
              <a:t>specification</a:t>
            </a:r>
            <a:r>
              <a:rPr lang="en-US" sz="1600" kern="1200" spc="20" dirty="0">
                <a:solidFill>
                  <a:srgbClr val="FF0000"/>
                </a:solidFill>
                <a:latin typeface="Palatino Linotype"/>
                <a:cs typeface="Palatino Linotype"/>
              </a:rPr>
              <a:t> </a:t>
            </a:r>
            <a:r>
              <a:rPr lang="en-US" sz="1600" kern="1200" dirty="0">
                <a:solidFill>
                  <a:prstClr val="black"/>
                </a:solidFill>
                <a:latin typeface="Palatino Linotype"/>
                <a:cs typeface="Palatino Linotype"/>
              </a:rPr>
              <a:t>of </a:t>
            </a:r>
            <a:r>
              <a:rPr lang="en-US" sz="1600" kern="1200" spc="-385" dirty="0">
                <a:solidFill>
                  <a:prstClr val="black"/>
                </a:solidFill>
                <a:latin typeface="Palatino Linotype"/>
                <a:cs typeface="Palatino Linotype"/>
              </a:rPr>
              <a:t> </a:t>
            </a:r>
            <a:r>
              <a:rPr lang="en-US" sz="1600" kern="1200" dirty="0">
                <a:solidFill>
                  <a:prstClr val="black"/>
                </a:solidFill>
                <a:latin typeface="Palatino Linotype"/>
                <a:cs typeface="Palatino Linotype"/>
              </a:rPr>
              <a:t>a</a:t>
            </a:r>
            <a:r>
              <a:rPr lang="en-US" sz="1600" kern="1200" spc="-5" dirty="0">
                <a:solidFill>
                  <a:prstClr val="black"/>
                </a:solidFill>
                <a:latin typeface="Palatino Linotype"/>
                <a:cs typeface="Palatino Linotype"/>
              </a:rPr>
              <a:t> </a:t>
            </a:r>
            <a:r>
              <a:rPr lang="en-US" sz="1600" kern="1200" dirty="0">
                <a:solidFill>
                  <a:prstClr val="black"/>
                </a:solidFill>
                <a:latin typeface="Palatino Linotype"/>
                <a:cs typeface="Palatino Linotype"/>
              </a:rPr>
              <a:t>programming</a:t>
            </a:r>
            <a:r>
              <a:rPr lang="en-US" sz="1600" kern="1200" spc="-5" dirty="0">
                <a:solidFill>
                  <a:prstClr val="black"/>
                </a:solidFill>
                <a:latin typeface="Palatino Linotype"/>
                <a:cs typeface="Palatino Linotype"/>
              </a:rPr>
              <a:t> language</a:t>
            </a:r>
            <a:endParaRPr lang="en-US" sz="1600" kern="1200" dirty="0">
              <a:solidFill>
                <a:prstClr val="black"/>
              </a:solidFill>
              <a:latin typeface="Palatino Linotype"/>
              <a:cs typeface="Palatino Linotype"/>
            </a:endParaRPr>
          </a:p>
          <a:p>
            <a:pPr lvl="1" rtl="0">
              <a:spcBef>
                <a:spcPts val="25"/>
              </a:spcBef>
              <a:buFont typeface="Wingdings"/>
              <a:buChar char=""/>
            </a:pPr>
            <a:endParaRPr sz="1600" kern="1200" dirty="0">
              <a:solidFill>
                <a:prstClr val="black"/>
              </a:solidFill>
              <a:latin typeface="Palatino Linotype"/>
              <a:cs typeface="Palatino Linotype"/>
            </a:endParaRPr>
          </a:p>
          <a:p>
            <a:pPr marL="749300" lvl="1" indent="-228600" rtl="0">
              <a:buFont typeface="Wingdings"/>
              <a:buChar char=""/>
              <a:tabLst>
                <a:tab pos="748665" algn="l"/>
                <a:tab pos="749300" algn="l"/>
              </a:tabLst>
            </a:pPr>
            <a:r>
              <a:rPr sz="1600" kern="1200" spc="-5" dirty="0">
                <a:solidFill>
                  <a:prstClr val="black"/>
                </a:solidFill>
                <a:latin typeface="Palatino Linotype"/>
                <a:cs typeface="Palatino Linotype"/>
              </a:rPr>
              <a:t>For</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certain</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grammars,</a:t>
            </a:r>
            <a:r>
              <a:rPr sz="1600" kern="1200" spc="5" dirty="0">
                <a:solidFill>
                  <a:prstClr val="black"/>
                </a:solidFill>
                <a:latin typeface="Palatino Linotype"/>
                <a:cs typeface="Palatino Linotype"/>
              </a:rPr>
              <a:t> </a:t>
            </a:r>
            <a:r>
              <a:rPr sz="1600" kern="1200" spc="-15" dirty="0">
                <a:solidFill>
                  <a:prstClr val="black"/>
                </a:solidFill>
                <a:latin typeface="Palatino Linotype"/>
                <a:cs typeface="Palatino Linotype"/>
              </a:rPr>
              <a:t>we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can</a:t>
            </a:r>
            <a:r>
              <a:rPr sz="1600" kern="1200" spc="15" dirty="0">
                <a:solidFill>
                  <a:prstClr val="black"/>
                </a:solidFill>
                <a:latin typeface="Palatino Linotype"/>
                <a:cs typeface="Palatino Linotype"/>
              </a:rPr>
              <a:t> </a:t>
            </a:r>
            <a:r>
              <a:rPr sz="1600" kern="1200" spc="-5" dirty="0">
                <a:solidFill>
                  <a:srgbClr val="FF0000"/>
                </a:solidFill>
                <a:latin typeface="Palatino Linotype"/>
                <a:cs typeface="Palatino Linotype"/>
              </a:rPr>
              <a:t>automatically</a:t>
            </a:r>
            <a:r>
              <a:rPr sz="1600" kern="1200" dirty="0">
                <a:solidFill>
                  <a:srgbClr val="FF0000"/>
                </a:solidFill>
                <a:latin typeface="Palatino Linotype"/>
                <a:cs typeface="Palatino Linotype"/>
              </a:rPr>
              <a:t> construct</a:t>
            </a:r>
            <a:r>
              <a:rPr sz="1600" kern="1200" spc="10" dirty="0">
                <a:solidFill>
                  <a:srgbClr val="FF0000"/>
                </a:solidFill>
                <a:latin typeface="Palatino Linotype"/>
                <a:cs typeface="Palatino Linotype"/>
              </a:rPr>
              <a:t> </a:t>
            </a:r>
            <a:r>
              <a:rPr sz="1600" kern="1200" dirty="0">
                <a:solidFill>
                  <a:srgbClr val="FF0000"/>
                </a:solidFill>
                <a:latin typeface="Palatino Linotype"/>
                <a:cs typeface="Palatino Linotype"/>
              </a:rPr>
              <a:t>an</a:t>
            </a:r>
            <a:r>
              <a:rPr sz="1600" kern="1200" spc="15" dirty="0">
                <a:solidFill>
                  <a:srgbClr val="FF0000"/>
                </a:solidFill>
                <a:latin typeface="Palatino Linotype"/>
                <a:cs typeface="Palatino Linotype"/>
              </a:rPr>
              <a:t> </a:t>
            </a:r>
            <a:r>
              <a:rPr sz="1600" kern="1200" spc="-5" dirty="0">
                <a:solidFill>
                  <a:srgbClr val="FF0000"/>
                </a:solidFill>
                <a:latin typeface="Palatino Linotype"/>
                <a:cs typeface="Palatino Linotype"/>
              </a:rPr>
              <a:t>efficient</a:t>
            </a:r>
            <a:r>
              <a:rPr sz="1600" kern="1200" spc="5" dirty="0">
                <a:solidFill>
                  <a:srgbClr val="FF0000"/>
                </a:solidFill>
                <a:latin typeface="Palatino Linotype"/>
                <a:cs typeface="Palatino Linotype"/>
              </a:rPr>
              <a:t> </a:t>
            </a:r>
            <a:r>
              <a:rPr sz="1600" kern="1200" spc="-5" dirty="0">
                <a:solidFill>
                  <a:srgbClr val="FF0000"/>
                </a:solidFill>
                <a:latin typeface="Palatino Linotype"/>
                <a:cs typeface="Palatino Linotype"/>
              </a:rPr>
              <a:t>parser</a:t>
            </a:r>
            <a:endParaRPr sz="1600" kern="1200" dirty="0">
              <a:solidFill>
                <a:prstClr val="black"/>
              </a:solidFill>
              <a:latin typeface="Palatino Linotype"/>
              <a:cs typeface="Palatino Linotype"/>
            </a:endParaRPr>
          </a:p>
          <a:p>
            <a:pPr marL="749300" marR="95250" lvl="1" indent="-228600" rtl="0">
              <a:lnSpc>
                <a:spcPct val="120000"/>
              </a:lnSpc>
              <a:spcBef>
                <a:spcPts val="1800"/>
              </a:spcBef>
              <a:buFont typeface="Wingdings"/>
              <a:buChar char=""/>
              <a:tabLst>
                <a:tab pos="748665" algn="l"/>
                <a:tab pos="749300" algn="l"/>
              </a:tabLst>
            </a:pPr>
            <a:r>
              <a:rPr sz="1600" kern="1200" dirty="0">
                <a:solidFill>
                  <a:prstClr val="black"/>
                </a:solidFill>
                <a:latin typeface="Palatino Linotype"/>
                <a:cs typeface="Palatino Linotype"/>
              </a:rPr>
              <a:t>A properly </a:t>
            </a:r>
            <a:r>
              <a:rPr sz="1600" kern="1200" spc="-5" dirty="0">
                <a:solidFill>
                  <a:prstClr val="black"/>
                </a:solidFill>
                <a:latin typeface="Palatino Linotype"/>
                <a:cs typeface="Palatino Linotype"/>
              </a:rPr>
              <a:t>designed grammar </a:t>
            </a:r>
            <a:r>
              <a:rPr sz="1600" kern="1200" spc="-5" dirty="0">
                <a:solidFill>
                  <a:srgbClr val="FF0000"/>
                </a:solidFill>
                <a:latin typeface="Palatino Linotype"/>
                <a:cs typeface="Palatino Linotype"/>
              </a:rPr>
              <a:t>defines </a:t>
            </a:r>
            <a:r>
              <a:rPr sz="1600" kern="1200" dirty="0">
                <a:solidFill>
                  <a:srgbClr val="FF0000"/>
                </a:solidFill>
                <a:latin typeface="Palatino Linotype"/>
                <a:cs typeface="Palatino Linotype"/>
              </a:rPr>
              <a:t>the </a:t>
            </a:r>
            <a:r>
              <a:rPr sz="1600" kern="1200" spc="-5" dirty="0">
                <a:solidFill>
                  <a:srgbClr val="FF0000"/>
                </a:solidFill>
                <a:latin typeface="Palatino Linotype"/>
                <a:cs typeface="Palatino Linotype"/>
              </a:rPr>
              <a:t>structure </a:t>
            </a:r>
            <a:r>
              <a:rPr sz="1600" kern="1200" dirty="0">
                <a:solidFill>
                  <a:srgbClr val="FF0000"/>
                </a:solidFill>
                <a:latin typeface="Palatino Linotype"/>
                <a:cs typeface="Palatino Linotype"/>
              </a:rPr>
              <a:t>of a </a:t>
            </a:r>
            <a:r>
              <a:rPr sz="1600" kern="1200" spc="-5" dirty="0">
                <a:solidFill>
                  <a:srgbClr val="FF0000"/>
                </a:solidFill>
                <a:latin typeface="Palatino Linotype"/>
                <a:cs typeface="Palatino Linotype"/>
              </a:rPr>
              <a:t>language </a:t>
            </a:r>
            <a:r>
              <a:rPr sz="1600" kern="1200" dirty="0">
                <a:solidFill>
                  <a:prstClr val="black"/>
                </a:solidFill>
                <a:latin typeface="Palatino Linotype"/>
                <a:cs typeface="Palatino Linotype"/>
              </a:rPr>
              <a:t>and </a:t>
            </a:r>
            <a:r>
              <a:rPr sz="1600" kern="1200" spc="-5" dirty="0">
                <a:solidFill>
                  <a:prstClr val="black"/>
                </a:solidFill>
                <a:latin typeface="Palatino Linotype"/>
                <a:cs typeface="Palatino Linotype"/>
              </a:rPr>
              <a:t>helps </a:t>
            </a:r>
            <a:r>
              <a:rPr sz="1600" kern="1200" spc="-385" dirty="0">
                <a:solidFill>
                  <a:prstClr val="black"/>
                </a:solidFill>
                <a:latin typeface="Palatino Linotype"/>
                <a:cs typeface="Palatino Linotype"/>
              </a:rPr>
              <a:t> </a:t>
            </a:r>
            <a:r>
              <a:rPr sz="1600" kern="1200" dirty="0">
                <a:solidFill>
                  <a:prstClr val="black"/>
                </a:solidFill>
                <a:latin typeface="Palatino Linotype"/>
                <a:cs typeface="Palatino Linotype"/>
              </a:rPr>
              <a:t>translate</a:t>
            </a:r>
            <a:r>
              <a:rPr sz="1600" kern="1200" spc="-5" dirty="0">
                <a:solidFill>
                  <a:prstClr val="black"/>
                </a:solidFill>
                <a:latin typeface="Palatino Linotype"/>
                <a:cs typeface="Palatino Linotype"/>
              </a:rPr>
              <a:t> source </a:t>
            </a:r>
            <a:r>
              <a:rPr sz="1600" kern="1200" dirty="0">
                <a:solidFill>
                  <a:prstClr val="black"/>
                </a:solidFill>
                <a:latin typeface="Palatino Linotype"/>
                <a:cs typeface="Palatino Linotype"/>
              </a:rPr>
              <a:t>programs</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into correct </a:t>
            </a:r>
            <a:r>
              <a:rPr sz="1600" kern="1200" spc="-5" dirty="0">
                <a:solidFill>
                  <a:prstClr val="black"/>
                </a:solidFill>
                <a:latin typeface="Palatino Linotype"/>
                <a:cs typeface="Palatino Linotype"/>
              </a:rPr>
              <a:t>object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code </a:t>
            </a:r>
            <a:r>
              <a:rPr sz="1600" kern="1200" dirty="0">
                <a:solidFill>
                  <a:prstClr val="black"/>
                </a:solidFill>
                <a:latin typeface="Palatino Linotype"/>
                <a:cs typeface="Palatino Linotype"/>
              </a:rPr>
              <a:t>and</a:t>
            </a:r>
            <a:r>
              <a:rPr sz="1600" kern="1200" spc="-5" dirty="0">
                <a:solidFill>
                  <a:prstClr val="black"/>
                </a:solidFill>
                <a:latin typeface="Palatino Linotype"/>
                <a:cs typeface="Palatino Linotype"/>
              </a:rPr>
              <a:t> detect</a:t>
            </a:r>
            <a:r>
              <a:rPr sz="1600" kern="1200" dirty="0">
                <a:solidFill>
                  <a:prstClr val="black"/>
                </a:solidFill>
                <a:latin typeface="Palatino Linotype"/>
                <a:cs typeface="Palatino Linotype"/>
              </a:rPr>
              <a:t> errors</a:t>
            </a:r>
          </a:p>
          <a:p>
            <a:pPr marL="749300" marR="471805" lvl="1" indent="-228600" rtl="0">
              <a:lnSpc>
                <a:spcPct val="118800"/>
              </a:lnSpc>
              <a:spcBef>
                <a:spcPts val="1825"/>
              </a:spcBef>
              <a:buFont typeface="Wingdings"/>
              <a:buChar char=""/>
              <a:tabLst>
                <a:tab pos="748665" algn="l"/>
                <a:tab pos="749300" algn="l"/>
              </a:tabLst>
            </a:pPr>
            <a:r>
              <a:rPr sz="1600" kern="1200" dirty="0">
                <a:solidFill>
                  <a:prstClr val="black"/>
                </a:solidFill>
                <a:latin typeface="Palatino Linotype"/>
                <a:cs typeface="Palatino Linotype"/>
              </a:rPr>
              <a:t>A </a:t>
            </a:r>
            <a:r>
              <a:rPr sz="1600" kern="1200" spc="-5" dirty="0">
                <a:solidFill>
                  <a:prstClr val="black"/>
                </a:solidFill>
                <a:latin typeface="Palatino Linotype"/>
                <a:cs typeface="Palatino Linotype"/>
              </a:rPr>
              <a:t>grammar allows </a:t>
            </a:r>
            <a:r>
              <a:rPr sz="1600" kern="1200" dirty="0">
                <a:solidFill>
                  <a:prstClr val="black"/>
                </a:solidFill>
                <a:latin typeface="Palatino Linotype"/>
                <a:cs typeface="Palatino Linotype"/>
              </a:rPr>
              <a:t>a </a:t>
            </a:r>
            <a:r>
              <a:rPr sz="1600" kern="1200" spc="-5" dirty="0">
                <a:solidFill>
                  <a:prstClr val="black"/>
                </a:solidFill>
                <a:latin typeface="Palatino Linotype"/>
                <a:cs typeface="Palatino Linotype"/>
              </a:rPr>
              <a:t>language </a:t>
            </a:r>
            <a:r>
              <a:rPr sz="1600" kern="1200" dirty="0">
                <a:solidFill>
                  <a:prstClr val="black"/>
                </a:solidFill>
                <a:latin typeface="Palatino Linotype"/>
                <a:cs typeface="Palatino Linotype"/>
              </a:rPr>
              <a:t>to be </a:t>
            </a:r>
            <a:r>
              <a:rPr sz="1600" kern="1200" spc="-15" dirty="0">
                <a:solidFill>
                  <a:srgbClr val="FF0000"/>
                </a:solidFill>
                <a:latin typeface="Palatino Linotype"/>
                <a:cs typeface="Palatino Linotype"/>
              </a:rPr>
              <a:t>evolved </a:t>
            </a:r>
            <a:r>
              <a:rPr sz="1600" kern="1200" dirty="0">
                <a:solidFill>
                  <a:srgbClr val="FF0000"/>
                </a:solidFill>
                <a:latin typeface="Palatino Linotype"/>
                <a:cs typeface="Palatino Linotype"/>
              </a:rPr>
              <a:t>or </a:t>
            </a:r>
            <a:r>
              <a:rPr sz="1600" kern="1200" spc="-10" dirty="0">
                <a:solidFill>
                  <a:srgbClr val="FF0000"/>
                </a:solidFill>
                <a:latin typeface="Palatino Linotype"/>
                <a:cs typeface="Palatino Linotype"/>
              </a:rPr>
              <a:t>developed </a:t>
            </a:r>
            <a:r>
              <a:rPr sz="1600" kern="1200" spc="-20" dirty="0">
                <a:solidFill>
                  <a:srgbClr val="FF0000"/>
                </a:solidFill>
                <a:latin typeface="Palatino Linotype"/>
                <a:cs typeface="Palatino Linotype"/>
              </a:rPr>
              <a:t>iteratively</a:t>
            </a:r>
            <a:r>
              <a:rPr sz="1600" kern="1200" spc="-20" dirty="0">
                <a:solidFill>
                  <a:prstClr val="black"/>
                </a:solidFill>
                <a:latin typeface="Palatino Linotype"/>
                <a:cs typeface="Palatino Linotype"/>
              </a:rPr>
              <a:t>, </a:t>
            </a:r>
            <a:r>
              <a:rPr sz="1600" kern="1200" dirty="0">
                <a:solidFill>
                  <a:prstClr val="black"/>
                </a:solidFill>
                <a:latin typeface="Palatino Linotype"/>
                <a:cs typeface="Palatino Linotype"/>
              </a:rPr>
              <a:t>by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adding</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new constructs</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to perform</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new </a:t>
            </a:r>
            <a:r>
              <a:rPr sz="1600" kern="1200" spc="-5" dirty="0">
                <a:solidFill>
                  <a:prstClr val="black"/>
                </a:solidFill>
                <a:latin typeface="Palatino Linotype"/>
                <a:cs typeface="Palatino Linotype"/>
              </a:rPr>
              <a:t>tasks</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1776154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a:t>
            </a:fld>
            <a:endParaRPr lang="en-US"/>
          </a:p>
        </p:txBody>
      </p:sp>
      <p:sp>
        <p:nvSpPr>
          <p:cNvPr id="13" name="object 2">
            <a:extLst>
              <a:ext uri="{FF2B5EF4-FFF2-40B4-BE49-F238E27FC236}">
                <a16:creationId xmlns:a16="http://schemas.microsoft.com/office/drawing/2014/main" id="{C2E8FA4A-10EB-E10D-DFA6-1A04FC7A556B}"/>
              </a:ext>
            </a:extLst>
          </p:cNvPr>
          <p:cNvSpPr txBox="1">
            <a:spLocks/>
          </p:cNvSpPr>
          <p:nvPr/>
        </p:nvSpPr>
        <p:spPr>
          <a:xfrm>
            <a:off x="707390" y="524763"/>
            <a:ext cx="51574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The </a:t>
            </a:r>
            <a:r>
              <a:rPr kumimoji="0" lang="en-US" sz="4000" b="1" i="0" u="none" strike="noStrike" kern="0" cap="none" spc="-5" normalizeH="0" baseline="0" noProof="0">
                <a:ln>
                  <a:noFill/>
                </a:ln>
                <a:solidFill>
                  <a:sysClr val="windowText" lastClr="000000"/>
                </a:solidFill>
                <a:effectLst/>
                <a:uLnTx/>
                <a:uFillTx/>
                <a:latin typeface="Palatino Linotype"/>
                <a:ea typeface="+mj-ea"/>
              </a:rPr>
              <a:t>Role</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of</a:t>
            </a:r>
            <a:r>
              <a:rPr kumimoji="0" lang="en-US" sz="4000" b="1" i="0" u="none" strike="noStrike" kern="0" cap="none" spc="-5" normalizeH="0" baseline="0" noProof="0">
                <a:ln>
                  <a:noFill/>
                </a:ln>
                <a:solidFill>
                  <a:sysClr val="windowText" lastClr="000000"/>
                </a:solidFill>
                <a:effectLst/>
                <a:uLnTx/>
                <a:uFillTx/>
                <a:latin typeface="Palatino Linotype"/>
                <a:ea typeface="+mj-ea"/>
              </a:rPr>
              <a:t> the</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Parser</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4" name="object 3">
            <a:extLst>
              <a:ext uri="{FF2B5EF4-FFF2-40B4-BE49-F238E27FC236}">
                <a16:creationId xmlns:a16="http://schemas.microsoft.com/office/drawing/2014/main" id="{4A6F222F-ACB3-C8F3-55BD-E04236F60CED}"/>
              </a:ext>
            </a:extLst>
          </p:cNvPr>
          <p:cNvSpPr txBox="1"/>
          <p:nvPr/>
        </p:nvSpPr>
        <p:spPr>
          <a:xfrm>
            <a:off x="707390" y="1610867"/>
            <a:ext cx="7665084" cy="2514600"/>
          </a:xfrm>
          <a:prstGeom prst="rect">
            <a:avLst/>
          </a:prstGeom>
        </p:spPr>
        <p:txBody>
          <a:bodyPr vert="horz" wrap="square" lIns="0" tIns="5080" rIns="0" bIns="0" rtlCol="0">
            <a:spAutoFit/>
          </a:bodyPr>
          <a:lstStyle/>
          <a:p>
            <a:pPr marL="242570" marR="5080" indent="-230504" rtl="0">
              <a:lnSpc>
                <a:spcPct val="118500"/>
              </a:lnSpc>
              <a:spcBef>
                <a:spcPts val="40"/>
              </a:spcBef>
              <a:buFont typeface="Arial MT"/>
              <a:buChar char="•"/>
              <a:tabLst>
                <a:tab pos="242570" algn="l"/>
                <a:tab pos="243204" algn="l"/>
              </a:tabLst>
            </a:pP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parser obtains</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string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of tokens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from the</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lexical</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analyzer</a:t>
            </a:r>
            <a:r>
              <a:rPr sz="2000" kern="1200" spc="-5" dirty="0">
                <a:solidFill>
                  <a:prstClr val="black"/>
                </a:solidFill>
                <a:latin typeface="Palatino Linotype"/>
                <a:cs typeface="Palatino Linotype"/>
              </a:rPr>
              <a:t> and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verifies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that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string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of token names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can</a:t>
            </a:r>
            <a:r>
              <a:rPr sz="2000" kern="1200" dirty="0">
                <a:solidFill>
                  <a:prstClr val="black"/>
                </a:solidFill>
                <a:latin typeface="Palatino Linotype"/>
                <a:cs typeface="Palatino Linotype"/>
              </a:rPr>
              <a:t> be </a:t>
            </a:r>
            <a:r>
              <a:rPr sz="2000" kern="1200" spc="-5" dirty="0">
                <a:solidFill>
                  <a:prstClr val="black"/>
                </a:solidFill>
                <a:latin typeface="Palatino Linotype"/>
                <a:cs typeface="Palatino Linotype"/>
              </a:rPr>
              <a:t>generated</a:t>
            </a:r>
            <a:r>
              <a:rPr sz="2000" kern="1200" dirty="0">
                <a:solidFill>
                  <a:prstClr val="black"/>
                </a:solidFill>
                <a:latin typeface="Palatino Linotype"/>
                <a:cs typeface="Palatino Linotype"/>
              </a:rPr>
              <a:t> by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grammar</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for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source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language</a:t>
            </a:r>
            <a:endParaRPr sz="2000" kern="1200" dirty="0">
              <a:solidFill>
                <a:prstClr val="black"/>
              </a:solidFill>
              <a:latin typeface="Palatino Linotype"/>
              <a:cs typeface="Palatino Linotype"/>
            </a:endParaRPr>
          </a:p>
          <a:p>
            <a:pPr marL="243204" indent="-230504" rtl="0">
              <a:spcBef>
                <a:spcPts val="1705"/>
              </a:spcBef>
              <a:buFont typeface="Arial MT"/>
              <a:buChar char="•"/>
              <a:tabLst>
                <a:tab pos="242570" algn="l"/>
                <a:tab pos="243204" algn="l"/>
              </a:tabLst>
            </a:pPr>
            <a:r>
              <a:rPr sz="2000" kern="1200" spc="-5" dirty="0">
                <a:solidFill>
                  <a:prstClr val="black"/>
                </a:solidFill>
                <a:latin typeface="Palatino Linotype"/>
                <a:cs typeface="Palatino Linotype"/>
              </a:rPr>
              <a:t>Report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syntax</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errors</a:t>
            </a:r>
            <a:r>
              <a:rPr sz="2000" kern="1200" dirty="0">
                <a:solidFill>
                  <a:prstClr val="black"/>
                </a:solidFill>
                <a:latin typeface="Palatino Linotype"/>
                <a:cs typeface="Palatino Linotype"/>
              </a:rPr>
              <a:t> in</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an</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intelligent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fashion</a:t>
            </a:r>
            <a:endParaRPr sz="2000" kern="1200" dirty="0">
              <a:solidFill>
                <a:prstClr val="black"/>
              </a:solidFill>
              <a:latin typeface="Palatino Linotype"/>
              <a:cs typeface="Palatino Linotype"/>
            </a:endParaRPr>
          </a:p>
          <a:p>
            <a:pPr marL="243204" indent="-230504" rtl="0">
              <a:spcBef>
                <a:spcPts val="1700"/>
              </a:spcBef>
              <a:buFont typeface="Arial MT"/>
              <a:buChar char="•"/>
              <a:tabLst>
                <a:tab pos="242570" algn="l"/>
                <a:tab pos="243204" algn="l"/>
              </a:tabLst>
            </a:pPr>
            <a:r>
              <a:rPr sz="2000" kern="1200" spc="-5" dirty="0">
                <a:solidFill>
                  <a:prstClr val="black"/>
                </a:solidFill>
                <a:latin typeface="Palatino Linotype"/>
                <a:cs typeface="Palatino Linotype"/>
              </a:rPr>
              <a:t>For</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well-formed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programs,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 parser constructs</a:t>
            </a:r>
            <a:r>
              <a:rPr sz="2000" kern="1200" dirty="0">
                <a:solidFill>
                  <a:prstClr val="black"/>
                </a:solidFill>
                <a:latin typeface="Palatino Linotype"/>
                <a:cs typeface="Palatino Linotype"/>
              </a:rPr>
              <a:t> a</a:t>
            </a:r>
            <a:r>
              <a:rPr sz="2000" kern="1200" spc="-5" dirty="0">
                <a:solidFill>
                  <a:prstClr val="black"/>
                </a:solidFill>
                <a:latin typeface="Palatino Linotype"/>
                <a:cs typeface="Palatino Linotype"/>
              </a:rPr>
              <a:t> parse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tree</a:t>
            </a:r>
            <a:endParaRPr sz="2000" kern="1200" dirty="0">
              <a:solidFill>
                <a:prstClr val="black"/>
              </a:solidFill>
              <a:latin typeface="Palatino Linotype"/>
              <a:cs typeface="Palatino Linotype"/>
            </a:endParaRPr>
          </a:p>
          <a:p>
            <a:pPr marL="698500" lvl="1" indent="-228600" rtl="0">
              <a:spcBef>
                <a:spcPts val="1000"/>
              </a:spcBef>
              <a:buClr>
                <a:srgbClr val="000000"/>
              </a:buClr>
              <a:buFont typeface="Wingdings"/>
              <a:buChar char=""/>
              <a:tabLst>
                <a:tab pos="697865" algn="l"/>
                <a:tab pos="698500" algn="l"/>
              </a:tabLst>
            </a:pPr>
            <a:r>
              <a:rPr sz="1600" kern="1200" spc="-5" dirty="0">
                <a:solidFill>
                  <a:schemeClr val="bg2">
                    <a:lumMod val="50000"/>
                  </a:schemeClr>
                </a:solidFill>
                <a:latin typeface="Palatino Linotype"/>
                <a:cs typeface="Palatino Linotype"/>
              </a:rPr>
              <a:t>The </a:t>
            </a:r>
            <a:r>
              <a:rPr sz="1600" kern="1200" dirty="0">
                <a:solidFill>
                  <a:schemeClr val="bg2">
                    <a:lumMod val="50000"/>
                  </a:schemeClr>
                </a:solidFill>
                <a:latin typeface="Palatino Linotype"/>
                <a:cs typeface="Palatino Linotype"/>
              </a:rPr>
              <a:t>parse</a:t>
            </a:r>
            <a:r>
              <a:rPr sz="1600" kern="1200" spc="-5"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tree</a:t>
            </a:r>
            <a:r>
              <a:rPr sz="1600" kern="1200" spc="-5" dirty="0">
                <a:solidFill>
                  <a:schemeClr val="bg2">
                    <a:lumMod val="50000"/>
                  </a:schemeClr>
                </a:solidFill>
                <a:latin typeface="Palatino Linotype"/>
                <a:cs typeface="Palatino Linotype"/>
              </a:rPr>
              <a:t> need </a:t>
            </a:r>
            <a:r>
              <a:rPr sz="1600" kern="1200" dirty="0">
                <a:solidFill>
                  <a:schemeClr val="bg2">
                    <a:lumMod val="50000"/>
                  </a:schemeClr>
                </a:solidFill>
                <a:latin typeface="Palatino Linotype"/>
                <a:cs typeface="Palatino Linotype"/>
              </a:rPr>
              <a:t>not be</a:t>
            </a:r>
            <a:r>
              <a:rPr sz="1600" kern="1200" spc="-5" dirty="0">
                <a:solidFill>
                  <a:schemeClr val="bg2">
                    <a:lumMod val="50000"/>
                  </a:schemeClr>
                </a:solidFill>
                <a:latin typeface="Palatino Linotype"/>
                <a:cs typeface="Palatino Linotype"/>
              </a:rPr>
              <a:t> constructed explicitly</a:t>
            </a:r>
            <a:endParaRPr sz="1600" kern="1200" dirty="0">
              <a:solidFill>
                <a:schemeClr val="bg2">
                  <a:lumMod val="50000"/>
                </a:schemeClr>
              </a:solidFill>
              <a:latin typeface="Palatino Linotype"/>
              <a:cs typeface="Palatino Linotype"/>
            </a:endParaRPr>
          </a:p>
        </p:txBody>
      </p:sp>
      <p:grpSp>
        <p:nvGrpSpPr>
          <p:cNvPr id="15" name="object 4">
            <a:extLst>
              <a:ext uri="{FF2B5EF4-FFF2-40B4-BE49-F238E27FC236}">
                <a16:creationId xmlns:a16="http://schemas.microsoft.com/office/drawing/2014/main" id="{214B87F7-A607-E50A-5DC5-AD80ECFFFAF4}"/>
              </a:ext>
            </a:extLst>
          </p:cNvPr>
          <p:cNvGrpSpPr/>
          <p:nvPr/>
        </p:nvGrpSpPr>
        <p:grpSpPr>
          <a:xfrm>
            <a:off x="1850558" y="4266851"/>
            <a:ext cx="4871720" cy="1851025"/>
            <a:chOff x="1850558" y="4266851"/>
            <a:chExt cx="4871720" cy="1851025"/>
          </a:xfrm>
        </p:grpSpPr>
        <p:pic>
          <p:nvPicPr>
            <p:cNvPr id="16" name="object 5">
              <a:extLst>
                <a:ext uri="{FF2B5EF4-FFF2-40B4-BE49-F238E27FC236}">
                  <a16:creationId xmlns:a16="http://schemas.microsoft.com/office/drawing/2014/main" id="{F2908D17-1CCF-82B6-F375-D5561204D8B1}"/>
                </a:ext>
              </a:extLst>
            </p:cNvPr>
            <p:cNvPicPr/>
            <p:nvPr/>
          </p:nvPicPr>
          <p:blipFill>
            <a:blip r:embed="rId3" cstate="print"/>
            <a:stretch>
              <a:fillRect/>
            </a:stretch>
          </p:blipFill>
          <p:spPr>
            <a:xfrm>
              <a:off x="1850558" y="4502315"/>
              <a:ext cx="4871231" cy="1615115"/>
            </a:xfrm>
            <a:prstGeom prst="rect">
              <a:avLst/>
            </a:prstGeom>
          </p:spPr>
        </p:pic>
        <p:sp>
          <p:nvSpPr>
            <p:cNvPr id="17" name="object 6">
              <a:extLst>
                <a:ext uri="{FF2B5EF4-FFF2-40B4-BE49-F238E27FC236}">
                  <a16:creationId xmlns:a16="http://schemas.microsoft.com/office/drawing/2014/main" id="{963C6E06-D15C-560F-D549-0A58DCD9010A}"/>
                </a:ext>
              </a:extLst>
            </p:cNvPr>
            <p:cNvSpPr/>
            <p:nvPr/>
          </p:nvSpPr>
          <p:spPr>
            <a:xfrm>
              <a:off x="3570974" y="4273201"/>
              <a:ext cx="934085" cy="1131570"/>
            </a:xfrm>
            <a:custGeom>
              <a:avLst/>
              <a:gdLst/>
              <a:ahLst/>
              <a:cxnLst/>
              <a:rect l="l" t="t" r="r" b="b"/>
              <a:pathLst>
                <a:path w="934085" h="1131570">
                  <a:moveTo>
                    <a:pt x="0" y="565691"/>
                  </a:moveTo>
                  <a:lnTo>
                    <a:pt x="1907" y="514202"/>
                  </a:lnTo>
                  <a:lnTo>
                    <a:pt x="7521" y="464007"/>
                  </a:lnTo>
                  <a:lnTo>
                    <a:pt x="16675" y="415308"/>
                  </a:lnTo>
                  <a:lnTo>
                    <a:pt x="29205" y="368303"/>
                  </a:lnTo>
                  <a:lnTo>
                    <a:pt x="44947" y="323192"/>
                  </a:lnTo>
                  <a:lnTo>
                    <a:pt x="63735" y="280176"/>
                  </a:lnTo>
                  <a:lnTo>
                    <a:pt x="85404" y="239453"/>
                  </a:lnTo>
                  <a:lnTo>
                    <a:pt x="109791" y="201223"/>
                  </a:lnTo>
                  <a:lnTo>
                    <a:pt x="136729" y="165687"/>
                  </a:lnTo>
                  <a:lnTo>
                    <a:pt x="166055" y="133043"/>
                  </a:lnTo>
                  <a:lnTo>
                    <a:pt x="197603" y="103492"/>
                  </a:lnTo>
                  <a:lnTo>
                    <a:pt x="231209" y="77233"/>
                  </a:lnTo>
                  <a:lnTo>
                    <a:pt x="266708" y="54466"/>
                  </a:lnTo>
                  <a:lnTo>
                    <a:pt x="303934" y="35391"/>
                  </a:lnTo>
                  <a:lnTo>
                    <a:pt x="342724" y="20207"/>
                  </a:lnTo>
                  <a:lnTo>
                    <a:pt x="382912" y="9114"/>
                  </a:lnTo>
                  <a:lnTo>
                    <a:pt x="424334" y="2311"/>
                  </a:lnTo>
                  <a:lnTo>
                    <a:pt x="466825" y="0"/>
                  </a:lnTo>
                  <a:lnTo>
                    <a:pt x="509315" y="2311"/>
                  </a:lnTo>
                  <a:lnTo>
                    <a:pt x="550737" y="9114"/>
                  </a:lnTo>
                  <a:lnTo>
                    <a:pt x="590925" y="20207"/>
                  </a:lnTo>
                  <a:lnTo>
                    <a:pt x="629715" y="35391"/>
                  </a:lnTo>
                  <a:lnTo>
                    <a:pt x="666941" y="54466"/>
                  </a:lnTo>
                  <a:lnTo>
                    <a:pt x="702440" y="77233"/>
                  </a:lnTo>
                  <a:lnTo>
                    <a:pt x="736046" y="103492"/>
                  </a:lnTo>
                  <a:lnTo>
                    <a:pt x="767594" y="133043"/>
                  </a:lnTo>
                  <a:lnTo>
                    <a:pt x="796920" y="165687"/>
                  </a:lnTo>
                  <a:lnTo>
                    <a:pt x="823858" y="201223"/>
                  </a:lnTo>
                  <a:lnTo>
                    <a:pt x="848245" y="239453"/>
                  </a:lnTo>
                  <a:lnTo>
                    <a:pt x="869914" y="280176"/>
                  </a:lnTo>
                  <a:lnTo>
                    <a:pt x="888702" y="323192"/>
                  </a:lnTo>
                  <a:lnTo>
                    <a:pt x="904444" y="368303"/>
                  </a:lnTo>
                  <a:lnTo>
                    <a:pt x="916974" y="415308"/>
                  </a:lnTo>
                  <a:lnTo>
                    <a:pt x="926128" y="464007"/>
                  </a:lnTo>
                  <a:lnTo>
                    <a:pt x="931742" y="514202"/>
                  </a:lnTo>
                  <a:lnTo>
                    <a:pt x="933650" y="565691"/>
                  </a:lnTo>
                  <a:lnTo>
                    <a:pt x="931742" y="617180"/>
                  </a:lnTo>
                  <a:lnTo>
                    <a:pt x="926128" y="667375"/>
                  </a:lnTo>
                  <a:lnTo>
                    <a:pt x="916974" y="716074"/>
                  </a:lnTo>
                  <a:lnTo>
                    <a:pt x="904444" y="763079"/>
                  </a:lnTo>
                  <a:lnTo>
                    <a:pt x="888702" y="808190"/>
                  </a:lnTo>
                  <a:lnTo>
                    <a:pt x="869914" y="851206"/>
                  </a:lnTo>
                  <a:lnTo>
                    <a:pt x="848245" y="891929"/>
                  </a:lnTo>
                  <a:lnTo>
                    <a:pt x="823858" y="930159"/>
                  </a:lnTo>
                  <a:lnTo>
                    <a:pt x="796920" y="965695"/>
                  </a:lnTo>
                  <a:lnTo>
                    <a:pt x="767594" y="998339"/>
                  </a:lnTo>
                  <a:lnTo>
                    <a:pt x="736046" y="1027890"/>
                  </a:lnTo>
                  <a:lnTo>
                    <a:pt x="702440" y="1054149"/>
                  </a:lnTo>
                  <a:lnTo>
                    <a:pt x="666941" y="1076916"/>
                  </a:lnTo>
                  <a:lnTo>
                    <a:pt x="629715" y="1095991"/>
                  </a:lnTo>
                  <a:lnTo>
                    <a:pt x="590925" y="1111175"/>
                  </a:lnTo>
                  <a:lnTo>
                    <a:pt x="550737" y="1122268"/>
                  </a:lnTo>
                  <a:lnTo>
                    <a:pt x="509315" y="1129071"/>
                  </a:lnTo>
                  <a:lnTo>
                    <a:pt x="466825" y="1131383"/>
                  </a:lnTo>
                  <a:lnTo>
                    <a:pt x="424334" y="1129071"/>
                  </a:lnTo>
                  <a:lnTo>
                    <a:pt x="382912" y="1122268"/>
                  </a:lnTo>
                  <a:lnTo>
                    <a:pt x="342724" y="1111175"/>
                  </a:lnTo>
                  <a:lnTo>
                    <a:pt x="303934" y="1095991"/>
                  </a:lnTo>
                  <a:lnTo>
                    <a:pt x="266708" y="1076916"/>
                  </a:lnTo>
                  <a:lnTo>
                    <a:pt x="231209" y="1054149"/>
                  </a:lnTo>
                  <a:lnTo>
                    <a:pt x="197603" y="1027890"/>
                  </a:lnTo>
                  <a:lnTo>
                    <a:pt x="166055" y="998339"/>
                  </a:lnTo>
                  <a:lnTo>
                    <a:pt x="136729" y="965695"/>
                  </a:lnTo>
                  <a:lnTo>
                    <a:pt x="109791" y="930159"/>
                  </a:lnTo>
                  <a:lnTo>
                    <a:pt x="85404" y="891929"/>
                  </a:lnTo>
                  <a:lnTo>
                    <a:pt x="63735" y="851206"/>
                  </a:lnTo>
                  <a:lnTo>
                    <a:pt x="44947" y="808190"/>
                  </a:lnTo>
                  <a:lnTo>
                    <a:pt x="29205" y="763079"/>
                  </a:lnTo>
                  <a:lnTo>
                    <a:pt x="16675" y="716074"/>
                  </a:lnTo>
                  <a:lnTo>
                    <a:pt x="7521" y="667375"/>
                  </a:lnTo>
                  <a:lnTo>
                    <a:pt x="1907" y="617180"/>
                  </a:lnTo>
                  <a:lnTo>
                    <a:pt x="0" y="565691"/>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1936981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a:t>
            </a:fld>
            <a:endParaRPr lang="en-US"/>
          </a:p>
        </p:txBody>
      </p:sp>
      <p:sp>
        <p:nvSpPr>
          <p:cNvPr id="7" name="object 2">
            <a:extLst>
              <a:ext uri="{FF2B5EF4-FFF2-40B4-BE49-F238E27FC236}">
                <a16:creationId xmlns:a16="http://schemas.microsoft.com/office/drawing/2014/main" id="{0A2A0DEC-EE84-B537-4CBA-37A77CEE74D3}"/>
              </a:ext>
            </a:extLst>
          </p:cNvPr>
          <p:cNvSpPr txBox="1">
            <a:spLocks/>
          </p:cNvSpPr>
          <p:nvPr/>
        </p:nvSpPr>
        <p:spPr>
          <a:xfrm>
            <a:off x="707390" y="524763"/>
            <a:ext cx="561721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Classification</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of</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Parsers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08D1A0C3-F608-AC14-A1C7-EF6A28EE5027}"/>
              </a:ext>
            </a:extLst>
          </p:cNvPr>
          <p:cNvSpPr txBox="1"/>
          <p:nvPr/>
        </p:nvSpPr>
        <p:spPr>
          <a:xfrm>
            <a:off x="669290" y="1519653"/>
            <a:ext cx="7813675" cy="4609465"/>
          </a:xfrm>
          <a:prstGeom prst="rect">
            <a:avLst/>
          </a:prstGeom>
        </p:spPr>
        <p:txBody>
          <a:bodyPr vert="horz" wrap="square" lIns="0" tIns="152400" rIns="0" bIns="0" rtlCol="0">
            <a:spAutoFit/>
          </a:bodyPr>
          <a:lstStyle/>
          <a:p>
            <a:pPr marL="281305" indent="-230504" rtl="0">
              <a:spcBef>
                <a:spcPts val="1200"/>
              </a:spcBef>
              <a:buClr>
                <a:srgbClr val="000000"/>
              </a:buClr>
              <a:buFont typeface="Arial MT"/>
              <a:buChar char="•"/>
              <a:tabLst>
                <a:tab pos="280670" algn="l"/>
                <a:tab pos="281305" algn="l"/>
              </a:tabLst>
            </a:pPr>
            <a:r>
              <a:rPr sz="2000" b="1" kern="1200" spc="-5" dirty="0">
                <a:solidFill>
                  <a:srgbClr val="FF0000"/>
                </a:solidFill>
                <a:latin typeface="Palatino Linotype"/>
                <a:cs typeface="Palatino Linotype"/>
              </a:rPr>
              <a:t>Universal</a:t>
            </a:r>
            <a:r>
              <a:rPr sz="2000" b="1" kern="1200" spc="-25" dirty="0">
                <a:solidFill>
                  <a:srgbClr val="FF0000"/>
                </a:solidFill>
                <a:latin typeface="Palatino Linotype"/>
                <a:cs typeface="Palatino Linotype"/>
              </a:rPr>
              <a:t> </a:t>
            </a:r>
            <a:r>
              <a:rPr sz="2000" b="1" kern="1200" spc="-5" dirty="0">
                <a:solidFill>
                  <a:srgbClr val="FF0000"/>
                </a:solidFill>
                <a:latin typeface="Palatino Linotype"/>
                <a:cs typeface="Palatino Linotype"/>
              </a:rPr>
              <a:t>parsers</a:t>
            </a:r>
            <a:r>
              <a:rPr sz="2000" b="1" kern="1200" spc="-25" dirty="0">
                <a:solidFill>
                  <a:srgbClr val="FF0000"/>
                </a:solidFill>
                <a:latin typeface="Palatino Linotype"/>
                <a:cs typeface="Palatino Linotype"/>
              </a:rPr>
              <a:t> </a:t>
            </a:r>
            <a:r>
              <a:rPr sz="2000" b="1" kern="1200" spc="-5" dirty="0">
                <a:solidFill>
                  <a:srgbClr val="FF0000"/>
                </a:solidFill>
                <a:latin typeface="Palatino Linotype"/>
                <a:cs typeface="Palatino Linotype"/>
              </a:rPr>
              <a:t>(</a:t>
            </a:r>
            <a:r>
              <a:rPr sz="2925" kern="1200" spc="89" baseline="1424" dirty="0">
                <a:solidFill>
                  <a:srgbClr val="FF0000"/>
                </a:solidFill>
                <a:latin typeface="SimSun"/>
                <a:cs typeface="SimSun"/>
              </a:rPr>
              <a:t>通用语法分析器</a:t>
            </a:r>
            <a:r>
              <a:rPr sz="2000" b="1" kern="1200" dirty="0">
                <a:solidFill>
                  <a:srgbClr val="FF0000"/>
                </a:solidFill>
                <a:latin typeface="Palatino Linotype"/>
                <a:cs typeface="Palatino Linotype"/>
              </a:rPr>
              <a:t>)</a:t>
            </a:r>
            <a:endParaRPr sz="2000" kern="1200" dirty="0">
              <a:solidFill>
                <a:prstClr val="black"/>
              </a:solidFill>
              <a:latin typeface="Palatino Linotype"/>
              <a:cs typeface="Palatino Linotype"/>
            </a:endParaRPr>
          </a:p>
          <a:p>
            <a:pPr marL="736600" lvl="1" indent="-228600" rtl="0">
              <a:spcBef>
                <a:spcPts val="995"/>
              </a:spcBef>
              <a:buFont typeface="Wingdings"/>
              <a:buChar char=""/>
              <a:tabLst>
                <a:tab pos="736600" algn="l"/>
              </a:tabLst>
            </a:pPr>
            <a:r>
              <a:rPr kern="1200" dirty="0">
                <a:solidFill>
                  <a:prstClr val="black"/>
                </a:solidFill>
                <a:latin typeface="Palatino Linotype"/>
                <a:cs typeface="Palatino Linotype"/>
              </a:rPr>
              <a:t>Some </a:t>
            </a:r>
            <a:r>
              <a:rPr kern="1200" spc="-5" dirty="0">
                <a:solidFill>
                  <a:prstClr val="black"/>
                </a:solidFill>
                <a:latin typeface="Palatino Linotype"/>
                <a:cs typeface="Palatino Linotype"/>
              </a:rPr>
              <a:t>methods (e.g.,</a:t>
            </a:r>
            <a:r>
              <a:rPr kern="1200" dirty="0">
                <a:solidFill>
                  <a:prstClr val="black"/>
                </a:solidFill>
                <a:latin typeface="Palatino Linotype"/>
                <a:cs typeface="Palatino Linotype"/>
              </a:rPr>
              <a:t> </a:t>
            </a:r>
            <a:r>
              <a:rPr kern="1200" spc="-25" dirty="0">
                <a:solidFill>
                  <a:prstClr val="black"/>
                </a:solidFill>
                <a:latin typeface="Palatino Linotype"/>
                <a:cs typeface="Palatino Linotype"/>
              </a:rPr>
              <a:t>Earley’s</a:t>
            </a:r>
            <a:r>
              <a:rPr kern="1200" spc="-5" dirty="0">
                <a:solidFill>
                  <a:prstClr val="black"/>
                </a:solidFill>
                <a:latin typeface="Palatino Linotype"/>
                <a:cs typeface="Palatino Linotype"/>
              </a:rPr>
              <a:t> algorithm</a:t>
            </a:r>
            <a:r>
              <a:rPr kern="1200" spc="-7" baseline="23148" dirty="0">
                <a:solidFill>
                  <a:prstClr val="black"/>
                </a:solidFill>
                <a:latin typeface="Palatino Linotype"/>
                <a:cs typeface="Palatino Linotype"/>
              </a:rPr>
              <a:t>1</a:t>
            </a:r>
            <a:r>
              <a:rPr kern="1200" spc="-5"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can parse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any</a:t>
            </a:r>
            <a:r>
              <a:rPr kern="1200" spc="-5" dirty="0">
                <a:solidFill>
                  <a:prstClr val="black"/>
                </a:solidFill>
                <a:latin typeface="Palatino Linotype"/>
                <a:cs typeface="Palatino Linotype"/>
              </a:rPr>
              <a:t> grammar</a:t>
            </a:r>
            <a:endParaRPr kern="1200" dirty="0">
              <a:solidFill>
                <a:prstClr val="black"/>
              </a:solidFill>
              <a:latin typeface="Palatino Linotype"/>
              <a:cs typeface="Palatino Linotype"/>
            </a:endParaRPr>
          </a:p>
          <a:p>
            <a:pPr marL="736600" lvl="1" indent="-228600" rtl="0">
              <a:spcBef>
                <a:spcPts val="1030"/>
              </a:spcBef>
              <a:buFont typeface="Wingdings"/>
              <a:buChar char=""/>
              <a:tabLst>
                <a:tab pos="736600" algn="l"/>
              </a:tabLst>
            </a:pPr>
            <a:r>
              <a:rPr kern="1200" spc="-20" dirty="0">
                <a:solidFill>
                  <a:prstClr val="black"/>
                </a:solidFill>
                <a:latin typeface="Palatino Linotype"/>
                <a:cs typeface="Palatino Linotype"/>
              </a:rPr>
              <a:t>However,</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they</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are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too</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inefficient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be</a:t>
            </a:r>
            <a:r>
              <a:rPr kern="1200" spc="-5" dirty="0">
                <a:solidFill>
                  <a:prstClr val="black"/>
                </a:solidFill>
                <a:latin typeface="Palatino Linotype"/>
                <a:cs typeface="Palatino Linotype"/>
              </a:rPr>
              <a:t> used</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practice</a:t>
            </a:r>
          </a:p>
          <a:p>
            <a:pPr lvl="1" rtl="0">
              <a:spcBef>
                <a:spcPts val="20"/>
              </a:spcBef>
              <a:buFont typeface="Wingdings"/>
              <a:buChar char=""/>
            </a:pPr>
            <a:endParaRPr sz="1650" kern="1200" dirty="0">
              <a:solidFill>
                <a:prstClr val="black"/>
              </a:solidFill>
              <a:latin typeface="Palatino Linotype"/>
              <a:cs typeface="Palatino Linotype"/>
            </a:endParaRPr>
          </a:p>
          <a:p>
            <a:pPr marL="281305" indent="-230504" rtl="0">
              <a:buClr>
                <a:srgbClr val="000000"/>
              </a:buClr>
              <a:buFont typeface="Arial MT"/>
              <a:buChar char="•"/>
              <a:tabLst>
                <a:tab pos="280670" algn="l"/>
                <a:tab pos="281305" algn="l"/>
              </a:tabLst>
            </a:pPr>
            <a:r>
              <a:rPr sz="2000" b="1" kern="1200" spc="-25" dirty="0">
                <a:solidFill>
                  <a:srgbClr val="FF0000"/>
                </a:solidFill>
                <a:latin typeface="Palatino Linotype"/>
                <a:cs typeface="Palatino Linotype"/>
              </a:rPr>
              <a:t>Top-down </a:t>
            </a:r>
            <a:r>
              <a:rPr sz="2000" b="1" kern="1200" spc="-5" dirty="0">
                <a:solidFill>
                  <a:srgbClr val="FF0000"/>
                </a:solidFill>
                <a:latin typeface="Palatino Linotype"/>
                <a:cs typeface="Palatino Linotype"/>
              </a:rPr>
              <a:t>parsers</a:t>
            </a:r>
            <a:r>
              <a:rPr sz="2000" b="1" kern="1200" spc="-25" dirty="0">
                <a:solidFill>
                  <a:srgbClr val="FF0000"/>
                </a:solidFill>
                <a:latin typeface="Palatino Linotype"/>
                <a:cs typeface="Palatino Linotype"/>
              </a:rPr>
              <a:t> </a:t>
            </a:r>
            <a:r>
              <a:rPr sz="2000" b="1" kern="1200" spc="-5" dirty="0">
                <a:solidFill>
                  <a:srgbClr val="FF0000"/>
                </a:solidFill>
                <a:latin typeface="Palatino Linotype"/>
                <a:cs typeface="Palatino Linotype"/>
              </a:rPr>
              <a:t>(</a:t>
            </a:r>
            <a:r>
              <a:rPr sz="2925" kern="1200" spc="89" baseline="1424" dirty="0">
                <a:solidFill>
                  <a:srgbClr val="FF0000"/>
                </a:solidFill>
                <a:latin typeface="SimSun"/>
                <a:cs typeface="SimSun"/>
              </a:rPr>
              <a:t>自顶向下语法分析器</a:t>
            </a:r>
            <a:r>
              <a:rPr sz="2000" b="1" kern="1200" dirty="0">
                <a:solidFill>
                  <a:srgbClr val="FF0000"/>
                </a:solidFill>
                <a:latin typeface="Palatino Linotype"/>
                <a:cs typeface="Palatino Linotype"/>
              </a:rPr>
              <a:t>)</a:t>
            </a:r>
            <a:endParaRPr sz="2000" kern="1200" dirty="0">
              <a:solidFill>
                <a:prstClr val="black"/>
              </a:solidFill>
              <a:latin typeface="Palatino Linotype"/>
              <a:cs typeface="Palatino Linotype"/>
            </a:endParaRPr>
          </a:p>
          <a:p>
            <a:pPr marL="736600" lvl="1" indent="-228600" rtl="0">
              <a:spcBef>
                <a:spcPts val="1090"/>
              </a:spcBef>
              <a:buFont typeface="Wingdings"/>
              <a:buChar char=""/>
              <a:tabLst>
                <a:tab pos="736600" algn="l"/>
              </a:tabLst>
            </a:pPr>
            <a:r>
              <a:rPr kern="1200" spc="-5" dirty="0">
                <a:solidFill>
                  <a:prstClr val="black"/>
                </a:solidFill>
                <a:latin typeface="Palatino Linotype"/>
                <a:cs typeface="Palatino Linotype"/>
              </a:rPr>
              <a:t>Construct </a:t>
            </a:r>
            <a:r>
              <a:rPr kern="1200" dirty="0">
                <a:solidFill>
                  <a:prstClr val="black"/>
                </a:solidFill>
                <a:latin typeface="Palatino Linotype"/>
                <a:cs typeface="Palatino Linotype"/>
              </a:rPr>
              <a:t>parse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trees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from</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 top (root) to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bottom</a:t>
            </a:r>
            <a:r>
              <a:rPr kern="1200" spc="-10" dirty="0">
                <a:solidFill>
                  <a:prstClr val="black"/>
                </a:solidFill>
                <a:latin typeface="Palatino Linotype"/>
                <a:cs typeface="Palatino Linotype"/>
              </a:rPr>
              <a:t> (leaves)</a:t>
            </a:r>
            <a:endParaRPr kern="1200" dirty="0">
              <a:solidFill>
                <a:prstClr val="black"/>
              </a:solidFill>
              <a:latin typeface="Palatino Linotype"/>
              <a:cs typeface="Palatino Linotype"/>
            </a:endParaRPr>
          </a:p>
          <a:p>
            <a:pPr lvl="1" rtl="0">
              <a:spcBef>
                <a:spcPts val="20"/>
              </a:spcBef>
              <a:buFont typeface="Wingdings"/>
              <a:buChar char=""/>
            </a:pPr>
            <a:endParaRPr sz="1650" kern="1200" dirty="0">
              <a:solidFill>
                <a:prstClr val="black"/>
              </a:solidFill>
              <a:latin typeface="Palatino Linotype"/>
              <a:cs typeface="Palatino Linotype"/>
            </a:endParaRPr>
          </a:p>
          <a:p>
            <a:pPr marL="281305" indent="-230504" rtl="0">
              <a:buClr>
                <a:srgbClr val="000000"/>
              </a:buClr>
              <a:buFont typeface="Arial MT"/>
              <a:buChar char="•"/>
              <a:tabLst>
                <a:tab pos="280670" algn="l"/>
                <a:tab pos="281305" algn="l"/>
              </a:tabLst>
            </a:pPr>
            <a:r>
              <a:rPr sz="2000" b="1" kern="1200" spc="-5" dirty="0">
                <a:solidFill>
                  <a:srgbClr val="FF0000"/>
                </a:solidFill>
                <a:latin typeface="Palatino Linotype"/>
                <a:cs typeface="Palatino Linotype"/>
              </a:rPr>
              <a:t>Bottom-up</a:t>
            </a:r>
            <a:r>
              <a:rPr sz="2000" b="1" kern="1200" spc="-20" dirty="0">
                <a:solidFill>
                  <a:srgbClr val="FF0000"/>
                </a:solidFill>
                <a:latin typeface="Palatino Linotype"/>
                <a:cs typeface="Palatino Linotype"/>
              </a:rPr>
              <a:t> </a:t>
            </a:r>
            <a:r>
              <a:rPr sz="2000" b="1" kern="1200" spc="-5" dirty="0">
                <a:solidFill>
                  <a:srgbClr val="FF0000"/>
                </a:solidFill>
                <a:latin typeface="Palatino Linotype"/>
                <a:cs typeface="Palatino Linotype"/>
              </a:rPr>
              <a:t>parsers</a:t>
            </a:r>
            <a:r>
              <a:rPr sz="2000" b="1" kern="1200" spc="-25" dirty="0">
                <a:solidFill>
                  <a:srgbClr val="FF0000"/>
                </a:solidFill>
                <a:latin typeface="Palatino Linotype"/>
                <a:cs typeface="Palatino Linotype"/>
              </a:rPr>
              <a:t> </a:t>
            </a:r>
            <a:r>
              <a:rPr sz="2000" b="1" kern="1200" spc="-5" dirty="0">
                <a:solidFill>
                  <a:srgbClr val="FF0000"/>
                </a:solidFill>
                <a:latin typeface="Palatino Linotype"/>
                <a:cs typeface="Palatino Linotype"/>
              </a:rPr>
              <a:t>(</a:t>
            </a:r>
            <a:r>
              <a:rPr sz="2925" kern="1200" spc="89" baseline="1424" dirty="0">
                <a:solidFill>
                  <a:srgbClr val="FF0000"/>
                </a:solidFill>
                <a:latin typeface="SimSun"/>
                <a:cs typeface="SimSun"/>
              </a:rPr>
              <a:t>自底向上语法分析器</a:t>
            </a:r>
            <a:r>
              <a:rPr sz="2000" b="1" kern="1200" dirty="0">
                <a:solidFill>
                  <a:srgbClr val="FF0000"/>
                </a:solidFill>
                <a:latin typeface="Palatino Linotype"/>
                <a:cs typeface="Palatino Linotype"/>
              </a:rPr>
              <a:t>)</a:t>
            </a:r>
            <a:endParaRPr sz="2000" kern="1200" dirty="0">
              <a:solidFill>
                <a:prstClr val="black"/>
              </a:solidFill>
              <a:latin typeface="Palatino Linotype"/>
              <a:cs typeface="Palatino Linotype"/>
            </a:endParaRPr>
          </a:p>
          <a:p>
            <a:pPr marL="736600" lvl="1" indent="-228600" rtl="0">
              <a:spcBef>
                <a:spcPts val="1115"/>
              </a:spcBef>
              <a:buFont typeface="Wingdings"/>
              <a:buChar char=""/>
              <a:tabLst>
                <a:tab pos="736600" algn="l"/>
              </a:tabLst>
            </a:pPr>
            <a:r>
              <a:rPr kern="1200" spc="-5" dirty="0">
                <a:solidFill>
                  <a:prstClr val="black"/>
                </a:solidFill>
                <a:latin typeface="Palatino Linotype"/>
                <a:cs typeface="Palatino Linotype"/>
              </a:rPr>
              <a:t>Construct </a:t>
            </a:r>
            <a:r>
              <a:rPr kern="1200" dirty="0">
                <a:solidFill>
                  <a:prstClr val="black"/>
                </a:solidFill>
                <a:latin typeface="Palatino Linotype"/>
                <a:cs typeface="Palatino Linotype"/>
              </a:rPr>
              <a:t>parse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trees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from</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 bottom</a:t>
            </a:r>
            <a:r>
              <a:rPr kern="1200" spc="-10" dirty="0">
                <a:solidFill>
                  <a:prstClr val="black"/>
                </a:solidFill>
                <a:latin typeface="Palatino Linotype"/>
                <a:cs typeface="Palatino Linotype"/>
              </a:rPr>
              <a:t> (leaves)</a:t>
            </a:r>
            <a:r>
              <a:rPr kern="1200" dirty="0">
                <a:solidFill>
                  <a:prstClr val="black"/>
                </a:solidFill>
                <a:latin typeface="Palatino Linotype"/>
                <a:cs typeface="Palatino Linotype"/>
              </a:rPr>
              <a:t> to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top (root)</a:t>
            </a:r>
          </a:p>
          <a:p>
            <a:pPr marL="50800" marR="30480" rtl="0">
              <a:lnSpc>
                <a:spcPct val="120000"/>
              </a:lnSpc>
              <a:spcBef>
                <a:spcPts val="1735"/>
              </a:spcBef>
            </a:pPr>
            <a:r>
              <a:rPr sz="1600" b="1" kern="1200" spc="-5" dirty="0">
                <a:solidFill>
                  <a:schemeClr val="bg2">
                    <a:lumMod val="50000"/>
                  </a:schemeClr>
                </a:solidFill>
                <a:latin typeface="Palatino Linotype"/>
                <a:cs typeface="Palatino Linotype"/>
              </a:rPr>
              <a:t>Note:</a:t>
            </a:r>
            <a:r>
              <a:rPr sz="1600" b="1" kern="1200" dirty="0">
                <a:solidFill>
                  <a:schemeClr val="bg2">
                    <a:lumMod val="50000"/>
                  </a:schemeClr>
                </a:solidFill>
                <a:latin typeface="Palatino Linotype"/>
                <a:cs typeface="Palatino Linotype"/>
              </a:rPr>
              <a:t> </a:t>
            </a:r>
            <a:r>
              <a:rPr sz="1600" kern="1200" spc="-20" dirty="0">
                <a:solidFill>
                  <a:schemeClr val="bg2">
                    <a:lumMod val="50000"/>
                  </a:schemeClr>
                </a:solidFill>
                <a:latin typeface="Palatino Linotype"/>
                <a:cs typeface="Palatino Linotype"/>
              </a:rPr>
              <a:t>Top-down</a:t>
            </a:r>
            <a:r>
              <a:rPr sz="1600" kern="1200" spc="10"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and</a:t>
            </a:r>
            <a:r>
              <a:rPr sz="1600" kern="1200" spc="-5" dirty="0">
                <a:solidFill>
                  <a:schemeClr val="bg2">
                    <a:lumMod val="50000"/>
                  </a:schemeClr>
                </a:solidFill>
                <a:latin typeface="Palatino Linotype"/>
                <a:cs typeface="Palatino Linotype"/>
              </a:rPr>
              <a:t> bottom-up</a:t>
            </a:r>
            <a:r>
              <a:rPr sz="1600" kern="1200" spc="5"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parsing</a:t>
            </a:r>
            <a:r>
              <a:rPr sz="1600" kern="1200" spc="-5"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both</a:t>
            </a:r>
            <a:r>
              <a:rPr sz="1600" kern="1200" spc="10" dirty="0">
                <a:solidFill>
                  <a:schemeClr val="bg2">
                    <a:lumMod val="50000"/>
                  </a:schemeClr>
                </a:solidFill>
                <a:latin typeface="Palatino Linotype"/>
                <a:cs typeface="Palatino Linotype"/>
              </a:rPr>
              <a:t> </a:t>
            </a:r>
            <a:r>
              <a:rPr sz="1600" kern="1200" spc="-5" dirty="0">
                <a:solidFill>
                  <a:schemeClr val="bg2">
                    <a:lumMod val="50000"/>
                  </a:schemeClr>
                </a:solidFill>
                <a:latin typeface="Palatino Linotype"/>
                <a:cs typeface="Palatino Linotype"/>
              </a:rPr>
              <a:t>scan</a:t>
            </a:r>
            <a:r>
              <a:rPr sz="1600" kern="1200" spc="5"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the </a:t>
            </a:r>
            <a:r>
              <a:rPr sz="1600" kern="1200" spc="-5" dirty="0">
                <a:solidFill>
                  <a:schemeClr val="bg2">
                    <a:lumMod val="50000"/>
                  </a:schemeClr>
                </a:solidFill>
                <a:latin typeface="Palatino Linotype"/>
                <a:cs typeface="Palatino Linotype"/>
              </a:rPr>
              <a:t>input</a:t>
            </a:r>
            <a:r>
              <a:rPr sz="1600" kern="1200" dirty="0">
                <a:solidFill>
                  <a:schemeClr val="bg2">
                    <a:lumMod val="50000"/>
                  </a:schemeClr>
                </a:solidFill>
                <a:latin typeface="Palatino Linotype"/>
                <a:cs typeface="Palatino Linotype"/>
              </a:rPr>
              <a:t> from</a:t>
            </a:r>
            <a:r>
              <a:rPr sz="1600" kern="1200" spc="5" dirty="0">
                <a:solidFill>
                  <a:schemeClr val="bg2">
                    <a:lumMod val="50000"/>
                  </a:schemeClr>
                </a:solidFill>
                <a:latin typeface="Palatino Linotype"/>
                <a:cs typeface="Palatino Linotype"/>
              </a:rPr>
              <a:t> </a:t>
            </a:r>
            <a:r>
              <a:rPr sz="1600" kern="1200" spc="-5" dirty="0">
                <a:solidFill>
                  <a:schemeClr val="bg2">
                    <a:lumMod val="50000"/>
                  </a:schemeClr>
                </a:solidFill>
                <a:latin typeface="Palatino Linotype"/>
                <a:cs typeface="Palatino Linotype"/>
              </a:rPr>
              <a:t>left</a:t>
            </a:r>
            <a:r>
              <a:rPr sz="1600" kern="1200" spc="5"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to right,</a:t>
            </a:r>
            <a:r>
              <a:rPr sz="1600" kern="1200" spc="5"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one </a:t>
            </a:r>
            <a:r>
              <a:rPr sz="1600" kern="1200" spc="5" dirty="0">
                <a:solidFill>
                  <a:schemeClr val="bg2">
                    <a:lumMod val="50000"/>
                  </a:schemeClr>
                </a:solidFill>
                <a:latin typeface="Palatino Linotype"/>
                <a:cs typeface="Palatino Linotype"/>
              </a:rPr>
              <a:t> </a:t>
            </a:r>
            <a:r>
              <a:rPr sz="1600" kern="1200" spc="-5" dirty="0">
                <a:solidFill>
                  <a:schemeClr val="bg2">
                    <a:lumMod val="50000"/>
                  </a:schemeClr>
                </a:solidFill>
                <a:latin typeface="Palatino Linotype"/>
                <a:cs typeface="Palatino Linotype"/>
              </a:rPr>
              <a:t>symbol</a:t>
            </a:r>
            <a:r>
              <a:rPr sz="1600" kern="1200" dirty="0">
                <a:solidFill>
                  <a:schemeClr val="bg2">
                    <a:lumMod val="50000"/>
                  </a:schemeClr>
                </a:solidFill>
                <a:latin typeface="Palatino Linotype"/>
                <a:cs typeface="Palatino Linotype"/>
              </a:rPr>
              <a:t> at</a:t>
            </a:r>
            <a:r>
              <a:rPr sz="1600" kern="1200" spc="5"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a</a:t>
            </a:r>
            <a:r>
              <a:rPr sz="1600" kern="1200" spc="10" dirty="0">
                <a:solidFill>
                  <a:schemeClr val="bg2">
                    <a:lumMod val="50000"/>
                  </a:schemeClr>
                </a:solidFill>
                <a:latin typeface="Palatino Linotype"/>
                <a:cs typeface="Palatino Linotype"/>
              </a:rPr>
              <a:t> </a:t>
            </a:r>
            <a:r>
              <a:rPr sz="1600" kern="1200" spc="-5" dirty="0">
                <a:solidFill>
                  <a:schemeClr val="bg2">
                    <a:lumMod val="50000"/>
                  </a:schemeClr>
                </a:solidFill>
                <a:latin typeface="Palatino Linotype"/>
                <a:cs typeface="Palatino Linotype"/>
              </a:rPr>
              <a:t>time.</a:t>
            </a:r>
            <a:r>
              <a:rPr sz="1600" kern="1200" spc="5" dirty="0">
                <a:solidFill>
                  <a:schemeClr val="bg2">
                    <a:lumMod val="50000"/>
                  </a:schemeClr>
                </a:solidFill>
                <a:latin typeface="Palatino Linotype"/>
                <a:cs typeface="Palatino Linotype"/>
              </a:rPr>
              <a:t> </a:t>
            </a:r>
            <a:r>
              <a:rPr sz="1600" kern="1200" spc="-5" dirty="0">
                <a:solidFill>
                  <a:schemeClr val="bg2">
                    <a:lumMod val="50000"/>
                  </a:schemeClr>
                </a:solidFill>
                <a:latin typeface="Palatino Linotype"/>
                <a:cs typeface="Palatino Linotype"/>
              </a:rPr>
              <a:t>They</a:t>
            </a:r>
            <a:r>
              <a:rPr sz="1600" kern="1200" dirty="0">
                <a:solidFill>
                  <a:schemeClr val="bg2">
                    <a:lumMod val="50000"/>
                  </a:schemeClr>
                </a:solidFill>
                <a:latin typeface="Palatino Linotype"/>
                <a:cs typeface="Palatino Linotype"/>
              </a:rPr>
              <a:t> </a:t>
            </a:r>
            <a:r>
              <a:rPr sz="1600" kern="1200" spc="-5" dirty="0">
                <a:solidFill>
                  <a:schemeClr val="bg2">
                    <a:lumMod val="50000"/>
                  </a:schemeClr>
                </a:solidFill>
                <a:latin typeface="Palatino Linotype"/>
                <a:cs typeface="Palatino Linotype"/>
              </a:rPr>
              <a:t>work</a:t>
            </a:r>
            <a:r>
              <a:rPr sz="1600" kern="1200" spc="5"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only for</a:t>
            </a:r>
            <a:r>
              <a:rPr sz="1600" kern="1200" spc="10" dirty="0">
                <a:solidFill>
                  <a:schemeClr val="bg2">
                    <a:lumMod val="50000"/>
                  </a:schemeClr>
                </a:solidFill>
                <a:latin typeface="Palatino Linotype"/>
                <a:cs typeface="Palatino Linotype"/>
              </a:rPr>
              <a:t> </a:t>
            </a:r>
            <a:r>
              <a:rPr sz="1600" kern="1200" spc="-5" dirty="0">
                <a:solidFill>
                  <a:schemeClr val="bg2">
                    <a:lumMod val="50000"/>
                  </a:schemeClr>
                </a:solidFill>
                <a:latin typeface="Palatino Linotype"/>
                <a:cs typeface="Palatino Linotype"/>
              </a:rPr>
              <a:t>certain</a:t>
            </a:r>
            <a:r>
              <a:rPr sz="1600" kern="1200" spc="15" dirty="0">
                <a:solidFill>
                  <a:schemeClr val="bg2">
                    <a:lumMod val="50000"/>
                  </a:schemeClr>
                </a:solidFill>
                <a:latin typeface="Palatino Linotype"/>
                <a:cs typeface="Palatino Linotype"/>
              </a:rPr>
              <a:t> </a:t>
            </a:r>
            <a:r>
              <a:rPr sz="1600" kern="1200" spc="-5" dirty="0">
                <a:solidFill>
                  <a:schemeClr val="bg2">
                    <a:lumMod val="50000"/>
                  </a:schemeClr>
                </a:solidFill>
                <a:latin typeface="Palatino Linotype"/>
                <a:cs typeface="Palatino Linotype"/>
              </a:rPr>
              <a:t>grammars,</a:t>
            </a:r>
            <a:r>
              <a:rPr sz="1600" kern="1200" spc="5"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which</a:t>
            </a:r>
            <a:r>
              <a:rPr sz="1600" kern="1200" spc="10" dirty="0">
                <a:solidFill>
                  <a:schemeClr val="bg2">
                    <a:lumMod val="50000"/>
                  </a:schemeClr>
                </a:solidFill>
                <a:latin typeface="Palatino Linotype"/>
                <a:cs typeface="Palatino Linotype"/>
              </a:rPr>
              <a:t> </a:t>
            </a:r>
            <a:r>
              <a:rPr sz="1600" kern="1200" dirty="0">
                <a:solidFill>
                  <a:schemeClr val="bg2">
                    <a:lumMod val="50000"/>
                  </a:schemeClr>
                </a:solidFill>
                <a:latin typeface="Palatino Linotype"/>
                <a:cs typeface="Palatino Linotype"/>
              </a:rPr>
              <a:t>are</a:t>
            </a:r>
            <a:r>
              <a:rPr sz="1600" kern="1200" spc="5" dirty="0">
                <a:solidFill>
                  <a:schemeClr val="bg2">
                    <a:lumMod val="50000"/>
                  </a:schemeClr>
                </a:solidFill>
                <a:latin typeface="Palatino Linotype"/>
                <a:cs typeface="Palatino Linotype"/>
              </a:rPr>
              <a:t> </a:t>
            </a:r>
            <a:r>
              <a:rPr sz="1600" kern="1200" spc="-10" dirty="0">
                <a:solidFill>
                  <a:schemeClr val="bg2">
                    <a:lumMod val="50000"/>
                  </a:schemeClr>
                </a:solidFill>
                <a:latin typeface="Palatino Linotype"/>
                <a:cs typeface="Palatino Linotype"/>
              </a:rPr>
              <a:t>expressive</a:t>
            </a:r>
            <a:r>
              <a:rPr sz="1600" kern="1200" dirty="0">
                <a:solidFill>
                  <a:schemeClr val="bg2">
                    <a:lumMod val="50000"/>
                  </a:schemeClr>
                </a:solidFill>
                <a:latin typeface="Palatino Linotype"/>
                <a:cs typeface="Palatino Linotype"/>
              </a:rPr>
              <a:t> </a:t>
            </a:r>
            <a:r>
              <a:rPr sz="1600" kern="1200" spc="-5" dirty="0">
                <a:solidFill>
                  <a:schemeClr val="bg2">
                    <a:lumMod val="50000"/>
                  </a:schemeClr>
                </a:solidFill>
                <a:latin typeface="Palatino Linotype"/>
                <a:cs typeface="Palatino Linotype"/>
              </a:rPr>
              <a:t>enough.</a:t>
            </a:r>
            <a:endParaRPr sz="1600" kern="1200" dirty="0">
              <a:solidFill>
                <a:schemeClr val="bg2">
                  <a:lumMod val="50000"/>
                </a:schemeClr>
              </a:solidFill>
              <a:latin typeface="Palatino Linotype"/>
              <a:cs typeface="Palatino Linotype"/>
            </a:endParaRPr>
          </a:p>
          <a:p>
            <a:pPr rtl="0">
              <a:spcBef>
                <a:spcPts val="45"/>
              </a:spcBef>
            </a:pPr>
            <a:endParaRPr sz="1750" kern="1200" dirty="0">
              <a:solidFill>
                <a:prstClr val="black"/>
              </a:solidFill>
              <a:latin typeface="Palatino Linotype"/>
              <a:cs typeface="Palatino Linotype"/>
            </a:endParaRPr>
          </a:p>
          <a:p>
            <a:pPr marL="50800" rtl="0"/>
            <a:r>
              <a:rPr sz="1350" kern="1200" baseline="24691" dirty="0">
                <a:solidFill>
                  <a:srgbClr val="A6A6A6"/>
                </a:solidFill>
                <a:latin typeface="Palatino Linotype"/>
                <a:cs typeface="Palatino Linotype"/>
              </a:rPr>
              <a:t>1</a:t>
            </a:r>
            <a:r>
              <a:rPr sz="1350" kern="1200" spc="82" baseline="24691" dirty="0">
                <a:solidFill>
                  <a:srgbClr val="A6A6A6"/>
                </a:solidFill>
                <a:latin typeface="Palatino Linotype"/>
                <a:cs typeface="Palatino Linotype"/>
              </a:rPr>
              <a:t> </a:t>
            </a:r>
            <a:r>
              <a:rPr sz="1400" kern="1200" spc="-5" dirty="0">
                <a:solidFill>
                  <a:srgbClr val="A6A6A6"/>
                </a:solidFill>
                <a:latin typeface="Palatino Linotype"/>
                <a:cs typeface="Palatino Linotype"/>
                <a:hlinkClick r:id="rId3"/>
              </a:rPr>
              <a:t>http://loup-vaillant.fr/tutorials/earley-parsing/</a:t>
            </a:r>
            <a:endParaRPr sz="1400" kern="1200" dirty="0">
              <a:solidFill>
                <a:prstClr val="black"/>
              </a:solidFill>
              <a:latin typeface="Palatino Linotype"/>
              <a:cs typeface="Palatino Linotype"/>
            </a:endParaRPr>
          </a:p>
        </p:txBody>
      </p:sp>
    </p:spTree>
    <p:extLst>
      <p:ext uri="{BB962C8B-B14F-4D97-AF65-F5344CB8AC3E}">
        <p14:creationId xmlns:p14="http://schemas.microsoft.com/office/powerpoint/2010/main" val="1024775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6">
            <a:extLst>
              <a:ext uri="{FF2B5EF4-FFF2-40B4-BE49-F238E27FC236}">
                <a16:creationId xmlns:a16="http://schemas.microsoft.com/office/drawing/2014/main" id="{01150CEA-72CC-EA64-2CD5-2CFFCD441C00}"/>
              </a:ext>
            </a:extLst>
          </p:cNvPr>
          <p:cNvSpPr txBox="1"/>
          <p:nvPr/>
        </p:nvSpPr>
        <p:spPr>
          <a:xfrm>
            <a:off x="5652120" y="136524"/>
            <a:ext cx="3226435" cy="2564163"/>
          </a:xfrm>
          <a:prstGeom prst="rect">
            <a:avLst/>
          </a:prstGeom>
          <a:ln w="12700">
            <a:solidFill>
              <a:srgbClr val="7F7F7F"/>
            </a:solidFill>
          </a:ln>
        </p:spPr>
        <p:txBody>
          <a:bodyPr vert="horz" wrap="square" lIns="0" tIns="121285" rIns="0" bIns="0" rtlCol="0">
            <a:spAutoFit/>
          </a:bodyPr>
          <a:lstStyle/>
          <a:p>
            <a:pPr marL="449580" indent="-286385">
              <a:lnSpc>
                <a:spcPct val="100000"/>
              </a:lnSpc>
              <a:spcBef>
                <a:spcPts val="955"/>
              </a:spcBef>
              <a:buFont typeface="Arial MT"/>
              <a:buChar char="•"/>
              <a:tabLst>
                <a:tab pos="449580" algn="l"/>
                <a:tab pos="450215" algn="l"/>
              </a:tabLst>
            </a:pPr>
            <a:r>
              <a:rPr sz="1800" spc="-5" dirty="0">
                <a:latin typeface="Palatino Linotype"/>
                <a:cs typeface="Palatino Linotype"/>
              </a:rPr>
              <a:t>Formal</a:t>
            </a:r>
            <a:r>
              <a:rPr sz="1800" spc="-20" dirty="0">
                <a:latin typeface="Palatino Linotype"/>
                <a:cs typeface="Palatino Linotype"/>
              </a:rPr>
              <a:t> </a:t>
            </a:r>
            <a:r>
              <a:rPr sz="1800" dirty="0">
                <a:latin typeface="Palatino Linotype"/>
                <a:cs typeface="Palatino Linotype"/>
              </a:rPr>
              <a:t>definition</a:t>
            </a:r>
            <a:r>
              <a:rPr sz="1800" spc="-15" dirty="0">
                <a:latin typeface="Palatino Linotype"/>
                <a:cs typeface="Palatino Linotype"/>
              </a:rPr>
              <a:t> </a:t>
            </a:r>
            <a:r>
              <a:rPr sz="1800" dirty="0">
                <a:latin typeface="Palatino Linotype"/>
                <a:cs typeface="Palatino Linotype"/>
              </a:rPr>
              <a:t>of</a:t>
            </a:r>
            <a:r>
              <a:rPr sz="1800" spc="-20" dirty="0">
                <a:latin typeface="Palatino Linotype"/>
                <a:cs typeface="Palatino Linotype"/>
              </a:rPr>
              <a:t> </a:t>
            </a:r>
            <a:r>
              <a:rPr sz="1800" spc="-5" dirty="0">
                <a:latin typeface="Palatino Linotype"/>
                <a:cs typeface="Palatino Linotype"/>
              </a:rPr>
              <a:t>CFG</a:t>
            </a:r>
            <a:endParaRPr sz="1800" dirty="0">
              <a:latin typeface="Palatino Linotype"/>
              <a:cs typeface="Palatino Linotype"/>
            </a:endParaRPr>
          </a:p>
          <a:p>
            <a:pPr>
              <a:lnSpc>
                <a:spcPct val="100000"/>
              </a:lnSpc>
              <a:spcBef>
                <a:spcPts val="55"/>
              </a:spcBef>
              <a:buChar char="•"/>
            </a:pPr>
            <a:endParaRPr sz="1700" dirty="0">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10" dirty="0">
                <a:solidFill>
                  <a:schemeClr val="bg2">
                    <a:lumMod val="50000"/>
                  </a:schemeClr>
                </a:solidFill>
                <a:latin typeface="Palatino Linotype"/>
                <a:cs typeface="Palatino Linotype"/>
              </a:rPr>
              <a:t>Derivation</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and</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parse</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tree</a:t>
            </a:r>
          </a:p>
          <a:p>
            <a:pPr>
              <a:lnSpc>
                <a:spcPct val="100000"/>
              </a:lnSpc>
              <a:spcBef>
                <a:spcPts val="5"/>
              </a:spcBef>
              <a:buChar char="•"/>
            </a:pPr>
            <a:endParaRPr sz="1650" dirty="0">
              <a:solidFill>
                <a:schemeClr val="bg2">
                  <a:lumMod val="50000"/>
                </a:schemeClr>
              </a:solidFill>
              <a:latin typeface="Palatino Linotype"/>
              <a:cs typeface="Palatino Linotype"/>
            </a:endParaRPr>
          </a:p>
          <a:p>
            <a:pPr marL="449580" indent="-286385">
              <a:lnSpc>
                <a:spcPct val="100000"/>
              </a:lnSpc>
              <a:buFont typeface="Arial MT"/>
              <a:buChar char="•"/>
              <a:tabLst>
                <a:tab pos="449580" algn="l"/>
                <a:tab pos="450215" algn="l"/>
              </a:tabLst>
            </a:pPr>
            <a:r>
              <a:rPr sz="1800" spc="-5" dirty="0">
                <a:solidFill>
                  <a:schemeClr val="bg2">
                    <a:lumMod val="50000"/>
                  </a:schemeClr>
                </a:solidFill>
                <a:latin typeface="Palatino Linotype"/>
                <a:cs typeface="Palatino Linotype"/>
              </a:rPr>
              <a:t>Ambiguity</a:t>
            </a:r>
            <a:endParaRPr sz="1800" dirty="0">
              <a:solidFill>
                <a:schemeClr val="bg2">
                  <a:lumMod val="50000"/>
                </a:schemeClr>
              </a:solidFill>
              <a:latin typeface="Palatino Linotype"/>
              <a:cs typeface="Palatino Linotype"/>
            </a:endParaRPr>
          </a:p>
          <a:p>
            <a:pPr>
              <a:lnSpc>
                <a:spcPct val="100000"/>
              </a:lnSpc>
              <a:spcBef>
                <a:spcPts val="55"/>
              </a:spcBef>
              <a:buChar char="•"/>
            </a:pPr>
            <a:endParaRPr sz="1700" dirty="0">
              <a:solidFill>
                <a:schemeClr val="bg2">
                  <a:lumMod val="50000"/>
                </a:schemeClr>
              </a:solidFill>
              <a:latin typeface="Palatino Linotype"/>
              <a:cs typeface="Palatino Linotype"/>
            </a:endParaRPr>
          </a:p>
          <a:p>
            <a:pPr marL="449580" indent="-286385">
              <a:lnSpc>
                <a:spcPct val="100000"/>
              </a:lnSpc>
              <a:buFont typeface="Arial MT"/>
              <a:buChar char="•"/>
              <a:tabLst>
                <a:tab pos="449580" algn="l"/>
                <a:tab pos="450215" algn="l"/>
              </a:tabLst>
            </a:pPr>
            <a:r>
              <a:rPr sz="1800" spc="-5" dirty="0">
                <a:solidFill>
                  <a:schemeClr val="bg2">
                    <a:lumMod val="50000"/>
                  </a:schemeClr>
                </a:solidFill>
                <a:latin typeface="Palatino Linotype"/>
                <a:cs typeface="Palatino Linotype"/>
              </a:rPr>
              <a:t>CFG</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vs.</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regexp</a:t>
            </a:r>
            <a:endParaRPr sz="1800" dirty="0">
              <a:solidFill>
                <a:schemeClr val="bg2">
                  <a:lumMod val="50000"/>
                </a:schemeClr>
              </a:solidFill>
              <a:latin typeface="Palatino Linotype"/>
              <a:cs typeface="Palatino Linotype"/>
            </a:endParaRPr>
          </a:p>
          <a:p>
            <a:pPr>
              <a:lnSpc>
                <a:spcPct val="100000"/>
              </a:lnSpc>
              <a:spcBef>
                <a:spcPts val="5"/>
              </a:spcBef>
              <a:buChar char="•"/>
            </a:pPr>
            <a:endParaRPr sz="1650" dirty="0">
              <a:solidFill>
                <a:schemeClr val="bg2">
                  <a:lumMod val="50000"/>
                </a:schemeClr>
              </a:solidFill>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5" dirty="0">
                <a:solidFill>
                  <a:schemeClr val="bg2">
                    <a:lumMod val="50000"/>
                  </a:schemeClr>
                </a:solidFill>
                <a:latin typeface="Palatino Linotype"/>
                <a:cs typeface="Palatino Linotype"/>
              </a:rPr>
              <a:t>Grammar</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design</a:t>
            </a:r>
            <a:endParaRPr sz="1800" dirty="0">
              <a:solidFill>
                <a:schemeClr val="bg2">
                  <a:lumMod val="50000"/>
                </a:schemeClr>
              </a:solidFill>
              <a:latin typeface="Palatino Linotype"/>
              <a:cs typeface="Palatino Linotype"/>
            </a:endParaRPr>
          </a:p>
        </p:txBody>
      </p:sp>
      <p:sp>
        <p:nvSpPr>
          <p:cNvPr id="6" name="object 7">
            <a:extLst>
              <a:ext uri="{FF2B5EF4-FFF2-40B4-BE49-F238E27FC236}">
                <a16:creationId xmlns:a16="http://schemas.microsoft.com/office/drawing/2014/main" id="{296F1C25-B6ED-0F61-B0FE-BEDCA5800578}"/>
              </a:ext>
            </a:extLst>
          </p:cNvPr>
          <p:cNvSpPr/>
          <p:nvPr/>
        </p:nvSpPr>
        <p:spPr>
          <a:xfrm>
            <a:off x="4450680" y="1898772"/>
            <a:ext cx="1207770" cy="554355"/>
          </a:xfrm>
          <a:custGeom>
            <a:avLst/>
            <a:gdLst/>
            <a:ahLst/>
            <a:cxnLst/>
            <a:rect l="l" t="t" r="r" b="b"/>
            <a:pathLst>
              <a:path w="1207770" h="554355">
                <a:moveTo>
                  <a:pt x="1207472" y="0"/>
                </a:moveTo>
                <a:lnTo>
                  <a:pt x="0" y="553742"/>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2317990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a:t>
            </a:fld>
            <a:endParaRPr lang="en-US"/>
          </a:p>
        </p:txBody>
      </p:sp>
      <p:sp>
        <p:nvSpPr>
          <p:cNvPr id="7" name="object 2">
            <a:extLst>
              <a:ext uri="{FF2B5EF4-FFF2-40B4-BE49-F238E27FC236}">
                <a16:creationId xmlns:a16="http://schemas.microsoft.com/office/drawing/2014/main" id="{220F8C7E-7B04-4FDA-3018-19595B857077}"/>
              </a:ext>
            </a:extLst>
          </p:cNvPr>
          <p:cNvSpPr txBox="1">
            <a:spLocks/>
          </p:cNvSpPr>
          <p:nvPr/>
        </p:nvSpPr>
        <p:spPr>
          <a:xfrm>
            <a:off x="712203" y="598423"/>
            <a:ext cx="7747000" cy="52832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300" b="1" i="0" u="none" strike="noStrike" kern="0" cap="none" spc="-5" normalizeH="0" baseline="0" noProof="0">
                <a:ln>
                  <a:noFill/>
                </a:ln>
                <a:solidFill>
                  <a:sysClr val="windowText" lastClr="000000"/>
                </a:solidFill>
                <a:effectLst/>
                <a:uLnTx/>
                <a:uFillTx/>
                <a:latin typeface="Palatino Linotype"/>
                <a:ea typeface="+mj-ea"/>
              </a:rPr>
              <a:t>Context-Free</a:t>
            </a:r>
            <a:r>
              <a:rPr kumimoji="0" lang="en-US" sz="3300" b="1" i="0" u="none" strike="noStrike" kern="0" cap="none" spc="-25" normalizeH="0" baseline="0" noProof="0">
                <a:ln>
                  <a:noFill/>
                </a:ln>
                <a:solidFill>
                  <a:sysClr val="windowText" lastClr="000000"/>
                </a:solidFill>
                <a:effectLst/>
                <a:uLnTx/>
                <a:uFillTx/>
                <a:latin typeface="Palatino Linotype"/>
                <a:ea typeface="+mj-ea"/>
              </a:rPr>
              <a:t> </a:t>
            </a:r>
            <a:r>
              <a:rPr kumimoji="0" lang="en-US" sz="3300" b="1" i="0" u="none" strike="noStrike" kern="0" cap="none" spc="0" normalizeH="0" baseline="0" noProof="0">
                <a:ln>
                  <a:noFill/>
                </a:ln>
                <a:solidFill>
                  <a:sysClr val="windowText" lastClr="000000"/>
                </a:solidFill>
                <a:effectLst/>
                <a:uLnTx/>
                <a:uFillTx/>
                <a:latin typeface="Palatino Linotype"/>
                <a:ea typeface="+mj-ea"/>
              </a:rPr>
              <a:t>Grammar</a:t>
            </a:r>
            <a:r>
              <a:rPr kumimoji="0" lang="en-US" sz="3300" b="1" i="0" u="none" strike="noStrike" kern="0" cap="none" spc="-25" normalizeH="0" baseline="0" noProof="0">
                <a:ln>
                  <a:noFill/>
                </a:ln>
                <a:solidFill>
                  <a:sysClr val="windowText" lastClr="000000"/>
                </a:solidFill>
                <a:effectLst/>
                <a:uLnTx/>
                <a:uFillTx/>
                <a:latin typeface="Palatino Linotype"/>
                <a:ea typeface="+mj-ea"/>
              </a:rPr>
              <a:t> </a:t>
            </a:r>
            <a:r>
              <a:rPr kumimoji="0" lang="en-US" sz="33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2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上下文无关文法</a:t>
            </a:r>
            <a:r>
              <a:rPr kumimoji="0" lang="en-US" altLang="zh-CN" sz="33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33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8" name="object 3">
            <a:extLst>
              <a:ext uri="{FF2B5EF4-FFF2-40B4-BE49-F238E27FC236}">
                <a16:creationId xmlns:a16="http://schemas.microsoft.com/office/drawing/2014/main" id="{95B94107-A053-8385-4A23-458ECD0ADE86}"/>
              </a:ext>
            </a:extLst>
          </p:cNvPr>
          <p:cNvSpPr txBox="1"/>
          <p:nvPr/>
        </p:nvSpPr>
        <p:spPr>
          <a:xfrm>
            <a:off x="707390" y="1510821"/>
            <a:ext cx="7731759" cy="4460240"/>
          </a:xfrm>
          <a:prstGeom prst="rect">
            <a:avLst/>
          </a:prstGeom>
        </p:spPr>
        <p:txBody>
          <a:bodyPr vert="horz" wrap="square" lIns="0" tIns="161290" rIns="0" bIns="0" rtlCol="0">
            <a:spAutoFit/>
          </a:bodyPr>
          <a:lstStyle/>
          <a:p>
            <a:pPr marL="243204" indent="-230504" rtl="0">
              <a:spcBef>
                <a:spcPts val="1270"/>
              </a:spcBef>
              <a:buFont typeface="Arial MT"/>
              <a:buChar char="•"/>
              <a:tabLst>
                <a:tab pos="242570" algn="l"/>
                <a:tab pos="243204" algn="l"/>
              </a:tabLst>
            </a:pPr>
            <a:r>
              <a:rPr sz="2000" b="1" kern="1200" dirty="0">
                <a:solidFill>
                  <a:prstClr val="black"/>
                </a:solidFill>
                <a:latin typeface="Palatino Linotype"/>
                <a:cs typeface="Palatino Linotype"/>
              </a:rPr>
              <a:t>A</a:t>
            </a:r>
            <a:r>
              <a:rPr sz="2000" b="1" kern="1200" spc="-10" dirty="0">
                <a:solidFill>
                  <a:prstClr val="black"/>
                </a:solidFill>
                <a:latin typeface="Palatino Linotype"/>
                <a:cs typeface="Palatino Linotype"/>
              </a:rPr>
              <a:t> </a:t>
            </a:r>
            <a:r>
              <a:rPr sz="2000" b="1" kern="1200" spc="-5" dirty="0">
                <a:solidFill>
                  <a:prstClr val="black"/>
                </a:solidFill>
                <a:latin typeface="Palatino Linotype"/>
                <a:cs typeface="Palatino Linotype"/>
              </a:rPr>
              <a:t>context-free</a:t>
            </a:r>
            <a:r>
              <a:rPr sz="2000" b="1" kern="1200" dirty="0">
                <a:solidFill>
                  <a:prstClr val="black"/>
                </a:solidFill>
                <a:latin typeface="Palatino Linotype"/>
                <a:cs typeface="Palatino Linotype"/>
              </a:rPr>
              <a:t> </a:t>
            </a:r>
            <a:r>
              <a:rPr sz="2000" b="1" kern="1200" spc="-5" dirty="0">
                <a:solidFill>
                  <a:prstClr val="black"/>
                </a:solidFill>
                <a:latin typeface="Palatino Linotype"/>
                <a:cs typeface="Palatino Linotype"/>
              </a:rPr>
              <a:t>grammar (CFG) consists</a:t>
            </a:r>
            <a:r>
              <a:rPr sz="2000" b="1" kern="1200" dirty="0">
                <a:solidFill>
                  <a:prstClr val="black"/>
                </a:solidFill>
                <a:latin typeface="Palatino Linotype"/>
                <a:cs typeface="Palatino Linotype"/>
              </a:rPr>
              <a:t> of</a:t>
            </a:r>
            <a:r>
              <a:rPr sz="2000" b="1" kern="1200" spc="-5" dirty="0">
                <a:solidFill>
                  <a:prstClr val="black"/>
                </a:solidFill>
                <a:latin typeface="Palatino Linotype"/>
                <a:cs typeface="Palatino Linotype"/>
              </a:rPr>
              <a:t> four parts:</a:t>
            </a:r>
            <a:endParaRPr sz="2000" kern="1200" dirty="0">
              <a:solidFill>
                <a:prstClr val="black"/>
              </a:solidFill>
              <a:latin typeface="Palatino Linotype"/>
              <a:cs typeface="Palatino Linotype"/>
            </a:endParaRPr>
          </a:p>
          <a:p>
            <a:pPr marL="698500" marR="553085" lvl="1" indent="-228600" rtl="0">
              <a:lnSpc>
                <a:spcPct val="122400"/>
              </a:lnSpc>
              <a:spcBef>
                <a:spcPts val="540"/>
              </a:spcBef>
              <a:buClr>
                <a:srgbClr val="000000"/>
              </a:buClr>
              <a:buFont typeface="Wingdings"/>
              <a:buChar char=""/>
              <a:tabLst>
                <a:tab pos="697865" algn="l"/>
                <a:tab pos="698500" algn="l"/>
              </a:tabLst>
            </a:pPr>
            <a:r>
              <a:rPr sz="1700" b="1" kern="1200" spc="-20" dirty="0">
                <a:solidFill>
                  <a:srgbClr val="FF0000"/>
                </a:solidFill>
                <a:latin typeface="Palatino Linotype"/>
                <a:cs typeface="Palatino Linotype"/>
              </a:rPr>
              <a:t>Terminals</a:t>
            </a:r>
            <a:r>
              <a:rPr sz="1700" b="1" kern="1200" spc="-5" dirty="0">
                <a:solidFill>
                  <a:srgbClr val="FF0000"/>
                </a:solidFill>
                <a:latin typeface="Palatino Linotype"/>
                <a:cs typeface="Palatino Linotype"/>
              </a:rPr>
              <a:t> (</a:t>
            </a:r>
            <a:r>
              <a:rPr sz="1650" kern="1200" spc="60" dirty="0">
                <a:solidFill>
                  <a:srgbClr val="FF0000"/>
                </a:solidFill>
                <a:latin typeface="SimSun"/>
                <a:cs typeface="SimSun"/>
              </a:rPr>
              <a:t>终结符号</a:t>
            </a:r>
            <a:r>
              <a:rPr sz="1700" b="1" kern="1200" spc="-5" dirty="0">
                <a:solidFill>
                  <a:srgbClr val="FF0000"/>
                </a:solidFill>
                <a:latin typeface="Palatino Linotype"/>
                <a:cs typeface="Palatino Linotype"/>
              </a:rPr>
              <a:t>):</a:t>
            </a:r>
            <a:r>
              <a:rPr sz="1700" b="1" kern="1200" dirty="0">
                <a:solidFill>
                  <a:srgbClr val="FF0000"/>
                </a:solidFill>
                <a:latin typeface="Palatino Linotype"/>
                <a:cs typeface="Palatino Linotype"/>
              </a:rPr>
              <a:t> </a:t>
            </a:r>
            <a:r>
              <a:rPr sz="1700" kern="1200" dirty="0">
                <a:solidFill>
                  <a:prstClr val="black"/>
                </a:solidFill>
                <a:latin typeface="Palatino Linotype"/>
                <a:cs typeface="Palatino Linotype"/>
              </a:rPr>
              <a:t>Basic</a:t>
            </a:r>
            <a:r>
              <a:rPr sz="1700" kern="1200" spc="-5" dirty="0">
                <a:solidFill>
                  <a:prstClr val="black"/>
                </a:solidFill>
                <a:latin typeface="Palatino Linotype"/>
                <a:cs typeface="Palatino Linotype"/>
              </a:rPr>
              <a:t> symbols</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from which strings</a:t>
            </a:r>
            <a:r>
              <a:rPr sz="1700" kern="1200" dirty="0">
                <a:solidFill>
                  <a:prstClr val="black"/>
                </a:solidFill>
                <a:latin typeface="Palatino Linotype"/>
                <a:cs typeface="Palatino Linotype"/>
              </a:rPr>
              <a:t> are</a:t>
            </a:r>
            <a:r>
              <a:rPr sz="1700" kern="1200" spc="-5" dirty="0">
                <a:solidFill>
                  <a:prstClr val="black"/>
                </a:solidFill>
                <a:latin typeface="Palatino Linotype"/>
                <a:cs typeface="Palatino Linotype"/>
              </a:rPr>
              <a:t> formed </a:t>
            </a:r>
            <a:r>
              <a:rPr sz="1700" kern="1200" spc="-409" dirty="0">
                <a:solidFill>
                  <a:prstClr val="black"/>
                </a:solidFill>
                <a:latin typeface="Palatino Linotype"/>
                <a:cs typeface="Palatino Linotype"/>
              </a:rPr>
              <a:t> </a:t>
            </a:r>
            <a:r>
              <a:rPr sz="1700" kern="1200" spc="-5" dirty="0">
                <a:solidFill>
                  <a:prstClr val="black"/>
                </a:solidFill>
                <a:latin typeface="Palatino Linotype"/>
                <a:cs typeface="Palatino Linotype"/>
              </a:rPr>
              <a:t>(token</a:t>
            </a:r>
            <a:r>
              <a:rPr sz="1700" kern="1200" spc="-10" dirty="0">
                <a:solidFill>
                  <a:prstClr val="black"/>
                </a:solidFill>
                <a:latin typeface="Palatino Linotype"/>
                <a:cs typeface="Palatino Linotype"/>
              </a:rPr>
              <a:t> </a:t>
            </a:r>
            <a:r>
              <a:rPr sz="1700" kern="1200" spc="-5" dirty="0">
                <a:solidFill>
                  <a:prstClr val="black"/>
                </a:solidFill>
                <a:latin typeface="Palatino Linotype"/>
                <a:cs typeface="Palatino Linotype"/>
              </a:rPr>
              <a:t>names)</a:t>
            </a:r>
            <a:endParaRPr sz="1700" kern="1200" dirty="0">
              <a:solidFill>
                <a:prstClr val="black"/>
              </a:solidFill>
              <a:latin typeface="Palatino Linotype"/>
              <a:cs typeface="Palatino Linotype"/>
            </a:endParaRPr>
          </a:p>
          <a:p>
            <a:pPr marL="698500" lvl="1" indent="-228600" rtl="0">
              <a:spcBef>
                <a:spcPts val="1560"/>
              </a:spcBef>
              <a:buClr>
                <a:srgbClr val="000000"/>
              </a:buClr>
              <a:buFont typeface="Wingdings"/>
              <a:buChar char=""/>
              <a:tabLst>
                <a:tab pos="697865" algn="l"/>
                <a:tab pos="698500" algn="l"/>
              </a:tabLst>
            </a:pPr>
            <a:r>
              <a:rPr sz="1700" b="1" kern="1200" spc="-5" dirty="0">
                <a:solidFill>
                  <a:srgbClr val="FF0000"/>
                </a:solidFill>
                <a:latin typeface="Palatino Linotype"/>
                <a:cs typeface="Palatino Linotype"/>
              </a:rPr>
              <a:t>Nonterminals (</a:t>
            </a:r>
            <a:r>
              <a:rPr sz="1650" kern="1200" spc="60" dirty="0">
                <a:solidFill>
                  <a:srgbClr val="FF0000"/>
                </a:solidFill>
                <a:latin typeface="SimSun"/>
                <a:cs typeface="SimSun"/>
              </a:rPr>
              <a:t>非终结符号</a:t>
            </a:r>
            <a:r>
              <a:rPr sz="1700" b="1" kern="1200" spc="-5" dirty="0">
                <a:solidFill>
                  <a:srgbClr val="FF0000"/>
                </a:solidFill>
                <a:latin typeface="Palatino Linotype"/>
                <a:cs typeface="Palatino Linotype"/>
              </a:rPr>
              <a:t>):</a:t>
            </a:r>
            <a:r>
              <a:rPr sz="1700" b="1" kern="1200" dirty="0">
                <a:solidFill>
                  <a:srgbClr val="FF0000"/>
                </a:solidFill>
                <a:latin typeface="Palatino Linotype"/>
                <a:cs typeface="Palatino Linotype"/>
              </a:rPr>
              <a:t> </a:t>
            </a:r>
            <a:r>
              <a:rPr sz="1700" kern="1200" spc="-5" dirty="0">
                <a:solidFill>
                  <a:prstClr val="black"/>
                </a:solidFill>
                <a:latin typeface="Palatino Linotype"/>
                <a:cs typeface="Palatino Linotype"/>
              </a:rPr>
              <a:t>Syntactic</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variables</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that</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denote sets</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of strings</a:t>
            </a:r>
            <a:endParaRPr sz="1700" kern="1200" dirty="0">
              <a:solidFill>
                <a:prstClr val="black"/>
              </a:solidFill>
              <a:latin typeface="Palatino Linotype"/>
              <a:cs typeface="Palatino Linotype"/>
            </a:endParaRPr>
          </a:p>
          <a:p>
            <a:pPr marL="1155700" lvl="2" indent="-229235" rtl="0">
              <a:spcBef>
                <a:spcPts val="950"/>
              </a:spcBef>
              <a:buFont typeface="Courier New"/>
              <a:buChar char="o"/>
              <a:tabLst>
                <a:tab pos="1155700" algn="l"/>
              </a:tabLst>
            </a:pPr>
            <a:r>
              <a:rPr sz="1300" kern="1200" spc="-5" dirty="0">
                <a:solidFill>
                  <a:prstClr val="black"/>
                </a:solidFill>
                <a:latin typeface="Palatino Linotype"/>
                <a:cs typeface="Palatino Linotype"/>
              </a:rPr>
              <a:t>Usually</a:t>
            </a:r>
            <a:r>
              <a:rPr sz="1300" kern="1200" spc="5" dirty="0">
                <a:solidFill>
                  <a:prstClr val="black"/>
                </a:solidFill>
                <a:latin typeface="Palatino Linotype"/>
                <a:cs typeface="Palatino Linotype"/>
              </a:rPr>
              <a:t> </a:t>
            </a:r>
            <a:r>
              <a:rPr sz="1300" kern="1200" spc="-5" dirty="0">
                <a:solidFill>
                  <a:prstClr val="black"/>
                </a:solidFill>
                <a:latin typeface="Palatino Linotype"/>
                <a:cs typeface="Palatino Linotype"/>
              </a:rPr>
              <a:t>correspond</a:t>
            </a:r>
            <a:r>
              <a:rPr sz="1300" kern="1200" spc="10" dirty="0">
                <a:solidFill>
                  <a:prstClr val="black"/>
                </a:solidFill>
                <a:latin typeface="Palatino Linotype"/>
                <a:cs typeface="Palatino Linotype"/>
              </a:rPr>
              <a:t> </a:t>
            </a:r>
            <a:r>
              <a:rPr sz="1300" kern="1200" dirty="0">
                <a:solidFill>
                  <a:prstClr val="black"/>
                </a:solidFill>
                <a:latin typeface="Palatino Linotype"/>
                <a:cs typeface="Palatino Linotype"/>
              </a:rPr>
              <a:t>to</a:t>
            </a:r>
            <a:r>
              <a:rPr sz="1300" kern="1200" spc="5" dirty="0">
                <a:solidFill>
                  <a:prstClr val="black"/>
                </a:solidFill>
                <a:latin typeface="Palatino Linotype"/>
                <a:cs typeface="Palatino Linotype"/>
              </a:rPr>
              <a:t> </a:t>
            </a:r>
            <a:r>
              <a:rPr sz="1300" kern="1200" dirty="0">
                <a:solidFill>
                  <a:prstClr val="black"/>
                </a:solidFill>
                <a:latin typeface="Palatino Linotype"/>
                <a:cs typeface="Palatino Linotype"/>
              </a:rPr>
              <a:t>a</a:t>
            </a:r>
            <a:r>
              <a:rPr sz="1300" kern="1200" spc="10" dirty="0">
                <a:solidFill>
                  <a:prstClr val="black"/>
                </a:solidFill>
                <a:latin typeface="Palatino Linotype"/>
                <a:cs typeface="Palatino Linotype"/>
              </a:rPr>
              <a:t> </a:t>
            </a:r>
            <a:r>
              <a:rPr sz="1300" kern="1200" dirty="0">
                <a:solidFill>
                  <a:prstClr val="black"/>
                </a:solidFill>
                <a:latin typeface="Palatino Linotype"/>
                <a:cs typeface="Palatino Linotype"/>
              </a:rPr>
              <a:t>language</a:t>
            </a:r>
            <a:r>
              <a:rPr sz="1300" kern="1200" spc="5" dirty="0">
                <a:solidFill>
                  <a:prstClr val="black"/>
                </a:solidFill>
                <a:latin typeface="Palatino Linotype"/>
                <a:cs typeface="Palatino Linotype"/>
              </a:rPr>
              <a:t> </a:t>
            </a:r>
            <a:r>
              <a:rPr sz="1300" kern="1200" spc="-5" dirty="0">
                <a:solidFill>
                  <a:prstClr val="black"/>
                </a:solidFill>
                <a:latin typeface="Palatino Linotype"/>
                <a:cs typeface="Palatino Linotype"/>
              </a:rPr>
              <a:t>construct,</a:t>
            </a:r>
            <a:r>
              <a:rPr sz="1300" kern="1200" spc="5" dirty="0">
                <a:solidFill>
                  <a:prstClr val="black"/>
                </a:solidFill>
                <a:latin typeface="Palatino Linotype"/>
                <a:cs typeface="Palatino Linotype"/>
              </a:rPr>
              <a:t> </a:t>
            </a:r>
            <a:r>
              <a:rPr sz="1300" kern="1200" spc="-5" dirty="0">
                <a:solidFill>
                  <a:prstClr val="black"/>
                </a:solidFill>
                <a:latin typeface="Palatino Linotype"/>
                <a:cs typeface="Palatino Linotype"/>
              </a:rPr>
              <a:t>such</a:t>
            </a:r>
            <a:r>
              <a:rPr sz="1300" kern="1200" spc="10" dirty="0">
                <a:solidFill>
                  <a:prstClr val="black"/>
                </a:solidFill>
                <a:latin typeface="Palatino Linotype"/>
                <a:cs typeface="Palatino Linotype"/>
              </a:rPr>
              <a:t> </a:t>
            </a:r>
            <a:r>
              <a:rPr sz="1300" kern="1200" dirty="0">
                <a:solidFill>
                  <a:prstClr val="black"/>
                </a:solidFill>
                <a:latin typeface="Palatino Linotype"/>
                <a:cs typeface="Palatino Linotype"/>
              </a:rPr>
              <a:t>as</a:t>
            </a:r>
            <a:r>
              <a:rPr sz="1300" kern="1200" spc="5" dirty="0">
                <a:solidFill>
                  <a:prstClr val="black"/>
                </a:solidFill>
                <a:latin typeface="Palatino Linotype"/>
                <a:cs typeface="Palatino Linotype"/>
              </a:rPr>
              <a:t> </a:t>
            </a:r>
            <a:r>
              <a:rPr sz="1300" i="1" kern="1200" spc="-5" dirty="0">
                <a:solidFill>
                  <a:prstClr val="black"/>
                </a:solidFill>
                <a:latin typeface="Consolas"/>
                <a:cs typeface="Consolas"/>
              </a:rPr>
              <a:t>stmt</a:t>
            </a:r>
            <a:r>
              <a:rPr sz="1300" i="1" kern="1200" spc="-390" dirty="0">
                <a:solidFill>
                  <a:prstClr val="black"/>
                </a:solidFill>
                <a:latin typeface="Consolas"/>
                <a:cs typeface="Consolas"/>
              </a:rPr>
              <a:t> </a:t>
            </a:r>
            <a:r>
              <a:rPr sz="1300" kern="1200" spc="-5" dirty="0">
                <a:solidFill>
                  <a:prstClr val="black"/>
                </a:solidFill>
                <a:latin typeface="Palatino Linotype"/>
                <a:cs typeface="Palatino Linotype"/>
              </a:rPr>
              <a:t>(statements)</a:t>
            </a:r>
            <a:endParaRPr sz="1300" kern="1200" dirty="0">
              <a:solidFill>
                <a:prstClr val="black"/>
              </a:solidFill>
              <a:latin typeface="Palatino Linotype"/>
              <a:cs typeface="Palatino Linotype"/>
            </a:endParaRPr>
          </a:p>
          <a:p>
            <a:pPr lvl="2" rtl="0">
              <a:spcBef>
                <a:spcPts val="60"/>
              </a:spcBef>
              <a:buFont typeface="Courier New"/>
              <a:buChar char="o"/>
            </a:pPr>
            <a:endParaRPr sz="1100" kern="1200" dirty="0">
              <a:solidFill>
                <a:prstClr val="black"/>
              </a:solidFill>
              <a:latin typeface="Palatino Linotype"/>
              <a:cs typeface="Palatino Linotype"/>
            </a:endParaRPr>
          </a:p>
          <a:p>
            <a:pPr marL="698500" lvl="1" indent="-228600" rtl="0">
              <a:buFont typeface="Wingdings"/>
              <a:buChar char=""/>
              <a:tabLst>
                <a:tab pos="697865" algn="l"/>
                <a:tab pos="698500" algn="l"/>
              </a:tabLst>
            </a:pPr>
            <a:r>
              <a:rPr sz="1700" kern="1200" spc="-5" dirty="0">
                <a:solidFill>
                  <a:prstClr val="black"/>
                </a:solidFill>
                <a:latin typeface="Palatino Linotype"/>
                <a:cs typeface="Palatino Linotype"/>
              </a:rPr>
              <a:t>One nonterminal</a:t>
            </a:r>
            <a:r>
              <a:rPr sz="1700" kern="1200" spc="10" dirty="0">
                <a:solidFill>
                  <a:prstClr val="black"/>
                </a:solidFill>
                <a:latin typeface="Palatino Linotype"/>
                <a:cs typeface="Palatino Linotype"/>
              </a:rPr>
              <a:t> </a:t>
            </a:r>
            <a:r>
              <a:rPr sz="1700" kern="1200" dirty="0">
                <a:solidFill>
                  <a:prstClr val="black"/>
                </a:solidFill>
                <a:latin typeface="Palatino Linotype"/>
                <a:cs typeface="Palatino Linotype"/>
              </a:rPr>
              <a:t>is </a:t>
            </a:r>
            <a:r>
              <a:rPr sz="1700" kern="1200" spc="-5" dirty="0">
                <a:solidFill>
                  <a:prstClr val="black"/>
                </a:solidFill>
                <a:latin typeface="Palatino Linotype"/>
                <a:cs typeface="Palatino Linotype"/>
              </a:rPr>
              <a:t>distinguished</a:t>
            </a:r>
            <a:r>
              <a:rPr sz="1700" kern="1200" dirty="0">
                <a:solidFill>
                  <a:prstClr val="black"/>
                </a:solidFill>
                <a:latin typeface="Palatino Linotype"/>
                <a:cs typeface="Palatino Linotype"/>
              </a:rPr>
              <a:t> as</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the </a:t>
            </a:r>
            <a:r>
              <a:rPr sz="1700" b="1" kern="1200" spc="-5" dirty="0">
                <a:solidFill>
                  <a:srgbClr val="FF0000"/>
                </a:solidFill>
                <a:latin typeface="Palatino Linotype"/>
                <a:cs typeface="Palatino Linotype"/>
              </a:rPr>
              <a:t>start</a:t>
            </a:r>
            <a:r>
              <a:rPr sz="1700" b="1" kern="1200" dirty="0">
                <a:solidFill>
                  <a:srgbClr val="FF0000"/>
                </a:solidFill>
                <a:latin typeface="Palatino Linotype"/>
                <a:cs typeface="Palatino Linotype"/>
              </a:rPr>
              <a:t> </a:t>
            </a:r>
            <a:r>
              <a:rPr sz="1700" b="1" kern="1200" spc="-5" dirty="0">
                <a:solidFill>
                  <a:srgbClr val="FF0000"/>
                </a:solidFill>
                <a:latin typeface="Palatino Linotype"/>
                <a:cs typeface="Palatino Linotype"/>
              </a:rPr>
              <a:t>symbol</a:t>
            </a:r>
            <a:r>
              <a:rPr sz="1700" b="1" kern="1200" dirty="0">
                <a:solidFill>
                  <a:srgbClr val="FF0000"/>
                </a:solidFill>
                <a:latin typeface="Palatino Linotype"/>
                <a:cs typeface="Palatino Linotype"/>
              </a:rPr>
              <a:t> </a:t>
            </a:r>
            <a:r>
              <a:rPr sz="1700" b="1" kern="1200" spc="-5" dirty="0">
                <a:solidFill>
                  <a:srgbClr val="FF0000"/>
                </a:solidFill>
                <a:latin typeface="Palatino Linotype"/>
                <a:cs typeface="Palatino Linotype"/>
              </a:rPr>
              <a:t>(</a:t>
            </a:r>
            <a:r>
              <a:rPr sz="1650" kern="1200" spc="60" dirty="0">
                <a:solidFill>
                  <a:srgbClr val="FF0000"/>
                </a:solidFill>
                <a:latin typeface="SimSun"/>
                <a:cs typeface="SimSun"/>
              </a:rPr>
              <a:t>开始符号</a:t>
            </a:r>
            <a:r>
              <a:rPr sz="1700" b="1" kern="1200" dirty="0">
                <a:solidFill>
                  <a:srgbClr val="FF0000"/>
                </a:solidFill>
                <a:latin typeface="Palatino Linotype"/>
                <a:cs typeface="Palatino Linotype"/>
              </a:rPr>
              <a:t>)</a:t>
            </a:r>
            <a:endParaRPr sz="1700" kern="1200" dirty="0">
              <a:solidFill>
                <a:prstClr val="black"/>
              </a:solidFill>
              <a:latin typeface="Palatino Linotype"/>
              <a:cs typeface="Palatino Linotype"/>
            </a:endParaRPr>
          </a:p>
          <a:p>
            <a:pPr marL="1155700" lvl="2" indent="-229235" rtl="0">
              <a:spcBef>
                <a:spcPts val="955"/>
              </a:spcBef>
              <a:buFont typeface="Courier New"/>
              <a:buChar char="o"/>
              <a:tabLst>
                <a:tab pos="1155700" algn="l"/>
              </a:tabLst>
            </a:pPr>
            <a:r>
              <a:rPr sz="1300" kern="1200" dirty="0">
                <a:solidFill>
                  <a:prstClr val="black"/>
                </a:solidFill>
                <a:latin typeface="Palatino Linotype"/>
                <a:cs typeface="Palatino Linotype"/>
              </a:rPr>
              <a:t>The</a:t>
            </a:r>
            <a:r>
              <a:rPr sz="1300" kern="1200" spc="-5" dirty="0">
                <a:solidFill>
                  <a:prstClr val="black"/>
                </a:solidFill>
                <a:latin typeface="Palatino Linotype"/>
                <a:cs typeface="Palatino Linotype"/>
              </a:rPr>
              <a:t> set</a:t>
            </a:r>
            <a:r>
              <a:rPr sz="1300" kern="1200" dirty="0">
                <a:solidFill>
                  <a:prstClr val="black"/>
                </a:solidFill>
                <a:latin typeface="Palatino Linotype"/>
                <a:cs typeface="Palatino Linotype"/>
              </a:rPr>
              <a:t> of </a:t>
            </a:r>
            <a:r>
              <a:rPr sz="1300" kern="1200" spc="-5" dirty="0">
                <a:solidFill>
                  <a:prstClr val="black"/>
                </a:solidFill>
                <a:latin typeface="Palatino Linotype"/>
                <a:cs typeface="Palatino Linotype"/>
              </a:rPr>
              <a:t>strings </a:t>
            </a:r>
            <a:r>
              <a:rPr sz="1300" kern="1200" dirty="0">
                <a:solidFill>
                  <a:prstClr val="black"/>
                </a:solidFill>
                <a:latin typeface="Palatino Linotype"/>
                <a:cs typeface="Palatino Linotype"/>
              </a:rPr>
              <a:t>denoted</a:t>
            </a:r>
            <a:r>
              <a:rPr sz="1300" kern="1200" spc="5" dirty="0">
                <a:solidFill>
                  <a:prstClr val="black"/>
                </a:solidFill>
                <a:latin typeface="Palatino Linotype"/>
                <a:cs typeface="Palatino Linotype"/>
              </a:rPr>
              <a:t> </a:t>
            </a:r>
            <a:r>
              <a:rPr sz="1300" kern="1200" dirty="0">
                <a:solidFill>
                  <a:prstClr val="black"/>
                </a:solidFill>
                <a:latin typeface="Palatino Linotype"/>
                <a:cs typeface="Palatino Linotype"/>
              </a:rPr>
              <a:t>by the </a:t>
            </a:r>
            <a:r>
              <a:rPr sz="1300" kern="1200" spc="-5" dirty="0">
                <a:solidFill>
                  <a:prstClr val="black"/>
                </a:solidFill>
                <a:latin typeface="Palatino Linotype"/>
                <a:cs typeface="Palatino Linotype"/>
              </a:rPr>
              <a:t>start</a:t>
            </a:r>
            <a:r>
              <a:rPr sz="1300" kern="1200" dirty="0">
                <a:solidFill>
                  <a:prstClr val="black"/>
                </a:solidFill>
                <a:latin typeface="Palatino Linotype"/>
                <a:cs typeface="Palatino Linotype"/>
              </a:rPr>
              <a:t> symbol</a:t>
            </a:r>
            <a:r>
              <a:rPr sz="1300" kern="1200" spc="-5" dirty="0">
                <a:solidFill>
                  <a:prstClr val="black"/>
                </a:solidFill>
                <a:latin typeface="Palatino Linotype"/>
                <a:cs typeface="Palatino Linotype"/>
              </a:rPr>
              <a:t> is </a:t>
            </a:r>
            <a:r>
              <a:rPr sz="1300" kern="1200" dirty="0">
                <a:solidFill>
                  <a:prstClr val="black"/>
                </a:solidFill>
                <a:latin typeface="Palatino Linotype"/>
                <a:cs typeface="Palatino Linotype"/>
              </a:rPr>
              <a:t>the language generated</a:t>
            </a:r>
            <a:r>
              <a:rPr sz="1300" kern="1200" spc="5" dirty="0">
                <a:solidFill>
                  <a:prstClr val="black"/>
                </a:solidFill>
                <a:latin typeface="Palatino Linotype"/>
                <a:cs typeface="Palatino Linotype"/>
              </a:rPr>
              <a:t> </a:t>
            </a:r>
            <a:r>
              <a:rPr sz="1300" kern="1200" dirty="0">
                <a:solidFill>
                  <a:prstClr val="black"/>
                </a:solidFill>
                <a:latin typeface="Palatino Linotype"/>
                <a:cs typeface="Palatino Linotype"/>
              </a:rPr>
              <a:t>by the CFG</a:t>
            </a:r>
          </a:p>
          <a:p>
            <a:pPr marL="698500" marR="426720" lvl="1" indent="-228600" rtl="0">
              <a:lnSpc>
                <a:spcPct val="117600"/>
              </a:lnSpc>
              <a:spcBef>
                <a:spcPts val="1280"/>
              </a:spcBef>
              <a:buClr>
                <a:srgbClr val="000000"/>
              </a:buClr>
              <a:buFont typeface="Wingdings"/>
              <a:buChar char=""/>
              <a:tabLst>
                <a:tab pos="697865" algn="l"/>
                <a:tab pos="698500" algn="l"/>
              </a:tabLst>
            </a:pPr>
            <a:r>
              <a:rPr sz="1700" b="1" kern="1200" spc="-5" dirty="0">
                <a:solidFill>
                  <a:srgbClr val="FF0000"/>
                </a:solidFill>
                <a:latin typeface="Palatino Linotype"/>
                <a:cs typeface="Palatino Linotype"/>
              </a:rPr>
              <a:t>Productions (</a:t>
            </a:r>
            <a:r>
              <a:rPr sz="1650" kern="1200" spc="60" dirty="0">
                <a:solidFill>
                  <a:srgbClr val="FF0000"/>
                </a:solidFill>
                <a:latin typeface="SimSun"/>
                <a:cs typeface="SimSun"/>
              </a:rPr>
              <a:t>产生式</a:t>
            </a:r>
            <a:r>
              <a:rPr sz="1700" b="1" kern="1200" spc="-5" dirty="0">
                <a:solidFill>
                  <a:srgbClr val="FF0000"/>
                </a:solidFill>
                <a:latin typeface="Palatino Linotype"/>
                <a:cs typeface="Palatino Linotype"/>
              </a:rPr>
              <a:t>):</a:t>
            </a:r>
            <a:r>
              <a:rPr sz="1700" b="1" kern="1200" spc="5" dirty="0">
                <a:solidFill>
                  <a:srgbClr val="FF0000"/>
                </a:solidFill>
                <a:latin typeface="Palatino Linotype"/>
                <a:cs typeface="Palatino Linotype"/>
              </a:rPr>
              <a:t> </a:t>
            </a:r>
            <a:r>
              <a:rPr sz="1700" kern="1200" spc="-5" dirty="0">
                <a:solidFill>
                  <a:prstClr val="black"/>
                </a:solidFill>
                <a:latin typeface="Palatino Linotype"/>
                <a:cs typeface="Palatino Linotype"/>
              </a:rPr>
              <a:t>Specify</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the</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manner</a:t>
            </a:r>
            <a:r>
              <a:rPr sz="1700" kern="1200" dirty="0">
                <a:solidFill>
                  <a:prstClr val="black"/>
                </a:solidFill>
                <a:latin typeface="Palatino Linotype"/>
                <a:cs typeface="Palatino Linotype"/>
              </a:rPr>
              <a:t> in </a:t>
            </a:r>
            <a:r>
              <a:rPr sz="1700" kern="1200" spc="-5" dirty="0">
                <a:solidFill>
                  <a:prstClr val="black"/>
                </a:solidFill>
                <a:latin typeface="Palatino Linotype"/>
                <a:cs typeface="Palatino Linotype"/>
              </a:rPr>
              <a:t>which the</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terminals</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and </a:t>
            </a:r>
            <a:r>
              <a:rPr sz="1700" kern="1200" spc="-409" dirty="0">
                <a:solidFill>
                  <a:prstClr val="black"/>
                </a:solidFill>
                <a:latin typeface="Palatino Linotype"/>
                <a:cs typeface="Palatino Linotype"/>
              </a:rPr>
              <a:t> </a:t>
            </a:r>
            <a:r>
              <a:rPr sz="1700" kern="1200" spc="-5" dirty="0">
                <a:solidFill>
                  <a:prstClr val="black"/>
                </a:solidFill>
                <a:latin typeface="Palatino Linotype"/>
                <a:cs typeface="Palatino Linotype"/>
              </a:rPr>
              <a:t>nonterminals</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can be combined to form strings</a:t>
            </a:r>
            <a:endParaRPr sz="1700" kern="1200" dirty="0">
              <a:solidFill>
                <a:prstClr val="black"/>
              </a:solidFill>
              <a:latin typeface="Palatino Linotype"/>
              <a:cs typeface="Palatino Linotype"/>
            </a:endParaRPr>
          </a:p>
          <a:p>
            <a:pPr marL="1155700" lvl="2" indent="-229235" rtl="0">
              <a:spcBef>
                <a:spcPts val="975"/>
              </a:spcBef>
              <a:buClr>
                <a:srgbClr val="000000"/>
              </a:buClr>
              <a:buFont typeface="Courier New"/>
              <a:buChar char="o"/>
              <a:tabLst>
                <a:tab pos="1155700" algn="l"/>
              </a:tabLst>
            </a:pPr>
            <a:r>
              <a:rPr sz="1300" b="1" kern="1200" spc="-5" dirty="0">
                <a:solidFill>
                  <a:srgbClr val="0432FF"/>
                </a:solidFill>
                <a:latin typeface="Palatino Linotype"/>
                <a:cs typeface="Palatino Linotype"/>
              </a:rPr>
              <a:t>Format: </a:t>
            </a:r>
            <a:r>
              <a:rPr sz="1300" kern="1200" spc="-5" dirty="0">
                <a:solidFill>
                  <a:prstClr val="black"/>
                </a:solidFill>
                <a:latin typeface="Consolas"/>
                <a:cs typeface="Consolas"/>
              </a:rPr>
              <a:t>head</a:t>
            </a:r>
            <a:r>
              <a:rPr sz="1300" kern="1200" spc="-15" dirty="0">
                <a:solidFill>
                  <a:prstClr val="black"/>
                </a:solidFill>
                <a:latin typeface="Consolas"/>
                <a:cs typeface="Consolas"/>
              </a:rPr>
              <a:t> </a:t>
            </a:r>
            <a:r>
              <a:rPr sz="1300" kern="1200" spc="-5" dirty="0">
                <a:solidFill>
                  <a:prstClr val="black"/>
                </a:solidFill>
                <a:latin typeface="Consolas"/>
                <a:cs typeface="Consolas"/>
              </a:rPr>
              <a:t>(left</a:t>
            </a:r>
            <a:r>
              <a:rPr sz="1300" kern="1200" spc="-15" dirty="0">
                <a:solidFill>
                  <a:prstClr val="black"/>
                </a:solidFill>
                <a:latin typeface="Consolas"/>
                <a:cs typeface="Consolas"/>
              </a:rPr>
              <a:t> </a:t>
            </a:r>
            <a:r>
              <a:rPr sz="1300" kern="1200" spc="-5" dirty="0">
                <a:solidFill>
                  <a:prstClr val="black"/>
                </a:solidFill>
                <a:latin typeface="Consolas"/>
                <a:cs typeface="Consolas"/>
              </a:rPr>
              <a:t>side)</a:t>
            </a:r>
            <a:r>
              <a:rPr sz="1300" kern="1200" spc="-15" dirty="0">
                <a:solidFill>
                  <a:prstClr val="black"/>
                </a:solidFill>
                <a:latin typeface="Consolas"/>
                <a:cs typeface="Consolas"/>
              </a:rPr>
              <a:t> </a:t>
            </a:r>
            <a:r>
              <a:rPr sz="1300" kern="1200" dirty="0">
                <a:solidFill>
                  <a:prstClr val="black"/>
                </a:solidFill>
                <a:latin typeface="Wingdings"/>
                <a:cs typeface="Wingdings"/>
              </a:rPr>
              <a:t></a:t>
            </a:r>
            <a:r>
              <a:rPr sz="1300" kern="1200" spc="60" dirty="0">
                <a:solidFill>
                  <a:prstClr val="black"/>
                </a:solidFill>
                <a:latin typeface="Times New Roman"/>
                <a:cs typeface="Times New Roman"/>
              </a:rPr>
              <a:t> </a:t>
            </a:r>
            <a:r>
              <a:rPr sz="1300" kern="1200" spc="-5" dirty="0">
                <a:solidFill>
                  <a:prstClr val="black"/>
                </a:solidFill>
                <a:latin typeface="Consolas"/>
                <a:cs typeface="Consolas"/>
              </a:rPr>
              <a:t>body</a:t>
            </a:r>
            <a:r>
              <a:rPr sz="1300" kern="1200" spc="-15" dirty="0">
                <a:solidFill>
                  <a:prstClr val="black"/>
                </a:solidFill>
                <a:latin typeface="Consolas"/>
                <a:cs typeface="Consolas"/>
              </a:rPr>
              <a:t> </a:t>
            </a:r>
            <a:r>
              <a:rPr sz="1300" kern="1200" spc="-5" dirty="0">
                <a:solidFill>
                  <a:prstClr val="black"/>
                </a:solidFill>
                <a:latin typeface="Consolas"/>
                <a:cs typeface="Consolas"/>
              </a:rPr>
              <a:t>(right</a:t>
            </a:r>
            <a:r>
              <a:rPr sz="1300" kern="1200" spc="-15" dirty="0">
                <a:solidFill>
                  <a:prstClr val="black"/>
                </a:solidFill>
                <a:latin typeface="Consolas"/>
                <a:cs typeface="Consolas"/>
              </a:rPr>
              <a:t> </a:t>
            </a:r>
            <a:r>
              <a:rPr sz="1300" kern="1200" spc="-5" dirty="0">
                <a:solidFill>
                  <a:prstClr val="black"/>
                </a:solidFill>
                <a:latin typeface="Consolas"/>
                <a:cs typeface="Consolas"/>
              </a:rPr>
              <a:t>side)</a:t>
            </a:r>
            <a:endParaRPr sz="1300" kern="1200" dirty="0">
              <a:solidFill>
                <a:prstClr val="black"/>
              </a:solidFill>
              <a:latin typeface="Consolas"/>
              <a:cs typeface="Consolas"/>
            </a:endParaRPr>
          </a:p>
          <a:p>
            <a:pPr marL="1155700" lvl="2" indent="-229235" rtl="0">
              <a:spcBef>
                <a:spcPts val="935"/>
              </a:spcBef>
              <a:buFont typeface="Courier New"/>
              <a:buChar char="o"/>
              <a:tabLst>
                <a:tab pos="1155700" algn="l"/>
              </a:tabLst>
            </a:pPr>
            <a:r>
              <a:rPr sz="1300" kern="1200" dirty="0">
                <a:solidFill>
                  <a:prstClr val="black"/>
                </a:solidFill>
                <a:latin typeface="Palatino Linotype"/>
                <a:cs typeface="Palatino Linotype"/>
              </a:rPr>
              <a:t>The</a:t>
            </a:r>
            <a:r>
              <a:rPr sz="1300" kern="1200" spc="5" dirty="0">
                <a:solidFill>
                  <a:prstClr val="black"/>
                </a:solidFill>
                <a:latin typeface="Palatino Linotype"/>
                <a:cs typeface="Palatino Linotype"/>
              </a:rPr>
              <a:t> </a:t>
            </a:r>
            <a:r>
              <a:rPr sz="1300" kern="1200" dirty="0">
                <a:solidFill>
                  <a:srgbClr val="FF0000"/>
                </a:solidFill>
                <a:latin typeface="Palatino Linotype"/>
                <a:cs typeface="Palatino Linotype"/>
              </a:rPr>
              <a:t>head</a:t>
            </a:r>
            <a:r>
              <a:rPr sz="1300" kern="1200" spc="10" dirty="0">
                <a:solidFill>
                  <a:srgbClr val="FF0000"/>
                </a:solidFill>
                <a:latin typeface="Palatino Linotype"/>
                <a:cs typeface="Palatino Linotype"/>
              </a:rPr>
              <a:t> </a:t>
            </a:r>
            <a:r>
              <a:rPr sz="1300" kern="1200" spc="-5" dirty="0">
                <a:solidFill>
                  <a:prstClr val="black"/>
                </a:solidFill>
                <a:latin typeface="Palatino Linotype"/>
                <a:cs typeface="Palatino Linotype"/>
              </a:rPr>
              <a:t>is</a:t>
            </a:r>
            <a:r>
              <a:rPr sz="1300" kern="1200" dirty="0">
                <a:solidFill>
                  <a:prstClr val="black"/>
                </a:solidFill>
                <a:latin typeface="Palatino Linotype"/>
                <a:cs typeface="Palatino Linotype"/>
              </a:rPr>
              <a:t> a</a:t>
            </a:r>
            <a:r>
              <a:rPr sz="1300" kern="1200" spc="5" dirty="0">
                <a:solidFill>
                  <a:prstClr val="black"/>
                </a:solidFill>
                <a:latin typeface="Palatino Linotype"/>
                <a:cs typeface="Palatino Linotype"/>
              </a:rPr>
              <a:t> </a:t>
            </a:r>
            <a:r>
              <a:rPr sz="1300" kern="1200" dirty="0">
                <a:solidFill>
                  <a:prstClr val="black"/>
                </a:solidFill>
                <a:latin typeface="Palatino Linotype"/>
                <a:cs typeface="Palatino Linotype"/>
              </a:rPr>
              <a:t>nonterminal;</a:t>
            </a:r>
            <a:r>
              <a:rPr sz="1300" kern="1200" spc="5" dirty="0">
                <a:solidFill>
                  <a:prstClr val="black"/>
                </a:solidFill>
                <a:latin typeface="Palatino Linotype"/>
                <a:cs typeface="Palatino Linotype"/>
              </a:rPr>
              <a:t> </a:t>
            </a:r>
            <a:r>
              <a:rPr sz="1300" kern="1200" dirty="0">
                <a:solidFill>
                  <a:prstClr val="black"/>
                </a:solidFill>
                <a:latin typeface="Palatino Linotype"/>
                <a:cs typeface="Palatino Linotype"/>
              </a:rPr>
              <a:t>the</a:t>
            </a:r>
            <a:r>
              <a:rPr sz="1300" kern="1200" spc="5" dirty="0">
                <a:solidFill>
                  <a:prstClr val="black"/>
                </a:solidFill>
                <a:latin typeface="Palatino Linotype"/>
                <a:cs typeface="Palatino Linotype"/>
              </a:rPr>
              <a:t> </a:t>
            </a:r>
            <a:r>
              <a:rPr sz="1300" kern="1200" dirty="0">
                <a:solidFill>
                  <a:srgbClr val="FF0000"/>
                </a:solidFill>
                <a:latin typeface="Palatino Linotype"/>
                <a:cs typeface="Palatino Linotype"/>
              </a:rPr>
              <a:t>body</a:t>
            </a:r>
            <a:r>
              <a:rPr sz="1300" kern="1200" spc="5" dirty="0">
                <a:solidFill>
                  <a:srgbClr val="FF0000"/>
                </a:solidFill>
                <a:latin typeface="Palatino Linotype"/>
                <a:cs typeface="Palatino Linotype"/>
              </a:rPr>
              <a:t> </a:t>
            </a:r>
            <a:r>
              <a:rPr sz="1300" kern="1200" spc="-5" dirty="0">
                <a:solidFill>
                  <a:prstClr val="black"/>
                </a:solidFill>
                <a:latin typeface="Palatino Linotype"/>
                <a:cs typeface="Palatino Linotype"/>
              </a:rPr>
              <a:t>consists</a:t>
            </a:r>
            <a:r>
              <a:rPr sz="1300" kern="1200" spc="5" dirty="0">
                <a:solidFill>
                  <a:prstClr val="black"/>
                </a:solidFill>
                <a:latin typeface="Palatino Linotype"/>
                <a:cs typeface="Palatino Linotype"/>
              </a:rPr>
              <a:t> </a:t>
            </a:r>
            <a:r>
              <a:rPr sz="1300" kern="1200" dirty="0">
                <a:solidFill>
                  <a:prstClr val="black"/>
                </a:solidFill>
                <a:latin typeface="Palatino Linotype"/>
                <a:cs typeface="Palatino Linotype"/>
              </a:rPr>
              <a:t>of</a:t>
            </a:r>
            <a:r>
              <a:rPr sz="1300" kern="1200" spc="5" dirty="0">
                <a:solidFill>
                  <a:prstClr val="black"/>
                </a:solidFill>
                <a:latin typeface="Palatino Linotype"/>
                <a:cs typeface="Palatino Linotype"/>
              </a:rPr>
              <a:t> </a:t>
            </a:r>
            <a:r>
              <a:rPr sz="1300" kern="1200" spc="-5" dirty="0">
                <a:solidFill>
                  <a:prstClr val="black"/>
                </a:solidFill>
                <a:latin typeface="Palatino Linotype"/>
                <a:cs typeface="Palatino Linotype"/>
              </a:rPr>
              <a:t>zero</a:t>
            </a:r>
            <a:r>
              <a:rPr sz="1300" kern="1200" spc="5" dirty="0">
                <a:solidFill>
                  <a:prstClr val="black"/>
                </a:solidFill>
                <a:latin typeface="Palatino Linotype"/>
                <a:cs typeface="Palatino Linotype"/>
              </a:rPr>
              <a:t> </a:t>
            </a:r>
            <a:r>
              <a:rPr sz="1300" kern="1200" dirty="0">
                <a:solidFill>
                  <a:prstClr val="black"/>
                </a:solidFill>
                <a:latin typeface="Palatino Linotype"/>
                <a:cs typeface="Palatino Linotype"/>
              </a:rPr>
              <a:t>or </a:t>
            </a:r>
            <a:r>
              <a:rPr sz="1300" kern="1200" spc="-5" dirty="0">
                <a:solidFill>
                  <a:prstClr val="black"/>
                </a:solidFill>
                <a:latin typeface="Palatino Linotype"/>
                <a:cs typeface="Palatino Linotype"/>
              </a:rPr>
              <a:t>more</a:t>
            </a:r>
            <a:r>
              <a:rPr sz="1300" kern="1200" spc="5" dirty="0">
                <a:solidFill>
                  <a:prstClr val="black"/>
                </a:solidFill>
                <a:latin typeface="Palatino Linotype"/>
                <a:cs typeface="Palatino Linotype"/>
              </a:rPr>
              <a:t> </a:t>
            </a:r>
            <a:r>
              <a:rPr sz="1300" kern="1200" spc="-5" dirty="0">
                <a:solidFill>
                  <a:prstClr val="black"/>
                </a:solidFill>
                <a:latin typeface="Palatino Linotype"/>
                <a:cs typeface="Palatino Linotype"/>
              </a:rPr>
              <a:t>terminals/nonterminals</a:t>
            </a:r>
            <a:endParaRPr sz="1300" kern="1200" dirty="0">
              <a:solidFill>
                <a:prstClr val="black"/>
              </a:solidFill>
              <a:latin typeface="Palatino Linotype"/>
              <a:cs typeface="Palatino Linotype"/>
            </a:endParaRPr>
          </a:p>
          <a:p>
            <a:pPr marL="1155700" lvl="2" indent="-229235" rtl="0">
              <a:spcBef>
                <a:spcPts val="935"/>
              </a:spcBef>
              <a:buClr>
                <a:srgbClr val="000000"/>
              </a:buClr>
              <a:buFont typeface="Courier New"/>
              <a:buChar char="o"/>
              <a:tabLst>
                <a:tab pos="1155700" algn="l"/>
              </a:tabLst>
            </a:pPr>
            <a:r>
              <a:rPr sz="1300" b="1" kern="1200" spc="-5" dirty="0">
                <a:solidFill>
                  <a:srgbClr val="0432FF"/>
                </a:solidFill>
                <a:latin typeface="Palatino Linotype"/>
                <a:cs typeface="Palatino Linotype"/>
              </a:rPr>
              <a:t>Example:</a:t>
            </a:r>
            <a:r>
              <a:rPr sz="1300" b="1" kern="1200" spc="-15" dirty="0">
                <a:solidFill>
                  <a:srgbClr val="0432FF"/>
                </a:solidFill>
                <a:latin typeface="Palatino Linotype"/>
                <a:cs typeface="Palatino Linotype"/>
              </a:rPr>
              <a:t> </a:t>
            </a:r>
            <a:r>
              <a:rPr sz="1300" i="1" kern="1200" spc="-5" dirty="0">
                <a:solidFill>
                  <a:prstClr val="black"/>
                </a:solidFill>
                <a:latin typeface="Consolas"/>
                <a:cs typeface="Consolas"/>
              </a:rPr>
              <a:t>expression</a:t>
            </a:r>
            <a:r>
              <a:rPr sz="1300" i="1" kern="1200" spc="-15" dirty="0">
                <a:solidFill>
                  <a:prstClr val="black"/>
                </a:solidFill>
                <a:latin typeface="Consolas"/>
                <a:cs typeface="Consolas"/>
              </a:rPr>
              <a:t> </a:t>
            </a:r>
            <a:r>
              <a:rPr sz="1300" kern="1200" dirty="0">
                <a:solidFill>
                  <a:prstClr val="black"/>
                </a:solidFill>
                <a:latin typeface="Wingdings"/>
                <a:cs typeface="Wingdings"/>
              </a:rPr>
              <a:t></a:t>
            </a:r>
            <a:r>
              <a:rPr sz="1300" kern="1200" spc="55" dirty="0">
                <a:solidFill>
                  <a:prstClr val="black"/>
                </a:solidFill>
                <a:latin typeface="Times New Roman"/>
                <a:cs typeface="Times New Roman"/>
              </a:rPr>
              <a:t> </a:t>
            </a:r>
            <a:r>
              <a:rPr sz="1300" i="1" kern="1200" spc="-5" dirty="0">
                <a:solidFill>
                  <a:prstClr val="black"/>
                </a:solidFill>
                <a:latin typeface="Consolas"/>
                <a:cs typeface="Consolas"/>
              </a:rPr>
              <a:t>expression</a:t>
            </a:r>
            <a:r>
              <a:rPr sz="1300" i="1" kern="1200" spc="-15" dirty="0">
                <a:solidFill>
                  <a:prstClr val="black"/>
                </a:solidFill>
                <a:latin typeface="Consolas"/>
                <a:cs typeface="Consolas"/>
              </a:rPr>
              <a:t> </a:t>
            </a:r>
            <a:r>
              <a:rPr sz="1300" kern="1200" dirty="0">
                <a:solidFill>
                  <a:prstClr val="black"/>
                </a:solidFill>
                <a:latin typeface="Consolas"/>
                <a:cs typeface="Consolas"/>
              </a:rPr>
              <a:t>+</a:t>
            </a:r>
            <a:r>
              <a:rPr sz="1300" kern="1200" spc="-20" dirty="0">
                <a:solidFill>
                  <a:prstClr val="black"/>
                </a:solidFill>
                <a:latin typeface="Consolas"/>
                <a:cs typeface="Consolas"/>
              </a:rPr>
              <a:t> </a:t>
            </a:r>
            <a:r>
              <a:rPr sz="1300" i="1" kern="1200" spc="-5" dirty="0">
                <a:solidFill>
                  <a:prstClr val="black"/>
                </a:solidFill>
                <a:latin typeface="Consolas"/>
                <a:cs typeface="Consolas"/>
              </a:rPr>
              <a:t>term</a:t>
            </a:r>
            <a:endParaRPr sz="1300" kern="1200" dirty="0">
              <a:solidFill>
                <a:prstClr val="black"/>
              </a:solidFill>
              <a:latin typeface="Consolas"/>
              <a:cs typeface="Consolas"/>
            </a:endParaRPr>
          </a:p>
        </p:txBody>
      </p:sp>
    </p:spTree>
    <p:extLst>
      <p:ext uri="{BB962C8B-B14F-4D97-AF65-F5344CB8AC3E}">
        <p14:creationId xmlns:p14="http://schemas.microsoft.com/office/powerpoint/2010/main" val="4024274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a:t>
            </a:fld>
            <a:endParaRPr lang="en-US"/>
          </a:p>
        </p:txBody>
      </p:sp>
      <p:sp>
        <p:nvSpPr>
          <p:cNvPr id="7" name="object 2">
            <a:extLst>
              <a:ext uri="{FF2B5EF4-FFF2-40B4-BE49-F238E27FC236}">
                <a16:creationId xmlns:a16="http://schemas.microsoft.com/office/drawing/2014/main" id="{DADD8F0E-3BF2-B791-7310-235704E05FD0}"/>
              </a:ext>
            </a:extLst>
          </p:cNvPr>
          <p:cNvSpPr txBox="1">
            <a:spLocks/>
          </p:cNvSpPr>
          <p:nvPr/>
        </p:nvSpPr>
        <p:spPr>
          <a:xfrm>
            <a:off x="707390" y="524763"/>
            <a:ext cx="32277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CFG</a:t>
            </a:r>
            <a:r>
              <a:rPr kumimoji="0" lang="en-US" sz="4000" b="1" i="0" u="none" strike="noStrike" kern="0" cap="none" spc="-8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Example</a:t>
            </a:r>
          </a:p>
        </p:txBody>
      </p:sp>
      <p:sp>
        <p:nvSpPr>
          <p:cNvPr id="8" name="object 3">
            <a:extLst>
              <a:ext uri="{FF2B5EF4-FFF2-40B4-BE49-F238E27FC236}">
                <a16:creationId xmlns:a16="http://schemas.microsoft.com/office/drawing/2014/main" id="{9A591342-084A-875E-D70B-C8133729956C}"/>
              </a:ext>
            </a:extLst>
          </p:cNvPr>
          <p:cNvSpPr txBox="1"/>
          <p:nvPr/>
        </p:nvSpPr>
        <p:spPr>
          <a:xfrm>
            <a:off x="707390" y="1500885"/>
            <a:ext cx="6823709" cy="4625340"/>
          </a:xfrm>
          <a:prstGeom prst="rect">
            <a:avLst/>
          </a:prstGeom>
        </p:spPr>
        <p:txBody>
          <a:bodyPr vert="horz" wrap="square" lIns="0" tIns="171450" rIns="0" bIns="0" rtlCol="0">
            <a:spAutoFit/>
          </a:bodyPr>
          <a:lstStyle/>
          <a:p>
            <a:pPr marL="243204" indent="-230504" rtl="0">
              <a:spcBef>
                <a:spcPts val="1350"/>
              </a:spcBef>
              <a:buFont typeface="Arial MT"/>
              <a:buChar char="•"/>
              <a:tabLst>
                <a:tab pos="242570" algn="l"/>
                <a:tab pos="243204" algn="l"/>
              </a:tabLst>
            </a:pP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grammar</a:t>
            </a:r>
            <a:r>
              <a:rPr sz="2000" kern="1200" dirty="0">
                <a:solidFill>
                  <a:prstClr val="black"/>
                </a:solidFill>
                <a:latin typeface="Palatino Linotype"/>
                <a:cs typeface="Palatino Linotype"/>
              </a:rPr>
              <a:t> below</a:t>
            </a:r>
            <a:r>
              <a:rPr sz="2000" kern="1200" spc="-5" dirty="0">
                <a:solidFill>
                  <a:prstClr val="black"/>
                </a:solidFill>
                <a:latin typeface="Palatino Linotype"/>
                <a:cs typeface="Palatino Linotype"/>
              </a:rPr>
              <a:t> defines</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simple</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arithmetic</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expressions</a:t>
            </a:r>
            <a:endParaRPr sz="2000" kern="1200" dirty="0">
              <a:solidFill>
                <a:prstClr val="black"/>
              </a:solidFill>
              <a:latin typeface="Palatino Linotype"/>
              <a:cs typeface="Palatino Linotype"/>
            </a:endParaRPr>
          </a:p>
          <a:p>
            <a:pPr marL="698500" lvl="1" indent="-228600" rtl="0">
              <a:spcBef>
                <a:spcPts val="1000"/>
              </a:spcBef>
              <a:buClr>
                <a:srgbClr val="000000"/>
              </a:buClr>
              <a:buFont typeface="Wingdings"/>
              <a:buChar char=""/>
              <a:tabLst>
                <a:tab pos="697865" algn="l"/>
                <a:tab pos="698500" algn="l"/>
              </a:tabLst>
            </a:pPr>
            <a:r>
              <a:rPr sz="1600" kern="1200" spc="-15" dirty="0">
                <a:solidFill>
                  <a:srgbClr val="FF0000"/>
                </a:solidFill>
                <a:latin typeface="Palatino Linotype"/>
                <a:cs typeface="Palatino Linotype"/>
              </a:rPr>
              <a:t>Terminal</a:t>
            </a:r>
            <a:r>
              <a:rPr sz="1600" kern="1200" spc="-10" dirty="0">
                <a:solidFill>
                  <a:srgbClr val="FF0000"/>
                </a:solidFill>
                <a:latin typeface="Palatino Linotype"/>
                <a:cs typeface="Palatino Linotype"/>
              </a:rPr>
              <a:t> </a:t>
            </a:r>
            <a:r>
              <a:rPr sz="1600" kern="1200" spc="-5" dirty="0">
                <a:solidFill>
                  <a:srgbClr val="FF0000"/>
                </a:solidFill>
                <a:latin typeface="Palatino Linotype"/>
                <a:cs typeface="Palatino Linotype"/>
              </a:rPr>
              <a:t>symbols:</a:t>
            </a:r>
            <a:r>
              <a:rPr sz="1600" kern="1200" spc="-10" dirty="0">
                <a:solidFill>
                  <a:srgbClr val="FF0000"/>
                </a:solidFill>
                <a:latin typeface="Palatino Linotype"/>
                <a:cs typeface="Palatino Linotype"/>
              </a:rPr>
              <a:t> </a:t>
            </a:r>
            <a:r>
              <a:rPr sz="1600" kern="1200" spc="-5" dirty="0">
                <a:solidFill>
                  <a:srgbClr val="0432FF"/>
                </a:solidFill>
                <a:latin typeface="Consolas"/>
                <a:cs typeface="Consolas"/>
              </a:rPr>
              <a:t>id</a:t>
            </a:r>
            <a:r>
              <a:rPr sz="1600" kern="1200" spc="-5" dirty="0">
                <a:solidFill>
                  <a:prstClr val="black"/>
                </a:solidFill>
                <a:latin typeface="Consolas"/>
                <a:cs typeface="Consolas"/>
              </a:rPr>
              <a:t>,</a:t>
            </a:r>
            <a:r>
              <a:rPr sz="1600" kern="1200" spc="-15" dirty="0">
                <a:solidFill>
                  <a:prstClr val="black"/>
                </a:solidFill>
                <a:latin typeface="Consolas"/>
                <a:cs typeface="Consolas"/>
              </a:rPr>
              <a:t> </a:t>
            </a:r>
            <a:r>
              <a:rPr sz="1600" kern="1200" spc="-5" dirty="0">
                <a:solidFill>
                  <a:srgbClr val="0432FF"/>
                </a:solidFill>
                <a:latin typeface="Consolas"/>
                <a:cs typeface="Consolas"/>
              </a:rPr>
              <a:t>+</a:t>
            </a:r>
            <a:r>
              <a:rPr sz="1600" kern="1200" spc="-5" dirty="0">
                <a:solidFill>
                  <a:prstClr val="black"/>
                </a:solidFill>
                <a:latin typeface="Consolas"/>
                <a:cs typeface="Consolas"/>
              </a:rPr>
              <a:t>,</a:t>
            </a:r>
            <a:r>
              <a:rPr sz="1600" kern="1200" spc="-15" dirty="0">
                <a:solidFill>
                  <a:prstClr val="black"/>
                </a:solidFill>
                <a:latin typeface="Consolas"/>
                <a:cs typeface="Consolas"/>
              </a:rPr>
              <a:t> </a:t>
            </a:r>
            <a:r>
              <a:rPr sz="1600" kern="1200" spc="-5" dirty="0">
                <a:solidFill>
                  <a:srgbClr val="0432FF"/>
                </a:solidFill>
                <a:latin typeface="Consolas"/>
                <a:cs typeface="Consolas"/>
              </a:rPr>
              <a:t>-</a:t>
            </a:r>
            <a:r>
              <a:rPr sz="1600" kern="1200" spc="-5" dirty="0">
                <a:solidFill>
                  <a:prstClr val="black"/>
                </a:solidFill>
                <a:latin typeface="Consolas"/>
                <a:cs typeface="Consolas"/>
              </a:rPr>
              <a:t>,</a:t>
            </a:r>
            <a:r>
              <a:rPr sz="1600" kern="1200" spc="-20" dirty="0">
                <a:solidFill>
                  <a:prstClr val="black"/>
                </a:solidFill>
                <a:latin typeface="Consolas"/>
                <a:cs typeface="Consolas"/>
              </a:rPr>
              <a:t> </a:t>
            </a:r>
            <a:r>
              <a:rPr sz="1600" kern="1200" spc="-5" dirty="0">
                <a:solidFill>
                  <a:srgbClr val="0432FF"/>
                </a:solidFill>
                <a:latin typeface="Consolas"/>
                <a:cs typeface="Consolas"/>
              </a:rPr>
              <a:t>*</a:t>
            </a:r>
            <a:r>
              <a:rPr sz="1600" kern="1200" spc="-5" dirty="0">
                <a:solidFill>
                  <a:prstClr val="black"/>
                </a:solidFill>
                <a:latin typeface="Consolas"/>
                <a:cs typeface="Consolas"/>
              </a:rPr>
              <a:t>,</a:t>
            </a:r>
            <a:r>
              <a:rPr sz="1600" kern="1200" spc="-15" dirty="0">
                <a:solidFill>
                  <a:prstClr val="black"/>
                </a:solidFill>
                <a:latin typeface="Consolas"/>
                <a:cs typeface="Consolas"/>
              </a:rPr>
              <a:t> </a:t>
            </a:r>
            <a:r>
              <a:rPr sz="1600" kern="1200" spc="-5" dirty="0">
                <a:solidFill>
                  <a:srgbClr val="0432FF"/>
                </a:solidFill>
                <a:latin typeface="Consolas"/>
                <a:cs typeface="Consolas"/>
              </a:rPr>
              <a:t>/</a:t>
            </a:r>
            <a:r>
              <a:rPr sz="1600" kern="1200" spc="-5" dirty="0">
                <a:solidFill>
                  <a:prstClr val="black"/>
                </a:solidFill>
                <a:latin typeface="Consolas"/>
                <a:cs typeface="Consolas"/>
              </a:rPr>
              <a:t>,</a:t>
            </a:r>
            <a:r>
              <a:rPr sz="1600" kern="1200" spc="-15" dirty="0">
                <a:solidFill>
                  <a:prstClr val="black"/>
                </a:solidFill>
                <a:latin typeface="Consolas"/>
                <a:cs typeface="Consolas"/>
              </a:rPr>
              <a:t> </a:t>
            </a:r>
            <a:r>
              <a:rPr sz="1600" kern="1200" spc="-5" dirty="0">
                <a:solidFill>
                  <a:srgbClr val="0432FF"/>
                </a:solidFill>
                <a:latin typeface="Consolas"/>
                <a:cs typeface="Consolas"/>
              </a:rPr>
              <a:t>(</a:t>
            </a:r>
            <a:r>
              <a:rPr sz="1600" kern="1200" spc="-5" dirty="0">
                <a:solidFill>
                  <a:prstClr val="black"/>
                </a:solidFill>
                <a:latin typeface="Consolas"/>
                <a:cs typeface="Consolas"/>
              </a:rPr>
              <a:t>,</a:t>
            </a:r>
            <a:r>
              <a:rPr sz="1600" kern="1200" spc="-20" dirty="0">
                <a:solidFill>
                  <a:prstClr val="black"/>
                </a:solidFill>
                <a:latin typeface="Consolas"/>
                <a:cs typeface="Consolas"/>
              </a:rPr>
              <a:t> </a:t>
            </a:r>
            <a:r>
              <a:rPr sz="1600" kern="1200" dirty="0">
                <a:solidFill>
                  <a:srgbClr val="0432FF"/>
                </a:solidFill>
                <a:latin typeface="Consolas"/>
                <a:cs typeface="Consolas"/>
              </a:rPr>
              <a:t>)</a:t>
            </a:r>
            <a:endParaRPr sz="1600" kern="1200" dirty="0">
              <a:solidFill>
                <a:prstClr val="black"/>
              </a:solidFill>
              <a:latin typeface="Consolas"/>
              <a:cs typeface="Consolas"/>
            </a:endParaRPr>
          </a:p>
          <a:p>
            <a:pPr marL="698500" lvl="1" indent="-228600" rtl="0">
              <a:spcBef>
                <a:spcPts val="960"/>
              </a:spcBef>
              <a:buClr>
                <a:srgbClr val="000000"/>
              </a:buClr>
              <a:buFont typeface="Wingdings"/>
              <a:buChar char=""/>
              <a:tabLst>
                <a:tab pos="697865" algn="l"/>
                <a:tab pos="698500" algn="l"/>
              </a:tabLst>
            </a:pPr>
            <a:r>
              <a:rPr sz="1600" kern="1200" spc="-5" dirty="0">
                <a:solidFill>
                  <a:srgbClr val="FF0000"/>
                </a:solidFill>
                <a:latin typeface="Palatino Linotype"/>
                <a:cs typeface="Palatino Linotype"/>
              </a:rPr>
              <a:t>Nonterminals:</a:t>
            </a:r>
            <a:r>
              <a:rPr sz="1600" kern="1200" spc="-10" dirty="0">
                <a:solidFill>
                  <a:srgbClr val="FF0000"/>
                </a:solidFill>
                <a:latin typeface="Palatino Linotype"/>
                <a:cs typeface="Palatino Linotype"/>
              </a:rPr>
              <a:t> </a:t>
            </a:r>
            <a:r>
              <a:rPr sz="1600" i="1" kern="1200" spc="-5" dirty="0">
                <a:solidFill>
                  <a:prstClr val="black"/>
                </a:solidFill>
                <a:latin typeface="Consolas"/>
                <a:cs typeface="Consolas"/>
              </a:rPr>
              <a:t>expression</a:t>
            </a:r>
            <a:r>
              <a:rPr sz="1600" kern="1200" spc="-5" dirty="0">
                <a:solidFill>
                  <a:prstClr val="black"/>
                </a:solidFill>
                <a:latin typeface="Consolas"/>
                <a:cs typeface="Consolas"/>
              </a:rPr>
              <a:t>,</a:t>
            </a:r>
            <a:r>
              <a:rPr sz="1600" kern="1200" spc="-20" dirty="0">
                <a:solidFill>
                  <a:prstClr val="black"/>
                </a:solidFill>
                <a:latin typeface="Consolas"/>
                <a:cs typeface="Consolas"/>
              </a:rPr>
              <a:t> </a:t>
            </a:r>
            <a:r>
              <a:rPr sz="1600" i="1" kern="1200" spc="-5" dirty="0">
                <a:solidFill>
                  <a:prstClr val="black"/>
                </a:solidFill>
                <a:latin typeface="Consolas"/>
                <a:cs typeface="Consolas"/>
              </a:rPr>
              <a:t>term</a:t>
            </a:r>
            <a:r>
              <a:rPr sz="1600" kern="1200" spc="-5" dirty="0">
                <a:solidFill>
                  <a:prstClr val="black"/>
                </a:solidFill>
                <a:latin typeface="Consolas"/>
                <a:cs typeface="Consolas"/>
              </a:rPr>
              <a:t>,</a:t>
            </a:r>
            <a:r>
              <a:rPr sz="1600" kern="1200" spc="-20" dirty="0">
                <a:solidFill>
                  <a:prstClr val="black"/>
                </a:solidFill>
                <a:latin typeface="Consolas"/>
                <a:cs typeface="Consolas"/>
              </a:rPr>
              <a:t> </a:t>
            </a:r>
            <a:r>
              <a:rPr sz="1600" i="1" kern="1200" spc="-5" dirty="0">
                <a:solidFill>
                  <a:prstClr val="black"/>
                </a:solidFill>
                <a:latin typeface="Consolas"/>
                <a:cs typeface="Consolas"/>
              </a:rPr>
              <a:t>factor</a:t>
            </a:r>
            <a:endParaRPr sz="1600" kern="1200" dirty="0">
              <a:solidFill>
                <a:prstClr val="black"/>
              </a:solidFill>
              <a:latin typeface="Consolas"/>
              <a:cs typeface="Consolas"/>
            </a:endParaRPr>
          </a:p>
          <a:p>
            <a:pPr marL="698500" lvl="1" indent="-228600" rtl="0">
              <a:spcBef>
                <a:spcPts val="980"/>
              </a:spcBef>
              <a:buClr>
                <a:srgbClr val="000000"/>
              </a:buClr>
              <a:buFont typeface="Wingdings"/>
              <a:buChar char=""/>
              <a:tabLst>
                <a:tab pos="697865" algn="l"/>
                <a:tab pos="698500" algn="l"/>
              </a:tabLst>
            </a:pPr>
            <a:r>
              <a:rPr sz="1600" kern="1200" dirty="0">
                <a:solidFill>
                  <a:srgbClr val="FF0000"/>
                </a:solidFill>
                <a:latin typeface="Palatino Linotype"/>
                <a:cs typeface="Palatino Linotype"/>
              </a:rPr>
              <a:t>Start</a:t>
            </a:r>
            <a:r>
              <a:rPr sz="1600" kern="1200" spc="-25" dirty="0">
                <a:solidFill>
                  <a:srgbClr val="FF0000"/>
                </a:solidFill>
                <a:latin typeface="Palatino Linotype"/>
                <a:cs typeface="Palatino Linotype"/>
              </a:rPr>
              <a:t> </a:t>
            </a:r>
            <a:r>
              <a:rPr sz="1600" kern="1200" spc="-5" dirty="0">
                <a:solidFill>
                  <a:srgbClr val="FF0000"/>
                </a:solidFill>
                <a:latin typeface="Palatino Linotype"/>
                <a:cs typeface="Palatino Linotype"/>
              </a:rPr>
              <a:t>symbol:</a:t>
            </a:r>
            <a:r>
              <a:rPr sz="1600" kern="1200" spc="-25" dirty="0">
                <a:solidFill>
                  <a:srgbClr val="FF0000"/>
                </a:solidFill>
                <a:latin typeface="Palatino Linotype"/>
                <a:cs typeface="Palatino Linotype"/>
              </a:rPr>
              <a:t> </a:t>
            </a:r>
            <a:r>
              <a:rPr sz="1600" i="1" kern="1200" spc="-5" dirty="0">
                <a:solidFill>
                  <a:prstClr val="black"/>
                </a:solidFill>
                <a:latin typeface="Consolas"/>
                <a:cs typeface="Consolas"/>
              </a:rPr>
              <a:t>expression</a:t>
            </a:r>
            <a:endParaRPr sz="1600" kern="1200" dirty="0">
              <a:solidFill>
                <a:prstClr val="black"/>
              </a:solidFill>
              <a:latin typeface="Consolas"/>
              <a:cs typeface="Consolas"/>
            </a:endParaRPr>
          </a:p>
          <a:p>
            <a:pPr marL="698500" lvl="1" indent="-228600" rtl="0">
              <a:spcBef>
                <a:spcPts val="985"/>
              </a:spcBef>
              <a:buClr>
                <a:srgbClr val="000000"/>
              </a:buClr>
              <a:buFont typeface="Wingdings"/>
              <a:buChar char=""/>
              <a:tabLst>
                <a:tab pos="697865" algn="l"/>
                <a:tab pos="698500" algn="l"/>
              </a:tabLst>
            </a:pPr>
            <a:r>
              <a:rPr sz="1600" kern="1200" spc="-5" dirty="0">
                <a:solidFill>
                  <a:srgbClr val="FF0000"/>
                </a:solidFill>
                <a:latin typeface="Palatino Linotype"/>
                <a:cs typeface="Palatino Linotype"/>
              </a:rPr>
              <a:t>Productions:</a:t>
            </a:r>
            <a:endParaRPr sz="1600" kern="1200" dirty="0">
              <a:solidFill>
                <a:prstClr val="black"/>
              </a:solidFill>
              <a:latin typeface="Palatino Linotype"/>
              <a:cs typeface="Palatino Linotype"/>
            </a:endParaRPr>
          </a:p>
          <a:p>
            <a:pPr marL="1155700" lvl="2" indent="-229235" rtl="0">
              <a:spcBef>
                <a:spcPts val="994"/>
              </a:spcBef>
              <a:buFont typeface="Courier New"/>
              <a:buChar char="o"/>
              <a:tabLst>
                <a:tab pos="1155700" algn="l"/>
              </a:tabLst>
            </a:pPr>
            <a:r>
              <a:rPr sz="1400" i="1" kern="1200" dirty="0">
                <a:solidFill>
                  <a:prstClr val="black"/>
                </a:solidFill>
                <a:latin typeface="Consolas"/>
                <a:cs typeface="Consolas"/>
              </a:rPr>
              <a:t>expression </a:t>
            </a:r>
            <a:r>
              <a:rPr sz="1400" kern="1200" dirty="0">
                <a:solidFill>
                  <a:prstClr val="black"/>
                </a:solidFill>
                <a:latin typeface="Wingdings"/>
                <a:cs typeface="Wingdings"/>
              </a:rPr>
              <a:t></a:t>
            </a:r>
            <a:r>
              <a:rPr sz="1400" kern="1200" spc="425" dirty="0">
                <a:solidFill>
                  <a:prstClr val="black"/>
                </a:solidFill>
                <a:latin typeface="Times New Roman"/>
                <a:cs typeface="Times New Roman"/>
              </a:rPr>
              <a:t> </a:t>
            </a:r>
            <a:r>
              <a:rPr sz="1400" i="1" kern="1200" dirty="0">
                <a:solidFill>
                  <a:prstClr val="black"/>
                </a:solidFill>
                <a:latin typeface="Consolas"/>
                <a:cs typeface="Consolas"/>
              </a:rPr>
              <a:t>expression </a:t>
            </a:r>
            <a:r>
              <a:rPr sz="1400" kern="1200" dirty="0">
                <a:solidFill>
                  <a:prstClr val="black"/>
                </a:solidFill>
                <a:latin typeface="Consolas"/>
                <a:cs typeface="Consolas"/>
              </a:rPr>
              <a:t>+</a:t>
            </a:r>
            <a:r>
              <a:rPr sz="1400" kern="1200" spc="10" dirty="0">
                <a:solidFill>
                  <a:prstClr val="black"/>
                </a:solidFill>
                <a:latin typeface="Consolas"/>
                <a:cs typeface="Consolas"/>
              </a:rPr>
              <a:t> </a:t>
            </a:r>
            <a:r>
              <a:rPr sz="1400" i="1" kern="1200" spc="5" dirty="0">
                <a:solidFill>
                  <a:prstClr val="black"/>
                </a:solidFill>
                <a:latin typeface="Consolas"/>
                <a:cs typeface="Consolas"/>
              </a:rPr>
              <a:t>term</a:t>
            </a:r>
            <a:endParaRPr sz="1400" kern="1200" dirty="0">
              <a:solidFill>
                <a:prstClr val="black"/>
              </a:solidFill>
              <a:latin typeface="Consolas"/>
              <a:cs typeface="Consolas"/>
            </a:endParaRPr>
          </a:p>
          <a:p>
            <a:pPr marL="1155700" lvl="2" indent="-229235" rtl="0">
              <a:spcBef>
                <a:spcPts val="910"/>
              </a:spcBef>
              <a:buFont typeface="Courier New"/>
              <a:buChar char="o"/>
              <a:tabLst>
                <a:tab pos="1155700" algn="l"/>
              </a:tabLst>
            </a:pPr>
            <a:r>
              <a:rPr sz="1400" i="1" kern="1200" dirty="0">
                <a:solidFill>
                  <a:prstClr val="black"/>
                </a:solidFill>
                <a:latin typeface="Consolas"/>
                <a:cs typeface="Consolas"/>
              </a:rPr>
              <a:t>expression </a:t>
            </a:r>
            <a:r>
              <a:rPr sz="1400" kern="1200" dirty="0">
                <a:solidFill>
                  <a:prstClr val="black"/>
                </a:solidFill>
                <a:latin typeface="Wingdings"/>
                <a:cs typeface="Wingdings"/>
              </a:rPr>
              <a:t></a:t>
            </a:r>
            <a:r>
              <a:rPr sz="1400" kern="1200" spc="425" dirty="0">
                <a:solidFill>
                  <a:prstClr val="black"/>
                </a:solidFill>
                <a:latin typeface="Times New Roman"/>
                <a:cs typeface="Times New Roman"/>
              </a:rPr>
              <a:t> </a:t>
            </a:r>
            <a:r>
              <a:rPr sz="1400" i="1" kern="1200" dirty="0">
                <a:solidFill>
                  <a:prstClr val="black"/>
                </a:solidFill>
                <a:latin typeface="Consolas"/>
                <a:cs typeface="Consolas"/>
              </a:rPr>
              <a:t>expression </a:t>
            </a:r>
            <a:r>
              <a:rPr sz="1400" kern="1200" dirty="0">
                <a:solidFill>
                  <a:prstClr val="black"/>
                </a:solidFill>
                <a:latin typeface="Consolas"/>
                <a:cs typeface="Consolas"/>
              </a:rPr>
              <a:t>–</a:t>
            </a:r>
            <a:r>
              <a:rPr sz="1400" kern="1200" spc="10" dirty="0">
                <a:solidFill>
                  <a:prstClr val="black"/>
                </a:solidFill>
                <a:latin typeface="Consolas"/>
                <a:cs typeface="Consolas"/>
              </a:rPr>
              <a:t> </a:t>
            </a:r>
            <a:r>
              <a:rPr sz="1400" i="1" kern="1200" spc="5" dirty="0">
                <a:solidFill>
                  <a:prstClr val="black"/>
                </a:solidFill>
                <a:latin typeface="Consolas"/>
                <a:cs typeface="Consolas"/>
              </a:rPr>
              <a:t>term</a:t>
            </a:r>
            <a:endParaRPr sz="1400" kern="1200" dirty="0">
              <a:solidFill>
                <a:prstClr val="black"/>
              </a:solidFill>
              <a:latin typeface="Consolas"/>
              <a:cs typeface="Consolas"/>
            </a:endParaRPr>
          </a:p>
          <a:p>
            <a:pPr marL="1155700" lvl="2" indent="-229235" rtl="0">
              <a:spcBef>
                <a:spcPts val="915"/>
              </a:spcBef>
              <a:buFont typeface="Courier New"/>
              <a:buChar char="o"/>
              <a:tabLst>
                <a:tab pos="1155700" algn="l"/>
              </a:tabLst>
            </a:pPr>
            <a:r>
              <a:rPr sz="1400" i="1" kern="1200" dirty="0">
                <a:solidFill>
                  <a:prstClr val="black"/>
                </a:solidFill>
                <a:latin typeface="Consolas"/>
                <a:cs typeface="Consolas"/>
              </a:rPr>
              <a:t>expression</a:t>
            </a:r>
            <a:r>
              <a:rPr sz="1400" i="1" kern="1200" spc="-20" dirty="0">
                <a:solidFill>
                  <a:prstClr val="black"/>
                </a:solidFill>
                <a:latin typeface="Consolas"/>
                <a:cs typeface="Consolas"/>
              </a:rPr>
              <a:t> </a:t>
            </a:r>
            <a:r>
              <a:rPr sz="1400" kern="1200" dirty="0">
                <a:solidFill>
                  <a:prstClr val="black"/>
                </a:solidFill>
                <a:latin typeface="Wingdings"/>
                <a:cs typeface="Wingdings"/>
              </a:rPr>
              <a:t></a:t>
            </a:r>
            <a:r>
              <a:rPr sz="1400" kern="1200" spc="60" dirty="0">
                <a:solidFill>
                  <a:prstClr val="black"/>
                </a:solidFill>
                <a:latin typeface="Times New Roman"/>
                <a:cs typeface="Times New Roman"/>
              </a:rPr>
              <a:t> </a:t>
            </a:r>
            <a:r>
              <a:rPr sz="1400" i="1" kern="1200" spc="5" dirty="0">
                <a:solidFill>
                  <a:prstClr val="black"/>
                </a:solidFill>
                <a:latin typeface="Consolas"/>
                <a:cs typeface="Consolas"/>
              </a:rPr>
              <a:t>term</a:t>
            </a:r>
            <a:endParaRPr sz="1400" kern="1200" dirty="0">
              <a:solidFill>
                <a:prstClr val="black"/>
              </a:solidFill>
              <a:latin typeface="Consolas"/>
              <a:cs typeface="Consolas"/>
            </a:endParaRPr>
          </a:p>
          <a:p>
            <a:pPr marL="1155700" lvl="2" indent="-229235" rtl="0">
              <a:spcBef>
                <a:spcPts val="1030"/>
              </a:spcBef>
              <a:buFont typeface="Courier New"/>
              <a:buChar char="o"/>
              <a:tabLst>
                <a:tab pos="1155700" algn="l"/>
              </a:tabLst>
            </a:pPr>
            <a:r>
              <a:rPr sz="1400" i="1" kern="1200" dirty="0">
                <a:solidFill>
                  <a:prstClr val="black"/>
                </a:solidFill>
                <a:latin typeface="Consolas"/>
                <a:cs typeface="Consolas"/>
              </a:rPr>
              <a:t>term</a:t>
            </a:r>
            <a:r>
              <a:rPr sz="1400" i="1" kern="1200" spc="-15" dirty="0">
                <a:solidFill>
                  <a:prstClr val="black"/>
                </a:solidFill>
                <a:latin typeface="Consolas"/>
                <a:cs typeface="Consolas"/>
              </a:rPr>
              <a:t> </a:t>
            </a:r>
            <a:r>
              <a:rPr sz="1400" kern="1200" dirty="0">
                <a:solidFill>
                  <a:prstClr val="black"/>
                </a:solidFill>
                <a:latin typeface="Wingdings"/>
                <a:cs typeface="Wingdings"/>
              </a:rPr>
              <a:t></a:t>
            </a:r>
            <a:r>
              <a:rPr sz="1400" kern="1200" spc="409" dirty="0">
                <a:solidFill>
                  <a:prstClr val="black"/>
                </a:solidFill>
                <a:latin typeface="Times New Roman"/>
                <a:cs typeface="Times New Roman"/>
              </a:rPr>
              <a:t> </a:t>
            </a:r>
            <a:r>
              <a:rPr sz="1400" i="1" kern="1200" dirty="0">
                <a:solidFill>
                  <a:prstClr val="black"/>
                </a:solidFill>
                <a:latin typeface="Consolas"/>
                <a:cs typeface="Consolas"/>
              </a:rPr>
              <a:t>term</a:t>
            </a:r>
            <a:r>
              <a:rPr sz="1400" i="1" kern="1200" spc="-1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spc="5" dirty="0">
                <a:solidFill>
                  <a:prstClr val="black"/>
                </a:solidFill>
                <a:latin typeface="Consolas"/>
                <a:cs typeface="Consolas"/>
              </a:rPr>
              <a:t>factor</a:t>
            </a:r>
            <a:endParaRPr sz="1400" kern="1200" dirty="0">
              <a:solidFill>
                <a:prstClr val="black"/>
              </a:solidFill>
              <a:latin typeface="Consolas"/>
              <a:cs typeface="Consolas"/>
            </a:endParaRPr>
          </a:p>
          <a:p>
            <a:pPr marL="1155700" lvl="2" indent="-229235" rtl="0">
              <a:spcBef>
                <a:spcPts val="910"/>
              </a:spcBef>
              <a:buFont typeface="Courier New"/>
              <a:buChar char="o"/>
              <a:tabLst>
                <a:tab pos="1155700" algn="l"/>
              </a:tabLst>
            </a:pPr>
            <a:r>
              <a:rPr sz="1400" i="1" kern="1200" dirty="0">
                <a:solidFill>
                  <a:prstClr val="black"/>
                </a:solidFill>
                <a:latin typeface="Consolas"/>
                <a:cs typeface="Consolas"/>
              </a:rPr>
              <a:t>term</a:t>
            </a:r>
            <a:r>
              <a:rPr sz="1400" i="1" kern="1200" spc="-15" dirty="0">
                <a:solidFill>
                  <a:prstClr val="black"/>
                </a:solidFill>
                <a:latin typeface="Consolas"/>
                <a:cs typeface="Consolas"/>
              </a:rPr>
              <a:t> </a:t>
            </a:r>
            <a:r>
              <a:rPr sz="1400" kern="1200" dirty="0">
                <a:solidFill>
                  <a:prstClr val="black"/>
                </a:solidFill>
                <a:latin typeface="Wingdings"/>
                <a:cs typeface="Wingdings"/>
              </a:rPr>
              <a:t></a:t>
            </a:r>
            <a:r>
              <a:rPr sz="1400" kern="1200" spc="409" dirty="0">
                <a:solidFill>
                  <a:prstClr val="black"/>
                </a:solidFill>
                <a:latin typeface="Times New Roman"/>
                <a:cs typeface="Times New Roman"/>
              </a:rPr>
              <a:t> </a:t>
            </a:r>
            <a:r>
              <a:rPr sz="1400" i="1" kern="1200" dirty="0">
                <a:solidFill>
                  <a:prstClr val="black"/>
                </a:solidFill>
                <a:latin typeface="Consolas"/>
                <a:cs typeface="Consolas"/>
              </a:rPr>
              <a:t>term</a:t>
            </a:r>
            <a:r>
              <a:rPr sz="1400" i="1" kern="1200" spc="-1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spc="5" dirty="0">
                <a:solidFill>
                  <a:prstClr val="black"/>
                </a:solidFill>
                <a:latin typeface="Consolas"/>
                <a:cs typeface="Consolas"/>
              </a:rPr>
              <a:t>factor</a:t>
            </a:r>
            <a:endParaRPr sz="1400" kern="1200" dirty="0">
              <a:solidFill>
                <a:prstClr val="black"/>
              </a:solidFill>
              <a:latin typeface="Consolas"/>
              <a:cs typeface="Consolas"/>
            </a:endParaRPr>
          </a:p>
          <a:p>
            <a:pPr marL="1155700" lvl="2" indent="-229235" rtl="0">
              <a:spcBef>
                <a:spcPts val="915"/>
              </a:spcBef>
              <a:buFont typeface="Courier New"/>
              <a:buChar char="o"/>
              <a:tabLst>
                <a:tab pos="1155700" algn="l"/>
              </a:tabLst>
            </a:pPr>
            <a:r>
              <a:rPr sz="1400" i="1" kern="1200" dirty="0">
                <a:solidFill>
                  <a:prstClr val="black"/>
                </a:solidFill>
                <a:latin typeface="Consolas"/>
                <a:cs typeface="Consolas"/>
              </a:rPr>
              <a:t>term</a:t>
            </a:r>
            <a:r>
              <a:rPr sz="1400" i="1" kern="1200" spc="-30" dirty="0">
                <a:solidFill>
                  <a:prstClr val="black"/>
                </a:solidFill>
                <a:latin typeface="Consolas"/>
                <a:cs typeface="Consolas"/>
              </a:rPr>
              <a:t> </a:t>
            </a:r>
            <a:r>
              <a:rPr sz="1400" kern="1200" dirty="0">
                <a:solidFill>
                  <a:prstClr val="black"/>
                </a:solidFill>
                <a:latin typeface="Wingdings"/>
                <a:cs typeface="Wingdings"/>
              </a:rPr>
              <a:t></a:t>
            </a:r>
            <a:r>
              <a:rPr sz="1400" kern="1200" spc="45" dirty="0">
                <a:solidFill>
                  <a:prstClr val="black"/>
                </a:solidFill>
                <a:latin typeface="Times New Roman"/>
                <a:cs typeface="Times New Roman"/>
              </a:rPr>
              <a:t> </a:t>
            </a:r>
            <a:r>
              <a:rPr sz="1400" i="1" kern="1200" spc="5" dirty="0">
                <a:solidFill>
                  <a:prstClr val="black"/>
                </a:solidFill>
                <a:latin typeface="Consolas"/>
                <a:cs typeface="Consolas"/>
              </a:rPr>
              <a:t>factor</a:t>
            </a:r>
            <a:endParaRPr sz="1400" kern="1200" dirty="0">
              <a:solidFill>
                <a:prstClr val="black"/>
              </a:solidFill>
              <a:latin typeface="Consolas"/>
              <a:cs typeface="Consolas"/>
            </a:endParaRPr>
          </a:p>
          <a:p>
            <a:pPr marL="1155700" lvl="2" indent="-229235" rtl="0">
              <a:spcBef>
                <a:spcPts val="935"/>
              </a:spcBef>
              <a:buFont typeface="Courier New"/>
              <a:buChar char="o"/>
              <a:tabLst>
                <a:tab pos="1155700" algn="l"/>
              </a:tabLst>
            </a:pPr>
            <a:r>
              <a:rPr sz="1400" i="1" kern="1200" dirty="0">
                <a:solidFill>
                  <a:prstClr val="black"/>
                </a:solidFill>
                <a:latin typeface="Consolas"/>
                <a:cs typeface="Consolas"/>
              </a:rPr>
              <a:t>factor</a:t>
            </a:r>
            <a:r>
              <a:rPr sz="1400" i="1" kern="1200" spc="-5" dirty="0">
                <a:solidFill>
                  <a:prstClr val="black"/>
                </a:solidFill>
                <a:latin typeface="Consolas"/>
                <a:cs typeface="Consolas"/>
              </a:rPr>
              <a:t> </a:t>
            </a:r>
            <a:r>
              <a:rPr sz="1400" kern="1200" dirty="0">
                <a:solidFill>
                  <a:prstClr val="black"/>
                </a:solidFill>
                <a:latin typeface="Wingdings"/>
                <a:cs typeface="Wingdings"/>
              </a:rPr>
              <a:t></a:t>
            </a:r>
            <a:r>
              <a:rPr sz="1400" kern="1200" spc="70" dirty="0">
                <a:solidFill>
                  <a:prstClr val="black"/>
                </a:solidFill>
                <a:latin typeface="Times New Roman"/>
                <a:cs typeface="Times New Roman"/>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expression </a:t>
            </a:r>
            <a:r>
              <a:rPr sz="1400" kern="1200" dirty="0">
                <a:solidFill>
                  <a:prstClr val="black"/>
                </a:solidFill>
                <a:latin typeface="Consolas"/>
                <a:cs typeface="Consolas"/>
              </a:rPr>
              <a:t>)</a:t>
            </a:r>
          </a:p>
          <a:p>
            <a:pPr marL="1155700" lvl="2" indent="-229235" rtl="0">
              <a:spcBef>
                <a:spcPts val="910"/>
              </a:spcBef>
              <a:buFont typeface="Courier New"/>
              <a:buChar char="o"/>
              <a:tabLst>
                <a:tab pos="1155700" algn="l"/>
              </a:tabLst>
            </a:pPr>
            <a:r>
              <a:rPr sz="1400" i="1" kern="1200" dirty="0">
                <a:solidFill>
                  <a:prstClr val="black"/>
                </a:solidFill>
                <a:latin typeface="Consolas"/>
                <a:cs typeface="Consolas"/>
              </a:rPr>
              <a:t>factor</a:t>
            </a:r>
            <a:r>
              <a:rPr sz="1400" i="1" kern="1200" spc="-25" dirty="0">
                <a:solidFill>
                  <a:prstClr val="black"/>
                </a:solidFill>
                <a:latin typeface="Consolas"/>
                <a:cs typeface="Consolas"/>
              </a:rPr>
              <a:t> </a:t>
            </a:r>
            <a:r>
              <a:rPr sz="1400" kern="1200" dirty="0">
                <a:solidFill>
                  <a:prstClr val="black"/>
                </a:solidFill>
                <a:latin typeface="Wingdings"/>
                <a:cs typeface="Wingdings"/>
              </a:rPr>
              <a:t></a:t>
            </a:r>
            <a:r>
              <a:rPr sz="1400" kern="1200" spc="50" dirty="0">
                <a:solidFill>
                  <a:prstClr val="black"/>
                </a:solidFill>
                <a:latin typeface="Times New Roman"/>
                <a:cs typeface="Times New Roman"/>
              </a:rPr>
              <a:t> </a:t>
            </a:r>
            <a:r>
              <a:rPr sz="1400" b="1" kern="1200" spc="5" dirty="0">
                <a:solidFill>
                  <a:prstClr val="black"/>
                </a:solidFill>
                <a:latin typeface="Consolas"/>
                <a:cs typeface="Consolas"/>
              </a:rPr>
              <a:t>id</a:t>
            </a:r>
            <a:endParaRPr sz="1400" kern="1200" dirty="0">
              <a:solidFill>
                <a:prstClr val="black"/>
              </a:solidFill>
              <a:latin typeface="Consolas"/>
              <a:cs typeface="Consolas"/>
            </a:endParaRPr>
          </a:p>
        </p:txBody>
      </p:sp>
    </p:spTree>
    <p:extLst>
      <p:ext uri="{BB962C8B-B14F-4D97-AF65-F5344CB8AC3E}">
        <p14:creationId xmlns:p14="http://schemas.microsoft.com/office/powerpoint/2010/main" val="2042573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a:t>
            </a:fld>
            <a:endParaRPr lang="en-US"/>
          </a:p>
        </p:txBody>
      </p:sp>
      <p:sp>
        <p:nvSpPr>
          <p:cNvPr id="10" name="object 2">
            <a:extLst>
              <a:ext uri="{FF2B5EF4-FFF2-40B4-BE49-F238E27FC236}">
                <a16:creationId xmlns:a16="http://schemas.microsoft.com/office/drawing/2014/main" id="{020F944C-31DF-41C6-370A-41EC73C29E24}"/>
              </a:ext>
            </a:extLst>
          </p:cNvPr>
          <p:cNvSpPr txBox="1">
            <a:spLocks/>
          </p:cNvSpPr>
          <p:nvPr/>
        </p:nvSpPr>
        <p:spPr>
          <a:xfrm>
            <a:off x="707390" y="524763"/>
            <a:ext cx="600075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dirty="0">
                <a:ln>
                  <a:noFill/>
                </a:ln>
                <a:solidFill>
                  <a:sysClr val="windowText" lastClr="000000"/>
                </a:solidFill>
                <a:effectLst/>
                <a:uLnTx/>
                <a:uFillTx/>
                <a:latin typeface="Palatino Linotype"/>
                <a:ea typeface="+mj-ea"/>
                <a:hlinkClick r:id="rId3" action="ppaction://hlinkpres?slideindex=12&amp;slidetitle=符号约定  "/>
              </a:rPr>
              <a:t>Notational</a:t>
            </a:r>
            <a:r>
              <a:rPr kumimoji="0" lang="en-US" sz="4000" b="1" i="0" u="none" strike="noStrike" kern="0" cap="none" spc="-65" normalizeH="0" baseline="0" noProof="0" dirty="0">
                <a:ln>
                  <a:noFill/>
                </a:ln>
                <a:solidFill>
                  <a:sysClr val="windowText" lastClr="000000"/>
                </a:solidFill>
                <a:effectLst/>
                <a:uLnTx/>
                <a:uFillTx/>
                <a:latin typeface="Palatino Linotype"/>
                <a:ea typeface="+mj-ea"/>
                <a:hlinkClick r:id="rId3" action="ppaction://hlinkpres?slideindex=12&amp;slidetitle=符号约定  "/>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hlinkClick r:id="rId3" action="ppaction://hlinkpres?slideindex=12&amp;slidetitle=符号约定  "/>
              </a:rPr>
              <a:t>Simplification</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0007B388-9D52-C250-E05B-5D3E3AC02165}"/>
              </a:ext>
            </a:extLst>
          </p:cNvPr>
          <p:cNvSpPr txBox="1"/>
          <p:nvPr/>
        </p:nvSpPr>
        <p:spPr>
          <a:xfrm>
            <a:off x="768217" y="2269156"/>
            <a:ext cx="3246120" cy="3092450"/>
          </a:xfrm>
          <a:prstGeom prst="rect">
            <a:avLst/>
          </a:prstGeom>
          <a:ln w="9525">
            <a:solidFill>
              <a:srgbClr val="000000"/>
            </a:solidFill>
          </a:ln>
        </p:spPr>
        <p:txBody>
          <a:bodyPr vert="horz" wrap="square" lIns="0" tIns="70485" rIns="0" bIns="0" rtlCol="0">
            <a:spAutoFit/>
          </a:bodyPr>
          <a:lstStyle/>
          <a:p>
            <a:pPr marL="91440" algn="just" rtl="0">
              <a:spcBef>
                <a:spcPts val="555"/>
              </a:spcBef>
            </a:pPr>
            <a:r>
              <a:rPr sz="1400" i="1" kern="1200" dirty="0">
                <a:solidFill>
                  <a:prstClr val="black"/>
                </a:solidFill>
                <a:latin typeface="Consolas"/>
                <a:cs typeface="Consolas"/>
              </a:rPr>
              <a:t>expression </a:t>
            </a:r>
            <a:r>
              <a:rPr sz="1400" kern="1200" dirty="0">
                <a:solidFill>
                  <a:prstClr val="black"/>
                </a:solidFill>
                <a:latin typeface="Wingdings"/>
                <a:cs typeface="Wingdings"/>
              </a:rPr>
              <a:t></a:t>
            </a:r>
            <a:r>
              <a:rPr sz="1400" kern="1200" spc="80" dirty="0">
                <a:solidFill>
                  <a:prstClr val="black"/>
                </a:solidFill>
                <a:latin typeface="Times New Roman"/>
                <a:cs typeface="Times New Roman"/>
              </a:rPr>
              <a:t> </a:t>
            </a:r>
            <a:r>
              <a:rPr sz="1400" i="1" kern="1200" dirty="0">
                <a:solidFill>
                  <a:prstClr val="black"/>
                </a:solidFill>
                <a:latin typeface="Consolas"/>
                <a:cs typeface="Consolas"/>
              </a:rPr>
              <a:t>expression</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spc="5" dirty="0">
                <a:solidFill>
                  <a:prstClr val="black"/>
                </a:solidFill>
                <a:latin typeface="Consolas"/>
                <a:cs typeface="Consolas"/>
              </a:rPr>
              <a:t>term</a:t>
            </a:r>
            <a:endParaRPr sz="1400" kern="1200">
              <a:solidFill>
                <a:prstClr val="black"/>
              </a:solidFill>
              <a:latin typeface="Consolas"/>
              <a:cs typeface="Consolas"/>
            </a:endParaRPr>
          </a:p>
          <a:p>
            <a:pPr marL="91440" marR="117475" algn="just" rtl="0">
              <a:lnSpc>
                <a:spcPct val="165700"/>
              </a:lnSpc>
              <a:spcBef>
                <a:spcPts val="25"/>
              </a:spcBef>
            </a:pPr>
            <a:r>
              <a:rPr sz="1400" i="1" kern="1200" dirty="0">
                <a:solidFill>
                  <a:prstClr val="black"/>
                </a:solidFill>
                <a:latin typeface="Consolas"/>
                <a:cs typeface="Consolas"/>
              </a:rPr>
              <a:t>expression </a:t>
            </a:r>
            <a:r>
              <a:rPr sz="1400" kern="1200" dirty="0">
                <a:solidFill>
                  <a:prstClr val="black"/>
                </a:solidFill>
                <a:latin typeface="Wingdings"/>
                <a:cs typeface="Wingdings"/>
              </a:rPr>
              <a:t></a:t>
            </a:r>
            <a:r>
              <a:rPr sz="1400" kern="1200" spc="5" dirty="0">
                <a:solidFill>
                  <a:prstClr val="black"/>
                </a:solidFill>
                <a:latin typeface="Times New Roman"/>
                <a:cs typeface="Times New Roman"/>
              </a:rPr>
              <a:t> </a:t>
            </a:r>
            <a:r>
              <a:rPr sz="1400" i="1" kern="1200" dirty="0">
                <a:solidFill>
                  <a:prstClr val="black"/>
                </a:solidFill>
                <a:latin typeface="Consolas"/>
                <a:cs typeface="Consolas"/>
              </a:rPr>
              <a:t>expression </a:t>
            </a:r>
            <a:r>
              <a:rPr sz="1400" kern="1200" dirty="0">
                <a:solidFill>
                  <a:prstClr val="black"/>
                </a:solidFill>
                <a:latin typeface="Consolas"/>
                <a:cs typeface="Consolas"/>
              </a:rPr>
              <a:t>– </a:t>
            </a:r>
            <a:r>
              <a:rPr sz="1400" i="1" kern="1200" spc="5" dirty="0">
                <a:solidFill>
                  <a:prstClr val="black"/>
                </a:solidFill>
                <a:latin typeface="Consolas"/>
                <a:cs typeface="Consolas"/>
              </a:rPr>
              <a:t>term </a:t>
            </a:r>
            <a:r>
              <a:rPr sz="1400" i="1" kern="1200" spc="-755" dirty="0">
                <a:solidFill>
                  <a:prstClr val="black"/>
                </a:solidFill>
                <a:latin typeface="Consolas"/>
                <a:cs typeface="Consolas"/>
              </a:rPr>
              <a:t> </a:t>
            </a:r>
            <a:r>
              <a:rPr sz="1400" i="1" kern="1200" dirty="0">
                <a:solidFill>
                  <a:prstClr val="black"/>
                </a:solidFill>
                <a:latin typeface="Consolas"/>
                <a:cs typeface="Consolas"/>
              </a:rPr>
              <a:t>expression </a:t>
            </a:r>
            <a:r>
              <a:rPr sz="1400" kern="1200" dirty="0">
                <a:solidFill>
                  <a:prstClr val="black"/>
                </a:solidFill>
                <a:latin typeface="Wingdings"/>
                <a:cs typeface="Wingdings"/>
              </a:rPr>
              <a:t></a:t>
            </a:r>
            <a:r>
              <a:rPr sz="1400" kern="1200" spc="75" dirty="0">
                <a:solidFill>
                  <a:prstClr val="black"/>
                </a:solidFill>
                <a:latin typeface="Times New Roman"/>
                <a:cs typeface="Times New Roman"/>
              </a:rPr>
              <a:t> </a:t>
            </a:r>
            <a:r>
              <a:rPr sz="1400" i="1" kern="1200" spc="5" dirty="0">
                <a:solidFill>
                  <a:prstClr val="black"/>
                </a:solidFill>
                <a:latin typeface="Consolas"/>
                <a:cs typeface="Consolas"/>
              </a:rPr>
              <a:t>term</a:t>
            </a:r>
            <a:endParaRPr sz="1400" kern="1200">
              <a:solidFill>
                <a:prstClr val="black"/>
              </a:solidFill>
              <a:latin typeface="Consolas"/>
              <a:cs typeface="Consolas"/>
            </a:endParaRPr>
          </a:p>
          <a:p>
            <a:pPr marL="91440" marR="1101725" algn="just" rtl="0">
              <a:lnSpc>
                <a:spcPct val="166400"/>
              </a:lnSpc>
              <a:spcBef>
                <a:spcPts val="10"/>
              </a:spcBef>
            </a:pPr>
            <a:r>
              <a:rPr sz="1400" i="1" kern="1200" dirty="0">
                <a:solidFill>
                  <a:prstClr val="black"/>
                </a:solidFill>
                <a:latin typeface="Consolas"/>
                <a:cs typeface="Consolas"/>
              </a:rPr>
              <a:t>term </a:t>
            </a:r>
            <a:r>
              <a:rPr sz="1400" kern="1200" dirty="0">
                <a:solidFill>
                  <a:prstClr val="black"/>
                </a:solidFill>
                <a:latin typeface="Wingdings"/>
                <a:cs typeface="Wingdings"/>
              </a:rPr>
              <a:t></a:t>
            </a:r>
            <a:r>
              <a:rPr sz="1400" kern="1200" spc="5" dirty="0">
                <a:solidFill>
                  <a:prstClr val="black"/>
                </a:solidFill>
                <a:latin typeface="Times New Roman"/>
                <a:cs typeface="Times New Roman"/>
              </a:rPr>
              <a:t> </a:t>
            </a:r>
            <a:r>
              <a:rPr sz="1400" i="1" kern="1200" dirty="0">
                <a:solidFill>
                  <a:prstClr val="black"/>
                </a:solidFill>
                <a:latin typeface="Consolas"/>
                <a:cs typeface="Consolas"/>
              </a:rPr>
              <a:t>term </a:t>
            </a:r>
            <a:r>
              <a:rPr sz="1400" kern="1200" dirty="0">
                <a:solidFill>
                  <a:prstClr val="black"/>
                </a:solidFill>
                <a:latin typeface="Consolas"/>
                <a:cs typeface="Consolas"/>
              </a:rPr>
              <a:t>* </a:t>
            </a:r>
            <a:r>
              <a:rPr sz="1400" i="1" kern="1200" spc="5" dirty="0">
                <a:solidFill>
                  <a:prstClr val="black"/>
                </a:solidFill>
                <a:latin typeface="Consolas"/>
                <a:cs typeface="Consolas"/>
              </a:rPr>
              <a:t>factor </a:t>
            </a:r>
            <a:r>
              <a:rPr sz="1400" i="1" kern="1200" spc="-755" dirty="0">
                <a:solidFill>
                  <a:prstClr val="black"/>
                </a:solidFill>
                <a:latin typeface="Consolas"/>
                <a:cs typeface="Consolas"/>
              </a:rPr>
              <a:t> </a:t>
            </a:r>
            <a:r>
              <a:rPr sz="1400" i="1" kern="1200" dirty="0">
                <a:solidFill>
                  <a:prstClr val="black"/>
                </a:solidFill>
                <a:latin typeface="Consolas"/>
                <a:cs typeface="Consolas"/>
              </a:rPr>
              <a:t>term </a:t>
            </a:r>
            <a:r>
              <a:rPr sz="1400" kern="1200" dirty="0">
                <a:solidFill>
                  <a:prstClr val="black"/>
                </a:solidFill>
                <a:latin typeface="Wingdings"/>
                <a:cs typeface="Wingdings"/>
              </a:rPr>
              <a:t></a:t>
            </a:r>
            <a:r>
              <a:rPr sz="1400" kern="1200" spc="5" dirty="0">
                <a:solidFill>
                  <a:prstClr val="black"/>
                </a:solidFill>
                <a:latin typeface="Times New Roman"/>
                <a:cs typeface="Times New Roman"/>
              </a:rPr>
              <a:t> </a:t>
            </a:r>
            <a:r>
              <a:rPr sz="1400" i="1" kern="1200" dirty="0">
                <a:solidFill>
                  <a:prstClr val="black"/>
                </a:solidFill>
                <a:latin typeface="Consolas"/>
                <a:cs typeface="Consolas"/>
              </a:rPr>
              <a:t>term </a:t>
            </a:r>
            <a:r>
              <a:rPr sz="1400" kern="1200" dirty="0">
                <a:solidFill>
                  <a:prstClr val="black"/>
                </a:solidFill>
                <a:latin typeface="Consolas"/>
                <a:cs typeface="Consolas"/>
              </a:rPr>
              <a:t>/ </a:t>
            </a:r>
            <a:r>
              <a:rPr sz="1400" i="1" kern="1200" spc="5" dirty="0">
                <a:solidFill>
                  <a:prstClr val="black"/>
                </a:solidFill>
                <a:latin typeface="Consolas"/>
                <a:cs typeface="Consolas"/>
              </a:rPr>
              <a:t>factor </a:t>
            </a:r>
            <a:r>
              <a:rPr sz="1400" i="1" kern="1200" spc="-755" dirty="0">
                <a:solidFill>
                  <a:prstClr val="black"/>
                </a:solidFill>
                <a:latin typeface="Consolas"/>
                <a:cs typeface="Consolas"/>
              </a:rPr>
              <a:t> </a:t>
            </a:r>
            <a:r>
              <a:rPr sz="1400" i="1" kern="1200" dirty="0">
                <a:solidFill>
                  <a:prstClr val="black"/>
                </a:solidFill>
                <a:latin typeface="Consolas"/>
                <a:cs typeface="Consolas"/>
              </a:rPr>
              <a:t>term</a:t>
            </a:r>
            <a:r>
              <a:rPr sz="1400" i="1" kern="1200" spc="-5" dirty="0">
                <a:solidFill>
                  <a:prstClr val="black"/>
                </a:solidFill>
                <a:latin typeface="Consolas"/>
                <a:cs typeface="Consolas"/>
              </a:rPr>
              <a:t> </a:t>
            </a:r>
            <a:r>
              <a:rPr sz="1400" kern="1200" dirty="0">
                <a:solidFill>
                  <a:prstClr val="black"/>
                </a:solidFill>
                <a:latin typeface="Wingdings"/>
                <a:cs typeface="Wingdings"/>
              </a:rPr>
              <a:t></a:t>
            </a:r>
            <a:r>
              <a:rPr sz="1400" kern="1200" spc="70" dirty="0">
                <a:solidFill>
                  <a:prstClr val="black"/>
                </a:solidFill>
                <a:latin typeface="Times New Roman"/>
                <a:cs typeface="Times New Roman"/>
              </a:rPr>
              <a:t> </a:t>
            </a:r>
            <a:r>
              <a:rPr sz="1400" i="1" kern="1200" spc="5" dirty="0">
                <a:solidFill>
                  <a:prstClr val="black"/>
                </a:solidFill>
                <a:latin typeface="Consolas"/>
                <a:cs typeface="Consolas"/>
              </a:rPr>
              <a:t>factor</a:t>
            </a:r>
            <a:endParaRPr sz="1400" kern="1200">
              <a:solidFill>
                <a:prstClr val="black"/>
              </a:solidFill>
              <a:latin typeface="Consolas"/>
              <a:cs typeface="Consolas"/>
            </a:endParaRPr>
          </a:p>
          <a:p>
            <a:pPr marL="91440" algn="just" rtl="0">
              <a:spcBef>
                <a:spcPts val="1035"/>
              </a:spcBef>
            </a:pPr>
            <a:r>
              <a:rPr sz="1400" i="1" kern="1200" dirty="0">
                <a:solidFill>
                  <a:prstClr val="black"/>
                </a:solidFill>
                <a:latin typeface="Consolas"/>
                <a:cs typeface="Consolas"/>
              </a:rPr>
              <a:t>factor</a:t>
            </a:r>
            <a:r>
              <a:rPr sz="1400" i="1" kern="1200" spc="-5" dirty="0">
                <a:solidFill>
                  <a:prstClr val="black"/>
                </a:solidFill>
                <a:latin typeface="Consolas"/>
                <a:cs typeface="Consolas"/>
              </a:rPr>
              <a:t> </a:t>
            </a:r>
            <a:r>
              <a:rPr sz="1400" kern="1200" dirty="0">
                <a:solidFill>
                  <a:prstClr val="black"/>
                </a:solidFill>
                <a:latin typeface="Wingdings"/>
                <a:cs typeface="Wingdings"/>
              </a:rPr>
              <a:t></a:t>
            </a:r>
            <a:r>
              <a:rPr sz="1400" kern="1200" spc="70" dirty="0">
                <a:solidFill>
                  <a:prstClr val="black"/>
                </a:solidFill>
                <a:latin typeface="Times New Roman"/>
                <a:cs typeface="Times New Roman"/>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expression </a:t>
            </a:r>
            <a:r>
              <a:rPr sz="1400" kern="1200" dirty="0">
                <a:solidFill>
                  <a:prstClr val="black"/>
                </a:solidFill>
                <a:latin typeface="Consolas"/>
                <a:cs typeface="Consolas"/>
              </a:rPr>
              <a:t>)</a:t>
            </a:r>
            <a:endParaRPr sz="1400" kern="1200">
              <a:solidFill>
                <a:prstClr val="black"/>
              </a:solidFill>
              <a:latin typeface="Consolas"/>
              <a:cs typeface="Consolas"/>
            </a:endParaRPr>
          </a:p>
          <a:p>
            <a:pPr marL="91440" algn="just" rtl="0">
              <a:spcBef>
                <a:spcPts val="1125"/>
              </a:spcBef>
            </a:pPr>
            <a:r>
              <a:rPr sz="1400" i="1" kern="1200" dirty="0">
                <a:solidFill>
                  <a:prstClr val="black"/>
                </a:solidFill>
                <a:latin typeface="Consolas"/>
                <a:cs typeface="Consolas"/>
              </a:rPr>
              <a:t>factor</a:t>
            </a:r>
            <a:r>
              <a:rPr sz="1400" i="1" kern="1200" spc="-25" dirty="0">
                <a:solidFill>
                  <a:prstClr val="black"/>
                </a:solidFill>
                <a:latin typeface="Consolas"/>
                <a:cs typeface="Consolas"/>
              </a:rPr>
              <a:t> </a:t>
            </a:r>
            <a:r>
              <a:rPr sz="1400" kern="1200" dirty="0">
                <a:solidFill>
                  <a:prstClr val="black"/>
                </a:solidFill>
                <a:latin typeface="Wingdings"/>
                <a:cs typeface="Wingdings"/>
              </a:rPr>
              <a:t></a:t>
            </a:r>
            <a:r>
              <a:rPr sz="1400" kern="1200" spc="50" dirty="0">
                <a:solidFill>
                  <a:prstClr val="black"/>
                </a:solidFill>
                <a:latin typeface="Times New Roman"/>
                <a:cs typeface="Times New Roman"/>
              </a:rPr>
              <a:t> </a:t>
            </a:r>
            <a:r>
              <a:rPr sz="1400" b="1" kern="1200" spc="5" dirty="0">
                <a:solidFill>
                  <a:prstClr val="black"/>
                </a:solidFill>
                <a:latin typeface="Consolas"/>
                <a:cs typeface="Consolas"/>
              </a:rPr>
              <a:t>id</a:t>
            </a:r>
            <a:endParaRPr sz="1400" kern="1200">
              <a:solidFill>
                <a:prstClr val="black"/>
              </a:solidFill>
              <a:latin typeface="Consolas"/>
              <a:cs typeface="Consolas"/>
            </a:endParaRPr>
          </a:p>
        </p:txBody>
      </p:sp>
      <p:sp>
        <p:nvSpPr>
          <p:cNvPr id="12" name="object 4">
            <a:extLst>
              <a:ext uri="{FF2B5EF4-FFF2-40B4-BE49-F238E27FC236}">
                <a16:creationId xmlns:a16="http://schemas.microsoft.com/office/drawing/2014/main" id="{36DAF64A-8BB8-9109-CB71-448E30DD495E}"/>
              </a:ext>
            </a:extLst>
          </p:cNvPr>
          <p:cNvSpPr txBox="1"/>
          <p:nvPr/>
        </p:nvSpPr>
        <p:spPr>
          <a:xfrm>
            <a:off x="5497427" y="2269156"/>
            <a:ext cx="2549525" cy="1073785"/>
          </a:xfrm>
          <a:prstGeom prst="rect">
            <a:avLst/>
          </a:prstGeom>
          <a:ln w="9525">
            <a:solidFill>
              <a:srgbClr val="000000"/>
            </a:solidFill>
          </a:ln>
        </p:spPr>
        <p:txBody>
          <a:bodyPr vert="horz" wrap="square" lIns="0" tIns="58419" rIns="0" bIns="0" rtlCol="0">
            <a:spAutoFit/>
          </a:bodyPr>
          <a:lstStyle/>
          <a:p>
            <a:pPr marL="91440" rtl="0">
              <a:spcBef>
                <a:spcPts val="459"/>
              </a:spcBef>
            </a:pPr>
            <a:r>
              <a:rPr sz="1400" i="1" kern="1200" dirty="0">
                <a:solidFill>
                  <a:prstClr val="black"/>
                </a:solidFill>
                <a:latin typeface="Consolas"/>
                <a:cs typeface="Consolas"/>
              </a:rPr>
              <a:t>E </a:t>
            </a:r>
            <a:r>
              <a:rPr sz="1400" kern="1200" dirty="0">
                <a:solidFill>
                  <a:prstClr val="black"/>
                </a:solidFill>
                <a:latin typeface="Wingdings"/>
                <a:cs typeface="Wingdings"/>
              </a:rPr>
              <a:t></a:t>
            </a:r>
            <a:r>
              <a:rPr sz="1400" kern="1200" spc="70" dirty="0">
                <a:solidFill>
                  <a:prstClr val="black"/>
                </a:solidFill>
                <a:latin typeface="Times New Roman"/>
                <a:cs typeface="Times New Roman"/>
              </a:rPr>
              <a:t> </a:t>
            </a:r>
            <a:r>
              <a:rPr sz="1400" i="1" kern="1200" dirty="0">
                <a:solidFill>
                  <a:prstClr val="black"/>
                </a:solidFill>
                <a:latin typeface="Consolas"/>
                <a:cs typeface="Consolas"/>
              </a:rPr>
              <a:t>E </a:t>
            </a:r>
            <a:r>
              <a:rPr sz="1400" kern="1200" dirty="0">
                <a:solidFill>
                  <a:prstClr val="black"/>
                </a:solidFill>
                <a:latin typeface="Consolas"/>
                <a:cs typeface="Consolas"/>
              </a:rPr>
              <a:t>+ </a:t>
            </a:r>
            <a:r>
              <a:rPr sz="1400" i="1" kern="1200" dirty="0">
                <a:solidFill>
                  <a:prstClr val="black"/>
                </a:solidFill>
                <a:latin typeface="Consolas"/>
                <a:cs typeface="Consolas"/>
              </a:rPr>
              <a:t>T </a:t>
            </a:r>
            <a:r>
              <a:rPr sz="1400" kern="1200" dirty="0">
                <a:solidFill>
                  <a:srgbClr val="FF0000"/>
                </a:solidFill>
                <a:latin typeface="Consolas"/>
                <a:cs typeface="Consolas"/>
              </a:rPr>
              <a:t>| </a:t>
            </a:r>
            <a:r>
              <a:rPr sz="1400" i="1" kern="1200" dirty="0">
                <a:solidFill>
                  <a:prstClr val="black"/>
                </a:solidFill>
                <a:latin typeface="Consolas"/>
                <a:cs typeface="Consolas"/>
              </a:rPr>
              <a:t>E </a:t>
            </a:r>
            <a:r>
              <a:rPr sz="1400" kern="1200" dirty="0">
                <a:solidFill>
                  <a:prstClr val="black"/>
                </a:solidFill>
                <a:latin typeface="Consolas"/>
                <a:cs typeface="Consolas"/>
              </a:rPr>
              <a:t>– </a:t>
            </a:r>
            <a:r>
              <a:rPr sz="1400" i="1" kern="1200" dirty="0">
                <a:solidFill>
                  <a:prstClr val="black"/>
                </a:solidFill>
                <a:latin typeface="Consolas"/>
                <a:cs typeface="Consolas"/>
              </a:rPr>
              <a:t>T </a:t>
            </a:r>
            <a:r>
              <a:rPr sz="1400" kern="1200" dirty="0">
                <a:solidFill>
                  <a:srgbClr val="FF0000"/>
                </a:solidFill>
                <a:latin typeface="Consolas"/>
                <a:cs typeface="Consolas"/>
              </a:rPr>
              <a:t>|</a:t>
            </a:r>
            <a:r>
              <a:rPr sz="1400" kern="1200" spc="5" dirty="0">
                <a:solidFill>
                  <a:srgbClr val="FF0000"/>
                </a:solidFill>
                <a:latin typeface="Consolas"/>
                <a:cs typeface="Consolas"/>
              </a:rPr>
              <a:t> </a:t>
            </a:r>
            <a:r>
              <a:rPr sz="1400" i="1" kern="1200" dirty="0">
                <a:solidFill>
                  <a:prstClr val="black"/>
                </a:solidFill>
                <a:latin typeface="Consolas"/>
                <a:cs typeface="Consolas"/>
              </a:rPr>
              <a:t>T</a:t>
            </a:r>
            <a:endParaRPr sz="1400" kern="1200">
              <a:solidFill>
                <a:prstClr val="black"/>
              </a:solidFill>
              <a:latin typeface="Consolas"/>
              <a:cs typeface="Consolas"/>
            </a:endParaRPr>
          </a:p>
          <a:p>
            <a:pPr marL="91440" marR="307340" rtl="0">
              <a:lnSpc>
                <a:spcPts val="2620"/>
              </a:lnSpc>
              <a:spcBef>
                <a:spcPts val="215"/>
              </a:spcBef>
            </a:pPr>
            <a:r>
              <a:rPr sz="1400" i="1" kern="1200" dirty="0">
                <a:solidFill>
                  <a:prstClr val="black"/>
                </a:solidFill>
                <a:latin typeface="Consolas"/>
                <a:cs typeface="Consolas"/>
              </a:rPr>
              <a:t>T </a:t>
            </a:r>
            <a:r>
              <a:rPr sz="1400" kern="1200" dirty="0">
                <a:solidFill>
                  <a:prstClr val="black"/>
                </a:solidFill>
                <a:latin typeface="Wingdings"/>
                <a:cs typeface="Wingdings"/>
              </a:rPr>
              <a:t></a:t>
            </a:r>
            <a:r>
              <a:rPr sz="1400" kern="1200" spc="70" dirty="0">
                <a:solidFill>
                  <a:prstClr val="black"/>
                </a:solidFill>
                <a:latin typeface="Times New Roman"/>
                <a:cs typeface="Times New Roman"/>
              </a:rPr>
              <a:t> </a:t>
            </a:r>
            <a:r>
              <a:rPr sz="1400" i="1" kern="1200" dirty="0">
                <a:solidFill>
                  <a:prstClr val="black"/>
                </a:solidFill>
                <a:latin typeface="Consolas"/>
                <a:cs typeface="Consolas"/>
              </a:rPr>
              <a:t>T </a:t>
            </a:r>
            <a:r>
              <a:rPr sz="1400" kern="1200" dirty="0">
                <a:solidFill>
                  <a:prstClr val="black"/>
                </a:solidFill>
                <a:latin typeface="Consolas"/>
                <a:cs typeface="Consolas"/>
              </a:rPr>
              <a:t>* </a:t>
            </a:r>
            <a:r>
              <a:rPr sz="1400" i="1" kern="1200" dirty="0">
                <a:solidFill>
                  <a:prstClr val="black"/>
                </a:solidFill>
                <a:latin typeface="Consolas"/>
                <a:cs typeface="Consolas"/>
              </a:rPr>
              <a:t>F </a:t>
            </a:r>
            <a:r>
              <a:rPr sz="1400" kern="1200" dirty="0">
                <a:solidFill>
                  <a:srgbClr val="FF0000"/>
                </a:solidFill>
                <a:latin typeface="Consolas"/>
                <a:cs typeface="Consolas"/>
              </a:rPr>
              <a:t>| </a:t>
            </a:r>
            <a:r>
              <a:rPr sz="1400" i="1" kern="1200" dirty="0">
                <a:solidFill>
                  <a:prstClr val="black"/>
                </a:solidFill>
                <a:latin typeface="Consolas"/>
                <a:cs typeface="Consolas"/>
              </a:rPr>
              <a:t>T </a:t>
            </a:r>
            <a:r>
              <a:rPr sz="1400" kern="1200" dirty="0">
                <a:solidFill>
                  <a:prstClr val="black"/>
                </a:solidFill>
                <a:latin typeface="Consolas"/>
                <a:cs typeface="Consolas"/>
              </a:rPr>
              <a:t>/ </a:t>
            </a:r>
            <a:r>
              <a:rPr sz="1400" i="1" kern="1200" dirty="0">
                <a:solidFill>
                  <a:prstClr val="black"/>
                </a:solidFill>
                <a:latin typeface="Consolas"/>
                <a:cs typeface="Consolas"/>
              </a:rPr>
              <a:t>F </a:t>
            </a:r>
            <a:r>
              <a:rPr sz="1400" kern="1200" dirty="0">
                <a:solidFill>
                  <a:srgbClr val="FF0000"/>
                </a:solidFill>
                <a:latin typeface="Consolas"/>
                <a:cs typeface="Consolas"/>
              </a:rPr>
              <a:t>| </a:t>
            </a:r>
            <a:r>
              <a:rPr sz="1400" i="1" kern="1200" dirty="0">
                <a:solidFill>
                  <a:prstClr val="black"/>
                </a:solidFill>
                <a:latin typeface="Consolas"/>
                <a:cs typeface="Consolas"/>
              </a:rPr>
              <a:t>F </a:t>
            </a:r>
            <a:r>
              <a:rPr sz="1400" i="1" kern="1200" spc="-755" dirty="0">
                <a:solidFill>
                  <a:prstClr val="black"/>
                </a:solidFill>
                <a:latin typeface="Consolas"/>
                <a:cs typeface="Consolas"/>
              </a:rPr>
              <a:t> </a:t>
            </a:r>
            <a:r>
              <a:rPr sz="1400" i="1" kern="1200" dirty="0">
                <a:solidFill>
                  <a:prstClr val="black"/>
                </a:solidFill>
                <a:latin typeface="Consolas"/>
                <a:cs typeface="Consolas"/>
              </a:rPr>
              <a:t>F </a:t>
            </a:r>
            <a:r>
              <a:rPr sz="1400" kern="1200" dirty="0">
                <a:solidFill>
                  <a:prstClr val="black"/>
                </a:solidFill>
                <a:latin typeface="Wingdings"/>
                <a:cs typeface="Wingdings"/>
              </a:rPr>
              <a:t></a:t>
            </a:r>
            <a:r>
              <a:rPr sz="1400" kern="1200" spc="70" dirty="0">
                <a:solidFill>
                  <a:prstClr val="black"/>
                </a:solidFill>
                <a:latin typeface="Times New Roman"/>
                <a:cs typeface="Times New Roman"/>
              </a:rPr>
              <a:t> </a:t>
            </a:r>
            <a:r>
              <a:rPr sz="1400" kern="1200"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 </a:t>
            </a:r>
            <a:r>
              <a:rPr sz="1400" kern="1200" dirty="0">
                <a:solidFill>
                  <a:srgbClr val="FF0000"/>
                </a:solidFill>
                <a:latin typeface="Consolas"/>
                <a:cs typeface="Consolas"/>
              </a:rPr>
              <a:t>|</a:t>
            </a:r>
            <a:r>
              <a:rPr sz="1400" kern="1200" spc="5" dirty="0">
                <a:solidFill>
                  <a:srgbClr val="FF0000"/>
                </a:solidFill>
                <a:latin typeface="Consolas"/>
                <a:cs typeface="Consolas"/>
              </a:rPr>
              <a:t> </a:t>
            </a:r>
            <a:r>
              <a:rPr sz="1400" b="1" kern="1200" spc="5" dirty="0">
                <a:solidFill>
                  <a:prstClr val="black"/>
                </a:solidFill>
                <a:latin typeface="Consolas"/>
                <a:cs typeface="Consolas"/>
              </a:rPr>
              <a:t>id</a:t>
            </a:r>
            <a:endParaRPr sz="1400" kern="1200">
              <a:solidFill>
                <a:prstClr val="black"/>
              </a:solidFill>
              <a:latin typeface="Consolas"/>
              <a:cs typeface="Consolas"/>
            </a:endParaRPr>
          </a:p>
        </p:txBody>
      </p:sp>
      <p:sp>
        <p:nvSpPr>
          <p:cNvPr id="13" name="object 5">
            <a:extLst>
              <a:ext uri="{FF2B5EF4-FFF2-40B4-BE49-F238E27FC236}">
                <a16:creationId xmlns:a16="http://schemas.microsoft.com/office/drawing/2014/main" id="{32E15631-B2AB-F99D-21C2-EF17C41B0C5E}"/>
              </a:ext>
            </a:extLst>
          </p:cNvPr>
          <p:cNvSpPr/>
          <p:nvPr/>
        </p:nvSpPr>
        <p:spPr>
          <a:xfrm>
            <a:off x="4252660" y="2672232"/>
            <a:ext cx="1005840" cy="267335"/>
          </a:xfrm>
          <a:custGeom>
            <a:avLst/>
            <a:gdLst/>
            <a:ahLst/>
            <a:cxnLst/>
            <a:rect l="l" t="t" r="r" b="b"/>
            <a:pathLst>
              <a:path w="1005839" h="267335">
                <a:moveTo>
                  <a:pt x="0" y="66775"/>
                </a:moveTo>
                <a:lnTo>
                  <a:pt x="872290" y="66775"/>
                </a:lnTo>
                <a:lnTo>
                  <a:pt x="872290" y="0"/>
                </a:lnTo>
                <a:lnTo>
                  <a:pt x="1005840" y="133551"/>
                </a:lnTo>
                <a:lnTo>
                  <a:pt x="872290" y="267101"/>
                </a:lnTo>
                <a:lnTo>
                  <a:pt x="872290" y="200325"/>
                </a:lnTo>
                <a:lnTo>
                  <a:pt x="0" y="200325"/>
                </a:lnTo>
                <a:lnTo>
                  <a:pt x="0" y="66775"/>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4" name="object 6">
            <a:extLst>
              <a:ext uri="{FF2B5EF4-FFF2-40B4-BE49-F238E27FC236}">
                <a16:creationId xmlns:a16="http://schemas.microsoft.com/office/drawing/2014/main" id="{B119810C-8247-93F9-F2B1-FDA55C4ED10F}"/>
              </a:ext>
            </a:extLst>
          </p:cNvPr>
          <p:cNvSpPr txBox="1"/>
          <p:nvPr/>
        </p:nvSpPr>
        <p:spPr>
          <a:xfrm>
            <a:off x="5056643" y="3803395"/>
            <a:ext cx="3338829" cy="1278255"/>
          </a:xfrm>
          <a:prstGeom prst="rect">
            <a:avLst/>
          </a:prstGeom>
        </p:spPr>
        <p:txBody>
          <a:bodyPr vert="horz" wrap="square" lIns="0" tIns="28575" rIns="0" bIns="0" rtlCol="0">
            <a:spAutoFit/>
          </a:bodyPr>
          <a:lstStyle/>
          <a:p>
            <a:pPr marL="298450" marR="125095" indent="-285750" rtl="0">
              <a:lnSpc>
                <a:spcPts val="2090"/>
              </a:lnSpc>
              <a:spcBef>
                <a:spcPts val="225"/>
              </a:spcBef>
              <a:buClr>
                <a:srgbClr val="000000"/>
              </a:buClr>
              <a:buFont typeface="Arial MT"/>
              <a:buChar char="•"/>
              <a:tabLst>
                <a:tab pos="297815" algn="l"/>
                <a:tab pos="298450" algn="l"/>
              </a:tabLst>
            </a:pPr>
            <a:r>
              <a:rPr kern="1200" dirty="0">
                <a:solidFill>
                  <a:srgbClr val="FF0000"/>
                </a:solidFill>
                <a:latin typeface="Consolas"/>
                <a:cs typeface="Consolas"/>
              </a:rPr>
              <a:t>|</a:t>
            </a:r>
            <a:r>
              <a:rPr kern="1200" spc="-545" dirty="0">
                <a:solidFill>
                  <a:srgbClr val="FF0000"/>
                </a:solidFill>
                <a:latin typeface="Consolas"/>
                <a:cs typeface="Consolas"/>
              </a:rPr>
              <a:t> </a:t>
            </a:r>
            <a:r>
              <a:rPr kern="1200" dirty="0">
                <a:solidFill>
                  <a:prstClr val="black"/>
                </a:solidFill>
                <a:latin typeface="Palatino Linotype"/>
                <a:cs typeface="Palatino Linotype"/>
              </a:rPr>
              <a:t>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a:t>
            </a:r>
            <a:r>
              <a:rPr kern="1200" spc="-5" dirty="0">
                <a:solidFill>
                  <a:srgbClr val="FF0000"/>
                </a:solidFill>
                <a:latin typeface="Palatino Linotype"/>
                <a:cs typeface="Palatino Linotype"/>
              </a:rPr>
              <a:t>m</a:t>
            </a:r>
            <a:r>
              <a:rPr kern="1200" dirty="0">
                <a:solidFill>
                  <a:srgbClr val="FF0000"/>
                </a:solidFill>
                <a:latin typeface="Palatino Linotype"/>
                <a:cs typeface="Palatino Linotype"/>
              </a:rPr>
              <a:t>eta </a:t>
            </a:r>
            <a:r>
              <a:rPr kern="1200" spc="-5" dirty="0">
                <a:solidFill>
                  <a:srgbClr val="FF0000"/>
                </a:solidFill>
                <a:latin typeface="Palatino Linotype"/>
                <a:cs typeface="Palatino Linotype"/>
              </a:rPr>
              <a:t>sym</a:t>
            </a:r>
            <a:r>
              <a:rPr kern="1200" dirty="0">
                <a:solidFill>
                  <a:srgbClr val="FF0000"/>
                </a:solidFill>
                <a:latin typeface="Palatino Linotype"/>
                <a:cs typeface="Palatino Linotype"/>
              </a:rPr>
              <a:t>bol </a:t>
            </a:r>
            <a:r>
              <a:rPr kern="1200" dirty="0">
                <a:solidFill>
                  <a:prstClr val="black"/>
                </a:solidFill>
                <a:latin typeface="Palatino Linotype"/>
                <a:cs typeface="Palatino Linotype"/>
              </a:rPr>
              <a:t>to </a:t>
            </a:r>
            <a:r>
              <a:rPr kern="1200" spc="-5" dirty="0">
                <a:solidFill>
                  <a:prstClr val="black"/>
                </a:solidFill>
                <a:latin typeface="Palatino Linotype"/>
                <a:cs typeface="Palatino Linotype"/>
              </a:rPr>
              <a:t>s</a:t>
            </a:r>
            <a:r>
              <a:rPr kern="1200" spc="5" dirty="0">
                <a:solidFill>
                  <a:prstClr val="black"/>
                </a:solidFill>
                <a:latin typeface="Palatino Linotype"/>
                <a:cs typeface="Palatino Linotype"/>
              </a:rPr>
              <a:t>p</a:t>
            </a:r>
            <a:r>
              <a:rPr kern="1200" dirty="0">
                <a:solidFill>
                  <a:prstClr val="black"/>
                </a:solidFill>
                <a:latin typeface="Palatino Linotype"/>
                <a:cs typeface="Palatino Linotype"/>
              </a:rPr>
              <a:t>ecify  </a:t>
            </a:r>
            <a:r>
              <a:rPr kern="1200" spc="-5" dirty="0">
                <a:solidFill>
                  <a:prstClr val="black"/>
                </a:solidFill>
                <a:latin typeface="Palatino Linotype"/>
                <a:cs typeface="Palatino Linotype"/>
              </a:rPr>
              <a:t>alternatives</a:t>
            </a:r>
            <a:endParaRPr kern="1200" dirty="0">
              <a:solidFill>
                <a:prstClr val="black"/>
              </a:solidFill>
              <a:latin typeface="Palatino Linotype"/>
              <a:cs typeface="Palatino Linotype"/>
            </a:endParaRPr>
          </a:p>
          <a:p>
            <a:pPr marL="298450" marR="5080" indent="-285750" rtl="0">
              <a:lnSpc>
                <a:spcPct val="102200"/>
              </a:lnSpc>
              <a:spcBef>
                <a:spcPts val="1140"/>
              </a:spcBef>
              <a:buClr>
                <a:srgbClr val="000000"/>
              </a:buClr>
              <a:buFont typeface="Arial MT"/>
              <a:buChar char="•"/>
              <a:tabLst>
                <a:tab pos="297815" algn="l"/>
                <a:tab pos="298450" algn="l"/>
              </a:tabLst>
            </a:pPr>
            <a:r>
              <a:rPr kern="1200" dirty="0">
                <a:solidFill>
                  <a:srgbClr val="FF0000"/>
                </a:solidFill>
                <a:latin typeface="Consolas"/>
                <a:cs typeface="Consolas"/>
              </a:rPr>
              <a:t>(</a:t>
            </a:r>
            <a:r>
              <a:rPr kern="1200" spc="-545" dirty="0">
                <a:solidFill>
                  <a:srgbClr val="FF0000"/>
                </a:solidFill>
                <a:latin typeface="Consolas"/>
                <a:cs typeface="Consolas"/>
              </a:rPr>
              <a:t> </a:t>
            </a:r>
            <a:r>
              <a:rPr kern="1200" dirty="0">
                <a:solidFill>
                  <a:prstClr val="black"/>
                </a:solidFill>
                <a:latin typeface="Palatino Linotype"/>
                <a:cs typeface="Palatino Linotype"/>
              </a:rPr>
              <a:t>and </a:t>
            </a:r>
            <a:r>
              <a:rPr kern="1200" dirty="0">
                <a:solidFill>
                  <a:srgbClr val="FF0000"/>
                </a:solidFill>
                <a:latin typeface="Consolas"/>
                <a:cs typeface="Consolas"/>
              </a:rPr>
              <a:t>)</a:t>
            </a:r>
            <a:r>
              <a:rPr kern="1200" spc="-545" dirty="0">
                <a:solidFill>
                  <a:srgbClr val="FF0000"/>
                </a:solidFill>
                <a:latin typeface="Consolas"/>
                <a:cs typeface="Consolas"/>
              </a:rPr>
              <a:t> </a:t>
            </a:r>
            <a:r>
              <a:rPr kern="1200" dirty="0">
                <a:solidFill>
                  <a:prstClr val="black"/>
                </a:solidFill>
                <a:latin typeface="Palatino Linotype"/>
                <a:cs typeface="Palatino Linotype"/>
              </a:rPr>
              <a:t>are not </a:t>
            </a:r>
            <a:r>
              <a:rPr kern="1200" spc="-5" dirty="0">
                <a:solidFill>
                  <a:prstClr val="black"/>
                </a:solidFill>
                <a:latin typeface="Palatino Linotype"/>
                <a:cs typeface="Palatino Linotype"/>
              </a:rPr>
              <a:t>m</a:t>
            </a:r>
            <a:r>
              <a:rPr kern="1200" dirty="0">
                <a:solidFill>
                  <a:prstClr val="black"/>
                </a:solidFill>
                <a:latin typeface="Palatino Linotype"/>
                <a:cs typeface="Palatino Linotype"/>
              </a:rPr>
              <a:t>eta </a:t>
            </a:r>
            <a:r>
              <a:rPr kern="1200" spc="-5" dirty="0">
                <a:solidFill>
                  <a:prstClr val="black"/>
                </a:solidFill>
                <a:latin typeface="Palatino Linotype"/>
                <a:cs typeface="Palatino Linotype"/>
              </a:rPr>
              <a:t>sym</a:t>
            </a:r>
            <a:r>
              <a:rPr kern="1200" dirty="0">
                <a:solidFill>
                  <a:prstClr val="black"/>
                </a:solidFill>
                <a:latin typeface="Palatino Linotype"/>
                <a:cs typeface="Palatino Linotype"/>
              </a:rPr>
              <a:t>bol</a:t>
            </a:r>
            <a:r>
              <a:rPr kern="1200" spc="-5" dirty="0">
                <a:solidFill>
                  <a:prstClr val="black"/>
                </a:solidFill>
                <a:latin typeface="Palatino Linotype"/>
                <a:cs typeface="Palatino Linotype"/>
              </a:rPr>
              <a:t>s</a:t>
            </a:r>
            <a:r>
              <a:rPr kern="1200" dirty="0">
                <a:solidFill>
                  <a:prstClr val="black"/>
                </a:solidFill>
                <a:latin typeface="Palatino Linotype"/>
                <a:cs typeface="Palatino Linotype"/>
              </a:rPr>
              <a:t>,  they</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are</a:t>
            </a:r>
            <a:r>
              <a:rPr kern="1200" spc="-5" dirty="0">
                <a:solidFill>
                  <a:prstClr val="black"/>
                </a:solidFill>
                <a:latin typeface="Palatino Linotype"/>
                <a:cs typeface="Palatino Linotype"/>
              </a:rPr>
              <a:t> terminal symbols</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114707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6">
            <a:extLst>
              <a:ext uri="{FF2B5EF4-FFF2-40B4-BE49-F238E27FC236}">
                <a16:creationId xmlns:a16="http://schemas.microsoft.com/office/drawing/2014/main" id="{01150CEA-72CC-EA64-2CD5-2CFFCD441C00}"/>
              </a:ext>
            </a:extLst>
          </p:cNvPr>
          <p:cNvSpPr txBox="1"/>
          <p:nvPr/>
        </p:nvSpPr>
        <p:spPr>
          <a:xfrm>
            <a:off x="5652120" y="136524"/>
            <a:ext cx="3226435" cy="2564163"/>
          </a:xfrm>
          <a:prstGeom prst="rect">
            <a:avLst/>
          </a:prstGeom>
          <a:ln w="12700">
            <a:solidFill>
              <a:srgbClr val="7F7F7F"/>
            </a:solidFill>
          </a:ln>
        </p:spPr>
        <p:txBody>
          <a:bodyPr vert="horz" wrap="square" lIns="0" tIns="121285" rIns="0" bIns="0" rtlCol="0">
            <a:spAutoFit/>
          </a:bodyPr>
          <a:lstStyle/>
          <a:p>
            <a:pPr marL="449580" indent="-286385">
              <a:lnSpc>
                <a:spcPct val="100000"/>
              </a:lnSpc>
              <a:spcBef>
                <a:spcPts val="955"/>
              </a:spcBef>
              <a:buFont typeface="Arial MT"/>
              <a:buChar char="•"/>
              <a:tabLst>
                <a:tab pos="449580" algn="l"/>
                <a:tab pos="450215" algn="l"/>
              </a:tabLst>
            </a:pPr>
            <a:r>
              <a:rPr sz="1800" spc="-5" dirty="0">
                <a:solidFill>
                  <a:schemeClr val="bg2">
                    <a:lumMod val="50000"/>
                  </a:schemeClr>
                </a:solidFill>
                <a:latin typeface="Palatino Linotype"/>
                <a:cs typeface="Palatino Linotype"/>
              </a:rPr>
              <a:t>Formal</a:t>
            </a:r>
            <a:r>
              <a:rPr sz="1800" spc="-20"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definition</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of</a:t>
            </a:r>
            <a:r>
              <a:rPr sz="1800" spc="-20"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CFG</a:t>
            </a:r>
            <a:endParaRPr sz="1800" dirty="0">
              <a:solidFill>
                <a:schemeClr val="bg2">
                  <a:lumMod val="50000"/>
                </a:schemeClr>
              </a:solidFill>
              <a:latin typeface="Palatino Linotype"/>
              <a:cs typeface="Palatino Linotype"/>
            </a:endParaRPr>
          </a:p>
          <a:p>
            <a:pPr>
              <a:lnSpc>
                <a:spcPct val="100000"/>
              </a:lnSpc>
              <a:spcBef>
                <a:spcPts val="55"/>
              </a:spcBef>
              <a:buChar char="•"/>
            </a:pPr>
            <a:endParaRPr sz="1700" dirty="0">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10" dirty="0">
                <a:latin typeface="Palatino Linotype"/>
                <a:cs typeface="Palatino Linotype"/>
              </a:rPr>
              <a:t>Derivation</a:t>
            </a:r>
            <a:r>
              <a:rPr sz="1800" spc="-15" dirty="0">
                <a:latin typeface="Palatino Linotype"/>
                <a:cs typeface="Palatino Linotype"/>
              </a:rPr>
              <a:t> </a:t>
            </a:r>
            <a:r>
              <a:rPr sz="1800" dirty="0">
                <a:latin typeface="Palatino Linotype"/>
                <a:cs typeface="Palatino Linotype"/>
              </a:rPr>
              <a:t>and</a:t>
            </a:r>
            <a:r>
              <a:rPr sz="1800" spc="-15" dirty="0">
                <a:latin typeface="Palatino Linotype"/>
                <a:cs typeface="Palatino Linotype"/>
              </a:rPr>
              <a:t> </a:t>
            </a:r>
            <a:r>
              <a:rPr sz="1800" dirty="0">
                <a:latin typeface="Palatino Linotype"/>
                <a:cs typeface="Palatino Linotype"/>
              </a:rPr>
              <a:t>parse</a:t>
            </a:r>
            <a:r>
              <a:rPr sz="1800" spc="-15" dirty="0">
                <a:latin typeface="Palatino Linotype"/>
                <a:cs typeface="Palatino Linotype"/>
              </a:rPr>
              <a:t> </a:t>
            </a:r>
            <a:r>
              <a:rPr sz="1800" dirty="0">
                <a:latin typeface="Palatino Linotype"/>
                <a:cs typeface="Palatino Linotype"/>
              </a:rPr>
              <a:t>tree</a:t>
            </a:r>
          </a:p>
          <a:p>
            <a:pPr>
              <a:lnSpc>
                <a:spcPct val="100000"/>
              </a:lnSpc>
              <a:spcBef>
                <a:spcPts val="5"/>
              </a:spcBef>
              <a:buChar char="•"/>
            </a:pPr>
            <a:endParaRPr sz="1650" dirty="0">
              <a:latin typeface="Palatino Linotype"/>
              <a:cs typeface="Palatino Linotype"/>
            </a:endParaRPr>
          </a:p>
          <a:p>
            <a:pPr marL="449580" indent="-286385">
              <a:lnSpc>
                <a:spcPct val="100000"/>
              </a:lnSpc>
              <a:buFont typeface="Arial MT"/>
              <a:buChar char="•"/>
              <a:tabLst>
                <a:tab pos="449580" algn="l"/>
                <a:tab pos="450215" algn="l"/>
              </a:tabLst>
            </a:pPr>
            <a:r>
              <a:rPr sz="1800" spc="-5" dirty="0">
                <a:solidFill>
                  <a:schemeClr val="bg2">
                    <a:lumMod val="50000"/>
                  </a:schemeClr>
                </a:solidFill>
                <a:latin typeface="Palatino Linotype"/>
                <a:cs typeface="Palatino Linotype"/>
              </a:rPr>
              <a:t>Ambiguity</a:t>
            </a:r>
            <a:endParaRPr sz="1800" dirty="0">
              <a:solidFill>
                <a:schemeClr val="bg2">
                  <a:lumMod val="50000"/>
                </a:schemeClr>
              </a:solidFill>
              <a:latin typeface="Palatino Linotype"/>
              <a:cs typeface="Palatino Linotype"/>
            </a:endParaRPr>
          </a:p>
          <a:p>
            <a:pPr>
              <a:lnSpc>
                <a:spcPct val="100000"/>
              </a:lnSpc>
              <a:spcBef>
                <a:spcPts val="55"/>
              </a:spcBef>
              <a:buChar char="•"/>
            </a:pPr>
            <a:endParaRPr sz="1700" dirty="0">
              <a:solidFill>
                <a:schemeClr val="bg2">
                  <a:lumMod val="50000"/>
                </a:schemeClr>
              </a:solidFill>
              <a:latin typeface="Palatino Linotype"/>
              <a:cs typeface="Palatino Linotype"/>
            </a:endParaRPr>
          </a:p>
          <a:p>
            <a:pPr marL="449580" indent="-286385">
              <a:lnSpc>
                <a:spcPct val="100000"/>
              </a:lnSpc>
              <a:buFont typeface="Arial MT"/>
              <a:buChar char="•"/>
              <a:tabLst>
                <a:tab pos="449580" algn="l"/>
                <a:tab pos="450215" algn="l"/>
              </a:tabLst>
            </a:pPr>
            <a:r>
              <a:rPr sz="1800" spc="-5" dirty="0">
                <a:solidFill>
                  <a:schemeClr val="bg2">
                    <a:lumMod val="50000"/>
                  </a:schemeClr>
                </a:solidFill>
                <a:latin typeface="Palatino Linotype"/>
                <a:cs typeface="Palatino Linotype"/>
              </a:rPr>
              <a:t>CFG</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vs.</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regexp</a:t>
            </a:r>
            <a:endParaRPr sz="1800" dirty="0">
              <a:solidFill>
                <a:schemeClr val="bg2">
                  <a:lumMod val="50000"/>
                </a:schemeClr>
              </a:solidFill>
              <a:latin typeface="Palatino Linotype"/>
              <a:cs typeface="Palatino Linotype"/>
            </a:endParaRPr>
          </a:p>
          <a:p>
            <a:pPr>
              <a:lnSpc>
                <a:spcPct val="100000"/>
              </a:lnSpc>
              <a:spcBef>
                <a:spcPts val="5"/>
              </a:spcBef>
              <a:buChar char="•"/>
            </a:pPr>
            <a:endParaRPr sz="1650" dirty="0">
              <a:solidFill>
                <a:schemeClr val="bg2">
                  <a:lumMod val="50000"/>
                </a:schemeClr>
              </a:solidFill>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5" dirty="0">
                <a:solidFill>
                  <a:schemeClr val="bg2">
                    <a:lumMod val="50000"/>
                  </a:schemeClr>
                </a:solidFill>
                <a:latin typeface="Palatino Linotype"/>
                <a:cs typeface="Palatino Linotype"/>
              </a:rPr>
              <a:t>Grammar</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design</a:t>
            </a:r>
            <a:endParaRPr sz="1800" dirty="0">
              <a:solidFill>
                <a:schemeClr val="bg2">
                  <a:lumMod val="50000"/>
                </a:schemeClr>
              </a:solidFill>
              <a:latin typeface="Palatino Linotype"/>
              <a:cs typeface="Palatino Linotype"/>
            </a:endParaRPr>
          </a:p>
        </p:txBody>
      </p:sp>
      <p:sp>
        <p:nvSpPr>
          <p:cNvPr id="6" name="object 7">
            <a:extLst>
              <a:ext uri="{FF2B5EF4-FFF2-40B4-BE49-F238E27FC236}">
                <a16:creationId xmlns:a16="http://schemas.microsoft.com/office/drawing/2014/main" id="{296F1C25-B6ED-0F61-B0FE-BEDCA5800578}"/>
              </a:ext>
            </a:extLst>
          </p:cNvPr>
          <p:cNvSpPr/>
          <p:nvPr/>
        </p:nvSpPr>
        <p:spPr>
          <a:xfrm>
            <a:off x="4450680" y="1898772"/>
            <a:ext cx="1207770" cy="554355"/>
          </a:xfrm>
          <a:custGeom>
            <a:avLst/>
            <a:gdLst/>
            <a:ahLst/>
            <a:cxnLst/>
            <a:rect l="l" t="t" r="r" b="b"/>
            <a:pathLst>
              <a:path w="1207770" h="554355">
                <a:moveTo>
                  <a:pt x="1207472" y="0"/>
                </a:moveTo>
                <a:lnTo>
                  <a:pt x="0" y="553742"/>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3994732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a:t>
            </a:fld>
            <a:endParaRPr lang="en-US"/>
          </a:p>
        </p:txBody>
      </p:sp>
      <p:sp>
        <p:nvSpPr>
          <p:cNvPr id="7" name="object 2">
            <a:extLst>
              <a:ext uri="{FF2B5EF4-FFF2-40B4-BE49-F238E27FC236}">
                <a16:creationId xmlns:a16="http://schemas.microsoft.com/office/drawing/2014/main" id="{D44FC06E-BC2A-95CB-AEBF-1B6122AB8CFD}"/>
              </a:ext>
            </a:extLst>
          </p:cNvPr>
          <p:cNvSpPr txBox="1">
            <a:spLocks/>
          </p:cNvSpPr>
          <p:nvPr/>
        </p:nvSpPr>
        <p:spPr>
          <a:xfrm>
            <a:off x="707390" y="524763"/>
            <a:ext cx="27641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De</a:t>
            </a:r>
            <a:r>
              <a:rPr kumimoji="0" lang="en-US" sz="4000" b="1" i="0" u="none" strike="noStrike" kern="0" cap="none" spc="5" normalizeH="0" baseline="0" noProof="0">
                <a:ln>
                  <a:noFill/>
                </a:ln>
                <a:solidFill>
                  <a:sysClr val="windowText" lastClr="000000"/>
                </a:solidFill>
                <a:effectLst/>
                <a:uLnTx/>
                <a:uFillTx/>
                <a:latin typeface="Palatino Linotype"/>
                <a:ea typeface="+mj-ea"/>
              </a:rPr>
              <a:t>ri</a:t>
            </a:r>
            <a:r>
              <a:rPr kumimoji="0" lang="en-US" sz="4000" b="1" i="0" u="none" strike="noStrike" kern="0" cap="none" spc="0" normalizeH="0" baseline="0" noProof="0">
                <a:ln>
                  <a:noFill/>
                </a:ln>
                <a:solidFill>
                  <a:sysClr val="windowText" lastClr="000000"/>
                </a:solidFill>
                <a:effectLst/>
                <a:uLnTx/>
                <a:uFillTx/>
                <a:latin typeface="Palatino Linotype"/>
                <a:ea typeface="+mj-ea"/>
              </a:rPr>
              <a:t>va</a:t>
            </a:r>
            <a:r>
              <a:rPr kumimoji="0" lang="en-US" sz="4000" b="1" i="0" u="none" strike="noStrike" kern="0" cap="none" spc="5" normalizeH="0" baseline="0" noProof="0">
                <a:ln>
                  <a:noFill/>
                </a:ln>
                <a:solidFill>
                  <a:sysClr val="windowText" lastClr="000000"/>
                </a:solidFill>
                <a:effectLst/>
                <a:uLnTx/>
                <a:uFillTx/>
                <a:latin typeface="Palatino Linotype"/>
                <a:ea typeface="+mj-ea"/>
              </a:rPr>
              <a:t>ti</a:t>
            </a:r>
            <a:r>
              <a:rPr kumimoji="0" lang="en-US" sz="4000" b="1" i="0" u="none" strike="noStrike" kern="0" cap="none" spc="0" normalizeH="0" baseline="0" noProof="0">
                <a:ln>
                  <a:noFill/>
                </a:ln>
                <a:solidFill>
                  <a:sysClr val="windowText" lastClr="000000"/>
                </a:solidFill>
                <a:effectLst/>
                <a:uLnTx/>
                <a:uFillTx/>
                <a:latin typeface="Palatino Linotype"/>
                <a:ea typeface="+mj-ea"/>
              </a:rPr>
              <a:t>o</a:t>
            </a:r>
            <a:r>
              <a:rPr kumimoji="0" lang="en-US" sz="4000" b="1" i="0" u="none" strike="noStrike" kern="0" cap="none" spc="-10" normalizeH="0" baseline="0" noProof="0">
                <a:ln>
                  <a:noFill/>
                </a:ln>
                <a:solidFill>
                  <a:sysClr val="windowText" lastClr="000000"/>
                </a:solidFill>
                <a:effectLst/>
                <a:uLnTx/>
                <a:uFillTx/>
                <a:latin typeface="Palatino Linotype"/>
                <a:ea typeface="+mj-ea"/>
              </a:rPr>
              <a:t>n</a:t>
            </a:r>
            <a:r>
              <a:rPr kumimoji="0" lang="en-US" sz="4000" b="1" i="0" u="none" strike="noStrike" kern="0" cap="none" spc="0" normalizeH="0" baseline="0" noProof="0">
                <a:ln>
                  <a:noFill/>
                </a:ln>
                <a:solidFill>
                  <a:sysClr val="windowText" lastClr="000000"/>
                </a:solidFill>
                <a:effectLst/>
                <a:uLnTx/>
                <a:uFillTx/>
                <a:latin typeface="Palatino Linotype"/>
                <a:ea typeface="+mj-ea"/>
              </a:rPr>
              <a:t>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38A4450E-63EA-EABD-B411-EF8F5EFE66FB}"/>
              </a:ext>
            </a:extLst>
          </p:cNvPr>
          <p:cNvSpPr txBox="1"/>
          <p:nvPr/>
        </p:nvSpPr>
        <p:spPr>
          <a:xfrm>
            <a:off x="707390" y="1590547"/>
            <a:ext cx="7131684" cy="3498215"/>
          </a:xfrm>
          <a:prstGeom prst="rect">
            <a:avLst/>
          </a:prstGeom>
        </p:spPr>
        <p:txBody>
          <a:bodyPr vert="horz" wrap="square" lIns="0" tIns="6350" rIns="0" bIns="0" rtlCol="0">
            <a:spAutoFit/>
          </a:bodyPr>
          <a:lstStyle/>
          <a:p>
            <a:pPr marL="242570" marR="5080" indent="-230504" rtl="0">
              <a:lnSpc>
                <a:spcPct val="120000"/>
              </a:lnSpc>
              <a:spcBef>
                <a:spcPts val="50"/>
              </a:spcBef>
              <a:buClr>
                <a:srgbClr val="000000"/>
              </a:buClr>
              <a:buFont typeface="Arial MT"/>
              <a:buChar char="•"/>
              <a:tabLst>
                <a:tab pos="243204" algn="l"/>
              </a:tabLst>
            </a:pPr>
            <a:r>
              <a:rPr sz="2400" b="1" kern="1200" dirty="0">
                <a:solidFill>
                  <a:srgbClr val="FF0000"/>
                </a:solidFill>
                <a:latin typeface="Palatino Linotype"/>
                <a:cs typeface="Palatino Linotype"/>
              </a:rPr>
              <a:t>Derivation</a:t>
            </a:r>
            <a:r>
              <a:rPr sz="2400" b="1" kern="1200" spc="-10" dirty="0">
                <a:solidFill>
                  <a:srgbClr val="FF0000"/>
                </a:solidFill>
                <a:latin typeface="Palatino Linotype"/>
                <a:cs typeface="Palatino Linotype"/>
              </a:rPr>
              <a:t> </a:t>
            </a:r>
            <a:r>
              <a:rPr sz="2400" b="1" kern="1200" dirty="0">
                <a:solidFill>
                  <a:srgbClr val="FF0000"/>
                </a:solidFill>
                <a:latin typeface="Palatino Linotype"/>
                <a:cs typeface="Palatino Linotype"/>
              </a:rPr>
              <a:t>(</a:t>
            </a:r>
            <a:r>
              <a:rPr sz="3525" kern="1200" spc="89" baseline="1182" dirty="0">
                <a:solidFill>
                  <a:srgbClr val="FF0000"/>
                </a:solidFill>
                <a:latin typeface="SimSun"/>
                <a:cs typeface="SimSun"/>
              </a:rPr>
              <a:t>推导</a:t>
            </a:r>
            <a:r>
              <a:rPr sz="2400" b="1" kern="1200" dirty="0">
                <a:solidFill>
                  <a:srgbClr val="FF0000"/>
                </a:solidFill>
                <a:latin typeface="Palatino Linotype"/>
                <a:cs typeface="Palatino Linotype"/>
              </a:rPr>
              <a:t>): </a:t>
            </a:r>
            <a:r>
              <a:rPr sz="2400" kern="1200" dirty="0">
                <a:solidFill>
                  <a:prstClr val="black"/>
                </a:solidFill>
                <a:latin typeface="Palatino Linotype"/>
                <a:cs typeface="Palatino Linotype"/>
              </a:rPr>
              <a:t>Starting </a:t>
            </a:r>
            <a:r>
              <a:rPr sz="2400" kern="1200" spc="-5" dirty="0">
                <a:solidFill>
                  <a:prstClr val="black"/>
                </a:solidFill>
                <a:latin typeface="Palatino Linotype"/>
                <a:cs typeface="Palatino Linotype"/>
              </a:rPr>
              <a:t>with </a:t>
            </a:r>
            <a:r>
              <a:rPr sz="2400" kern="1200" dirty="0">
                <a:solidFill>
                  <a:prstClr val="black"/>
                </a:solidFill>
                <a:latin typeface="Palatino Linotype"/>
                <a:cs typeface="Palatino Linotype"/>
              </a:rPr>
              <a:t>the </a:t>
            </a:r>
            <a:r>
              <a:rPr sz="2400" kern="1200" spc="-5" dirty="0">
                <a:solidFill>
                  <a:prstClr val="black"/>
                </a:solidFill>
                <a:latin typeface="Palatino Linotype"/>
                <a:cs typeface="Palatino Linotype"/>
              </a:rPr>
              <a:t>start symbol, </a:t>
            </a:r>
            <a:r>
              <a:rPr sz="2400" kern="1200" dirty="0">
                <a:solidFill>
                  <a:prstClr val="black"/>
                </a:solidFill>
                <a:latin typeface="Palatino Linotype"/>
                <a:cs typeface="Palatino Linotype"/>
              </a:rPr>
              <a:t> nonterminals</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are </a:t>
            </a:r>
            <a:r>
              <a:rPr sz="2400" kern="1200" spc="-5" dirty="0">
                <a:solidFill>
                  <a:prstClr val="black"/>
                </a:solidFill>
                <a:latin typeface="Palatino Linotype"/>
                <a:cs typeface="Palatino Linotype"/>
              </a:rPr>
              <a:t>rewritten</a:t>
            </a:r>
            <a:r>
              <a:rPr sz="2400" kern="1200" dirty="0">
                <a:solidFill>
                  <a:prstClr val="black"/>
                </a:solidFill>
                <a:latin typeface="Palatino Linotype"/>
                <a:cs typeface="Palatino Linotype"/>
              </a:rPr>
              <a:t> </a:t>
            </a:r>
            <a:r>
              <a:rPr sz="2400" kern="1200" spc="-5" dirty="0">
                <a:solidFill>
                  <a:prstClr val="black"/>
                </a:solidFill>
                <a:latin typeface="Palatino Linotype"/>
                <a:cs typeface="Palatino Linotype"/>
              </a:rPr>
              <a:t>using</a:t>
            </a:r>
            <a:r>
              <a:rPr sz="2400" kern="1200" dirty="0">
                <a:solidFill>
                  <a:prstClr val="black"/>
                </a:solidFill>
                <a:latin typeface="Palatino Linotype"/>
                <a:cs typeface="Palatino Linotype"/>
              </a:rPr>
              <a:t> </a:t>
            </a:r>
            <a:r>
              <a:rPr sz="2400" kern="1200" spc="-5" dirty="0">
                <a:solidFill>
                  <a:prstClr val="black"/>
                </a:solidFill>
                <a:latin typeface="Palatino Linotype"/>
                <a:cs typeface="Palatino Linotype"/>
              </a:rPr>
              <a:t>productions </a:t>
            </a:r>
            <a:r>
              <a:rPr sz="2400" kern="1200" dirty="0">
                <a:solidFill>
                  <a:prstClr val="black"/>
                </a:solidFill>
                <a:latin typeface="Palatino Linotype"/>
                <a:cs typeface="Palatino Linotype"/>
              </a:rPr>
              <a:t>until </a:t>
            </a:r>
            <a:r>
              <a:rPr sz="2400" kern="1200" spc="-585" dirty="0">
                <a:solidFill>
                  <a:prstClr val="black"/>
                </a:solidFill>
                <a:latin typeface="Palatino Linotype"/>
                <a:cs typeface="Palatino Linotype"/>
              </a:rPr>
              <a:t> </a:t>
            </a:r>
            <a:r>
              <a:rPr sz="2400" kern="1200" dirty="0">
                <a:solidFill>
                  <a:prstClr val="black"/>
                </a:solidFill>
                <a:latin typeface="Palatino Linotype"/>
                <a:cs typeface="Palatino Linotype"/>
              </a:rPr>
              <a:t>only</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terminals</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remain</a:t>
            </a:r>
          </a:p>
          <a:p>
            <a:pPr rtl="0">
              <a:spcBef>
                <a:spcPts val="40"/>
              </a:spcBef>
              <a:buFont typeface="Arial MT"/>
              <a:buChar char="•"/>
            </a:pPr>
            <a:endParaRPr sz="3100" kern="1200" dirty="0">
              <a:solidFill>
                <a:prstClr val="black"/>
              </a:solidFill>
              <a:latin typeface="Palatino Linotype"/>
              <a:cs typeface="Palatino Linotype"/>
            </a:endParaRPr>
          </a:p>
          <a:p>
            <a:pPr marL="243204" indent="-230504" rtl="0">
              <a:buFont typeface="Arial MT"/>
              <a:buChar char="•"/>
              <a:tabLst>
                <a:tab pos="243204" algn="l"/>
              </a:tabLst>
            </a:pPr>
            <a:r>
              <a:rPr sz="2400" kern="1200" spc="-5" dirty="0">
                <a:solidFill>
                  <a:prstClr val="black"/>
                </a:solidFill>
                <a:latin typeface="Palatino Linotype"/>
                <a:cs typeface="Palatino Linotype"/>
              </a:rPr>
              <a:t>Example:</a:t>
            </a:r>
            <a:endParaRPr sz="2400" kern="1200" dirty="0">
              <a:solidFill>
                <a:prstClr val="black"/>
              </a:solidFill>
              <a:latin typeface="Palatino Linotype"/>
              <a:cs typeface="Palatino Linotype"/>
            </a:endParaRPr>
          </a:p>
          <a:p>
            <a:pPr marL="698500" lvl="1" indent="-228600" rtl="0">
              <a:spcBef>
                <a:spcPts val="1120"/>
              </a:spcBef>
              <a:buFont typeface="Wingdings"/>
              <a:buChar char=""/>
              <a:tabLst>
                <a:tab pos="698500" algn="l"/>
                <a:tab pos="2030095" algn="l"/>
              </a:tabLst>
            </a:pPr>
            <a:r>
              <a:rPr sz="2000" b="1" kern="1200" spc="-5" dirty="0">
                <a:solidFill>
                  <a:prstClr val="black"/>
                </a:solidFill>
                <a:latin typeface="Palatino Linotype"/>
                <a:cs typeface="Palatino Linotype"/>
              </a:rPr>
              <a:t>CFG:</a:t>
            </a:r>
            <a:r>
              <a:rPr sz="2000" b="1" kern="1200" dirty="0">
                <a:solidFill>
                  <a:prstClr val="black"/>
                </a:solidFill>
                <a:latin typeface="Palatino Linotype"/>
                <a:cs typeface="Palatino Linotype"/>
              </a:rPr>
              <a:t> </a:t>
            </a:r>
            <a:r>
              <a:rPr sz="2000" i="1" kern="1200" dirty="0">
                <a:solidFill>
                  <a:prstClr val="black"/>
                </a:solidFill>
                <a:latin typeface="Consolas"/>
                <a:cs typeface="Consolas"/>
              </a:rPr>
              <a:t>E</a:t>
            </a:r>
            <a:r>
              <a:rPr sz="2000" i="1" kern="1200" spc="5" dirty="0">
                <a:solidFill>
                  <a:prstClr val="black"/>
                </a:solidFill>
                <a:latin typeface="Consolas"/>
                <a:cs typeface="Consolas"/>
              </a:rPr>
              <a:t> </a:t>
            </a:r>
            <a:r>
              <a:rPr sz="2000" kern="1200" dirty="0">
                <a:solidFill>
                  <a:prstClr val="black"/>
                </a:solidFill>
                <a:latin typeface="Wingdings"/>
                <a:cs typeface="Wingdings"/>
              </a:rPr>
              <a:t></a:t>
            </a:r>
            <a:r>
              <a:rPr sz="2000" kern="1200" dirty="0">
                <a:solidFill>
                  <a:prstClr val="black"/>
                </a:solidFill>
                <a:latin typeface="Times New Roman"/>
                <a:cs typeface="Times New Roman"/>
              </a:rPr>
              <a:t>	</a:t>
            </a:r>
            <a:r>
              <a:rPr sz="2000" kern="1200" dirty="0">
                <a:solidFill>
                  <a:prstClr val="black"/>
                </a:solidFill>
                <a:latin typeface="Consolas"/>
                <a:cs typeface="Consolas"/>
              </a:rPr>
              <a:t>–</a:t>
            </a:r>
            <a:r>
              <a:rPr sz="2000" kern="1200" spc="-5" dirty="0">
                <a:solidFill>
                  <a:prstClr val="black"/>
                </a:solidFill>
                <a:latin typeface="Consolas"/>
                <a:cs typeface="Consolas"/>
              </a:rPr>
              <a:t> </a:t>
            </a:r>
            <a:r>
              <a:rPr sz="2000" i="1" kern="1200" dirty="0">
                <a:solidFill>
                  <a:prstClr val="black"/>
                </a:solidFill>
                <a:latin typeface="Consolas"/>
                <a:cs typeface="Consolas"/>
              </a:rPr>
              <a:t>E</a:t>
            </a:r>
            <a:r>
              <a:rPr sz="2000" i="1" kern="1200" spc="-5" dirty="0">
                <a:solidFill>
                  <a:prstClr val="black"/>
                </a:solidFill>
                <a:latin typeface="Consolas"/>
                <a:cs typeface="Consolas"/>
              </a:rPr>
              <a:t> </a:t>
            </a:r>
            <a:r>
              <a:rPr sz="2000" kern="1200" dirty="0">
                <a:solidFill>
                  <a:prstClr val="black"/>
                </a:solidFill>
                <a:latin typeface="Consolas"/>
                <a:cs typeface="Consolas"/>
              </a:rPr>
              <a:t>|</a:t>
            </a:r>
            <a:r>
              <a:rPr sz="2000" kern="1200" spc="-10" dirty="0">
                <a:solidFill>
                  <a:prstClr val="black"/>
                </a:solidFill>
                <a:latin typeface="Consolas"/>
                <a:cs typeface="Consolas"/>
              </a:rPr>
              <a:t> </a:t>
            </a:r>
            <a:r>
              <a:rPr sz="2000" i="1" kern="1200" dirty="0">
                <a:solidFill>
                  <a:prstClr val="black"/>
                </a:solidFill>
                <a:latin typeface="Consolas"/>
                <a:cs typeface="Consolas"/>
              </a:rPr>
              <a:t>E</a:t>
            </a:r>
            <a:r>
              <a:rPr sz="2000" i="1" kern="1200" spc="-5" dirty="0">
                <a:solidFill>
                  <a:prstClr val="black"/>
                </a:solidFill>
                <a:latin typeface="Consolas"/>
                <a:cs typeface="Consolas"/>
              </a:rPr>
              <a:t> </a:t>
            </a:r>
            <a:r>
              <a:rPr sz="2000" kern="1200" dirty="0">
                <a:solidFill>
                  <a:prstClr val="black"/>
                </a:solidFill>
                <a:latin typeface="Consolas"/>
                <a:cs typeface="Consolas"/>
              </a:rPr>
              <a:t>+</a:t>
            </a:r>
            <a:r>
              <a:rPr sz="2000" kern="1200" spc="-5" dirty="0">
                <a:solidFill>
                  <a:prstClr val="black"/>
                </a:solidFill>
                <a:latin typeface="Consolas"/>
                <a:cs typeface="Consolas"/>
              </a:rPr>
              <a:t> </a:t>
            </a:r>
            <a:r>
              <a:rPr sz="2000" i="1" kern="1200" dirty="0">
                <a:solidFill>
                  <a:prstClr val="black"/>
                </a:solidFill>
                <a:latin typeface="Consolas"/>
                <a:cs typeface="Consolas"/>
              </a:rPr>
              <a:t>E</a:t>
            </a:r>
            <a:r>
              <a:rPr sz="2000" i="1" kern="1200" spc="-5" dirty="0">
                <a:solidFill>
                  <a:prstClr val="black"/>
                </a:solidFill>
                <a:latin typeface="Consolas"/>
                <a:cs typeface="Consolas"/>
              </a:rPr>
              <a:t> </a:t>
            </a:r>
            <a:r>
              <a:rPr sz="2000" kern="1200" dirty="0">
                <a:solidFill>
                  <a:prstClr val="black"/>
                </a:solidFill>
                <a:latin typeface="Consolas"/>
                <a:cs typeface="Consolas"/>
              </a:rPr>
              <a:t>|</a:t>
            </a:r>
            <a:r>
              <a:rPr sz="2000" kern="1200" spc="-10" dirty="0">
                <a:solidFill>
                  <a:prstClr val="black"/>
                </a:solidFill>
                <a:latin typeface="Consolas"/>
                <a:cs typeface="Consolas"/>
              </a:rPr>
              <a:t> </a:t>
            </a:r>
            <a:r>
              <a:rPr sz="2000" i="1" kern="1200" dirty="0">
                <a:solidFill>
                  <a:prstClr val="black"/>
                </a:solidFill>
                <a:latin typeface="Consolas"/>
                <a:cs typeface="Consolas"/>
              </a:rPr>
              <a:t>E</a:t>
            </a:r>
            <a:r>
              <a:rPr sz="2000" i="1" kern="1200" spc="-5" dirty="0">
                <a:solidFill>
                  <a:prstClr val="black"/>
                </a:solidFill>
                <a:latin typeface="Consolas"/>
                <a:cs typeface="Consolas"/>
              </a:rPr>
              <a:t> </a:t>
            </a:r>
            <a:r>
              <a:rPr sz="2000" kern="1200" dirty="0">
                <a:solidFill>
                  <a:prstClr val="black"/>
                </a:solidFill>
                <a:latin typeface="Consolas"/>
                <a:cs typeface="Consolas"/>
              </a:rPr>
              <a:t>*</a:t>
            </a:r>
            <a:r>
              <a:rPr sz="2000" kern="1200" spc="-5" dirty="0">
                <a:solidFill>
                  <a:prstClr val="black"/>
                </a:solidFill>
                <a:latin typeface="Consolas"/>
                <a:cs typeface="Consolas"/>
              </a:rPr>
              <a:t> </a:t>
            </a:r>
            <a:r>
              <a:rPr sz="2000" i="1" kern="1200" dirty="0">
                <a:solidFill>
                  <a:prstClr val="black"/>
                </a:solidFill>
                <a:latin typeface="Consolas"/>
                <a:cs typeface="Consolas"/>
              </a:rPr>
              <a:t>E</a:t>
            </a:r>
            <a:r>
              <a:rPr sz="2000" i="1" kern="1200" spc="-10" dirty="0">
                <a:solidFill>
                  <a:prstClr val="black"/>
                </a:solidFill>
                <a:latin typeface="Consolas"/>
                <a:cs typeface="Consolas"/>
              </a:rPr>
              <a:t> </a:t>
            </a:r>
            <a:r>
              <a:rPr sz="2000" kern="1200" dirty="0">
                <a:solidFill>
                  <a:prstClr val="black"/>
                </a:solidFill>
                <a:latin typeface="Consolas"/>
                <a:cs typeface="Consolas"/>
              </a:rPr>
              <a:t>|</a:t>
            </a:r>
            <a:r>
              <a:rPr sz="2000" kern="1200" spc="-5" dirty="0">
                <a:solidFill>
                  <a:prstClr val="black"/>
                </a:solidFill>
                <a:latin typeface="Consolas"/>
                <a:cs typeface="Consolas"/>
              </a:rPr>
              <a:t> </a:t>
            </a:r>
            <a:r>
              <a:rPr sz="2000" kern="1200" dirty="0">
                <a:solidFill>
                  <a:prstClr val="black"/>
                </a:solidFill>
                <a:latin typeface="Consolas"/>
                <a:cs typeface="Consolas"/>
              </a:rPr>
              <a:t>(</a:t>
            </a:r>
            <a:r>
              <a:rPr sz="2000" kern="1200" spc="-5" dirty="0">
                <a:solidFill>
                  <a:prstClr val="black"/>
                </a:solidFill>
                <a:latin typeface="Consolas"/>
                <a:cs typeface="Consolas"/>
              </a:rPr>
              <a:t> </a:t>
            </a:r>
            <a:r>
              <a:rPr sz="2000" i="1" kern="1200" dirty="0">
                <a:solidFill>
                  <a:prstClr val="black"/>
                </a:solidFill>
                <a:latin typeface="Consolas"/>
                <a:cs typeface="Consolas"/>
              </a:rPr>
              <a:t>E</a:t>
            </a:r>
            <a:r>
              <a:rPr sz="2000" i="1" kern="1200" spc="-5" dirty="0">
                <a:solidFill>
                  <a:prstClr val="black"/>
                </a:solidFill>
                <a:latin typeface="Consolas"/>
                <a:cs typeface="Consolas"/>
              </a:rPr>
              <a:t> </a:t>
            </a:r>
            <a:r>
              <a:rPr sz="2000" kern="1200" dirty="0">
                <a:solidFill>
                  <a:prstClr val="black"/>
                </a:solidFill>
                <a:latin typeface="Consolas"/>
                <a:cs typeface="Consolas"/>
              </a:rPr>
              <a:t>)</a:t>
            </a:r>
            <a:r>
              <a:rPr sz="2000" kern="1200" spc="-10" dirty="0">
                <a:solidFill>
                  <a:prstClr val="black"/>
                </a:solidFill>
                <a:latin typeface="Consolas"/>
                <a:cs typeface="Consolas"/>
              </a:rPr>
              <a:t> </a:t>
            </a:r>
            <a:r>
              <a:rPr sz="2000" kern="1200" dirty="0">
                <a:solidFill>
                  <a:prstClr val="black"/>
                </a:solidFill>
                <a:latin typeface="Consolas"/>
                <a:cs typeface="Consolas"/>
              </a:rPr>
              <a:t>|</a:t>
            </a:r>
            <a:r>
              <a:rPr sz="2000" kern="1200" spc="-5" dirty="0">
                <a:solidFill>
                  <a:prstClr val="black"/>
                </a:solidFill>
                <a:latin typeface="Consolas"/>
                <a:cs typeface="Consolas"/>
              </a:rPr>
              <a:t> </a:t>
            </a:r>
            <a:r>
              <a:rPr sz="2000" b="1" kern="1200" dirty="0">
                <a:solidFill>
                  <a:prstClr val="black"/>
                </a:solidFill>
                <a:latin typeface="Consolas"/>
                <a:cs typeface="Consolas"/>
              </a:rPr>
              <a:t>id</a:t>
            </a:r>
            <a:endParaRPr sz="2000" kern="1200" dirty="0">
              <a:solidFill>
                <a:prstClr val="black"/>
              </a:solidFill>
              <a:latin typeface="Consolas"/>
              <a:cs typeface="Consolas"/>
            </a:endParaRPr>
          </a:p>
          <a:p>
            <a:pPr marL="698500" lvl="1" indent="-228600" rtl="0">
              <a:spcBef>
                <a:spcPts val="1080"/>
              </a:spcBef>
              <a:buFont typeface="Wingdings"/>
              <a:buChar char=""/>
              <a:tabLst>
                <a:tab pos="698500" algn="l"/>
              </a:tabLst>
            </a:pPr>
            <a:r>
              <a:rPr sz="2000" kern="1200" dirty="0">
                <a:solidFill>
                  <a:prstClr val="black"/>
                </a:solidFill>
                <a:latin typeface="Palatino Linotype"/>
                <a:cs typeface="Palatino Linotype"/>
              </a:rPr>
              <a:t>A</a:t>
            </a:r>
            <a:r>
              <a:rPr sz="2000" kern="1200" spc="-120" dirty="0">
                <a:solidFill>
                  <a:prstClr val="black"/>
                </a:solidFill>
                <a:latin typeface="Palatino Linotype"/>
                <a:cs typeface="Palatino Linotype"/>
              </a:rPr>
              <a:t> </a:t>
            </a:r>
            <a:r>
              <a:rPr sz="2000" kern="1200" dirty="0">
                <a:solidFill>
                  <a:prstClr val="black"/>
                </a:solidFill>
                <a:latin typeface="Palatino Linotype"/>
                <a:cs typeface="Palatino Linotype"/>
              </a:rPr>
              <a:t>de</a:t>
            </a:r>
            <a:r>
              <a:rPr sz="2000" kern="1200" spc="-5" dirty="0">
                <a:solidFill>
                  <a:prstClr val="black"/>
                </a:solidFill>
                <a:latin typeface="Palatino Linotype"/>
                <a:cs typeface="Palatino Linotype"/>
              </a:rPr>
              <a:t>r</a:t>
            </a:r>
            <a:r>
              <a:rPr sz="2000" kern="1200" spc="5" dirty="0">
                <a:solidFill>
                  <a:prstClr val="black"/>
                </a:solidFill>
                <a:latin typeface="Palatino Linotype"/>
                <a:cs typeface="Palatino Linotype"/>
              </a:rPr>
              <a:t>i</a:t>
            </a:r>
            <a:r>
              <a:rPr sz="2000" kern="1200" spc="-60" dirty="0">
                <a:solidFill>
                  <a:prstClr val="black"/>
                </a:solidFill>
                <a:latin typeface="Palatino Linotype"/>
                <a:cs typeface="Palatino Linotype"/>
              </a:rPr>
              <a:t>v</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t</a:t>
            </a:r>
            <a:r>
              <a:rPr sz="2000" kern="1200" spc="5" dirty="0">
                <a:solidFill>
                  <a:prstClr val="black"/>
                </a:solidFill>
                <a:latin typeface="Palatino Linotype"/>
                <a:cs typeface="Palatino Linotype"/>
              </a:rPr>
              <a:t>i</a:t>
            </a:r>
            <a:r>
              <a:rPr sz="2000" kern="1200" spc="-5" dirty="0">
                <a:solidFill>
                  <a:prstClr val="black"/>
                </a:solidFill>
                <a:latin typeface="Palatino Linotype"/>
                <a:cs typeface="Palatino Linotype"/>
              </a:rPr>
              <a:t>o</a:t>
            </a:r>
            <a:r>
              <a:rPr sz="2000" kern="1200" dirty="0">
                <a:solidFill>
                  <a:prstClr val="black"/>
                </a:solidFill>
                <a:latin typeface="Palatino Linotype"/>
                <a:cs typeface="Palatino Linotype"/>
              </a:rPr>
              <a:t>n</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 seq</a:t>
            </a:r>
            <a:r>
              <a:rPr sz="2000" kern="1200" spc="-10" dirty="0">
                <a:solidFill>
                  <a:prstClr val="black"/>
                </a:solidFill>
                <a:latin typeface="Palatino Linotype"/>
                <a:cs typeface="Palatino Linotype"/>
              </a:rPr>
              <a:t>u</a:t>
            </a:r>
            <a:r>
              <a:rPr sz="2000" kern="1200" dirty="0">
                <a:solidFill>
                  <a:prstClr val="black"/>
                </a:solidFill>
                <a:latin typeface="Palatino Linotype"/>
                <a:cs typeface="Palatino Linotype"/>
              </a:rPr>
              <a:t>e</a:t>
            </a:r>
            <a:r>
              <a:rPr sz="2000" kern="1200" spc="-5" dirty="0">
                <a:solidFill>
                  <a:prstClr val="black"/>
                </a:solidFill>
                <a:latin typeface="Palatino Linotype"/>
                <a:cs typeface="Palatino Linotype"/>
              </a:rPr>
              <a:t>nc</a:t>
            </a:r>
            <a:r>
              <a:rPr sz="2000" kern="1200" dirty="0">
                <a:solidFill>
                  <a:prstClr val="black"/>
                </a:solidFill>
                <a:latin typeface="Palatino Linotype"/>
                <a:cs typeface="Palatino Linotype"/>
              </a:rPr>
              <a:t>e </a:t>
            </a:r>
            <a:r>
              <a:rPr sz="2000" kern="1200" spc="-5" dirty="0">
                <a:solidFill>
                  <a:prstClr val="black"/>
                </a:solidFill>
                <a:latin typeface="Palatino Linotype"/>
                <a:cs typeface="Palatino Linotype"/>
              </a:rPr>
              <a:t>o</a:t>
            </a:r>
            <a:r>
              <a:rPr sz="2000" kern="1200" dirty="0">
                <a:solidFill>
                  <a:prstClr val="black"/>
                </a:solidFill>
                <a:latin typeface="Palatino Linotype"/>
                <a:cs typeface="Palatino Linotype"/>
              </a:rPr>
              <a:t>f</a:t>
            </a:r>
            <a:r>
              <a:rPr sz="2000" kern="1200" spc="-5" dirty="0">
                <a:solidFill>
                  <a:prstClr val="black"/>
                </a:solidFill>
                <a:latin typeface="Palatino Linotype"/>
                <a:cs typeface="Palatino Linotype"/>
              </a:rPr>
              <a:t> r</a:t>
            </a:r>
            <a:r>
              <a:rPr sz="2000" kern="1200" dirty="0">
                <a:solidFill>
                  <a:prstClr val="black"/>
                </a:solidFill>
                <a:latin typeface="Palatino Linotype"/>
                <a:cs typeface="Palatino Linotype"/>
              </a:rPr>
              <a:t>e</a:t>
            </a:r>
            <a:r>
              <a:rPr sz="2000" kern="1200" spc="-10" dirty="0">
                <a:solidFill>
                  <a:prstClr val="black"/>
                </a:solidFill>
                <a:latin typeface="Palatino Linotype"/>
                <a:cs typeface="Palatino Linotype"/>
              </a:rPr>
              <a:t>w</a:t>
            </a:r>
            <a:r>
              <a:rPr sz="2000" kern="1200" spc="-5" dirty="0">
                <a:solidFill>
                  <a:prstClr val="black"/>
                </a:solidFill>
                <a:latin typeface="Palatino Linotype"/>
                <a:cs typeface="Palatino Linotype"/>
              </a:rPr>
              <a:t>r</a:t>
            </a:r>
            <a:r>
              <a:rPr sz="2000" kern="1200" spc="5" dirty="0">
                <a:solidFill>
                  <a:prstClr val="black"/>
                </a:solidFill>
                <a:latin typeface="Palatino Linotype"/>
                <a:cs typeface="Palatino Linotype"/>
              </a:rPr>
              <a:t>i</a:t>
            </a:r>
            <a:r>
              <a:rPr sz="2000" kern="1200" spc="-5" dirty="0">
                <a:solidFill>
                  <a:prstClr val="black"/>
                </a:solidFill>
                <a:latin typeface="Palatino Linotype"/>
                <a:cs typeface="Palatino Linotype"/>
              </a:rPr>
              <a:t>t</a:t>
            </a:r>
            <a:r>
              <a:rPr sz="2000" kern="1200" dirty="0">
                <a:solidFill>
                  <a:prstClr val="black"/>
                </a:solidFill>
                <a:latin typeface="Palatino Linotype"/>
                <a:cs typeface="Palatino Linotype"/>
              </a:rPr>
              <a:t>es)</a:t>
            </a:r>
            <a:r>
              <a:rPr sz="2000" kern="1200" spc="-5" dirty="0">
                <a:solidFill>
                  <a:prstClr val="black"/>
                </a:solidFill>
                <a:latin typeface="Palatino Linotype"/>
                <a:cs typeface="Palatino Linotype"/>
              </a:rPr>
              <a:t> o</a:t>
            </a:r>
            <a:r>
              <a:rPr sz="2000" kern="1200" dirty="0">
                <a:solidFill>
                  <a:prstClr val="black"/>
                </a:solidFill>
                <a:latin typeface="Palatino Linotype"/>
                <a:cs typeface="Palatino Linotype"/>
              </a:rPr>
              <a:t>f</a:t>
            </a:r>
            <a:r>
              <a:rPr sz="2000" kern="1200" spc="-5" dirty="0">
                <a:solidFill>
                  <a:prstClr val="black"/>
                </a:solidFill>
                <a:latin typeface="Palatino Linotype"/>
                <a:cs typeface="Palatino Linotype"/>
              </a:rPr>
              <a:t> </a:t>
            </a:r>
            <a:r>
              <a:rPr sz="2000" kern="1200" dirty="0">
                <a:solidFill>
                  <a:srgbClr val="0432FF"/>
                </a:solidFill>
                <a:latin typeface="Consolas"/>
                <a:cs typeface="Consolas"/>
              </a:rPr>
              <a:t>–(</a:t>
            </a:r>
            <a:r>
              <a:rPr sz="2000" b="1" kern="1200" dirty="0">
                <a:solidFill>
                  <a:srgbClr val="0432FF"/>
                </a:solidFill>
                <a:latin typeface="Consolas"/>
                <a:cs typeface="Consolas"/>
              </a:rPr>
              <a:t>id</a:t>
            </a:r>
            <a:r>
              <a:rPr sz="2000" kern="1200" dirty="0">
                <a:solidFill>
                  <a:srgbClr val="0432FF"/>
                </a:solidFill>
                <a:latin typeface="Consolas"/>
                <a:cs typeface="Consolas"/>
              </a:rPr>
              <a:t>)</a:t>
            </a:r>
            <a:r>
              <a:rPr sz="2000" kern="1200" spc="-600" dirty="0">
                <a:solidFill>
                  <a:srgbClr val="0432FF"/>
                </a:solidFill>
                <a:latin typeface="Consolas"/>
                <a:cs typeface="Consolas"/>
              </a:rPr>
              <a:t> </a:t>
            </a:r>
            <a:r>
              <a:rPr sz="2000" kern="1200" spc="-5" dirty="0">
                <a:solidFill>
                  <a:prstClr val="black"/>
                </a:solidFill>
                <a:latin typeface="Palatino Linotype"/>
                <a:cs typeface="Palatino Linotype"/>
              </a:rPr>
              <a:t>fr</a:t>
            </a:r>
            <a:r>
              <a:rPr sz="2000" kern="1200" spc="-10" dirty="0">
                <a:solidFill>
                  <a:prstClr val="black"/>
                </a:solidFill>
                <a:latin typeface="Palatino Linotype"/>
                <a:cs typeface="Palatino Linotype"/>
              </a:rPr>
              <a:t>o</a:t>
            </a:r>
            <a:r>
              <a:rPr sz="2000" kern="1200" dirty="0">
                <a:solidFill>
                  <a:prstClr val="black"/>
                </a:solidFill>
                <a:latin typeface="Palatino Linotype"/>
                <a:cs typeface="Palatino Linotype"/>
              </a:rPr>
              <a:t>m</a:t>
            </a:r>
            <a:r>
              <a:rPr sz="2000" kern="1200" spc="-5" dirty="0">
                <a:solidFill>
                  <a:prstClr val="black"/>
                </a:solidFill>
                <a:latin typeface="Palatino Linotype"/>
                <a:cs typeface="Palatino Linotype"/>
              </a:rPr>
              <a:t> </a:t>
            </a:r>
            <a:r>
              <a:rPr sz="2000" i="1" kern="1200" dirty="0">
                <a:solidFill>
                  <a:srgbClr val="0432FF"/>
                </a:solidFill>
                <a:latin typeface="Consolas"/>
                <a:cs typeface="Consolas"/>
              </a:rPr>
              <a:t>E</a:t>
            </a:r>
            <a:endParaRPr sz="2000" kern="1200" dirty="0">
              <a:solidFill>
                <a:prstClr val="black"/>
              </a:solidFill>
              <a:latin typeface="Consolas"/>
              <a:cs typeface="Consolas"/>
            </a:endParaRPr>
          </a:p>
          <a:p>
            <a:pPr marL="926465" rtl="0">
              <a:spcBef>
                <a:spcPts val="1000"/>
              </a:spcBef>
            </a:pPr>
            <a:r>
              <a:rPr sz="1600" kern="1200" dirty="0">
                <a:solidFill>
                  <a:prstClr val="black"/>
                </a:solidFill>
                <a:latin typeface="Courier New"/>
                <a:cs typeface="Courier New"/>
              </a:rPr>
              <a:t>o</a:t>
            </a:r>
            <a:r>
              <a:rPr sz="1600" kern="1200" spc="-125" dirty="0">
                <a:solidFill>
                  <a:prstClr val="black"/>
                </a:solidFill>
                <a:latin typeface="Courier New"/>
                <a:cs typeface="Courier New"/>
              </a:rPr>
              <a:t> </a:t>
            </a:r>
            <a:r>
              <a:rPr sz="1600" i="1" kern="1200" dirty="0">
                <a:solidFill>
                  <a:srgbClr val="0432FF"/>
                </a:solidFill>
                <a:latin typeface="Consolas"/>
                <a:cs typeface="Consolas"/>
              </a:rPr>
              <a:t>E</a:t>
            </a:r>
            <a:r>
              <a:rPr sz="1600" i="1" kern="1200" spc="-535" dirty="0">
                <a:solidFill>
                  <a:srgbClr val="0432FF"/>
                </a:solidFill>
                <a:latin typeface="Consolas"/>
                <a:cs typeface="Consolas"/>
              </a:rPr>
              <a:t> </a:t>
            </a:r>
            <a:r>
              <a:rPr sz="1600" kern="1200" dirty="0">
                <a:solidFill>
                  <a:srgbClr val="FF0000"/>
                </a:solidFill>
                <a:latin typeface="Cambria Math"/>
                <a:cs typeface="Cambria Math"/>
              </a:rPr>
              <a:t>⇒ </a:t>
            </a:r>
            <a:r>
              <a:rPr sz="1600" kern="1200" spc="-5" dirty="0">
                <a:solidFill>
                  <a:srgbClr val="0432FF"/>
                </a:solidFill>
                <a:latin typeface="Consolas"/>
                <a:cs typeface="Consolas"/>
              </a:rPr>
              <a:t>–</a:t>
            </a:r>
            <a:r>
              <a:rPr sz="1600" i="1" kern="1200" dirty="0">
                <a:solidFill>
                  <a:srgbClr val="0432FF"/>
                </a:solidFill>
                <a:latin typeface="Consolas"/>
                <a:cs typeface="Consolas"/>
              </a:rPr>
              <a:t>E</a:t>
            </a:r>
            <a:r>
              <a:rPr sz="1600" i="1" kern="1200" spc="-10" dirty="0">
                <a:solidFill>
                  <a:srgbClr val="0432FF"/>
                </a:solidFill>
                <a:latin typeface="Consolas"/>
                <a:cs typeface="Consolas"/>
              </a:rPr>
              <a:t> </a:t>
            </a:r>
            <a:r>
              <a:rPr sz="1600" kern="1200" dirty="0">
                <a:solidFill>
                  <a:srgbClr val="FF0000"/>
                </a:solidFill>
                <a:latin typeface="Cambria Math"/>
                <a:cs typeface="Cambria Math"/>
              </a:rPr>
              <a:t>⇒ </a:t>
            </a:r>
            <a:r>
              <a:rPr sz="1600" kern="1200" spc="170" dirty="0">
                <a:solidFill>
                  <a:srgbClr val="FF0000"/>
                </a:solidFill>
                <a:latin typeface="Cambria Math"/>
                <a:cs typeface="Cambria Math"/>
              </a:rPr>
              <a:t> </a:t>
            </a:r>
            <a:r>
              <a:rPr sz="1600" kern="1200" spc="-5" dirty="0">
                <a:solidFill>
                  <a:srgbClr val="0432FF"/>
                </a:solidFill>
                <a:latin typeface="Consolas"/>
                <a:cs typeface="Consolas"/>
              </a:rPr>
              <a:t>-(</a:t>
            </a:r>
            <a:r>
              <a:rPr sz="1600" i="1" kern="1200" spc="-5" dirty="0">
                <a:solidFill>
                  <a:srgbClr val="0432FF"/>
                </a:solidFill>
                <a:latin typeface="Consolas"/>
                <a:cs typeface="Consolas"/>
              </a:rPr>
              <a:t>E</a:t>
            </a:r>
            <a:r>
              <a:rPr sz="1600" kern="1200" dirty="0">
                <a:solidFill>
                  <a:srgbClr val="0432FF"/>
                </a:solidFill>
                <a:latin typeface="Consolas"/>
                <a:cs typeface="Consolas"/>
              </a:rPr>
              <a:t>)</a:t>
            </a:r>
            <a:r>
              <a:rPr sz="1600" kern="1200" spc="-10" dirty="0">
                <a:solidFill>
                  <a:srgbClr val="0432FF"/>
                </a:solidFill>
                <a:latin typeface="Consolas"/>
                <a:cs typeface="Consolas"/>
              </a:rPr>
              <a:t> </a:t>
            </a:r>
            <a:r>
              <a:rPr sz="1600" kern="1200" dirty="0">
                <a:solidFill>
                  <a:srgbClr val="FF0000"/>
                </a:solidFill>
                <a:latin typeface="Cambria Math"/>
                <a:cs typeface="Cambria Math"/>
              </a:rPr>
              <a:t>⇒ </a:t>
            </a:r>
            <a:r>
              <a:rPr sz="1600" kern="1200" spc="170" dirty="0">
                <a:solidFill>
                  <a:srgbClr val="FF0000"/>
                </a:solidFill>
                <a:latin typeface="Cambria Math"/>
                <a:cs typeface="Cambria Math"/>
              </a:rPr>
              <a:t> </a:t>
            </a:r>
            <a:r>
              <a:rPr sz="1600" kern="1200" spc="-5" dirty="0">
                <a:solidFill>
                  <a:srgbClr val="0432FF"/>
                </a:solidFill>
                <a:latin typeface="Consolas"/>
                <a:cs typeface="Consolas"/>
              </a:rPr>
              <a:t>-(</a:t>
            </a:r>
            <a:r>
              <a:rPr sz="1600" b="1" kern="1200" spc="-5" dirty="0">
                <a:solidFill>
                  <a:srgbClr val="0432FF"/>
                </a:solidFill>
                <a:latin typeface="Consolas"/>
                <a:cs typeface="Consolas"/>
              </a:rPr>
              <a:t>id</a:t>
            </a:r>
            <a:r>
              <a:rPr sz="1600" kern="1200" dirty="0">
                <a:solidFill>
                  <a:srgbClr val="0432FF"/>
                </a:solidFill>
                <a:latin typeface="Consolas"/>
                <a:cs typeface="Consolas"/>
              </a:rPr>
              <a:t>)</a:t>
            </a:r>
            <a:endParaRPr sz="1600" kern="1200" dirty="0">
              <a:solidFill>
                <a:prstClr val="black"/>
              </a:solidFill>
              <a:latin typeface="Consolas"/>
              <a:cs typeface="Consolas"/>
            </a:endParaRPr>
          </a:p>
        </p:txBody>
      </p:sp>
    </p:spTree>
    <p:extLst>
      <p:ext uri="{BB962C8B-B14F-4D97-AF65-F5344CB8AC3E}">
        <p14:creationId xmlns:p14="http://schemas.microsoft.com/office/powerpoint/2010/main" val="3706671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a:t>
            </a:fld>
            <a:endParaRPr lang="en-US"/>
          </a:p>
        </p:txBody>
      </p:sp>
      <p:sp>
        <p:nvSpPr>
          <p:cNvPr id="17" name="object 2">
            <a:extLst>
              <a:ext uri="{FF2B5EF4-FFF2-40B4-BE49-F238E27FC236}">
                <a16:creationId xmlns:a16="http://schemas.microsoft.com/office/drawing/2014/main" id="{A75DA9A6-2DEF-324E-190E-CCCCF8919DFF}"/>
              </a:ext>
            </a:extLst>
          </p:cNvPr>
          <p:cNvSpPr txBox="1">
            <a:spLocks/>
          </p:cNvSpPr>
          <p:nvPr/>
        </p:nvSpPr>
        <p:spPr>
          <a:xfrm>
            <a:off x="707390" y="524763"/>
            <a:ext cx="23133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N</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a</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ti</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10" normalizeH="0" baseline="0" noProof="0" dirty="0">
                <a:ln>
                  <a:noFill/>
                </a:ln>
                <a:solidFill>
                  <a:sysClr val="windowText" lastClr="000000"/>
                </a:solidFill>
                <a:effectLst/>
                <a:uLnTx/>
                <a:uFillTx/>
                <a:latin typeface="Palatino Linotype"/>
                <a:ea typeface="+mj-ea"/>
              </a:rPr>
              <a:t>n</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s</a:t>
            </a:r>
          </a:p>
        </p:txBody>
      </p:sp>
      <p:sp>
        <p:nvSpPr>
          <p:cNvPr id="18" name="object 3">
            <a:extLst>
              <a:ext uri="{FF2B5EF4-FFF2-40B4-BE49-F238E27FC236}">
                <a16:creationId xmlns:a16="http://schemas.microsoft.com/office/drawing/2014/main" id="{82109C2E-4875-7E28-8C64-807394A07456}"/>
              </a:ext>
            </a:extLst>
          </p:cNvPr>
          <p:cNvSpPr txBox="1"/>
          <p:nvPr/>
        </p:nvSpPr>
        <p:spPr>
          <a:xfrm>
            <a:off x="707390" y="1657603"/>
            <a:ext cx="4377055" cy="391160"/>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3204" algn="l"/>
              </a:tabLst>
            </a:pPr>
            <a:r>
              <a:rPr sz="2400" kern="1200" dirty="0">
                <a:solidFill>
                  <a:srgbClr val="FF0000"/>
                </a:solidFill>
                <a:latin typeface="Cambria Math"/>
                <a:cs typeface="Cambria Math"/>
              </a:rPr>
              <a:t>⇒</a:t>
            </a:r>
            <a:r>
              <a:rPr sz="2400" kern="1200" spc="50" dirty="0">
                <a:solidFill>
                  <a:srgbClr val="FF0000"/>
                </a:solidFill>
                <a:latin typeface="Cambria Math"/>
                <a:cs typeface="Cambria Math"/>
              </a:rPr>
              <a:t> </a:t>
            </a:r>
            <a:r>
              <a:rPr sz="2400" kern="1200" dirty="0">
                <a:solidFill>
                  <a:prstClr val="black"/>
                </a:solidFill>
                <a:latin typeface="Palatino Linotype"/>
                <a:cs typeface="Palatino Linotype"/>
              </a:rPr>
              <a:t>means</a:t>
            </a:r>
            <a:r>
              <a:rPr sz="2400" kern="1200" spc="-15" dirty="0">
                <a:solidFill>
                  <a:prstClr val="black"/>
                </a:solidFill>
                <a:latin typeface="Palatino Linotype"/>
                <a:cs typeface="Palatino Linotype"/>
              </a:rPr>
              <a:t> </a:t>
            </a:r>
            <a:r>
              <a:rPr sz="2400" kern="1200" spc="-10" dirty="0">
                <a:solidFill>
                  <a:prstClr val="black"/>
                </a:solidFill>
                <a:latin typeface="Palatino Linotype"/>
                <a:cs typeface="Palatino Linotype"/>
              </a:rPr>
              <a:t>“</a:t>
            </a:r>
            <a:r>
              <a:rPr sz="2400" kern="1200" spc="-10" dirty="0">
                <a:solidFill>
                  <a:srgbClr val="0432FF"/>
                </a:solidFill>
                <a:latin typeface="Palatino Linotype"/>
                <a:cs typeface="Palatino Linotype"/>
              </a:rPr>
              <a:t>derives</a:t>
            </a:r>
            <a:r>
              <a:rPr sz="2400" kern="1200" spc="-20" dirty="0">
                <a:solidFill>
                  <a:srgbClr val="0432FF"/>
                </a:solidFill>
                <a:latin typeface="Palatino Linotype"/>
                <a:cs typeface="Palatino Linotype"/>
              </a:rPr>
              <a:t> </a:t>
            </a:r>
            <a:r>
              <a:rPr sz="2400" kern="1200" dirty="0">
                <a:solidFill>
                  <a:srgbClr val="0432FF"/>
                </a:solidFill>
                <a:latin typeface="Palatino Linotype"/>
                <a:cs typeface="Palatino Linotype"/>
              </a:rPr>
              <a:t>in</a:t>
            </a:r>
            <a:r>
              <a:rPr sz="2400" kern="1200" spc="-10" dirty="0">
                <a:solidFill>
                  <a:srgbClr val="0432FF"/>
                </a:solidFill>
                <a:latin typeface="Palatino Linotype"/>
                <a:cs typeface="Palatino Linotype"/>
              </a:rPr>
              <a:t> </a:t>
            </a:r>
            <a:r>
              <a:rPr sz="2400" kern="1200" dirty="0">
                <a:solidFill>
                  <a:srgbClr val="0432FF"/>
                </a:solidFill>
                <a:latin typeface="Palatino Linotype"/>
                <a:cs typeface="Palatino Linotype"/>
              </a:rPr>
              <a:t>one</a:t>
            </a:r>
            <a:r>
              <a:rPr sz="2400" kern="1200" spc="-15" dirty="0">
                <a:solidFill>
                  <a:srgbClr val="0432FF"/>
                </a:solidFill>
                <a:latin typeface="Palatino Linotype"/>
                <a:cs typeface="Palatino Linotype"/>
              </a:rPr>
              <a:t> </a:t>
            </a:r>
            <a:r>
              <a:rPr sz="2400" kern="1200" spc="-5" dirty="0">
                <a:solidFill>
                  <a:srgbClr val="0432FF"/>
                </a:solidFill>
                <a:latin typeface="Palatino Linotype"/>
                <a:cs typeface="Palatino Linotype"/>
              </a:rPr>
              <a:t>step</a:t>
            </a:r>
            <a:r>
              <a:rPr sz="2400" kern="1200" spc="-5" dirty="0">
                <a:solidFill>
                  <a:prstClr val="black"/>
                </a:solidFill>
                <a:latin typeface="Palatino Linotype"/>
                <a:cs typeface="Palatino Linotype"/>
              </a:rPr>
              <a:t>”</a:t>
            </a:r>
            <a:endParaRPr sz="2400" kern="1200" dirty="0">
              <a:solidFill>
                <a:prstClr val="black"/>
              </a:solidFill>
              <a:latin typeface="Palatino Linotype"/>
              <a:cs typeface="Palatino Linotype"/>
            </a:endParaRPr>
          </a:p>
        </p:txBody>
      </p:sp>
      <p:sp>
        <p:nvSpPr>
          <p:cNvPr id="19" name="object 4">
            <a:extLst>
              <a:ext uri="{FF2B5EF4-FFF2-40B4-BE49-F238E27FC236}">
                <a16:creationId xmlns:a16="http://schemas.microsoft.com/office/drawing/2014/main" id="{C30D1172-AED2-EE16-8E11-FD6482E8CC1C}"/>
              </a:ext>
            </a:extLst>
          </p:cNvPr>
          <p:cNvSpPr txBox="1"/>
          <p:nvPr/>
        </p:nvSpPr>
        <p:spPr>
          <a:xfrm>
            <a:off x="1015809" y="2398267"/>
            <a:ext cx="135890"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Cambria Math"/>
                <a:cs typeface="Cambria Math"/>
              </a:rPr>
              <a:t>∗</a:t>
            </a:r>
            <a:endParaRPr kern="1200" dirty="0">
              <a:solidFill>
                <a:prstClr val="black"/>
              </a:solidFill>
              <a:latin typeface="Cambria Math"/>
              <a:cs typeface="Cambria Math"/>
            </a:endParaRPr>
          </a:p>
        </p:txBody>
      </p:sp>
      <p:sp>
        <p:nvSpPr>
          <p:cNvPr id="20" name="object 5">
            <a:extLst>
              <a:ext uri="{FF2B5EF4-FFF2-40B4-BE49-F238E27FC236}">
                <a16:creationId xmlns:a16="http://schemas.microsoft.com/office/drawing/2014/main" id="{9AC3E56A-2D19-0081-341A-A3875AC71B56}"/>
              </a:ext>
            </a:extLst>
          </p:cNvPr>
          <p:cNvSpPr txBox="1"/>
          <p:nvPr/>
        </p:nvSpPr>
        <p:spPr>
          <a:xfrm>
            <a:off x="1675193" y="3021584"/>
            <a:ext cx="117475" cy="254000"/>
          </a:xfrm>
          <a:prstGeom prst="rect">
            <a:avLst/>
          </a:prstGeom>
        </p:spPr>
        <p:txBody>
          <a:bodyPr vert="horz" wrap="square" lIns="0" tIns="12700" rIns="0" bIns="0" rtlCol="0">
            <a:spAutoFit/>
          </a:bodyPr>
          <a:lstStyle/>
          <a:p>
            <a:pPr marL="12700" rtl="0">
              <a:spcBef>
                <a:spcPts val="100"/>
              </a:spcBef>
            </a:pPr>
            <a:r>
              <a:rPr sz="1500" kern="1200" dirty="0">
                <a:solidFill>
                  <a:prstClr val="black"/>
                </a:solidFill>
                <a:latin typeface="Cambria Math"/>
                <a:cs typeface="Cambria Math"/>
              </a:rPr>
              <a:t>∗</a:t>
            </a:r>
            <a:endParaRPr sz="1500" kern="1200">
              <a:solidFill>
                <a:prstClr val="black"/>
              </a:solidFill>
              <a:latin typeface="Cambria Math"/>
              <a:cs typeface="Cambria Math"/>
            </a:endParaRPr>
          </a:p>
        </p:txBody>
      </p:sp>
      <p:sp>
        <p:nvSpPr>
          <p:cNvPr id="21" name="object 6">
            <a:extLst>
              <a:ext uri="{FF2B5EF4-FFF2-40B4-BE49-F238E27FC236}">
                <a16:creationId xmlns:a16="http://schemas.microsoft.com/office/drawing/2014/main" id="{8ADF21E5-53BC-F723-2BD0-0064ABB1DCAD}"/>
              </a:ext>
            </a:extLst>
          </p:cNvPr>
          <p:cNvSpPr txBox="1"/>
          <p:nvPr/>
        </p:nvSpPr>
        <p:spPr>
          <a:xfrm>
            <a:off x="1908555" y="3554983"/>
            <a:ext cx="2683510" cy="254000"/>
          </a:xfrm>
          <a:prstGeom prst="rect">
            <a:avLst/>
          </a:prstGeom>
        </p:spPr>
        <p:txBody>
          <a:bodyPr vert="horz" wrap="square" lIns="0" tIns="12700" rIns="0" bIns="0" rtlCol="0">
            <a:spAutoFit/>
          </a:bodyPr>
          <a:lstStyle/>
          <a:p>
            <a:pPr marL="12700" rtl="0">
              <a:spcBef>
                <a:spcPts val="100"/>
              </a:spcBef>
              <a:tabLst>
                <a:tab pos="2578100" algn="l"/>
              </a:tabLst>
            </a:pPr>
            <a:r>
              <a:rPr sz="1500" kern="1200" dirty="0">
                <a:solidFill>
                  <a:prstClr val="black"/>
                </a:solidFill>
                <a:latin typeface="Cambria Math"/>
                <a:cs typeface="Cambria Math"/>
              </a:rPr>
              <a:t>∗	∗</a:t>
            </a:r>
            <a:endParaRPr sz="1500" kern="1200">
              <a:solidFill>
                <a:prstClr val="black"/>
              </a:solidFill>
              <a:latin typeface="Cambria Math"/>
              <a:cs typeface="Cambria Math"/>
            </a:endParaRPr>
          </a:p>
        </p:txBody>
      </p:sp>
      <p:sp>
        <p:nvSpPr>
          <p:cNvPr id="22" name="object 7">
            <a:extLst>
              <a:ext uri="{FF2B5EF4-FFF2-40B4-BE49-F238E27FC236}">
                <a16:creationId xmlns:a16="http://schemas.microsoft.com/office/drawing/2014/main" id="{DAE6A50B-3358-62E8-1551-4F9643070F9A}"/>
              </a:ext>
            </a:extLst>
          </p:cNvPr>
          <p:cNvSpPr txBox="1"/>
          <p:nvPr/>
        </p:nvSpPr>
        <p:spPr>
          <a:xfrm>
            <a:off x="707390" y="2559811"/>
            <a:ext cx="5744210" cy="1460500"/>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3204" algn="l"/>
              </a:tabLst>
            </a:pPr>
            <a:r>
              <a:rPr sz="2400" kern="1200" dirty="0">
                <a:solidFill>
                  <a:srgbClr val="FF0000"/>
                </a:solidFill>
                <a:latin typeface="Cambria Math"/>
                <a:cs typeface="Cambria Math"/>
              </a:rPr>
              <a:t>⇒</a:t>
            </a:r>
            <a:r>
              <a:rPr sz="2400" kern="1200" spc="60" dirty="0">
                <a:solidFill>
                  <a:srgbClr val="FF0000"/>
                </a:solidFill>
                <a:latin typeface="Cambria Math"/>
                <a:cs typeface="Cambria Math"/>
              </a:rPr>
              <a:t> </a:t>
            </a:r>
            <a:r>
              <a:rPr sz="2400" kern="1200" dirty="0">
                <a:solidFill>
                  <a:prstClr val="black"/>
                </a:solidFill>
                <a:latin typeface="Palatino Linotype"/>
                <a:cs typeface="Palatino Linotype"/>
              </a:rPr>
              <a:t>means</a:t>
            </a:r>
            <a:r>
              <a:rPr sz="2400" kern="1200" spc="-15" dirty="0">
                <a:solidFill>
                  <a:prstClr val="black"/>
                </a:solidFill>
                <a:latin typeface="Palatino Linotype"/>
                <a:cs typeface="Palatino Linotype"/>
              </a:rPr>
              <a:t> </a:t>
            </a:r>
            <a:r>
              <a:rPr sz="2400" kern="1200" spc="-10" dirty="0">
                <a:solidFill>
                  <a:prstClr val="black"/>
                </a:solidFill>
                <a:latin typeface="Palatino Linotype"/>
                <a:cs typeface="Palatino Linotype"/>
              </a:rPr>
              <a:t>“</a:t>
            </a:r>
            <a:r>
              <a:rPr sz="2400" kern="1200" spc="-10" dirty="0">
                <a:solidFill>
                  <a:srgbClr val="0432FF"/>
                </a:solidFill>
                <a:latin typeface="Palatino Linotype"/>
                <a:cs typeface="Palatino Linotype"/>
              </a:rPr>
              <a:t>derives </a:t>
            </a:r>
            <a:r>
              <a:rPr sz="2400" kern="1200" dirty="0">
                <a:solidFill>
                  <a:srgbClr val="0432FF"/>
                </a:solidFill>
                <a:latin typeface="Palatino Linotype"/>
                <a:cs typeface="Palatino Linotype"/>
              </a:rPr>
              <a:t>in</a:t>
            </a:r>
            <a:r>
              <a:rPr sz="2400" kern="1200" spc="-10" dirty="0">
                <a:solidFill>
                  <a:srgbClr val="0432FF"/>
                </a:solidFill>
                <a:latin typeface="Palatino Linotype"/>
                <a:cs typeface="Palatino Linotype"/>
              </a:rPr>
              <a:t> </a:t>
            </a:r>
            <a:r>
              <a:rPr sz="2400" kern="1200" dirty="0">
                <a:solidFill>
                  <a:srgbClr val="0432FF"/>
                </a:solidFill>
                <a:latin typeface="Palatino Linotype"/>
                <a:cs typeface="Palatino Linotype"/>
              </a:rPr>
              <a:t>zero</a:t>
            </a:r>
            <a:r>
              <a:rPr sz="2400" kern="1200" spc="-10" dirty="0">
                <a:solidFill>
                  <a:srgbClr val="0432FF"/>
                </a:solidFill>
                <a:latin typeface="Palatino Linotype"/>
                <a:cs typeface="Palatino Linotype"/>
              </a:rPr>
              <a:t> </a:t>
            </a:r>
            <a:r>
              <a:rPr sz="2400" kern="1200" dirty="0">
                <a:solidFill>
                  <a:srgbClr val="0432FF"/>
                </a:solidFill>
                <a:latin typeface="Palatino Linotype"/>
                <a:cs typeface="Palatino Linotype"/>
              </a:rPr>
              <a:t>or</a:t>
            </a:r>
            <a:r>
              <a:rPr sz="2400" kern="1200" spc="-5" dirty="0">
                <a:solidFill>
                  <a:srgbClr val="0432FF"/>
                </a:solidFill>
                <a:latin typeface="Palatino Linotype"/>
                <a:cs typeface="Palatino Linotype"/>
              </a:rPr>
              <a:t> </a:t>
            </a:r>
            <a:r>
              <a:rPr sz="2400" kern="1200" dirty="0">
                <a:solidFill>
                  <a:srgbClr val="0432FF"/>
                </a:solidFill>
                <a:latin typeface="Palatino Linotype"/>
                <a:cs typeface="Palatino Linotype"/>
              </a:rPr>
              <a:t>more</a:t>
            </a:r>
            <a:r>
              <a:rPr sz="2400" kern="1200" spc="-10" dirty="0">
                <a:solidFill>
                  <a:srgbClr val="0432FF"/>
                </a:solidFill>
                <a:latin typeface="Palatino Linotype"/>
                <a:cs typeface="Palatino Linotype"/>
              </a:rPr>
              <a:t> </a:t>
            </a:r>
            <a:r>
              <a:rPr sz="2400" kern="1200" spc="-5" dirty="0">
                <a:solidFill>
                  <a:srgbClr val="0432FF"/>
                </a:solidFill>
                <a:latin typeface="Palatino Linotype"/>
                <a:cs typeface="Palatino Linotype"/>
              </a:rPr>
              <a:t>steps</a:t>
            </a:r>
            <a:r>
              <a:rPr sz="2400" kern="1200" spc="-5" dirty="0">
                <a:solidFill>
                  <a:prstClr val="black"/>
                </a:solidFill>
                <a:latin typeface="Palatino Linotype"/>
                <a:cs typeface="Palatino Linotype"/>
              </a:rPr>
              <a:t>”</a:t>
            </a:r>
            <a:endParaRPr sz="2400" kern="1200" dirty="0">
              <a:solidFill>
                <a:prstClr val="black"/>
              </a:solidFill>
              <a:latin typeface="Palatino Linotype"/>
              <a:cs typeface="Palatino Linotype"/>
            </a:endParaRPr>
          </a:p>
          <a:p>
            <a:pPr marL="698500" lvl="1" indent="-228600" rtl="0">
              <a:spcBef>
                <a:spcPts val="1814"/>
              </a:spcBef>
              <a:buFont typeface="Wingdings"/>
              <a:buChar char=""/>
              <a:tabLst>
                <a:tab pos="698500" algn="l"/>
              </a:tabLst>
            </a:pPr>
            <a:r>
              <a:rPr sz="2000" kern="1200" dirty="0">
                <a:solidFill>
                  <a:prstClr val="black"/>
                </a:solidFill>
                <a:latin typeface="Cambria Math"/>
                <a:cs typeface="Cambria Math"/>
              </a:rPr>
              <a:t>𝛼</a:t>
            </a:r>
            <a:r>
              <a:rPr sz="2000" kern="1200" spc="5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prstClr val="black"/>
                </a:solidFill>
                <a:latin typeface="Cambria Math"/>
                <a:cs typeface="Cambria Math"/>
              </a:rPr>
              <a:t>𝛼</a:t>
            </a:r>
            <a:r>
              <a:rPr sz="2000" kern="1200" spc="50" dirty="0">
                <a:solidFill>
                  <a:prstClr val="black"/>
                </a:solidFill>
                <a:latin typeface="Cambria Math"/>
                <a:cs typeface="Cambria Math"/>
              </a:rPr>
              <a:t> </a:t>
            </a:r>
            <a:r>
              <a:rPr sz="2000" kern="1200" spc="-5" dirty="0">
                <a:solidFill>
                  <a:prstClr val="black"/>
                </a:solidFill>
                <a:latin typeface="Palatino Linotype"/>
                <a:cs typeface="Palatino Linotype"/>
              </a:rPr>
              <a:t>holds for</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any string</a:t>
            </a:r>
            <a:r>
              <a:rPr sz="2000" kern="1200" spc="-10" dirty="0">
                <a:solidFill>
                  <a:prstClr val="black"/>
                </a:solidFill>
                <a:latin typeface="Palatino Linotype"/>
                <a:cs typeface="Palatino Linotype"/>
              </a:rPr>
              <a:t> </a:t>
            </a:r>
            <a:r>
              <a:rPr sz="2000" kern="1200" dirty="0">
                <a:solidFill>
                  <a:prstClr val="black"/>
                </a:solidFill>
                <a:latin typeface="Cambria Math"/>
                <a:cs typeface="Cambria Math"/>
              </a:rPr>
              <a:t>𝛼</a:t>
            </a:r>
          </a:p>
          <a:p>
            <a:pPr marL="698500" lvl="1" indent="-228600" rtl="0">
              <a:spcBef>
                <a:spcPts val="1800"/>
              </a:spcBef>
              <a:buFont typeface="Wingdings"/>
              <a:buChar char=""/>
              <a:tabLst>
                <a:tab pos="698500" algn="l"/>
              </a:tabLst>
            </a:pPr>
            <a:r>
              <a:rPr sz="2000" kern="1200" dirty="0">
                <a:solidFill>
                  <a:prstClr val="black"/>
                </a:solidFill>
                <a:latin typeface="Palatino Linotype"/>
                <a:cs typeface="Palatino Linotype"/>
              </a:rPr>
              <a:t>If</a:t>
            </a:r>
            <a:r>
              <a:rPr sz="2000" kern="1200" spc="-15" dirty="0">
                <a:solidFill>
                  <a:prstClr val="black"/>
                </a:solidFill>
                <a:latin typeface="Palatino Linotype"/>
                <a:cs typeface="Palatino Linotype"/>
              </a:rPr>
              <a:t> </a:t>
            </a:r>
            <a:r>
              <a:rPr sz="2000" kern="1200" dirty="0">
                <a:solidFill>
                  <a:prstClr val="black"/>
                </a:solidFill>
                <a:latin typeface="Cambria Math"/>
                <a:cs typeface="Cambria Math"/>
              </a:rPr>
              <a:t>𝛼</a:t>
            </a:r>
            <a:r>
              <a:rPr sz="2000" kern="1200" spc="6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prstClr val="black"/>
                </a:solidFill>
                <a:latin typeface="Cambria Math"/>
                <a:cs typeface="Cambria Math"/>
              </a:rPr>
              <a:t>𝛽</a:t>
            </a:r>
            <a:r>
              <a:rPr sz="2000" kern="1200" spc="110" dirty="0">
                <a:solidFill>
                  <a:prstClr val="black"/>
                </a:solidFill>
                <a:latin typeface="Cambria Math"/>
                <a:cs typeface="Cambria Math"/>
              </a:rPr>
              <a:t> </a:t>
            </a:r>
            <a:r>
              <a:rPr sz="2000" kern="1200" spc="-5" dirty="0">
                <a:solidFill>
                  <a:prstClr val="black"/>
                </a:solidFill>
                <a:latin typeface="Palatino Linotype"/>
                <a:cs typeface="Palatino Linotype"/>
              </a:rPr>
              <a:t>and </a:t>
            </a:r>
            <a:r>
              <a:rPr sz="2000" kern="1200" dirty="0">
                <a:solidFill>
                  <a:prstClr val="black"/>
                </a:solidFill>
                <a:latin typeface="Cambria Math"/>
                <a:cs typeface="Cambria Math"/>
              </a:rPr>
              <a:t>𝛽</a:t>
            </a:r>
            <a:r>
              <a:rPr sz="2000" kern="1200" spc="17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spc="25" dirty="0">
                <a:solidFill>
                  <a:prstClr val="black"/>
                </a:solidFill>
                <a:latin typeface="Cambria Math"/>
                <a:cs typeface="Cambria Math"/>
              </a:rPr>
              <a:t>𝛾</a:t>
            </a:r>
            <a:r>
              <a:rPr sz="2000" kern="1200" spc="25" dirty="0">
                <a:solidFill>
                  <a:prstClr val="black"/>
                </a:solidFill>
                <a:latin typeface="Palatino Linotype"/>
                <a:cs typeface="Palatino Linotype"/>
              </a:rPr>
              <a:t>,</a:t>
            </a:r>
            <a:r>
              <a:rPr sz="2000" kern="1200" spc="-5" dirty="0">
                <a:solidFill>
                  <a:prstClr val="black"/>
                </a:solidFill>
                <a:latin typeface="Palatino Linotype"/>
                <a:cs typeface="Palatino Linotype"/>
              </a:rPr>
              <a:t> then</a:t>
            </a:r>
            <a:r>
              <a:rPr sz="2000" kern="1200" spc="-10" dirty="0">
                <a:solidFill>
                  <a:prstClr val="black"/>
                </a:solidFill>
                <a:latin typeface="Palatino Linotype"/>
                <a:cs typeface="Palatino Linotype"/>
              </a:rPr>
              <a:t> </a:t>
            </a:r>
            <a:r>
              <a:rPr sz="2000" kern="1200" dirty="0">
                <a:solidFill>
                  <a:prstClr val="black"/>
                </a:solidFill>
                <a:latin typeface="Cambria Math"/>
                <a:cs typeface="Cambria Math"/>
              </a:rPr>
              <a:t>𝛼</a:t>
            </a:r>
            <a:r>
              <a:rPr sz="2000" kern="1200" spc="5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prstClr val="black"/>
                </a:solidFill>
                <a:latin typeface="Cambria Math"/>
                <a:cs typeface="Cambria Math"/>
              </a:rPr>
              <a:t>𝛾</a:t>
            </a:r>
          </a:p>
        </p:txBody>
      </p:sp>
      <p:sp>
        <p:nvSpPr>
          <p:cNvPr id="23" name="object 8">
            <a:extLst>
              <a:ext uri="{FF2B5EF4-FFF2-40B4-BE49-F238E27FC236}">
                <a16:creationId xmlns:a16="http://schemas.microsoft.com/office/drawing/2014/main" id="{D5AA0B0F-7B3B-0E23-0571-4EA51A4EE06D}"/>
              </a:ext>
            </a:extLst>
          </p:cNvPr>
          <p:cNvSpPr/>
          <p:nvPr/>
        </p:nvSpPr>
        <p:spPr>
          <a:xfrm>
            <a:off x="3984469" y="4300520"/>
            <a:ext cx="335280" cy="235585"/>
          </a:xfrm>
          <a:custGeom>
            <a:avLst/>
            <a:gdLst/>
            <a:ahLst/>
            <a:cxnLst/>
            <a:rect l="l" t="t" r="r" b="b"/>
            <a:pathLst>
              <a:path w="335279" h="235585">
                <a:moveTo>
                  <a:pt x="259802" y="0"/>
                </a:moveTo>
                <a:lnTo>
                  <a:pt x="256454" y="9549"/>
                </a:lnTo>
                <a:lnTo>
                  <a:pt x="270073" y="15459"/>
                </a:lnTo>
                <a:lnTo>
                  <a:pt x="281786" y="23641"/>
                </a:lnTo>
                <a:lnTo>
                  <a:pt x="305567" y="61565"/>
                </a:lnTo>
                <a:lnTo>
                  <a:pt x="313381" y="116457"/>
                </a:lnTo>
                <a:lnTo>
                  <a:pt x="312509" y="137208"/>
                </a:lnTo>
                <a:lnTo>
                  <a:pt x="299427" y="188019"/>
                </a:lnTo>
                <a:lnTo>
                  <a:pt x="270233" y="219784"/>
                </a:lnTo>
                <a:lnTo>
                  <a:pt x="256827" y="225722"/>
                </a:lnTo>
                <a:lnTo>
                  <a:pt x="259802" y="235272"/>
                </a:lnTo>
                <a:lnTo>
                  <a:pt x="304753" y="208564"/>
                </a:lnTo>
                <a:lnTo>
                  <a:pt x="329999" y="159261"/>
                </a:lnTo>
                <a:lnTo>
                  <a:pt x="334836" y="117698"/>
                </a:lnTo>
                <a:lnTo>
                  <a:pt x="333623" y="96129"/>
                </a:lnTo>
                <a:lnTo>
                  <a:pt x="323919" y="57899"/>
                </a:lnTo>
                <a:lnTo>
                  <a:pt x="291816" y="15083"/>
                </a:lnTo>
                <a:lnTo>
                  <a:pt x="276860" y="6158"/>
                </a:lnTo>
                <a:lnTo>
                  <a:pt x="259802" y="0"/>
                </a:lnTo>
                <a:close/>
              </a:path>
              <a:path w="335279" h="235585">
                <a:moveTo>
                  <a:pt x="75034" y="0"/>
                </a:moveTo>
                <a:lnTo>
                  <a:pt x="30164" y="26776"/>
                </a:lnTo>
                <a:lnTo>
                  <a:pt x="4852" y="76196"/>
                </a:lnTo>
                <a:lnTo>
                  <a:pt x="0" y="117698"/>
                </a:lnTo>
                <a:lnTo>
                  <a:pt x="1209" y="139313"/>
                </a:lnTo>
                <a:lnTo>
                  <a:pt x="10882" y="177543"/>
                </a:lnTo>
                <a:lnTo>
                  <a:pt x="42942" y="220219"/>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3" y="9549"/>
                </a:lnTo>
                <a:lnTo>
                  <a:pt x="75034"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9">
            <a:extLst>
              <a:ext uri="{FF2B5EF4-FFF2-40B4-BE49-F238E27FC236}">
                <a16:creationId xmlns:a16="http://schemas.microsoft.com/office/drawing/2014/main" id="{AEA19B1B-8E3E-1D17-1B50-34BE537E8DBB}"/>
              </a:ext>
            </a:extLst>
          </p:cNvPr>
          <p:cNvSpPr/>
          <p:nvPr/>
        </p:nvSpPr>
        <p:spPr>
          <a:xfrm>
            <a:off x="4916205" y="4300520"/>
            <a:ext cx="406400" cy="235585"/>
          </a:xfrm>
          <a:custGeom>
            <a:avLst/>
            <a:gdLst/>
            <a:ahLst/>
            <a:cxnLst/>
            <a:rect l="l" t="t" r="r" b="b"/>
            <a:pathLst>
              <a:path w="406400" h="235585">
                <a:moveTo>
                  <a:pt x="330860" y="0"/>
                </a:moveTo>
                <a:lnTo>
                  <a:pt x="327511" y="9549"/>
                </a:lnTo>
                <a:lnTo>
                  <a:pt x="341130" y="15459"/>
                </a:lnTo>
                <a:lnTo>
                  <a:pt x="352842" y="23641"/>
                </a:lnTo>
                <a:lnTo>
                  <a:pt x="376624" y="61565"/>
                </a:lnTo>
                <a:lnTo>
                  <a:pt x="384437" y="116457"/>
                </a:lnTo>
                <a:lnTo>
                  <a:pt x="383565" y="137208"/>
                </a:lnTo>
                <a:lnTo>
                  <a:pt x="370484" y="188019"/>
                </a:lnTo>
                <a:lnTo>
                  <a:pt x="341289" y="219784"/>
                </a:lnTo>
                <a:lnTo>
                  <a:pt x="327883" y="225722"/>
                </a:lnTo>
                <a:lnTo>
                  <a:pt x="330860" y="235272"/>
                </a:lnTo>
                <a:lnTo>
                  <a:pt x="375810" y="208564"/>
                </a:lnTo>
                <a:lnTo>
                  <a:pt x="401056" y="159261"/>
                </a:lnTo>
                <a:lnTo>
                  <a:pt x="405893" y="117698"/>
                </a:lnTo>
                <a:lnTo>
                  <a:pt x="404680" y="96129"/>
                </a:lnTo>
                <a:lnTo>
                  <a:pt x="394975" y="57899"/>
                </a:lnTo>
                <a:lnTo>
                  <a:pt x="362873" y="15083"/>
                </a:lnTo>
                <a:lnTo>
                  <a:pt x="347917" y="6158"/>
                </a:lnTo>
                <a:lnTo>
                  <a:pt x="330860" y="0"/>
                </a:lnTo>
                <a:close/>
              </a:path>
              <a:path w="406400" h="235585">
                <a:moveTo>
                  <a:pt x="75034" y="0"/>
                </a:moveTo>
                <a:lnTo>
                  <a:pt x="30164" y="26776"/>
                </a:lnTo>
                <a:lnTo>
                  <a:pt x="4852" y="76196"/>
                </a:lnTo>
                <a:lnTo>
                  <a:pt x="0" y="117698"/>
                </a:lnTo>
                <a:lnTo>
                  <a:pt x="1209" y="139313"/>
                </a:lnTo>
                <a:lnTo>
                  <a:pt x="10882" y="177543"/>
                </a:lnTo>
                <a:lnTo>
                  <a:pt x="42942" y="220219"/>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3" y="9549"/>
                </a:lnTo>
                <a:lnTo>
                  <a:pt x="75034"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10">
            <a:extLst>
              <a:ext uri="{FF2B5EF4-FFF2-40B4-BE49-F238E27FC236}">
                <a16:creationId xmlns:a16="http://schemas.microsoft.com/office/drawing/2014/main" id="{F04CA5F2-16A6-D8DC-F2F2-90A2655381F8}"/>
              </a:ext>
            </a:extLst>
          </p:cNvPr>
          <p:cNvSpPr txBox="1"/>
          <p:nvPr/>
        </p:nvSpPr>
        <p:spPr>
          <a:xfrm>
            <a:off x="7646352" y="4088383"/>
            <a:ext cx="117475" cy="254000"/>
          </a:xfrm>
          <a:prstGeom prst="rect">
            <a:avLst/>
          </a:prstGeom>
        </p:spPr>
        <p:txBody>
          <a:bodyPr vert="horz" wrap="square" lIns="0" tIns="12700" rIns="0" bIns="0" rtlCol="0">
            <a:spAutoFit/>
          </a:bodyPr>
          <a:lstStyle/>
          <a:p>
            <a:pPr marL="12700" rtl="0">
              <a:spcBef>
                <a:spcPts val="100"/>
              </a:spcBef>
            </a:pPr>
            <a:r>
              <a:rPr sz="1500" kern="1200" dirty="0">
                <a:solidFill>
                  <a:srgbClr val="FF0000"/>
                </a:solidFill>
                <a:latin typeface="Cambria Math"/>
                <a:cs typeface="Cambria Math"/>
              </a:rPr>
              <a:t>∗</a:t>
            </a:r>
            <a:endParaRPr sz="1500" kern="1200">
              <a:solidFill>
                <a:prstClr val="black"/>
              </a:solidFill>
              <a:latin typeface="Cambria Math"/>
              <a:cs typeface="Cambria Math"/>
            </a:endParaRPr>
          </a:p>
        </p:txBody>
      </p:sp>
      <p:sp>
        <p:nvSpPr>
          <p:cNvPr id="26" name="object 11">
            <a:extLst>
              <a:ext uri="{FF2B5EF4-FFF2-40B4-BE49-F238E27FC236}">
                <a16:creationId xmlns:a16="http://schemas.microsoft.com/office/drawing/2014/main" id="{7ECCD599-D775-6B0C-2B32-F038AE726617}"/>
              </a:ext>
            </a:extLst>
          </p:cNvPr>
          <p:cNvSpPr txBox="1"/>
          <p:nvPr/>
        </p:nvSpPr>
        <p:spPr>
          <a:xfrm>
            <a:off x="1164589" y="4223004"/>
            <a:ext cx="7359015" cy="330200"/>
          </a:xfrm>
          <a:prstGeom prst="rect">
            <a:avLst/>
          </a:prstGeom>
        </p:spPr>
        <p:txBody>
          <a:bodyPr vert="horz" wrap="square" lIns="0" tIns="12700" rIns="0" bIns="0" rtlCol="0">
            <a:spAutoFit/>
          </a:bodyPr>
          <a:lstStyle/>
          <a:p>
            <a:pPr marL="241300" indent="-228600" rtl="0">
              <a:spcBef>
                <a:spcPts val="100"/>
              </a:spcBef>
              <a:buFont typeface="Wingdings"/>
              <a:buChar char=""/>
              <a:tabLst>
                <a:tab pos="241300" algn="l"/>
                <a:tab pos="3247390" algn="l"/>
                <a:tab pos="4243070" algn="l"/>
              </a:tabLst>
            </a:pPr>
            <a:r>
              <a:rPr sz="2000" kern="1200" dirty="0">
                <a:solidFill>
                  <a:prstClr val="black"/>
                </a:solidFill>
                <a:latin typeface="Palatino Linotype"/>
                <a:cs typeface="Palatino Linotype"/>
              </a:rPr>
              <a:t>Example: </a:t>
            </a:r>
            <a:r>
              <a:rPr sz="2000" kern="1200" dirty="0">
                <a:solidFill>
                  <a:srgbClr val="0432FF"/>
                </a:solidFill>
                <a:latin typeface="Cambria Math"/>
                <a:cs typeface="Cambria Math"/>
              </a:rPr>
              <a:t>𝐸</a:t>
            </a:r>
            <a:r>
              <a:rPr sz="2000" kern="1200" spc="190"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20" dirty="0">
                <a:solidFill>
                  <a:srgbClr val="0432FF"/>
                </a:solidFill>
                <a:latin typeface="Cambria Math"/>
                <a:cs typeface="Cambria Math"/>
              </a:rPr>
              <a:t> </a:t>
            </a:r>
            <a:r>
              <a:rPr sz="2000" kern="1200" dirty="0">
                <a:solidFill>
                  <a:srgbClr val="0432FF"/>
                </a:solidFill>
                <a:latin typeface="Cambria Math"/>
                <a:cs typeface="Cambria Math"/>
              </a:rPr>
              <a:t>−𝐸</a:t>
            </a:r>
            <a:r>
              <a:rPr sz="2000" kern="1200" spc="190"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20"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395" dirty="0">
                <a:solidFill>
                  <a:srgbClr val="0432FF"/>
                </a:solidFill>
                <a:latin typeface="Cambria Math"/>
                <a:cs typeface="Cambria Math"/>
              </a:rPr>
              <a:t> </a:t>
            </a:r>
            <a:r>
              <a:rPr sz="2000" kern="1200" dirty="0">
                <a:solidFill>
                  <a:srgbClr val="0432FF"/>
                </a:solidFill>
                <a:latin typeface="Cambria Math"/>
                <a:cs typeface="Cambria Math"/>
              </a:rPr>
              <a:t>𝐸	⇒</a:t>
            </a:r>
            <a:r>
              <a:rPr sz="2000" kern="1200" spc="120"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395" dirty="0">
                <a:solidFill>
                  <a:srgbClr val="0432FF"/>
                </a:solidFill>
                <a:latin typeface="Cambria Math"/>
                <a:cs typeface="Cambria Math"/>
              </a:rPr>
              <a:t> </a:t>
            </a:r>
            <a:r>
              <a:rPr sz="2000" kern="1200" dirty="0">
                <a:solidFill>
                  <a:srgbClr val="0432FF"/>
                </a:solidFill>
                <a:latin typeface="Cambria Math"/>
                <a:cs typeface="Cambria Math"/>
              </a:rPr>
              <a:t>𝐢𝐝	</a:t>
            </a:r>
            <a:r>
              <a:rPr sz="2000" kern="1200" spc="-5" dirty="0">
                <a:solidFill>
                  <a:prstClr val="black"/>
                </a:solidFill>
                <a:latin typeface="Palatino Linotype"/>
                <a:cs typeface="Palatino Linotype"/>
              </a:rPr>
              <a:t>can</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be</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written</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as</a:t>
            </a:r>
            <a:r>
              <a:rPr sz="2000" kern="1200" spc="-10" dirty="0">
                <a:solidFill>
                  <a:prstClr val="black"/>
                </a:solidFill>
                <a:latin typeface="Palatino Linotype"/>
                <a:cs typeface="Palatino Linotype"/>
              </a:rPr>
              <a:t> </a:t>
            </a:r>
            <a:r>
              <a:rPr sz="2000" kern="1200" dirty="0">
                <a:solidFill>
                  <a:srgbClr val="FF0000"/>
                </a:solidFill>
                <a:latin typeface="Cambria Math"/>
                <a:cs typeface="Cambria Math"/>
              </a:rPr>
              <a:t>𝐸</a:t>
            </a:r>
            <a:r>
              <a:rPr sz="2000" kern="1200" spc="70"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5" dirty="0">
                <a:solidFill>
                  <a:srgbClr val="FF0000"/>
                </a:solidFill>
                <a:latin typeface="Cambria Math"/>
                <a:cs typeface="Cambria Math"/>
              </a:rPr>
              <a:t> −(𝐢𝐝)</a:t>
            </a:r>
            <a:endParaRPr sz="2000" kern="1200">
              <a:solidFill>
                <a:prstClr val="black"/>
              </a:solidFill>
              <a:latin typeface="Cambria Math"/>
              <a:cs typeface="Cambria Math"/>
            </a:endParaRPr>
          </a:p>
        </p:txBody>
      </p:sp>
      <p:sp>
        <p:nvSpPr>
          <p:cNvPr id="27" name="object 12">
            <a:extLst>
              <a:ext uri="{FF2B5EF4-FFF2-40B4-BE49-F238E27FC236}">
                <a16:creationId xmlns:a16="http://schemas.microsoft.com/office/drawing/2014/main" id="{F54030B6-25F4-7E04-8DF6-F21931B64C94}"/>
              </a:ext>
            </a:extLst>
          </p:cNvPr>
          <p:cNvSpPr txBox="1"/>
          <p:nvPr/>
        </p:nvSpPr>
        <p:spPr>
          <a:xfrm>
            <a:off x="988822" y="4937252"/>
            <a:ext cx="191770" cy="299720"/>
          </a:xfrm>
          <a:prstGeom prst="rect">
            <a:avLst/>
          </a:prstGeom>
        </p:spPr>
        <p:txBody>
          <a:bodyPr vert="horz" wrap="square" lIns="0" tIns="12700" rIns="0" bIns="0" rtlCol="0">
            <a:spAutoFit/>
          </a:bodyPr>
          <a:lstStyle/>
          <a:p>
            <a:pPr marL="12700" rtl="0">
              <a:spcBef>
                <a:spcPts val="100"/>
              </a:spcBef>
            </a:pPr>
            <a:r>
              <a:rPr lang="en-US" altLang="zh-CN" kern="1200" spc="600" dirty="0">
                <a:solidFill>
                  <a:srgbClr val="FF0000"/>
                </a:solidFill>
                <a:latin typeface="Cambria Math"/>
                <a:cs typeface="Cambria Math"/>
              </a:rPr>
              <a:t>+</a:t>
            </a:r>
            <a:endParaRPr kern="1200" dirty="0">
              <a:solidFill>
                <a:prstClr val="black"/>
              </a:solidFill>
              <a:latin typeface="Cambria Math"/>
              <a:cs typeface="Cambria Math"/>
            </a:endParaRPr>
          </a:p>
        </p:txBody>
      </p:sp>
      <p:sp>
        <p:nvSpPr>
          <p:cNvPr id="28" name="object 13">
            <a:extLst>
              <a:ext uri="{FF2B5EF4-FFF2-40B4-BE49-F238E27FC236}">
                <a16:creationId xmlns:a16="http://schemas.microsoft.com/office/drawing/2014/main" id="{3DC53B23-68C9-5392-C003-B6BBC7A3575C}"/>
              </a:ext>
            </a:extLst>
          </p:cNvPr>
          <p:cNvSpPr txBox="1"/>
          <p:nvPr/>
        </p:nvSpPr>
        <p:spPr>
          <a:xfrm>
            <a:off x="707390" y="5098796"/>
            <a:ext cx="5648960" cy="391160"/>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3204" algn="l"/>
              </a:tabLst>
            </a:pPr>
            <a:r>
              <a:rPr sz="2400" kern="1200" dirty="0">
                <a:solidFill>
                  <a:srgbClr val="FF0000"/>
                </a:solidFill>
                <a:latin typeface="Cambria Math"/>
                <a:cs typeface="Cambria Math"/>
              </a:rPr>
              <a:t>⇒</a:t>
            </a:r>
            <a:r>
              <a:rPr sz="2400" kern="1200" spc="60" dirty="0">
                <a:solidFill>
                  <a:srgbClr val="FF0000"/>
                </a:solidFill>
                <a:latin typeface="Cambria Math"/>
                <a:cs typeface="Cambria Math"/>
              </a:rPr>
              <a:t> </a:t>
            </a:r>
            <a:r>
              <a:rPr sz="2400" kern="1200" dirty="0">
                <a:solidFill>
                  <a:prstClr val="black"/>
                </a:solidFill>
                <a:latin typeface="Palatino Linotype"/>
                <a:cs typeface="Palatino Linotype"/>
              </a:rPr>
              <a:t>means</a:t>
            </a:r>
            <a:r>
              <a:rPr sz="2400" kern="1200" spc="-15" dirty="0">
                <a:solidFill>
                  <a:prstClr val="black"/>
                </a:solidFill>
                <a:latin typeface="Palatino Linotype"/>
                <a:cs typeface="Palatino Linotype"/>
              </a:rPr>
              <a:t> </a:t>
            </a:r>
            <a:r>
              <a:rPr sz="2400" kern="1200" spc="-10" dirty="0">
                <a:solidFill>
                  <a:prstClr val="black"/>
                </a:solidFill>
                <a:latin typeface="Palatino Linotype"/>
                <a:cs typeface="Palatino Linotype"/>
              </a:rPr>
              <a:t>“</a:t>
            </a:r>
            <a:r>
              <a:rPr sz="2400" kern="1200" spc="-10" dirty="0">
                <a:solidFill>
                  <a:srgbClr val="0432FF"/>
                </a:solidFill>
                <a:latin typeface="Palatino Linotype"/>
                <a:cs typeface="Palatino Linotype"/>
              </a:rPr>
              <a:t>derives </a:t>
            </a:r>
            <a:r>
              <a:rPr sz="2400" kern="1200" dirty="0">
                <a:solidFill>
                  <a:srgbClr val="0432FF"/>
                </a:solidFill>
                <a:latin typeface="Palatino Linotype"/>
                <a:cs typeface="Palatino Linotype"/>
              </a:rPr>
              <a:t>in</a:t>
            </a:r>
            <a:r>
              <a:rPr sz="2400" kern="1200" spc="-10" dirty="0">
                <a:solidFill>
                  <a:srgbClr val="0432FF"/>
                </a:solidFill>
                <a:latin typeface="Palatino Linotype"/>
                <a:cs typeface="Palatino Linotype"/>
              </a:rPr>
              <a:t> </a:t>
            </a:r>
            <a:r>
              <a:rPr sz="2400" kern="1200" dirty="0">
                <a:solidFill>
                  <a:srgbClr val="0432FF"/>
                </a:solidFill>
                <a:latin typeface="Palatino Linotype"/>
                <a:cs typeface="Palatino Linotype"/>
              </a:rPr>
              <a:t>one</a:t>
            </a:r>
            <a:r>
              <a:rPr sz="2400" kern="1200" spc="-10" dirty="0">
                <a:solidFill>
                  <a:srgbClr val="0432FF"/>
                </a:solidFill>
                <a:latin typeface="Palatino Linotype"/>
                <a:cs typeface="Palatino Linotype"/>
              </a:rPr>
              <a:t> </a:t>
            </a:r>
            <a:r>
              <a:rPr sz="2400" kern="1200" dirty="0">
                <a:solidFill>
                  <a:srgbClr val="0432FF"/>
                </a:solidFill>
                <a:latin typeface="Palatino Linotype"/>
                <a:cs typeface="Palatino Linotype"/>
              </a:rPr>
              <a:t>or</a:t>
            </a:r>
            <a:r>
              <a:rPr sz="2400" kern="1200" spc="-5" dirty="0">
                <a:solidFill>
                  <a:srgbClr val="0432FF"/>
                </a:solidFill>
                <a:latin typeface="Palatino Linotype"/>
                <a:cs typeface="Palatino Linotype"/>
              </a:rPr>
              <a:t> </a:t>
            </a:r>
            <a:r>
              <a:rPr sz="2400" kern="1200" dirty="0">
                <a:solidFill>
                  <a:srgbClr val="0432FF"/>
                </a:solidFill>
                <a:latin typeface="Palatino Linotype"/>
                <a:cs typeface="Palatino Linotype"/>
              </a:rPr>
              <a:t>more</a:t>
            </a:r>
            <a:r>
              <a:rPr sz="2400" kern="1200" spc="-10" dirty="0">
                <a:solidFill>
                  <a:srgbClr val="0432FF"/>
                </a:solidFill>
                <a:latin typeface="Palatino Linotype"/>
                <a:cs typeface="Palatino Linotype"/>
              </a:rPr>
              <a:t> </a:t>
            </a:r>
            <a:r>
              <a:rPr sz="2400" kern="1200" spc="-5" dirty="0">
                <a:solidFill>
                  <a:srgbClr val="0432FF"/>
                </a:solidFill>
                <a:latin typeface="Palatino Linotype"/>
                <a:cs typeface="Palatino Linotype"/>
              </a:rPr>
              <a:t>steps</a:t>
            </a:r>
            <a:r>
              <a:rPr sz="2400" kern="1200" spc="-5" dirty="0">
                <a:solidFill>
                  <a:prstClr val="black"/>
                </a:solidFill>
                <a:latin typeface="Palatino Linotype"/>
                <a:cs typeface="Palatino Linotype"/>
              </a:rPr>
              <a:t>”</a:t>
            </a:r>
            <a:endParaRPr sz="2400" kern="1200">
              <a:solidFill>
                <a:prstClr val="black"/>
              </a:solidFill>
              <a:latin typeface="Palatino Linotype"/>
              <a:cs typeface="Palatino Linotype"/>
            </a:endParaRPr>
          </a:p>
        </p:txBody>
      </p:sp>
    </p:spTree>
    <p:extLst>
      <p:ext uri="{BB962C8B-B14F-4D97-AF65-F5344CB8AC3E}">
        <p14:creationId xmlns:p14="http://schemas.microsoft.com/office/powerpoint/2010/main" val="4130508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a:t>
            </a:fld>
            <a:endParaRPr lang="en-US"/>
          </a:p>
        </p:txBody>
      </p:sp>
      <p:sp>
        <p:nvSpPr>
          <p:cNvPr id="12" name="object 2">
            <a:extLst>
              <a:ext uri="{FF2B5EF4-FFF2-40B4-BE49-F238E27FC236}">
                <a16:creationId xmlns:a16="http://schemas.microsoft.com/office/drawing/2014/main" id="{89AACFEB-927E-8CC5-8CF2-24FAD8C1F217}"/>
              </a:ext>
            </a:extLst>
          </p:cNvPr>
          <p:cNvSpPr txBox="1">
            <a:spLocks/>
          </p:cNvSpPr>
          <p:nvPr/>
        </p:nvSpPr>
        <p:spPr>
          <a:xfrm>
            <a:off x="707390" y="524763"/>
            <a:ext cx="33686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30" normalizeH="0" baseline="0" noProof="0">
                <a:ln>
                  <a:noFill/>
                </a:ln>
                <a:solidFill>
                  <a:sysClr val="windowText" lastClr="000000"/>
                </a:solidFill>
                <a:effectLst/>
                <a:uLnTx/>
                <a:uFillTx/>
                <a:latin typeface="Palatino Linotype"/>
                <a:ea typeface="+mj-ea"/>
              </a:rPr>
              <a:t>Terminologies</a:t>
            </a:r>
            <a:endParaRPr kumimoji="0" lang="en-US" sz="4000" b="1" i="0" u="none" strike="noStrike" kern="0" cap="none" spc="-30" normalizeH="0" baseline="0" noProof="0" dirty="0">
              <a:ln>
                <a:noFill/>
              </a:ln>
              <a:solidFill>
                <a:sysClr val="windowText" lastClr="000000"/>
              </a:solidFill>
              <a:effectLst/>
              <a:uLnTx/>
              <a:uFillTx/>
              <a:latin typeface="Palatino Linotype"/>
              <a:ea typeface="+mj-ea"/>
            </a:endParaRPr>
          </a:p>
        </p:txBody>
      </p:sp>
      <p:sp>
        <p:nvSpPr>
          <p:cNvPr id="13" name="object 3">
            <a:extLst>
              <a:ext uri="{FF2B5EF4-FFF2-40B4-BE49-F238E27FC236}">
                <a16:creationId xmlns:a16="http://schemas.microsoft.com/office/drawing/2014/main" id="{67509052-76FC-30CD-A16C-288627DAC4CC}"/>
              </a:ext>
            </a:extLst>
          </p:cNvPr>
          <p:cNvSpPr txBox="1"/>
          <p:nvPr/>
        </p:nvSpPr>
        <p:spPr>
          <a:xfrm>
            <a:off x="1433067" y="1585976"/>
            <a:ext cx="117475" cy="254000"/>
          </a:xfrm>
          <a:prstGeom prst="rect">
            <a:avLst/>
          </a:prstGeom>
        </p:spPr>
        <p:txBody>
          <a:bodyPr vert="horz" wrap="square" lIns="0" tIns="12700" rIns="0" bIns="0" rtlCol="0">
            <a:spAutoFit/>
          </a:bodyPr>
          <a:lstStyle/>
          <a:p>
            <a:pPr marL="12700" rtl="0">
              <a:spcBef>
                <a:spcPts val="100"/>
              </a:spcBef>
            </a:pPr>
            <a:r>
              <a:rPr sz="1500" kern="1200" dirty="0">
                <a:solidFill>
                  <a:prstClr val="black"/>
                </a:solidFill>
                <a:latin typeface="Cambria Math"/>
                <a:cs typeface="Cambria Math"/>
              </a:rPr>
              <a:t>∗</a:t>
            </a:r>
            <a:endParaRPr sz="1500" kern="1200">
              <a:solidFill>
                <a:prstClr val="black"/>
              </a:solidFill>
              <a:latin typeface="Cambria Math"/>
              <a:cs typeface="Cambria Math"/>
            </a:endParaRPr>
          </a:p>
        </p:txBody>
      </p:sp>
      <p:sp>
        <p:nvSpPr>
          <p:cNvPr id="14" name="object 4">
            <a:extLst>
              <a:ext uri="{FF2B5EF4-FFF2-40B4-BE49-F238E27FC236}">
                <a16:creationId xmlns:a16="http://schemas.microsoft.com/office/drawing/2014/main" id="{84178871-B9D0-AB6E-9A1A-76699021BA26}"/>
              </a:ext>
            </a:extLst>
          </p:cNvPr>
          <p:cNvSpPr txBox="1"/>
          <p:nvPr/>
        </p:nvSpPr>
        <p:spPr>
          <a:xfrm>
            <a:off x="707390" y="1644396"/>
            <a:ext cx="7719059" cy="1203325"/>
          </a:xfrm>
          <a:prstGeom prst="rect">
            <a:avLst/>
          </a:prstGeom>
        </p:spPr>
        <p:txBody>
          <a:bodyPr vert="horz" wrap="square" lIns="0" tIns="88900" rIns="0" bIns="0" rtlCol="0">
            <a:spAutoFit/>
          </a:bodyPr>
          <a:lstStyle/>
          <a:p>
            <a:pPr marL="243204" indent="-230504" rtl="0">
              <a:spcBef>
                <a:spcPts val="700"/>
              </a:spcBef>
              <a:buFont typeface="Arial MT"/>
              <a:buChar char="•"/>
              <a:tabLst>
                <a:tab pos="242570" algn="l"/>
                <a:tab pos="243204" algn="l"/>
              </a:tabLst>
            </a:pPr>
            <a:r>
              <a:rPr sz="2000" kern="1200" dirty="0">
                <a:solidFill>
                  <a:prstClr val="black"/>
                </a:solidFill>
                <a:latin typeface="Palatino Linotype"/>
                <a:cs typeface="Palatino Linotype"/>
              </a:rPr>
              <a:t>If</a:t>
            </a:r>
            <a:r>
              <a:rPr sz="2000" kern="1200" spc="-10" dirty="0">
                <a:solidFill>
                  <a:prstClr val="black"/>
                </a:solidFill>
                <a:latin typeface="Palatino Linotype"/>
                <a:cs typeface="Palatino Linotype"/>
              </a:rPr>
              <a:t> </a:t>
            </a:r>
            <a:r>
              <a:rPr sz="2000" kern="1200" dirty="0">
                <a:solidFill>
                  <a:prstClr val="black"/>
                </a:solidFill>
                <a:latin typeface="Cambria Math"/>
                <a:cs typeface="Cambria Math"/>
              </a:rPr>
              <a:t>𝑆</a:t>
            </a:r>
            <a:r>
              <a:rPr sz="2000" kern="1200" spc="45" dirty="0">
                <a:solidFill>
                  <a:prstClr val="black"/>
                </a:solidFill>
                <a:latin typeface="Cambria Math"/>
                <a:cs typeface="Cambria Math"/>
              </a:rPr>
              <a:t> </a:t>
            </a:r>
            <a:r>
              <a:rPr sz="2000" kern="1200" dirty="0">
                <a:solidFill>
                  <a:prstClr val="black"/>
                </a:solidFill>
                <a:latin typeface="Cambria Math"/>
                <a:cs typeface="Cambria Math"/>
              </a:rPr>
              <a:t>⇒ </a:t>
            </a:r>
            <a:r>
              <a:rPr sz="2000" kern="1200" spc="30" dirty="0">
                <a:solidFill>
                  <a:prstClr val="black"/>
                </a:solidFill>
                <a:latin typeface="Cambria Math"/>
                <a:cs typeface="Cambria Math"/>
              </a:rPr>
              <a:t>𝛼</a:t>
            </a:r>
            <a:r>
              <a:rPr sz="2000" kern="1200" spc="30"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where</a:t>
            </a:r>
            <a:r>
              <a:rPr sz="2000" kern="1200" dirty="0">
                <a:solidFill>
                  <a:prstClr val="black"/>
                </a:solidFill>
                <a:latin typeface="Palatino Linotype"/>
                <a:cs typeface="Palatino Linotype"/>
              </a:rPr>
              <a:t> </a:t>
            </a:r>
            <a:r>
              <a:rPr sz="2000" i="1" kern="1200" dirty="0">
                <a:solidFill>
                  <a:prstClr val="black"/>
                </a:solidFill>
                <a:latin typeface="Palatino Linotype"/>
                <a:cs typeface="Palatino Linotype"/>
              </a:rPr>
              <a:t>S </a:t>
            </a:r>
            <a:r>
              <a:rPr sz="2000" kern="1200" dirty="0">
                <a:solidFill>
                  <a:prstClr val="black"/>
                </a:solidFill>
                <a:latin typeface="Palatino Linotype"/>
                <a:cs typeface="Palatino Linotype"/>
              </a:rPr>
              <a:t>is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start symbol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of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grammar </a:t>
            </a:r>
            <a:r>
              <a:rPr sz="2000" i="1" kern="1200" dirty="0">
                <a:solidFill>
                  <a:prstClr val="black"/>
                </a:solidFill>
                <a:latin typeface="Palatino Linotype"/>
                <a:cs typeface="Palatino Linotype"/>
              </a:rPr>
              <a:t>G</a:t>
            </a:r>
            <a:r>
              <a:rPr sz="2000" kern="1200" dirty="0">
                <a:solidFill>
                  <a:prstClr val="black"/>
                </a:solidFill>
                <a:latin typeface="Palatino Linotype"/>
                <a:cs typeface="Palatino Linotype"/>
              </a:rPr>
              <a:t>, </a:t>
            </a:r>
            <a:r>
              <a:rPr sz="2000" kern="1200" spc="-20" dirty="0">
                <a:solidFill>
                  <a:prstClr val="black"/>
                </a:solidFill>
                <a:latin typeface="Palatino Linotype"/>
                <a:cs typeface="Palatino Linotype"/>
              </a:rPr>
              <a:t>we</a:t>
            </a:r>
            <a:r>
              <a:rPr sz="2000" kern="1200" dirty="0">
                <a:solidFill>
                  <a:prstClr val="black"/>
                </a:solidFill>
                <a:latin typeface="Palatino Linotype"/>
                <a:cs typeface="Palatino Linotype"/>
              </a:rPr>
              <a:t> say </a:t>
            </a:r>
            <a:r>
              <a:rPr sz="2000" kern="1200" spc="-5" dirty="0">
                <a:solidFill>
                  <a:prstClr val="black"/>
                </a:solidFill>
                <a:latin typeface="Palatino Linotype"/>
                <a:cs typeface="Palatino Linotype"/>
              </a:rPr>
              <a:t>that </a:t>
            </a:r>
            <a:r>
              <a:rPr sz="2000" kern="1200" dirty="0">
                <a:solidFill>
                  <a:prstClr val="black"/>
                </a:solidFill>
                <a:latin typeface="Cambria Math"/>
                <a:cs typeface="Cambria Math"/>
              </a:rPr>
              <a:t>𝛼</a:t>
            </a:r>
          </a:p>
          <a:p>
            <a:pPr marL="242570" rtl="0">
              <a:spcBef>
                <a:spcPts val="600"/>
              </a:spcBef>
            </a:pPr>
            <a:r>
              <a:rPr sz="2000" kern="1200" dirty="0">
                <a:solidFill>
                  <a:prstClr val="black"/>
                </a:solidFill>
                <a:latin typeface="Palatino Linotype"/>
                <a:cs typeface="Palatino Linotype"/>
              </a:rPr>
              <a:t>is</a:t>
            </a:r>
            <a:r>
              <a:rPr sz="2000" kern="1200" spc="-10" dirty="0">
                <a:solidFill>
                  <a:prstClr val="black"/>
                </a:solidFill>
                <a:latin typeface="Palatino Linotype"/>
                <a:cs typeface="Palatino Linotype"/>
              </a:rPr>
              <a:t> </a:t>
            </a:r>
            <a:r>
              <a:rPr sz="2000" b="1" i="1" kern="1200" spc="-5" dirty="0">
                <a:solidFill>
                  <a:srgbClr val="FF0000"/>
                </a:solidFill>
                <a:latin typeface="Palatino Linotype"/>
                <a:cs typeface="Palatino Linotype"/>
              </a:rPr>
              <a:t>sentential</a:t>
            </a:r>
            <a:r>
              <a:rPr sz="2000" b="1" i="1" kern="1200" spc="-15" dirty="0">
                <a:solidFill>
                  <a:srgbClr val="FF0000"/>
                </a:solidFill>
                <a:latin typeface="Palatino Linotype"/>
                <a:cs typeface="Palatino Linotype"/>
              </a:rPr>
              <a:t> </a:t>
            </a:r>
            <a:r>
              <a:rPr sz="2000" b="1" i="1" kern="1200" spc="-5" dirty="0">
                <a:solidFill>
                  <a:srgbClr val="FF0000"/>
                </a:solidFill>
                <a:latin typeface="Palatino Linotype"/>
                <a:cs typeface="Palatino Linotype"/>
              </a:rPr>
              <a:t>form</a:t>
            </a:r>
            <a:r>
              <a:rPr sz="2000" b="1" i="1" kern="1200" spc="480" dirty="0">
                <a:solidFill>
                  <a:srgbClr val="FF0000"/>
                </a:solidFill>
                <a:latin typeface="Palatino Linotype"/>
                <a:cs typeface="Palatino Linotype"/>
              </a:rPr>
              <a:t> </a:t>
            </a:r>
            <a:r>
              <a:rPr sz="2000" kern="1200" spc="-5" dirty="0">
                <a:solidFill>
                  <a:prstClr val="black"/>
                </a:solidFill>
                <a:latin typeface="Palatino Linotype"/>
                <a:cs typeface="Palatino Linotype"/>
              </a:rPr>
              <a:t>of</a:t>
            </a:r>
            <a:r>
              <a:rPr sz="2000" kern="1200" spc="-15" dirty="0">
                <a:solidFill>
                  <a:prstClr val="black"/>
                </a:solidFill>
                <a:latin typeface="Palatino Linotype"/>
                <a:cs typeface="Palatino Linotype"/>
              </a:rPr>
              <a:t> </a:t>
            </a:r>
            <a:r>
              <a:rPr sz="2000" i="1" kern="1200" dirty="0">
                <a:solidFill>
                  <a:prstClr val="black"/>
                </a:solidFill>
                <a:latin typeface="Palatino Linotype"/>
                <a:cs typeface="Palatino Linotype"/>
              </a:rPr>
              <a:t>G </a:t>
            </a:r>
            <a:r>
              <a:rPr sz="2000" kern="1200" spc="-5" dirty="0">
                <a:solidFill>
                  <a:srgbClr val="FF0000"/>
                </a:solidFill>
                <a:latin typeface="Palatino Linotype"/>
                <a:cs typeface="Palatino Linotype"/>
              </a:rPr>
              <a:t>(</a:t>
            </a:r>
            <a:r>
              <a:rPr sz="2925" kern="1200" spc="89" baseline="1424" dirty="0">
                <a:solidFill>
                  <a:srgbClr val="FF0000"/>
                </a:solidFill>
                <a:latin typeface="SimSun"/>
                <a:cs typeface="SimSun"/>
              </a:rPr>
              <a:t>文法的句型</a:t>
            </a:r>
            <a:r>
              <a:rPr sz="2000" kern="1200" dirty="0">
                <a:solidFill>
                  <a:srgbClr val="FF0000"/>
                </a:solidFill>
                <a:latin typeface="Palatino Linotype"/>
                <a:cs typeface="Palatino Linotype"/>
              </a:rPr>
              <a:t>)</a:t>
            </a:r>
            <a:endParaRPr sz="2000" kern="1200" dirty="0">
              <a:solidFill>
                <a:prstClr val="black"/>
              </a:solidFill>
              <a:latin typeface="Palatino Linotype"/>
              <a:cs typeface="Palatino Linotype"/>
            </a:endParaRPr>
          </a:p>
          <a:p>
            <a:pPr marL="698500" lvl="1" indent="-228600" rtl="0">
              <a:spcBef>
                <a:spcPts val="1110"/>
              </a:spcBef>
              <a:buFont typeface="Wingdings"/>
              <a:buChar char=""/>
              <a:tabLst>
                <a:tab pos="698500" algn="l"/>
              </a:tabLst>
            </a:pPr>
            <a:r>
              <a:rPr kern="1200" spc="-5" dirty="0">
                <a:solidFill>
                  <a:prstClr val="black"/>
                </a:solidFill>
                <a:latin typeface="Palatino Linotype"/>
                <a:cs typeface="Palatino Linotype"/>
              </a:rPr>
              <a:t>May </a:t>
            </a:r>
            <a:r>
              <a:rPr kern="1200" dirty="0">
                <a:solidFill>
                  <a:prstClr val="black"/>
                </a:solidFill>
                <a:latin typeface="Palatino Linotype"/>
                <a:cs typeface="Palatino Linotype"/>
              </a:rPr>
              <a:t>contain both </a:t>
            </a:r>
            <a:r>
              <a:rPr kern="1200" spc="-5" dirty="0">
                <a:solidFill>
                  <a:prstClr val="black"/>
                </a:solidFill>
                <a:latin typeface="Palatino Linotype"/>
                <a:cs typeface="Palatino Linotype"/>
              </a:rPr>
              <a:t>terminals</a:t>
            </a:r>
            <a:r>
              <a:rPr kern="1200" dirty="0">
                <a:solidFill>
                  <a:prstClr val="black"/>
                </a:solidFill>
                <a:latin typeface="Palatino Linotype"/>
                <a:cs typeface="Palatino Linotype"/>
              </a:rPr>
              <a:t> and </a:t>
            </a:r>
            <a:r>
              <a:rPr kern="1200" spc="-5" dirty="0">
                <a:solidFill>
                  <a:prstClr val="black"/>
                </a:solidFill>
                <a:latin typeface="Palatino Linotype"/>
                <a:cs typeface="Palatino Linotype"/>
              </a:rPr>
              <a:t>nonterminals,</a:t>
            </a:r>
            <a:r>
              <a:rPr kern="1200" dirty="0">
                <a:solidFill>
                  <a:prstClr val="black"/>
                </a:solidFill>
                <a:latin typeface="Palatino Linotype"/>
                <a:cs typeface="Palatino Linotype"/>
              </a:rPr>
              <a:t> and</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may </a:t>
            </a:r>
            <a:r>
              <a:rPr kern="1200" dirty="0">
                <a:solidFill>
                  <a:prstClr val="black"/>
                </a:solidFill>
                <a:latin typeface="Palatino Linotype"/>
                <a:cs typeface="Palatino Linotype"/>
              </a:rPr>
              <a:t>be empty</a:t>
            </a:r>
          </a:p>
        </p:txBody>
      </p:sp>
      <p:sp>
        <p:nvSpPr>
          <p:cNvPr id="15" name="object 5">
            <a:extLst>
              <a:ext uri="{FF2B5EF4-FFF2-40B4-BE49-F238E27FC236}">
                <a16:creationId xmlns:a16="http://schemas.microsoft.com/office/drawing/2014/main" id="{ECD13AAD-DA97-4235-047F-BF6E528CFEBE}"/>
              </a:ext>
            </a:extLst>
          </p:cNvPr>
          <p:cNvSpPr/>
          <p:nvPr/>
        </p:nvSpPr>
        <p:spPr>
          <a:xfrm>
            <a:off x="3737825" y="3024184"/>
            <a:ext cx="301625" cy="212090"/>
          </a:xfrm>
          <a:custGeom>
            <a:avLst/>
            <a:gdLst/>
            <a:ahLst/>
            <a:cxnLst/>
            <a:rect l="l" t="t" r="r" b="b"/>
            <a:pathLst>
              <a:path w="301625" h="212089">
                <a:moveTo>
                  <a:pt x="233861" y="0"/>
                </a:moveTo>
                <a:lnTo>
                  <a:pt x="230847" y="8595"/>
                </a:lnTo>
                <a:lnTo>
                  <a:pt x="243104" y="13914"/>
                </a:lnTo>
                <a:lnTo>
                  <a:pt x="253645" y="21277"/>
                </a:lnTo>
                <a:lnTo>
                  <a:pt x="275049" y="55409"/>
                </a:lnTo>
                <a:lnTo>
                  <a:pt x="282080" y="104811"/>
                </a:lnTo>
                <a:lnTo>
                  <a:pt x="281296" y="123487"/>
                </a:lnTo>
                <a:lnTo>
                  <a:pt x="269524" y="169217"/>
                </a:lnTo>
                <a:lnTo>
                  <a:pt x="243247" y="197806"/>
                </a:lnTo>
                <a:lnTo>
                  <a:pt x="231181" y="203150"/>
                </a:lnTo>
                <a:lnTo>
                  <a:pt x="233861" y="211745"/>
                </a:lnTo>
                <a:lnTo>
                  <a:pt x="274317" y="187708"/>
                </a:lnTo>
                <a:lnTo>
                  <a:pt x="297038" y="143335"/>
                </a:lnTo>
                <a:lnTo>
                  <a:pt x="301391" y="105928"/>
                </a:lnTo>
                <a:lnTo>
                  <a:pt x="300299" y="86516"/>
                </a:lnTo>
                <a:lnTo>
                  <a:pt x="283923" y="37114"/>
                </a:lnTo>
                <a:lnTo>
                  <a:pt x="249212" y="5542"/>
                </a:lnTo>
                <a:lnTo>
                  <a:pt x="233861" y="0"/>
                </a:lnTo>
                <a:close/>
              </a:path>
              <a:path w="301625" h="212089">
                <a:moveTo>
                  <a:pt x="67530" y="0"/>
                </a:moveTo>
                <a:lnTo>
                  <a:pt x="27148" y="24099"/>
                </a:lnTo>
                <a:lnTo>
                  <a:pt x="4367" y="68577"/>
                </a:lnTo>
                <a:lnTo>
                  <a:pt x="0" y="105928"/>
                </a:lnTo>
                <a:lnTo>
                  <a:pt x="1088" y="125381"/>
                </a:lnTo>
                <a:lnTo>
                  <a:pt x="17412" y="174743"/>
                </a:lnTo>
                <a:lnTo>
                  <a:pt x="52134" y="206209"/>
                </a:lnTo>
                <a:lnTo>
                  <a:pt x="67530" y="211745"/>
                </a:lnTo>
                <a:lnTo>
                  <a:pt x="70209" y="203150"/>
                </a:lnTo>
                <a:lnTo>
                  <a:pt x="58144" y="197806"/>
                </a:lnTo>
                <a:lnTo>
                  <a:pt x="47732" y="190369"/>
                </a:lnTo>
                <a:lnTo>
                  <a:pt x="26374" y="155690"/>
                </a:lnTo>
                <a:lnTo>
                  <a:pt x="19310" y="104811"/>
                </a:lnTo>
                <a:lnTo>
                  <a:pt x="20095" y="86747"/>
                </a:lnTo>
                <a:lnTo>
                  <a:pt x="31868" y="42137"/>
                </a:lnTo>
                <a:lnTo>
                  <a:pt x="58332" y="13914"/>
                </a:lnTo>
                <a:lnTo>
                  <a:pt x="70544" y="8595"/>
                </a:lnTo>
                <a:lnTo>
                  <a:pt x="67530"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6">
            <a:extLst>
              <a:ext uri="{FF2B5EF4-FFF2-40B4-BE49-F238E27FC236}">
                <a16:creationId xmlns:a16="http://schemas.microsoft.com/office/drawing/2014/main" id="{B102252B-E894-2563-8C5B-F4D35C2240DC}"/>
              </a:ext>
            </a:extLst>
          </p:cNvPr>
          <p:cNvSpPr/>
          <p:nvPr/>
        </p:nvSpPr>
        <p:spPr>
          <a:xfrm>
            <a:off x="4576279" y="3024184"/>
            <a:ext cx="726440" cy="212090"/>
          </a:xfrm>
          <a:custGeom>
            <a:avLst/>
            <a:gdLst/>
            <a:ahLst/>
            <a:cxnLst/>
            <a:rect l="l" t="t" r="r" b="b"/>
            <a:pathLst>
              <a:path w="726439" h="212089">
                <a:moveTo>
                  <a:pt x="658740" y="0"/>
                </a:moveTo>
                <a:lnTo>
                  <a:pt x="655726" y="8595"/>
                </a:lnTo>
                <a:lnTo>
                  <a:pt x="667983" y="13914"/>
                </a:lnTo>
                <a:lnTo>
                  <a:pt x="678524" y="21277"/>
                </a:lnTo>
                <a:lnTo>
                  <a:pt x="699927" y="55409"/>
                </a:lnTo>
                <a:lnTo>
                  <a:pt x="706959" y="104811"/>
                </a:lnTo>
                <a:lnTo>
                  <a:pt x="706174" y="123487"/>
                </a:lnTo>
                <a:lnTo>
                  <a:pt x="694402" y="169217"/>
                </a:lnTo>
                <a:lnTo>
                  <a:pt x="668125" y="197806"/>
                </a:lnTo>
                <a:lnTo>
                  <a:pt x="656060" y="203150"/>
                </a:lnTo>
                <a:lnTo>
                  <a:pt x="658740" y="211745"/>
                </a:lnTo>
                <a:lnTo>
                  <a:pt x="699195" y="187708"/>
                </a:lnTo>
                <a:lnTo>
                  <a:pt x="721916" y="143335"/>
                </a:lnTo>
                <a:lnTo>
                  <a:pt x="726269" y="105928"/>
                </a:lnTo>
                <a:lnTo>
                  <a:pt x="725178" y="86516"/>
                </a:lnTo>
                <a:lnTo>
                  <a:pt x="708802" y="37114"/>
                </a:lnTo>
                <a:lnTo>
                  <a:pt x="674091" y="5542"/>
                </a:lnTo>
                <a:lnTo>
                  <a:pt x="658740" y="0"/>
                </a:lnTo>
                <a:close/>
              </a:path>
              <a:path w="726439" h="212089">
                <a:moveTo>
                  <a:pt x="67530" y="0"/>
                </a:moveTo>
                <a:lnTo>
                  <a:pt x="27148" y="24099"/>
                </a:lnTo>
                <a:lnTo>
                  <a:pt x="4367" y="68577"/>
                </a:lnTo>
                <a:lnTo>
                  <a:pt x="0" y="105928"/>
                </a:lnTo>
                <a:lnTo>
                  <a:pt x="1088" y="125381"/>
                </a:lnTo>
                <a:lnTo>
                  <a:pt x="17412" y="174743"/>
                </a:lnTo>
                <a:lnTo>
                  <a:pt x="52134" y="206209"/>
                </a:lnTo>
                <a:lnTo>
                  <a:pt x="67530" y="211745"/>
                </a:lnTo>
                <a:lnTo>
                  <a:pt x="70209" y="203150"/>
                </a:lnTo>
                <a:lnTo>
                  <a:pt x="58144" y="197806"/>
                </a:lnTo>
                <a:lnTo>
                  <a:pt x="47732" y="190369"/>
                </a:lnTo>
                <a:lnTo>
                  <a:pt x="26374" y="155690"/>
                </a:lnTo>
                <a:lnTo>
                  <a:pt x="19310" y="104811"/>
                </a:lnTo>
                <a:lnTo>
                  <a:pt x="20095" y="86747"/>
                </a:lnTo>
                <a:lnTo>
                  <a:pt x="31868" y="42137"/>
                </a:lnTo>
                <a:lnTo>
                  <a:pt x="58332" y="13914"/>
                </a:lnTo>
                <a:lnTo>
                  <a:pt x="70544" y="8595"/>
                </a:lnTo>
                <a:lnTo>
                  <a:pt x="67530"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7" name="object 7">
            <a:extLst>
              <a:ext uri="{FF2B5EF4-FFF2-40B4-BE49-F238E27FC236}">
                <a16:creationId xmlns:a16="http://schemas.microsoft.com/office/drawing/2014/main" id="{07AC5CC8-C398-B8E5-AE2D-14FE42BC9045}"/>
              </a:ext>
            </a:extLst>
          </p:cNvPr>
          <p:cNvSpPr/>
          <p:nvPr/>
        </p:nvSpPr>
        <p:spPr>
          <a:xfrm>
            <a:off x="5839612" y="3024184"/>
            <a:ext cx="789305" cy="212090"/>
          </a:xfrm>
          <a:custGeom>
            <a:avLst/>
            <a:gdLst/>
            <a:ahLst/>
            <a:cxnLst/>
            <a:rect l="l" t="t" r="r" b="b"/>
            <a:pathLst>
              <a:path w="789304" h="212089">
                <a:moveTo>
                  <a:pt x="721222" y="0"/>
                </a:moveTo>
                <a:lnTo>
                  <a:pt x="718209" y="8595"/>
                </a:lnTo>
                <a:lnTo>
                  <a:pt x="730466" y="13914"/>
                </a:lnTo>
                <a:lnTo>
                  <a:pt x="741008" y="21277"/>
                </a:lnTo>
                <a:lnTo>
                  <a:pt x="762411" y="55409"/>
                </a:lnTo>
                <a:lnTo>
                  <a:pt x="769443" y="104811"/>
                </a:lnTo>
                <a:lnTo>
                  <a:pt x="768658" y="123487"/>
                </a:lnTo>
                <a:lnTo>
                  <a:pt x="756886" y="169217"/>
                </a:lnTo>
                <a:lnTo>
                  <a:pt x="730609" y="197806"/>
                </a:lnTo>
                <a:lnTo>
                  <a:pt x="718544" y="203150"/>
                </a:lnTo>
                <a:lnTo>
                  <a:pt x="721222" y="211745"/>
                </a:lnTo>
                <a:lnTo>
                  <a:pt x="761678" y="187708"/>
                </a:lnTo>
                <a:lnTo>
                  <a:pt x="784400" y="143335"/>
                </a:lnTo>
                <a:lnTo>
                  <a:pt x="788753" y="105928"/>
                </a:lnTo>
                <a:lnTo>
                  <a:pt x="787662" y="86516"/>
                </a:lnTo>
                <a:lnTo>
                  <a:pt x="771284" y="37114"/>
                </a:lnTo>
                <a:lnTo>
                  <a:pt x="736574" y="5542"/>
                </a:lnTo>
                <a:lnTo>
                  <a:pt x="721222" y="0"/>
                </a:lnTo>
                <a:close/>
              </a:path>
              <a:path w="789304" h="212089">
                <a:moveTo>
                  <a:pt x="67530" y="0"/>
                </a:moveTo>
                <a:lnTo>
                  <a:pt x="27148" y="24099"/>
                </a:lnTo>
                <a:lnTo>
                  <a:pt x="4367" y="68577"/>
                </a:lnTo>
                <a:lnTo>
                  <a:pt x="0" y="105928"/>
                </a:lnTo>
                <a:lnTo>
                  <a:pt x="1088" y="125381"/>
                </a:lnTo>
                <a:lnTo>
                  <a:pt x="17412" y="174743"/>
                </a:lnTo>
                <a:lnTo>
                  <a:pt x="52134" y="206209"/>
                </a:lnTo>
                <a:lnTo>
                  <a:pt x="67530" y="211745"/>
                </a:lnTo>
                <a:lnTo>
                  <a:pt x="70209" y="203150"/>
                </a:lnTo>
                <a:lnTo>
                  <a:pt x="58144" y="197806"/>
                </a:lnTo>
                <a:lnTo>
                  <a:pt x="47732" y="190369"/>
                </a:lnTo>
                <a:lnTo>
                  <a:pt x="26374" y="155690"/>
                </a:lnTo>
                <a:lnTo>
                  <a:pt x="19310" y="104811"/>
                </a:lnTo>
                <a:lnTo>
                  <a:pt x="20095" y="86747"/>
                </a:lnTo>
                <a:lnTo>
                  <a:pt x="31868" y="42137"/>
                </a:lnTo>
                <a:lnTo>
                  <a:pt x="58332" y="13914"/>
                </a:lnTo>
                <a:lnTo>
                  <a:pt x="70544" y="8595"/>
                </a:lnTo>
                <a:lnTo>
                  <a:pt x="67530"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8">
            <a:extLst>
              <a:ext uri="{FF2B5EF4-FFF2-40B4-BE49-F238E27FC236}">
                <a16:creationId xmlns:a16="http://schemas.microsoft.com/office/drawing/2014/main" id="{BEF83D71-CA13-D087-CEF9-58A182527272}"/>
              </a:ext>
            </a:extLst>
          </p:cNvPr>
          <p:cNvSpPr txBox="1"/>
          <p:nvPr/>
        </p:nvSpPr>
        <p:spPr>
          <a:xfrm>
            <a:off x="707390" y="2895091"/>
            <a:ext cx="7407909" cy="2585085"/>
          </a:xfrm>
          <a:prstGeom prst="rect">
            <a:avLst/>
          </a:prstGeom>
        </p:spPr>
        <p:txBody>
          <a:bodyPr vert="horz" wrap="square" lIns="0" tIns="12700" rIns="0" bIns="0" rtlCol="0">
            <a:spAutoFit/>
          </a:bodyPr>
          <a:lstStyle/>
          <a:p>
            <a:pPr marL="698500" marR="12065" indent="-228600" rtl="0">
              <a:lnSpc>
                <a:spcPct val="121100"/>
              </a:lnSpc>
              <a:spcBef>
                <a:spcPts val="100"/>
              </a:spcBef>
              <a:buClr>
                <a:srgbClr val="000000"/>
              </a:buClr>
              <a:buFont typeface="Wingdings"/>
              <a:buChar char=""/>
              <a:tabLst>
                <a:tab pos="698500" algn="l"/>
                <a:tab pos="3415029" algn="l"/>
                <a:tab pos="4678680" algn="l"/>
                <a:tab pos="6003925" algn="l"/>
              </a:tabLst>
            </a:pPr>
            <a:r>
              <a:rPr b="1" kern="1200" spc="-5" dirty="0">
                <a:solidFill>
                  <a:srgbClr val="0432FF"/>
                </a:solidFill>
                <a:latin typeface="Palatino Linotype"/>
                <a:cs typeface="Palatino Linotype"/>
              </a:rPr>
              <a:t>Example: </a:t>
            </a:r>
            <a:r>
              <a:rPr kern="1200" dirty="0">
                <a:solidFill>
                  <a:srgbClr val="FF0000"/>
                </a:solidFill>
                <a:latin typeface="Cambria Math"/>
                <a:cs typeface="Cambria Math"/>
              </a:rPr>
              <a:t>𝐸</a:t>
            </a:r>
            <a:r>
              <a:rPr kern="1200" spc="180" dirty="0">
                <a:solidFill>
                  <a:srgbClr val="FF0000"/>
                </a:solidFill>
                <a:latin typeface="Cambria Math"/>
                <a:cs typeface="Cambria Math"/>
              </a:rPr>
              <a:t> </a:t>
            </a:r>
            <a:r>
              <a:rPr kern="1200" dirty="0">
                <a:solidFill>
                  <a:prstClr val="black"/>
                </a:solidFill>
                <a:latin typeface="Cambria Math"/>
                <a:cs typeface="Cambria Math"/>
              </a:rPr>
              <a:t>⇒</a:t>
            </a:r>
            <a:r>
              <a:rPr kern="1200" spc="110" dirty="0">
                <a:solidFill>
                  <a:prstClr val="black"/>
                </a:solidFill>
                <a:latin typeface="Cambria Math"/>
                <a:cs typeface="Cambria Math"/>
              </a:rPr>
              <a:t> </a:t>
            </a:r>
            <a:r>
              <a:rPr kern="1200" dirty="0">
                <a:solidFill>
                  <a:srgbClr val="FF0000"/>
                </a:solidFill>
                <a:latin typeface="Cambria Math"/>
                <a:cs typeface="Cambria Math"/>
              </a:rPr>
              <a:t>−𝐸</a:t>
            </a:r>
            <a:r>
              <a:rPr kern="1200" spc="180" dirty="0">
                <a:solidFill>
                  <a:srgbClr val="FF0000"/>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srgbClr val="FF0000"/>
                </a:solidFill>
                <a:latin typeface="Cambria Math"/>
                <a:cs typeface="Cambria Math"/>
              </a:rPr>
              <a:t>−</a:t>
            </a:r>
            <a:r>
              <a:rPr kern="1200" spc="360" dirty="0">
                <a:solidFill>
                  <a:srgbClr val="FF0000"/>
                </a:solidFill>
                <a:latin typeface="Cambria Math"/>
                <a:cs typeface="Cambria Math"/>
              </a:rPr>
              <a:t> </a:t>
            </a:r>
            <a:r>
              <a:rPr kern="1200" dirty="0">
                <a:solidFill>
                  <a:srgbClr val="FF0000"/>
                </a:solidFill>
                <a:latin typeface="Cambria Math"/>
                <a:cs typeface="Cambria Math"/>
              </a:rPr>
              <a:t>𝐸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srgbClr val="FF0000"/>
                </a:solidFill>
                <a:latin typeface="Cambria Math"/>
                <a:cs typeface="Cambria Math"/>
              </a:rPr>
              <a:t>−</a:t>
            </a:r>
            <a:r>
              <a:rPr kern="1200" spc="350" dirty="0">
                <a:solidFill>
                  <a:srgbClr val="FF0000"/>
                </a:solidFill>
                <a:latin typeface="Cambria Math"/>
                <a:cs typeface="Cambria Math"/>
              </a:rPr>
              <a:t> </a:t>
            </a:r>
            <a:r>
              <a:rPr kern="1200" dirty="0">
                <a:solidFill>
                  <a:srgbClr val="FF0000"/>
                </a:solidFill>
                <a:latin typeface="Cambria Math"/>
                <a:cs typeface="Cambria Math"/>
              </a:rPr>
              <a:t>𝐸</a:t>
            </a:r>
            <a:r>
              <a:rPr kern="1200" spc="75" dirty="0">
                <a:solidFill>
                  <a:srgbClr val="FF0000"/>
                </a:solidFill>
                <a:latin typeface="Cambria Math"/>
                <a:cs typeface="Cambria Math"/>
              </a:rPr>
              <a:t> </a:t>
            </a:r>
            <a:r>
              <a:rPr kern="1200" dirty="0">
                <a:solidFill>
                  <a:srgbClr val="FF0000"/>
                </a:solidFill>
                <a:latin typeface="Cambria Math"/>
                <a:cs typeface="Cambria Math"/>
              </a:rPr>
              <a:t>+</a:t>
            </a:r>
            <a:r>
              <a:rPr kern="1200" spc="5" dirty="0">
                <a:solidFill>
                  <a:srgbClr val="FF0000"/>
                </a:solidFill>
                <a:latin typeface="Cambria Math"/>
                <a:cs typeface="Cambria Math"/>
              </a:rPr>
              <a:t> </a:t>
            </a:r>
            <a:r>
              <a:rPr kern="1200" dirty="0">
                <a:solidFill>
                  <a:srgbClr val="FF0000"/>
                </a:solidFill>
                <a:latin typeface="Cambria Math"/>
                <a:cs typeface="Cambria Math"/>
              </a:rPr>
              <a:t>𝐸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srgbClr val="FF0000"/>
                </a:solidFill>
                <a:latin typeface="Cambria Math"/>
                <a:cs typeface="Cambria Math"/>
              </a:rPr>
              <a:t>−</a:t>
            </a:r>
            <a:r>
              <a:rPr kern="1200" spc="355" dirty="0">
                <a:solidFill>
                  <a:srgbClr val="FF0000"/>
                </a:solidFill>
                <a:latin typeface="Cambria Math"/>
                <a:cs typeface="Cambria Math"/>
              </a:rPr>
              <a:t> </a:t>
            </a:r>
            <a:r>
              <a:rPr kern="1200" spc="-5" dirty="0">
                <a:solidFill>
                  <a:srgbClr val="FF0000"/>
                </a:solidFill>
                <a:latin typeface="Cambria Math"/>
                <a:cs typeface="Cambria Math"/>
              </a:rPr>
              <a:t>𝐢𝐝</a:t>
            </a:r>
            <a:r>
              <a:rPr kern="1200" dirty="0">
                <a:solidFill>
                  <a:srgbClr val="FF0000"/>
                </a:solidFill>
                <a:latin typeface="Cambria Math"/>
                <a:cs typeface="Cambria Math"/>
              </a:rPr>
              <a:t> +</a:t>
            </a:r>
            <a:r>
              <a:rPr kern="1200" spc="5" dirty="0">
                <a:solidFill>
                  <a:srgbClr val="FF0000"/>
                </a:solidFill>
                <a:latin typeface="Cambria Math"/>
                <a:cs typeface="Cambria Math"/>
              </a:rPr>
              <a:t> </a:t>
            </a:r>
            <a:r>
              <a:rPr kern="1200" dirty="0">
                <a:solidFill>
                  <a:srgbClr val="FF0000"/>
                </a:solidFill>
                <a:latin typeface="Cambria Math"/>
                <a:cs typeface="Cambria Math"/>
              </a:rPr>
              <a:t>𝐸	</a:t>
            </a:r>
            <a:r>
              <a:rPr kern="1200" dirty="0">
                <a:solidFill>
                  <a:prstClr val="black"/>
                </a:solidFill>
                <a:latin typeface="Cambria Math"/>
                <a:cs typeface="Cambria Math"/>
              </a:rPr>
              <a:t>⇒</a:t>
            </a:r>
            <a:r>
              <a:rPr kern="1200" spc="70" dirty="0">
                <a:solidFill>
                  <a:prstClr val="black"/>
                </a:solidFill>
                <a:latin typeface="Cambria Math"/>
                <a:cs typeface="Cambria Math"/>
              </a:rPr>
              <a:t> </a:t>
            </a:r>
            <a:r>
              <a:rPr kern="1200" dirty="0">
                <a:solidFill>
                  <a:srgbClr val="FF0000"/>
                </a:solidFill>
                <a:latin typeface="Cambria Math"/>
                <a:cs typeface="Cambria Math"/>
              </a:rPr>
              <a:t>−(𝐢𝐝</a:t>
            </a:r>
            <a:r>
              <a:rPr kern="1200" spc="-25" dirty="0">
                <a:solidFill>
                  <a:srgbClr val="FF0000"/>
                </a:solidFill>
                <a:latin typeface="Cambria Math"/>
                <a:cs typeface="Cambria Math"/>
              </a:rPr>
              <a:t> </a:t>
            </a:r>
            <a:r>
              <a:rPr kern="1200" dirty="0">
                <a:solidFill>
                  <a:srgbClr val="FF0000"/>
                </a:solidFill>
                <a:latin typeface="Cambria Math"/>
                <a:cs typeface="Cambria Math"/>
              </a:rPr>
              <a:t>+</a:t>
            </a:r>
            <a:r>
              <a:rPr kern="1200" spc="-20" dirty="0">
                <a:solidFill>
                  <a:srgbClr val="FF0000"/>
                </a:solidFill>
                <a:latin typeface="Cambria Math"/>
                <a:cs typeface="Cambria Math"/>
              </a:rPr>
              <a:t> </a:t>
            </a:r>
            <a:r>
              <a:rPr kern="1200" spc="-5" dirty="0">
                <a:solidFill>
                  <a:srgbClr val="FF0000"/>
                </a:solidFill>
                <a:latin typeface="Cambria Math"/>
                <a:cs typeface="Cambria Math"/>
              </a:rPr>
              <a:t>𝐢𝐝)</a:t>
            </a:r>
            <a:r>
              <a:rPr kern="1200" spc="-5" dirty="0">
                <a:solidFill>
                  <a:prstClr val="black"/>
                </a:solidFill>
                <a:latin typeface="Palatino Linotype"/>
                <a:cs typeface="Palatino Linotype"/>
              </a:rPr>
              <a:t>,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here all </a:t>
            </a:r>
            <a:r>
              <a:rPr kern="1200" spc="-5" dirty="0">
                <a:solidFill>
                  <a:prstClr val="black"/>
                </a:solidFill>
                <a:latin typeface="Palatino Linotype"/>
                <a:cs typeface="Palatino Linotype"/>
              </a:rPr>
              <a:t>strings </a:t>
            </a:r>
            <a:r>
              <a:rPr kern="1200" dirty="0">
                <a:solidFill>
                  <a:prstClr val="black"/>
                </a:solidFill>
                <a:latin typeface="Palatino Linotype"/>
                <a:cs typeface="Palatino Linotype"/>
              </a:rPr>
              <a:t>of </a:t>
            </a:r>
            <a:r>
              <a:rPr kern="1200" spc="-5" dirty="0">
                <a:solidFill>
                  <a:prstClr val="black"/>
                </a:solidFill>
                <a:latin typeface="Palatino Linotype"/>
                <a:cs typeface="Palatino Linotype"/>
              </a:rPr>
              <a:t>grammar</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symbols </a:t>
            </a:r>
            <a:r>
              <a:rPr kern="1200" dirty="0">
                <a:solidFill>
                  <a:prstClr val="black"/>
                </a:solidFill>
                <a:latin typeface="Palatino Linotype"/>
                <a:cs typeface="Palatino Linotype"/>
              </a:rPr>
              <a:t>are </a:t>
            </a:r>
            <a:r>
              <a:rPr kern="1200" spc="-5" dirty="0">
                <a:solidFill>
                  <a:prstClr val="black"/>
                </a:solidFill>
                <a:latin typeface="Palatino Linotype"/>
                <a:cs typeface="Palatino Linotype"/>
              </a:rPr>
              <a:t>sentential</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forms</a:t>
            </a:r>
            <a:endParaRPr kern="1200" dirty="0">
              <a:solidFill>
                <a:prstClr val="black"/>
              </a:solidFill>
              <a:latin typeface="Palatino Linotype"/>
              <a:cs typeface="Palatino Linotype"/>
            </a:endParaRPr>
          </a:p>
          <a:p>
            <a:pPr rtl="0">
              <a:spcBef>
                <a:spcPts val="50"/>
              </a:spcBef>
            </a:pPr>
            <a:endParaRPr sz="2500" kern="1200" dirty="0">
              <a:solidFill>
                <a:prstClr val="black"/>
              </a:solidFill>
              <a:latin typeface="Palatino Linotype"/>
              <a:cs typeface="Palatino Linotype"/>
            </a:endParaRPr>
          </a:p>
          <a:p>
            <a:pPr marL="243204" indent="-230504" rtl="0">
              <a:buFont typeface="Arial MT"/>
              <a:buChar char="•"/>
              <a:tabLst>
                <a:tab pos="242570" algn="l"/>
                <a:tab pos="243204" algn="l"/>
              </a:tabLst>
            </a:pPr>
            <a:r>
              <a:rPr sz="2000" kern="1200" dirty="0">
                <a:solidFill>
                  <a:prstClr val="black"/>
                </a:solidFill>
                <a:latin typeface="Palatino Linotype"/>
                <a:cs typeface="Palatino Linotype"/>
              </a:rPr>
              <a:t>A</a:t>
            </a:r>
            <a:r>
              <a:rPr sz="2000" kern="1200" spc="-120" dirty="0">
                <a:solidFill>
                  <a:prstClr val="black"/>
                </a:solidFill>
                <a:latin typeface="Palatino Linotype"/>
                <a:cs typeface="Palatino Linotype"/>
              </a:rPr>
              <a:t> </a:t>
            </a:r>
            <a:r>
              <a:rPr sz="2000" b="1" i="1" kern="1200" spc="-5" dirty="0">
                <a:solidFill>
                  <a:srgbClr val="FF0000"/>
                </a:solidFill>
                <a:latin typeface="Palatino Linotype"/>
                <a:cs typeface="Palatino Linotype"/>
              </a:rPr>
              <a:t>sentence </a:t>
            </a:r>
            <a:r>
              <a:rPr sz="2000" b="1" kern="1200" spc="-5" dirty="0">
                <a:solidFill>
                  <a:srgbClr val="FF0000"/>
                </a:solidFill>
                <a:latin typeface="Palatino Linotype"/>
                <a:cs typeface="Palatino Linotype"/>
              </a:rPr>
              <a:t>(</a:t>
            </a:r>
            <a:r>
              <a:rPr sz="2925" kern="1200" spc="89" baseline="1424" dirty="0">
                <a:solidFill>
                  <a:srgbClr val="FF0000"/>
                </a:solidFill>
                <a:latin typeface="SimSun"/>
                <a:cs typeface="SimSun"/>
              </a:rPr>
              <a:t>句子</a:t>
            </a:r>
            <a:r>
              <a:rPr sz="2000" b="1" kern="1200" dirty="0">
                <a:solidFill>
                  <a:srgbClr val="FF0000"/>
                </a:solidFill>
                <a:latin typeface="Palatino Linotype"/>
                <a:cs typeface="Palatino Linotype"/>
              </a:rPr>
              <a:t>)</a:t>
            </a:r>
            <a:r>
              <a:rPr sz="2000" b="1" kern="1200" spc="-5" dirty="0">
                <a:solidFill>
                  <a:srgbClr val="FF0000"/>
                </a:solidFill>
                <a:latin typeface="Palatino Linotype"/>
                <a:cs typeface="Palatino Linotype"/>
              </a:rPr>
              <a:t> </a:t>
            </a:r>
            <a:r>
              <a:rPr sz="2000" kern="1200" spc="-5" dirty="0">
                <a:solidFill>
                  <a:prstClr val="black"/>
                </a:solidFill>
                <a:latin typeface="Palatino Linotype"/>
                <a:cs typeface="Palatino Linotype"/>
              </a:rPr>
              <a:t>of</a:t>
            </a:r>
            <a:r>
              <a:rPr sz="2000" kern="1200" dirty="0">
                <a:solidFill>
                  <a:prstClr val="black"/>
                </a:solidFill>
                <a:latin typeface="Palatino Linotype"/>
                <a:cs typeface="Palatino Linotype"/>
              </a:rPr>
              <a:t> </a:t>
            </a:r>
            <a:r>
              <a:rPr sz="2000" i="1" kern="1200" dirty="0">
                <a:solidFill>
                  <a:prstClr val="black"/>
                </a:solidFill>
                <a:latin typeface="Palatino Linotype"/>
                <a:cs typeface="Palatino Linotype"/>
              </a:rPr>
              <a:t>G</a:t>
            </a:r>
            <a:r>
              <a:rPr sz="2000" i="1"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is</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sentential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form</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with no nonterminals</a:t>
            </a:r>
            <a:endParaRPr sz="2000" kern="1200" dirty="0">
              <a:solidFill>
                <a:prstClr val="black"/>
              </a:solidFill>
              <a:latin typeface="Palatino Linotype"/>
              <a:cs typeface="Palatino Linotype"/>
            </a:endParaRPr>
          </a:p>
          <a:p>
            <a:pPr marL="698500" lvl="1" indent="-228600" rtl="0">
              <a:spcBef>
                <a:spcPts val="1110"/>
              </a:spcBef>
              <a:buFont typeface="Wingdings"/>
              <a:buChar char=""/>
              <a:tabLst>
                <a:tab pos="698500" algn="l"/>
              </a:tabLst>
            </a:pPr>
            <a:r>
              <a:rPr kern="1200" dirty="0">
                <a:solidFill>
                  <a:prstClr val="black"/>
                </a:solidFill>
                <a:latin typeface="Palatino Linotype"/>
                <a:cs typeface="Palatino Linotype"/>
              </a:rPr>
              <a:t>In the </a:t>
            </a:r>
            <a:r>
              <a:rPr kern="1200" spc="-10" dirty="0">
                <a:solidFill>
                  <a:prstClr val="black"/>
                </a:solidFill>
                <a:latin typeface="Palatino Linotype"/>
                <a:cs typeface="Palatino Linotype"/>
              </a:rPr>
              <a:t>above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example,</a:t>
            </a:r>
            <a:r>
              <a:rPr kern="1200" dirty="0">
                <a:solidFill>
                  <a:prstClr val="black"/>
                </a:solidFill>
                <a:latin typeface="Palatino Linotype"/>
                <a:cs typeface="Palatino Linotype"/>
              </a:rPr>
              <a:t> only the </a:t>
            </a:r>
            <a:r>
              <a:rPr kern="1200" spc="-5" dirty="0">
                <a:solidFill>
                  <a:prstClr val="black"/>
                </a:solidFill>
                <a:latin typeface="Palatino Linotype"/>
                <a:cs typeface="Palatino Linotype"/>
              </a:rPr>
              <a:t>last</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string</a:t>
            </a:r>
            <a:r>
              <a:rPr kern="1200" dirty="0">
                <a:solidFill>
                  <a:prstClr val="black"/>
                </a:solidFill>
                <a:latin typeface="Palatino Linotype"/>
                <a:cs typeface="Palatino Linotype"/>
              </a:rPr>
              <a:t> </a:t>
            </a:r>
            <a:r>
              <a:rPr kern="1200" dirty="0">
                <a:solidFill>
                  <a:srgbClr val="FF0000"/>
                </a:solidFill>
                <a:latin typeface="Cambria Math"/>
                <a:cs typeface="Cambria Math"/>
              </a:rPr>
              <a:t>−(𝐢𝐝 +</a:t>
            </a:r>
            <a:r>
              <a:rPr kern="1200" spc="10" dirty="0">
                <a:solidFill>
                  <a:srgbClr val="FF0000"/>
                </a:solidFill>
                <a:latin typeface="Cambria Math"/>
                <a:cs typeface="Cambria Math"/>
              </a:rPr>
              <a:t> </a:t>
            </a:r>
            <a:r>
              <a:rPr kern="1200" spc="-5" dirty="0">
                <a:solidFill>
                  <a:srgbClr val="FF0000"/>
                </a:solidFill>
                <a:latin typeface="Cambria Math"/>
                <a:cs typeface="Cambria Math"/>
              </a:rPr>
              <a:t>𝐢𝐝)</a:t>
            </a:r>
            <a:r>
              <a:rPr kern="1200" spc="55" dirty="0">
                <a:solidFill>
                  <a:srgbClr val="FF0000"/>
                </a:solidFill>
                <a:latin typeface="Cambria Math"/>
                <a:cs typeface="Cambria Math"/>
              </a:rPr>
              <a:t> </a:t>
            </a:r>
            <a:r>
              <a:rPr kern="1200" dirty="0">
                <a:solidFill>
                  <a:prstClr val="black"/>
                </a:solidFill>
                <a:latin typeface="Palatino Linotype"/>
                <a:cs typeface="Palatino Linotype"/>
              </a:rPr>
              <a:t>is a </a:t>
            </a:r>
            <a:r>
              <a:rPr kern="1200" spc="-5" dirty="0">
                <a:solidFill>
                  <a:prstClr val="black"/>
                </a:solidFill>
                <a:latin typeface="Palatino Linotype"/>
                <a:cs typeface="Palatino Linotype"/>
              </a:rPr>
              <a:t>sentence</a:t>
            </a:r>
            <a:endParaRPr kern="1200" dirty="0">
              <a:solidFill>
                <a:prstClr val="black"/>
              </a:solidFill>
              <a:latin typeface="Palatino Linotype"/>
              <a:cs typeface="Palatino Linotype"/>
            </a:endParaRPr>
          </a:p>
          <a:p>
            <a:pPr lvl="1" rtl="0">
              <a:spcBef>
                <a:spcPts val="50"/>
              </a:spcBef>
              <a:buFont typeface="Wingdings"/>
              <a:buChar char=""/>
            </a:pPr>
            <a:endParaRPr sz="2500" kern="1200" dirty="0">
              <a:solidFill>
                <a:prstClr val="black"/>
              </a:solidFill>
              <a:latin typeface="Palatino Linotype"/>
              <a:cs typeface="Palatino Linotype"/>
            </a:endParaRPr>
          </a:p>
          <a:p>
            <a:pPr marL="243204" indent="-230504" rtl="0">
              <a:spcBef>
                <a:spcPts val="5"/>
              </a:spcBef>
              <a:buFont typeface="Arial MT"/>
              <a:buChar char="•"/>
              <a:tabLst>
                <a:tab pos="242570" algn="l"/>
                <a:tab pos="243204" algn="l"/>
              </a:tabLst>
            </a:pP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i="1" kern="1200" spc="-5" dirty="0">
                <a:solidFill>
                  <a:srgbClr val="FF0000"/>
                </a:solidFill>
                <a:latin typeface="Palatino Linotype"/>
                <a:cs typeface="Palatino Linotype"/>
              </a:rPr>
              <a:t>language generated </a:t>
            </a:r>
            <a:r>
              <a:rPr sz="2000" kern="1200" dirty="0">
                <a:solidFill>
                  <a:prstClr val="black"/>
                </a:solidFill>
                <a:latin typeface="Palatino Linotype"/>
                <a:cs typeface="Palatino Linotype"/>
              </a:rPr>
              <a:t>by a </a:t>
            </a:r>
            <a:r>
              <a:rPr sz="2000" kern="1200" spc="-5" dirty="0">
                <a:solidFill>
                  <a:prstClr val="black"/>
                </a:solidFill>
                <a:latin typeface="Palatino Linotype"/>
                <a:cs typeface="Palatino Linotype"/>
              </a:rPr>
              <a:t>grammar </a:t>
            </a:r>
            <a:r>
              <a:rPr sz="2000" kern="1200" dirty="0">
                <a:solidFill>
                  <a:prstClr val="black"/>
                </a:solidFill>
                <a:latin typeface="Palatino Linotype"/>
                <a:cs typeface="Palatino Linotype"/>
              </a:rPr>
              <a:t>is its set</a:t>
            </a:r>
            <a:r>
              <a:rPr sz="2000" kern="1200" spc="-5" dirty="0">
                <a:solidFill>
                  <a:prstClr val="black"/>
                </a:solidFill>
                <a:latin typeface="Palatino Linotype"/>
                <a:cs typeface="Palatino Linotype"/>
              </a:rPr>
              <a:t> of sentences</a:t>
            </a:r>
            <a:endParaRPr sz="20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5799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a:t>
            </a:fld>
            <a:endParaRPr lang="en-US"/>
          </a:p>
        </p:txBody>
      </p:sp>
      <p:sp>
        <p:nvSpPr>
          <p:cNvPr id="30" name="object 2">
            <a:extLst>
              <a:ext uri="{FF2B5EF4-FFF2-40B4-BE49-F238E27FC236}">
                <a16:creationId xmlns:a16="http://schemas.microsoft.com/office/drawing/2014/main" id="{2269DD19-8965-E10C-AA58-FA7EC365C900}"/>
              </a:ext>
            </a:extLst>
          </p:cNvPr>
          <p:cNvSpPr txBox="1">
            <a:spLocks/>
          </p:cNvSpPr>
          <p:nvPr/>
        </p:nvSpPr>
        <p:spPr>
          <a:xfrm>
            <a:off x="707390" y="524763"/>
            <a:ext cx="75266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Leftmost/Rightmost</a:t>
            </a:r>
            <a:r>
              <a:rPr kumimoji="0" lang="en-US" sz="4000" b="1" i="0" u="none" strike="noStrike" kern="0" cap="none" spc="-7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Derivations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31" name="object 3">
            <a:extLst>
              <a:ext uri="{FF2B5EF4-FFF2-40B4-BE49-F238E27FC236}">
                <a16:creationId xmlns:a16="http://schemas.microsoft.com/office/drawing/2014/main" id="{4D9B17FA-55DF-6AA3-050F-45C705B1ABA4}"/>
              </a:ext>
            </a:extLst>
          </p:cNvPr>
          <p:cNvSpPr txBox="1"/>
          <p:nvPr/>
        </p:nvSpPr>
        <p:spPr>
          <a:xfrm>
            <a:off x="707390" y="1610867"/>
            <a:ext cx="7723505" cy="1851660"/>
          </a:xfrm>
          <a:prstGeom prst="rect">
            <a:avLst/>
          </a:prstGeom>
        </p:spPr>
        <p:txBody>
          <a:bodyPr vert="horz" wrap="square" lIns="0" tIns="12700" rIns="0" bIns="0" rtlCol="0">
            <a:spAutoFit/>
          </a:bodyPr>
          <a:lstStyle/>
          <a:p>
            <a:pPr marL="242570" marR="5080" indent="-230504" rtl="0">
              <a:lnSpc>
                <a:spcPct val="115999"/>
              </a:lnSpc>
              <a:spcBef>
                <a:spcPts val="100"/>
              </a:spcBef>
              <a:buFont typeface="Arial MT"/>
              <a:buChar char="•"/>
              <a:tabLst>
                <a:tab pos="242570" algn="l"/>
                <a:tab pos="243204" algn="l"/>
              </a:tabLst>
            </a:pPr>
            <a:r>
              <a:rPr sz="2000" kern="1200" spc="-5" dirty="0">
                <a:solidFill>
                  <a:prstClr val="black"/>
                </a:solidFill>
                <a:latin typeface="Palatino Linotype"/>
                <a:cs typeface="Palatino Linotype"/>
              </a:rPr>
              <a:t>At each</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step</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 </a:t>
            </a:r>
            <a:r>
              <a:rPr sz="2000" kern="1200" spc="-10" dirty="0">
                <a:solidFill>
                  <a:prstClr val="black"/>
                </a:solidFill>
                <a:latin typeface="Palatino Linotype"/>
                <a:cs typeface="Palatino Linotype"/>
              </a:rPr>
              <a:t>derivation,</a:t>
            </a:r>
            <a:r>
              <a:rPr sz="2000" kern="1200" spc="5" dirty="0">
                <a:solidFill>
                  <a:prstClr val="black"/>
                </a:solidFill>
                <a:latin typeface="Palatino Linotype"/>
                <a:cs typeface="Palatino Linotype"/>
              </a:rPr>
              <a:t> </a:t>
            </a:r>
            <a:r>
              <a:rPr sz="2000" kern="1200" spc="-20" dirty="0">
                <a:solidFill>
                  <a:prstClr val="black"/>
                </a:solidFill>
                <a:latin typeface="Palatino Linotype"/>
                <a:cs typeface="Palatino Linotype"/>
              </a:rPr>
              <a:t>we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need</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to</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choose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which nonterminal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to</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replace</a:t>
            </a:r>
            <a:endParaRPr sz="2000" kern="1200">
              <a:solidFill>
                <a:prstClr val="black"/>
              </a:solidFill>
              <a:latin typeface="Palatino Linotype"/>
              <a:cs typeface="Palatino Linotype"/>
            </a:endParaRPr>
          </a:p>
          <a:p>
            <a:pPr rtl="0">
              <a:spcBef>
                <a:spcPts val="30"/>
              </a:spcBef>
              <a:buFont typeface="Arial MT"/>
              <a:buChar char="•"/>
            </a:pPr>
            <a:endParaRPr sz="2200" kern="1200">
              <a:solidFill>
                <a:prstClr val="black"/>
              </a:solidFill>
              <a:latin typeface="Palatino Linotype"/>
              <a:cs typeface="Palatino Linotype"/>
            </a:endParaRPr>
          </a:p>
          <a:p>
            <a:pPr marL="242570" marR="394335" indent="-230504" rtl="0">
              <a:lnSpc>
                <a:spcPct val="121000"/>
              </a:lnSpc>
              <a:buFont typeface="Arial MT"/>
              <a:buChar char="•"/>
              <a:tabLst>
                <a:tab pos="242570" algn="l"/>
                <a:tab pos="243204" algn="l"/>
              </a:tabLst>
            </a:pPr>
            <a:r>
              <a:rPr sz="2000" kern="1200" dirty="0">
                <a:solidFill>
                  <a:prstClr val="black"/>
                </a:solidFill>
                <a:latin typeface="Palatino Linotype"/>
                <a:cs typeface="Palatino Linotype"/>
              </a:rPr>
              <a:t>In</a:t>
            </a:r>
            <a:r>
              <a:rPr sz="2000" kern="1200" spc="-5" dirty="0">
                <a:solidFill>
                  <a:prstClr val="black"/>
                </a:solidFill>
                <a:latin typeface="Palatino Linotype"/>
                <a:cs typeface="Palatino Linotype"/>
              </a:rPr>
              <a:t> </a:t>
            </a:r>
            <a:r>
              <a:rPr sz="2000" b="1" kern="1200" spc="-5" dirty="0">
                <a:solidFill>
                  <a:srgbClr val="FF0000"/>
                </a:solidFill>
                <a:latin typeface="Palatino Linotype"/>
                <a:cs typeface="Palatino Linotype"/>
              </a:rPr>
              <a:t>leftmost derivations</a:t>
            </a:r>
            <a:r>
              <a:rPr sz="2000" b="1" kern="1200" dirty="0">
                <a:solidFill>
                  <a:srgbClr val="FF0000"/>
                </a:solidFill>
                <a:latin typeface="Palatino Linotype"/>
                <a:cs typeface="Palatino Linotype"/>
              </a:rPr>
              <a:t> </a:t>
            </a:r>
            <a:r>
              <a:rPr sz="2000" b="1" kern="1200" spc="-5" dirty="0">
                <a:solidFill>
                  <a:srgbClr val="FF0000"/>
                </a:solidFill>
                <a:latin typeface="Palatino Linotype"/>
                <a:cs typeface="Palatino Linotype"/>
              </a:rPr>
              <a:t>(</a:t>
            </a:r>
            <a:r>
              <a:rPr sz="2925" kern="1200" spc="89" baseline="1424" dirty="0">
                <a:solidFill>
                  <a:srgbClr val="FF0000"/>
                </a:solidFill>
                <a:latin typeface="SimSun"/>
                <a:cs typeface="SimSun"/>
              </a:rPr>
              <a:t>最左推导</a:t>
            </a:r>
            <a:r>
              <a:rPr sz="2000" b="1" kern="1200" spc="-5" dirty="0">
                <a:solidFill>
                  <a:srgbClr val="FF0000"/>
                </a:solidFill>
                <a:latin typeface="Palatino Linotype"/>
                <a:cs typeface="Palatino Linotype"/>
              </a:rPr>
              <a:t>)</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leftmost nonterminal</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in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each sentential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form </a:t>
            </a:r>
            <a:r>
              <a:rPr sz="2000" kern="1200" dirty="0">
                <a:solidFill>
                  <a:prstClr val="black"/>
                </a:solidFill>
                <a:latin typeface="Palatino Linotype"/>
                <a:cs typeface="Palatino Linotype"/>
              </a:rPr>
              <a:t>is </a:t>
            </a:r>
            <a:r>
              <a:rPr sz="2000" kern="1200" spc="-10" dirty="0">
                <a:solidFill>
                  <a:prstClr val="black"/>
                </a:solidFill>
                <a:latin typeface="Palatino Linotype"/>
                <a:cs typeface="Palatino Linotype"/>
              </a:rPr>
              <a:t>always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chosen to</a:t>
            </a:r>
            <a:r>
              <a:rPr sz="2000" kern="1200" dirty="0">
                <a:solidFill>
                  <a:prstClr val="black"/>
                </a:solidFill>
                <a:latin typeface="Palatino Linotype"/>
                <a:cs typeface="Palatino Linotype"/>
              </a:rPr>
              <a:t> be </a:t>
            </a:r>
            <a:r>
              <a:rPr sz="2000" kern="1200" spc="-5" dirty="0">
                <a:solidFill>
                  <a:prstClr val="black"/>
                </a:solidFill>
                <a:latin typeface="Palatino Linotype"/>
                <a:cs typeface="Palatino Linotype"/>
              </a:rPr>
              <a:t>replaced</a:t>
            </a:r>
            <a:endParaRPr sz="2000" kern="1200">
              <a:solidFill>
                <a:prstClr val="black"/>
              </a:solidFill>
              <a:latin typeface="Palatino Linotype"/>
              <a:cs typeface="Palatino Linotype"/>
            </a:endParaRPr>
          </a:p>
        </p:txBody>
      </p:sp>
      <p:pic>
        <p:nvPicPr>
          <p:cNvPr id="32" name="object 4">
            <a:extLst>
              <a:ext uri="{FF2B5EF4-FFF2-40B4-BE49-F238E27FC236}">
                <a16:creationId xmlns:a16="http://schemas.microsoft.com/office/drawing/2014/main" id="{F68624D6-72F1-99D8-739B-FD081AA54995}"/>
              </a:ext>
            </a:extLst>
          </p:cNvPr>
          <p:cNvPicPr/>
          <p:nvPr/>
        </p:nvPicPr>
        <p:blipFill>
          <a:blip r:embed="rId3" cstate="print"/>
          <a:stretch>
            <a:fillRect/>
          </a:stretch>
        </p:blipFill>
        <p:spPr>
          <a:xfrm>
            <a:off x="1632031" y="3794874"/>
            <a:ext cx="211881" cy="129232"/>
          </a:xfrm>
          <a:prstGeom prst="rect">
            <a:avLst/>
          </a:prstGeom>
        </p:spPr>
      </p:pic>
      <p:pic>
        <p:nvPicPr>
          <p:cNvPr id="33" name="object 5">
            <a:extLst>
              <a:ext uri="{FF2B5EF4-FFF2-40B4-BE49-F238E27FC236}">
                <a16:creationId xmlns:a16="http://schemas.microsoft.com/office/drawing/2014/main" id="{0CDB3636-4F99-ACBC-A509-D5E22820966E}"/>
              </a:ext>
            </a:extLst>
          </p:cNvPr>
          <p:cNvPicPr/>
          <p:nvPr/>
        </p:nvPicPr>
        <p:blipFill>
          <a:blip r:embed="rId4" cstate="print"/>
          <a:stretch>
            <a:fillRect/>
          </a:stretch>
        </p:blipFill>
        <p:spPr>
          <a:xfrm>
            <a:off x="2387744" y="3794874"/>
            <a:ext cx="211881" cy="129232"/>
          </a:xfrm>
          <a:prstGeom prst="rect">
            <a:avLst/>
          </a:prstGeom>
        </p:spPr>
      </p:pic>
      <p:sp>
        <p:nvSpPr>
          <p:cNvPr id="34" name="object 6">
            <a:extLst>
              <a:ext uri="{FF2B5EF4-FFF2-40B4-BE49-F238E27FC236}">
                <a16:creationId xmlns:a16="http://schemas.microsoft.com/office/drawing/2014/main" id="{A2DFCE83-B726-1868-F1F7-C21D5FD2C232}"/>
              </a:ext>
            </a:extLst>
          </p:cNvPr>
          <p:cNvSpPr/>
          <p:nvPr/>
        </p:nvSpPr>
        <p:spPr>
          <a:xfrm>
            <a:off x="2939641" y="3741720"/>
            <a:ext cx="335280" cy="235585"/>
          </a:xfrm>
          <a:custGeom>
            <a:avLst/>
            <a:gdLst/>
            <a:ahLst/>
            <a:cxnLst/>
            <a:rect l="l" t="t" r="r" b="b"/>
            <a:pathLst>
              <a:path w="335279" h="235585">
                <a:moveTo>
                  <a:pt x="259802" y="0"/>
                </a:moveTo>
                <a:lnTo>
                  <a:pt x="256454" y="9549"/>
                </a:lnTo>
                <a:lnTo>
                  <a:pt x="270073" y="15459"/>
                </a:lnTo>
                <a:lnTo>
                  <a:pt x="281786" y="23641"/>
                </a:lnTo>
                <a:lnTo>
                  <a:pt x="305567" y="61565"/>
                </a:lnTo>
                <a:lnTo>
                  <a:pt x="313381" y="116457"/>
                </a:lnTo>
                <a:lnTo>
                  <a:pt x="312509" y="137208"/>
                </a:lnTo>
                <a:lnTo>
                  <a:pt x="299429" y="188019"/>
                </a:lnTo>
                <a:lnTo>
                  <a:pt x="270233" y="219784"/>
                </a:lnTo>
                <a:lnTo>
                  <a:pt x="256827" y="225722"/>
                </a:lnTo>
                <a:lnTo>
                  <a:pt x="259802" y="235272"/>
                </a:lnTo>
                <a:lnTo>
                  <a:pt x="304753" y="208564"/>
                </a:lnTo>
                <a:lnTo>
                  <a:pt x="330000" y="159261"/>
                </a:lnTo>
                <a:lnTo>
                  <a:pt x="334838" y="117698"/>
                </a:lnTo>
                <a:lnTo>
                  <a:pt x="333624" y="96129"/>
                </a:lnTo>
                <a:lnTo>
                  <a:pt x="323919" y="57899"/>
                </a:lnTo>
                <a:lnTo>
                  <a:pt x="291816" y="15083"/>
                </a:lnTo>
                <a:lnTo>
                  <a:pt x="276860" y="6158"/>
                </a:lnTo>
                <a:lnTo>
                  <a:pt x="259802" y="0"/>
                </a:lnTo>
                <a:close/>
              </a:path>
              <a:path w="335279" h="235585">
                <a:moveTo>
                  <a:pt x="75034" y="0"/>
                </a:moveTo>
                <a:lnTo>
                  <a:pt x="30164" y="26776"/>
                </a:lnTo>
                <a:lnTo>
                  <a:pt x="4852" y="76196"/>
                </a:lnTo>
                <a:lnTo>
                  <a:pt x="0" y="117698"/>
                </a:lnTo>
                <a:lnTo>
                  <a:pt x="1209" y="139313"/>
                </a:lnTo>
                <a:lnTo>
                  <a:pt x="10882" y="177543"/>
                </a:lnTo>
                <a:lnTo>
                  <a:pt x="42943" y="220219"/>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5" name="object 7">
            <a:extLst>
              <a:ext uri="{FF2B5EF4-FFF2-40B4-BE49-F238E27FC236}">
                <a16:creationId xmlns:a16="http://schemas.microsoft.com/office/drawing/2014/main" id="{187B3AE2-AEC3-037D-5D96-D9FFAD7D7FBB}"/>
              </a:ext>
            </a:extLst>
          </p:cNvPr>
          <p:cNvSpPr txBox="1"/>
          <p:nvPr/>
        </p:nvSpPr>
        <p:spPr>
          <a:xfrm>
            <a:off x="1164589" y="3665220"/>
            <a:ext cx="2029460" cy="464184"/>
          </a:xfrm>
          <a:prstGeom prst="rect">
            <a:avLst/>
          </a:prstGeom>
        </p:spPr>
        <p:txBody>
          <a:bodyPr vert="horz" wrap="square" lIns="0" tIns="12700" rIns="0" bIns="0" rtlCol="0">
            <a:spAutoFit/>
          </a:bodyPr>
          <a:lstStyle/>
          <a:p>
            <a:pPr marL="241300" indent="-228600" rtl="0">
              <a:lnSpc>
                <a:spcPts val="2025"/>
              </a:lnSpc>
              <a:spcBef>
                <a:spcPts val="100"/>
              </a:spcBef>
              <a:buClr>
                <a:srgbClr val="000000"/>
              </a:buClr>
              <a:buFont typeface="Wingdings"/>
              <a:buChar char=""/>
              <a:tabLst>
                <a:tab pos="241300" algn="l"/>
                <a:tab pos="749935" algn="l"/>
                <a:tab pos="1505585" algn="l"/>
                <a:tab pos="1858010" algn="l"/>
              </a:tabLst>
            </a:pPr>
            <a:r>
              <a:rPr sz="2000" kern="1200" dirty="0">
                <a:solidFill>
                  <a:srgbClr val="FF0000"/>
                </a:solidFill>
                <a:latin typeface="Cambria Math"/>
                <a:cs typeface="Cambria Math"/>
              </a:rPr>
              <a:t>𝐸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srgbClr val="FF0000"/>
                </a:solidFill>
                <a:latin typeface="Cambria Math"/>
                <a:cs typeface="Cambria Math"/>
              </a:rPr>
              <a:t>𝐸	</a:t>
            </a:r>
            <a:r>
              <a:rPr sz="2000" kern="1200" dirty="0">
                <a:solidFill>
                  <a:prstClr val="black"/>
                </a:solidFill>
                <a:latin typeface="Cambria Math"/>
                <a:cs typeface="Cambria Math"/>
              </a:rPr>
              <a:t>−	</a:t>
            </a:r>
            <a:r>
              <a:rPr sz="2000" kern="1200" dirty="0">
                <a:solidFill>
                  <a:srgbClr val="FF0000"/>
                </a:solidFill>
                <a:latin typeface="Cambria Math"/>
                <a:cs typeface="Cambria Math"/>
              </a:rPr>
              <a:t>𝐸</a:t>
            </a:r>
            <a:endParaRPr sz="2000" kern="1200">
              <a:solidFill>
                <a:prstClr val="black"/>
              </a:solidFill>
              <a:latin typeface="Cambria Math"/>
              <a:cs typeface="Cambria Math"/>
            </a:endParaRPr>
          </a:p>
          <a:p>
            <a:pPr marL="452120" rtl="0">
              <a:lnSpc>
                <a:spcPts val="1425"/>
              </a:lnSpc>
              <a:tabLst>
                <a:tab pos="1207770" algn="l"/>
              </a:tabLst>
            </a:pPr>
            <a:r>
              <a:rPr sz="1500" kern="1200" spc="90" dirty="0">
                <a:solidFill>
                  <a:prstClr val="black"/>
                </a:solidFill>
                <a:latin typeface="Cambria Math"/>
                <a:cs typeface="Cambria Math"/>
              </a:rPr>
              <a:t>𝑙𝑚	𝑙𝑚</a:t>
            </a:r>
            <a:endParaRPr sz="1500" kern="1200">
              <a:solidFill>
                <a:prstClr val="black"/>
              </a:solidFill>
              <a:latin typeface="Cambria Math"/>
              <a:cs typeface="Cambria Math"/>
            </a:endParaRPr>
          </a:p>
        </p:txBody>
      </p:sp>
      <p:pic>
        <p:nvPicPr>
          <p:cNvPr id="36" name="object 8">
            <a:extLst>
              <a:ext uri="{FF2B5EF4-FFF2-40B4-BE49-F238E27FC236}">
                <a16:creationId xmlns:a16="http://schemas.microsoft.com/office/drawing/2014/main" id="{D4EB1963-6A1C-3596-38A7-C32945CF0A04}"/>
              </a:ext>
            </a:extLst>
          </p:cNvPr>
          <p:cNvPicPr/>
          <p:nvPr/>
        </p:nvPicPr>
        <p:blipFill>
          <a:blip r:embed="rId4" cstate="print"/>
          <a:stretch>
            <a:fillRect/>
          </a:stretch>
        </p:blipFill>
        <p:spPr>
          <a:xfrm>
            <a:off x="3354278" y="3794874"/>
            <a:ext cx="211881" cy="129232"/>
          </a:xfrm>
          <a:prstGeom prst="rect">
            <a:avLst/>
          </a:prstGeom>
        </p:spPr>
      </p:pic>
      <p:sp>
        <p:nvSpPr>
          <p:cNvPr id="37" name="object 9">
            <a:extLst>
              <a:ext uri="{FF2B5EF4-FFF2-40B4-BE49-F238E27FC236}">
                <a16:creationId xmlns:a16="http://schemas.microsoft.com/office/drawing/2014/main" id="{2214016F-6552-D4DC-CE7E-E462A676EFDB}"/>
              </a:ext>
            </a:extLst>
          </p:cNvPr>
          <p:cNvSpPr/>
          <p:nvPr/>
        </p:nvSpPr>
        <p:spPr>
          <a:xfrm>
            <a:off x="3906174" y="3741720"/>
            <a:ext cx="807085" cy="235585"/>
          </a:xfrm>
          <a:custGeom>
            <a:avLst/>
            <a:gdLst/>
            <a:ahLst/>
            <a:cxnLst/>
            <a:rect l="l" t="t" r="r" b="b"/>
            <a:pathLst>
              <a:path w="807085" h="235585">
                <a:moveTo>
                  <a:pt x="731861" y="0"/>
                </a:moveTo>
                <a:lnTo>
                  <a:pt x="728513" y="9549"/>
                </a:lnTo>
                <a:lnTo>
                  <a:pt x="742132" y="15459"/>
                </a:lnTo>
                <a:lnTo>
                  <a:pt x="753845" y="23641"/>
                </a:lnTo>
                <a:lnTo>
                  <a:pt x="777626" y="61565"/>
                </a:lnTo>
                <a:lnTo>
                  <a:pt x="785440" y="116457"/>
                </a:lnTo>
                <a:lnTo>
                  <a:pt x="784568" y="137208"/>
                </a:lnTo>
                <a:lnTo>
                  <a:pt x="771488" y="188019"/>
                </a:lnTo>
                <a:lnTo>
                  <a:pt x="742292" y="219784"/>
                </a:lnTo>
                <a:lnTo>
                  <a:pt x="728886" y="225722"/>
                </a:lnTo>
                <a:lnTo>
                  <a:pt x="731861" y="235272"/>
                </a:lnTo>
                <a:lnTo>
                  <a:pt x="776812" y="208564"/>
                </a:lnTo>
                <a:lnTo>
                  <a:pt x="802058" y="159261"/>
                </a:lnTo>
                <a:lnTo>
                  <a:pt x="806895" y="117698"/>
                </a:lnTo>
                <a:lnTo>
                  <a:pt x="805682" y="96129"/>
                </a:lnTo>
                <a:lnTo>
                  <a:pt x="795978" y="57899"/>
                </a:lnTo>
                <a:lnTo>
                  <a:pt x="763875" y="15083"/>
                </a:lnTo>
                <a:lnTo>
                  <a:pt x="748919" y="6158"/>
                </a:lnTo>
                <a:lnTo>
                  <a:pt x="731861" y="0"/>
                </a:lnTo>
                <a:close/>
              </a:path>
              <a:path w="807085" h="235585">
                <a:moveTo>
                  <a:pt x="75034" y="0"/>
                </a:moveTo>
                <a:lnTo>
                  <a:pt x="30164" y="26776"/>
                </a:lnTo>
                <a:lnTo>
                  <a:pt x="4852" y="76196"/>
                </a:lnTo>
                <a:lnTo>
                  <a:pt x="0" y="117698"/>
                </a:lnTo>
                <a:lnTo>
                  <a:pt x="1209" y="139313"/>
                </a:lnTo>
                <a:lnTo>
                  <a:pt x="10882" y="177543"/>
                </a:lnTo>
                <a:lnTo>
                  <a:pt x="42942" y="220219"/>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8" name="object 10">
            <a:extLst>
              <a:ext uri="{FF2B5EF4-FFF2-40B4-BE49-F238E27FC236}">
                <a16:creationId xmlns:a16="http://schemas.microsoft.com/office/drawing/2014/main" id="{F60C4E51-C5FD-4742-2BB6-3D9C019D3748}"/>
              </a:ext>
            </a:extLst>
          </p:cNvPr>
          <p:cNvSpPr txBox="1"/>
          <p:nvPr/>
        </p:nvSpPr>
        <p:spPr>
          <a:xfrm>
            <a:off x="3326447" y="3665220"/>
            <a:ext cx="1306195" cy="464184"/>
          </a:xfrm>
          <a:prstGeom prst="rect">
            <a:avLst/>
          </a:prstGeom>
        </p:spPr>
        <p:txBody>
          <a:bodyPr vert="horz" wrap="square" lIns="0" tIns="12700" rIns="0" bIns="0" rtlCol="0">
            <a:spAutoFit/>
          </a:bodyPr>
          <a:lstStyle/>
          <a:p>
            <a:pPr marL="309880" rtl="0">
              <a:lnSpc>
                <a:spcPts val="2025"/>
              </a:lnSpc>
              <a:spcBef>
                <a:spcPts val="100"/>
              </a:spcBef>
              <a:tabLst>
                <a:tab pos="662305" algn="l"/>
              </a:tabLst>
            </a:pPr>
            <a:r>
              <a:rPr sz="2000" kern="1200" dirty="0">
                <a:solidFill>
                  <a:prstClr val="black"/>
                </a:solidFill>
                <a:latin typeface="Cambria Math"/>
                <a:cs typeface="Cambria Math"/>
              </a:rPr>
              <a:t>−	</a:t>
            </a:r>
            <a:r>
              <a:rPr sz="2000" kern="1200" dirty="0">
                <a:solidFill>
                  <a:srgbClr val="FF0000"/>
                </a:solidFill>
                <a:latin typeface="Cambria Math"/>
                <a:cs typeface="Cambria Math"/>
              </a:rPr>
              <a:t>𝐸</a:t>
            </a:r>
            <a:r>
              <a:rPr sz="2000" kern="1200" spc="30" dirty="0">
                <a:solidFill>
                  <a:srgbClr val="FF0000"/>
                </a:solidFill>
                <a:latin typeface="Cambria Math"/>
                <a:cs typeface="Cambria Math"/>
              </a:rPr>
              <a:t> </a:t>
            </a:r>
            <a:r>
              <a:rPr sz="2000" kern="1200" dirty="0">
                <a:solidFill>
                  <a:prstClr val="black"/>
                </a:solidFill>
                <a:latin typeface="Cambria Math"/>
                <a:cs typeface="Cambria Math"/>
              </a:rPr>
              <a:t>+</a:t>
            </a:r>
            <a:r>
              <a:rPr sz="2000" kern="1200" spc="-35" dirty="0">
                <a:solidFill>
                  <a:prstClr val="black"/>
                </a:solidFill>
                <a:latin typeface="Cambria Math"/>
                <a:cs typeface="Cambria Math"/>
              </a:rPr>
              <a:t> </a:t>
            </a:r>
            <a:r>
              <a:rPr sz="2000" kern="1200" dirty="0">
                <a:solidFill>
                  <a:prstClr val="black"/>
                </a:solidFill>
                <a:latin typeface="Cambria Math"/>
                <a:cs typeface="Cambria Math"/>
              </a:rPr>
              <a:t>𝐸</a:t>
            </a:r>
            <a:endParaRPr sz="2000" kern="1200">
              <a:solidFill>
                <a:prstClr val="black"/>
              </a:solidFill>
              <a:latin typeface="Cambria Math"/>
              <a:cs typeface="Cambria Math"/>
            </a:endParaRPr>
          </a:p>
          <a:p>
            <a:pPr marL="12700" rtl="0">
              <a:lnSpc>
                <a:spcPts val="1425"/>
              </a:lnSpc>
            </a:pPr>
            <a:r>
              <a:rPr sz="1500" kern="1200" spc="90" dirty="0">
                <a:solidFill>
                  <a:prstClr val="black"/>
                </a:solidFill>
                <a:latin typeface="Cambria Math"/>
                <a:cs typeface="Cambria Math"/>
              </a:rPr>
              <a:t>𝑙𝑚</a:t>
            </a:r>
            <a:endParaRPr sz="1500" kern="1200">
              <a:solidFill>
                <a:prstClr val="black"/>
              </a:solidFill>
              <a:latin typeface="Cambria Math"/>
              <a:cs typeface="Cambria Math"/>
            </a:endParaRPr>
          </a:p>
        </p:txBody>
      </p:sp>
      <p:pic>
        <p:nvPicPr>
          <p:cNvPr id="39" name="object 11">
            <a:extLst>
              <a:ext uri="{FF2B5EF4-FFF2-40B4-BE49-F238E27FC236}">
                <a16:creationId xmlns:a16="http://schemas.microsoft.com/office/drawing/2014/main" id="{B92B0530-4FDA-6CEF-010F-A760F767EBD7}"/>
              </a:ext>
            </a:extLst>
          </p:cNvPr>
          <p:cNvPicPr/>
          <p:nvPr/>
        </p:nvPicPr>
        <p:blipFill>
          <a:blip r:embed="rId4" cstate="print"/>
          <a:stretch>
            <a:fillRect/>
          </a:stretch>
        </p:blipFill>
        <p:spPr>
          <a:xfrm>
            <a:off x="4792870" y="3794874"/>
            <a:ext cx="211881" cy="129232"/>
          </a:xfrm>
          <a:prstGeom prst="rect">
            <a:avLst/>
          </a:prstGeom>
        </p:spPr>
      </p:pic>
      <p:sp>
        <p:nvSpPr>
          <p:cNvPr id="40" name="object 12">
            <a:extLst>
              <a:ext uri="{FF2B5EF4-FFF2-40B4-BE49-F238E27FC236}">
                <a16:creationId xmlns:a16="http://schemas.microsoft.com/office/drawing/2014/main" id="{FF0A3E85-1585-AEB8-515D-CF072F85FD3E}"/>
              </a:ext>
            </a:extLst>
          </p:cNvPr>
          <p:cNvSpPr/>
          <p:nvPr/>
        </p:nvSpPr>
        <p:spPr>
          <a:xfrm>
            <a:off x="5344767" y="3741720"/>
            <a:ext cx="878205" cy="235585"/>
          </a:xfrm>
          <a:custGeom>
            <a:avLst/>
            <a:gdLst/>
            <a:ahLst/>
            <a:cxnLst/>
            <a:rect l="l" t="t" r="r" b="b"/>
            <a:pathLst>
              <a:path w="878204" h="235585">
                <a:moveTo>
                  <a:pt x="802918" y="0"/>
                </a:moveTo>
                <a:lnTo>
                  <a:pt x="799570" y="9549"/>
                </a:lnTo>
                <a:lnTo>
                  <a:pt x="813189" y="15459"/>
                </a:lnTo>
                <a:lnTo>
                  <a:pt x="824901" y="23641"/>
                </a:lnTo>
                <a:lnTo>
                  <a:pt x="848683" y="61565"/>
                </a:lnTo>
                <a:lnTo>
                  <a:pt x="856496" y="116457"/>
                </a:lnTo>
                <a:lnTo>
                  <a:pt x="855624" y="137208"/>
                </a:lnTo>
                <a:lnTo>
                  <a:pt x="842543" y="188019"/>
                </a:lnTo>
                <a:lnTo>
                  <a:pt x="813347" y="219784"/>
                </a:lnTo>
                <a:lnTo>
                  <a:pt x="799941" y="225722"/>
                </a:lnTo>
                <a:lnTo>
                  <a:pt x="802918" y="235272"/>
                </a:lnTo>
                <a:lnTo>
                  <a:pt x="847869" y="208564"/>
                </a:lnTo>
                <a:lnTo>
                  <a:pt x="873115" y="159261"/>
                </a:lnTo>
                <a:lnTo>
                  <a:pt x="877952" y="117698"/>
                </a:lnTo>
                <a:lnTo>
                  <a:pt x="876739" y="96129"/>
                </a:lnTo>
                <a:lnTo>
                  <a:pt x="867034" y="57899"/>
                </a:lnTo>
                <a:lnTo>
                  <a:pt x="834931" y="15083"/>
                </a:lnTo>
                <a:lnTo>
                  <a:pt x="819975" y="6158"/>
                </a:lnTo>
                <a:lnTo>
                  <a:pt x="802918" y="0"/>
                </a:lnTo>
                <a:close/>
              </a:path>
              <a:path w="878204" h="235585">
                <a:moveTo>
                  <a:pt x="75034" y="0"/>
                </a:moveTo>
                <a:lnTo>
                  <a:pt x="30164" y="26776"/>
                </a:lnTo>
                <a:lnTo>
                  <a:pt x="4852" y="76196"/>
                </a:lnTo>
                <a:lnTo>
                  <a:pt x="0" y="117698"/>
                </a:lnTo>
                <a:lnTo>
                  <a:pt x="1209" y="139313"/>
                </a:lnTo>
                <a:lnTo>
                  <a:pt x="10882" y="177543"/>
                </a:lnTo>
                <a:lnTo>
                  <a:pt x="42942" y="220219"/>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1"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41" name="object 13">
            <a:extLst>
              <a:ext uri="{FF2B5EF4-FFF2-40B4-BE49-F238E27FC236}">
                <a16:creationId xmlns:a16="http://schemas.microsoft.com/office/drawing/2014/main" id="{D25CCD32-4554-AD4E-932B-D3F89500291E}"/>
              </a:ext>
            </a:extLst>
          </p:cNvPr>
          <p:cNvPicPr/>
          <p:nvPr/>
        </p:nvPicPr>
        <p:blipFill>
          <a:blip r:embed="rId4" cstate="print"/>
          <a:stretch>
            <a:fillRect/>
          </a:stretch>
        </p:blipFill>
        <p:spPr>
          <a:xfrm>
            <a:off x="6302519" y="3794874"/>
            <a:ext cx="211881" cy="129232"/>
          </a:xfrm>
          <a:prstGeom prst="rect">
            <a:avLst/>
          </a:prstGeom>
        </p:spPr>
      </p:pic>
      <p:sp>
        <p:nvSpPr>
          <p:cNvPr id="42" name="object 14">
            <a:extLst>
              <a:ext uri="{FF2B5EF4-FFF2-40B4-BE49-F238E27FC236}">
                <a16:creationId xmlns:a16="http://schemas.microsoft.com/office/drawing/2014/main" id="{C07482E1-1C98-5CA5-47B0-CAFCE11E8929}"/>
              </a:ext>
            </a:extLst>
          </p:cNvPr>
          <p:cNvSpPr txBox="1"/>
          <p:nvPr/>
        </p:nvSpPr>
        <p:spPr>
          <a:xfrm>
            <a:off x="4765040" y="3665220"/>
            <a:ext cx="3073400" cy="464184"/>
          </a:xfrm>
          <a:prstGeom prst="rect">
            <a:avLst/>
          </a:prstGeom>
        </p:spPr>
        <p:txBody>
          <a:bodyPr vert="horz" wrap="square" lIns="0" tIns="12700" rIns="0" bIns="0" rtlCol="0">
            <a:spAutoFit/>
          </a:bodyPr>
          <a:lstStyle/>
          <a:p>
            <a:pPr marL="309880" rtl="0">
              <a:lnSpc>
                <a:spcPts val="2025"/>
              </a:lnSpc>
              <a:spcBef>
                <a:spcPts val="100"/>
              </a:spcBef>
              <a:tabLst>
                <a:tab pos="662305" algn="l"/>
                <a:tab pos="1819910" algn="l"/>
              </a:tabLst>
            </a:pPr>
            <a:r>
              <a:rPr sz="2000" kern="1200" dirty="0">
                <a:solidFill>
                  <a:prstClr val="black"/>
                </a:solidFill>
                <a:latin typeface="Cambria Math"/>
                <a:cs typeface="Cambria Math"/>
              </a:rPr>
              <a:t>−	𝐢𝐝</a:t>
            </a:r>
            <a:r>
              <a:rPr sz="2000" kern="1200" spc="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srgbClr val="FF0000"/>
                </a:solidFill>
                <a:latin typeface="Cambria Math"/>
                <a:cs typeface="Cambria Math"/>
              </a:rPr>
              <a:t>𝐸	</a:t>
            </a:r>
            <a:r>
              <a:rPr sz="2000" kern="1200" dirty="0">
                <a:solidFill>
                  <a:prstClr val="black"/>
                </a:solidFill>
                <a:latin typeface="Cambria Math"/>
                <a:cs typeface="Cambria Math"/>
              </a:rPr>
              <a:t>−</a:t>
            </a:r>
            <a:r>
              <a:rPr sz="2000" kern="1200" spc="-25" dirty="0">
                <a:solidFill>
                  <a:prstClr val="black"/>
                </a:solidFill>
                <a:latin typeface="Cambria Math"/>
                <a:cs typeface="Cambria Math"/>
              </a:rPr>
              <a:t> </a:t>
            </a:r>
            <a:r>
              <a:rPr sz="2000" kern="1200" spc="-5" dirty="0">
                <a:solidFill>
                  <a:prstClr val="black"/>
                </a:solidFill>
                <a:latin typeface="Cambria Math"/>
                <a:cs typeface="Cambria Math"/>
              </a:rPr>
              <a:t>(𝐢𝐝</a:t>
            </a:r>
            <a:r>
              <a:rPr sz="2000" kern="1200" spc="-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25" dirty="0">
                <a:solidFill>
                  <a:prstClr val="black"/>
                </a:solidFill>
                <a:latin typeface="Cambria Math"/>
                <a:cs typeface="Cambria Math"/>
              </a:rPr>
              <a:t> </a:t>
            </a:r>
            <a:r>
              <a:rPr sz="2000" kern="1200" dirty="0">
                <a:solidFill>
                  <a:prstClr val="black"/>
                </a:solidFill>
                <a:latin typeface="Cambria Math"/>
                <a:cs typeface="Cambria Math"/>
              </a:rPr>
              <a:t>𝐢𝐝)</a:t>
            </a:r>
            <a:endParaRPr sz="2000" kern="1200">
              <a:solidFill>
                <a:prstClr val="black"/>
              </a:solidFill>
              <a:latin typeface="Cambria Math"/>
              <a:cs typeface="Cambria Math"/>
            </a:endParaRPr>
          </a:p>
          <a:p>
            <a:pPr marL="12700" rtl="0">
              <a:lnSpc>
                <a:spcPts val="1425"/>
              </a:lnSpc>
              <a:tabLst>
                <a:tab pos="1522095" algn="l"/>
              </a:tabLst>
            </a:pPr>
            <a:r>
              <a:rPr sz="1500" kern="1200" spc="90" dirty="0">
                <a:solidFill>
                  <a:prstClr val="black"/>
                </a:solidFill>
                <a:latin typeface="Cambria Math"/>
                <a:cs typeface="Cambria Math"/>
              </a:rPr>
              <a:t>𝑙𝑚	𝑙𝑚</a:t>
            </a:r>
            <a:endParaRPr sz="1500" kern="1200">
              <a:solidFill>
                <a:prstClr val="black"/>
              </a:solidFill>
              <a:latin typeface="Cambria Math"/>
              <a:cs typeface="Cambria Math"/>
            </a:endParaRPr>
          </a:p>
        </p:txBody>
      </p:sp>
      <p:sp>
        <p:nvSpPr>
          <p:cNvPr id="43" name="object 15">
            <a:extLst>
              <a:ext uri="{FF2B5EF4-FFF2-40B4-BE49-F238E27FC236}">
                <a16:creationId xmlns:a16="http://schemas.microsoft.com/office/drawing/2014/main" id="{9E3452C1-5C1E-8EF3-ED45-27D482EC90DF}"/>
              </a:ext>
            </a:extLst>
          </p:cNvPr>
          <p:cNvSpPr txBox="1"/>
          <p:nvPr/>
        </p:nvSpPr>
        <p:spPr>
          <a:xfrm>
            <a:off x="707390" y="4430267"/>
            <a:ext cx="7646034" cy="732790"/>
          </a:xfrm>
          <a:prstGeom prst="rect">
            <a:avLst/>
          </a:prstGeom>
        </p:spPr>
        <p:txBody>
          <a:bodyPr vert="horz" wrap="square" lIns="0" tIns="12700" rIns="0" bIns="0" rtlCol="0">
            <a:spAutoFit/>
          </a:bodyPr>
          <a:lstStyle/>
          <a:p>
            <a:pPr marL="242570" marR="5080" indent="-230504" rtl="0">
              <a:lnSpc>
                <a:spcPct val="115999"/>
              </a:lnSpc>
              <a:spcBef>
                <a:spcPts val="100"/>
              </a:spcBef>
              <a:buFont typeface="Arial MT"/>
              <a:buChar char="•"/>
              <a:tabLst>
                <a:tab pos="242570" algn="l"/>
                <a:tab pos="243204" algn="l"/>
              </a:tabLst>
            </a:pPr>
            <a:r>
              <a:rPr sz="2000" kern="1200" dirty="0">
                <a:solidFill>
                  <a:prstClr val="black"/>
                </a:solidFill>
                <a:latin typeface="Palatino Linotype"/>
                <a:cs typeface="Palatino Linotype"/>
              </a:rPr>
              <a:t>In</a:t>
            </a:r>
            <a:r>
              <a:rPr sz="2000" kern="1200" spc="-5" dirty="0">
                <a:solidFill>
                  <a:prstClr val="black"/>
                </a:solidFill>
                <a:latin typeface="Palatino Linotype"/>
                <a:cs typeface="Palatino Linotype"/>
              </a:rPr>
              <a:t> </a:t>
            </a:r>
            <a:r>
              <a:rPr sz="2000" b="1" kern="1200" spc="-5" dirty="0">
                <a:solidFill>
                  <a:srgbClr val="FF0000"/>
                </a:solidFill>
                <a:latin typeface="Palatino Linotype"/>
                <a:cs typeface="Palatino Linotype"/>
              </a:rPr>
              <a:t>rightmost</a:t>
            </a:r>
            <a:r>
              <a:rPr sz="2000" b="1" kern="1200" dirty="0">
                <a:solidFill>
                  <a:srgbClr val="FF0000"/>
                </a:solidFill>
                <a:latin typeface="Palatino Linotype"/>
                <a:cs typeface="Palatino Linotype"/>
              </a:rPr>
              <a:t> </a:t>
            </a:r>
            <a:r>
              <a:rPr sz="2000" b="1" kern="1200" spc="-5" dirty="0">
                <a:solidFill>
                  <a:srgbClr val="FF0000"/>
                </a:solidFill>
                <a:latin typeface="Palatino Linotype"/>
                <a:cs typeface="Palatino Linotype"/>
              </a:rPr>
              <a:t>derivations (</a:t>
            </a:r>
            <a:r>
              <a:rPr sz="2925" kern="1200" spc="89" baseline="1424" dirty="0">
                <a:solidFill>
                  <a:srgbClr val="FF0000"/>
                </a:solidFill>
                <a:latin typeface="SimSun"/>
                <a:cs typeface="SimSun"/>
              </a:rPr>
              <a:t>最右推导</a:t>
            </a:r>
            <a:r>
              <a:rPr sz="2000" b="1" kern="1200" spc="-5" dirty="0">
                <a:solidFill>
                  <a:srgbClr val="FF0000"/>
                </a:solidFill>
                <a:latin typeface="Palatino Linotype"/>
                <a:cs typeface="Palatino Linotype"/>
              </a:rPr>
              <a:t>)</a:t>
            </a:r>
            <a:r>
              <a:rPr sz="2000" kern="1200" spc="-5" dirty="0">
                <a:solidFill>
                  <a:prstClr val="black"/>
                </a:solidFill>
                <a:latin typeface="Palatino Linotype"/>
                <a:cs typeface="Palatino Linotype"/>
              </a:rPr>
              <a:t>,</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rightmost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nonterminal</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is </a:t>
            </a:r>
            <a:r>
              <a:rPr sz="2000" kern="1200" spc="-484" dirty="0">
                <a:solidFill>
                  <a:prstClr val="black"/>
                </a:solidFill>
                <a:latin typeface="Palatino Linotype"/>
                <a:cs typeface="Palatino Linotype"/>
              </a:rPr>
              <a:t> </a:t>
            </a:r>
            <a:r>
              <a:rPr sz="2000" kern="1200" spc="-10" dirty="0">
                <a:solidFill>
                  <a:prstClr val="black"/>
                </a:solidFill>
                <a:latin typeface="Palatino Linotype"/>
                <a:cs typeface="Palatino Linotype"/>
              </a:rPr>
              <a:t>always</a:t>
            </a:r>
            <a:r>
              <a:rPr sz="2000" kern="1200" spc="-5" dirty="0">
                <a:solidFill>
                  <a:prstClr val="black"/>
                </a:solidFill>
                <a:latin typeface="Palatino Linotype"/>
                <a:cs typeface="Palatino Linotype"/>
              </a:rPr>
              <a:t> chosen to </a:t>
            </a:r>
            <a:r>
              <a:rPr sz="2000" kern="1200" dirty="0">
                <a:solidFill>
                  <a:prstClr val="black"/>
                </a:solidFill>
                <a:latin typeface="Palatino Linotype"/>
                <a:cs typeface="Palatino Linotype"/>
              </a:rPr>
              <a:t>be </a:t>
            </a:r>
            <a:r>
              <a:rPr sz="2000" kern="1200" spc="-5" dirty="0">
                <a:solidFill>
                  <a:prstClr val="black"/>
                </a:solidFill>
                <a:latin typeface="Palatino Linotype"/>
                <a:cs typeface="Palatino Linotype"/>
              </a:rPr>
              <a:t>replaced</a:t>
            </a:r>
            <a:endParaRPr sz="2000" kern="1200">
              <a:solidFill>
                <a:prstClr val="black"/>
              </a:solidFill>
              <a:latin typeface="Palatino Linotype"/>
              <a:cs typeface="Palatino Linotype"/>
            </a:endParaRPr>
          </a:p>
        </p:txBody>
      </p:sp>
      <p:pic>
        <p:nvPicPr>
          <p:cNvPr id="44" name="object 16">
            <a:extLst>
              <a:ext uri="{FF2B5EF4-FFF2-40B4-BE49-F238E27FC236}">
                <a16:creationId xmlns:a16="http://schemas.microsoft.com/office/drawing/2014/main" id="{77064A82-1CEA-1C19-FB88-349D1FD3FFB3}"/>
              </a:ext>
            </a:extLst>
          </p:cNvPr>
          <p:cNvPicPr/>
          <p:nvPr/>
        </p:nvPicPr>
        <p:blipFill>
          <a:blip r:embed="rId5" cstate="print"/>
          <a:stretch>
            <a:fillRect/>
          </a:stretch>
        </p:blipFill>
        <p:spPr>
          <a:xfrm>
            <a:off x="1632031" y="5509374"/>
            <a:ext cx="245219" cy="129232"/>
          </a:xfrm>
          <a:prstGeom prst="rect">
            <a:avLst/>
          </a:prstGeom>
        </p:spPr>
      </p:pic>
      <p:pic>
        <p:nvPicPr>
          <p:cNvPr id="45" name="object 17">
            <a:extLst>
              <a:ext uri="{FF2B5EF4-FFF2-40B4-BE49-F238E27FC236}">
                <a16:creationId xmlns:a16="http://schemas.microsoft.com/office/drawing/2014/main" id="{C48AB32D-8ABF-6918-7F17-D49DF56873A4}"/>
              </a:ext>
            </a:extLst>
          </p:cNvPr>
          <p:cNvPicPr/>
          <p:nvPr/>
        </p:nvPicPr>
        <p:blipFill>
          <a:blip r:embed="rId6" cstate="print"/>
          <a:stretch>
            <a:fillRect/>
          </a:stretch>
        </p:blipFill>
        <p:spPr>
          <a:xfrm>
            <a:off x="2421082" y="5509374"/>
            <a:ext cx="245219" cy="129232"/>
          </a:xfrm>
          <a:prstGeom prst="rect">
            <a:avLst/>
          </a:prstGeom>
        </p:spPr>
      </p:pic>
      <p:sp>
        <p:nvSpPr>
          <p:cNvPr id="46" name="object 18">
            <a:extLst>
              <a:ext uri="{FF2B5EF4-FFF2-40B4-BE49-F238E27FC236}">
                <a16:creationId xmlns:a16="http://schemas.microsoft.com/office/drawing/2014/main" id="{1410DB8E-5B0E-DEDE-A2FF-705B169DAEEE}"/>
              </a:ext>
            </a:extLst>
          </p:cNvPr>
          <p:cNvSpPr/>
          <p:nvPr/>
        </p:nvSpPr>
        <p:spPr>
          <a:xfrm>
            <a:off x="3006316" y="5456220"/>
            <a:ext cx="335280" cy="235585"/>
          </a:xfrm>
          <a:custGeom>
            <a:avLst/>
            <a:gdLst/>
            <a:ahLst/>
            <a:cxnLst/>
            <a:rect l="l" t="t" r="r" b="b"/>
            <a:pathLst>
              <a:path w="335279" h="235585">
                <a:moveTo>
                  <a:pt x="259802" y="0"/>
                </a:moveTo>
                <a:lnTo>
                  <a:pt x="256454" y="9549"/>
                </a:lnTo>
                <a:lnTo>
                  <a:pt x="270073" y="15459"/>
                </a:lnTo>
                <a:lnTo>
                  <a:pt x="281786" y="23641"/>
                </a:lnTo>
                <a:lnTo>
                  <a:pt x="305567" y="61565"/>
                </a:lnTo>
                <a:lnTo>
                  <a:pt x="313381" y="116457"/>
                </a:lnTo>
                <a:lnTo>
                  <a:pt x="312509" y="137208"/>
                </a:lnTo>
                <a:lnTo>
                  <a:pt x="299429" y="188019"/>
                </a:lnTo>
                <a:lnTo>
                  <a:pt x="270233" y="219784"/>
                </a:lnTo>
                <a:lnTo>
                  <a:pt x="256827" y="225722"/>
                </a:lnTo>
                <a:lnTo>
                  <a:pt x="259802" y="235272"/>
                </a:lnTo>
                <a:lnTo>
                  <a:pt x="304753" y="208564"/>
                </a:lnTo>
                <a:lnTo>
                  <a:pt x="330000" y="159261"/>
                </a:lnTo>
                <a:lnTo>
                  <a:pt x="334838" y="117697"/>
                </a:lnTo>
                <a:lnTo>
                  <a:pt x="333624" y="96129"/>
                </a:lnTo>
                <a:lnTo>
                  <a:pt x="323919" y="57899"/>
                </a:lnTo>
                <a:lnTo>
                  <a:pt x="291816" y="15083"/>
                </a:lnTo>
                <a:lnTo>
                  <a:pt x="276860" y="6158"/>
                </a:lnTo>
                <a:lnTo>
                  <a:pt x="259802" y="0"/>
                </a:lnTo>
                <a:close/>
              </a:path>
              <a:path w="335279" h="235585">
                <a:moveTo>
                  <a:pt x="75034" y="0"/>
                </a:moveTo>
                <a:lnTo>
                  <a:pt x="30164" y="26776"/>
                </a:lnTo>
                <a:lnTo>
                  <a:pt x="4852" y="76196"/>
                </a:lnTo>
                <a:lnTo>
                  <a:pt x="0" y="117697"/>
                </a:lnTo>
                <a:lnTo>
                  <a:pt x="1209" y="139312"/>
                </a:lnTo>
                <a:lnTo>
                  <a:pt x="10882" y="177543"/>
                </a:lnTo>
                <a:lnTo>
                  <a:pt x="42943" y="220218"/>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7" name="object 19">
            <a:extLst>
              <a:ext uri="{FF2B5EF4-FFF2-40B4-BE49-F238E27FC236}">
                <a16:creationId xmlns:a16="http://schemas.microsoft.com/office/drawing/2014/main" id="{45145C6C-3B58-FCC2-EED4-6C3F40433D2C}"/>
              </a:ext>
            </a:extLst>
          </p:cNvPr>
          <p:cNvSpPr txBox="1"/>
          <p:nvPr/>
        </p:nvSpPr>
        <p:spPr>
          <a:xfrm>
            <a:off x="1164589" y="5378196"/>
            <a:ext cx="2096135" cy="467359"/>
          </a:xfrm>
          <a:prstGeom prst="rect">
            <a:avLst/>
          </a:prstGeom>
        </p:spPr>
        <p:txBody>
          <a:bodyPr vert="horz" wrap="square" lIns="0" tIns="12700" rIns="0" bIns="0" rtlCol="0">
            <a:spAutoFit/>
          </a:bodyPr>
          <a:lstStyle/>
          <a:p>
            <a:pPr marL="241300" indent="-228600" rtl="0">
              <a:lnSpc>
                <a:spcPts val="2039"/>
              </a:lnSpc>
              <a:spcBef>
                <a:spcPts val="100"/>
              </a:spcBef>
              <a:buClr>
                <a:srgbClr val="000000"/>
              </a:buClr>
              <a:buFont typeface="Wingdings"/>
              <a:buChar char=""/>
              <a:tabLst>
                <a:tab pos="241300" algn="l"/>
                <a:tab pos="782955" algn="l"/>
                <a:tab pos="1572260" algn="l"/>
                <a:tab pos="1924685" algn="l"/>
              </a:tabLst>
            </a:pPr>
            <a:r>
              <a:rPr sz="2000" kern="1200" dirty="0">
                <a:solidFill>
                  <a:srgbClr val="FF0000"/>
                </a:solidFill>
                <a:latin typeface="Cambria Math"/>
                <a:cs typeface="Cambria Math"/>
              </a:rPr>
              <a:t>𝐸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srgbClr val="FF0000"/>
                </a:solidFill>
                <a:latin typeface="Cambria Math"/>
                <a:cs typeface="Cambria Math"/>
              </a:rPr>
              <a:t>𝐸	</a:t>
            </a:r>
            <a:r>
              <a:rPr sz="2000" kern="1200" dirty="0">
                <a:solidFill>
                  <a:prstClr val="black"/>
                </a:solidFill>
                <a:latin typeface="Cambria Math"/>
                <a:cs typeface="Cambria Math"/>
              </a:rPr>
              <a:t>−	</a:t>
            </a:r>
            <a:r>
              <a:rPr sz="2000" kern="1200" dirty="0">
                <a:solidFill>
                  <a:srgbClr val="FF0000"/>
                </a:solidFill>
                <a:latin typeface="Cambria Math"/>
                <a:cs typeface="Cambria Math"/>
              </a:rPr>
              <a:t>𝐸</a:t>
            </a:r>
            <a:endParaRPr sz="2000" kern="1200">
              <a:solidFill>
                <a:prstClr val="black"/>
              </a:solidFill>
              <a:latin typeface="Cambria Math"/>
              <a:cs typeface="Cambria Math"/>
            </a:endParaRPr>
          </a:p>
          <a:p>
            <a:pPr marL="452120" rtl="0">
              <a:lnSpc>
                <a:spcPts val="1440"/>
              </a:lnSpc>
              <a:tabLst>
                <a:tab pos="1240790" algn="l"/>
              </a:tabLst>
            </a:pPr>
            <a:r>
              <a:rPr sz="1500" kern="1200" spc="100" dirty="0">
                <a:solidFill>
                  <a:prstClr val="black"/>
                </a:solidFill>
                <a:latin typeface="Cambria Math"/>
                <a:cs typeface="Cambria Math"/>
              </a:rPr>
              <a:t>𝑟𝑚	𝑟𝑚</a:t>
            </a:r>
            <a:endParaRPr sz="1500" kern="1200">
              <a:solidFill>
                <a:prstClr val="black"/>
              </a:solidFill>
              <a:latin typeface="Cambria Math"/>
              <a:cs typeface="Cambria Math"/>
            </a:endParaRPr>
          </a:p>
        </p:txBody>
      </p:sp>
      <p:pic>
        <p:nvPicPr>
          <p:cNvPr id="48" name="object 20">
            <a:extLst>
              <a:ext uri="{FF2B5EF4-FFF2-40B4-BE49-F238E27FC236}">
                <a16:creationId xmlns:a16="http://schemas.microsoft.com/office/drawing/2014/main" id="{2962F56D-7AE8-0B1E-B9CE-5E4D5E29BFC0}"/>
              </a:ext>
            </a:extLst>
          </p:cNvPr>
          <p:cNvPicPr/>
          <p:nvPr/>
        </p:nvPicPr>
        <p:blipFill>
          <a:blip r:embed="rId7" cstate="print"/>
          <a:stretch>
            <a:fillRect/>
          </a:stretch>
        </p:blipFill>
        <p:spPr>
          <a:xfrm>
            <a:off x="3420953" y="5509374"/>
            <a:ext cx="245219" cy="129232"/>
          </a:xfrm>
          <a:prstGeom prst="rect">
            <a:avLst/>
          </a:prstGeom>
        </p:spPr>
      </p:pic>
      <p:sp>
        <p:nvSpPr>
          <p:cNvPr id="49" name="object 21">
            <a:extLst>
              <a:ext uri="{FF2B5EF4-FFF2-40B4-BE49-F238E27FC236}">
                <a16:creationId xmlns:a16="http://schemas.microsoft.com/office/drawing/2014/main" id="{0AC3109F-8DB6-6D06-B1B9-13F1D1ECC2CC}"/>
              </a:ext>
            </a:extLst>
          </p:cNvPr>
          <p:cNvSpPr/>
          <p:nvPr/>
        </p:nvSpPr>
        <p:spPr>
          <a:xfrm>
            <a:off x="4006187" y="5456220"/>
            <a:ext cx="807085" cy="235585"/>
          </a:xfrm>
          <a:custGeom>
            <a:avLst/>
            <a:gdLst/>
            <a:ahLst/>
            <a:cxnLst/>
            <a:rect l="l" t="t" r="r" b="b"/>
            <a:pathLst>
              <a:path w="807085" h="235585">
                <a:moveTo>
                  <a:pt x="731861" y="0"/>
                </a:moveTo>
                <a:lnTo>
                  <a:pt x="728513" y="9549"/>
                </a:lnTo>
                <a:lnTo>
                  <a:pt x="742132" y="15459"/>
                </a:lnTo>
                <a:lnTo>
                  <a:pt x="753845" y="23641"/>
                </a:lnTo>
                <a:lnTo>
                  <a:pt x="777626" y="61565"/>
                </a:lnTo>
                <a:lnTo>
                  <a:pt x="785440" y="116457"/>
                </a:lnTo>
                <a:lnTo>
                  <a:pt x="784568" y="137208"/>
                </a:lnTo>
                <a:lnTo>
                  <a:pt x="771488" y="188019"/>
                </a:lnTo>
                <a:lnTo>
                  <a:pt x="742292" y="219784"/>
                </a:lnTo>
                <a:lnTo>
                  <a:pt x="728886" y="225722"/>
                </a:lnTo>
                <a:lnTo>
                  <a:pt x="731861" y="235272"/>
                </a:lnTo>
                <a:lnTo>
                  <a:pt x="776812" y="208564"/>
                </a:lnTo>
                <a:lnTo>
                  <a:pt x="802058" y="159261"/>
                </a:lnTo>
                <a:lnTo>
                  <a:pt x="806895" y="117697"/>
                </a:lnTo>
                <a:lnTo>
                  <a:pt x="805682" y="96129"/>
                </a:lnTo>
                <a:lnTo>
                  <a:pt x="795978" y="57899"/>
                </a:lnTo>
                <a:lnTo>
                  <a:pt x="763875" y="15083"/>
                </a:lnTo>
                <a:lnTo>
                  <a:pt x="748919" y="6158"/>
                </a:lnTo>
                <a:lnTo>
                  <a:pt x="731861" y="0"/>
                </a:lnTo>
                <a:close/>
              </a:path>
              <a:path w="807085" h="235585">
                <a:moveTo>
                  <a:pt x="75034" y="0"/>
                </a:moveTo>
                <a:lnTo>
                  <a:pt x="30164" y="26776"/>
                </a:lnTo>
                <a:lnTo>
                  <a:pt x="4852" y="76196"/>
                </a:lnTo>
                <a:lnTo>
                  <a:pt x="0" y="117697"/>
                </a:lnTo>
                <a:lnTo>
                  <a:pt x="1209" y="139312"/>
                </a:lnTo>
                <a:lnTo>
                  <a:pt x="10882" y="177543"/>
                </a:lnTo>
                <a:lnTo>
                  <a:pt x="42942" y="220218"/>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0" name="object 22">
            <a:extLst>
              <a:ext uri="{FF2B5EF4-FFF2-40B4-BE49-F238E27FC236}">
                <a16:creationId xmlns:a16="http://schemas.microsoft.com/office/drawing/2014/main" id="{4A5820F3-B1FB-B7E3-14F1-3D8006552B6D}"/>
              </a:ext>
            </a:extLst>
          </p:cNvPr>
          <p:cNvSpPr txBox="1"/>
          <p:nvPr/>
        </p:nvSpPr>
        <p:spPr>
          <a:xfrm>
            <a:off x="3393122" y="5378196"/>
            <a:ext cx="1339850" cy="467359"/>
          </a:xfrm>
          <a:prstGeom prst="rect">
            <a:avLst/>
          </a:prstGeom>
        </p:spPr>
        <p:txBody>
          <a:bodyPr vert="horz" wrap="square" lIns="0" tIns="12700" rIns="0" bIns="0" rtlCol="0">
            <a:spAutoFit/>
          </a:bodyPr>
          <a:lstStyle/>
          <a:p>
            <a:pPr marL="343535" rtl="0">
              <a:lnSpc>
                <a:spcPts val="2039"/>
              </a:lnSpc>
              <a:spcBef>
                <a:spcPts val="100"/>
              </a:spcBef>
              <a:tabLst>
                <a:tab pos="695960" algn="l"/>
              </a:tabLst>
            </a:pPr>
            <a:r>
              <a:rPr sz="2000" kern="1200" dirty="0">
                <a:solidFill>
                  <a:prstClr val="black"/>
                </a:solidFill>
                <a:latin typeface="Cambria Math"/>
                <a:cs typeface="Cambria Math"/>
              </a:rPr>
              <a:t>−	𝐸</a:t>
            </a:r>
            <a:r>
              <a:rPr sz="2000" kern="1200" spc="3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35" dirty="0">
                <a:solidFill>
                  <a:prstClr val="black"/>
                </a:solidFill>
                <a:latin typeface="Cambria Math"/>
                <a:cs typeface="Cambria Math"/>
              </a:rPr>
              <a:t> </a:t>
            </a:r>
            <a:r>
              <a:rPr sz="2000" kern="1200" dirty="0">
                <a:solidFill>
                  <a:srgbClr val="FF0000"/>
                </a:solidFill>
                <a:latin typeface="Cambria Math"/>
                <a:cs typeface="Cambria Math"/>
              </a:rPr>
              <a:t>𝐸</a:t>
            </a:r>
            <a:endParaRPr sz="2000" kern="1200">
              <a:solidFill>
                <a:prstClr val="black"/>
              </a:solidFill>
              <a:latin typeface="Cambria Math"/>
              <a:cs typeface="Cambria Math"/>
            </a:endParaRPr>
          </a:p>
          <a:p>
            <a:pPr marL="12700" rtl="0">
              <a:lnSpc>
                <a:spcPts val="1440"/>
              </a:lnSpc>
            </a:pPr>
            <a:r>
              <a:rPr sz="1500" kern="1200" spc="100" dirty="0">
                <a:solidFill>
                  <a:prstClr val="black"/>
                </a:solidFill>
                <a:latin typeface="Cambria Math"/>
                <a:cs typeface="Cambria Math"/>
              </a:rPr>
              <a:t>𝑟𝑚</a:t>
            </a:r>
            <a:endParaRPr sz="1500" kern="1200">
              <a:solidFill>
                <a:prstClr val="black"/>
              </a:solidFill>
              <a:latin typeface="Cambria Math"/>
              <a:cs typeface="Cambria Math"/>
            </a:endParaRPr>
          </a:p>
        </p:txBody>
      </p:sp>
      <p:pic>
        <p:nvPicPr>
          <p:cNvPr id="51" name="object 23">
            <a:extLst>
              <a:ext uri="{FF2B5EF4-FFF2-40B4-BE49-F238E27FC236}">
                <a16:creationId xmlns:a16="http://schemas.microsoft.com/office/drawing/2014/main" id="{817DBD1F-309C-2AC7-3239-62A8207FC0D5}"/>
              </a:ext>
            </a:extLst>
          </p:cNvPr>
          <p:cNvPicPr/>
          <p:nvPr/>
        </p:nvPicPr>
        <p:blipFill>
          <a:blip r:embed="rId7" cstate="print"/>
          <a:stretch>
            <a:fillRect/>
          </a:stretch>
        </p:blipFill>
        <p:spPr>
          <a:xfrm>
            <a:off x="4892883" y="5509374"/>
            <a:ext cx="245219" cy="129232"/>
          </a:xfrm>
          <a:prstGeom prst="rect">
            <a:avLst/>
          </a:prstGeom>
        </p:spPr>
      </p:pic>
      <p:sp>
        <p:nvSpPr>
          <p:cNvPr id="52" name="object 24">
            <a:extLst>
              <a:ext uri="{FF2B5EF4-FFF2-40B4-BE49-F238E27FC236}">
                <a16:creationId xmlns:a16="http://schemas.microsoft.com/office/drawing/2014/main" id="{9415C11B-00DF-5727-8078-249EDE4296E1}"/>
              </a:ext>
            </a:extLst>
          </p:cNvPr>
          <p:cNvSpPr/>
          <p:nvPr/>
        </p:nvSpPr>
        <p:spPr>
          <a:xfrm>
            <a:off x="5478117" y="5456220"/>
            <a:ext cx="878205" cy="235585"/>
          </a:xfrm>
          <a:custGeom>
            <a:avLst/>
            <a:gdLst/>
            <a:ahLst/>
            <a:cxnLst/>
            <a:rect l="l" t="t" r="r" b="b"/>
            <a:pathLst>
              <a:path w="878204" h="235585">
                <a:moveTo>
                  <a:pt x="802918" y="0"/>
                </a:moveTo>
                <a:lnTo>
                  <a:pt x="799570" y="9549"/>
                </a:lnTo>
                <a:lnTo>
                  <a:pt x="813189" y="15459"/>
                </a:lnTo>
                <a:lnTo>
                  <a:pt x="824901" y="23641"/>
                </a:lnTo>
                <a:lnTo>
                  <a:pt x="848683" y="61565"/>
                </a:lnTo>
                <a:lnTo>
                  <a:pt x="856496" y="116457"/>
                </a:lnTo>
                <a:lnTo>
                  <a:pt x="855624" y="137208"/>
                </a:lnTo>
                <a:lnTo>
                  <a:pt x="842543" y="188019"/>
                </a:lnTo>
                <a:lnTo>
                  <a:pt x="813347" y="219784"/>
                </a:lnTo>
                <a:lnTo>
                  <a:pt x="799941" y="225722"/>
                </a:lnTo>
                <a:lnTo>
                  <a:pt x="802918" y="235272"/>
                </a:lnTo>
                <a:lnTo>
                  <a:pt x="847869" y="208564"/>
                </a:lnTo>
                <a:lnTo>
                  <a:pt x="873115" y="159261"/>
                </a:lnTo>
                <a:lnTo>
                  <a:pt x="877952" y="117697"/>
                </a:lnTo>
                <a:lnTo>
                  <a:pt x="876739" y="96129"/>
                </a:lnTo>
                <a:lnTo>
                  <a:pt x="867034" y="57899"/>
                </a:lnTo>
                <a:lnTo>
                  <a:pt x="834931" y="15083"/>
                </a:lnTo>
                <a:lnTo>
                  <a:pt x="819975" y="6158"/>
                </a:lnTo>
                <a:lnTo>
                  <a:pt x="802918" y="0"/>
                </a:lnTo>
                <a:close/>
              </a:path>
              <a:path w="878204" h="235585">
                <a:moveTo>
                  <a:pt x="75034" y="0"/>
                </a:moveTo>
                <a:lnTo>
                  <a:pt x="30164" y="26776"/>
                </a:lnTo>
                <a:lnTo>
                  <a:pt x="4852" y="76196"/>
                </a:lnTo>
                <a:lnTo>
                  <a:pt x="0" y="117697"/>
                </a:lnTo>
                <a:lnTo>
                  <a:pt x="1209" y="139312"/>
                </a:lnTo>
                <a:lnTo>
                  <a:pt x="10882" y="177543"/>
                </a:lnTo>
                <a:lnTo>
                  <a:pt x="42942" y="220218"/>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1"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53" name="object 25">
            <a:extLst>
              <a:ext uri="{FF2B5EF4-FFF2-40B4-BE49-F238E27FC236}">
                <a16:creationId xmlns:a16="http://schemas.microsoft.com/office/drawing/2014/main" id="{D4218E09-F11A-8CFA-7E70-8AF526110B4D}"/>
              </a:ext>
            </a:extLst>
          </p:cNvPr>
          <p:cNvPicPr/>
          <p:nvPr/>
        </p:nvPicPr>
        <p:blipFill>
          <a:blip r:embed="rId7" cstate="print"/>
          <a:stretch>
            <a:fillRect/>
          </a:stretch>
        </p:blipFill>
        <p:spPr>
          <a:xfrm>
            <a:off x="6435869" y="5509374"/>
            <a:ext cx="245219" cy="129232"/>
          </a:xfrm>
          <a:prstGeom prst="rect">
            <a:avLst/>
          </a:prstGeom>
        </p:spPr>
      </p:pic>
      <p:sp>
        <p:nvSpPr>
          <p:cNvPr id="54" name="object 26">
            <a:extLst>
              <a:ext uri="{FF2B5EF4-FFF2-40B4-BE49-F238E27FC236}">
                <a16:creationId xmlns:a16="http://schemas.microsoft.com/office/drawing/2014/main" id="{BF552672-BDE0-4FDE-99D9-317AF8E300B7}"/>
              </a:ext>
            </a:extLst>
          </p:cNvPr>
          <p:cNvSpPr txBox="1"/>
          <p:nvPr/>
        </p:nvSpPr>
        <p:spPr>
          <a:xfrm>
            <a:off x="4865052" y="5378196"/>
            <a:ext cx="3140075" cy="467359"/>
          </a:xfrm>
          <a:prstGeom prst="rect">
            <a:avLst/>
          </a:prstGeom>
        </p:spPr>
        <p:txBody>
          <a:bodyPr vert="horz" wrap="square" lIns="0" tIns="12700" rIns="0" bIns="0" rtlCol="0">
            <a:spAutoFit/>
          </a:bodyPr>
          <a:lstStyle/>
          <a:p>
            <a:pPr marL="343535" rtl="0">
              <a:lnSpc>
                <a:spcPts val="2039"/>
              </a:lnSpc>
              <a:spcBef>
                <a:spcPts val="100"/>
              </a:spcBef>
              <a:tabLst>
                <a:tab pos="695960" algn="l"/>
                <a:tab pos="1886585" algn="l"/>
              </a:tabLst>
            </a:pPr>
            <a:r>
              <a:rPr sz="2000" kern="1200" dirty="0">
                <a:solidFill>
                  <a:prstClr val="black"/>
                </a:solidFill>
                <a:latin typeface="Cambria Math"/>
                <a:cs typeface="Cambria Math"/>
              </a:rPr>
              <a:t>−	</a:t>
            </a:r>
            <a:r>
              <a:rPr sz="2000" kern="1200" dirty="0">
                <a:solidFill>
                  <a:srgbClr val="FF0000"/>
                </a:solidFill>
                <a:latin typeface="Cambria Math"/>
                <a:cs typeface="Cambria Math"/>
              </a:rPr>
              <a:t>𝐸</a:t>
            </a:r>
            <a:r>
              <a:rPr sz="2000" kern="1200" spc="80" dirty="0">
                <a:solidFill>
                  <a:srgbClr val="FF0000"/>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prstClr val="black"/>
                </a:solidFill>
                <a:latin typeface="Cambria Math"/>
                <a:cs typeface="Cambria Math"/>
              </a:rPr>
              <a:t>𝐢𝐝	−</a:t>
            </a:r>
            <a:r>
              <a:rPr sz="2000" kern="1200" spc="-25" dirty="0">
                <a:solidFill>
                  <a:prstClr val="black"/>
                </a:solidFill>
                <a:latin typeface="Cambria Math"/>
                <a:cs typeface="Cambria Math"/>
              </a:rPr>
              <a:t> </a:t>
            </a:r>
            <a:r>
              <a:rPr sz="2000" kern="1200" spc="-5" dirty="0">
                <a:solidFill>
                  <a:prstClr val="black"/>
                </a:solidFill>
                <a:latin typeface="Cambria Math"/>
                <a:cs typeface="Cambria Math"/>
              </a:rPr>
              <a:t>(𝐢𝐝</a:t>
            </a:r>
            <a:r>
              <a:rPr sz="2000" kern="1200" spc="-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25" dirty="0">
                <a:solidFill>
                  <a:prstClr val="black"/>
                </a:solidFill>
                <a:latin typeface="Cambria Math"/>
                <a:cs typeface="Cambria Math"/>
              </a:rPr>
              <a:t> </a:t>
            </a:r>
            <a:r>
              <a:rPr sz="2000" kern="1200" dirty="0">
                <a:solidFill>
                  <a:prstClr val="black"/>
                </a:solidFill>
                <a:latin typeface="Cambria Math"/>
                <a:cs typeface="Cambria Math"/>
              </a:rPr>
              <a:t>𝐢𝐝)</a:t>
            </a:r>
            <a:endParaRPr sz="2000" kern="1200">
              <a:solidFill>
                <a:prstClr val="black"/>
              </a:solidFill>
              <a:latin typeface="Cambria Math"/>
              <a:cs typeface="Cambria Math"/>
            </a:endParaRPr>
          </a:p>
          <a:p>
            <a:pPr marL="12700" rtl="0">
              <a:lnSpc>
                <a:spcPts val="1440"/>
              </a:lnSpc>
              <a:tabLst>
                <a:tab pos="1555115" algn="l"/>
              </a:tabLst>
            </a:pPr>
            <a:r>
              <a:rPr sz="1500" kern="1200" spc="100" dirty="0">
                <a:solidFill>
                  <a:prstClr val="black"/>
                </a:solidFill>
                <a:latin typeface="Cambria Math"/>
                <a:cs typeface="Cambria Math"/>
              </a:rPr>
              <a:t>𝑟𝑚	𝑟𝑚</a:t>
            </a:r>
            <a:endParaRPr sz="1500" kern="1200">
              <a:solidFill>
                <a:prstClr val="black"/>
              </a:solidFill>
              <a:latin typeface="Cambria Math"/>
              <a:cs typeface="Cambria Math"/>
            </a:endParaRPr>
          </a:p>
        </p:txBody>
      </p:sp>
    </p:spTree>
    <p:extLst>
      <p:ext uri="{BB962C8B-B14F-4D97-AF65-F5344CB8AC3E}">
        <p14:creationId xmlns:p14="http://schemas.microsoft.com/office/powerpoint/2010/main" val="748819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15</a:t>
            </a:fld>
            <a:endParaRPr lang="en-US"/>
          </a:p>
        </p:txBody>
      </p:sp>
      <p:sp>
        <p:nvSpPr>
          <p:cNvPr id="29" name="object 2">
            <a:extLst>
              <a:ext uri="{FF2B5EF4-FFF2-40B4-BE49-F238E27FC236}">
                <a16:creationId xmlns:a16="http://schemas.microsoft.com/office/drawing/2014/main" id="{9FC7EA28-8FD0-13E9-C0FF-3395BD83830A}"/>
              </a:ext>
            </a:extLst>
          </p:cNvPr>
          <p:cNvSpPr txBox="1">
            <a:spLocks/>
          </p:cNvSpPr>
          <p:nvPr/>
        </p:nvSpPr>
        <p:spPr>
          <a:xfrm>
            <a:off x="707390" y="524763"/>
            <a:ext cx="56400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Parse</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60" normalizeH="0" baseline="0" noProof="0">
                <a:ln>
                  <a:noFill/>
                </a:ln>
                <a:solidFill>
                  <a:sysClr val="windowText" lastClr="000000"/>
                </a:solidFill>
                <a:effectLst/>
                <a:uLnTx/>
                <a:uFillTx/>
                <a:latin typeface="Palatino Linotype"/>
                <a:ea typeface="+mj-ea"/>
              </a:rPr>
              <a:t>Trees</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语法分析树</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30" name="object 3">
            <a:extLst>
              <a:ext uri="{FF2B5EF4-FFF2-40B4-BE49-F238E27FC236}">
                <a16:creationId xmlns:a16="http://schemas.microsoft.com/office/drawing/2014/main" id="{3950921C-489C-3F7F-D240-3D953A230537}"/>
              </a:ext>
            </a:extLst>
          </p:cNvPr>
          <p:cNvSpPr txBox="1"/>
          <p:nvPr/>
        </p:nvSpPr>
        <p:spPr>
          <a:xfrm>
            <a:off x="707390" y="1461516"/>
            <a:ext cx="7374255" cy="3037498"/>
          </a:xfrm>
          <a:prstGeom prst="rect">
            <a:avLst/>
          </a:prstGeom>
        </p:spPr>
        <p:txBody>
          <a:bodyPr vert="horz" wrap="square" lIns="0" tIns="12700" rIns="0" bIns="0" rtlCol="0">
            <a:spAutoFit/>
          </a:bodyPr>
          <a:lstStyle/>
          <a:p>
            <a:pPr marL="242570" marR="334645" indent="-230504" rtl="0">
              <a:lnSpc>
                <a:spcPct val="117000"/>
              </a:lnSpc>
              <a:spcBef>
                <a:spcPts val="100"/>
              </a:spcBef>
              <a:buFont typeface="Arial MT"/>
              <a:buChar char="•"/>
              <a:tabLst>
                <a:tab pos="242570" algn="l"/>
                <a:tab pos="243204" algn="l"/>
              </a:tabLst>
            </a:pPr>
            <a:r>
              <a:rPr sz="2000" kern="1200" dirty="0">
                <a:solidFill>
                  <a:prstClr val="black"/>
                </a:solidFill>
                <a:latin typeface="Palatino Linotype"/>
                <a:cs typeface="Palatino Linotype"/>
              </a:rPr>
              <a:t>A </a:t>
            </a:r>
            <a:r>
              <a:rPr sz="2000" b="1" i="1" kern="1200" spc="-5" dirty="0">
                <a:solidFill>
                  <a:srgbClr val="FF0000"/>
                </a:solidFill>
                <a:latin typeface="Palatino Linotype"/>
                <a:cs typeface="Palatino Linotype"/>
              </a:rPr>
              <a:t>parse tree </a:t>
            </a:r>
            <a:r>
              <a:rPr sz="2000" kern="1200" dirty="0">
                <a:solidFill>
                  <a:prstClr val="black"/>
                </a:solidFill>
                <a:latin typeface="Palatino Linotype"/>
                <a:cs typeface="Palatino Linotype"/>
              </a:rPr>
              <a:t>is </a:t>
            </a:r>
            <a:r>
              <a:rPr sz="2000" kern="1200" dirty="0">
                <a:solidFill>
                  <a:srgbClr val="0432FF"/>
                </a:solidFill>
                <a:latin typeface="Palatino Linotype"/>
                <a:cs typeface="Palatino Linotype"/>
              </a:rPr>
              <a:t>a </a:t>
            </a:r>
            <a:r>
              <a:rPr sz="2000" kern="1200" spc="-5" dirty="0">
                <a:solidFill>
                  <a:srgbClr val="0432FF"/>
                </a:solidFill>
                <a:latin typeface="Palatino Linotype"/>
                <a:cs typeface="Palatino Linotype"/>
              </a:rPr>
              <a:t>graphical representation of </a:t>
            </a:r>
            <a:r>
              <a:rPr sz="2000" kern="1200" dirty="0">
                <a:solidFill>
                  <a:srgbClr val="0432FF"/>
                </a:solidFill>
                <a:latin typeface="Palatino Linotype"/>
                <a:cs typeface="Palatino Linotype"/>
              </a:rPr>
              <a:t>a </a:t>
            </a:r>
            <a:r>
              <a:rPr sz="2000" kern="1200" spc="-10" dirty="0">
                <a:solidFill>
                  <a:srgbClr val="0432FF"/>
                </a:solidFill>
                <a:latin typeface="Palatino Linotype"/>
                <a:cs typeface="Palatino Linotype"/>
              </a:rPr>
              <a:t>derivation</a:t>
            </a:r>
            <a:endParaRPr sz="2000" kern="1200" dirty="0">
              <a:solidFill>
                <a:prstClr val="black"/>
              </a:solidFill>
              <a:latin typeface="Palatino Linotype"/>
              <a:cs typeface="Palatino Linotype"/>
            </a:endParaRPr>
          </a:p>
          <a:p>
            <a:pPr marL="698500" lvl="1" indent="-228600" rtl="0">
              <a:spcBef>
                <a:spcPts val="1095"/>
              </a:spcBef>
              <a:buFont typeface="Wingdings"/>
              <a:buChar char=""/>
              <a:tabLst>
                <a:tab pos="697865" algn="l"/>
                <a:tab pos="698500" algn="l"/>
              </a:tabLst>
            </a:pPr>
            <a:r>
              <a:rPr sz="1600" kern="1200" spc="-5" dirty="0">
                <a:solidFill>
                  <a:prstClr val="black"/>
                </a:solidFill>
                <a:latin typeface="Palatino Linotype"/>
                <a:cs typeface="Palatino Linotype"/>
              </a:rPr>
              <a:t>The</a:t>
            </a:r>
            <a:r>
              <a:rPr sz="1600" kern="1200" spc="-15" dirty="0">
                <a:solidFill>
                  <a:prstClr val="black"/>
                </a:solidFill>
                <a:latin typeface="Palatino Linotype"/>
                <a:cs typeface="Palatino Linotype"/>
              </a:rPr>
              <a:t> </a:t>
            </a:r>
            <a:r>
              <a:rPr sz="1600" kern="1200" dirty="0">
                <a:solidFill>
                  <a:srgbClr val="FF0000"/>
                </a:solidFill>
                <a:latin typeface="Palatino Linotype"/>
                <a:cs typeface="Palatino Linotype"/>
              </a:rPr>
              <a:t>root node</a:t>
            </a:r>
            <a:r>
              <a:rPr sz="1600" kern="1200" spc="-10" dirty="0">
                <a:solidFill>
                  <a:srgbClr val="FF0000"/>
                </a:solidFill>
                <a:latin typeface="Palatino Linotype"/>
                <a:cs typeface="Palatino Linotype"/>
              </a:rPr>
              <a:t> </a:t>
            </a:r>
            <a:r>
              <a:rPr sz="1600" kern="1200" dirty="0">
                <a:solidFill>
                  <a:srgbClr val="FF0000"/>
                </a:solidFill>
                <a:latin typeface="Palatino Linotype"/>
                <a:cs typeface="Palatino Linotype"/>
              </a:rPr>
              <a:t>(</a:t>
            </a:r>
            <a:r>
              <a:rPr sz="1600" kern="1200" dirty="0">
                <a:solidFill>
                  <a:srgbClr val="FF0000"/>
                </a:solidFill>
                <a:latin typeface="SimSun"/>
                <a:cs typeface="SimSun"/>
              </a:rPr>
              <a:t>根结点</a:t>
            </a:r>
            <a:r>
              <a:rPr sz="1600" kern="1200" dirty="0">
                <a:solidFill>
                  <a:srgbClr val="FF0000"/>
                </a:solidFill>
                <a:latin typeface="Palatino Linotype"/>
                <a:cs typeface="Palatino Linotype"/>
              </a:rPr>
              <a:t>) </a:t>
            </a:r>
            <a:r>
              <a:rPr sz="1600" kern="1200" spc="-5" dirty="0">
                <a:solidFill>
                  <a:prstClr val="black"/>
                </a:solidFill>
                <a:latin typeface="Palatino Linotype"/>
                <a:cs typeface="Palatino Linotype"/>
              </a:rPr>
              <a:t>is </a:t>
            </a:r>
            <a:r>
              <a:rPr sz="1600" kern="1200" dirty="0">
                <a:solidFill>
                  <a:prstClr val="black"/>
                </a:solidFill>
                <a:latin typeface="Palatino Linotype"/>
                <a:cs typeface="Palatino Linotype"/>
              </a:rPr>
              <a:t>the</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start </a:t>
            </a:r>
            <a:r>
              <a:rPr sz="1600" kern="1200" spc="-5" dirty="0">
                <a:solidFill>
                  <a:prstClr val="black"/>
                </a:solidFill>
                <a:latin typeface="Palatino Linotype"/>
                <a:cs typeface="Palatino Linotype"/>
              </a:rPr>
              <a:t>symbol </a:t>
            </a:r>
            <a:r>
              <a:rPr sz="1600" kern="1200" dirty="0">
                <a:solidFill>
                  <a:prstClr val="black"/>
                </a:solidFill>
                <a:latin typeface="Palatino Linotype"/>
                <a:cs typeface="Palatino Linotype"/>
              </a:rPr>
              <a:t>of</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grammar</a:t>
            </a:r>
            <a:endParaRPr sz="1600" kern="1200" dirty="0">
              <a:solidFill>
                <a:prstClr val="black"/>
              </a:solidFill>
              <a:latin typeface="Palatino Linotype"/>
              <a:cs typeface="Palatino Linotype"/>
            </a:endParaRPr>
          </a:p>
          <a:p>
            <a:pPr marL="698500" lvl="1" indent="-228600" rtl="0">
              <a:spcBef>
                <a:spcPts val="985"/>
              </a:spcBef>
              <a:buFont typeface="Wingdings"/>
              <a:buChar char=""/>
              <a:tabLst>
                <a:tab pos="697865" algn="l"/>
                <a:tab pos="698500" algn="l"/>
              </a:tabLst>
            </a:pPr>
            <a:r>
              <a:rPr sz="1600" kern="1200" spc="-5" dirty="0">
                <a:solidFill>
                  <a:prstClr val="black"/>
                </a:solidFill>
                <a:latin typeface="Palatino Linotype"/>
                <a:cs typeface="Palatino Linotype"/>
              </a:rPr>
              <a:t>Each</a:t>
            </a:r>
            <a:r>
              <a:rPr sz="1600" kern="1200" dirty="0">
                <a:solidFill>
                  <a:prstClr val="black"/>
                </a:solidFill>
                <a:latin typeface="Palatino Linotype"/>
                <a:cs typeface="Palatino Linotype"/>
              </a:rPr>
              <a:t> </a:t>
            </a:r>
            <a:r>
              <a:rPr sz="1600" kern="1200" spc="-5" dirty="0">
                <a:solidFill>
                  <a:srgbClr val="FF0000"/>
                </a:solidFill>
                <a:latin typeface="Palatino Linotype"/>
                <a:cs typeface="Palatino Linotype"/>
              </a:rPr>
              <a:t>leaf</a:t>
            </a:r>
            <a:r>
              <a:rPr sz="1600" kern="1200" dirty="0">
                <a:solidFill>
                  <a:srgbClr val="FF0000"/>
                </a:solidFill>
                <a:latin typeface="Palatino Linotype"/>
                <a:cs typeface="Palatino Linotype"/>
              </a:rPr>
              <a:t> node</a:t>
            </a:r>
            <a:r>
              <a:rPr sz="1600" kern="1200" spc="-10" dirty="0">
                <a:solidFill>
                  <a:srgbClr val="FF0000"/>
                </a:solidFill>
                <a:latin typeface="Palatino Linotype"/>
                <a:cs typeface="Palatino Linotype"/>
              </a:rPr>
              <a:t> </a:t>
            </a:r>
            <a:r>
              <a:rPr sz="1600" kern="1200" dirty="0">
                <a:solidFill>
                  <a:srgbClr val="FF0000"/>
                </a:solidFill>
                <a:latin typeface="Palatino Linotype"/>
                <a:cs typeface="Palatino Linotype"/>
              </a:rPr>
              <a:t>(</a:t>
            </a:r>
            <a:r>
              <a:rPr sz="1600" kern="1200" dirty="0">
                <a:solidFill>
                  <a:srgbClr val="FF0000"/>
                </a:solidFill>
                <a:latin typeface="SimSun"/>
                <a:cs typeface="SimSun"/>
              </a:rPr>
              <a:t>叶子结点</a:t>
            </a:r>
            <a:r>
              <a:rPr sz="1600" kern="1200" dirty="0">
                <a:solidFill>
                  <a:srgbClr val="FF0000"/>
                </a:solidFill>
                <a:latin typeface="Palatino Linotype"/>
                <a:cs typeface="Palatino Linotype"/>
              </a:rPr>
              <a:t>) </a:t>
            </a:r>
            <a:r>
              <a:rPr sz="1600" kern="1200" spc="-5" dirty="0">
                <a:solidFill>
                  <a:prstClr val="black"/>
                </a:solidFill>
                <a:latin typeface="Palatino Linotype"/>
                <a:cs typeface="Palatino Linotype"/>
              </a:rPr>
              <a:t>is</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labeled </a:t>
            </a:r>
            <a:r>
              <a:rPr sz="1600" kern="1200" dirty="0">
                <a:solidFill>
                  <a:prstClr val="black"/>
                </a:solidFill>
                <a:latin typeface="Palatino Linotype"/>
                <a:cs typeface="Palatino Linotype"/>
              </a:rPr>
              <a:t>by</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a terminal</a:t>
            </a:r>
            <a:r>
              <a:rPr sz="1600" kern="1200" spc="-5" dirty="0">
                <a:solidFill>
                  <a:prstClr val="black"/>
                </a:solidFill>
                <a:latin typeface="Palatino Linotype"/>
                <a:cs typeface="Palatino Linotype"/>
              </a:rPr>
              <a:t> symbol</a:t>
            </a:r>
            <a:r>
              <a:rPr lang="en-US" sz="1600" kern="1200" spc="-5" dirty="0">
                <a:solidFill>
                  <a:prstClr val="black"/>
                </a:solidFill>
                <a:latin typeface="Palatino Linotype"/>
                <a:cs typeface="Palatino Linotype"/>
              </a:rPr>
              <a:t> </a:t>
            </a:r>
            <a:r>
              <a:rPr lang="en-US" altLang="zh-CN" sz="1600" kern="1200" spc="-5" dirty="0">
                <a:solidFill>
                  <a:prstClr val="black"/>
                </a:solidFill>
                <a:latin typeface="Palatino Linotype"/>
                <a:cs typeface="Palatino Linotype"/>
              </a:rPr>
              <a:t>or </a:t>
            </a:r>
            <a:r>
              <a:rPr lang="zh-CN" altLang="en-US" sz="1600" kern="1200" dirty="0">
                <a:solidFill>
                  <a:prstClr val="black"/>
                </a:solidFill>
                <a:latin typeface="Cambria Math"/>
                <a:cs typeface="Cambria Math"/>
              </a:rPr>
              <a:t>𝜖</a:t>
            </a:r>
            <a:endParaRPr sz="1600" kern="1200" dirty="0">
              <a:solidFill>
                <a:prstClr val="black"/>
              </a:solidFill>
              <a:latin typeface="Palatino Linotype"/>
              <a:cs typeface="Palatino Linotype"/>
            </a:endParaRPr>
          </a:p>
          <a:p>
            <a:pPr marL="698500" lvl="1" indent="-228600" rtl="0">
              <a:spcBef>
                <a:spcPts val="980"/>
              </a:spcBef>
              <a:buFont typeface="Wingdings"/>
              <a:buChar char=""/>
              <a:tabLst>
                <a:tab pos="697865" algn="l"/>
                <a:tab pos="698500" algn="l"/>
              </a:tabLst>
            </a:pPr>
            <a:r>
              <a:rPr sz="1600" kern="1200" spc="-5" dirty="0">
                <a:solidFill>
                  <a:prstClr val="black"/>
                </a:solidFill>
                <a:latin typeface="Palatino Linotype"/>
                <a:cs typeface="Palatino Linotype"/>
              </a:rPr>
              <a:t>Each</a:t>
            </a:r>
            <a:r>
              <a:rPr sz="1600" kern="1200" spc="5" dirty="0">
                <a:solidFill>
                  <a:prstClr val="black"/>
                </a:solidFill>
                <a:latin typeface="Palatino Linotype"/>
                <a:cs typeface="Palatino Linotype"/>
              </a:rPr>
              <a:t> </a:t>
            </a:r>
            <a:r>
              <a:rPr sz="1600" kern="1200" spc="-5" dirty="0">
                <a:solidFill>
                  <a:srgbClr val="FF0000"/>
                </a:solidFill>
                <a:latin typeface="Palatino Linotype"/>
                <a:cs typeface="Palatino Linotype"/>
              </a:rPr>
              <a:t>interior</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node (</a:t>
            </a:r>
            <a:r>
              <a:rPr sz="1600" kern="1200" dirty="0">
                <a:solidFill>
                  <a:srgbClr val="FF0000"/>
                </a:solidFill>
                <a:latin typeface="SimSun"/>
                <a:cs typeface="SimSun"/>
              </a:rPr>
              <a:t>内部结点</a:t>
            </a:r>
            <a:r>
              <a:rPr sz="1600" kern="1200" dirty="0">
                <a:solidFill>
                  <a:srgbClr val="FF0000"/>
                </a:solidFill>
                <a:latin typeface="Palatino Linotype"/>
                <a:cs typeface="Palatino Linotype"/>
              </a:rPr>
              <a:t>) </a:t>
            </a:r>
            <a:r>
              <a:rPr sz="1600" kern="1200" spc="-5" dirty="0">
                <a:solidFill>
                  <a:prstClr val="black"/>
                </a:solidFill>
                <a:latin typeface="Palatino Linotype"/>
                <a:cs typeface="Palatino Linotype"/>
              </a:rPr>
              <a:t>is labeled</a:t>
            </a:r>
            <a:r>
              <a:rPr sz="1600" kern="1200" dirty="0">
                <a:solidFill>
                  <a:prstClr val="black"/>
                </a:solidFill>
                <a:latin typeface="Palatino Linotype"/>
                <a:cs typeface="Palatino Linotype"/>
              </a:rPr>
              <a:t> </a:t>
            </a:r>
            <a:r>
              <a:rPr lang="en-US" altLang="zh-CN" sz="1600" kern="1200" spc="-5" dirty="0">
                <a:solidFill>
                  <a:prstClr val="black"/>
                </a:solidFill>
                <a:latin typeface="Palatino Linotype"/>
                <a:cs typeface="Palatino Linotype"/>
              </a:rPr>
              <a:t>by</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a nonterminal </a:t>
            </a:r>
            <a:r>
              <a:rPr sz="1600" kern="1200" spc="-5" dirty="0">
                <a:solidFill>
                  <a:prstClr val="black"/>
                </a:solidFill>
                <a:latin typeface="Palatino Linotype"/>
                <a:cs typeface="Palatino Linotype"/>
              </a:rPr>
              <a:t>symbol</a:t>
            </a:r>
            <a:endParaRPr sz="1600" kern="1200" dirty="0">
              <a:solidFill>
                <a:prstClr val="black"/>
              </a:solidFill>
              <a:latin typeface="Palatino Linotype"/>
              <a:cs typeface="Palatino Linotype"/>
            </a:endParaRPr>
          </a:p>
          <a:p>
            <a:pPr marL="698500" lvl="1" indent="-228600" rtl="0">
              <a:spcBef>
                <a:spcPts val="985"/>
              </a:spcBef>
              <a:buClr>
                <a:srgbClr val="000000"/>
              </a:buClr>
              <a:buFont typeface="Wingdings"/>
              <a:buChar char=""/>
              <a:tabLst>
                <a:tab pos="697865" algn="l"/>
                <a:tab pos="698500" algn="l"/>
              </a:tabLst>
            </a:pPr>
            <a:r>
              <a:rPr sz="1600" kern="1200" spc="-5" dirty="0">
                <a:solidFill>
                  <a:srgbClr val="0432FF"/>
                </a:solidFill>
                <a:latin typeface="Palatino Linotype"/>
                <a:cs typeface="Palatino Linotype"/>
              </a:rPr>
              <a:t>Each</a:t>
            </a:r>
            <a:r>
              <a:rPr sz="1600" kern="1200" spc="10" dirty="0">
                <a:solidFill>
                  <a:srgbClr val="0432FF"/>
                </a:solidFill>
                <a:latin typeface="Palatino Linotype"/>
                <a:cs typeface="Palatino Linotype"/>
              </a:rPr>
              <a:t> </a:t>
            </a:r>
            <a:r>
              <a:rPr sz="1600" kern="1200" spc="-5" dirty="0">
                <a:solidFill>
                  <a:srgbClr val="0432FF"/>
                </a:solidFill>
                <a:latin typeface="Palatino Linotype"/>
                <a:cs typeface="Palatino Linotype"/>
              </a:rPr>
              <a:t>interior</a:t>
            </a:r>
            <a:r>
              <a:rPr sz="1600" kern="1200" spc="15" dirty="0">
                <a:solidFill>
                  <a:srgbClr val="0432FF"/>
                </a:solidFill>
                <a:latin typeface="Palatino Linotype"/>
                <a:cs typeface="Palatino Linotype"/>
              </a:rPr>
              <a:t> </a:t>
            </a:r>
            <a:r>
              <a:rPr sz="1600" kern="1200" dirty="0">
                <a:solidFill>
                  <a:srgbClr val="0432FF"/>
                </a:solidFill>
                <a:latin typeface="Palatino Linotype"/>
                <a:cs typeface="Palatino Linotype"/>
              </a:rPr>
              <a:t>node</a:t>
            </a:r>
            <a:r>
              <a:rPr sz="1600" kern="1200" spc="5" dirty="0">
                <a:solidFill>
                  <a:srgbClr val="0432FF"/>
                </a:solidFill>
                <a:latin typeface="Palatino Linotype"/>
                <a:cs typeface="Palatino Linotype"/>
              </a:rPr>
              <a:t> </a:t>
            </a:r>
            <a:r>
              <a:rPr sz="1600" kern="1200" spc="-5" dirty="0">
                <a:solidFill>
                  <a:srgbClr val="0432FF"/>
                </a:solidFill>
                <a:latin typeface="Palatino Linotype"/>
                <a:cs typeface="Palatino Linotype"/>
              </a:rPr>
              <a:t>represents</a:t>
            </a:r>
            <a:r>
              <a:rPr sz="1600" kern="1200" dirty="0">
                <a:solidFill>
                  <a:srgbClr val="0432FF"/>
                </a:solidFill>
                <a:latin typeface="Palatino Linotype"/>
                <a:cs typeface="Palatino Linotype"/>
              </a:rPr>
              <a:t> the</a:t>
            </a:r>
            <a:r>
              <a:rPr sz="1600" kern="1200" spc="5" dirty="0">
                <a:solidFill>
                  <a:srgbClr val="0432FF"/>
                </a:solidFill>
                <a:latin typeface="Palatino Linotype"/>
                <a:cs typeface="Palatino Linotype"/>
              </a:rPr>
              <a:t> </a:t>
            </a:r>
            <a:r>
              <a:rPr sz="1600" kern="1200" spc="-5" dirty="0">
                <a:solidFill>
                  <a:srgbClr val="0432FF"/>
                </a:solidFill>
                <a:latin typeface="Palatino Linotype"/>
                <a:cs typeface="Palatino Linotype"/>
              </a:rPr>
              <a:t>application</a:t>
            </a:r>
            <a:r>
              <a:rPr sz="1600" kern="1200" spc="15" dirty="0">
                <a:solidFill>
                  <a:srgbClr val="0432FF"/>
                </a:solidFill>
                <a:latin typeface="Palatino Linotype"/>
                <a:cs typeface="Palatino Linotype"/>
              </a:rPr>
              <a:t> </a:t>
            </a:r>
            <a:r>
              <a:rPr sz="1600" kern="1200" dirty="0">
                <a:solidFill>
                  <a:srgbClr val="0432FF"/>
                </a:solidFill>
                <a:latin typeface="Palatino Linotype"/>
                <a:cs typeface="Palatino Linotype"/>
              </a:rPr>
              <a:t>of</a:t>
            </a:r>
            <a:r>
              <a:rPr sz="1600" kern="1200" spc="10" dirty="0">
                <a:solidFill>
                  <a:srgbClr val="0432FF"/>
                </a:solidFill>
                <a:latin typeface="Palatino Linotype"/>
                <a:cs typeface="Palatino Linotype"/>
              </a:rPr>
              <a:t> </a:t>
            </a:r>
            <a:r>
              <a:rPr sz="1600" kern="1200" dirty="0">
                <a:solidFill>
                  <a:srgbClr val="0432FF"/>
                </a:solidFill>
                <a:latin typeface="Palatino Linotype"/>
                <a:cs typeface="Palatino Linotype"/>
              </a:rPr>
              <a:t>a</a:t>
            </a:r>
            <a:r>
              <a:rPr sz="1600" kern="1200" spc="5" dirty="0">
                <a:solidFill>
                  <a:srgbClr val="0432FF"/>
                </a:solidFill>
                <a:latin typeface="Palatino Linotype"/>
                <a:cs typeface="Palatino Linotype"/>
              </a:rPr>
              <a:t> </a:t>
            </a:r>
            <a:r>
              <a:rPr sz="1600" kern="1200" spc="-5" dirty="0">
                <a:solidFill>
                  <a:srgbClr val="0432FF"/>
                </a:solidFill>
                <a:latin typeface="Palatino Linotype"/>
                <a:cs typeface="Palatino Linotype"/>
              </a:rPr>
              <a:t>production</a:t>
            </a:r>
            <a:endParaRPr sz="1600" kern="1200" dirty="0">
              <a:solidFill>
                <a:prstClr val="black"/>
              </a:solidFill>
              <a:latin typeface="Palatino Linotype"/>
              <a:cs typeface="Palatino Linotype"/>
            </a:endParaRPr>
          </a:p>
          <a:p>
            <a:pPr marL="1155065" marR="5080" indent="-228600" rtl="0">
              <a:lnSpc>
                <a:spcPct val="118300"/>
              </a:lnSpc>
              <a:spcBef>
                <a:spcPts val="715"/>
              </a:spcBef>
            </a:pPr>
            <a:r>
              <a:rPr sz="1200" kern="1200" dirty="0">
                <a:solidFill>
                  <a:prstClr val="black"/>
                </a:solidFill>
                <a:latin typeface="Courier New"/>
                <a:cs typeface="Courier New"/>
              </a:rPr>
              <a:t>o</a:t>
            </a:r>
            <a:r>
              <a:rPr sz="1200" kern="1200" spc="375" dirty="0">
                <a:solidFill>
                  <a:prstClr val="black"/>
                </a:solidFill>
                <a:latin typeface="Courier New"/>
                <a:cs typeface="Courier New"/>
              </a:rPr>
              <a:t> </a:t>
            </a:r>
            <a:r>
              <a:rPr sz="1200" kern="1200" dirty="0">
                <a:solidFill>
                  <a:schemeClr val="bg2">
                    <a:lumMod val="50000"/>
                  </a:schemeClr>
                </a:solidFill>
                <a:latin typeface="Palatino Linotype"/>
                <a:cs typeface="Palatino Linotype"/>
              </a:rPr>
              <a:t>The</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interior</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node</a:t>
            </a:r>
            <a:r>
              <a:rPr sz="1200" kern="1200" spc="5" dirty="0">
                <a:solidFill>
                  <a:schemeClr val="bg2">
                    <a:lumMod val="50000"/>
                  </a:schemeClr>
                </a:solidFill>
                <a:latin typeface="Palatino Linotype"/>
                <a:cs typeface="Palatino Linotype"/>
              </a:rPr>
              <a:t> </a:t>
            </a:r>
            <a:r>
              <a:rPr sz="1200" kern="1200" dirty="0">
                <a:solidFill>
                  <a:schemeClr val="bg2">
                    <a:lumMod val="50000"/>
                  </a:schemeClr>
                </a:solidFill>
                <a:latin typeface="Palatino Linotype"/>
                <a:cs typeface="Palatino Linotype"/>
              </a:rPr>
              <a:t>is</a:t>
            </a:r>
            <a:r>
              <a:rPr sz="1200" kern="1200" spc="10"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labeled</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with</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the</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nonterminal</a:t>
            </a:r>
            <a:r>
              <a:rPr sz="1200" kern="1200" spc="10" dirty="0">
                <a:solidFill>
                  <a:schemeClr val="bg2">
                    <a:lumMod val="50000"/>
                  </a:schemeClr>
                </a:solidFill>
                <a:latin typeface="Palatino Linotype"/>
                <a:cs typeface="Palatino Linotype"/>
              </a:rPr>
              <a:t> </a:t>
            </a:r>
            <a:r>
              <a:rPr sz="1200" kern="1200" dirty="0">
                <a:solidFill>
                  <a:schemeClr val="bg2">
                    <a:lumMod val="50000"/>
                  </a:schemeClr>
                </a:solidFill>
                <a:latin typeface="Palatino Linotype"/>
                <a:cs typeface="Palatino Linotype"/>
              </a:rPr>
              <a:t>in</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the</a:t>
            </a:r>
            <a:r>
              <a:rPr sz="1200" kern="1200" spc="5" dirty="0">
                <a:solidFill>
                  <a:schemeClr val="bg2">
                    <a:lumMod val="50000"/>
                  </a:schemeClr>
                </a:solidFill>
                <a:latin typeface="Palatino Linotype"/>
                <a:cs typeface="Palatino Linotype"/>
              </a:rPr>
              <a:t> </a:t>
            </a:r>
            <a:r>
              <a:rPr sz="1200" kern="1200" dirty="0">
                <a:solidFill>
                  <a:schemeClr val="bg2">
                    <a:lumMod val="50000"/>
                  </a:schemeClr>
                </a:solidFill>
                <a:latin typeface="Palatino Linotype"/>
                <a:cs typeface="Palatino Linotype"/>
              </a:rPr>
              <a:t>head</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of</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the</a:t>
            </a:r>
            <a:r>
              <a:rPr sz="1200" kern="1200" spc="10"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production;</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the</a:t>
            </a:r>
            <a:r>
              <a:rPr sz="1200" kern="1200" spc="5" dirty="0">
                <a:solidFill>
                  <a:schemeClr val="bg2">
                    <a:lumMod val="50000"/>
                  </a:schemeClr>
                </a:solidFill>
                <a:latin typeface="Palatino Linotype"/>
                <a:cs typeface="Palatino Linotype"/>
              </a:rPr>
              <a:t> </a:t>
            </a:r>
            <a:r>
              <a:rPr sz="1200" kern="1200" dirty="0">
                <a:solidFill>
                  <a:schemeClr val="bg2">
                    <a:lumMod val="50000"/>
                  </a:schemeClr>
                </a:solidFill>
                <a:latin typeface="Palatino Linotype"/>
                <a:cs typeface="Palatino Linotype"/>
              </a:rPr>
              <a:t>children </a:t>
            </a:r>
            <a:r>
              <a:rPr sz="1200" kern="1200" spc="-28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nodes</a:t>
            </a:r>
            <a:r>
              <a:rPr sz="1200" kern="1200" dirty="0">
                <a:solidFill>
                  <a:schemeClr val="bg2">
                    <a:lumMod val="50000"/>
                  </a:schemeClr>
                </a:solidFill>
                <a:latin typeface="Palatino Linotype"/>
                <a:cs typeface="Palatino Linotype"/>
              </a:rPr>
              <a:t> are</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labeled,</a:t>
            </a:r>
            <a:r>
              <a:rPr sz="1200" kern="1200"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from</a:t>
            </a:r>
            <a:r>
              <a:rPr sz="1200" kern="1200" spc="5" dirty="0">
                <a:solidFill>
                  <a:schemeClr val="bg2">
                    <a:lumMod val="50000"/>
                  </a:schemeClr>
                </a:solidFill>
                <a:latin typeface="Palatino Linotype"/>
                <a:cs typeface="Palatino Linotype"/>
              </a:rPr>
              <a:t> </a:t>
            </a:r>
            <a:r>
              <a:rPr sz="1200" kern="1200" dirty="0">
                <a:solidFill>
                  <a:schemeClr val="bg2">
                    <a:lumMod val="50000"/>
                  </a:schemeClr>
                </a:solidFill>
                <a:latin typeface="Palatino Linotype"/>
                <a:cs typeface="Palatino Linotype"/>
              </a:rPr>
              <a:t>left</a:t>
            </a:r>
            <a:r>
              <a:rPr sz="1200" kern="1200" spc="-5" dirty="0">
                <a:solidFill>
                  <a:schemeClr val="bg2">
                    <a:lumMod val="50000"/>
                  </a:schemeClr>
                </a:solidFill>
                <a:latin typeface="Palatino Linotype"/>
                <a:cs typeface="Palatino Linotype"/>
              </a:rPr>
              <a:t> to</a:t>
            </a:r>
            <a:r>
              <a:rPr sz="1200" kern="1200"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right,</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by the</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symbols</a:t>
            </a:r>
            <a:r>
              <a:rPr sz="1200" kern="1200" dirty="0">
                <a:solidFill>
                  <a:schemeClr val="bg2">
                    <a:lumMod val="50000"/>
                  </a:schemeClr>
                </a:solidFill>
                <a:latin typeface="Palatino Linotype"/>
                <a:cs typeface="Palatino Linotype"/>
              </a:rPr>
              <a:t> in</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the</a:t>
            </a:r>
            <a:r>
              <a:rPr sz="1200" kern="1200"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body</a:t>
            </a:r>
            <a:r>
              <a:rPr sz="1200" kern="1200"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of</a:t>
            </a:r>
            <a:r>
              <a:rPr sz="1200" kern="1200" spc="5"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the</a:t>
            </a:r>
            <a:r>
              <a:rPr sz="1200" kern="1200" dirty="0">
                <a:solidFill>
                  <a:schemeClr val="bg2">
                    <a:lumMod val="50000"/>
                  </a:schemeClr>
                </a:solidFill>
                <a:latin typeface="Palatino Linotype"/>
                <a:cs typeface="Palatino Linotype"/>
              </a:rPr>
              <a:t> </a:t>
            </a:r>
            <a:r>
              <a:rPr sz="1200" kern="1200" spc="-5" dirty="0">
                <a:solidFill>
                  <a:schemeClr val="bg2">
                    <a:lumMod val="50000"/>
                  </a:schemeClr>
                </a:solidFill>
                <a:latin typeface="Palatino Linotype"/>
                <a:cs typeface="Palatino Linotype"/>
              </a:rPr>
              <a:t>production</a:t>
            </a:r>
            <a:endParaRPr sz="1200" kern="1200" dirty="0">
              <a:solidFill>
                <a:schemeClr val="bg2">
                  <a:lumMod val="50000"/>
                </a:schemeClr>
              </a:solidFill>
              <a:latin typeface="Palatino Linotype"/>
              <a:cs typeface="Palatino Linotype"/>
            </a:endParaRPr>
          </a:p>
          <a:p>
            <a:pPr rtl="0"/>
            <a:endParaRPr sz="1600" kern="1200" dirty="0">
              <a:solidFill>
                <a:prstClr val="black"/>
              </a:solidFill>
              <a:latin typeface="Palatino Linotype"/>
              <a:cs typeface="Palatino Linotype"/>
            </a:endParaRPr>
          </a:p>
          <a:p>
            <a:pPr marL="293370" rtl="0">
              <a:spcBef>
                <a:spcPts val="1290"/>
              </a:spcBef>
            </a:pPr>
            <a:r>
              <a:rPr sz="1400" b="1" kern="1200" spc="-10" dirty="0">
                <a:solidFill>
                  <a:prstClr val="black"/>
                </a:solidFill>
                <a:cs typeface="Calibri"/>
              </a:rPr>
              <a:t>CFG: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Wingdings"/>
                <a:cs typeface="Wingdings"/>
              </a:rPr>
              <a:t></a:t>
            </a:r>
            <a:r>
              <a:rPr sz="1400" kern="1200" spc="75" dirty="0">
                <a:solidFill>
                  <a:prstClr val="black"/>
                </a:solidFill>
                <a:latin typeface="Times New Roman"/>
                <a:cs typeface="Times New Roman"/>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b="1" kern="1200" spc="5" dirty="0">
                <a:solidFill>
                  <a:prstClr val="black"/>
                </a:solidFill>
                <a:latin typeface="Consolas"/>
                <a:cs typeface="Consolas"/>
              </a:rPr>
              <a:t>id</a:t>
            </a:r>
            <a:endParaRPr sz="1400" kern="1200" dirty="0">
              <a:solidFill>
                <a:prstClr val="black"/>
              </a:solidFill>
              <a:latin typeface="Consolas"/>
              <a:cs typeface="Consolas"/>
            </a:endParaRPr>
          </a:p>
        </p:txBody>
      </p:sp>
      <p:pic>
        <p:nvPicPr>
          <p:cNvPr id="31" name="object 4">
            <a:extLst>
              <a:ext uri="{FF2B5EF4-FFF2-40B4-BE49-F238E27FC236}">
                <a16:creationId xmlns:a16="http://schemas.microsoft.com/office/drawing/2014/main" id="{BD2C7B3C-D7CC-4A61-6601-D8AC0EC32D67}"/>
              </a:ext>
            </a:extLst>
          </p:cNvPr>
          <p:cNvPicPr/>
          <p:nvPr/>
        </p:nvPicPr>
        <p:blipFill>
          <a:blip r:embed="rId3" cstate="print"/>
          <a:stretch>
            <a:fillRect/>
          </a:stretch>
        </p:blipFill>
        <p:spPr>
          <a:xfrm>
            <a:off x="1159318" y="5744416"/>
            <a:ext cx="170573" cy="90462"/>
          </a:xfrm>
          <a:prstGeom prst="rect">
            <a:avLst/>
          </a:prstGeom>
        </p:spPr>
      </p:pic>
      <p:pic>
        <p:nvPicPr>
          <p:cNvPr id="32" name="object 5">
            <a:extLst>
              <a:ext uri="{FF2B5EF4-FFF2-40B4-BE49-F238E27FC236}">
                <a16:creationId xmlns:a16="http://schemas.microsoft.com/office/drawing/2014/main" id="{A2AB712C-C875-CF14-18EE-FBD3819BC9B0}"/>
              </a:ext>
            </a:extLst>
          </p:cNvPr>
          <p:cNvPicPr/>
          <p:nvPr/>
        </p:nvPicPr>
        <p:blipFill>
          <a:blip r:embed="rId3" cstate="print"/>
          <a:stretch>
            <a:fillRect/>
          </a:stretch>
        </p:blipFill>
        <p:spPr>
          <a:xfrm>
            <a:off x="1710498" y="5744416"/>
            <a:ext cx="170573" cy="90462"/>
          </a:xfrm>
          <a:prstGeom prst="rect">
            <a:avLst/>
          </a:prstGeom>
        </p:spPr>
      </p:pic>
      <p:pic>
        <p:nvPicPr>
          <p:cNvPr id="33" name="object 6">
            <a:extLst>
              <a:ext uri="{FF2B5EF4-FFF2-40B4-BE49-F238E27FC236}">
                <a16:creationId xmlns:a16="http://schemas.microsoft.com/office/drawing/2014/main" id="{FC14AFB2-5919-FD3B-CEB0-C46F2EE35BE3}"/>
              </a:ext>
            </a:extLst>
          </p:cNvPr>
          <p:cNvPicPr/>
          <p:nvPr/>
        </p:nvPicPr>
        <p:blipFill>
          <a:blip r:embed="rId4" cstate="print"/>
          <a:stretch>
            <a:fillRect/>
          </a:stretch>
        </p:blipFill>
        <p:spPr>
          <a:xfrm>
            <a:off x="2119012" y="5707215"/>
            <a:ext cx="234373" cy="164690"/>
          </a:xfrm>
          <a:prstGeom prst="rect">
            <a:avLst/>
          </a:prstGeom>
        </p:spPr>
      </p:pic>
      <p:pic>
        <p:nvPicPr>
          <p:cNvPr id="34" name="object 7">
            <a:extLst>
              <a:ext uri="{FF2B5EF4-FFF2-40B4-BE49-F238E27FC236}">
                <a16:creationId xmlns:a16="http://schemas.microsoft.com/office/drawing/2014/main" id="{DD8E2E7A-D305-AC53-11EE-5A8401AECD4C}"/>
              </a:ext>
            </a:extLst>
          </p:cNvPr>
          <p:cNvPicPr/>
          <p:nvPr/>
        </p:nvPicPr>
        <p:blipFill>
          <a:blip r:embed="rId3" cstate="print"/>
          <a:stretch>
            <a:fillRect/>
          </a:stretch>
        </p:blipFill>
        <p:spPr>
          <a:xfrm>
            <a:off x="2409252" y="5744416"/>
            <a:ext cx="170573" cy="90462"/>
          </a:xfrm>
          <a:prstGeom prst="rect">
            <a:avLst/>
          </a:prstGeom>
        </p:spPr>
      </p:pic>
      <p:sp>
        <p:nvSpPr>
          <p:cNvPr id="35" name="object 8">
            <a:extLst>
              <a:ext uri="{FF2B5EF4-FFF2-40B4-BE49-F238E27FC236}">
                <a16:creationId xmlns:a16="http://schemas.microsoft.com/office/drawing/2014/main" id="{41DF2209-CAD6-224B-EE98-5FEA86797F5A}"/>
              </a:ext>
            </a:extLst>
          </p:cNvPr>
          <p:cNvSpPr/>
          <p:nvPr/>
        </p:nvSpPr>
        <p:spPr>
          <a:xfrm>
            <a:off x="2817766" y="5707215"/>
            <a:ext cx="565150" cy="165100"/>
          </a:xfrm>
          <a:custGeom>
            <a:avLst/>
            <a:gdLst/>
            <a:ahLst/>
            <a:cxnLst/>
            <a:rect l="l" t="t" r="r" b="b"/>
            <a:pathLst>
              <a:path w="565150" h="165100">
                <a:moveTo>
                  <a:pt x="512240" y="0"/>
                </a:moveTo>
                <a:lnTo>
                  <a:pt x="509896" y="6684"/>
                </a:lnTo>
                <a:lnTo>
                  <a:pt x="519429" y="10822"/>
                </a:lnTo>
                <a:lnTo>
                  <a:pt x="527628" y="16549"/>
                </a:lnTo>
                <a:lnTo>
                  <a:pt x="547314" y="54661"/>
                </a:lnTo>
                <a:lnTo>
                  <a:pt x="549744" y="81520"/>
                </a:lnTo>
                <a:lnTo>
                  <a:pt x="549134" y="96046"/>
                </a:lnTo>
                <a:lnTo>
                  <a:pt x="534451" y="140653"/>
                </a:lnTo>
                <a:lnTo>
                  <a:pt x="510156" y="158005"/>
                </a:lnTo>
                <a:lnTo>
                  <a:pt x="512240" y="164690"/>
                </a:lnTo>
                <a:lnTo>
                  <a:pt x="551220" y="135911"/>
                </a:lnTo>
                <a:lnTo>
                  <a:pt x="563917" y="97519"/>
                </a:lnTo>
                <a:lnTo>
                  <a:pt x="564763" y="82388"/>
                </a:lnTo>
                <a:lnTo>
                  <a:pt x="563914" y="67290"/>
                </a:lnTo>
                <a:lnTo>
                  <a:pt x="551177" y="28866"/>
                </a:lnTo>
                <a:lnTo>
                  <a:pt x="524180" y="4310"/>
                </a:lnTo>
                <a:lnTo>
                  <a:pt x="512240" y="0"/>
                </a:lnTo>
                <a:close/>
              </a:path>
              <a:path w="565150" h="165100">
                <a:moveTo>
                  <a:pt x="52523" y="0"/>
                </a:moveTo>
                <a:lnTo>
                  <a:pt x="13586" y="28866"/>
                </a:lnTo>
                <a:lnTo>
                  <a:pt x="849" y="67290"/>
                </a:lnTo>
                <a:lnTo>
                  <a:pt x="0" y="82388"/>
                </a:lnTo>
                <a:lnTo>
                  <a:pt x="846" y="97519"/>
                </a:lnTo>
                <a:lnTo>
                  <a:pt x="13543" y="135911"/>
                </a:lnTo>
                <a:lnTo>
                  <a:pt x="52523" y="164690"/>
                </a:lnTo>
                <a:lnTo>
                  <a:pt x="54607" y="158005"/>
                </a:lnTo>
                <a:lnTo>
                  <a:pt x="45223" y="153849"/>
                </a:lnTo>
                <a:lnTo>
                  <a:pt x="37124" y="148065"/>
                </a:lnTo>
                <a:lnTo>
                  <a:pt x="17461" y="109236"/>
                </a:lnTo>
                <a:lnTo>
                  <a:pt x="15019" y="81520"/>
                </a:lnTo>
                <a:lnTo>
                  <a:pt x="15629" y="67469"/>
                </a:lnTo>
                <a:lnTo>
                  <a:pt x="30328" y="23866"/>
                </a:lnTo>
                <a:lnTo>
                  <a:pt x="54867" y="6684"/>
                </a:lnTo>
                <a:lnTo>
                  <a:pt x="5252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36" name="object 9">
            <a:extLst>
              <a:ext uri="{FF2B5EF4-FFF2-40B4-BE49-F238E27FC236}">
                <a16:creationId xmlns:a16="http://schemas.microsoft.com/office/drawing/2014/main" id="{2573C37A-EFD4-4AC3-EA17-49AF0A242B31}"/>
              </a:ext>
            </a:extLst>
          </p:cNvPr>
          <p:cNvPicPr/>
          <p:nvPr/>
        </p:nvPicPr>
        <p:blipFill>
          <a:blip r:embed="rId3" cstate="print"/>
          <a:stretch>
            <a:fillRect/>
          </a:stretch>
        </p:blipFill>
        <p:spPr>
          <a:xfrm>
            <a:off x="3438396" y="5744416"/>
            <a:ext cx="170573" cy="90462"/>
          </a:xfrm>
          <a:prstGeom prst="rect">
            <a:avLst/>
          </a:prstGeom>
        </p:spPr>
      </p:pic>
      <p:sp>
        <p:nvSpPr>
          <p:cNvPr id="37" name="object 10">
            <a:extLst>
              <a:ext uri="{FF2B5EF4-FFF2-40B4-BE49-F238E27FC236}">
                <a16:creationId xmlns:a16="http://schemas.microsoft.com/office/drawing/2014/main" id="{A2AFFD4E-4E6C-AEEB-DE34-924987F4502E}"/>
              </a:ext>
            </a:extLst>
          </p:cNvPr>
          <p:cNvSpPr/>
          <p:nvPr/>
        </p:nvSpPr>
        <p:spPr>
          <a:xfrm>
            <a:off x="3846911" y="5707215"/>
            <a:ext cx="615315" cy="165100"/>
          </a:xfrm>
          <a:custGeom>
            <a:avLst/>
            <a:gdLst/>
            <a:ahLst/>
            <a:cxnLst/>
            <a:rect l="l" t="t" r="r" b="b"/>
            <a:pathLst>
              <a:path w="615314" h="165100">
                <a:moveTo>
                  <a:pt x="562469" y="0"/>
                </a:moveTo>
                <a:lnTo>
                  <a:pt x="560124" y="6684"/>
                </a:lnTo>
                <a:lnTo>
                  <a:pt x="569657" y="10822"/>
                </a:lnTo>
                <a:lnTo>
                  <a:pt x="577856" y="16549"/>
                </a:lnTo>
                <a:lnTo>
                  <a:pt x="597542" y="54661"/>
                </a:lnTo>
                <a:lnTo>
                  <a:pt x="599973" y="81520"/>
                </a:lnTo>
                <a:lnTo>
                  <a:pt x="599362" y="96046"/>
                </a:lnTo>
                <a:lnTo>
                  <a:pt x="584679" y="140653"/>
                </a:lnTo>
                <a:lnTo>
                  <a:pt x="560384" y="158005"/>
                </a:lnTo>
                <a:lnTo>
                  <a:pt x="562469" y="164690"/>
                </a:lnTo>
                <a:lnTo>
                  <a:pt x="601449" y="135911"/>
                </a:lnTo>
                <a:lnTo>
                  <a:pt x="614145" y="97519"/>
                </a:lnTo>
                <a:lnTo>
                  <a:pt x="614992" y="82388"/>
                </a:lnTo>
                <a:lnTo>
                  <a:pt x="614143" y="67290"/>
                </a:lnTo>
                <a:lnTo>
                  <a:pt x="601405" y="28866"/>
                </a:lnTo>
                <a:lnTo>
                  <a:pt x="574408" y="4310"/>
                </a:lnTo>
                <a:lnTo>
                  <a:pt x="562469" y="0"/>
                </a:lnTo>
                <a:close/>
              </a:path>
              <a:path w="615314" h="165100">
                <a:moveTo>
                  <a:pt x="52523" y="0"/>
                </a:moveTo>
                <a:lnTo>
                  <a:pt x="13586" y="28866"/>
                </a:lnTo>
                <a:lnTo>
                  <a:pt x="849" y="67290"/>
                </a:lnTo>
                <a:lnTo>
                  <a:pt x="0" y="82388"/>
                </a:lnTo>
                <a:lnTo>
                  <a:pt x="846" y="97519"/>
                </a:lnTo>
                <a:lnTo>
                  <a:pt x="13543" y="135911"/>
                </a:lnTo>
                <a:lnTo>
                  <a:pt x="52523" y="164690"/>
                </a:lnTo>
                <a:lnTo>
                  <a:pt x="54607" y="158005"/>
                </a:lnTo>
                <a:lnTo>
                  <a:pt x="45223" y="153849"/>
                </a:lnTo>
                <a:lnTo>
                  <a:pt x="37124" y="148065"/>
                </a:lnTo>
                <a:lnTo>
                  <a:pt x="17461" y="109236"/>
                </a:lnTo>
                <a:lnTo>
                  <a:pt x="15019" y="81520"/>
                </a:lnTo>
                <a:lnTo>
                  <a:pt x="15629" y="67469"/>
                </a:lnTo>
                <a:lnTo>
                  <a:pt x="30328" y="23866"/>
                </a:lnTo>
                <a:lnTo>
                  <a:pt x="54867" y="6684"/>
                </a:lnTo>
                <a:lnTo>
                  <a:pt x="5252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38" name="object 11">
            <a:extLst>
              <a:ext uri="{FF2B5EF4-FFF2-40B4-BE49-F238E27FC236}">
                <a16:creationId xmlns:a16="http://schemas.microsoft.com/office/drawing/2014/main" id="{780943D4-A1C8-E9D4-A94C-659837C9E4DE}"/>
              </a:ext>
            </a:extLst>
          </p:cNvPr>
          <p:cNvPicPr/>
          <p:nvPr/>
        </p:nvPicPr>
        <p:blipFill>
          <a:blip r:embed="rId5" cstate="print"/>
          <a:stretch>
            <a:fillRect/>
          </a:stretch>
        </p:blipFill>
        <p:spPr>
          <a:xfrm>
            <a:off x="4517769" y="5744416"/>
            <a:ext cx="170573" cy="90462"/>
          </a:xfrm>
          <a:prstGeom prst="rect">
            <a:avLst/>
          </a:prstGeom>
        </p:spPr>
      </p:pic>
      <p:pic>
        <p:nvPicPr>
          <p:cNvPr id="39" name="object 12">
            <a:extLst>
              <a:ext uri="{FF2B5EF4-FFF2-40B4-BE49-F238E27FC236}">
                <a16:creationId xmlns:a16="http://schemas.microsoft.com/office/drawing/2014/main" id="{A54FBC20-34BF-351E-8511-86A82654B9F0}"/>
              </a:ext>
            </a:extLst>
          </p:cNvPr>
          <p:cNvPicPr/>
          <p:nvPr/>
        </p:nvPicPr>
        <p:blipFill>
          <a:blip r:embed="rId6" cstate="print"/>
          <a:stretch>
            <a:fillRect/>
          </a:stretch>
        </p:blipFill>
        <p:spPr>
          <a:xfrm>
            <a:off x="1159318" y="5198407"/>
            <a:ext cx="148348" cy="90462"/>
          </a:xfrm>
          <a:prstGeom prst="rect">
            <a:avLst/>
          </a:prstGeom>
        </p:spPr>
      </p:pic>
      <p:pic>
        <p:nvPicPr>
          <p:cNvPr id="40" name="object 13">
            <a:extLst>
              <a:ext uri="{FF2B5EF4-FFF2-40B4-BE49-F238E27FC236}">
                <a16:creationId xmlns:a16="http://schemas.microsoft.com/office/drawing/2014/main" id="{A865543A-4A00-DE4F-699B-E0776EA95575}"/>
              </a:ext>
            </a:extLst>
          </p:cNvPr>
          <p:cNvPicPr/>
          <p:nvPr/>
        </p:nvPicPr>
        <p:blipFill>
          <a:blip r:embed="rId6" cstate="print"/>
          <a:stretch>
            <a:fillRect/>
          </a:stretch>
        </p:blipFill>
        <p:spPr>
          <a:xfrm>
            <a:off x="1688273" y="5198407"/>
            <a:ext cx="148348" cy="90462"/>
          </a:xfrm>
          <a:prstGeom prst="rect">
            <a:avLst/>
          </a:prstGeom>
        </p:spPr>
      </p:pic>
      <p:pic>
        <p:nvPicPr>
          <p:cNvPr id="41" name="object 14">
            <a:extLst>
              <a:ext uri="{FF2B5EF4-FFF2-40B4-BE49-F238E27FC236}">
                <a16:creationId xmlns:a16="http://schemas.microsoft.com/office/drawing/2014/main" id="{F7638F87-C610-3A44-EA13-D46818A15BCA}"/>
              </a:ext>
            </a:extLst>
          </p:cNvPr>
          <p:cNvPicPr/>
          <p:nvPr/>
        </p:nvPicPr>
        <p:blipFill>
          <a:blip r:embed="rId7" cstate="print"/>
          <a:stretch>
            <a:fillRect/>
          </a:stretch>
        </p:blipFill>
        <p:spPr>
          <a:xfrm>
            <a:off x="2074562" y="5161205"/>
            <a:ext cx="234373" cy="164691"/>
          </a:xfrm>
          <a:prstGeom prst="rect">
            <a:avLst/>
          </a:prstGeom>
        </p:spPr>
      </p:pic>
      <p:pic>
        <p:nvPicPr>
          <p:cNvPr id="42" name="object 15">
            <a:extLst>
              <a:ext uri="{FF2B5EF4-FFF2-40B4-BE49-F238E27FC236}">
                <a16:creationId xmlns:a16="http://schemas.microsoft.com/office/drawing/2014/main" id="{EFAD2259-18AC-64DA-49B8-CD446F1F921E}"/>
              </a:ext>
            </a:extLst>
          </p:cNvPr>
          <p:cNvPicPr/>
          <p:nvPr/>
        </p:nvPicPr>
        <p:blipFill>
          <a:blip r:embed="rId8" cstate="print"/>
          <a:stretch>
            <a:fillRect/>
          </a:stretch>
        </p:blipFill>
        <p:spPr>
          <a:xfrm>
            <a:off x="2364802" y="5198407"/>
            <a:ext cx="148348" cy="90462"/>
          </a:xfrm>
          <a:prstGeom prst="rect">
            <a:avLst/>
          </a:prstGeom>
        </p:spPr>
      </p:pic>
      <p:sp>
        <p:nvSpPr>
          <p:cNvPr id="43" name="object 16">
            <a:extLst>
              <a:ext uri="{FF2B5EF4-FFF2-40B4-BE49-F238E27FC236}">
                <a16:creationId xmlns:a16="http://schemas.microsoft.com/office/drawing/2014/main" id="{32591060-D6AC-8DBC-1E9E-843430C1271A}"/>
              </a:ext>
            </a:extLst>
          </p:cNvPr>
          <p:cNvSpPr/>
          <p:nvPr/>
        </p:nvSpPr>
        <p:spPr>
          <a:xfrm>
            <a:off x="2751091" y="5161205"/>
            <a:ext cx="565150" cy="165100"/>
          </a:xfrm>
          <a:custGeom>
            <a:avLst/>
            <a:gdLst/>
            <a:ahLst/>
            <a:cxnLst/>
            <a:rect l="l" t="t" r="r" b="b"/>
            <a:pathLst>
              <a:path w="565150" h="165100">
                <a:moveTo>
                  <a:pt x="512240" y="0"/>
                </a:moveTo>
                <a:lnTo>
                  <a:pt x="509896" y="6685"/>
                </a:lnTo>
                <a:lnTo>
                  <a:pt x="519429" y="10822"/>
                </a:lnTo>
                <a:lnTo>
                  <a:pt x="527628" y="16550"/>
                </a:lnTo>
                <a:lnTo>
                  <a:pt x="547314" y="54662"/>
                </a:lnTo>
                <a:lnTo>
                  <a:pt x="549744" y="81521"/>
                </a:lnTo>
                <a:lnTo>
                  <a:pt x="549134" y="96046"/>
                </a:lnTo>
                <a:lnTo>
                  <a:pt x="534451" y="140653"/>
                </a:lnTo>
                <a:lnTo>
                  <a:pt x="510156" y="158005"/>
                </a:lnTo>
                <a:lnTo>
                  <a:pt x="512240" y="164691"/>
                </a:lnTo>
                <a:lnTo>
                  <a:pt x="551220" y="135911"/>
                </a:lnTo>
                <a:lnTo>
                  <a:pt x="563917" y="97519"/>
                </a:lnTo>
                <a:lnTo>
                  <a:pt x="564763" y="82388"/>
                </a:lnTo>
                <a:lnTo>
                  <a:pt x="563914" y="67291"/>
                </a:lnTo>
                <a:lnTo>
                  <a:pt x="551177" y="28867"/>
                </a:lnTo>
                <a:lnTo>
                  <a:pt x="524180" y="4311"/>
                </a:lnTo>
                <a:lnTo>
                  <a:pt x="512240" y="0"/>
                </a:lnTo>
                <a:close/>
              </a:path>
              <a:path w="565150" h="165100">
                <a:moveTo>
                  <a:pt x="52523" y="0"/>
                </a:moveTo>
                <a:lnTo>
                  <a:pt x="13586" y="28867"/>
                </a:lnTo>
                <a:lnTo>
                  <a:pt x="849" y="67291"/>
                </a:lnTo>
                <a:lnTo>
                  <a:pt x="0" y="82388"/>
                </a:lnTo>
                <a:lnTo>
                  <a:pt x="846" y="97519"/>
                </a:lnTo>
                <a:lnTo>
                  <a:pt x="13543" y="135911"/>
                </a:lnTo>
                <a:lnTo>
                  <a:pt x="52523" y="164691"/>
                </a:lnTo>
                <a:lnTo>
                  <a:pt x="54607" y="158005"/>
                </a:lnTo>
                <a:lnTo>
                  <a:pt x="45223" y="153849"/>
                </a:lnTo>
                <a:lnTo>
                  <a:pt x="37124" y="148065"/>
                </a:lnTo>
                <a:lnTo>
                  <a:pt x="17461" y="109236"/>
                </a:lnTo>
                <a:lnTo>
                  <a:pt x="15019" y="81521"/>
                </a:lnTo>
                <a:lnTo>
                  <a:pt x="15629" y="67470"/>
                </a:lnTo>
                <a:lnTo>
                  <a:pt x="30328" y="23867"/>
                </a:lnTo>
                <a:lnTo>
                  <a:pt x="54867" y="6685"/>
                </a:lnTo>
                <a:lnTo>
                  <a:pt x="5252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44" name="object 17">
            <a:extLst>
              <a:ext uri="{FF2B5EF4-FFF2-40B4-BE49-F238E27FC236}">
                <a16:creationId xmlns:a16="http://schemas.microsoft.com/office/drawing/2014/main" id="{56247478-4A6E-1CC7-C609-07AF6AC9AEA3}"/>
              </a:ext>
            </a:extLst>
          </p:cNvPr>
          <p:cNvPicPr/>
          <p:nvPr/>
        </p:nvPicPr>
        <p:blipFill>
          <a:blip r:embed="rId8" cstate="print"/>
          <a:stretch>
            <a:fillRect/>
          </a:stretch>
        </p:blipFill>
        <p:spPr>
          <a:xfrm>
            <a:off x="3371721" y="5198407"/>
            <a:ext cx="148348" cy="90462"/>
          </a:xfrm>
          <a:prstGeom prst="rect">
            <a:avLst/>
          </a:prstGeom>
        </p:spPr>
      </p:pic>
      <p:sp>
        <p:nvSpPr>
          <p:cNvPr id="45" name="object 18">
            <a:extLst>
              <a:ext uri="{FF2B5EF4-FFF2-40B4-BE49-F238E27FC236}">
                <a16:creationId xmlns:a16="http://schemas.microsoft.com/office/drawing/2014/main" id="{4FA32F5D-45B5-0FD3-0CCE-745F207831FB}"/>
              </a:ext>
            </a:extLst>
          </p:cNvPr>
          <p:cNvSpPr/>
          <p:nvPr/>
        </p:nvSpPr>
        <p:spPr>
          <a:xfrm>
            <a:off x="3758011" y="5161205"/>
            <a:ext cx="615315" cy="165100"/>
          </a:xfrm>
          <a:custGeom>
            <a:avLst/>
            <a:gdLst/>
            <a:ahLst/>
            <a:cxnLst/>
            <a:rect l="l" t="t" r="r" b="b"/>
            <a:pathLst>
              <a:path w="615314" h="165100">
                <a:moveTo>
                  <a:pt x="562469" y="0"/>
                </a:moveTo>
                <a:lnTo>
                  <a:pt x="560124" y="6685"/>
                </a:lnTo>
                <a:lnTo>
                  <a:pt x="569657" y="10822"/>
                </a:lnTo>
                <a:lnTo>
                  <a:pt x="577856" y="16550"/>
                </a:lnTo>
                <a:lnTo>
                  <a:pt x="597542" y="54662"/>
                </a:lnTo>
                <a:lnTo>
                  <a:pt x="599973" y="81521"/>
                </a:lnTo>
                <a:lnTo>
                  <a:pt x="599362" y="96046"/>
                </a:lnTo>
                <a:lnTo>
                  <a:pt x="584679" y="140653"/>
                </a:lnTo>
                <a:lnTo>
                  <a:pt x="560384" y="158005"/>
                </a:lnTo>
                <a:lnTo>
                  <a:pt x="562469" y="164691"/>
                </a:lnTo>
                <a:lnTo>
                  <a:pt x="601449" y="135911"/>
                </a:lnTo>
                <a:lnTo>
                  <a:pt x="614145" y="97519"/>
                </a:lnTo>
                <a:lnTo>
                  <a:pt x="614992" y="82388"/>
                </a:lnTo>
                <a:lnTo>
                  <a:pt x="614143" y="67291"/>
                </a:lnTo>
                <a:lnTo>
                  <a:pt x="601405" y="28867"/>
                </a:lnTo>
                <a:lnTo>
                  <a:pt x="574408" y="4311"/>
                </a:lnTo>
                <a:lnTo>
                  <a:pt x="562469" y="0"/>
                </a:lnTo>
                <a:close/>
              </a:path>
              <a:path w="615314" h="165100">
                <a:moveTo>
                  <a:pt x="52523" y="0"/>
                </a:moveTo>
                <a:lnTo>
                  <a:pt x="13586" y="28867"/>
                </a:lnTo>
                <a:lnTo>
                  <a:pt x="849" y="67291"/>
                </a:lnTo>
                <a:lnTo>
                  <a:pt x="0" y="82388"/>
                </a:lnTo>
                <a:lnTo>
                  <a:pt x="846" y="97519"/>
                </a:lnTo>
                <a:lnTo>
                  <a:pt x="13543" y="135911"/>
                </a:lnTo>
                <a:lnTo>
                  <a:pt x="52523" y="164691"/>
                </a:lnTo>
                <a:lnTo>
                  <a:pt x="54607" y="158005"/>
                </a:lnTo>
                <a:lnTo>
                  <a:pt x="45223" y="153849"/>
                </a:lnTo>
                <a:lnTo>
                  <a:pt x="37124" y="148065"/>
                </a:lnTo>
                <a:lnTo>
                  <a:pt x="17461" y="109236"/>
                </a:lnTo>
                <a:lnTo>
                  <a:pt x="15019" y="81521"/>
                </a:lnTo>
                <a:lnTo>
                  <a:pt x="15629" y="67470"/>
                </a:lnTo>
                <a:lnTo>
                  <a:pt x="30328" y="23867"/>
                </a:lnTo>
                <a:lnTo>
                  <a:pt x="54867" y="6685"/>
                </a:lnTo>
                <a:lnTo>
                  <a:pt x="5252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46" name="object 19">
            <a:extLst>
              <a:ext uri="{FF2B5EF4-FFF2-40B4-BE49-F238E27FC236}">
                <a16:creationId xmlns:a16="http://schemas.microsoft.com/office/drawing/2014/main" id="{940F987F-8B43-D92E-FA14-B0BB8188E66A}"/>
              </a:ext>
            </a:extLst>
          </p:cNvPr>
          <p:cNvPicPr/>
          <p:nvPr/>
        </p:nvPicPr>
        <p:blipFill>
          <a:blip r:embed="rId8" cstate="print"/>
          <a:stretch>
            <a:fillRect/>
          </a:stretch>
        </p:blipFill>
        <p:spPr>
          <a:xfrm>
            <a:off x="4428869" y="5198407"/>
            <a:ext cx="148348" cy="90462"/>
          </a:xfrm>
          <a:prstGeom prst="rect">
            <a:avLst/>
          </a:prstGeom>
        </p:spPr>
      </p:pic>
      <p:sp>
        <p:nvSpPr>
          <p:cNvPr id="47" name="object 20">
            <a:extLst>
              <a:ext uri="{FF2B5EF4-FFF2-40B4-BE49-F238E27FC236}">
                <a16:creationId xmlns:a16="http://schemas.microsoft.com/office/drawing/2014/main" id="{DFC19154-DBBF-5AE6-8E02-01C6E2EC5258}"/>
              </a:ext>
            </a:extLst>
          </p:cNvPr>
          <p:cNvSpPr txBox="1"/>
          <p:nvPr/>
        </p:nvSpPr>
        <p:spPr>
          <a:xfrm>
            <a:off x="988325" y="5103876"/>
            <a:ext cx="4631055" cy="878205"/>
          </a:xfrm>
          <a:prstGeom prst="rect">
            <a:avLst/>
          </a:prstGeom>
        </p:spPr>
        <p:txBody>
          <a:bodyPr vert="horz" wrap="square" lIns="0" tIns="12700" rIns="0" bIns="0" rtlCol="0">
            <a:spAutoFit/>
          </a:bodyPr>
          <a:lstStyle/>
          <a:p>
            <a:pPr marL="12700" rtl="0">
              <a:lnSpc>
                <a:spcPts val="1450"/>
              </a:lnSpc>
              <a:spcBef>
                <a:spcPts val="100"/>
              </a:spcBef>
              <a:tabLst>
                <a:tab pos="368300" algn="l"/>
                <a:tab pos="897255" algn="l"/>
                <a:tab pos="1574165" algn="l"/>
                <a:tab pos="2580640" algn="l"/>
                <a:tab pos="3637915" algn="l"/>
              </a:tabLst>
            </a:pP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srgbClr val="FF0000"/>
                </a:solidFill>
                <a:latin typeface="Cambria Math"/>
                <a:cs typeface="Cambria Math"/>
              </a:rPr>
              <a:t>𝐸</a:t>
            </a:r>
            <a:r>
              <a:rPr sz="1400" kern="1200" spc="55" dirty="0">
                <a:solidFill>
                  <a:srgbClr val="FF0000"/>
                </a:solidFill>
                <a:latin typeface="Cambria Math"/>
                <a:cs typeface="Cambria Math"/>
              </a:rPr>
              <a:t>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prstClr val="black"/>
                </a:solidFill>
                <a:latin typeface="Cambria Math"/>
                <a:cs typeface="Cambria Math"/>
              </a:rPr>
              <a:t>𝐸	−</a:t>
            </a:r>
            <a:r>
              <a:rPr sz="1400" kern="1200" spc="585" dirty="0">
                <a:solidFill>
                  <a:prstClr val="black"/>
                </a:solidFill>
                <a:latin typeface="Cambria Math"/>
                <a:cs typeface="Cambria Math"/>
              </a:rPr>
              <a:t> </a:t>
            </a:r>
            <a:r>
              <a:rPr sz="1400" kern="1200" dirty="0">
                <a:solidFill>
                  <a:prstClr val="black"/>
                </a:solidFill>
                <a:latin typeface="Cambria Math"/>
                <a:cs typeface="Cambria Math"/>
              </a:rPr>
              <a:t>𝐢𝐝</a:t>
            </a:r>
            <a:r>
              <a:rPr sz="1400" kern="1200" spc="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15" dirty="0">
                <a:solidFill>
                  <a:prstClr val="black"/>
                </a:solidFill>
                <a:latin typeface="Cambria Math"/>
                <a:cs typeface="Cambria Math"/>
              </a:rPr>
              <a:t> </a:t>
            </a:r>
            <a:r>
              <a:rPr sz="1400" kern="1200" spc="-5" dirty="0">
                <a:solidFill>
                  <a:prstClr val="black"/>
                </a:solidFill>
                <a:latin typeface="Cambria Math"/>
                <a:cs typeface="Cambria Math"/>
              </a:rPr>
              <a:t>(𝐢𝐝</a:t>
            </a:r>
            <a:r>
              <a:rPr sz="1400" kern="1200" spc="-1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15" dirty="0">
                <a:solidFill>
                  <a:prstClr val="black"/>
                </a:solidFill>
                <a:latin typeface="Cambria Math"/>
                <a:cs typeface="Cambria Math"/>
              </a:rPr>
              <a:t> </a:t>
            </a:r>
            <a:r>
              <a:rPr sz="1400" kern="1200" dirty="0">
                <a:solidFill>
                  <a:prstClr val="black"/>
                </a:solidFill>
                <a:latin typeface="Cambria Math"/>
                <a:cs typeface="Cambria Math"/>
              </a:rPr>
              <a:t>𝐢𝐝)</a:t>
            </a:r>
            <a:endParaRPr sz="1400" kern="1200">
              <a:solidFill>
                <a:prstClr val="black"/>
              </a:solidFill>
              <a:latin typeface="Cambria Math"/>
              <a:cs typeface="Cambria Math"/>
            </a:endParaRPr>
          </a:p>
          <a:p>
            <a:pPr marL="160020" rtl="0">
              <a:lnSpc>
                <a:spcPts val="969"/>
              </a:lnSpc>
              <a:tabLst>
                <a:tab pos="688975" algn="l"/>
                <a:tab pos="1365250" algn="l"/>
                <a:tab pos="2372360" algn="l"/>
                <a:tab pos="3429635" algn="l"/>
              </a:tabLst>
            </a:pPr>
            <a:r>
              <a:rPr sz="1000" kern="1200" spc="70" dirty="0">
                <a:solidFill>
                  <a:prstClr val="black"/>
                </a:solidFill>
                <a:latin typeface="Cambria Math"/>
                <a:cs typeface="Cambria Math"/>
              </a:rPr>
              <a:t>𝑙𝑚	𝑙𝑚	𝑙𝑚	𝑙𝑚	𝑙𝑚</a:t>
            </a:r>
            <a:endParaRPr sz="1000" kern="1200">
              <a:solidFill>
                <a:prstClr val="black"/>
              </a:solidFill>
              <a:latin typeface="Cambria Math"/>
              <a:cs typeface="Cambria Math"/>
            </a:endParaRPr>
          </a:p>
          <a:p>
            <a:pPr rtl="0"/>
            <a:endParaRPr sz="1600" kern="1200">
              <a:solidFill>
                <a:prstClr val="black"/>
              </a:solidFill>
              <a:latin typeface="Cambria Math"/>
              <a:cs typeface="Cambria Math"/>
            </a:endParaRPr>
          </a:p>
          <a:p>
            <a:pPr marL="12700" rtl="0">
              <a:lnSpc>
                <a:spcPts val="1450"/>
              </a:lnSpc>
              <a:spcBef>
                <a:spcPts val="5"/>
              </a:spcBef>
              <a:tabLst>
                <a:tab pos="390525" algn="l"/>
                <a:tab pos="941705" algn="l"/>
                <a:tab pos="1640839" algn="l"/>
                <a:tab pos="2669540" algn="l"/>
                <a:tab pos="3749040" algn="l"/>
              </a:tabLst>
            </a:pP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prstClr val="black"/>
                </a:solidFill>
                <a:latin typeface="Cambria Math"/>
                <a:cs typeface="Cambria Math"/>
              </a:rPr>
              <a:t>𝐸</a:t>
            </a:r>
            <a:r>
              <a:rPr sz="1400" kern="1200" spc="5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srgbClr val="FF0000"/>
                </a:solidFill>
                <a:latin typeface="Cambria Math"/>
                <a:cs typeface="Cambria Math"/>
              </a:rPr>
              <a:t>𝐸</a:t>
            </a:r>
            <a:r>
              <a:rPr sz="1400" kern="1200" spc="55" dirty="0">
                <a:solidFill>
                  <a:srgbClr val="FF0000"/>
                </a:solidFill>
                <a:latin typeface="Cambria Math"/>
                <a:cs typeface="Cambria Math"/>
              </a:rPr>
              <a:t>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prstClr val="black"/>
                </a:solidFill>
                <a:latin typeface="Cambria Math"/>
                <a:cs typeface="Cambria Math"/>
              </a:rPr>
              <a:t>𝐢𝐝	−</a:t>
            </a:r>
            <a:r>
              <a:rPr sz="1400" kern="1200" spc="-20" dirty="0">
                <a:solidFill>
                  <a:prstClr val="black"/>
                </a:solidFill>
                <a:latin typeface="Cambria Math"/>
                <a:cs typeface="Cambria Math"/>
              </a:rPr>
              <a:t> </a:t>
            </a:r>
            <a:r>
              <a:rPr sz="1400" kern="1200" spc="-5" dirty="0">
                <a:solidFill>
                  <a:prstClr val="black"/>
                </a:solidFill>
                <a:latin typeface="Cambria Math"/>
                <a:cs typeface="Cambria Math"/>
              </a:rPr>
              <a:t>(𝐢𝐝</a:t>
            </a:r>
            <a:r>
              <a:rPr sz="1400" kern="1200" spc="-20" dirty="0">
                <a:solidFill>
                  <a:prstClr val="black"/>
                </a:solidFill>
                <a:latin typeface="Cambria Math"/>
                <a:cs typeface="Cambria Math"/>
              </a:rPr>
              <a:t> </a:t>
            </a:r>
            <a:r>
              <a:rPr sz="1400" kern="1200" dirty="0">
                <a:solidFill>
                  <a:prstClr val="black"/>
                </a:solidFill>
                <a:latin typeface="Cambria Math"/>
                <a:cs typeface="Cambria Math"/>
              </a:rPr>
              <a:t>+</a:t>
            </a:r>
            <a:r>
              <a:rPr sz="1400" kern="1200" spc="-20" dirty="0">
                <a:solidFill>
                  <a:prstClr val="black"/>
                </a:solidFill>
                <a:latin typeface="Cambria Math"/>
                <a:cs typeface="Cambria Math"/>
              </a:rPr>
              <a:t> </a:t>
            </a:r>
            <a:r>
              <a:rPr sz="1400" kern="1200" dirty="0">
                <a:solidFill>
                  <a:prstClr val="black"/>
                </a:solidFill>
                <a:latin typeface="Cambria Math"/>
                <a:cs typeface="Cambria Math"/>
              </a:rPr>
              <a:t>𝐢𝐝)</a:t>
            </a:r>
            <a:endParaRPr sz="1400" kern="1200">
              <a:solidFill>
                <a:prstClr val="black"/>
              </a:solidFill>
              <a:latin typeface="Cambria Math"/>
              <a:cs typeface="Cambria Math"/>
            </a:endParaRPr>
          </a:p>
          <a:p>
            <a:pPr marL="160020" rtl="0">
              <a:lnSpc>
                <a:spcPts val="969"/>
              </a:lnSpc>
              <a:tabLst>
                <a:tab pos="711200" algn="l"/>
                <a:tab pos="1409700" algn="l"/>
                <a:tab pos="2439035" algn="l"/>
                <a:tab pos="3518535" algn="l"/>
              </a:tabLst>
            </a:pPr>
            <a:r>
              <a:rPr sz="1000" kern="1200" spc="75" dirty="0">
                <a:solidFill>
                  <a:prstClr val="black"/>
                </a:solidFill>
                <a:latin typeface="Cambria Math"/>
                <a:cs typeface="Cambria Math"/>
              </a:rPr>
              <a:t>𝑟𝑚	𝑟𝑚	𝑟𝑚	𝑟𝑚	𝑟𝑚</a:t>
            </a:r>
            <a:endParaRPr sz="1000" kern="1200">
              <a:solidFill>
                <a:prstClr val="black"/>
              </a:solidFill>
              <a:latin typeface="Cambria Math"/>
              <a:cs typeface="Cambria Math"/>
            </a:endParaRPr>
          </a:p>
        </p:txBody>
      </p:sp>
      <p:grpSp>
        <p:nvGrpSpPr>
          <p:cNvPr id="48" name="object 21">
            <a:extLst>
              <a:ext uri="{FF2B5EF4-FFF2-40B4-BE49-F238E27FC236}">
                <a16:creationId xmlns:a16="http://schemas.microsoft.com/office/drawing/2014/main" id="{25BAD9D0-AB2F-541F-2E2F-BC440BD70BA0}"/>
              </a:ext>
            </a:extLst>
          </p:cNvPr>
          <p:cNvGrpSpPr/>
          <p:nvPr/>
        </p:nvGrpSpPr>
        <p:grpSpPr>
          <a:xfrm>
            <a:off x="5763526" y="4418554"/>
            <a:ext cx="1971039" cy="1774825"/>
            <a:chOff x="5763526" y="4418554"/>
            <a:chExt cx="1971039" cy="1774825"/>
          </a:xfrm>
        </p:grpSpPr>
        <p:pic>
          <p:nvPicPr>
            <p:cNvPr id="49" name="object 22">
              <a:extLst>
                <a:ext uri="{FF2B5EF4-FFF2-40B4-BE49-F238E27FC236}">
                  <a16:creationId xmlns:a16="http://schemas.microsoft.com/office/drawing/2014/main" id="{58370EEB-55AF-A415-137B-C9EC465905CD}"/>
                </a:ext>
              </a:extLst>
            </p:cNvPr>
            <p:cNvPicPr/>
            <p:nvPr/>
          </p:nvPicPr>
          <p:blipFill>
            <a:blip r:embed="rId9" cstate="print"/>
            <a:stretch>
              <a:fillRect/>
            </a:stretch>
          </p:blipFill>
          <p:spPr>
            <a:xfrm>
              <a:off x="5763526" y="4418554"/>
              <a:ext cx="1636653" cy="1774461"/>
            </a:xfrm>
            <a:prstGeom prst="rect">
              <a:avLst/>
            </a:prstGeom>
          </p:spPr>
        </p:pic>
        <p:sp>
          <p:nvSpPr>
            <p:cNvPr id="50" name="object 23">
              <a:extLst>
                <a:ext uri="{FF2B5EF4-FFF2-40B4-BE49-F238E27FC236}">
                  <a16:creationId xmlns:a16="http://schemas.microsoft.com/office/drawing/2014/main" id="{BEE50DA6-5457-08CA-9530-D756B02C660E}"/>
                </a:ext>
              </a:extLst>
            </p:cNvPr>
            <p:cNvSpPr/>
            <p:nvPr/>
          </p:nvSpPr>
          <p:spPr>
            <a:xfrm>
              <a:off x="5962841" y="5490362"/>
              <a:ext cx="695960" cy="407034"/>
            </a:xfrm>
            <a:custGeom>
              <a:avLst/>
              <a:gdLst/>
              <a:ahLst/>
              <a:cxnLst/>
              <a:rect l="l" t="t" r="r" b="b"/>
              <a:pathLst>
                <a:path w="695959" h="407035">
                  <a:moveTo>
                    <a:pt x="0" y="203421"/>
                  </a:moveTo>
                  <a:lnTo>
                    <a:pt x="17726" y="139124"/>
                  </a:lnTo>
                  <a:lnTo>
                    <a:pt x="67087" y="83283"/>
                  </a:lnTo>
                  <a:lnTo>
                    <a:pt x="101841" y="59580"/>
                  </a:lnTo>
                  <a:lnTo>
                    <a:pt x="142356" y="39248"/>
                  </a:lnTo>
                  <a:lnTo>
                    <a:pt x="187916" y="22705"/>
                  </a:lnTo>
                  <a:lnTo>
                    <a:pt x="237805" y="10370"/>
                  </a:lnTo>
                  <a:lnTo>
                    <a:pt x="291307" y="2662"/>
                  </a:lnTo>
                  <a:lnTo>
                    <a:pt x="347708" y="0"/>
                  </a:lnTo>
                  <a:lnTo>
                    <a:pt x="404108" y="2662"/>
                  </a:lnTo>
                  <a:lnTo>
                    <a:pt x="457610" y="10370"/>
                  </a:lnTo>
                  <a:lnTo>
                    <a:pt x="507499" y="22705"/>
                  </a:lnTo>
                  <a:lnTo>
                    <a:pt x="553059" y="39248"/>
                  </a:lnTo>
                  <a:lnTo>
                    <a:pt x="593574" y="59580"/>
                  </a:lnTo>
                  <a:lnTo>
                    <a:pt x="628328" y="83283"/>
                  </a:lnTo>
                  <a:lnTo>
                    <a:pt x="656605" y="109937"/>
                  </a:lnTo>
                  <a:lnTo>
                    <a:pt x="690865" y="170425"/>
                  </a:lnTo>
                  <a:lnTo>
                    <a:pt x="695416" y="203421"/>
                  </a:lnTo>
                  <a:lnTo>
                    <a:pt x="690865" y="236417"/>
                  </a:lnTo>
                  <a:lnTo>
                    <a:pt x="656605" y="296905"/>
                  </a:lnTo>
                  <a:lnTo>
                    <a:pt x="628328" y="323559"/>
                  </a:lnTo>
                  <a:lnTo>
                    <a:pt x="593574" y="347262"/>
                  </a:lnTo>
                  <a:lnTo>
                    <a:pt x="553059" y="367594"/>
                  </a:lnTo>
                  <a:lnTo>
                    <a:pt x="507499" y="384137"/>
                  </a:lnTo>
                  <a:lnTo>
                    <a:pt x="457610" y="396472"/>
                  </a:lnTo>
                  <a:lnTo>
                    <a:pt x="404108" y="404180"/>
                  </a:lnTo>
                  <a:lnTo>
                    <a:pt x="347708" y="406843"/>
                  </a:lnTo>
                  <a:lnTo>
                    <a:pt x="291307" y="404180"/>
                  </a:lnTo>
                  <a:lnTo>
                    <a:pt x="237805" y="396472"/>
                  </a:lnTo>
                  <a:lnTo>
                    <a:pt x="187916" y="384137"/>
                  </a:lnTo>
                  <a:lnTo>
                    <a:pt x="142356" y="367594"/>
                  </a:lnTo>
                  <a:lnTo>
                    <a:pt x="101841" y="347262"/>
                  </a:lnTo>
                  <a:lnTo>
                    <a:pt x="67087" y="323559"/>
                  </a:lnTo>
                  <a:lnTo>
                    <a:pt x="38810" y="296905"/>
                  </a:lnTo>
                  <a:lnTo>
                    <a:pt x="4550" y="236417"/>
                  </a:lnTo>
                  <a:lnTo>
                    <a:pt x="0" y="203421"/>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1" name="object 24">
              <a:extLst>
                <a:ext uri="{FF2B5EF4-FFF2-40B4-BE49-F238E27FC236}">
                  <a16:creationId xmlns:a16="http://schemas.microsoft.com/office/drawing/2014/main" id="{595C6461-D4FC-C3A0-A334-9BBB8B346187}"/>
                </a:ext>
              </a:extLst>
            </p:cNvPr>
            <p:cNvSpPr/>
            <p:nvPr/>
          </p:nvSpPr>
          <p:spPr>
            <a:xfrm>
              <a:off x="7032584" y="5490362"/>
              <a:ext cx="695960" cy="407034"/>
            </a:xfrm>
            <a:custGeom>
              <a:avLst/>
              <a:gdLst/>
              <a:ahLst/>
              <a:cxnLst/>
              <a:rect l="l" t="t" r="r" b="b"/>
              <a:pathLst>
                <a:path w="695959" h="407035">
                  <a:moveTo>
                    <a:pt x="0" y="203421"/>
                  </a:moveTo>
                  <a:lnTo>
                    <a:pt x="17726" y="139124"/>
                  </a:lnTo>
                  <a:lnTo>
                    <a:pt x="67087" y="83283"/>
                  </a:lnTo>
                  <a:lnTo>
                    <a:pt x="101841" y="59580"/>
                  </a:lnTo>
                  <a:lnTo>
                    <a:pt x="142356" y="39248"/>
                  </a:lnTo>
                  <a:lnTo>
                    <a:pt x="187916" y="22705"/>
                  </a:lnTo>
                  <a:lnTo>
                    <a:pt x="237805" y="10370"/>
                  </a:lnTo>
                  <a:lnTo>
                    <a:pt x="291307" y="2662"/>
                  </a:lnTo>
                  <a:lnTo>
                    <a:pt x="347708" y="0"/>
                  </a:lnTo>
                  <a:lnTo>
                    <a:pt x="404108" y="2662"/>
                  </a:lnTo>
                  <a:lnTo>
                    <a:pt x="457610" y="10370"/>
                  </a:lnTo>
                  <a:lnTo>
                    <a:pt x="507499" y="22705"/>
                  </a:lnTo>
                  <a:lnTo>
                    <a:pt x="553059" y="39248"/>
                  </a:lnTo>
                  <a:lnTo>
                    <a:pt x="593574" y="59580"/>
                  </a:lnTo>
                  <a:lnTo>
                    <a:pt x="628328" y="83283"/>
                  </a:lnTo>
                  <a:lnTo>
                    <a:pt x="656605" y="109937"/>
                  </a:lnTo>
                  <a:lnTo>
                    <a:pt x="690865" y="170425"/>
                  </a:lnTo>
                  <a:lnTo>
                    <a:pt x="695416" y="203421"/>
                  </a:lnTo>
                  <a:lnTo>
                    <a:pt x="690865" y="236417"/>
                  </a:lnTo>
                  <a:lnTo>
                    <a:pt x="656605" y="296905"/>
                  </a:lnTo>
                  <a:lnTo>
                    <a:pt x="628328" y="323559"/>
                  </a:lnTo>
                  <a:lnTo>
                    <a:pt x="593574" y="347262"/>
                  </a:lnTo>
                  <a:lnTo>
                    <a:pt x="553059" y="367594"/>
                  </a:lnTo>
                  <a:lnTo>
                    <a:pt x="507499" y="384137"/>
                  </a:lnTo>
                  <a:lnTo>
                    <a:pt x="457610" y="396472"/>
                  </a:lnTo>
                  <a:lnTo>
                    <a:pt x="404108" y="404180"/>
                  </a:lnTo>
                  <a:lnTo>
                    <a:pt x="347708" y="406843"/>
                  </a:lnTo>
                  <a:lnTo>
                    <a:pt x="291307" y="404180"/>
                  </a:lnTo>
                  <a:lnTo>
                    <a:pt x="237805" y="396472"/>
                  </a:lnTo>
                  <a:lnTo>
                    <a:pt x="187916" y="384137"/>
                  </a:lnTo>
                  <a:lnTo>
                    <a:pt x="142356" y="367594"/>
                  </a:lnTo>
                  <a:lnTo>
                    <a:pt x="101841" y="347262"/>
                  </a:lnTo>
                  <a:lnTo>
                    <a:pt x="67087" y="323559"/>
                  </a:lnTo>
                  <a:lnTo>
                    <a:pt x="38810" y="296905"/>
                  </a:lnTo>
                  <a:lnTo>
                    <a:pt x="4550" y="236417"/>
                  </a:lnTo>
                  <a:lnTo>
                    <a:pt x="0" y="203421"/>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52" name="object 25">
            <a:extLst>
              <a:ext uri="{FF2B5EF4-FFF2-40B4-BE49-F238E27FC236}">
                <a16:creationId xmlns:a16="http://schemas.microsoft.com/office/drawing/2014/main" id="{1A689413-CCFC-33D5-0224-58B8A7800589}"/>
              </a:ext>
            </a:extLst>
          </p:cNvPr>
          <p:cNvSpPr txBox="1"/>
          <p:nvPr/>
        </p:nvSpPr>
        <p:spPr>
          <a:xfrm>
            <a:off x="7603497" y="4940300"/>
            <a:ext cx="982344" cy="452120"/>
          </a:xfrm>
          <a:prstGeom prst="rect">
            <a:avLst/>
          </a:prstGeom>
        </p:spPr>
        <p:txBody>
          <a:bodyPr vert="horz" wrap="square" lIns="0" tIns="12700" rIns="0" bIns="0" rtlCol="0">
            <a:spAutoFit/>
          </a:bodyPr>
          <a:lstStyle/>
          <a:p>
            <a:pPr marL="12700" marR="5080" indent="41910" rtl="0">
              <a:lnSpc>
                <a:spcPct val="116700"/>
              </a:lnSpc>
              <a:spcBef>
                <a:spcPts val="100"/>
              </a:spcBef>
            </a:pPr>
            <a:r>
              <a:rPr sz="1200" kern="1200" dirty="0">
                <a:solidFill>
                  <a:srgbClr val="FF0000"/>
                </a:solidFill>
                <a:latin typeface="Palatino Linotype"/>
                <a:cs typeface="Palatino Linotype"/>
              </a:rPr>
              <a:t>Which </a:t>
            </a:r>
            <a:r>
              <a:rPr sz="1200" kern="1200" spc="-5" dirty="0">
                <a:solidFill>
                  <a:srgbClr val="FF0000"/>
                </a:solidFill>
                <a:latin typeface="Palatino Linotype"/>
                <a:cs typeface="Palatino Linotype"/>
              </a:rPr>
              <a:t>one </a:t>
            </a:r>
            <a:r>
              <a:rPr sz="1200" kern="1200" dirty="0">
                <a:solidFill>
                  <a:srgbClr val="FF0000"/>
                </a:solidFill>
                <a:latin typeface="Palatino Linotype"/>
                <a:cs typeface="Palatino Linotype"/>
              </a:rPr>
              <a:t>is </a:t>
            </a:r>
            <a:r>
              <a:rPr sz="1200" kern="1200" spc="-285" dirty="0">
                <a:solidFill>
                  <a:srgbClr val="FF0000"/>
                </a:solidFill>
                <a:latin typeface="Palatino Linotype"/>
                <a:cs typeface="Palatino Linotype"/>
              </a:rPr>
              <a:t> </a:t>
            </a:r>
            <a:r>
              <a:rPr sz="1200" kern="1200" dirty="0">
                <a:solidFill>
                  <a:srgbClr val="FF0000"/>
                </a:solidFill>
                <a:latin typeface="Palatino Linotype"/>
                <a:cs typeface="Palatino Linotype"/>
              </a:rPr>
              <a:t>replaced</a:t>
            </a:r>
            <a:r>
              <a:rPr sz="1200" kern="1200" spc="-70" dirty="0">
                <a:solidFill>
                  <a:srgbClr val="FF0000"/>
                </a:solidFill>
                <a:latin typeface="Palatino Linotype"/>
                <a:cs typeface="Palatino Linotype"/>
              </a:rPr>
              <a:t> </a:t>
            </a:r>
            <a:r>
              <a:rPr sz="1200" kern="1200" spc="-5" dirty="0">
                <a:solidFill>
                  <a:srgbClr val="FF0000"/>
                </a:solidFill>
                <a:latin typeface="Palatino Linotype"/>
                <a:cs typeface="Palatino Linotype"/>
              </a:rPr>
              <a:t>first?</a:t>
            </a:r>
            <a:endParaRPr sz="1200" kern="1200">
              <a:solidFill>
                <a:prstClr val="black"/>
              </a:solidFill>
              <a:latin typeface="Palatino Linotype"/>
              <a:cs typeface="Palatino Linotype"/>
            </a:endParaRPr>
          </a:p>
        </p:txBody>
      </p:sp>
    </p:spTree>
    <p:extLst>
      <p:ext uri="{BB962C8B-B14F-4D97-AF65-F5344CB8AC3E}">
        <p14:creationId xmlns:p14="http://schemas.microsoft.com/office/powerpoint/2010/main" val="2159580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16</a:t>
            </a:fld>
            <a:endParaRPr lang="en-US"/>
          </a:p>
        </p:txBody>
      </p:sp>
      <p:sp>
        <p:nvSpPr>
          <p:cNvPr id="30" name="object 2">
            <a:extLst>
              <a:ext uri="{FF2B5EF4-FFF2-40B4-BE49-F238E27FC236}">
                <a16:creationId xmlns:a16="http://schemas.microsoft.com/office/drawing/2014/main" id="{CC4F2B9A-9073-A379-57EA-74489607FAD5}"/>
              </a:ext>
            </a:extLst>
          </p:cNvPr>
          <p:cNvSpPr txBox="1">
            <a:spLocks/>
          </p:cNvSpPr>
          <p:nvPr/>
        </p:nvSpPr>
        <p:spPr>
          <a:xfrm>
            <a:off x="707390" y="524763"/>
            <a:ext cx="7023734"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Parse</a:t>
            </a:r>
            <a:r>
              <a:rPr kumimoji="0" lang="en-US" sz="4000" b="1" i="0" u="none" strike="noStrike" kern="0" cap="none" spc="-2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60" normalizeH="0" baseline="0" noProof="0" dirty="0">
                <a:ln>
                  <a:noFill/>
                </a:ln>
                <a:solidFill>
                  <a:sysClr val="windowText" lastClr="000000"/>
                </a:solidFill>
                <a:effectLst/>
                <a:uLnTx/>
                <a:uFillTx/>
                <a:latin typeface="Palatino Linotype"/>
                <a:ea typeface="+mj-ea"/>
              </a:rPr>
              <a:t>Trees</a:t>
            </a:r>
            <a:r>
              <a:rPr kumimoji="0" lang="en-US" sz="4000" b="1" i="0" u="none" strike="noStrike" kern="0" cap="none" spc="-2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dirty="0">
                <a:ln>
                  <a:noFill/>
                </a:ln>
                <a:solidFill>
                  <a:sysClr val="windowText" lastClr="000000"/>
                </a:solidFill>
                <a:effectLst/>
                <a:uLnTx/>
                <a:uFillTx/>
                <a:latin typeface="SimSun"/>
                <a:ea typeface="宋体" panose="02010600030101010101" pitchFamily="2" charset="-122"/>
                <a:cs typeface="SimSun"/>
              </a:rPr>
              <a:t>语法分析树</a:t>
            </a:r>
            <a:r>
              <a:rPr kumimoji="0" lang="en-US" altLang="zh-CN" sz="4000" b="1" i="0" u="none" strike="noStrike" kern="0" cap="none" spc="0" normalizeH="0" baseline="0" noProof="0" dirty="0">
                <a:ln>
                  <a:noFill/>
                </a:ln>
                <a:solidFill>
                  <a:sysClr val="windowText" lastClr="000000"/>
                </a:solidFill>
                <a:effectLst/>
                <a:uLnTx/>
                <a:uFillTx/>
                <a:latin typeface="Palatino Linotype"/>
                <a:ea typeface="宋体" panose="02010600030101010101" pitchFamily="2" charset="-122"/>
              </a:rPr>
              <a:t>)</a:t>
            </a:r>
            <a:r>
              <a:rPr kumimoji="0" lang="zh-CN" altLang="en-US" sz="4000" b="1" i="0" u="none" strike="noStrike" kern="0" cap="none" spc="-15" normalizeH="0" baseline="0" noProof="0" dirty="0">
                <a:ln>
                  <a:noFill/>
                </a:ln>
                <a:solidFill>
                  <a:sysClr val="windowText" lastClr="000000"/>
                </a:solidFill>
                <a:effectLst/>
                <a:uLnTx/>
                <a:uFillTx/>
                <a:latin typeface="Palatino Linotype"/>
                <a:ea typeface="宋体" panose="02010600030101010101" pitchFamily="2" charset="-122"/>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Cont.</a:t>
            </a:r>
            <a:endParaRPr kumimoji="0" lang="en-US" sz="4000" b="1" i="0" u="none" strike="noStrike" kern="0" cap="none" spc="0" normalizeH="0" baseline="0" noProof="0" dirty="0">
              <a:ln>
                <a:noFill/>
              </a:ln>
              <a:solidFill>
                <a:sysClr val="windowText" lastClr="000000"/>
              </a:solidFill>
              <a:effectLst/>
              <a:uLnTx/>
              <a:uFillTx/>
              <a:latin typeface="SimSun"/>
              <a:ea typeface="+mj-ea"/>
              <a:cs typeface="SimSun"/>
            </a:endParaRPr>
          </a:p>
        </p:txBody>
      </p:sp>
      <p:sp>
        <p:nvSpPr>
          <p:cNvPr id="31" name="object 3">
            <a:extLst>
              <a:ext uri="{FF2B5EF4-FFF2-40B4-BE49-F238E27FC236}">
                <a16:creationId xmlns:a16="http://schemas.microsoft.com/office/drawing/2014/main" id="{98111FB4-E94E-055D-5E20-5F2D74599A22}"/>
              </a:ext>
            </a:extLst>
          </p:cNvPr>
          <p:cNvSpPr txBox="1"/>
          <p:nvPr/>
        </p:nvSpPr>
        <p:spPr>
          <a:xfrm>
            <a:off x="707390" y="1598168"/>
            <a:ext cx="7568565" cy="2628900"/>
          </a:xfrm>
          <a:prstGeom prst="rect">
            <a:avLst/>
          </a:prstGeom>
        </p:spPr>
        <p:txBody>
          <a:bodyPr vert="horz" wrap="square" lIns="0" tIns="12700" rIns="0" bIns="0" rtlCol="0">
            <a:spAutoFit/>
          </a:bodyPr>
          <a:lstStyle/>
          <a:p>
            <a:pPr marL="242570" marR="263525" indent="-230504" rtl="0">
              <a:lnSpc>
                <a:spcPct val="119000"/>
              </a:lnSpc>
              <a:spcBef>
                <a:spcPts val="100"/>
              </a:spcBef>
              <a:buFont typeface="Arial MT"/>
              <a:buChar char="•"/>
              <a:tabLst>
                <a:tab pos="242570" algn="l"/>
                <a:tab pos="243204" algn="l"/>
              </a:tabLst>
            </a:pPr>
            <a:r>
              <a:rPr sz="2100" kern="1200" dirty="0">
                <a:solidFill>
                  <a:prstClr val="black"/>
                </a:solidFill>
                <a:latin typeface="Palatino Linotype"/>
                <a:cs typeface="Palatino Linotype"/>
              </a:rPr>
              <a:t>The </a:t>
            </a:r>
            <a:r>
              <a:rPr sz="2100" kern="1200" spc="-10" dirty="0">
                <a:solidFill>
                  <a:prstClr val="black"/>
                </a:solidFill>
                <a:latin typeface="Palatino Linotype"/>
                <a:cs typeface="Palatino Linotype"/>
              </a:rPr>
              <a:t>leaves, </a:t>
            </a:r>
            <a:r>
              <a:rPr sz="2100" kern="1200" spc="-5" dirty="0">
                <a:solidFill>
                  <a:prstClr val="black"/>
                </a:solidFill>
                <a:latin typeface="Palatino Linotype"/>
                <a:cs typeface="Palatino Linotype"/>
              </a:rPr>
              <a:t>from left </a:t>
            </a:r>
            <a:r>
              <a:rPr sz="2100" kern="1200" dirty="0">
                <a:solidFill>
                  <a:prstClr val="black"/>
                </a:solidFill>
                <a:latin typeface="Palatino Linotype"/>
                <a:cs typeface="Palatino Linotype"/>
              </a:rPr>
              <a:t>to </a:t>
            </a:r>
            <a:r>
              <a:rPr sz="2100" kern="1200" spc="-5" dirty="0">
                <a:solidFill>
                  <a:prstClr val="black"/>
                </a:solidFill>
                <a:latin typeface="Palatino Linotype"/>
                <a:cs typeface="Palatino Linotype"/>
              </a:rPr>
              <a:t>right, constitute </a:t>
            </a:r>
            <a:r>
              <a:rPr sz="2100" kern="1200" dirty="0">
                <a:solidFill>
                  <a:prstClr val="black"/>
                </a:solidFill>
                <a:latin typeface="Palatino Linotype"/>
                <a:cs typeface="Palatino Linotype"/>
              </a:rPr>
              <a:t>a </a:t>
            </a:r>
            <a:r>
              <a:rPr sz="2100" b="1" kern="1200" dirty="0">
                <a:solidFill>
                  <a:srgbClr val="FF0000"/>
                </a:solidFill>
                <a:latin typeface="Palatino Linotype"/>
                <a:cs typeface="Palatino Linotype"/>
              </a:rPr>
              <a:t>sentential </a:t>
            </a:r>
            <a:r>
              <a:rPr sz="2100" b="1" kern="1200" spc="-5" dirty="0">
                <a:solidFill>
                  <a:srgbClr val="FF0000"/>
                </a:solidFill>
                <a:latin typeface="Palatino Linotype"/>
                <a:cs typeface="Palatino Linotype"/>
              </a:rPr>
              <a:t>form </a:t>
            </a:r>
            <a:r>
              <a:rPr sz="2100" kern="1200" dirty="0">
                <a:solidFill>
                  <a:prstClr val="black"/>
                </a:solidFill>
                <a:latin typeface="Palatino Linotype"/>
                <a:cs typeface="Palatino Linotype"/>
              </a:rPr>
              <a:t>of </a:t>
            </a:r>
            <a:r>
              <a:rPr sz="2100" kern="1200" spc="-509" dirty="0">
                <a:solidFill>
                  <a:prstClr val="black"/>
                </a:solidFill>
                <a:latin typeface="Palatino Linotype"/>
                <a:cs typeface="Palatino Linotype"/>
              </a:rPr>
              <a:t> </a:t>
            </a:r>
            <a:r>
              <a:rPr sz="2100" kern="1200" dirty="0">
                <a:solidFill>
                  <a:prstClr val="black"/>
                </a:solidFill>
                <a:latin typeface="Palatino Linotype"/>
                <a:cs typeface="Palatino Linotype"/>
              </a:rPr>
              <a:t>the</a:t>
            </a:r>
            <a:r>
              <a:rPr sz="2100" kern="1200" spc="-15" dirty="0">
                <a:solidFill>
                  <a:prstClr val="black"/>
                </a:solidFill>
                <a:latin typeface="Palatino Linotype"/>
                <a:cs typeface="Palatino Linotype"/>
              </a:rPr>
              <a:t> grammar,</a:t>
            </a:r>
            <a:r>
              <a:rPr sz="2100" kern="1200" dirty="0">
                <a:solidFill>
                  <a:prstClr val="black"/>
                </a:solidFill>
                <a:latin typeface="Palatino Linotype"/>
                <a:cs typeface="Palatino Linotype"/>
              </a:rPr>
              <a:t> which is</a:t>
            </a:r>
            <a:r>
              <a:rPr sz="2100" kern="1200" spc="-10" dirty="0">
                <a:solidFill>
                  <a:prstClr val="black"/>
                </a:solidFill>
                <a:latin typeface="Palatino Linotype"/>
                <a:cs typeface="Palatino Linotype"/>
              </a:rPr>
              <a:t> </a:t>
            </a:r>
            <a:r>
              <a:rPr sz="2100" kern="1200" spc="-5" dirty="0">
                <a:solidFill>
                  <a:prstClr val="black"/>
                </a:solidFill>
                <a:latin typeface="Palatino Linotype"/>
                <a:cs typeface="Palatino Linotype"/>
              </a:rPr>
              <a:t>called</a:t>
            </a:r>
            <a:r>
              <a:rPr sz="2100" kern="1200" dirty="0">
                <a:solidFill>
                  <a:prstClr val="black"/>
                </a:solidFill>
                <a:latin typeface="Palatino Linotype"/>
                <a:cs typeface="Palatino Linotype"/>
              </a:rPr>
              <a:t> the</a:t>
            </a:r>
            <a:r>
              <a:rPr sz="2100" kern="1200" spc="-10" dirty="0">
                <a:solidFill>
                  <a:prstClr val="black"/>
                </a:solidFill>
                <a:latin typeface="Palatino Linotype"/>
                <a:cs typeface="Palatino Linotype"/>
              </a:rPr>
              <a:t> </a:t>
            </a:r>
            <a:r>
              <a:rPr sz="2100" i="1" kern="1200" spc="-5" dirty="0">
                <a:solidFill>
                  <a:srgbClr val="0432FF"/>
                </a:solidFill>
                <a:latin typeface="Palatino Linotype"/>
                <a:cs typeface="Palatino Linotype"/>
              </a:rPr>
              <a:t>yield</a:t>
            </a:r>
            <a:r>
              <a:rPr sz="2100" i="1" kern="1200" dirty="0">
                <a:solidFill>
                  <a:srgbClr val="0432FF"/>
                </a:solidFill>
                <a:latin typeface="Palatino Linotype"/>
                <a:cs typeface="Palatino Linotype"/>
              </a:rPr>
              <a:t> </a:t>
            </a:r>
            <a:r>
              <a:rPr sz="2100" kern="1200" dirty="0">
                <a:solidFill>
                  <a:prstClr val="black"/>
                </a:solidFill>
                <a:latin typeface="Palatino Linotype"/>
                <a:cs typeface="Palatino Linotype"/>
              </a:rPr>
              <a:t>or</a:t>
            </a:r>
            <a:r>
              <a:rPr sz="2100" kern="1200" spc="-10" dirty="0">
                <a:solidFill>
                  <a:prstClr val="black"/>
                </a:solidFill>
                <a:latin typeface="Palatino Linotype"/>
                <a:cs typeface="Palatino Linotype"/>
              </a:rPr>
              <a:t> </a:t>
            </a:r>
            <a:r>
              <a:rPr sz="2100" i="1" kern="1200" spc="-10" dirty="0">
                <a:solidFill>
                  <a:srgbClr val="0432FF"/>
                </a:solidFill>
                <a:latin typeface="Palatino Linotype"/>
                <a:cs typeface="Palatino Linotype"/>
              </a:rPr>
              <a:t>frontier </a:t>
            </a:r>
            <a:r>
              <a:rPr sz="2100" kern="1200" dirty="0">
                <a:solidFill>
                  <a:prstClr val="black"/>
                </a:solidFill>
                <a:latin typeface="Palatino Linotype"/>
                <a:cs typeface="Palatino Linotype"/>
              </a:rPr>
              <a:t>of the</a:t>
            </a:r>
            <a:r>
              <a:rPr sz="2100" kern="1200" spc="-15" dirty="0">
                <a:solidFill>
                  <a:prstClr val="black"/>
                </a:solidFill>
                <a:latin typeface="Palatino Linotype"/>
                <a:cs typeface="Palatino Linotype"/>
              </a:rPr>
              <a:t> </a:t>
            </a:r>
            <a:r>
              <a:rPr sz="2100" kern="1200" spc="-5" dirty="0">
                <a:solidFill>
                  <a:prstClr val="black"/>
                </a:solidFill>
                <a:latin typeface="Palatino Linotype"/>
                <a:cs typeface="Palatino Linotype"/>
              </a:rPr>
              <a:t>tree</a:t>
            </a:r>
            <a:endParaRPr sz="2100" kern="1200" dirty="0">
              <a:solidFill>
                <a:prstClr val="black"/>
              </a:solidFill>
              <a:latin typeface="Palatino Linotype"/>
              <a:cs typeface="Palatino Linotype"/>
            </a:endParaRPr>
          </a:p>
          <a:p>
            <a:pPr marL="242570" marR="121920" indent="-230504" rtl="0">
              <a:lnSpc>
                <a:spcPct val="119000"/>
              </a:lnSpc>
              <a:spcBef>
                <a:spcPts val="1200"/>
              </a:spcBef>
              <a:buFont typeface="Arial MT"/>
              <a:buChar char="•"/>
              <a:tabLst>
                <a:tab pos="242570" algn="l"/>
                <a:tab pos="243204" algn="l"/>
              </a:tabLst>
            </a:pPr>
            <a:r>
              <a:rPr sz="2100" kern="1200" spc="-5" dirty="0">
                <a:solidFill>
                  <a:prstClr val="black"/>
                </a:solidFill>
                <a:latin typeface="Palatino Linotype"/>
                <a:cs typeface="Palatino Linotype"/>
              </a:rPr>
              <a:t>There</a:t>
            </a:r>
            <a:r>
              <a:rPr sz="2100" kern="1200" spc="-10" dirty="0">
                <a:solidFill>
                  <a:prstClr val="black"/>
                </a:solidFill>
                <a:latin typeface="Palatino Linotype"/>
                <a:cs typeface="Palatino Linotype"/>
              </a:rPr>
              <a:t> </a:t>
            </a:r>
            <a:r>
              <a:rPr sz="2100" kern="1200" dirty="0">
                <a:solidFill>
                  <a:prstClr val="black"/>
                </a:solidFill>
                <a:latin typeface="Palatino Linotype"/>
                <a:cs typeface="Palatino Linotype"/>
              </a:rPr>
              <a:t>is</a:t>
            </a:r>
            <a:r>
              <a:rPr sz="2100" kern="1200" spc="-5" dirty="0">
                <a:solidFill>
                  <a:prstClr val="black"/>
                </a:solidFill>
                <a:latin typeface="Palatino Linotype"/>
                <a:cs typeface="Palatino Linotype"/>
              </a:rPr>
              <a:t> </a:t>
            </a:r>
            <a:r>
              <a:rPr sz="2100" kern="1200" dirty="0">
                <a:solidFill>
                  <a:prstClr val="black"/>
                </a:solidFill>
                <a:latin typeface="Palatino Linotype"/>
                <a:cs typeface="Palatino Linotype"/>
              </a:rPr>
              <a:t>a</a:t>
            </a:r>
            <a:r>
              <a:rPr sz="2100" kern="1200" spc="-5" dirty="0">
                <a:solidFill>
                  <a:prstClr val="black"/>
                </a:solidFill>
                <a:latin typeface="Palatino Linotype"/>
                <a:cs typeface="Palatino Linotype"/>
              </a:rPr>
              <a:t> </a:t>
            </a:r>
            <a:r>
              <a:rPr sz="2100" b="1" kern="1200" spc="-5" dirty="0">
                <a:solidFill>
                  <a:srgbClr val="FF0000"/>
                </a:solidFill>
                <a:latin typeface="Palatino Linotype"/>
                <a:cs typeface="Palatino Linotype"/>
              </a:rPr>
              <a:t>many-to-one</a:t>
            </a:r>
            <a:r>
              <a:rPr sz="2100" b="1" kern="1200" dirty="0">
                <a:solidFill>
                  <a:srgbClr val="FF0000"/>
                </a:solidFill>
                <a:latin typeface="Palatino Linotype"/>
                <a:cs typeface="Palatino Linotype"/>
              </a:rPr>
              <a:t> </a:t>
            </a:r>
            <a:r>
              <a:rPr sz="2100" kern="1200" spc="-5" dirty="0">
                <a:solidFill>
                  <a:prstClr val="black"/>
                </a:solidFill>
                <a:latin typeface="Palatino Linotype"/>
                <a:cs typeface="Palatino Linotype"/>
              </a:rPr>
              <a:t>relationship</a:t>
            </a:r>
            <a:r>
              <a:rPr sz="2100" kern="1200" dirty="0">
                <a:solidFill>
                  <a:prstClr val="black"/>
                </a:solidFill>
                <a:latin typeface="Palatino Linotype"/>
                <a:cs typeface="Palatino Linotype"/>
              </a:rPr>
              <a:t> </a:t>
            </a:r>
            <a:r>
              <a:rPr sz="2100" kern="1200" spc="-10" dirty="0">
                <a:solidFill>
                  <a:prstClr val="black"/>
                </a:solidFill>
                <a:latin typeface="Palatino Linotype"/>
                <a:cs typeface="Palatino Linotype"/>
              </a:rPr>
              <a:t>between</a:t>
            </a:r>
            <a:r>
              <a:rPr sz="2100" kern="1200" dirty="0">
                <a:solidFill>
                  <a:prstClr val="black"/>
                </a:solidFill>
                <a:latin typeface="Palatino Linotype"/>
                <a:cs typeface="Palatino Linotype"/>
              </a:rPr>
              <a:t> </a:t>
            </a:r>
            <a:r>
              <a:rPr sz="2100" kern="1200" spc="-10" dirty="0">
                <a:solidFill>
                  <a:srgbClr val="0432FF"/>
                </a:solidFill>
                <a:latin typeface="Palatino Linotype"/>
                <a:cs typeface="Palatino Linotype"/>
              </a:rPr>
              <a:t>derivations</a:t>
            </a:r>
            <a:r>
              <a:rPr sz="2100" kern="1200" spc="-5" dirty="0">
                <a:solidFill>
                  <a:srgbClr val="0432FF"/>
                </a:solidFill>
                <a:latin typeface="Palatino Linotype"/>
                <a:cs typeface="Palatino Linotype"/>
              </a:rPr>
              <a:t> </a:t>
            </a:r>
            <a:r>
              <a:rPr sz="2100" kern="1200" dirty="0">
                <a:solidFill>
                  <a:prstClr val="black"/>
                </a:solidFill>
                <a:latin typeface="Palatino Linotype"/>
                <a:cs typeface="Palatino Linotype"/>
              </a:rPr>
              <a:t>and </a:t>
            </a:r>
            <a:r>
              <a:rPr sz="2100" kern="1200" spc="-509" dirty="0">
                <a:solidFill>
                  <a:prstClr val="black"/>
                </a:solidFill>
                <a:latin typeface="Palatino Linotype"/>
                <a:cs typeface="Palatino Linotype"/>
              </a:rPr>
              <a:t> </a:t>
            </a:r>
            <a:r>
              <a:rPr sz="2100" kern="1200" spc="-5" dirty="0">
                <a:solidFill>
                  <a:srgbClr val="0432FF"/>
                </a:solidFill>
                <a:latin typeface="Palatino Linotype"/>
                <a:cs typeface="Palatino Linotype"/>
              </a:rPr>
              <a:t>parse</a:t>
            </a:r>
            <a:r>
              <a:rPr sz="2100" kern="1200" spc="-15" dirty="0">
                <a:solidFill>
                  <a:srgbClr val="0432FF"/>
                </a:solidFill>
                <a:latin typeface="Palatino Linotype"/>
                <a:cs typeface="Palatino Linotype"/>
              </a:rPr>
              <a:t> </a:t>
            </a:r>
            <a:r>
              <a:rPr sz="2100" kern="1200" spc="-5" dirty="0">
                <a:solidFill>
                  <a:srgbClr val="0432FF"/>
                </a:solidFill>
                <a:latin typeface="Palatino Linotype"/>
                <a:cs typeface="Palatino Linotype"/>
              </a:rPr>
              <a:t>trees</a:t>
            </a:r>
            <a:endParaRPr sz="2100" kern="1200" dirty="0">
              <a:solidFill>
                <a:prstClr val="black"/>
              </a:solidFill>
              <a:latin typeface="Palatino Linotype"/>
              <a:cs typeface="Palatino Linotype"/>
            </a:endParaRPr>
          </a:p>
          <a:p>
            <a:pPr marL="242570" marR="5080" indent="-230504" rtl="0">
              <a:lnSpc>
                <a:spcPct val="119000"/>
              </a:lnSpc>
              <a:spcBef>
                <a:spcPts val="1300"/>
              </a:spcBef>
              <a:buFont typeface="Arial MT"/>
              <a:buChar char="•"/>
              <a:tabLst>
                <a:tab pos="242570" algn="l"/>
                <a:tab pos="243204" algn="l"/>
              </a:tabLst>
            </a:pPr>
            <a:r>
              <a:rPr sz="2100" kern="1200" spc="-5" dirty="0">
                <a:solidFill>
                  <a:prstClr val="black"/>
                </a:solidFill>
                <a:latin typeface="Palatino Linotype"/>
                <a:cs typeface="Palatino Linotype"/>
              </a:rPr>
              <a:t>There</a:t>
            </a:r>
            <a:r>
              <a:rPr sz="2100" kern="1200" spc="-10" dirty="0">
                <a:solidFill>
                  <a:prstClr val="black"/>
                </a:solidFill>
                <a:latin typeface="Palatino Linotype"/>
                <a:cs typeface="Palatino Linotype"/>
              </a:rPr>
              <a:t> </a:t>
            </a:r>
            <a:r>
              <a:rPr sz="2100" kern="1200" dirty="0">
                <a:solidFill>
                  <a:prstClr val="black"/>
                </a:solidFill>
                <a:latin typeface="Palatino Linotype"/>
                <a:cs typeface="Palatino Linotype"/>
              </a:rPr>
              <a:t>is a </a:t>
            </a:r>
            <a:r>
              <a:rPr sz="2100" b="1" kern="1200" spc="-5" dirty="0">
                <a:solidFill>
                  <a:srgbClr val="FF0000"/>
                </a:solidFill>
                <a:latin typeface="Palatino Linotype"/>
                <a:cs typeface="Palatino Linotype"/>
              </a:rPr>
              <a:t>one-to-one</a:t>
            </a:r>
            <a:r>
              <a:rPr sz="2100" b="1" kern="1200" dirty="0">
                <a:solidFill>
                  <a:srgbClr val="FF0000"/>
                </a:solidFill>
                <a:latin typeface="Palatino Linotype"/>
                <a:cs typeface="Palatino Linotype"/>
              </a:rPr>
              <a:t> </a:t>
            </a:r>
            <a:r>
              <a:rPr sz="2100" kern="1200" spc="-5" dirty="0">
                <a:solidFill>
                  <a:prstClr val="black"/>
                </a:solidFill>
                <a:latin typeface="Palatino Linotype"/>
                <a:cs typeface="Palatino Linotype"/>
              </a:rPr>
              <a:t>relationship</a:t>
            </a:r>
            <a:r>
              <a:rPr sz="2100" kern="1200" dirty="0">
                <a:solidFill>
                  <a:prstClr val="black"/>
                </a:solidFill>
                <a:latin typeface="Palatino Linotype"/>
                <a:cs typeface="Palatino Linotype"/>
              </a:rPr>
              <a:t> </a:t>
            </a:r>
            <a:r>
              <a:rPr sz="2100" kern="1200" spc="-10" dirty="0">
                <a:solidFill>
                  <a:prstClr val="black"/>
                </a:solidFill>
                <a:latin typeface="Palatino Linotype"/>
                <a:cs typeface="Palatino Linotype"/>
              </a:rPr>
              <a:t>between</a:t>
            </a:r>
            <a:r>
              <a:rPr sz="2100" kern="1200" spc="5" dirty="0">
                <a:solidFill>
                  <a:prstClr val="black"/>
                </a:solidFill>
                <a:latin typeface="Palatino Linotype"/>
                <a:cs typeface="Palatino Linotype"/>
              </a:rPr>
              <a:t> </a:t>
            </a:r>
            <a:r>
              <a:rPr sz="2100" kern="1200" spc="-5" dirty="0">
                <a:solidFill>
                  <a:srgbClr val="0432FF"/>
                </a:solidFill>
                <a:latin typeface="Palatino Linotype"/>
                <a:cs typeface="Palatino Linotype"/>
              </a:rPr>
              <a:t>leftmost/rightmost </a:t>
            </a:r>
            <a:r>
              <a:rPr sz="2100" kern="1200" spc="-509" dirty="0">
                <a:solidFill>
                  <a:srgbClr val="0432FF"/>
                </a:solidFill>
                <a:latin typeface="Palatino Linotype"/>
                <a:cs typeface="Palatino Linotype"/>
              </a:rPr>
              <a:t> </a:t>
            </a:r>
            <a:r>
              <a:rPr sz="2100" kern="1200" spc="-10" dirty="0">
                <a:solidFill>
                  <a:srgbClr val="0432FF"/>
                </a:solidFill>
                <a:latin typeface="Palatino Linotype"/>
                <a:cs typeface="Palatino Linotype"/>
              </a:rPr>
              <a:t>derivations </a:t>
            </a:r>
            <a:r>
              <a:rPr sz="2100" kern="1200" dirty="0">
                <a:solidFill>
                  <a:prstClr val="black"/>
                </a:solidFill>
                <a:latin typeface="Palatino Linotype"/>
                <a:cs typeface="Palatino Linotype"/>
              </a:rPr>
              <a:t>and </a:t>
            </a:r>
            <a:r>
              <a:rPr sz="2100" kern="1200" spc="-5" dirty="0">
                <a:solidFill>
                  <a:srgbClr val="0432FF"/>
                </a:solidFill>
                <a:latin typeface="Palatino Linotype"/>
                <a:cs typeface="Palatino Linotype"/>
              </a:rPr>
              <a:t>parse</a:t>
            </a:r>
            <a:r>
              <a:rPr sz="2100" kern="1200" spc="-10" dirty="0">
                <a:solidFill>
                  <a:srgbClr val="0432FF"/>
                </a:solidFill>
                <a:latin typeface="Palatino Linotype"/>
                <a:cs typeface="Palatino Linotype"/>
              </a:rPr>
              <a:t> </a:t>
            </a:r>
            <a:r>
              <a:rPr sz="2100" kern="1200" spc="-5" dirty="0">
                <a:solidFill>
                  <a:srgbClr val="0432FF"/>
                </a:solidFill>
                <a:latin typeface="Palatino Linotype"/>
                <a:cs typeface="Palatino Linotype"/>
              </a:rPr>
              <a:t>trees</a:t>
            </a:r>
            <a:endParaRPr sz="2100" kern="1200" dirty="0">
              <a:solidFill>
                <a:prstClr val="black"/>
              </a:solidFill>
              <a:latin typeface="Palatino Linotype"/>
              <a:cs typeface="Palatino Linotype"/>
            </a:endParaRPr>
          </a:p>
        </p:txBody>
      </p:sp>
      <p:sp>
        <p:nvSpPr>
          <p:cNvPr id="32" name="object 4">
            <a:extLst>
              <a:ext uri="{FF2B5EF4-FFF2-40B4-BE49-F238E27FC236}">
                <a16:creationId xmlns:a16="http://schemas.microsoft.com/office/drawing/2014/main" id="{64CE635B-5DC1-8F3B-E207-FCF3EB2B70AA}"/>
              </a:ext>
            </a:extLst>
          </p:cNvPr>
          <p:cNvSpPr txBox="1"/>
          <p:nvPr/>
        </p:nvSpPr>
        <p:spPr>
          <a:xfrm>
            <a:off x="988325" y="4625340"/>
            <a:ext cx="4020185" cy="238760"/>
          </a:xfrm>
          <a:prstGeom prst="rect">
            <a:avLst/>
          </a:prstGeom>
        </p:spPr>
        <p:txBody>
          <a:bodyPr vert="horz" wrap="square" lIns="0" tIns="12700" rIns="0" bIns="0" rtlCol="0">
            <a:spAutoFit/>
          </a:bodyPr>
          <a:lstStyle/>
          <a:p>
            <a:pPr marL="12700" rtl="0">
              <a:spcBef>
                <a:spcPts val="100"/>
              </a:spcBef>
            </a:pPr>
            <a:r>
              <a:rPr sz="1400" b="1" kern="1200" spc="-10" dirty="0">
                <a:solidFill>
                  <a:prstClr val="black"/>
                </a:solidFill>
                <a:cs typeface="Calibri"/>
              </a:rPr>
              <a:t>CFG: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Wingdings"/>
                <a:cs typeface="Wingdings"/>
              </a:rPr>
              <a:t></a:t>
            </a:r>
            <a:r>
              <a:rPr sz="1400" kern="1200" spc="420" dirty="0">
                <a:solidFill>
                  <a:prstClr val="black"/>
                </a:solidFill>
                <a:latin typeface="Times New Roman"/>
                <a:cs typeface="Times New Roman"/>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i="1" kern="1200" dirty="0">
                <a:solidFill>
                  <a:prstClr val="black"/>
                </a:solidFill>
                <a:latin typeface="Consolas"/>
                <a:cs typeface="Consolas"/>
              </a:rPr>
              <a:t>E</a:t>
            </a:r>
            <a:r>
              <a:rPr sz="1400" i="1"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kern="1200" dirty="0">
                <a:solidFill>
                  <a:prstClr val="black"/>
                </a:solidFill>
                <a:latin typeface="Consolas"/>
                <a:cs typeface="Consolas"/>
              </a:rPr>
              <a:t>|</a:t>
            </a:r>
            <a:r>
              <a:rPr sz="1400" kern="1200" spc="5" dirty="0">
                <a:solidFill>
                  <a:prstClr val="black"/>
                </a:solidFill>
                <a:latin typeface="Consolas"/>
                <a:cs typeface="Consolas"/>
              </a:rPr>
              <a:t> </a:t>
            </a:r>
            <a:r>
              <a:rPr sz="1400" b="1" kern="1200" spc="5" dirty="0">
                <a:solidFill>
                  <a:prstClr val="black"/>
                </a:solidFill>
                <a:latin typeface="Consolas"/>
                <a:cs typeface="Consolas"/>
              </a:rPr>
              <a:t>id</a:t>
            </a:r>
            <a:endParaRPr sz="1400" kern="1200">
              <a:solidFill>
                <a:prstClr val="black"/>
              </a:solidFill>
              <a:latin typeface="Consolas"/>
              <a:cs typeface="Consolas"/>
            </a:endParaRPr>
          </a:p>
        </p:txBody>
      </p:sp>
      <p:pic>
        <p:nvPicPr>
          <p:cNvPr id="33" name="object 5">
            <a:extLst>
              <a:ext uri="{FF2B5EF4-FFF2-40B4-BE49-F238E27FC236}">
                <a16:creationId xmlns:a16="http://schemas.microsoft.com/office/drawing/2014/main" id="{41B536A2-CC6F-4E6C-2247-11C65FE7DC45}"/>
              </a:ext>
            </a:extLst>
          </p:cNvPr>
          <p:cNvPicPr/>
          <p:nvPr/>
        </p:nvPicPr>
        <p:blipFill>
          <a:blip r:embed="rId3" cstate="print"/>
          <a:stretch>
            <a:fillRect/>
          </a:stretch>
        </p:blipFill>
        <p:spPr>
          <a:xfrm>
            <a:off x="1159318" y="5744416"/>
            <a:ext cx="170573" cy="90462"/>
          </a:xfrm>
          <a:prstGeom prst="rect">
            <a:avLst/>
          </a:prstGeom>
        </p:spPr>
      </p:pic>
      <p:pic>
        <p:nvPicPr>
          <p:cNvPr id="34" name="object 6">
            <a:extLst>
              <a:ext uri="{FF2B5EF4-FFF2-40B4-BE49-F238E27FC236}">
                <a16:creationId xmlns:a16="http://schemas.microsoft.com/office/drawing/2014/main" id="{12211D89-543B-2D19-FF92-E4EB430D6F6A}"/>
              </a:ext>
            </a:extLst>
          </p:cNvPr>
          <p:cNvPicPr/>
          <p:nvPr/>
        </p:nvPicPr>
        <p:blipFill>
          <a:blip r:embed="rId3" cstate="print"/>
          <a:stretch>
            <a:fillRect/>
          </a:stretch>
        </p:blipFill>
        <p:spPr>
          <a:xfrm>
            <a:off x="1710498" y="5744416"/>
            <a:ext cx="170573" cy="90462"/>
          </a:xfrm>
          <a:prstGeom prst="rect">
            <a:avLst/>
          </a:prstGeom>
        </p:spPr>
      </p:pic>
      <p:pic>
        <p:nvPicPr>
          <p:cNvPr id="35" name="object 7">
            <a:extLst>
              <a:ext uri="{FF2B5EF4-FFF2-40B4-BE49-F238E27FC236}">
                <a16:creationId xmlns:a16="http://schemas.microsoft.com/office/drawing/2014/main" id="{981C6758-211D-5263-FCC5-59C6007293E6}"/>
              </a:ext>
            </a:extLst>
          </p:cNvPr>
          <p:cNvPicPr/>
          <p:nvPr/>
        </p:nvPicPr>
        <p:blipFill>
          <a:blip r:embed="rId4" cstate="print"/>
          <a:stretch>
            <a:fillRect/>
          </a:stretch>
        </p:blipFill>
        <p:spPr>
          <a:xfrm>
            <a:off x="2119012" y="5707215"/>
            <a:ext cx="234373" cy="164690"/>
          </a:xfrm>
          <a:prstGeom prst="rect">
            <a:avLst/>
          </a:prstGeom>
        </p:spPr>
      </p:pic>
      <p:pic>
        <p:nvPicPr>
          <p:cNvPr id="36" name="object 8">
            <a:extLst>
              <a:ext uri="{FF2B5EF4-FFF2-40B4-BE49-F238E27FC236}">
                <a16:creationId xmlns:a16="http://schemas.microsoft.com/office/drawing/2014/main" id="{E465486A-F1FB-1BAE-1FA2-68B8D493B7A2}"/>
              </a:ext>
            </a:extLst>
          </p:cNvPr>
          <p:cNvPicPr/>
          <p:nvPr/>
        </p:nvPicPr>
        <p:blipFill>
          <a:blip r:embed="rId3" cstate="print"/>
          <a:stretch>
            <a:fillRect/>
          </a:stretch>
        </p:blipFill>
        <p:spPr>
          <a:xfrm>
            <a:off x="2409252" y="5744416"/>
            <a:ext cx="170573" cy="90462"/>
          </a:xfrm>
          <a:prstGeom prst="rect">
            <a:avLst/>
          </a:prstGeom>
        </p:spPr>
      </p:pic>
      <p:sp>
        <p:nvSpPr>
          <p:cNvPr id="37" name="object 9">
            <a:extLst>
              <a:ext uri="{FF2B5EF4-FFF2-40B4-BE49-F238E27FC236}">
                <a16:creationId xmlns:a16="http://schemas.microsoft.com/office/drawing/2014/main" id="{AC9001BF-5277-52DE-186E-3EF1E9F685EA}"/>
              </a:ext>
            </a:extLst>
          </p:cNvPr>
          <p:cNvSpPr/>
          <p:nvPr/>
        </p:nvSpPr>
        <p:spPr>
          <a:xfrm>
            <a:off x="2817766" y="5707215"/>
            <a:ext cx="565150" cy="165100"/>
          </a:xfrm>
          <a:custGeom>
            <a:avLst/>
            <a:gdLst/>
            <a:ahLst/>
            <a:cxnLst/>
            <a:rect l="l" t="t" r="r" b="b"/>
            <a:pathLst>
              <a:path w="565150" h="165100">
                <a:moveTo>
                  <a:pt x="512240" y="0"/>
                </a:moveTo>
                <a:lnTo>
                  <a:pt x="509896" y="6684"/>
                </a:lnTo>
                <a:lnTo>
                  <a:pt x="519429" y="10822"/>
                </a:lnTo>
                <a:lnTo>
                  <a:pt x="527628" y="16549"/>
                </a:lnTo>
                <a:lnTo>
                  <a:pt x="547314" y="54661"/>
                </a:lnTo>
                <a:lnTo>
                  <a:pt x="549744" y="81520"/>
                </a:lnTo>
                <a:lnTo>
                  <a:pt x="549134" y="96046"/>
                </a:lnTo>
                <a:lnTo>
                  <a:pt x="534451" y="140653"/>
                </a:lnTo>
                <a:lnTo>
                  <a:pt x="510156" y="158005"/>
                </a:lnTo>
                <a:lnTo>
                  <a:pt x="512240" y="164690"/>
                </a:lnTo>
                <a:lnTo>
                  <a:pt x="551220" y="135911"/>
                </a:lnTo>
                <a:lnTo>
                  <a:pt x="563917" y="97519"/>
                </a:lnTo>
                <a:lnTo>
                  <a:pt x="564763" y="82388"/>
                </a:lnTo>
                <a:lnTo>
                  <a:pt x="563914" y="67290"/>
                </a:lnTo>
                <a:lnTo>
                  <a:pt x="551177" y="28866"/>
                </a:lnTo>
                <a:lnTo>
                  <a:pt x="524180" y="4310"/>
                </a:lnTo>
                <a:lnTo>
                  <a:pt x="512240" y="0"/>
                </a:lnTo>
                <a:close/>
              </a:path>
              <a:path w="565150" h="165100">
                <a:moveTo>
                  <a:pt x="52523" y="0"/>
                </a:moveTo>
                <a:lnTo>
                  <a:pt x="13586" y="28866"/>
                </a:lnTo>
                <a:lnTo>
                  <a:pt x="849" y="67290"/>
                </a:lnTo>
                <a:lnTo>
                  <a:pt x="0" y="82388"/>
                </a:lnTo>
                <a:lnTo>
                  <a:pt x="846" y="97519"/>
                </a:lnTo>
                <a:lnTo>
                  <a:pt x="13543" y="135911"/>
                </a:lnTo>
                <a:lnTo>
                  <a:pt x="52523" y="164690"/>
                </a:lnTo>
                <a:lnTo>
                  <a:pt x="54607" y="158005"/>
                </a:lnTo>
                <a:lnTo>
                  <a:pt x="45223" y="153849"/>
                </a:lnTo>
                <a:lnTo>
                  <a:pt x="37124" y="148065"/>
                </a:lnTo>
                <a:lnTo>
                  <a:pt x="17461" y="109236"/>
                </a:lnTo>
                <a:lnTo>
                  <a:pt x="15019" y="81520"/>
                </a:lnTo>
                <a:lnTo>
                  <a:pt x="15629" y="67469"/>
                </a:lnTo>
                <a:lnTo>
                  <a:pt x="30328" y="23866"/>
                </a:lnTo>
                <a:lnTo>
                  <a:pt x="54867" y="6684"/>
                </a:lnTo>
                <a:lnTo>
                  <a:pt x="5252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38" name="object 10">
            <a:extLst>
              <a:ext uri="{FF2B5EF4-FFF2-40B4-BE49-F238E27FC236}">
                <a16:creationId xmlns:a16="http://schemas.microsoft.com/office/drawing/2014/main" id="{5C7DD216-C281-E679-4A14-899BEF334C07}"/>
              </a:ext>
            </a:extLst>
          </p:cNvPr>
          <p:cNvPicPr/>
          <p:nvPr/>
        </p:nvPicPr>
        <p:blipFill>
          <a:blip r:embed="rId3" cstate="print"/>
          <a:stretch>
            <a:fillRect/>
          </a:stretch>
        </p:blipFill>
        <p:spPr>
          <a:xfrm>
            <a:off x="3438396" y="5744416"/>
            <a:ext cx="170573" cy="90462"/>
          </a:xfrm>
          <a:prstGeom prst="rect">
            <a:avLst/>
          </a:prstGeom>
        </p:spPr>
      </p:pic>
      <p:sp>
        <p:nvSpPr>
          <p:cNvPr id="39" name="object 11">
            <a:extLst>
              <a:ext uri="{FF2B5EF4-FFF2-40B4-BE49-F238E27FC236}">
                <a16:creationId xmlns:a16="http://schemas.microsoft.com/office/drawing/2014/main" id="{8F26DFBC-D04B-5FC7-07DA-F31934ED2E07}"/>
              </a:ext>
            </a:extLst>
          </p:cNvPr>
          <p:cNvSpPr/>
          <p:nvPr/>
        </p:nvSpPr>
        <p:spPr>
          <a:xfrm>
            <a:off x="3846911" y="5707215"/>
            <a:ext cx="615315" cy="165100"/>
          </a:xfrm>
          <a:custGeom>
            <a:avLst/>
            <a:gdLst/>
            <a:ahLst/>
            <a:cxnLst/>
            <a:rect l="l" t="t" r="r" b="b"/>
            <a:pathLst>
              <a:path w="615314" h="165100">
                <a:moveTo>
                  <a:pt x="562469" y="0"/>
                </a:moveTo>
                <a:lnTo>
                  <a:pt x="560124" y="6684"/>
                </a:lnTo>
                <a:lnTo>
                  <a:pt x="569657" y="10822"/>
                </a:lnTo>
                <a:lnTo>
                  <a:pt x="577856" y="16549"/>
                </a:lnTo>
                <a:lnTo>
                  <a:pt x="597542" y="54661"/>
                </a:lnTo>
                <a:lnTo>
                  <a:pt x="599973" y="81520"/>
                </a:lnTo>
                <a:lnTo>
                  <a:pt x="599362" y="96046"/>
                </a:lnTo>
                <a:lnTo>
                  <a:pt x="584679" y="140653"/>
                </a:lnTo>
                <a:lnTo>
                  <a:pt x="560384" y="158005"/>
                </a:lnTo>
                <a:lnTo>
                  <a:pt x="562469" y="164690"/>
                </a:lnTo>
                <a:lnTo>
                  <a:pt x="601449" y="135911"/>
                </a:lnTo>
                <a:lnTo>
                  <a:pt x="614145" y="97519"/>
                </a:lnTo>
                <a:lnTo>
                  <a:pt x="614992" y="82388"/>
                </a:lnTo>
                <a:lnTo>
                  <a:pt x="614143" y="67290"/>
                </a:lnTo>
                <a:lnTo>
                  <a:pt x="601405" y="28866"/>
                </a:lnTo>
                <a:lnTo>
                  <a:pt x="574408" y="4310"/>
                </a:lnTo>
                <a:lnTo>
                  <a:pt x="562469" y="0"/>
                </a:lnTo>
                <a:close/>
              </a:path>
              <a:path w="615314" h="165100">
                <a:moveTo>
                  <a:pt x="52523" y="0"/>
                </a:moveTo>
                <a:lnTo>
                  <a:pt x="13586" y="28866"/>
                </a:lnTo>
                <a:lnTo>
                  <a:pt x="849" y="67290"/>
                </a:lnTo>
                <a:lnTo>
                  <a:pt x="0" y="82388"/>
                </a:lnTo>
                <a:lnTo>
                  <a:pt x="846" y="97519"/>
                </a:lnTo>
                <a:lnTo>
                  <a:pt x="13543" y="135911"/>
                </a:lnTo>
                <a:lnTo>
                  <a:pt x="52523" y="164690"/>
                </a:lnTo>
                <a:lnTo>
                  <a:pt x="54607" y="158005"/>
                </a:lnTo>
                <a:lnTo>
                  <a:pt x="45223" y="153849"/>
                </a:lnTo>
                <a:lnTo>
                  <a:pt x="37124" y="148065"/>
                </a:lnTo>
                <a:lnTo>
                  <a:pt x="17461" y="109236"/>
                </a:lnTo>
                <a:lnTo>
                  <a:pt x="15019" y="81520"/>
                </a:lnTo>
                <a:lnTo>
                  <a:pt x="15629" y="67469"/>
                </a:lnTo>
                <a:lnTo>
                  <a:pt x="30328" y="23866"/>
                </a:lnTo>
                <a:lnTo>
                  <a:pt x="54867" y="6684"/>
                </a:lnTo>
                <a:lnTo>
                  <a:pt x="5252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40" name="object 12">
            <a:extLst>
              <a:ext uri="{FF2B5EF4-FFF2-40B4-BE49-F238E27FC236}">
                <a16:creationId xmlns:a16="http://schemas.microsoft.com/office/drawing/2014/main" id="{1B7FF7E8-E905-29A2-6B76-590396466225}"/>
              </a:ext>
            </a:extLst>
          </p:cNvPr>
          <p:cNvPicPr/>
          <p:nvPr/>
        </p:nvPicPr>
        <p:blipFill>
          <a:blip r:embed="rId5" cstate="print"/>
          <a:stretch>
            <a:fillRect/>
          </a:stretch>
        </p:blipFill>
        <p:spPr>
          <a:xfrm>
            <a:off x="4517769" y="5744416"/>
            <a:ext cx="170573" cy="90462"/>
          </a:xfrm>
          <a:prstGeom prst="rect">
            <a:avLst/>
          </a:prstGeom>
        </p:spPr>
      </p:pic>
      <p:pic>
        <p:nvPicPr>
          <p:cNvPr id="41" name="object 13">
            <a:extLst>
              <a:ext uri="{FF2B5EF4-FFF2-40B4-BE49-F238E27FC236}">
                <a16:creationId xmlns:a16="http://schemas.microsoft.com/office/drawing/2014/main" id="{8CD47221-3536-34BF-18E6-477D00D3E15D}"/>
              </a:ext>
            </a:extLst>
          </p:cNvPr>
          <p:cNvPicPr/>
          <p:nvPr/>
        </p:nvPicPr>
        <p:blipFill>
          <a:blip r:embed="rId6" cstate="print"/>
          <a:stretch>
            <a:fillRect/>
          </a:stretch>
        </p:blipFill>
        <p:spPr>
          <a:xfrm>
            <a:off x="1159318" y="5198407"/>
            <a:ext cx="148348" cy="90462"/>
          </a:xfrm>
          <a:prstGeom prst="rect">
            <a:avLst/>
          </a:prstGeom>
        </p:spPr>
      </p:pic>
      <p:pic>
        <p:nvPicPr>
          <p:cNvPr id="42" name="object 14">
            <a:extLst>
              <a:ext uri="{FF2B5EF4-FFF2-40B4-BE49-F238E27FC236}">
                <a16:creationId xmlns:a16="http://schemas.microsoft.com/office/drawing/2014/main" id="{140B483C-8863-7171-C121-661CFB1E00CF}"/>
              </a:ext>
            </a:extLst>
          </p:cNvPr>
          <p:cNvPicPr/>
          <p:nvPr/>
        </p:nvPicPr>
        <p:blipFill>
          <a:blip r:embed="rId6" cstate="print"/>
          <a:stretch>
            <a:fillRect/>
          </a:stretch>
        </p:blipFill>
        <p:spPr>
          <a:xfrm>
            <a:off x="1688273" y="5198407"/>
            <a:ext cx="148348" cy="90462"/>
          </a:xfrm>
          <a:prstGeom prst="rect">
            <a:avLst/>
          </a:prstGeom>
        </p:spPr>
      </p:pic>
      <p:pic>
        <p:nvPicPr>
          <p:cNvPr id="43" name="object 15">
            <a:extLst>
              <a:ext uri="{FF2B5EF4-FFF2-40B4-BE49-F238E27FC236}">
                <a16:creationId xmlns:a16="http://schemas.microsoft.com/office/drawing/2014/main" id="{7D0EA326-4A3F-B29E-2A68-35889A74E661}"/>
              </a:ext>
            </a:extLst>
          </p:cNvPr>
          <p:cNvPicPr/>
          <p:nvPr/>
        </p:nvPicPr>
        <p:blipFill>
          <a:blip r:embed="rId7" cstate="print"/>
          <a:stretch>
            <a:fillRect/>
          </a:stretch>
        </p:blipFill>
        <p:spPr>
          <a:xfrm>
            <a:off x="2074562" y="5161205"/>
            <a:ext cx="234373" cy="164691"/>
          </a:xfrm>
          <a:prstGeom prst="rect">
            <a:avLst/>
          </a:prstGeom>
        </p:spPr>
      </p:pic>
      <p:pic>
        <p:nvPicPr>
          <p:cNvPr id="44" name="object 16">
            <a:extLst>
              <a:ext uri="{FF2B5EF4-FFF2-40B4-BE49-F238E27FC236}">
                <a16:creationId xmlns:a16="http://schemas.microsoft.com/office/drawing/2014/main" id="{6A5EB10B-5A82-1341-F080-9BD45C4CAEF6}"/>
              </a:ext>
            </a:extLst>
          </p:cNvPr>
          <p:cNvPicPr/>
          <p:nvPr/>
        </p:nvPicPr>
        <p:blipFill>
          <a:blip r:embed="rId8" cstate="print"/>
          <a:stretch>
            <a:fillRect/>
          </a:stretch>
        </p:blipFill>
        <p:spPr>
          <a:xfrm>
            <a:off x="2364802" y="5198407"/>
            <a:ext cx="148348" cy="90462"/>
          </a:xfrm>
          <a:prstGeom prst="rect">
            <a:avLst/>
          </a:prstGeom>
        </p:spPr>
      </p:pic>
      <p:sp>
        <p:nvSpPr>
          <p:cNvPr id="45" name="object 17">
            <a:extLst>
              <a:ext uri="{FF2B5EF4-FFF2-40B4-BE49-F238E27FC236}">
                <a16:creationId xmlns:a16="http://schemas.microsoft.com/office/drawing/2014/main" id="{2CD6F32B-C05B-1DC0-4160-9648BF584FF8}"/>
              </a:ext>
            </a:extLst>
          </p:cNvPr>
          <p:cNvSpPr/>
          <p:nvPr/>
        </p:nvSpPr>
        <p:spPr>
          <a:xfrm>
            <a:off x="2751091" y="5161205"/>
            <a:ext cx="565150" cy="165100"/>
          </a:xfrm>
          <a:custGeom>
            <a:avLst/>
            <a:gdLst/>
            <a:ahLst/>
            <a:cxnLst/>
            <a:rect l="l" t="t" r="r" b="b"/>
            <a:pathLst>
              <a:path w="565150" h="165100">
                <a:moveTo>
                  <a:pt x="512240" y="0"/>
                </a:moveTo>
                <a:lnTo>
                  <a:pt x="509896" y="6685"/>
                </a:lnTo>
                <a:lnTo>
                  <a:pt x="519429" y="10822"/>
                </a:lnTo>
                <a:lnTo>
                  <a:pt x="527628" y="16550"/>
                </a:lnTo>
                <a:lnTo>
                  <a:pt x="547314" y="54662"/>
                </a:lnTo>
                <a:lnTo>
                  <a:pt x="549744" y="81521"/>
                </a:lnTo>
                <a:lnTo>
                  <a:pt x="549134" y="96046"/>
                </a:lnTo>
                <a:lnTo>
                  <a:pt x="534451" y="140653"/>
                </a:lnTo>
                <a:lnTo>
                  <a:pt x="510156" y="158005"/>
                </a:lnTo>
                <a:lnTo>
                  <a:pt x="512240" y="164691"/>
                </a:lnTo>
                <a:lnTo>
                  <a:pt x="551220" y="135911"/>
                </a:lnTo>
                <a:lnTo>
                  <a:pt x="563917" y="97519"/>
                </a:lnTo>
                <a:lnTo>
                  <a:pt x="564763" y="82388"/>
                </a:lnTo>
                <a:lnTo>
                  <a:pt x="563914" y="67291"/>
                </a:lnTo>
                <a:lnTo>
                  <a:pt x="551177" y="28867"/>
                </a:lnTo>
                <a:lnTo>
                  <a:pt x="524180" y="4311"/>
                </a:lnTo>
                <a:lnTo>
                  <a:pt x="512240" y="0"/>
                </a:lnTo>
                <a:close/>
              </a:path>
              <a:path w="565150" h="165100">
                <a:moveTo>
                  <a:pt x="52523" y="0"/>
                </a:moveTo>
                <a:lnTo>
                  <a:pt x="13586" y="28867"/>
                </a:lnTo>
                <a:lnTo>
                  <a:pt x="849" y="67291"/>
                </a:lnTo>
                <a:lnTo>
                  <a:pt x="0" y="82388"/>
                </a:lnTo>
                <a:lnTo>
                  <a:pt x="846" y="97519"/>
                </a:lnTo>
                <a:lnTo>
                  <a:pt x="13543" y="135911"/>
                </a:lnTo>
                <a:lnTo>
                  <a:pt x="52523" y="164691"/>
                </a:lnTo>
                <a:lnTo>
                  <a:pt x="54607" y="158005"/>
                </a:lnTo>
                <a:lnTo>
                  <a:pt x="45223" y="153849"/>
                </a:lnTo>
                <a:lnTo>
                  <a:pt x="37124" y="148065"/>
                </a:lnTo>
                <a:lnTo>
                  <a:pt x="17461" y="109236"/>
                </a:lnTo>
                <a:lnTo>
                  <a:pt x="15019" y="81521"/>
                </a:lnTo>
                <a:lnTo>
                  <a:pt x="15629" y="67470"/>
                </a:lnTo>
                <a:lnTo>
                  <a:pt x="30328" y="23867"/>
                </a:lnTo>
                <a:lnTo>
                  <a:pt x="54867" y="6685"/>
                </a:lnTo>
                <a:lnTo>
                  <a:pt x="5252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46" name="object 18">
            <a:extLst>
              <a:ext uri="{FF2B5EF4-FFF2-40B4-BE49-F238E27FC236}">
                <a16:creationId xmlns:a16="http://schemas.microsoft.com/office/drawing/2014/main" id="{5AC996DF-D2CA-ECCA-1025-0640068FE44A}"/>
              </a:ext>
            </a:extLst>
          </p:cNvPr>
          <p:cNvPicPr/>
          <p:nvPr/>
        </p:nvPicPr>
        <p:blipFill>
          <a:blip r:embed="rId8" cstate="print"/>
          <a:stretch>
            <a:fillRect/>
          </a:stretch>
        </p:blipFill>
        <p:spPr>
          <a:xfrm>
            <a:off x="3371721" y="5198407"/>
            <a:ext cx="148348" cy="90462"/>
          </a:xfrm>
          <a:prstGeom prst="rect">
            <a:avLst/>
          </a:prstGeom>
        </p:spPr>
      </p:pic>
      <p:sp>
        <p:nvSpPr>
          <p:cNvPr id="47" name="object 19">
            <a:extLst>
              <a:ext uri="{FF2B5EF4-FFF2-40B4-BE49-F238E27FC236}">
                <a16:creationId xmlns:a16="http://schemas.microsoft.com/office/drawing/2014/main" id="{0C3C92C8-47F8-48A8-298E-3827A308DDEC}"/>
              </a:ext>
            </a:extLst>
          </p:cNvPr>
          <p:cNvSpPr/>
          <p:nvPr/>
        </p:nvSpPr>
        <p:spPr>
          <a:xfrm>
            <a:off x="3758011" y="5161205"/>
            <a:ext cx="615315" cy="165100"/>
          </a:xfrm>
          <a:custGeom>
            <a:avLst/>
            <a:gdLst/>
            <a:ahLst/>
            <a:cxnLst/>
            <a:rect l="l" t="t" r="r" b="b"/>
            <a:pathLst>
              <a:path w="615314" h="165100">
                <a:moveTo>
                  <a:pt x="562469" y="0"/>
                </a:moveTo>
                <a:lnTo>
                  <a:pt x="560124" y="6685"/>
                </a:lnTo>
                <a:lnTo>
                  <a:pt x="569657" y="10822"/>
                </a:lnTo>
                <a:lnTo>
                  <a:pt x="577856" y="16550"/>
                </a:lnTo>
                <a:lnTo>
                  <a:pt x="597542" y="54662"/>
                </a:lnTo>
                <a:lnTo>
                  <a:pt x="599973" y="81521"/>
                </a:lnTo>
                <a:lnTo>
                  <a:pt x="599362" y="96046"/>
                </a:lnTo>
                <a:lnTo>
                  <a:pt x="584679" y="140653"/>
                </a:lnTo>
                <a:lnTo>
                  <a:pt x="560384" y="158005"/>
                </a:lnTo>
                <a:lnTo>
                  <a:pt x="562469" y="164691"/>
                </a:lnTo>
                <a:lnTo>
                  <a:pt x="601449" y="135911"/>
                </a:lnTo>
                <a:lnTo>
                  <a:pt x="614145" y="97519"/>
                </a:lnTo>
                <a:lnTo>
                  <a:pt x="614992" y="82388"/>
                </a:lnTo>
                <a:lnTo>
                  <a:pt x="614143" y="67291"/>
                </a:lnTo>
                <a:lnTo>
                  <a:pt x="601405" y="28867"/>
                </a:lnTo>
                <a:lnTo>
                  <a:pt x="574408" y="4311"/>
                </a:lnTo>
                <a:lnTo>
                  <a:pt x="562469" y="0"/>
                </a:lnTo>
                <a:close/>
              </a:path>
              <a:path w="615314" h="165100">
                <a:moveTo>
                  <a:pt x="52523" y="0"/>
                </a:moveTo>
                <a:lnTo>
                  <a:pt x="13586" y="28867"/>
                </a:lnTo>
                <a:lnTo>
                  <a:pt x="849" y="67291"/>
                </a:lnTo>
                <a:lnTo>
                  <a:pt x="0" y="82388"/>
                </a:lnTo>
                <a:lnTo>
                  <a:pt x="846" y="97519"/>
                </a:lnTo>
                <a:lnTo>
                  <a:pt x="13543" y="135911"/>
                </a:lnTo>
                <a:lnTo>
                  <a:pt x="52523" y="164691"/>
                </a:lnTo>
                <a:lnTo>
                  <a:pt x="54607" y="158005"/>
                </a:lnTo>
                <a:lnTo>
                  <a:pt x="45223" y="153849"/>
                </a:lnTo>
                <a:lnTo>
                  <a:pt x="37124" y="148065"/>
                </a:lnTo>
                <a:lnTo>
                  <a:pt x="17461" y="109236"/>
                </a:lnTo>
                <a:lnTo>
                  <a:pt x="15019" y="81521"/>
                </a:lnTo>
                <a:lnTo>
                  <a:pt x="15629" y="67470"/>
                </a:lnTo>
                <a:lnTo>
                  <a:pt x="30328" y="23867"/>
                </a:lnTo>
                <a:lnTo>
                  <a:pt x="54867" y="6685"/>
                </a:lnTo>
                <a:lnTo>
                  <a:pt x="5252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48" name="object 20">
            <a:extLst>
              <a:ext uri="{FF2B5EF4-FFF2-40B4-BE49-F238E27FC236}">
                <a16:creationId xmlns:a16="http://schemas.microsoft.com/office/drawing/2014/main" id="{18E6D857-6621-A9C0-92B9-E201CAD9A00C}"/>
              </a:ext>
            </a:extLst>
          </p:cNvPr>
          <p:cNvPicPr/>
          <p:nvPr/>
        </p:nvPicPr>
        <p:blipFill>
          <a:blip r:embed="rId8" cstate="print"/>
          <a:stretch>
            <a:fillRect/>
          </a:stretch>
        </p:blipFill>
        <p:spPr>
          <a:xfrm>
            <a:off x="4428869" y="5198407"/>
            <a:ext cx="148348" cy="90462"/>
          </a:xfrm>
          <a:prstGeom prst="rect">
            <a:avLst/>
          </a:prstGeom>
        </p:spPr>
      </p:pic>
      <p:sp>
        <p:nvSpPr>
          <p:cNvPr id="49" name="object 21">
            <a:extLst>
              <a:ext uri="{FF2B5EF4-FFF2-40B4-BE49-F238E27FC236}">
                <a16:creationId xmlns:a16="http://schemas.microsoft.com/office/drawing/2014/main" id="{6104C99A-46C0-63E3-02B2-4B156290D9FC}"/>
              </a:ext>
            </a:extLst>
          </p:cNvPr>
          <p:cNvSpPr txBox="1"/>
          <p:nvPr/>
        </p:nvSpPr>
        <p:spPr>
          <a:xfrm>
            <a:off x="988325" y="5103876"/>
            <a:ext cx="4631055" cy="878205"/>
          </a:xfrm>
          <a:prstGeom prst="rect">
            <a:avLst/>
          </a:prstGeom>
        </p:spPr>
        <p:txBody>
          <a:bodyPr vert="horz" wrap="square" lIns="0" tIns="12700" rIns="0" bIns="0" rtlCol="0">
            <a:spAutoFit/>
          </a:bodyPr>
          <a:lstStyle/>
          <a:p>
            <a:pPr marL="12700" rtl="0">
              <a:lnSpc>
                <a:spcPts val="1450"/>
              </a:lnSpc>
              <a:spcBef>
                <a:spcPts val="100"/>
              </a:spcBef>
              <a:tabLst>
                <a:tab pos="368300" algn="l"/>
                <a:tab pos="897255" algn="l"/>
                <a:tab pos="1574165" algn="l"/>
                <a:tab pos="2580640" algn="l"/>
                <a:tab pos="3637915" algn="l"/>
              </a:tabLst>
            </a:pP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srgbClr val="FF0000"/>
                </a:solidFill>
                <a:latin typeface="Cambria Math"/>
                <a:cs typeface="Cambria Math"/>
              </a:rPr>
              <a:t>𝐸</a:t>
            </a:r>
            <a:r>
              <a:rPr sz="1400" kern="1200" spc="55" dirty="0">
                <a:solidFill>
                  <a:srgbClr val="FF0000"/>
                </a:solidFill>
                <a:latin typeface="Cambria Math"/>
                <a:cs typeface="Cambria Math"/>
              </a:rPr>
              <a:t>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prstClr val="black"/>
                </a:solidFill>
                <a:latin typeface="Cambria Math"/>
                <a:cs typeface="Cambria Math"/>
              </a:rPr>
              <a:t>𝐸	−</a:t>
            </a:r>
            <a:r>
              <a:rPr sz="1400" kern="1200" spc="585" dirty="0">
                <a:solidFill>
                  <a:prstClr val="black"/>
                </a:solidFill>
                <a:latin typeface="Cambria Math"/>
                <a:cs typeface="Cambria Math"/>
              </a:rPr>
              <a:t> </a:t>
            </a:r>
            <a:r>
              <a:rPr sz="1400" kern="1200" dirty="0">
                <a:solidFill>
                  <a:prstClr val="black"/>
                </a:solidFill>
                <a:latin typeface="Cambria Math"/>
                <a:cs typeface="Cambria Math"/>
              </a:rPr>
              <a:t>𝐢𝐝</a:t>
            </a:r>
            <a:r>
              <a:rPr sz="1400" kern="1200" spc="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15" dirty="0">
                <a:solidFill>
                  <a:prstClr val="black"/>
                </a:solidFill>
                <a:latin typeface="Cambria Math"/>
                <a:cs typeface="Cambria Math"/>
              </a:rPr>
              <a:t> </a:t>
            </a:r>
            <a:r>
              <a:rPr sz="1400" kern="1200" spc="-5" dirty="0">
                <a:solidFill>
                  <a:prstClr val="black"/>
                </a:solidFill>
                <a:latin typeface="Cambria Math"/>
                <a:cs typeface="Cambria Math"/>
              </a:rPr>
              <a:t>(𝐢𝐝</a:t>
            </a:r>
            <a:r>
              <a:rPr sz="1400" kern="1200" spc="-1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15" dirty="0">
                <a:solidFill>
                  <a:prstClr val="black"/>
                </a:solidFill>
                <a:latin typeface="Cambria Math"/>
                <a:cs typeface="Cambria Math"/>
              </a:rPr>
              <a:t> </a:t>
            </a:r>
            <a:r>
              <a:rPr sz="1400" kern="1200" dirty="0">
                <a:solidFill>
                  <a:prstClr val="black"/>
                </a:solidFill>
                <a:latin typeface="Cambria Math"/>
                <a:cs typeface="Cambria Math"/>
              </a:rPr>
              <a:t>𝐢𝐝)</a:t>
            </a:r>
            <a:endParaRPr sz="1400" kern="1200">
              <a:solidFill>
                <a:prstClr val="black"/>
              </a:solidFill>
              <a:latin typeface="Cambria Math"/>
              <a:cs typeface="Cambria Math"/>
            </a:endParaRPr>
          </a:p>
          <a:p>
            <a:pPr marL="160020" rtl="0">
              <a:lnSpc>
                <a:spcPts val="969"/>
              </a:lnSpc>
              <a:tabLst>
                <a:tab pos="688975" algn="l"/>
                <a:tab pos="1365250" algn="l"/>
                <a:tab pos="2372360" algn="l"/>
                <a:tab pos="3429635" algn="l"/>
              </a:tabLst>
            </a:pPr>
            <a:r>
              <a:rPr sz="1000" kern="1200" spc="70" dirty="0">
                <a:solidFill>
                  <a:prstClr val="black"/>
                </a:solidFill>
                <a:latin typeface="Cambria Math"/>
                <a:cs typeface="Cambria Math"/>
              </a:rPr>
              <a:t>𝑙𝑚	𝑙𝑚	𝑙𝑚	𝑙𝑚	𝑙𝑚</a:t>
            </a:r>
            <a:endParaRPr sz="1000" kern="1200">
              <a:solidFill>
                <a:prstClr val="black"/>
              </a:solidFill>
              <a:latin typeface="Cambria Math"/>
              <a:cs typeface="Cambria Math"/>
            </a:endParaRPr>
          </a:p>
          <a:p>
            <a:pPr rtl="0"/>
            <a:endParaRPr sz="1600" kern="1200">
              <a:solidFill>
                <a:prstClr val="black"/>
              </a:solidFill>
              <a:latin typeface="Cambria Math"/>
              <a:cs typeface="Cambria Math"/>
            </a:endParaRPr>
          </a:p>
          <a:p>
            <a:pPr marL="12700" rtl="0">
              <a:lnSpc>
                <a:spcPts val="1450"/>
              </a:lnSpc>
              <a:spcBef>
                <a:spcPts val="5"/>
              </a:spcBef>
              <a:tabLst>
                <a:tab pos="390525" algn="l"/>
                <a:tab pos="941705" algn="l"/>
                <a:tab pos="1640839" algn="l"/>
                <a:tab pos="2669540" algn="l"/>
                <a:tab pos="3749040" algn="l"/>
              </a:tabLst>
            </a:pP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prstClr val="black"/>
                </a:solidFill>
                <a:latin typeface="Cambria Math"/>
                <a:cs typeface="Cambria Math"/>
              </a:rPr>
              <a:t>𝐸</a:t>
            </a:r>
            <a:r>
              <a:rPr sz="1400" kern="1200" spc="5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srgbClr val="FF0000"/>
                </a:solidFill>
                <a:latin typeface="Cambria Math"/>
                <a:cs typeface="Cambria Math"/>
              </a:rPr>
              <a:t>𝐸	</a:t>
            </a:r>
            <a:r>
              <a:rPr sz="1400" kern="1200" dirty="0">
                <a:solidFill>
                  <a:prstClr val="black"/>
                </a:solidFill>
                <a:latin typeface="Cambria Math"/>
                <a:cs typeface="Cambria Math"/>
              </a:rPr>
              <a:t>−</a:t>
            </a:r>
            <a:r>
              <a:rPr sz="1400" kern="1200" spc="585" dirty="0">
                <a:solidFill>
                  <a:prstClr val="black"/>
                </a:solidFill>
                <a:latin typeface="Cambria Math"/>
                <a:cs typeface="Cambria Math"/>
              </a:rPr>
              <a:t> </a:t>
            </a:r>
            <a:r>
              <a:rPr sz="1400" kern="1200" dirty="0">
                <a:solidFill>
                  <a:srgbClr val="FF0000"/>
                </a:solidFill>
                <a:latin typeface="Cambria Math"/>
                <a:cs typeface="Cambria Math"/>
              </a:rPr>
              <a:t>𝐸</a:t>
            </a:r>
            <a:r>
              <a:rPr sz="1400" kern="1200" spc="55" dirty="0">
                <a:solidFill>
                  <a:srgbClr val="FF0000"/>
                </a:solidFill>
                <a:latin typeface="Cambria Math"/>
                <a:cs typeface="Cambria Math"/>
              </a:rPr>
              <a:t> </a:t>
            </a:r>
            <a:r>
              <a:rPr sz="1400" kern="1200" dirty="0">
                <a:solidFill>
                  <a:prstClr val="black"/>
                </a:solidFill>
                <a:latin typeface="Cambria Math"/>
                <a:cs typeface="Cambria Math"/>
              </a:rPr>
              <a:t>+</a:t>
            </a:r>
            <a:r>
              <a:rPr sz="1400" kern="1200" spc="5" dirty="0">
                <a:solidFill>
                  <a:prstClr val="black"/>
                </a:solidFill>
                <a:latin typeface="Cambria Math"/>
                <a:cs typeface="Cambria Math"/>
              </a:rPr>
              <a:t> </a:t>
            </a:r>
            <a:r>
              <a:rPr sz="1400" kern="1200" dirty="0">
                <a:solidFill>
                  <a:prstClr val="black"/>
                </a:solidFill>
                <a:latin typeface="Cambria Math"/>
                <a:cs typeface="Cambria Math"/>
              </a:rPr>
              <a:t>𝐢𝐝	−</a:t>
            </a:r>
            <a:r>
              <a:rPr sz="1400" kern="1200" spc="-20" dirty="0">
                <a:solidFill>
                  <a:prstClr val="black"/>
                </a:solidFill>
                <a:latin typeface="Cambria Math"/>
                <a:cs typeface="Cambria Math"/>
              </a:rPr>
              <a:t> </a:t>
            </a:r>
            <a:r>
              <a:rPr sz="1400" kern="1200" spc="-5" dirty="0">
                <a:solidFill>
                  <a:prstClr val="black"/>
                </a:solidFill>
                <a:latin typeface="Cambria Math"/>
                <a:cs typeface="Cambria Math"/>
              </a:rPr>
              <a:t>(𝐢𝐝</a:t>
            </a:r>
            <a:r>
              <a:rPr sz="1400" kern="1200" spc="-20" dirty="0">
                <a:solidFill>
                  <a:prstClr val="black"/>
                </a:solidFill>
                <a:latin typeface="Cambria Math"/>
                <a:cs typeface="Cambria Math"/>
              </a:rPr>
              <a:t> </a:t>
            </a:r>
            <a:r>
              <a:rPr sz="1400" kern="1200" dirty="0">
                <a:solidFill>
                  <a:prstClr val="black"/>
                </a:solidFill>
                <a:latin typeface="Cambria Math"/>
                <a:cs typeface="Cambria Math"/>
              </a:rPr>
              <a:t>+</a:t>
            </a:r>
            <a:r>
              <a:rPr sz="1400" kern="1200" spc="-20" dirty="0">
                <a:solidFill>
                  <a:prstClr val="black"/>
                </a:solidFill>
                <a:latin typeface="Cambria Math"/>
                <a:cs typeface="Cambria Math"/>
              </a:rPr>
              <a:t> </a:t>
            </a:r>
            <a:r>
              <a:rPr sz="1400" kern="1200" dirty="0">
                <a:solidFill>
                  <a:prstClr val="black"/>
                </a:solidFill>
                <a:latin typeface="Cambria Math"/>
                <a:cs typeface="Cambria Math"/>
              </a:rPr>
              <a:t>𝐢𝐝)</a:t>
            </a:r>
            <a:endParaRPr sz="1400" kern="1200">
              <a:solidFill>
                <a:prstClr val="black"/>
              </a:solidFill>
              <a:latin typeface="Cambria Math"/>
              <a:cs typeface="Cambria Math"/>
            </a:endParaRPr>
          </a:p>
          <a:p>
            <a:pPr marL="160020" rtl="0">
              <a:lnSpc>
                <a:spcPts val="969"/>
              </a:lnSpc>
              <a:tabLst>
                <a:tab pos="711200" algn="l"/>
                <a:tab pos="1409700" algn="l"/>
                <a:tab pos="2439035" algn="l"/>
                <a:tab pos="3518535" algn="l"/>
              </a:tabLst>
            </a:pPr>
            <a:r>
              <a:rPr sz="1000" kern="1200" spc="75" dirty="0">
                <a:solidFill>
                  <a:prstClr val="black"/>
                </a:solidFill>
                <a:latin typeface="Cambria Math"/>
                <a:cs typeface="Cambria Math"/>
              </a:rPr>
              <a:t>𝑟𝑚	𝑟𝑚	𝑟𝑚	𝑟𝑚	𝑟𝑚</a:t>
            </a:r>
            <a:endParaRPr sz="1000" kern="1200">
              <a:solidFill>
                <a:prstClr val="black"/>
              </a:solidFill>
              <a:latin typeface="Cambria Math"/>
              <a:cs typeface="Cambria Math"/>
            </a:endParaRPr>
          </a:p>
        </p:txBody>
      </p:sp>
      <p:grpSp>
        <p:nvGrpSpPr>
          <p:cNvPr id="50" name="object 22">
            <a:extLst>
              <a:ext uri="{FF2B5EF4-FFF2-40B4-BE49-F238E27FC236}">
                <a16:creationId xmlns:a16="http://schemas.microsoft.com/office/drawing/2014/main" id="{A2AA439A-E0A3-4F53-CAE8-518084AD0C24}"/>
              </a:ext>
            </a:extLst>
          </p:cNvPr>
          <p:cNvGrpSpPr/>
          <p:nvPr/>
        </p:nvGrpSpPr>
        <p:grpSpPr>
          <a:xfrm>
            <a:off x="5763526" y="4418554"/>
            <a:ext cx="1971039" cy="1774825"/>
            <a:chOff x="5763526" y="4418554"/>
            <a:chExt cx="1971039" cy="1774825"/>
          </a:xfrm>
        </p:grpSpPr>
        <p:pic>
          <p:nvPicPr>
            <p:cNvPr id="51" name="object 23">
              <a:extLst>
                <a:ext uri="{FF2B5EF4-FFF2-40B4-BE49-F238E27FC236}">
                  <a16:creationId xmlns:a16="http://schemas.microsoft.com/office/drawing/2014/main" id="{C59B7AB7-0EB5-6AFA-03E2-BA46FA20FD2C}"/>
                </a:ext>
              </a:extLst>
            </p:cNvPr>
            <p:cNvPicPr/>
            <p:nvPr/>
          </p:nvPicPr>
          <p:blipFill>
            <a:blip r:embed="rId9" cstate="print"/>
            <a:stretch>
              <a:fillRect/>
            </a:stretch>
          </p:blipFill>
          <p:spPr>
            <a:xfrm>
              <a:off x="5763526" y="4418554"/>
              <a:ext cx="1636653" cy="1774461"/>
            </a:xfrm>
            <a:prstGeom prst="rect">
              <a:avLst/>
            </a:prstGeom>
          </p:spPr>
        </p:pic>
        <p:sp>
          <p:nvSpPr>
            <p:cNvPr id="52" name="object 24">
              <a:extLst>
                <a:ext uri="{FF2B5EF4-FFF2-40B4-BE49-F238E27FC236}">
                  <a16:creationId xmlns:a16="http://schemas.microsoft.com/office/drawing/2014/main" id="{45BBCAA3-22B0-176E-7F26-D84CA896722F}"/>
                </a:ext>
              </a:extLst>
            </p:cNvPr>
            <p:cNvSpPr/>
            <p:nvPr/>
          </p:nvSpPr>
          <p:spPr>
            <a:xfrm>
              <a:off x="5962841" y="5490362"/>
              <a:ext cx="695960" cy="407034"/>
            </a:xfrm>
            <a:custGeom>
              <a:avLst/>
              <a:gdLst/>
              <a:ahLst/>
              <a:cxnLst/>
              <a:rect l="l" t="t" r="r" b="b"/>
              <a:pathLst>
                <a:path w="695959" h="407035">
                  <a:moveTo>
                    <a:pt x="0" y="203421"/>
                  </a:moveTo>
                  <a:lnTo>
                    <a:pt x="17726" y="139124"/>
                  </a:lnTo>
                  <a:lnTo>
                    <a:pt x="67087" y="83283"/>
                  </a:lnTo>
                  <a:lnTo>
                    <a:pt x="101841" y="59580"/>
                  </a:lnTo>
                  <a:lnTo>
                    <a:pt x="142356" y="39248"/>
                  </a:lnTo>
                  <a:lnTo>
                    <a:pt x="187916" y="22705"/>
                  </a:lnTo>
                  <a:lnTo>
                    <a:pt x="237805" y="10370"/>
                  </a:lnTo>
                  <a:lnTo>
                    <a:pt x="291307" y="2662"/>
                  </a:lnTo>
                  <a:lnTo>
                    <a:pt x="347708" y="0"/>
                  </a:lnTo>
                  <a:lnTo>
                    <a:pt x="404108" y="2662"/>
                  </a:lnTo>
                  <a:lnTo>
                    <a:pt x="457610" y="10370"/>
                  </a:lnTo>
                  <a:lnTo>
                    <a:pt x="507499" y="22705"/>
                  </a:lnTo>
                  <a:lnTo>
                    <a:pt x="553059" y="39248"/>
                  </a:lnTo>
                  <a:lnTo>
                    <a:pt x="593574" y="59580"/>
                  </a:lnTo>
                  <a:lnTo>
                    <a:pt x="628328" y="83283"/>
                  </a:lnTo>
                  <a:lnTo>
                    <a:pt x="656605" y="109937"/>
                  </a:lnTo>
                  <a:lnTo>
                    <a:pt x="690865" y="170425"/>
                  </a:lnTo>
                  <a:lnTo>
                    <a:pt x="695416" y="203421"/>
                  </a:lnTo>
                  <a:lnTo>
                    <a:pt x="690865" y="236417"/>
                  </a:lnTo>
                  <a:lnTo>
                    <a:pt x="656605" y="296905"/>
                  </a:lnTo>
                  <a:lnTo>
                    <a:pt x="628328" y="323559"/>
                  </a:lnTo>
                  <a:lnTo>
                    <a:pt x="593574" y="347262"/>
                  </a:lnTo>
                  <a:lnTo>
                    <a:pt x="553059" y="367594"/>
                  </a:lnTo>
                  <a:lnTo>
                    <a:pt x="507499" y="384137"/>
                  </a:lnTo>
                  <a:lnTo>
                    <a:pt x="457610" y="396472"/>
                  </a:lnTo>
                  <a:lnTo>
                    <a:pt x="404108" y="404180"/>
                  </a:lnTo>
                  <a:lnTo>
                    <a:pt x="347708" y="406843"/>
                  </a:lnTo>
                  <a:lnTo>
                    <a:pt x="291307" y="404180"/>
                  </a:lnTo>
                  <a:lnTo>
                    <a:pt x="237805" y="396472"/>
                  </a:lnTo>
                  <a:lnTo>
                    <a:pt x="187916" y="384137"/>
                  </a:lnTo>
                  <a:lnTo>
                    <a:pt x="142356" y="367594"/>
                  </a:lnTo>
                  <a:lnTo>
                    <a:pt x="101841" y="347262"/>
                  </a:lnTo>
                  <a:lnTo>
                    <a:pt x="67087" y="323559"/>
                  </a:lnTo>
                  <a:lnTo>
                    <a:pt x="38810" y="296905"/>
                  </a:lnTo>
                  <a:lnTo>
                    <a:pt x="4550" y="236417"/>
                  </a:lnTo>
                  <a:lnTo>
                    <a:pt x="0" y="203421"/>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3" name="object 25">
              <a:extLst>
                <a:ext uri="{FF2B5EF4-FFF2-40B4-BE49-F238E27FC236}">
                  <a16:creationId xmlns:a16="http://schemas.microsoft.com/office/drawing/2014/main" id="{F198A36D-FBF5-4691-EA77-0B3BA8B7393C}"/>
                </a:ext>
              </a:extLst>
            </p:cNvPr>
            <p:cNvSpPr/>
            <p:nvPr/>
          </p:nvSpPr>
          <p:spPr>
            <a:xfrm>
              <a:off x="7032584" y="5490362"/>
              <a:ext cx="695960" cy="407034"/>
            </a:xfrm>
            <a:custGeom>
              <a:avLst/>
              <a:gdLst/>
              <a:ahLst/>
              <a:cxnLst/>
              <a:rect l="l" t="t" r="r" b="b"/>
              <a:pathLst>
                <a:path w="695959" h="407035">
                  <a:moveTo>
                    <a:pt x="0" y="203421"/>
                  </a:moveTo>
                  <a:lnTo>
                    <a:pt x="17726" y="139124"/>
                  </a:lnTo>
                  <a:lnTo>
                    <a:pt x="67087" y="83283"/>
                  </a:lnTo>
                  <a:lnTo>
                    <a:pt x="101841" y="59580"/>
                  </a:lnTo>
                  <a:lnTo>
                    <a:pt x="142356" y="39248"/>
                  </a:lnTo>
                  <a:lnTo>
                    <a:pt x="187916" y="22705"/>
                  </a:lnTo>
                  <a:lnTo>
                    <a:pt x="237805" y="10370"/>
                  </a:lnTo>
                  <a:lnTo>
                    <a:pt x="291307" y="2662"/>
                  </a:lnTo>
                  <a:lnTo>
                    <a:pt x="347708" y="0"/>
                  </a:lnTo>
                  <a:lnTo>
                    <a:pt x="404108" y="2662"/>
                  </a:lnTo>
                  <a:lnTo>
                    <a:pt x="457610" y="10370"/>
                  </a:lnTo>
                  <a:lnTo>
                    <a:pt x="507499" y="22705"/>
                  </a:lnTo>
                  <a:lnTo>
                    <a:pt x="553059" y="39248"/>
                  </a:lnTo>
                  <a:lnTo>
                    <a:pt x="593574" y="59580"/>
                  </a:lnTo>
                  <a:lnTo>
                    <a:pt x="628328" y="83283"/>
                  </a:lnTo>
                  <a:lnTo>
                    <a:pt x="656605" y="109937"/>
                  </a:lnTo>
                  <a:lnTo>
                    <a:pt x="690865" y="170425"/>
                  </a:lnTo>
                  <a:lnTo>
                    <a:pt x="695416" y="203421"/>
                  </a:lnTo>
                  <a:lnTo>
                    <a:pt x="690865" y="236417"/>
                  </a:lnTo>
                  <a:lnTo>
                    <a:pt x="656605" y="296905"/>
                  </a:lnTo>
                  <a:lnTo>
                    <a:pt x="628328" y="323559"/>
                  </a:lnTo>
                  <a:lnTo>
                    <a:pt x="593574" y="347262"/>
                  </a:lnTo>
                  <a:lnTo>
                    <a:pt x="553059" y="367594"/>
                  </a:lnTo>
                  <a:lnTo>
                    <a:pt x="507499" y="384137"/>
                  </a:lnTo>
                  <a:lnTo>
                    <a:pt x="457610" y="396472"/>
                  </a:lnTo>
                  <a:lnTo>
                    <a:pt x="404108" y="404180"/>
                  </a:lnTo>
                  <a:lnTo>
                    <a:pt x="347708" y="406843"/>
                  </a:lnTo>
                  <a:lnTo>
                    <a:pt x="291307" y="404180"/>
                  </a:lnTo>
                  <a:lnTo>
                    <a:pt x="237805" y="396472"/>
                  </a:lnTo>
                  <a:lnTo>
                    <a:pt x="187916" y="384137"/>
                  </a:lnTo>
                  <a:lnTo>
                    <a:pt x="142356" y="367594"/>
                  </a:lnTo>
                  <a:lnTo>
                    <a:pt x="101841" y="347262"/>
                  </a:lnTo>
                  <a:lnTo>
                    <a:pt x="67087" y="323559"/>
                  </a:lnTo>
                  <a:lnTo>
                    <a:pt x="38810" y="296905"/>
                  </a:lnTo>
                  <a:lnTo>
                    <a:pt x="4550" y="236417"/>
                  </a:lnTo>
                  <a:lnTo>
                    <a:pt x="0" y="203421"/>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54" name="object 26">
            <a:extLst>
              <a:ext uri="{FF2B5EF4-FFF2-40B4-BE49-F238E27FC236}">
                <a16:creationId xmlns:a16="http://schemas.microsoft.com/office/drawing/2014/main" id="{774023B5-748E-1AF9-63C5-0E294CC80EBA}"/>
              </a:ext>
            </a:extLst>
          </p:cNvPr>
          <p:cNvSpPr txBox="1"/>
          <p:nvPr/>
        </p:nvSpPr>
        <p:spPr>
          <a:xfrm>
            <a:off x="7603497" y="4940300"/>
            <a:ext cx="982344" cy="452120"/>
          </a:xfrm>
          <a:prstGeom prst="rect">
            <a:avLst/>
          </a:prstGeom>
        </p:spPr>
        <p:txBody>
          <a:bodyPr vert="horz" wrap="square" lIns="0" tIns="12700" rIns="0" bIns="0" rtlCol="0">
            <a:spAutoFit/>
          </a:bodyPr>
          <a:lstStyle/>
          <a:p>
            <a:pPr marL="12700" marR="5080" indent="41910" rtl="0">
              <a:lnSpc>
                <a:spcPct val="116700"/>
              </a:lnSpc>
              <a:spcBef>
                <a:spcPts val="100"/>
              </a:spcBef>
            </a:pPr>
            <a:r>
              <a:rPr sz="1200" kern="1200" dirty="0">
                <a:solidFill>
                  <a:srgbClr val="FF0000"/>
                </a:solidFill>
                <a:latin typeface="Palatino Linotype"/>
                <a:cs typeface="Palatino Linotype"/>
              </a:rPr>
              <a:t>Which </a:t>
            </a:r>
            <a:r>
              <a:rPr sz="1200" kern="1200" spc="-5" dirty="0">
                <a:solidFill>
                  <a:srgbClr val="FF0000"/>
                </a:solidFill>
                <a:latin typeface="Palatino Linotype"/>
                <a:cs typeface="Palatino Linotype"/>
              </a:rPr>
              <a:t>one </a:t>
            </a:r>
            <a:r>
              <a:rPr sz="1200" kern="1200" dirty="0">
                <a:solidFill>
                  <a:srgbClr val="FF0000"/>
                </a:solidFill>
                <a:latin typeface="Palatino Linotype"/>
                <a:cs typeface="Palatino Linotype"/>
              </a:rPr>
              <a:t>is </a:t>
            </a:r>
            <a:r>
              <a:rPr sz="1200" kern="1200" spc="-285" dirty="0">
                <a:solidFill>
                  <a:srgbClr val="FF0000"/>
                </a:solidFill>
                <a:latin typeface="Palatino Linotype"/>
                <a:cs typeface="Palatino Linotype"/>
              </a:rPr>
              <a:t> </a:t>
            </a:r>
            <a:r>
              <a:rPr sz="1200" kern="1200" dirty="0">
                <a:solidFill>
                  <a:srgbClr val="FF0000"/>
                </a:solidFill>
                <a:latin typeface="Palatino Linotype"/>
                <a:cs typeface="Palatino Linotype"/>
              </a:rPr>
              <a:t>replaced</a:t>
            </a:r>
            <a:r>
              <a:rPr sz="1200" kern="1200" spc="-70" dirty="0">
                <a:solidFill>
                  <a:srgbClr val="FF0000"/>
                </a:solidFill>
                <a:latin typeface="Palatino Linotype"/>
                <a:cs typeface="Palatino Linotype"/>
              </a:rPr>
              <a:t> </a:t>
            </a:r>
            <a:r>
              <a:rPr sz="1200" kern="1200" spc="-5" dirty="0">
                <a:solidFill>
                  <a:srgbClr val="FF0000"/>
                </a:solidFill>
                <a:latin typeface="Palatino Linotype"/>
                <a:cs typeface="Palatino Linotype"/>
              </a:rPr>
              <a:t>first?</a:t>
            </a:r>
            <a:endParaRPr sz="1200" kern="1200">
              <a:solidFill>
                <a:prstClr val="black"/>
              </a:solidFill>
              <a:latin typeface="Palatino Linotype"/>
              <a:cs typeface="Palatino Linotype"/>
            </a:endParaRPr>
          </a:p>
        </p:txBody>
      </p:sp>
    </p:spTree>
    <p:extLst>
      <p:ext uri="{BB962C8B-B14F-4D97-AF65-F5344CB8AC3E}">
        <p14:creationId xmlns:p14="http://schemas.microsoft.com/office/powerpoint/2010/main" val="3687143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17</a:t>
            </a:fld>
            <a:endParaRPr lang="en-US"/>
          </a:p>
        </p:txBody>
      </p:sp>
      <p:sp>
        <p:nvSpPr>
          <p:cNvPr id="14" name="object 2">
            <a:extLst>
              <a:ext uri="{FF2B5EF4-FFF2-40B4-BE49-F238E27FC236}">
                <a16:creationId xmlns:a16="http://schemas.microsoft.com/office/drawing/2014/main" id="{DB25742F-7E9F-62C2-FDF1-A3F3820BD60D}"/>
              </a:ext>
            </a:extLst>
          </p:cNvPr>
          <p:cNvSpPr txBox="1">
            <a:spLocks/>
          </p:cNvSpPr>
          <p:nvPr/>
        </p:nvSpPr>
        <p:spPr>
          <a:xfrm>
            <a:off x="395536" y="554227"/>
            <a:ext cx="8352927" cy="628377"/>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lang="en-US" spc="-5" dirty="0">
                <a:solidFill>
                  <a:sysClr val="windowText" lastClr="000000"/>
                </a:solidFill>
              </a:rPr>
              <a:t>Constructing Parse Trees (Example)</a:t>
            </a:r>
          </a:p>
        </p:txBody>
      </p:sp>
      <p:sp>
        <p:nvSpPr>
          <p:cNvPr id="15" name="object 3">
            <a:extLst>
              <a:ext uri="{FF2B5EF4-FFF2-40B4-BE49-F238E27FC236}">
                <a16:creationId xmlns:a16="http://schemas.microsoft.com/office/drawing/2014/main" id="{FBA03DAD-B5E2-EDAF-4D8A-464016BB0F10}"/>
              </a:ext>
            </a:extLst>
          </p:cNvPr>
          <p:cNvSpPr/>
          <p:nvPr/>
        </p:nvSpPr>
        <p:spPr>
          <a:xfrm>
            <a:off x="3655541" y="1768040"/>
            <a:ext cx="301625" cy="212090"/>
          </a:xfrm>
          <a:custGeom>
            <a:avLst/>
            <a:gdLst/>
            <a:ahLst/>
            <a:cxnLst/>
            <a:rect l="l" t="t" r="r" b="b"/>
            <a:pathLst>
              <a:path w="301625" h="212089">
                <a:moveTo>
                  <a:pt x="233861" y="0"/>
                </a:moveTo>
                <a:lnTo>
                  <a:pt x="230847" y="8594"/>
                </a:lnTo>
                <a:lnTo>
                  <a:pt x="243105" y="13913"/>
                </a:lnTo>
                <a:lnTo>
                  <a:pt x="253646" y="21277"/>
                </a:lnTo>
                <a:lnTo>
                  <a:pt x="275050" y="55408"/>
                </a:lnTo>
                <a:lnTo>
                  <a:pt x="282082" y="104811"/>
                </a:lnTo>
                <a:lnTo>
                  <a:pt x="281297" y="123487"/>
                </a:lnTo>
                <a:lnTo>
                  <a:pt x="269524" y="169217"/>
                </a:lnTo>
                <a:lnTo>
                  <a:pt x="243248" y="197805"/>
                </a:lnTo>
                <a:lnTo>
                  <a:pt x="231183" y="203149"/>
                </a:lnTo>
                <a:lnTo>
                  <a:pt x="233861" y="211744"/>
                </a:lnTo>
                <a:lnTo>
                  <a:pt x="274317" y="187707"/>
                </a:lnTo>
                <a:lnTo>
                  <a:pt x="297039" y="143334"/>
                </a:lnTo>
                <a:lnTo>
                  <a:pt x="301392" y="105928"/>
                </a:lnTo>
                <a:lnTo>
                  <a:pt x="300300" y="86516"/>
                </a:lnTo>
                <a:lnTo>
                  <a:pt x="283923" y="37113"/>
                </a:lnTo>
                <a:lnTo>
                  <a:pt x="249212" y="5542"/>
                </a:lnTo>
                <a:lnTo>
                  <a:pt x="233861" y="0"/>
                </a:lnTo>
                <a:close/>
              </a:path>
              <a:path w="301625" h="212089">
                <a:moveTo>
                  <a:pt x="67530" y="0"/>
                </a:moveTo>
                <a:lnTo>
                  <a:pt x="27148" y="24098"/>
                </a:lnTo>
                <a:lnTo>
                  <a:pt x="4367" y="68576"/>
                </a:lnTo>
                <a:lnTo>
                  <a:pt x="0" y="105928"/>
                </a:lnTo>
                <a:lnTo>
                  <a:pt x="1088" y="125381"/>
                </a:lnTo>
                <a:lnTo>
                  <a:pt x="17412" y="174741"/>
                </a:lnTo>
                <a:lnTo>
                  <a:pt x="52134" y="206208"/>
                </a:lnTo>
                <a:lnTo>
                  <a:pt x="67530" y="211744"/>
                </a:lnTo>
                <a:lnTo>
                  <a:pt x="70210" y="203149"/>
                </a:lnTo>
                <a:lnTo>
                  <a:pt x="58145" y="197805"/>
                </a:lnTo>
                <a:lnTo>
                  <a:pt x="47732" y="190369"/>
                </a:lnTo>
                <a:lnTo>
                  <a:pt x="26374" y="155690"/>
                </a:lnTo>
                <a:lnTo>
                  <a:pt x="19311" y="104811"/>
                </a:lnTo>
                <a:lnTo>
                  <a:pt x="20096" y="86746"/>
                </a:lnTo>
                <a:lnTo>
                  <a:pt x="31868" y="42136"/>
                </a:lnTo>
                <a:lnTo>
                  <a:pt x="58332" y="13913"/>
                </a:lnTo>
                <a:lnTo>
                  <a:pt x="70544" y="8594"/>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4">
            <a:extLst>
              <a:ext uri="{FF2B5EF4-FFF2-40B4-BE49-F238E27FC236}">
                <a16:creationId xmlns:a16="http://schemas.microsoft.com/office/drawing/2014/main" id="{0E3AB1ED-6D66-FF9B-FCB0-B58735279B3D}"/>
              </a:ext>
            </a:extLst>
          </p:cNvPr>
          <p:cNvSpPr txBox="1"/>
          <p:nvPr/>
        </p:nvSpPr>
        <p:spPr>
          <a:xfrm>
            <a:off x="942605" y="1697228"/>
            <a:ext cx="2943225" cy="299720"/>
          </a:xfrm>
          <a:prstGeom prst="rect">
            <a:avLst/>
          </a:prstGeom>
        </p:spPr>
        <p:txBody>
          <a:bodyPr vert="horz" wrap="square" lIns="0" tIns="12700" rIns="0" bIns="0" rtlCol="0">
            <a:spAutoFit/>
          </a:bodyPr>
          <a:lstStyle/>
          <a:p>
            <a:pPr marL="12700" rtl="0">
              <a:spcBef>
                <a:spcPts val="100"/>
              </a:spcBef>
            </a:pPr>
            <a:r>
              <a:rPr b="1" kern="1200" spc="-5" dirty="0">
                <a:solidFill>
                  <a:srgbClr val="0432FF"/>
                </a:solidFill>
                <a:latin typeface="Palatino Linotype"/>
                <a:cs typeface="Palatino Linotype"/>
              </a:rPr>
              <a:t>Derivation:</a:t>
            </a:r>
            <a:r>
              <a:rPr b="1" kern="1200" spc="-50" dirty="0">
                <a:solidFill>
                  <a:srgbClr val="0432FF"/>
                </a:solidFill>
                <a:latin typeface="Palatino Linotype"/>
                <a:cs typeface="Palatino Linotype"/>
              </a:rPr>
              <a:t> </a:t>
            </a:r>
            <a:r>
              <a:rPr kern="1200" dirty="0">
                <a:solidFill>
                  <a:srgbClr val="FF0000"/>
                </a:solidFill>
                <a:latin typeface="Cambria Math"/>
                <a:cs typeface="Cambria Math"/>
              </a:rPr>
              <a:t>𝐸</a:t>
            </a:r>
            <a:r>
              <a:rPr kern="1200" spc="165" dirty="0">
                <a:solidFill>
                  <a:srgbClr val="FF0000"/>
                </a:solidFill>
                <a:latin typeface="Cambria Math"/>
                <a:cs typeface="Cambria Math"/>
              </a:rPr>
              <a:t> </a:t>
            </a:r>
            <a:r>
              <a:rPr kern="1200" dirty="0">
                <a:solidFill>
                  <a:prstClr val="black"/>
                </a:solidFill>
                <a:latin typeface="Cambria Math"/>
                <a:cs typeface="Cambria Math"/>
              </a:rPr>
              <a:t>⟹</a:t>
            </a:r>
            <a:r>
              <a:rPr kern="1200" spc="100" dirty="0">
                <a:solidFill>
                  <a:prstClr val="black"/>
                </a:solidFill>
                <a:latin typeface="Cambria Math"/>
                <a:cs typeface="Cambria Math"/>
              </a:rPr>
              <a:t> </a:t>
            </a:r>
            <a:r>
              <a:rPr kern="1200" dirty="0">
                <a:solidFill>
                  <a:prstClr val="black"/>
                </a:solidFill>
                <a:latin typeface="Cambria Math"/>
                <a:cs typeface="Cambria Math"/>
              </a:rPr>
              <a:t>−</a:t>
            </a:r>
            <a:r>
              <a:rPr kern="1200" dirty="0">
                <a:solidFill>
                  <a:srgbClr val="FF0000"/>
                </a:solidFill>
                <a:latin typeface="Cambria Math"/>
                <a:cs typeface="Cambria Math"/>
              </a:rPr>
              <a:t>𝐸</a:t>
            </a:r>
            <a:r>
              <a:rPr kern="1200" spc="165" dirty="0">
                <a:solidFill>
                  <a:srgbClr val="FF0000"/>
                </a:solidFill>
                <a:latin typeface="Cambria Math"/>
                <a:cs typeface="Cambria Math"/>
              </a:rPr>
              <a:t> </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dirty="0">
                <a:solidFill>
                  <a:prstClr val="black"/>
                </a:solidFill>
                <a:latin typeface="Cambria Math"/>
                <a:cs typeface="Cambria Math"/>
              </a:rPr>
              <a:t>−</a:t>
            </a:r>
            <a:r>
              <a:rPr kern="1200" spc="340" dirty="0">
                <a:solidFill>
                  <a:prstClr val="black"/>
                </a:solidFill>
                <a:latin typeface="Cambria Math"/>
                <a:cs typeface="Cambria Math"/>
              </a:rPr>
              <a:t> </a:t>
            </a:r>
            <a:r>
              <a:rPr kern="1200" dirty="0">
                <a:solidFill>
                  <a:srgbClr val="FF0000"/>
                </a:solidFill>
                <a:latin typeface="Cambria Math"/>
                <a:cs typeface="Cambria Math"/>
              </a:rPr>
              <a:t>𝐸</a:t>
            </a:r>
            <a:endParaRPr kern="1200">
              <a:solidFill>
                <a:prstClr val="black"/>
              </a:solidFill>
              <a:latin typeface="Cambria Math"/>
              <a:cs typeface="Cambria Math"/>
            </a:endParaRPr>
          </a:p>
        </p:txBody>
      </p:sp>
      <p:sp>
        <p:nvSpPr>
          <p:cNvPr id="17" name="object 5">
            <a:extLst>
              <a:ext uri="{FF2B5EF4-FFF2-40B4-BE49-F238E27FC236}">
                <a16:creationId xmlns:a16="http://schemas.microsoft.com/office/drawing/2014/main" id="{A99D5551-30F2-D2CF-5984-E5C2D1B1A4A0}"/>
              </a:ext>
            </a:extLst>
          </p:cNvPr>
          <p:cNvSpPr/>
          <p:nvPr/>
        </p:nvSpPr>
        <p:spPr>
          <a:xfrm>
            <a:off x="4565432" y="1768040"/>
            <a:ext cx="726440" cy="212090"/>
          </a:xfrm>
          <a:custGeom>
            <a:avLst/>
            <a:gdLst/>
            <a:ahLst/>
            <a:cxnLst/>
            <a:rect l="l" t="t" r="r" b="b"/>
            <a:pathLst>
              <a:path w="726439" h="212089">
                <a:moveTo>
                  <a:pt x="658740" y="0"/>
                </a:moveTo>
                <a:lnTo>
                  <a:pt x="655726" y="8594"/>
                </a:lnTo>
                <a:lnTo>
                  <a:pt x="667984" y="13913"/>
                </a:lnTo>
                <a:lnTo>
                  <a:pt x="678525" y="21277"/>
                </a:lnTo>
                <a:lnTo>
                  <a:pt x="699928" y="55408"/>
                </a:lnTo>
                <a:lnTo>
                  <a:pt x="706960" y="104811"/>
                </a:lnTo>
                <a:lnTo>
                  <a:pt x="706175" y="123487"/>
                </a:lnTo>
                <a:lnTo>
                  <a:pt x="694402" y="169217"/>
                </a:lnTo>
                <a:lnTo>
                  <a:pt x="668127" y="197805"/>
                </a:lnTo>
                <a:lnTo>
                  <a:pt x="656061" y="203149"/>
                </a:lnTo>
                <a:lnTo>
                  <a:pt x="658740" y="211744"/>
                </a:lnTo>
                <a:lnTo>
                  <a:pt x="699195" y="187707"/>
                </a:lnTo>
                <a:lnTo>
                  <a:pt x="721918" y="143334"/>
                </a:lnTo>
                <a:lnTo>
                  <a:pt x="726271" y="105928"/>
                </a:lnTo>
                <a:lnTo>
                  <a:pt x="725179" y="86516"/>
                </a:lnTo>
                <a:lnTo>
                  <a:pt x="708802" y="37113"/>
                </a:lnTo>
                <a:lnTo>
                  <a:pt x="674091" y="5542"/>
                </a:lnTo>
                <a:lnTo>
                  <a:pt x="658740" y="0"/>
                </a:lnTo>
                <a:close/>
              </a:path>
              <a:path w="726439" h="212089">
                <a:moveTo>
                  <a:pt x="67530" y="0"/>
                </a:moveTo>
                <a:lnTo>
                  <a:pt x="27148" y="24098"/>
                </a:lnTo>
                <a:lnTo>
                  <a:pt x="4367" y="68576"/>
                </a:lnTo>
                <a:lnTo>
                  <a:pt x="0" y="105928"/>
                </a:lnTo>
                <a:lnTo>
                  <a:pt x="1088" y="125381"/>
                </a:lnTo>
                <a:lnTo>
                  <a:pt x="17412" y="174741"/>
                </a:lnTo>
                <a:lnTo>
                  <a:pt x="52134" y="206208"/>
                </a:lnTo>
                <a:lnTo>
                  <a:pt x="67530" y="211744"/>
                </a:lnTo>
                <a:lnTo>
                  <a:pt x="70210" y="203149"/>
                </a:lnTo>
                <a:lnTo>
                  <a:pt x="58145" y="197805"/>
                </a:lnTo>
                <a:lnTo>
                  <a:pt x="47732" y="190369"/>
                </a:lnTo>
                <a:lnTo>
                  <a:pt x="26374" y="155690"/>
                </a:lnTo>
                <a:lnTo>
                  <a:pt x="19311" y="104811"/>
                </a:lnTo>
                <a:lnTo>
                  <a:pt x="20096" y="86746"/>
                </a:lnTo>
                <a:lnTo>
                  <a:pt x="31868" y="42136"/>
                </a:lnTo>
                <a:lnTo>
                  <a:pt x="58332" y="13913"/>
                </a:lnTo>
                <a:lnTo>
                  <a:pt x="70544" y="8594"/>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6">
            <a:extLst>
              <a:ext uri="{FF2B5EF4-FFF2-40B4-BE49-F238E27FC236}">
                <a16:creationId xmlns:a16="http://schemas.microsoft.com/office/drawing/2014/main" id="{9762BC27-7440-057A-1550-F8C1731D7993}"/>
              </a:ext>
            </a:extLst>
          </p:cNvPr>
          <p:cNvSpPr txBox="1"/>
          <p:nvPr/>
        </p:nvSpPr>
        <p:spPr>
          <a:xfrm>
            <a:off x="4027816" y="1697228"/>
            <a:ext cx="1193165"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ambria Math"/>
                <a:cs typeface="Cambria Math"/>
              </a:rPr>
              <a:t>⟹</a:t>
            </a:r>
            <a:r>
              <a:rPr kern="1200" spc="80" dirty="0">
                <a:solidFill>
                  <a:prstClr val="black"/>
                </a:solidFill>
                <a:latin typeface="Cambria Math"/>
                <a:cs typeface="Cambria Math"/>
              </a:rPr>
              <a:t> </a:t>
            </a:r>
            <a:r>
              <a:rPr kern="1200" dirty="0">
                <a:solidFill>
                  <a:prstClr val="black"/>
                </a:solidFill>
                <a:latin typeface="Cambria Math"/>
                <a:cs typeface="Cambria Math"/>
              </a:rPr>
              <a:t>−</a:t>
            </a:r>
            <a:r>
              <a:rPr kern="1200" spc="320" dirty="0">
                <a:solidFill>
                  <a:prstClr val="black"/>
                </a:solidFill>
                <a:latin typeface="Cambria Math"/>
                <a:cs typeface="Cambria Math"/>
              </a:rPr>
              <a:t> </a:t>
            </a:r>
            <a:r>
              <a:rPr kern="1200" dirty="0">
                <a:solidFill>
                  <a:srgbClr val="FF0000"/>
                </a:solidFill>
                <a:latin typeface="Cambria Math"/>
                <a:cs typeface="Cambria Math"/>
              </a:rPr>
              <a:t>𝐸</a:t>
            </a:r>
            <a:r>
              <a:rPr kern="1200" spc="50" dirty="0">
                <a:solidFill>
                  <a:srgbClr val="FF0000"/>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𝐸</a:t>
            </a:r>
            <a:endParaRPr kern="1200">
              <a:solidFill>
                <a:prstClr val="black"/>
              </a:solidFill>
              <a:latin typeface="Cambria Math"/>
              <a:cs typeface="Cambria Math"/>
            </a:endParaRPr>
          </a:p>
        </p:txBody>
      </p:sp>
      <p:sp>
        <p:nvSpPr>
          <p:cNvPr id="19" name="object 7">
            <a:extLst>
              <a:ext uri="{FF2B5EF4-FFF2-40B4-BE49-F238E27FC236}">
                <a16:creationId xmlns:a16="http://schemas.microsoft.com/office/drawing/2014/main" id="{756A00DB-0A04-CE88-FA66-EB87B6B17884}"/>
              </a:ext>
            </a:extLst>
          </p:cNvPr>
          <p:cNvSpPr/>
          <p:nvPr/>
        </p:nvSpPr>
        <p:spPr>
          <a:xfrm>
            <a:off x="5900202" y="1768040"/>
            <a:ext cx="789305" cy="212090"/>
          </a:xfrm>
          <a:custGeom>
            <a:avLst/>
            <a:gdLst/>
            <a:ahLst/>
            <a:cxnLst/>
            <a:rect l="l" t="t" r="r" b="b"/>
            <a:pathLst>
              <a:path w="789304" h="212089">
                <a:moveTo>
                  <a:pt x="721224" y="0"/>
                </a:moveTo>
                <a:lnTo>
                  <a:pt x="718210" y="8594"/>
                </a:lnTo>
                <a:lnTo>
                  <a:pt x="730467" y="13913"/>
                </a:lnTo>
                <a:lnTo>
                  <a:pt x="741008" y="21277"/>
                </a:lnTo>
                <a:lnTo>
                  <a:pt x="762412" y="55408"/>
                </a:lnTo>
                <a:lnTo>
                  <a:pt x="769444" y="104811"/>
                </a:lnTo>
                <a:lnTo>
                  <a:pt x="768659" y="123487"/>
                </a:lnTo>
                <a:lnTo>
                  <a:pt x="756886" y="169217"/>
                </a:lnTo>
                <a:lnTo>
                  <a:pt x="730611" y="197805"/>
                </a:lnTo>
                <a:lnTo>
                  <a:pt x="718545" y="203149"/>
                </a:lnTo>
                <a:lnTo>
                  <a:pt x="721224" y="211744"/>
                </a:lnTo>
                <a:lnTo>
                  <a:pt x="761679" y="187707"/>
                </a:lnTo>
                <a:lnTo>
                  <a:pt x="784401" y="143334"/>
                </a:lnTo>
                <a:lnTo>
                  <a:pt x="788755" y="105928"/>
                </a:lnTo>
                <a:lnTo>
                  <a:pt x="787663" y="86516"/>
                </a:lnTo>
                <a:lnTo>
                  <a:pt x="771286" y="37113"/>
                </a:lnTo>
                <a:lnTo>
                  <a:pt x="736575" y="5542"/>
                </a:lnTo>
                <a:lnTo>
                  <a:pt x="721224" y="0"/>
                </a:lnTo>
                <a:close/>
              </a:path>
              <a:path w="789304" h="212089">
                <a:moveTo>
                  <a:pt x="67530" y="0"/>
                </a:moveTo>
                <a:lnTo>
                  <a:pt x="27148" y="24098"/>
                </a:lnTo>
                <a:lnTo>
                  <a:pt x="4367" y="68576"/>
                </a:lnTo>
                <a:lnTo>
                  <a:pt x="0" y="105928"/>
                </a:lnTo>
                <a:lnTo>
                  <a:pt x="1088" y="125381"/>
                </a:lnTo>
                <a:lnTo>
                  <a:pt x="17412" y="174741"/>
                </a:lnTo>
                <a:lnTo>
                  <a:pt x="52134" y="206208"/>
                </a:lnTo>
                <a:lnTo>
                  <a:pt x="67530" y="211744"/>
                </a:lnTo>
                <a:lnTo>
                  <a:pt x="70210" y="203149"/>
                </a:lnTo>
                <a:lnTo>
                  <a:pt x="58145" y="197805"/>
                </a:lnTo>
                <a:lnTo>
                  <a:pt x="47732" y="190369"/>
                </a:lnTo>
                <a:lnTo>
                  <a:pt x="26374" y="155690"/>
                </a:lnTo>
                <a:lnTo>
                  <a:pt x="19311" y="104811"/>
                </a:lnTo>
                <a:lnTo>
                  <a:pt x="20096" y="86746"/>
                </a:lnTo>
                <a:lnTo>
                  <a:pt x="31868" y="42136"/>
                </a:lnTo>
                <a:lnTo>
                  <a:pt x="58332" y="13913"/>
                </a:lnTo>
                <a:lnTo>
                  <a:pt x="70544" y="8594"/>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8">
            <a:extLst>
              <a:ext uri="{FF2B5EF4-FFF2-40B4-BE49-F238E27FC236}">
                <a16:creationId xmlns:a16="http://schemas.microsoft.com/office/drawing/2014/main" id="{EB602AD2-99E7-5137-58C1-897CACA886F2}"/>
              </a:ext>
            </a:extLst>
          </p:cNvPr>
          <p:cNvSpPr txBox="1"/>
          <p:nvPr/>
        </p:nvSpPr>
        <p:spPr>
          <a:xfrm>
            <a:off x="5362586" y="1697228"/>
            <a:ext cx="1255395"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ambria Math"/>
                <a:cs typeface="Cambria Math"/>
              </a:rPr>
              <a:t>⟹</a:t>
            </a:r>
            <a:r>
              <a:rPr kern="1200" spc="80" dirty="0">
                <a:solidFill>
                  <a:prstClr val="black"/>
                </a:solidFill>
                <a:latin typeface="Cambria Math"/>
                <a:cs typeface="Cambria Math"/>
              </a:rPr>
              <a:t> </a:t>
            </a:r>
            <a:r>
              <a:rPr kern="1200" dirty="0">
                <a:solidFill>
                  <a:prstClr val="black"/>
                </a:solidFill>
                <a:latin typeface="Cambria Math"/>
                <a:cs typeface="Cambria Math"/>
              </a:rPr>
              <a:t>−</a:t>
            </a:r>
            <a:r>
              <a:rPr kern="1200" spc="320" dirty="0">
                <a:solidFill>
                  <a:prstClr val="black"/>
                </a:solidFill>
                <a:latin typeface="Cambria Math"/>
                <a:cs typeface="Cambria Math"/>
              </a:rPr>
              <a:t> </a:t>
            </a:r>
            <a:r>
              <a:rPr kern="1200" spc="-5" dirty="0">
                <a:solidFill>
                  <a:prstClr val="black"/>
                </a:solidFill>
                <a:latin typeface="Cambria Math"/>
                <a:cs typeface="Cambria Math"/>
              </a:rPr>
              <a:t>𝐢𝐝</a:t>
            </a:r>
            <a:r>
              <a:rPr kern="1200" spc="-20"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srgbClr val="FF0000"/>
                </a:solidFill>
                <a:latin typeface="Cambria Math"/>
                <a:cs typeface="Cambria Math"/>
              </a:rPr>
              <a:t>𝐸</a:t>
            </a:r>
            <a:endParaRPr kern="1200">
              <a:solidFill>
                <a:prstClr val="black"/>
              </a:solidFill>
              <a:latin typeface="Cambria Math"/>
              <a:cs typeface="Cambria Math"/>
            </a:endParaRPr>
          </a:p>
        </p:txBody>
      </p:sp>
      <p:sp>
        <p:nvSpPr>
          <p:cNvPr id="21" name="object 9">
            <a:extLst>
              <a:ext uri="{FF2B5EF4-FFF2-40B4-BE49-F238E27FC236}">
                <a16:creationId xmlns:a16="http://schemas.microsoft.com/office/drawing/2014/main" id="{E9F26A31-24F3-CCDA-C4F4-8CB043F154B3}"/>
              </a:ext>
            </a:extLst>
          </p:cNvPr>
          <p:cNvSpPr txBox="1"/>
          <p:nvPr/>
        </p:nvSpPr>
        <p:spPr>
          <a:xfrm>
            <a:off x="6759840" y="1697228"/>
            <a:ext cx="142240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ambria Math"/>
                <a:cs typeface="Cambria Math"/>
              </a:rPr>
              <a:t>⟹</a:t>
            </a:r>
            <a:r>
              <a:rPr kern="1200" spc="70" dirty="0">
                <a:solidFill>
                  <a:prstClr val="black"/>
                </a:solidFill>
                <a:latin typeface="Cambria Math"/>
                <a:cs typeface="Cambria Math"/>
              </a:rPr>
              <a:t> </a:t>
            </a:r>
            <a:r>
              <a:rPr kern="1200" dirty="0">
                <a:solidFill>
                  <a:prstClr val="black"/>
                </a:solidFill>
                <a:latin typeface="Cambria Math"/>
                <a:cs typeface="Cambria Math"/>
              </a:rPr>
              <a:t>−(𝐢𝐝</a:t>
            </a:r>
            <a:r>
              <a:rPr kern="1200" spc="-30" dirty="0">
                <a:solidFill>
                  <a:prstClr val="black"/>
                </a:solidFill>
                <a:latin typeface="Cambria Math"/>
                <a:cs typeface="Cambria Math"/>
              </a:rPr>
              <a:t> </a:t>
            </a:r>
            <a:r>
              <a:rPr kern="1200" dirty="0">
                <a:solidFill>
                  <a:prstClr val="black"/>
                </a:solidFill>
                <a:latin typeface="Cambria Math"/>
                <a:cs typeface="Cambria Math"/>
              </a:rPr>
              <a:t>+</a:t>
            </a:r>
            <a:r>
              <a:rPr kern="1200" spc="-20" dirty="0">
                <a:solidFill>
                  <a:prstClr val="black"/>
                </a:solidFill>
                <a:latin typeface="Cambria Math"/>
                <a:cs typeface="Cambria Math"/>
              </a:rPr>
              <a:t> </a:t>
            </a:r>
            <a:r>
              <a:rPr kern="1200" spc="-5" dirty="0">
                <a:solidFill>
                  <a:prstClr val="black"/>
                </a:solidFill>
                <a:latin typeface="Cambria Math"/>
                <a:cs typeface="Cambria Math"/>
              </a:rPr>
              <a:t>𝐢𝐝)</a:t>
            </a:r>
            <a:endParaRPr kern="1200">
              <a:solidFill>
                <a:prstClr val="black"/>
              </a:solidFill>
              <a:latin typeface="Cambria Math"/>
              <a:cs typeface="Cambria Math"/>
            </a:endParaRPr>
          </a:p>
        </p:txBody>
      </p:sp>
      <p:pic>
        <p:nvPicPr>
          <p:cNvPr id="22" name="object 10">
            <a:extLst>
              <a:ext uri="{FF2B5EF4-FFF2-40B4-BE49-F238E27FC236}">
                <a16:creationId xmlns:a16="http://schemas.microsoft.com/office/drawing/2014/main" id="{D81DA6E8-3853-7E72-F017-50A50F4521AF}"/>
              </a:ext>
            </a:extLst>
          </p:cNvPr>
          <p:cNvPicPr/>
          <p:nvPr/>
        </p:nvPicPr>
        <p:blipFill>
          <a:blip r:embed="rId3" cstate="print"/>
          <a:stretch>
            <a:fillRect/>
          </a:stretch>
        </p:blipFill>
        <p:spPr>
          <a:xfrm>
            <a:off x="1496087" y="2618406"/>
            <a:ext cx="6009626" cy="3270493"/>
          </a:xfrm>
          <a:prstGeom prst="rect">
            <a:avLst/>
          </a:prstGeom>
        </p:spPr>
      </p:pic>
    </p:spTree>
    <p:extLst>
      <p:ext uri="{BB962C8B-B14F-4D97-AF65-F5344CB8AC3E}">
        <p14:creationId xmlns:p14="http://schemas.microsoft.com/office/powerpoint/2010/main" val="52194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18</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6">
            <a:extLst>
              <a:ext uri="{FF2B5EF4-FFF2-40B4-BE49-F238E27FC236}">
                <a16:creationId xmlns:a16="http://schemas.microsoft.com/office/drawing/2014/main" id="{01150CEA-72CC-EA64-2CD5-2CFFCD441C00}"/>
              </a:ext>
            </a:extLst>
          </p:cNvPr>
          <p:cNvSpPr txBox="1"/>
          <p:nvPr/>
        </p:nvSpPr>
        <p:spPr>
          <a:xfrm>
            <a:off x="5652120" y="136524"/>
            <a:ext cx="3226435" cy="2564163"/>
          </a:xfrm>
          <a:prstGeom prst="rect">
            <a:avLst/>
          </a:prstGeom>
          <a:ln w="12700">
            <a:solidFill>
              <a:srgbClr val="7F7F7F"/>
            </a:solidFill>
          </a:ln>
        </p:spPr>
        <p:txBody>
          <a:bodyPr vert="horz" wrap="square" lIns="0" tIns="121285" rIns="0" bIns="0" rtlCol="0">
            <a:spAutoFit/>
          </a:bodyPr>
          <a:lstStyle/>
          <a:p>
            <a:pPr marL="449580" indent="-286385">
              <a:lnSpc>
                <a:spcPct val="100000"/>
              </a:lnSpc>
              <a:spcBef>
                <a:spcPts val="955"/>
              </a:spcBef>
              <a:buFont typeface="Arial MT"/>
              <a:buChar char="•"/>
              <a:tabLst>
                <a:tab pos="449580" algn="l"/>
                <a:tab pos="450215" algn="l"/>
              </a:tabLst>
            </a:pPr>
            <a:r>
              <a:rPr sz="1800" spc="-5" dirty="0">
                <a:solidFill>
                  <a:schemeClr val="bg2">
                    <a:lumMod val="50000"/>
                  </a:schemeClr>
                </a:solidFill>
                <a:latin typeface="Palatino Linotype"/>
                <a:cs typeface="Palatino Linotype"/>
              </a:rPr>
              <a:t>Formal</a:t>
            </a:r>
            <a:r>
              <a:rPr sz="1800" spc="-20"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definition</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of</a:t>
            </a:r>
            <a:r>
              <a:rPr sz="1800" spc="-20"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CFG</a:t>
            </a:r>
            <a:endParaRPr sz="1800" dirty="0">
              <a:solidFill>
                <a:schemeClr val="bg2">
                  <a:lumMod val="50000"/>
                </a:schemeClr>
              </a:solidFill>
              <a:latin typeface="Palatino Linotype"/>
              <a:cs typeface="Palatino Linotype"/>
            </a:endParaRPr>
          </a:p>
          <a:p>
            <a:pPr>
              <a:lnSpc>
                <a:spcPct val="100000"/>
              </a:lnSpc>
              <a:spcBef>
                <a:spcPts val="55"/>
              </a:spcBef>
              <a:buChar char="•"/>
            </a:pPr>
            <a:endParaRPr sz="1700" dirty="0">
              <a:solidFill>
                <a:schemeClr val="bg2">
                  <a:lumMod val="50000"/>
                </a:schemeClr>
              </a:solidFill>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10" dirty="0">
                <a:solidFill>
                  <a:schemeClr val="bg2">
                    <a:lumMod val="50000"/>
                  </a:schemeClr>
                </a:solidFill>
                <a:latin typeface="Palatino Linotype"/>
                <a:cs typeface="Palatino Linotype"/>
              </a:rPr>
              <a:t>Derivation</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and</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parse</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tree</a:t>
            </a:r>
          </a:p>
          <a:p>
            <a:pPr>
              <a:lnSpc>
                <a:spcPct val="100000"/>
              </a:lnSpc>
              <a:spcBef>
                <a:spcPts val="5"/>
              </a:spcBef>
              <a:buChar char="•"/>
            </a:pPr>
            <a:endParaRPr sz="1650" dirty="0">
              <a:latin typeface="Palatino Linotype"/>
              <a:cs typeface="Palatino Linotype"/>
            </a:endParaRPr>
          </a:p>
          <a:p>
            <a:pPr marL="449580" indent="-286385">
              <a:lnSpc>
                <a:spcPct val="100000"/>
              </a:lnSpc>
              <a:buFont typeface="Arial MT"/>
              <a:buChar char="•"/>
              <a:tabLst>
                <a:tab pos="449580" algn="l"/>
                <a:tab pos="450215" algn="l"/>
              </a:tabLst>
            </a:pPr>
            <a:r>
              <a:rPr sz="1800" spc="-5" dirty="0">
                <a:latin typeface="Palatino Linotype"/>
                <a:cs typeface="Palatino Linotype"/>
              </a:rPr>
              <a:t>Ambiguity</a:t>
            </a:r>
            <a:endParaRPr sz="1800" dirty="0">
              <a:latin typeface="Palatino Linotype"/>
              <a:cs typeface="Palatino Linotype"/>
            </a:endParaRPr>
          </a:p>
          <a:p>
            <a:pPr>
              <a:lnSpc>
                <a:spcPct val="100000"/>
              </a:lnSpc>
              <a:spcBef>
                <a:spcPts val="55"/>
              </a:spcBef>
              <a:buChar char="•"/>
            </a:pPr>
            <a:endParaRPr sz="1700" dirty="0">
              <a:latin typeface="Palatino Linotype"/>
              <a:cs typeface="Palatino Linotype"/>
            </a:endParaRPr>
          </a:p>
          <a:p>
            <a:pPr marL="449580" indent="-286385">
              <a:lnSpc>
                <a:spcPct val="100000"/>
              </a:lnSpc>
              <a:buFont typeface="Arial MT"/>
              <a:buChar char="•"/>
              <a:tabLst>
                <a:tab pos="449580" algn="l"/>
                <a:tab pos="450215" algn="l"/>
              </a:tabLst>
            </a:pPr>
            <a:r>
              <a:rPr sz="1800" spc="-5" dirty="0">
                <a:solidFill>
                  <a:schemeClr val="bg2">
                    <a:lumMod val="50000"/>
                  </a:schemeClr>
                </a:solidFill>
                <a:latin typeface="Palatino Linotype"/>
                <a:cs typeface="Palatino Linotype"/>
              </a:rPr>
              <a:t>CFG</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vs.</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regexp</a:t>
            </a:r>
            <a:endParaRPr sz="1800" dirty="0">
              <a:solidFill>
                <a:schemeClr val="bg2">
                  <a:lumMod val="50000"/>
                </a:schemeClr>
              </a:solidFill>
              <a:latin typeface="Palatino Linotype"/>
              <a:cs typeface="Palatino Linotype"/>
            </a:endParaRPr>
          </a:p>
          <a:p>
            <a:pPr>
              <a:lnSpc>
                <a:spcPct val="100000"/>
              </a:lnSpc>
              <a:spcBef>
                <a:spcPts val="5"/>
              </a:spcBef>
              <a:buChar char="•"/>
            </a:pPr>
            <a:endParaRPr sz="1650" dirty="0">
              <a:solidFill>
                <a:schemeClr val="bg2">
                  <a:lumMod val="50000"/>
                </a:schemeClr>
              </a:solidFill>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5" dirty="0">
                <a:solidFill>
                  <a:schemeClr val="bg2">
                    <a:lumMod val="50000"/>
                  </a:schemeClr>
                </a:solidFill>
                <a:latin typeface="Palatino Linotype"/>
                <a:cs typeface="Palatino Linotype"/>
              </a:rPr>
              <a:t>Grammar</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design</a:t>
            </a:r>
            <a:endParaRPr sz="1800" dirty="0">
              <a:solidFill>
                <a:schemeClr val="bg2">
                  <a:lumMod val="50000"/>
                </a:schemeClr>
              </a:solidFill>
              <a:latin typeface="Palatino Linotype"/>
              <a:cs typeface="Palatino Linotype"/>
            </a:endParaRPr>
          </a:p>
        </p:txBody>
      </p:sp>
      <p:sp>
        <p:nvSpPr>
          <p:cNvPr id="6" name="object 7">
            <a:extLst>
              <a:ext uri="{FF2B5EF4-FFF2-40B4-BE49-F238E27FC236}">
                <a16:creationId xmlns:a16="http://schemas.microsoft.com/office/drawing/2014/main" id="{296F1C25-B6ED-0F61-B0FE-BEDCA5800578}"/>
              </a:ext>
            </a:extLst>
          </p:cNvPr>
          <p:cNvSpPr/>
          <p:nvPr/>
        </p:nvSpPr>
        <p:spPr>
          <a:xfrm>
            <a:off x="4450680" y="1898772"/>
            <a:ext cx="1207770" cy="554355"/>
          </a:xfrm>
          <a:custGeom>
            <a:avLst/>
            <a:gdLst/>
            <a:ahLst/>
            <a:cxnLst/>
            <a:rect l="l" t="t" r="r" b="b"/>
            <a:pathLst>
              <a:path w="1207770" h="554355">
                <a:moveTo>
                  <a:pt x="1207472" y="0"/>
                </a:moveTo>
                <a:lnTo>
                  <a:pt x="0" y="553742"/>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4211787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19</a:t>
            </a:fld>
            <a:endParaRPr lang="en-US"/>
          </a:p>
        </p:txBody>
      </p:sp>
      <p:sp>
        <p:nvSpPr>
          <p:cNvPr id="16" name="object 2">
            <a:extLst>
              <a:ext uri="{FF2B5EF4-FFF2-40B4-BE49-F238E27FC236}">
                <a16:creationId xmlns:a16="http://schemas.microsoft.com/office/drawing/2014/main" id="{C825ED49-1C0B-299B-925A-A6BB1FA5DBDB}"/>
              </a:ext>
            </a:extLst>
          </p:cNvPr>
          <p:cNvSpPr txBox="1">
            <a:spLocks/>
          </p:cNvSpPr>
          <p:nvPr/>
        </p:nvSpPr>
        <p:spPr>
          <a:xfrm>
            <a:off x="707390" y="524763"/>
            <a:ext cx="456184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Ambiguity</a:t>
            </a:r>
            <a:r>
              <a:rPr kumimoji="0" lang="en-US" sz="4000" b="1" i="0" u="none" strike="noStrike" kern="0" cap="none" spc="-9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二义性</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7" name="object 3">
            <a:extLst>
              <a:ext uri="{FF2B5EF4-FFF2-40B4-BE49-F238E27FC236}">
                <a16:creationId xmlns:a16="http://schemas.microsoft.com/office/drawing/2014/main" id="{1AD2BE6B-74A2-5522-1878-8E81FE5C4A5B}"/>
              </a:ext>
            </a:extLst>
          </p:cNvPr>
          <p:cNvSpPr/>
          <p:nvPr/>
        </p:nvSpPr>
        <p:spPr>
          <a:xfrm>
            <a:off x="5396985" y="2779274"/>
            <a:ext cx="23495" cy="277495"/>
          </a:xfrm>
          <a:custGeom>
            <a:avLst/>
            <a:gdLst/>
            <a:ahLst/>
            <a:cxnLst/>
            <a:rect l="l" t="t" r="r" b="b"/>
            <a:pathLst>
              <a:path w="23495" h="277494">
                <a:moveTo>
                  <a:pt x="22919" y="0"/>
                </a:moveTo>
                <a:lnTo>
                  <a:pt x="0" y="0"/>
                </a:lnTo>
                <a:lnTo>
                  <a:pt x="0" y="276969"/>
                </a:lnTo>
                <a:lnTo>
                  <a:pt x="22919" y="276969"/>
                </a:lnTo>
                <a:lnTo>
                  <a:pt x="2291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4">
            <a:extLst>
              <a:ext uri="{FF2B5EF4-FFF2-40B4-BE49-F238E27FC236}">
                <a16:creationId xmlns:a16="http://schemas.microsoft.com/office/drawing/2014/main" id="{8AC56E6B-EB2F-29AA-733F-C436F236790F}"/>
              </a:ext>
            </a:extLst>
          </p:cNvPr>
          <p:cNvSpPr/>
          <p:nvPr/>
        </p:nvSpPr>
        <p:spPr>
          <a:xfrm>
            <a:off x="4479156" y="2779274"/>
            <a:ext cx="23495" cy="277495"/>
          </a:xfrm>
          <a:custGeom>
            <a:avLst/>
            <a:gdLst/>
            <a:ahLst/>
            <a:cxnLst/>
            <a:rect l="l" t="t" r="r" b="b"/>
            <a:pathLst>
              <a:path w="23495" h="277494">
                <a:moveTo>
                  <a:pt x="22919" y="0"/>
                </a:moveTo>
                <a:lnTo>
                  <a:pt x="0" y="0"/>
                </a:lnTo>
                <a:lnTo>
                  <a:pt x="0" y="276969"/>
                </a:lnTo>
                <a:lnTo>
                  <a:pt x="22919" y="276969"/>
                </a:lnTo>
                <a:lnTo>
                  <a:pt x="2291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5">
            <a:extLst>
              <a:ext uri="{FF2B5EF4-FFF2-40B4-BE49-F238E27FC236}">
                <a16:creationId xmlns:a16="http://schemas.microsoft.com/office/drawing/2014/main" id="{BA89FA22-1A4C-C14B-2DC9-3CED687E0502}"/>
              </a:ext>
            </a:extLst>
          </p:cNvPr>
          <p:cNvSpPr/>
          <p:nvPr/>
        </p:nvSpPr>
        <p:spPr>
          <a:xfrm>
            <a:off x="5550144" y="2776618"/>
            <a:ext cx="401955" cy="282575"/>
          </a:xfrm>
          <a:custGeom>
            <a:avLst/>
            <a:gdLst/>
            <a:ahLst/>
            <a:cxnLst/>
            <a:rect l="l" t="t" r="r" b="b"/>
            <a:pathLst>
              <a:path w="401954" h="282575">
                <a:moveTo>
                  <a:pt x="311815" y="0"/>
                </a:moveTo>
                <a:lnTo>
                  <a:pt x="307797" y="11459"/>
                </a:lnTo>
                <a:lnTo>
                  <a:pt x="324140" y="18552"/>
                </a:lnTo>
                <a:lnTo>
                  <a:pt x="338195" y="28370"/>
                </a:lnTo>
                <a:lnTo>
                  <a:pt x="366733" y="73878"/>
                </a:lnTo>
                <a:lnTo>
                  <a:pt x="375067" y="115662"/>
                </a:lnTo>
                <a:lnTo>
                  <a:pt x="376109" y="139749"/>
                </a:lnTo>
                <a:lnTo>
                  <a:pt x="375062" y="164650"/>
                </a:lnTo>
                <a:lnTo>
                  <a:pt x="366690" y="207587"/>
                </a:lnTo>
                <a:lnTo>
                  <a:pt x="338213" y="253826"/>
                </a:lnTo>
                <a:lnTo>
                  <a:pt x="308242" y="270866"/>
                </a:lnTo>
                <a:lnTo>
                  <a:pt x="311815" y="282327"/>
                </a:lnTo>
                <a:lnTo>
                  <a:pt x="350324" y="264263"/>
                </a:lnTo>
                <a:lnTo>
                  <a:pt x="378639" y="232990"/>
                </a:lnTo>
                <a:lnTo>
                  <a:pt x="396051" y="191113"/>
                </a:lnTo>
                <a:lnTo>
                  <a:pt x="401855" y="141237"/>
                </a:lnTo>
                <a:lnTo>
                  <a:pt x="400400" y="115355"/>
                </a:lnTo>
                <a:lnTo>
                  <a:pt x="388754" y="69479"/>
                </a:lnTo>
                <a:lnTo>
                  <a:pt x="365658" y="32133"/>
                </a:lnTo>
                <a:lnTo>
                  <a:pt x="332283" y="7390"/>
                </a:lnTo>
                <a:lnTo>
                  <a:pt x="311815" y="0"/>
                </a:lnTo>
                <a:close/>
              </a:path>
              <a:path w="401954" h="282575">
                <a:moveTo>
                  <a:pt x="90041" y="0"/>
                </a:moveTo>
                <a:lnTo>
                  <a:pt x="51625" y="18101"/>
                </a:lnTo>
                <a:lnTo>
                  <a:pt x="23291" y="49485"/>
                </a:lnTo>
                <a:lnTo>
                  <a:pt x="5823" y="91436"/>
                </a:lnTo>
                <a:lnTo>
                  <a:pt x="0" y="141237"/>
                </a:lnTo>
                <a:lnTo>
                  <a:pt x="1451" y="167175"/>
                </a:lnTo>
                <a:lnTo>
                  <a:pt x="13060" y="213051"/>
                </a:lnTo>
                <a:lnTo>
                  <a:pt x="36100" y="250277"/>
                </a:lnTo>
                <a:lnTo>
                  <a:pt x="69512" y="274946"/>
                </a:lnTo>
                <a:lnTo>
                  <a:pt x="90041" y="282327"/>
                </a:lnTo>
                <a:lnTo>
                  <a:pt x="93612" y="270866"/>
                </a:lnTo>
                <a:lnTo>
                  <a:pt x="77525" y="263742"/>
                </a:lnTo>
                <a:lnTo>
                  <a:pt x="63643" y="253826"/>
                </a:lnTo>
                <a:lnTo>
                  <a:pt x="35165" y="207587"/>
                </a:lnTo>
                <a:lnTo>
                  <a:pt x="26794" y="164650"/>
                </a:lnTo>
                <a:lnTo>
                  <a:pt x="25747" y="139749"/>
                </a:lnTo>
                <a:lnTo>
                  <a:pt x="26794" y="115662"/>
                </a:lnTo>
                <a:lnTo>
                  <a:pt x="35165" y="73878"/>
                </a:lnTo>
                <a:lnTo>
                  <a:pt x="63755" y="28370"/>
                </a:lnTo>
                <a:lnTo>
                  <a:pt x="94060" y="11459"/>
                </a:lnTo>
                <a:lnTo>
                  <a:pt x="90041"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6">
            <a:extLst>
              <a:ext uri="{FF2B5EF4-FFF2-40B4-BE49-F238E27FC236}">
                <a16:creationId xmlns:a16="http://schemas.microsoft.com/office/drawing/2014/main" id="{56E732CE-C06D-1C56-0CD6-C773BD98C718}"/>
              </a:ext>
            </a:extLst>
          </p:cNvPr>
          <p:cNvSpPr txBox="1"/>
          <p:nvPr/>
        </p:nvSpPr>
        <p:spPr>
          <a:xfrm>
            <a:off x="707390" y="1590547"/>
            <a:ext cx="7237730" cy="1488440"/>
          </a:xfrm>
          <a:prstGeom prst="rect">
            <a:avLst/>
          </a:prstGeom>
        </p:spPr>
        <p:txBody>
          <a:bodyPr vert="horz" wrap="square" lIns="0" tIns="12700" rIns="0" bIns="0" rtlCol="0">
            <a:spAutoFit/>
          </a:bodyPr>
          <a:lstStyle/>
          <a:p>
            <a:pPr marL="242570" marR="5080" indent="-230504" rtl="0">
              <a:lnSpc>
                <a:spcPct val="118300"/>
              </a:lnSpc>
              <a:spcBef>
                <a:spcPts val="100"/>
              </a:spcBef>
              <a:buFont typeface="Arial MT"/>
              <a:buChar char="•"/>
              <a:tabLst>
                <a:tab pos="243204" algn="l"/>
              </a:tabLst>
            </a:pPr>
            <a:r>
              <a:rPr sz="2400" kern="1200" dirty="0">
                <a:solidFill>
                  <a:prstClr val="black"/>
                </a:solidFill>
                <a:latin typeface="Palatino Linotype"/>
                <a:cs typeface="Palatino Linotype"/>
              </a:rPr>
              <a:t>If a grammar </a:t>
            </a:r>
            <a:r>
              <a:rPr sz="2400" kern="1200" spc="-5" dirty="0">
                <a:solidFill>
                  <a:srgbClr val="FF0000"/>
                </a:solidFill>
                <a:latin typeface="Palatino Linotype"/>
                <a:cs typeface="Palatino Linotype"/>
              </a:rPr>
              <a:t>produces </a:t>
            </a:r>
            <a:r>
              <a:rPr sz="2400" kern="1200" dirty="0">
                <a:solidFill>
                  <a:srgbClr val="FF0000"/>
                </a:solidFill>
                <a:latin typeface="Palatino Linotype"/>
                <a:cs typeface="Palatino Linotype"/>
              </a:rPr>
              <a:t>more than one </a:t>
            </a:r>
            <a:r>
              <a:rPr sz="2400" kern="1200" spc="-5" dirty="0">
                <a:solidFill>
                  <a:srgbClr val="FF0000"/>
                </a:solidFill>
                <a:latin typeface="Palatino Linotype"/>
                <a:cs typeface="Palatino Linotype"/>
              </a:rPr>
              <a:t>parse </a:t>
            </a:r>
            <a:r>
              <a:rPr sz="2400" kern="1200" dirty="0">
                <a:solidFill>
                  <a:srgbClr val="FF0000"/>
                </a:solidFill>
                <a:latin typeface="Palatino Linotype"/>
                <a:cs typeface="Palatino Linotype"/>
              </a:rPr>
              <a:t>tree for </a:t>
            </a:r>
            <a:r>
              <a:rPr sz="2400" kern="1200" spc="-585" dirty="0">
                <a:solidFill>
                  <a:srgbClr val="FF0000"/>
                </a:solidFill>
                <a:latin typeface="Palatino Linotype"/>
                <a:cs typeface="Palatino Linotype"/>
              </a:rPr>
              <a:t> </a:t>
            </a:r>
            <a:r>
              <a:rPr sz="2400" kern="1200" dirty="0">
                <a:solidFill>
                  <a:srgbClr val="FF0000"/>
                </a:solidFill>
                <a:latin typeface="Palatino Linotype"/>
                <a:cs typeface="Palatino Linotype"/>
              </a:rPr>
              <a:t>some</a:t>
            </a:r>
            <a:r>
              <a:rPr sz="2400" kern="1200" spc="-5" dirty="0">
                <a:solidFill>
                  <a:srgbClr val="FF0000"/>
                </a:solidFill>
                <a:latin typeface="Palatino Linotype"/>
                <a:cs typeface="Palatino Linotype"/>
              </a:rPr>
              <a:t> sentence</a:t>
            </a:r>
            <a:r>
              <a:rPr sz="2400" kern="1200" spc="-5" dirty="0">
                <a:solidFill>
                  <a:prstClr val="black"/>
                </a:solidFill>
                <a:latin typeface="Palatino Linotype"/>
                <a:cs typeface="Palatino Linotype"/>
              </a:rPr>
              <a:t>,</a:t>
            </a:r>
            <a:r>
              <a:rPr sz="2400" kern="1200" dirty="0">
                <a:solidFill>
                  <a:prstClr val="black"/>
                </a:solidFill>
                <a:latin typeface="Palatino Linotype"/>
                <a:cs typeface="Palatino Linotype"/>
              </a:rPr>
              <a:t> it is</a:t>
            </a:r>
            <a:r>
              <a:rPr sz="2400" kern="1200" spc="-10" dirty="0">
                <a:solidFill>
                  <a:prstClr val="black"/>
                </a:solidFill>
                <a:latin typeface="Palatino Linotype"/>
                <a:cs typeface="Palatino Linotype"/>
              </a:rPr>
              <a:t> </a:t>
            </a:r>
            <a:r>
              <a:rPr sz="2400" kern="1200" dirty="0">
                <a:solidFill>
                  <a:prstClr val="black"/>
                </a:solidFill>
                <a:latin typeface="Palatino Linotype"/>
                <a:cs typeface="Palatino Linotype"/>
              </a:rPr>
              <a:t>ambiguous</a:t>
            </a:r>
          </a:p>
          <a:p>
            <a:pPr marL="243204" indent="-230504" rtl="0">
              <a:spcBef>
                <a:spcPts val="1825"/>
              </a:spcBef>
              <a:buFont typeface="Arial MT"/>
              <a:buChar char="•"/>
              <a:tabLst>
                <a:tab pos="243204" algn="l"/>
                <a:tab pos="3897629" algn="l"/>
                <a:tab pos="4942205" algn="l"/>
                <a:tab pos="5337810" algn="l"/>
              </a:tabLst>
            </a:pPr>
            <a:r>
              <a:rPr sz="2400" kern="1200" spc="-5" dirty="0">
                <a:solidFill>
                  <a:prstClr val="black"/>
                </a:solidFill>
                <a:latin typeface="Palatino Linotype"/>
                <a:cs typeface="Palatino Linotype"/>
              </a:rPr>
              <a:t>Example</a:t>
            </a:r>
            <a:r>
              <a:rPr sz="2400" kern="1200" dirty="0">
                <a:solidFill>
                  <a:prstClr val="black"/>
                </a:solidFill>
                <a:latin typeface="Palatino Linotype"/>
                <a:cs typeface="Palatino Linotype"/>
              </a:rPr>
              <a:t> CFG:</a:t>
            </a:r>
            <a:r>
              <a:rPr sz="2400" kern="1200" spc="5" dirty="0">
                <a:solidFill>
                  <a:prstClr val="black"/>
                </a:solidFill>
                <a:latin typeface="Palatino Linotype"/>
                <a:cs typeface="Palatino Linotype"/>
              </a:rPr>
              <a:t> </a:t>
            </a:r>
            <a:r>
              <a:rPr sz="2400" kern="1200" dirty="0">
                <a:solidFill>
                  <a:srgbClr val="0432FF"/>
                </a:solidFill>
                <a:latin typeface="Cambria Math"/>
                <a:cs typeface="Cambria Math"/>
              </a:rPr>
              <a:t>𝐸</a:t>
            </a:r>
            <a:r>
              <a:rPr sz="2400" kern="1200" spc="229" dirty="0">
                <a:solidFill>
                  <a:srgbClr val="0432FF"/>
                </a:solidFill>
                <a:latin typeface="Cambria Math"/>
                <a:cs typeface="Cambria Math"/>
              </a:rPr>
              <a:t> </a:t>
            </a:r>
            <a:r>
              <a:rPr sz="2400" kern="1200" dirty="0">
                <a:solidFill>
                  <a:srgbClr val="0432FF"/>
                </a:solidFill>
                <a:latin typeface="Cambria Math"/>
                <a:cs typeface="Cambria Math"/>
              </a:rPr>
              <a:t>→</a:t>
            </a:r>
            <a:r>
              <a:rPr sz="2400" kern="1200" spc="140" dirty="0">
                <a:solidFill>
                  <a:srgbClr val="0432FF"/>
                </a:solidFill>
                <a:latin typeface="Cambria Math"/>
                <a:cs typeface="Cambria Math"/>
              </a:rPr>
              <a:t> </a:t>
            </a:r>
            <a:r>
              <a:rPr sz="2400" kern="1200" dirty="0">
                <a:solidFill>
                  <a:srgbClr val="0432FF"/>
                </a:solidFill>
                <a:latin typeface="Cambria Math"/>
                <a:cs typeface="Cambria Math"/>
              </a:rPr>
              <a:t>𝐸</a:t>
            </a:r>
            <a:r>
              <a:rPr sz="2400" kern="1200" spc="100" dirty="0">
                <a:solidFill>
                  <a:srgbClr val="0432FF"/>
                </a:solidFill>
                <a:latin typeface="Cambria Math"/>
                <a:cs typeface="Cambria Math"/>
              </a:rPr>
              <a:t> </a:t>
            </a:r>
            <a:r>
              <a:rPr sz="2400" kern="1200" dirty="0">
                <a:solidFill>
                  <a:srgbClr val="0432FF"/>
                </a:solidFill>
                <a:latin typeface="Cambria Math"/>
                <a:cs typeface="Cambria Math"/>
              </a:rPr>
              <a:t>+ 𝐸	𝐸</a:t>
            </a:r>
            <a:r>
              <a:rPr sz="2400" kern="1200" spc="100" dirty="0">
                <a:solidFill>
                  <a:srgbClr val="0432FF"/>
                </a:solidFill>
                <a:latin typeface="Cambria Math"/>
                <a:cs typeface="Cambria Math"/>
              </a:rPr>
              <a:t> </a:t>
            </a:r>
            <a:r>
              <a:rPr sz="2400" kern="1200" dirty="0">
                <a:solidFill>
                  <a:srgbClr val="0432FF"/>
                </a:solidFill>
                <a:latin typeface="Cambria Math"/>
                <a:cs typeface="Cambria Math"/>
              </a:rPr>
              <a:t>∗</a:t>
            </a:r>
            <a:r>
              <a:rPr sz="2400" kern="1200" spc="5" dirty="0">
                <a:solidFill>
                  <a:srgbClr val="0432FF"/>
                </a:solidFill>
                <a:latin typeface="Cambria Math"/>
                <a:cs typeface="Cambria Math"/>
              </a:rPr>
              <a:t> </a:t>
            </a:r>
            <a:r>
              <a:rPr sz="2400" kern="1200" dirty="0">
                <a:solidFill>
                  <a:srgbClr val="0432FF"/>
                </a:solidFill>
                <a:latin typeface="Cambria Math"/>
                <a:cs typeface="Cambria Math"/>
              </a:rPr>
              <a:t>𝐸	𝐸	|</a:t>
            </a:r>
            <a:r>
              <a:rPr sz="2400" kern="1200" spc="-45" dirty="0">
                <a:solidFill>
                  <a:srgbClr val="0432FF"/>
                </a:solidFill>
                <a:latin typeface="Cambria Math"/>
                <a:cs typeface="Cambria Math"/>
              </a:rPr>
              <a:t> </a:t>
            </a:r>
            <a:r>
              <a:rPr sz="2400" kern="1200" spc="-5" dirty="0">
                <a:solidFill>
                  <a:srgbClr val="0432FF"/>
                </a:solidFill>
                <a:latin typeface="Cambria Math"/>
                <a:cs typeface="Cambria Math"/>
              </a:rPr>
              <a:t>𝐢𝐝</a:t>
            </a:r>
            <a:endParaRPr sz="2400" kern="1200" dirty="0">
              <a:solidFill>
                <a:prstClr val="black"/>
              </a:solidFill>
              <a:latin typeface="Cambria Math"/>
              <a:cs typeface="Cambria Math"/>
            </a:endParaRPr>
          </a:p>
        </p:txBody>
      </p:sp>
      <p:sp>
        <p:nvSpPr>
          <p:cNvPr id="21" name="object 7">
            <a:extLst>
              <a:ext uri="{FF2B5EF4-FFF2-40B4-BE49-F238E27FC236}">
                <a16:creationId xmlns:a16="http://schemas.microsoft.com/office/drawing/2014/main" id="{7B3D2F50-1AF3-BA28-B0DB-0463FAB68433}"/>
              </a:ext>
            </a:extLst>
          </p:cNvPr>
          <p:cNvSpPr txBox="1"/>
          <p:nvPr/>
        </p:nvSpPr>
        <p:spPr>
          <a:xfrm>
            <a:off x="897280" y="3514852"/>
            <a:ext cx="1452880" cy="1842135"/>
          </a:xfrm>
          <a:prstGeom prst="rect">
            <a:avLst/>
          </a:prstGeom>
        </p:spPr>
        <p:txBody>
          <a:bodyPr vert="horz" wrap="square" lIns="0" tIns="125095" rIns="0" bIns="0" rtlCol="0">
            <a:spAutoFit/>
          </a:bodyPr>
          <a:lstStyle/>
          <a:p>
            <a:pPr marR="503555" algn="r" rtl="0">
              <a:spcBef>
                <a:spcPts val="985"/>
              </a:spcBef>
            </a:pPr>
            <a:r>
              <a:rPr sz="1600" kern="1200" dirty="0">
                <a:solidFill>
                  <a:prstClr val="black"/>
                </a:solidFill>
                <a:latin typeface="Cambria Math"/>
                <a:cs typeface="Cambria Math"/>
              </a:rPr>
              <a:t>𝐸</a:t>
            </a:r>
            <a:r>
              <a:rPr sz="1600" kern="1200" spc="12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65" dirty="0">
                <a:solidFill>
                  <a:prstClr val="black"/>
                </a:solidFill>
                <a:latin typeface="Cambria Math"/>
                <a:cs typeface="Cambria Math"/>
              </a:rPr>
              <a:t> </a:t>
            </a:r>
            <a:r>
              <a:rPr sz="1600" kern="1200" dirty="0">
                <a:solidFill>
                  <a:prstClr val="black"/>
                </a:solidFill>
                <a:latin typeface="Cambria Math"/>
                <a:cs typeface="Cambria Math"/>
              </a:rPr>
              <a:t>𝐸</a:t>
            </a:r>
            <a:r>
              <a:rPr sz="1600" kern="1200" spc="4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15" dirty="0">
                <a:solidFill>
                  <a:prstClr val="black"/>
                </a:solidFill>
                <a:latin typeface="Cambria Math"/>
                <a:cs typeface="Cambria Math"/>
              </a:rPr>
              <a:t> </a:t>
            </a:r>
            <a:r>
              <a:rPr sz="1600" kern="1200" dirty="0">
                <a:solidFill>
                  <a:prstClr val="black"/>
                </a:solidFill>
                <a:latin typeface="Cambria Math"/>
                <a:cs typeface="Cambria Math"/>
              </a:rPr>
              <a:t>𝐸</a:t>
            </a:r>
          </a:p>
          <a:p>
            <a:pPr marR="447675" algn="r" rtl="0">
              <a:spcBef>
                <a:spcPts val="890"/>
              </a:spcBef>
            </a:pPr>
            <a:r>
              <a:rPr sz="1600" kern="1200" dirty="0">
                <a:solidFill>
                  <a:prstClr val="black"/>
                </a:solidFill>
                <a:latin typeface="Cambria Math"/>
                <a:cs typeface="Cambria Math"/>
              </a:rPr>
              <a:t>⇒</a:t>
            </a:r>
            <a:r>
              <a:rPr sz="1600" kern="1200" spc="65"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2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15" dirty="0">
                <a:solidFill>
                  <a:prstClr val="black"/>
                </a:solidFill>
                <a:latin typeface="Cambria Math"/>
                <a:cs typeface="Cambria Math"/>
              </a:rPr>
              <a:t> </a:t>
            </a:r>
            <a:r>
              <a:rPr sz="1600" kern="1200" dirty="0">
                <a:solidFill>
                  <a:prstClr val="black"/>
                </a:solidFill>
                <a:latin typeface="Cambria Math"/>
                <a:cs typeface="Cambria Math"/>
              </a:rPr>
              <a:t>𝐸</a:t>
            </a:r>
          </a:p>
          <a:p>
            <a:pPr marL="203835" rtl="0">
              <a:spcBef>
                <a:spcPts val="960"/>
              </a:spcBef>
            </a:pPr>
            <a:r>
              <a:rPr sz="1600" kern="1200" dirty="0">
                <a:solidFill>
                  <a:prstClr val="black"/>
                </a:solidFill>
                <a:latin typeface="Cambria Math"/>
                <a:cs typeface="Cambria Math"/>
              </a:rPr>
              <a:t>⇒</a:t>
            </a:r>
            <a:r>
              <a:rPr sz="1600" kern="1200" spc="70"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2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 dirty="0">
                <a:solidFill>
                  <a:prstClr val="black"/>
                </a:solidFill>
                <a:latin typeface="Cambria Math"/>
                <a:cs typeface="Cambria Math"/>
              </a:rPr>
              <a:t> </a:t>
            </a:r>
            <a:r>
              <a:rPr sz="1600" kern="1200" dirty="0">
                <a:solidFill>
                  <a:prstClr val="black"/>
                </a:solidFill>
                <a:latin typeface="Cambria Math"/>
                <a:cs typeface="Cambria Math"/>
              </a:rPr>
              <a:t>𝐸</a:t>
            </a:r>
            <a:r>
              <a:rPr sz="1600" kern="1200" spc="4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 dirty="0">
                <a:solidFill>
                  <a:prstClr val="black"/>
                </a:solidFill>
                <a:latin typeface="Cambria Math"/>
                <a:cs typeface="Cambria Math"/>
              </a:rPr>
              <a:t> </a:t>
            </a:r>
            <a:r>
              <a:rPr sz="1600" kern="1200" dirty="0">
                <a:solidFill>
                  <a:prstClr val="black"/>
                </a:solidFill>
                <a:latin typeface="Cambria Math"/>
                <a:cs typeface="Cambria Math"/>
              </a:rPr>
              <a:t>𝐸</a:t>
            </a:r>
          </a:p>
          <a:p>
            <a:pPr marL="203835" rtl="0">
              <a:spcBef>
                <a:spcPts val="985"/>
              </a:spcBef>
            </a:pPr>
            <a:r>
              <a:rPr sz="1600" kern="1200" dirty="0">
                <a:solidFill>
                  <a:prstClr val="black"/>
                </a:solidFill>
                <a:latin typeface="Cambria Math"/>
                <a:cs typeface="Cambria Math"/>
              </a:rPr>
              <a:t>⇒</a:t>
            </a:r>
            <a:r>
              <a:rPr sz="1600" kern="1200" spc="70"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1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10"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2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 dirty="0">
                <a:solidFill>
                  <a:prstClr val="black"/>
                </a:solidFill>
                <a:latin typeface="Cambria Math"/>
                <a:cs typeface="Cambria Math"/>
              </a:rPr>
              <a:t> </a:t>
            </a:r>
            <a:r>
              <a:rPr sz="1600" kern="1200" dirty="0">
                <a:solidFill>
                  <a:prstClr val="black"/>
                </a:solidFill>
                <a:latin typeface="Cambria Math"/>
                <a:cs typeface="Cambria Math"/>
              </a:rPr>
              <a:t>𝐸</a:t>
            </a:r>
          </a:p>
          <a:p>
            <a:pPr marL="203835" rtl="0">
              <a:spcBef>
                <a:spcPts val="985"/>
              </a:spcBef>
            </a:pPr>
            <a:r>
              <a:rPr sz="1600" kern="1200" dirty="0">
                <a:solidFill>
                  <a:prstClr val="black"/>
                </a:solidFill>
                <a:latin typeface="Cambria Math"/>
                <a:cs typeface="Cambria Math"/>
              </a:rPr>
              <a:t>⇒</a:t>
            </a:r>
            <a:r>
              <a:rPr sz="1600" kern="1200" spc="65" dirty="0">
                <a:solidFill>
                  <a:prstClr val="black"/>
                </a:solidFill>
                <a:latin typeface="Cambria Math"/>
                <a:cs typeface="Cambria Math"/>
              </a:rPr>
              <a:t> </a:t>
            </a:r>
            <a:r>
              <a:rPr sz="1600" kern="1200" spc="-5" dirty="0">
                <a:solidFill>
                  <a:srgbClr val="FF0000"/>
                </a:solidFill>
                <a:latin typeface="Cambria Math"/>
                <a:cs typeface="Cambria Math"/>
              </a:rPr>
              <a:t>𝐢𝐝</a:t>
            </a:r>
            <a:r>
              <a:rPr sz="1600" kern="1200" spc="-20" dirty="0">
                <a:solidFill>
                  <a:srgbClr val="FF0000"/>
                </a:solidFill>
                <a:latin typeface="Cambria Math"/>
                <a:cs typeface="Cambria Math"/>
              </a:rPr>
              <a:t> </a:t>
            </a:r>
            <a:r>
              <a:rPr sz="1600" kern="1200" dirty="0">
                <a:solidFill>
                  <a:srgbClr val="FF0000"/>
                </a:solidFill>
                <a:latin typeface="Cambria Math"/>
                <a:cs typeface="Cambria Math"/>
              </a:rPr>
              <a:t>+</a:t>
            </a:r>
            <a:r>
              <a:rPr sz="1600" kern="1200" spc="-10" dirty="0">
                <a:solidFill>
                  <a:srgbClr val="FF0000"/>
                </a:solidFill>
                <a:latin typeface="Cambria Math"/>
                <a:cs typeface="Cambria Math"/>
              </a:rPr>
              <a:t> </a:t>
            </a:r>
            <a:r>
              <a:rPr sz="1600" kern="1200" spc="-5" dirty="0">
                <a:solidFill>
                  <a:srgbClr val="FF0000"/>
                </a:solidFill>
                <a:latin typeface="Cambria Math"/>
                <a:cs typeface="Cambria Math"/>
              </a:rPr>
              <a:t>𝐢𝐝</a:t>
            </a:r>
            <a:r>
              <a:rPr sz="1600" kern="1200" spc="-20" dirty="0">
                <a:solidFill>
                  <a:srgbClr val="FF0000"/>
                </a:solidFill>
                <a:latin typeface="Cambria Math"/>
                <a:cs typeface="Cambria Math"/>
              </a:rPr>
              <a:t> </a:t>
            </a:r>
            <a:r>
              <a:rPr sz="1600" kern="1200" dirty="0">
                <a:solidFill>
                  <a:srgbClr val="FF0000"/>
                </a:solidFill>
                <a:latin typeface="Cambria Math"/>
                <a:cs typeface="Cambria Math"/>
              </a:rPr>
              <a:t>∗</a:t>
            </a:r>
            <a:r>
              <a:rPr sz="1600" kern="1200" spc="-10" dirty="0">
                <a:solidFill>
                  <a:srgbClr val="FF0000"/>
                </a:solidFill>
                <a:latin typeface="Cambria Math"/>
                <a:cs typeface="Cambria Math"/>
              </a:rPr>
              <a:t> </a:t>
            </a:r>
            <a:r>
              <a:rPr sz="1600" kern="1200" spc="-5" dirty="0">
                <a:solidFill>
                  <a:srgbClr val="FF0000"/>
                </a:solidFill>
                <a:latin typeface="Cambria Math"/>
                <a:cs typeface="Cambria Math"/>
              </a:rPr>
              <a:t>𝐢𝐝</a:t>
            </a:r>
            <a:endParaRPr sz="1600" kern="1200" dirty="0">
              <a:solidFill>
                <a:prstClr val="black"/>
              </a:solidFill>
              <a:latin typeface="Cambria Math"/>
              <a:cs typeface="Cambria Math"/>
            </a:endParaRPr>
          </a:p>
        </p:txBody>
      </p:sp>
      <p:pic>
        <p:nvPicPr>
          <p:cNvPr id="22" name="object 8">
            <a:extLst>
              <a:ext uri="{FF2B5EF4-FFF2-40B4-BE49-F238E27FC236}">
                <a16:creationId xmlns:a16="http://schemas.microsoft.com/office/drawing/2014/main" id="{6CC4E153-0BD6-4549-BEF8-742729C321EB}"/>
              </a:ext>
            </a:extLst>
          </p:cNvPr>
          <p:cNvPicPr/>
          <p:nvPr/>
        </p:nvPicPr>
        <p:blipFill>
          <a:blip r:embed="rId3" cstate="print"/>
          <a:stretch>
            <a:fillRect/>
          </a:stretch>
        </p:blipFill>
        <p:spPr>
          <a:xfrm>
            <a:off x="2639323" y="3750624"/>
            <a:ext cx="1701486" cy="1397309"/>
          </a:xfrm>
          <a:prstGeom prst="rect">
            <a:avLst/>
          </a:prstGeom>
        </p:spPr>
      </p:pic>
      <p:sp>
        <p:nvSpPr>
          <p:cNvPr id="23" name="object 9">
            <a:extLst>
              <a:ext uri="{FF2B5EF4-FFF2-40B4-BE49-F238E27FC236}">
                <a16:creationId xmlns:a16="http://schemas.microsoft.com/office/drawing/2014/main" id="{4AFC3A8E-12EE-074E-CD95-130A9C39D799}"/>
              </a:ext>
            </a:extLst>
          </p:cNvPr>
          <p:cNvSpPr txBox="1"/>
          <p:nvPr/>
        </p:nvSpPr>
        <p:spPr>
          <a:xfrm>
            <a:off x="4989545" y="3514851"/>
            <a:ext cx="1452880" cy="1838960"/>
          </a:xfrm>
          <a:prstGeom prst="rect">
            <a:avLst/>
          </a:prstGeom>
        </p:spPr>
        <p:txBody>
          <a:bodyPr vert="horz" wrap="square" lIns="0" tIns="122555" rIns="0" bIns="0" rtlCol="0">
            <a:spAutoFit/>
          </a:bodyPr>
          <a:lstStyle/>
          <a:p>
            <a:pPr marL="12700" rtl="0">
              <a:spcBef>
                <a:spcPts val="965"/>
              </a:spcBef>
            </a:pPr>
            <a:r>
              <a:rPr sz="1600" kern="1200" dirty="0">
                <a:solidFill>
                  <a:prstClr val="black"/>
                </a:solidFill>
                <a:latin typeface="Cambria Math"/>
                <a:cs typeface="Cambria Math"/>
              </a:rPr>
              <a:t>𝐸</a:t>
            </a:r>
            <a:r>
              <a:rPr sz="1600" kern="1200" spc="13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70" dirty="0">
                <a:solidFill>
                  <a:prstClr val="black"/>
                </a:solidFill>
                <a:latin typeface="Cambria Math"/>
                <a:cs typeface="Cambria Math"/>
              </a:rPr>
              <a:t> </a:t>
            </a:r>
            <a:r>
              <a:rPr sz="1600" kern="1200" dirty="0">
                <a:solidFill>
                  <a:prstClr val="black"/>
                </a:solidFill>
                <a:latin typeface="Cambria Math"/>
                <a:cs typeface="Cambria Math"/>
              </a:rPr>
              <a:t>𝐸</a:t>
            </a:r>
            <a:r>
              <a:rPr sz="1600" kern="1200" spc="4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10" dirty="0">
                <a:solidFill>
                  <a:prstClr val="black"/>
                </a:solidFill>
                <a:latin typeface="Cambria Math"/>
                <a:cs typeface="Cambria Math"/>
              </a:rPr>
              <a:t> </a:t>
            </a:r>
            <a:r>
              <a:rPr sz="1600" kern="1200" dirty="0">
                <a:solidFill>
                  <a:prstClr val="black"/>
                </a:solidFill>
                <a:latin typeface="Cambria Math"/>
                <a:cs typeface="Cambria Math"/>
              </a:rPr>
              <a:t>𝐸</a:t>
            </a:r>
            <a:endParaRPr sz="1600" kern="1200">
              <a:solidFill>
                <a:prstClr val="black"/>
              </a:solidFill>
              <a:latin typeface="Cambria Math"/>
              <a:cs typeface="Cambria Math"/>
            </a:endParaRPr>
          </a:p>
          <a:p>
            <a:pPr marL="203835" rtl="0">
              <a:spcBef>
                <a:spcPts val="860"/>
              </a:spcBef>
            </a:pPr>
            <a:r>
              <a:rPr sz="1600" kern="1200" dirty="0">
                <a:solidFill>
                  <a:prstClr val="black"/>
                </a:solidFill>
                <a:latin typeface="Cambria Math"/>
                <a:cs typeface="Cambria Math"/>
              </a:rPr>
              <a:t>⇒</a:t>
            </a:r>
            <a:r>
              <a:rPr sz="1600" kern="1200" spc="70" dirty="0">
                <a:solidFill>
                  <a:prstClr val="black"/>
                </a:solidFill>
                <a:latin typeface="Cambria Math"/>
                <a:cs typeface="Cambria Math"/>
              </a:rPr>
              <a:t> </a:t>
            </a:r>
            <a:r>
              <a:rPr sz="1600" kern="1200" dirty="0">
                <a:solidFill>
                  <a:prstClr val="black"/>
                </a:solidFill>
                <a:latin typeface="Cambria Math"/>
                <a:cs typeface="Cambria Math"/>
              </a:rPr>
              <a:t>𝐸</a:t>
            </a:r>
            <a:r>
              <a:rPr sz="1600" kern="1200" spc="5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10" dirty="0">
                <a:solidFill>
                  <a:prstClr val="black"/>
                </a:solidFill>
                <a:latin typeface="Cambria Math"/>
                <a:cs typeface="Cambria Math"/>
              </a:rPr>
              <a:t> </a:t>
            </a:r>
            <a:r>
              <a:rPr sz="1600" kern="1200" dirty="0">
                <a:solidFill>
                  <a:prstClr val="black"/>
                </a:solidFill>
                <a:latin typeface="Cambria Math"/>
                <a:cs typeface="Cambria Math"/>
              </a:rPr>
              <a:t>𝐸</a:t>
            </a:r>
            <a:r>
              <a:rPr sz="1600" kern="1200" spc="5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10" dirty="0">
                <a:solidFill>
                  <a:prstClr val="black"/>
                </a:solidFill>
                <a:latin typeface="Cambria Math"/>
                <a:cs typeface="Cambria Math"/>
              </a:rPr>
              <a:t> </a:t>
            </a:r>
            <a:r>
              <a:rPr sz="1600" kern="1200" dirty="0">
                <a:solidFill>
                  <a:prstClr val="black"/>
                </a:solidFill>
                <a:latin typeface="Cambria Math"/>
                <a:cs typeface="Cambria Math"/>
              </a:rPr>
              <a:t>𝐸</a:t>
            </a:r>
            <a:endParaRPr sz="1600" kern="1200">
              <a:solidFill>
                <a:prstClr val="black"/>
              </a:solidFill>
              <a:latin typeface="Cambria Math"/>
              <a:cs typeface="Cambria Math"/>
            </a:endParaRPr>
          </a:p>
          <a:p>
            <a:pPr marL="203835" rtl="0">
              <a:spcBef>
                <a:spcPts val="985"/>
              </a:spcBef>
            </a:pPr>
            <a:r>
              <a:rPr sz="1600" kern="1200" dirty="0">
                <a:solidFill>
                  <a:prstClr val="black"/>
                </a:solidFill>
                <a:latin typeface="Cambria Math"/>
                <a:cs typeface="Cambria Math"/>
              </a:rPr>
              <a:t>⇒</a:t>
            </a:r>
            <a:r>
              <a:rPr sz="1600" kern="1200" spc="70"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2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 dirty="0">
                <a:solidFill>
                  <a:prstClr val="black"/>
                </a:solidFill>
                <a:latin typeface="Cambria Math"/>
                <a:cs typeface="Cambria Math"/>
              </a:rPr>
              <a:t> </a:t>
            </a:r>
            <a:r>
              <a:rPr sz="1600" kern="1200" dirty="0">
                <a:solidFill>
                  <a:prstClr val="black"/>
                </a:solidFill>
                <a:latin typeface="Cambria Math"/>
                <a:cs typeface="Cambria Math"/>
              </a:rPr>
              <a:t>𝐸</a:t>
            </a:r>
            <a:r>
              <a:rPr sz="1600" kern="1200" spc="4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 dirty="0">
                <a:solidFill>
                  <a:prstClr val="black"/>
                </a:solidFill>
                <a:latin typeface="Cambria Math"/>
                <a:cs typeface="Cambria Math"/>
              </a:rPr>
              <a:t> </a:t>
            </a:r>
            <a:r>
              <a:rPr sz="1600" kern="1200" dirty="0">
                <a:solidFill>
                  <a:prstClr val="black"/>
                </a:solidFill>
                <a:latin typeface="Cambria Math"/>
                <a:cs typeface="Cambria Math"/>
              </a:rPr>
              <a:t>𝐸</a:t>
            </a:r>
            <a:endParaRPr sz="1600" kern="1200">
              <a:solidFill>
                <a:prstClr val="black"/>
              </a:solidFill>
              <a:latin typeface="Cambria Math"/>
              <a:cs typeface="Cambria Math"/>
            </a:endParaRPr>
          </a:p>
          <a:p>
            <a:pPr marL="203835" rtl="0">
              <a:spcBef>
                <a:spcPts val="985"/>
              </a:spcBef>
            </a:pPr>
            <a:r>
              <a:rPr sz="1600" kern="1200" dirty="0">
                <a:solidFill>
                  <a:prstClr val="black"/>
                </a:solidFill>
                <a:latin typeface="Cambria Math"/>
                <a:cs typeface="Cambria Math"/>
              </a:rPr>
              <a:t>⇒</a:t>
            </a:r>
            <a:r>
              <a:rPr sz="1600" kern="1200" spc="70"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1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10"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2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 dirty="0">
                <a:solidFill>
                  <a:prstClr val="black"/>
                </a:solidFill>
                <a:latin typeface="Cambria Math"/>
                <a:cs typeface="Cambria Math"/>
              </a:rPr>
              <a:t> </a:t>
            </a:r>
            <a:r>
              <a:rPr sz="1600" kern="1200" dirty="0">
                <a:solidFill>
                  <a:prstClr val="black"/>
                </a:solidFill>
                <a:latin typeface="Cambria Math"/>
                <a:cs typeface="Cambria Math"/>
              </a:rPr>
              <a:t>𝐸</a:t>
            </a:r>
            <a:endParaRPr sz="1600" kern="1200">
              <a:solidFill>
                <a:prstClr val="black"/>
              </a:solidFill>
              <a:latin typeface="Cambria Math"/>
              <a:cs typeface="Cambria Math"/>
            </a:endParaRPr>
          </a:p>
          <a:p>
            <a:pPr marL="203835" rtl="0">
              <a:spcBef>
                <a:spcPts val="985"/>
              </a:spcBef>
            </a:pPr>
            <a:r>
              <a:rPr sz="1600" kern="1200" dirty="0">
                <a:solidFill>
                  <a:prstClr val="black"/>
                </a:solidFill>
                <a:latin typeface="Cambria Math"/>
                <a:cs typeface="Cambria Math"/>
              </a:rPr>
              <a:t>⇒</a:t>
            </a:r>
            <a:r>
              <a:rPr sz="1600" kern="1200" spc="65" dirty="0">
                <a:solidFill>
                  <a:prstClr val="black"/>
                </a:solidFill>
                <a:latin typeface="Cambria Math"/>
                <a:cs typeface="Cambria Math"/>
              </a:rPr>
              <a:t> </a:t>
            </a:r>
            <a:r>
              <a:rPr sz="1600" kern="1200" spc="-5" dirty="0">
                <a:solidFill>
                  <a:srgbClr val="FF0000"/>
                </a:solidFill>
                <a:latin typeface="Cambria Math"/>
                <a:cs typeface="Cambria Math"/>
              </a:rPr>
              <a:t>𝐢𝐝</a:t>
            </a:r>
            <a:r>
              <a:rPr sz="1600" kern="1200" spc="-20" dirty="0">
                <a:solidFill>
                  <a:srgbClr val="FF0000"/>
                </a:solidFill>
                <a:latin typeface="Cambria Math"/>
                <a:cs typeface="Cambria Math"/>
              </a:rPr>
              <a:t> </a:t>
            </a:r>
            <a:r>
              <a:rPr sz="1600" kern="1200" dirty="0">
                <a:solidFill>
                  <a:srgbClr val="FF0000"/>
                </a:solidFill>
                <a:latin typeface="Cambria Math"/>
                <a:cs typeface="Cambria Math"/>
              </a:rPr>
              <a:t>+</a:t>
            </a:r>
            <a:r>
              <a:rPr sz="1600" kern="1200" spc="-10" dirty="0">
                <a:solidFill>
                  <a:srgbClr val="FF0000"/>
                </a:solidFill>
                <a:latin typeface="Cambria Math"/>
                <a:cs typeface="Cambria Math"/>
              </a:rPr>
              <a:t> </a:t>
            </a:r>
            <a:r>
              <a:rPr sz="1600" kern="1200" spc="-5" dirty="0">
                <a:solidFill>
                  <a:srgbClr val="FF0000"/>
                </a:solidFill>
                <a:latin typeface="Cambria Math"/>
                <a:cs typeface="Cambria Math"/>
              </a:rPr>
              <a:t>𝐢𝐝</a:t>
            </a:r>
            <a:r>
              <a:rPr sz="1600" kern="1200" spc="-20" dirty="0">
                <a:solidFill>
                  <a:srgbClr val="FF0000"/>
                </a:solidFill>
                <a:latin typeface="Cambria Math"/>
                <a:cs typeface="Cambria Math"/>
              </a:rPr>
              <a:t> </a:t>
            </a:r>
            <a:r>
              <a:rPr sz="1600" kern="1200" dirty="0">
                <a:solidFill>
                  <a:srgbClr val="FF0000"/>
                </a:solidFill>
                <a:latin typeface="Cambria Math"/>
                <a:cs typeface="Cambria Math"/>
              </a:rPr>
              <a:t>∗</a:t>
            </a:r>
            <a:r>
              <a:rPr sz="1600" kern="1200" spc="-10" dirty="0">
                <a:solidFill>
                  <a:srgbClr val="FF0000"/>
                </a:solidFill>
                <a:latin typeface="Cambria Math"/>
                <a:cs typeface="Cambria Math"/>
              </a:rPr>
              <a:t> </a:t>
            </a:r>
            <a:r>
              <a:rPr sz="1600" kern="1200" spc="-5" dirty="0">
                <a:solidFill>
                  <a:srgbClr val="FF0000"/>
                </a:solidFill>
                <a:latin typeface="Cambria Math"/>
                <a:cs typeface="Cambria Math"/>
              </a:rPr>
              <a:t>𝐢𝐝</a:t>
            </a:r>
            <a:endParaRPr sz="1600" kern="1200">
              <a:solidFill>
                <a:prstClr val="black"/>
              </a:solidFill>
              <a:latin typeface="Cambria Math"/>
              <a:cs typeface="Cambria Math"/>
            </a:endParaRPr>
          </a:p>
        </p:txBody>
      </p:sp>
      <p:pic>
        <p:nvPicPr>
          <p:cNvPr id="24" name="object 10">
            <a:extLst>
              <a:ext uri="{FF2B5EF4-FFF2-40B4-BE49-F238E27FC236}">
                <a16:creationId xmlns:a16="http://schemas.microsoft.com/office/drawing/2014/main" id="{E99D372D-2729-A172-858E-A72536252CE5}"/>
              </a:ext>
            </a:extLst>
          </p:cNvPr>
          <p:cNvPicPr/>
          <p:nvPr/>
        </p:nvPicPr>
        <p:blipFill>
          <a:blip r:embed="rId4" cstate="print"/>
          <a:stretch>
            <a:fillRect/>
          </a:stretch>
        </p:blipFill>
        <p:spPr>
          <a:xfrm>
            <a:off x="6778764" y="3756721"/>
            <a:ext cx="1700477" cy="1376915"/>
          </a:xfrm>
          <a:prstGeom prst="rect">
            <a:avLst/>
          </a:prstGeom>
        </p:spPr>
      </p:pic>
      <p:sp>
        <p:nvSpPr>
          <p:cNvPr id="25" name="object 11">
            <a:extLst>
              <a:ext uri="{FF2B5EF4-FFF2-40B4-BE49-F238E27FC236}">
                <a16:creationId xmlns:a16="http://schemas.microsoft.com/office/drawing/2014/main" id="{9BB6B774-04EE-DF4B-CBA4-52772618981C}"/>
              </a:ext>
            </a:extLst>
          </p:cNvPr>
          <p:cNvSpPr txBox="1"/>
          <p:nvPr/>
        </p:nvSpPr>
        <p:spPr>
          <a:xfrm>
            <a:off x="3029943" y="5741923"/>
            <a:ext cx="3053080" cy="299720"/>
          </a:xfrm>
          <a:prstGeom prst="rect">
            <a:avLst/>
          </a:prstGeom>
        </p:spPr>
        <p:txBody>
          <a:bodyPr vert="horz" wrap="square" lIns="0" tIns="12700" rIns="0" bIns="0" rtlCol="0">
            <a:spAutoFit/>
          </a:bodyPr>
          <a:lstStyle/>
          <a:p>
            <a:pPr marL="12700" rtl="0">
              <a:spcBef>
                <a:spcPts val="100"/>
              </a:spcBef>
            </a:pPr>
            <a:r>
              <a:rPr b="1" kern="1200" spc="-5" dirty="0">
                <a:solidFill>
                  <a:srgbClr val="FF0000"/>
                </a:solidFill>
                <a:latin typeface="Palatino Linotype"/>
                <a:cs typeface="Palatino Linotype"/>
              </a:rPr>
              <a:t>Both are leftmost derivations</a:t>
            </a:r>
            <a:endParaRPr kern="1200">
              <a:solidFill>
                <a:prstClr val="black"/>
              </a:solidFill>
              <a:latin typeface="Palatino Linotype"/>
              <a:cs typeface="Palatino Linotype"/>
            </a:endParaRPr>
          </a:p>
        </p:txBody>
      </p:sp>
      <p:sp>
        <p:nvSpPr>
          <p:cNvPr id="26" name="object 12">
            <a:extLst>
              <a:ext uri="{FF2B5EF4-FFF2-40B4-BE49-F238E27FC236}">
                <a16:creationId xmlns:a16="http://schemas.microsoft.com/office/drawing/2014/main" id="{BBB0ED49-A420-E351-1312-7FAF9C461608}"/>
              </a:ext>
            </a:extLst>
          </p:cNvPr>
          <p:cNvSpPr/>
          <p:nvPr/>
        </p:nvSpPr>
        <p:spPr>
          <a:xfrm>
            <a:off x="4607212" y="3604661"/>
            <a:ext cx="0" cy="1802130"/>
          </a:xfrm>
          <a:custGeom>
            <a:avLst/>
            <a:gdLst/>
            <a:ahLst/>
            <a:cxnLst/>
            <a:rect l="l" t="t" r="r" b="b"/>
            <a:pathLst>
              <a:path h="1802129">
                <a:moveTo>
                  <a:pt x="0" y="0"/>
                </a:moveTo>
                <a:lnTo>
                  <a:pt x="1" y="1801742"/>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544598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20</a:t>
            </a:fld>
            <a:endParaRPr lang="en-US"/>
          </a:p>
        </p:txBody>
      </p:sp>
      <p:sp>
        <p:nvSpPr>
          <p:cNvPr id="10" name="object 2">
            <a:extLst>
              <a:ext uri="{FF2B5EF4-FFF2-40B4-BE49-F238E27FC236}">
                <a16:creationId xmlns:a16="http://schemas.microsoft.com/office/drawing/2014/main" id="{80A7D53C-6837-4ACD-742F-1662EFEEA334}"/>
              </a:ext>
            </a:extLst>
          </p:cNvPr>
          <p:cNvSpPr txBox="1">
            <a:spLocks/>
          </p:cNvSpPr>
          <p:nvPr/>
        </p:nvSpPr>
        <p:spPr>
          <a:xfrm>
            <a:off x="707390" y="524763"/>
            <a:ext cx="59455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Ambiguity</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二义性</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r>
              <a:rPr kumimoji="0" lang="zh-CN" altLang="en-US" sz="4000" b="1" i="0" u="none" strike="noStrike" kern="0" cap="none" spc="-35" normalizeH="0" baseline="0" noProof="0">
                <a:ln>
                  <a:noFill/>
                </a:ln>
                <a:solidFill>
                  <a:sysClr val="windowText" lastClr="000000"/>
                </a:solidFill>
                <a:effectLst/>
                <a:uLnTx/>
                <a:uFillTx/>
                <a:latin typeface="Palatino Linotype"/>
                <a:ea typeface="宋体" panose="02010600030101010101" pitchFamily="2" charset="-122"/>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Cont.</a:t>
            </a:r>
            <a:endParaRPr kumimoji="0" lang="en-US" sz="4000" b="1" i="0" u="none" strike="noStrike" kern="0" cap="none" spc="0" normalizeH="0" baseline="0" noProof="0">
              <a:ln>
                <a:noFill/>
              </a:ln>
              <a:solidFill>
                <a:sysClr val="windowText" lastClr="000000"/>
              </a:solidFill>
              <a:effectLst/>
              <a:uLnTx/>
              <a:uFillTx/>
              <a:latin typeface="SimSun"/>
              <a:ea typeface="+mj-ea"/>
              <a:cs typeface="SimSun"/>
            </a:endParaRPr>
          </a:p>
        </p:txBody>
      </p:sp>
      <p:sp>
        <p:nvSpPr>
          <p:cNvPr id="11" name="object 3">
            <a:extLst>
              <a:ext uri="{FF2B5EF4-FFF2-40B4-BE49-F238E27FC236}">
                <a16:creationId xmlns:a16="http://schemas.microsoft.com/office/drawing/2014/main" id="{0DA39078-9DA6-3312-7FD5-2D89351749F4}"/>
              </a:ext>
            </a:extLst>
          </p:cNvPr>
          <p:cNvSpPr/>
          <p:nvPr/>
        </p:nvSpPr>
        <p:spPr>
          <a:xfrm>
            <a:off x="4159467" y="3172465"/>
            <a:ext cx="19685" cy="231140"/>
          </a:xfrm>
          <a:custGeom>
            <a:avLst/>
            <a:gdLst/>
            <a:ahLst/>
            <a:cxnLst/>
            <a:rect l="l" t="t" r="r" b="b"/>
            <a:pathLst>
              <a:path w="19685" h="231139">
                <a:moveTo>
                  <a:pt x="19099" y="0"/>
                </a:moveTo>
                <a:lnTo>
                  <a:pt x="0" y="0"/>
                </a:lnTo>
                <a:lnTo>
                  <a:pt x="0" y="230807"/>
                </a:lnTo>
                <a:lnTo>
                  <a:pt x="19099" y="230807"/>
                </a:lnTo>
                <a:lnTo>
                  <a:pt x="1909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2" name="object 4">
            <a:extLst>
              <a:ext uri="{FF2B5EF4-FFF2-40B4-BE49-F238E27FC236}">
                <a16:creationId xmlns:a16="http://schemas.microsoft.com/office/drawing/2014/main" id="{881A0DFA-E2D0-28DF-1D11-C69069E9F4DD}"/>
              </a:ext>
            </a:extLst>
          </p:cNvPr>
          <p:cNvSpPr/>
          <p:nvPr/>
        </p:nvSpPr>
        <p:spPr>
          <a:xfrm>
            <a:off x="3395498" y="3172465"/>
            <a:ext cx="19685" cy="231140"/>
          </a:xfrm>
          <a:custGeom>
            <a:avLst/>
            <a:gdLst/>
            <a:ahLst/>
            <a:cxnLst/>
            <a:rect l="l" t="t" r="r" b="b"/>
            <a:pathLst>
              <a:path w="19685" h="231139">
                <a:moveTo>
                  <a:pt x="19099" y="0"/>
                </a:moveTo>
                <a:lnTo>
                  <a:pt x="0" y="0"/>
                </a:lnTo>
                <a:lnTo>
                  <a:pt x="0" y="230807"/>
                </a:lnTo>
                <a:lnTo>
                  <a:pt x="19099" y="230807"/>
                </a:lnTo>
                <a:lnTo>
                  <a:pt x="1909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3" name="object 5">
            <a:extLst>
              <a:ext uri="{FF2B5EF4-FFF2-40B4-BE49-F238E27FC236}">
                <a16:creationId xmlns:a16="http://schemas.microsoft.com/office/drawing/2014/main" id="{94DD4F06-E27B-5252-D0FA-257698FA685F}"/>
              </a:ext>
            </a:extLst>
          </p:cNvPr>
          <p:cNvSpPr/>
          <p:nvPr/>
        </p:nvSpPr>
        <p:spPr>
          <a:xfrm>
            <a:off x="4287111" y="3170221"/>
            <a:ext cx="335280" cy="235585"/>
          </a:xfrm>
          <a:custGeom>
            <a:avLst/>
            <a:gdLst/>
            <a:ahLst/>
            <a:cxnLst/>
            <a:rect l="l" t="t" r="r" b="b"/>
            <a:pathLst>
              <a:path w="335279" h="235585">
                <a:moveTo>
                  <a:pt x="259802" y="0"/>
                </a:moveTo>
                <a:lnTo>
                  <a:pt x="256454" y="9549"/>
                </a:lnTo>
                <a:lnTo>
                  <a:pt x="270073" y="15459"/>
                </a:lnTo>
                <a:lnTo>
                  <a:pt x="281786" y="23641"/>
                </a:lnTo>
                <a:lnTo>
                  <a:pt x="305567" y="61565"/>
                </a:lnTo>
                <a:lnTo>
                  <a:pt x="313381" y="116457"/>
                </a:lnTo>
                <a:lnTo>
                  <a:pt x="312509" y="137208"/>
                </a:lnTo>
                <a:lnTo>
                  <a:pt x="299429" y="188018"/>
                </a:lnTo>
                <a:lnTo>
                  <a:pt x="270233" y="219784"/>
                </a:lnTo>
                <a:lnTo>
                  <a:pt x="256827" y="225722"/>
                </a:lnTo>
                <a:lnTo>
                  <a:pt x="259802" y="235272"/>
                </a:lnTo>
                <a:lnTo>
                  <a:pt x="304753" y="208563"/>
                </a:lnTo>
                <a:lnTo>
                  <a:pt x="330000" y="159260"/>
                </a:lnTo>
                <a:lnTo>
                  <a:pt x="334838" y="117697"/>
                </a:lnTo>
                <a:lnTo>
                  <a:pt x="333624" y="96129"/>
                </a:lnTo>
                <a:lnTo>
                  <a:pt x="323919" y="57898"/>
                </a:lnTo>
                <a:lnTo>
                  <a:pt x="291816" y="15083"/>
                </a:lnTo>
                <a:lnTo>
                  <a:pt x="276860" y="6158"/>
                </a:lnTo>
                <a:lnTo>
                  <a:pt x="259802" y="0"/>
                </a:lnTo>
                <a:close/>
              </a:path>
              <a:path w="335279" h="235585">
                <a:moveTo>
                  <a:pt x="75034" y="0"/>
                </a:moveTo>
                <a:lnTo>
                  <a:pt x="30164" y="26776"/>
                </a:lnTo>
                <a:lnTo>
                  <a:pt x="4852" y="76196"/>
                </a:lnTo>
                <a:lnTo>
                  <a:pt x="0" y="117697"/>
                </a:lnTo>
                <a:lnTo>
                  <a:pt x="1209" y="139312"/>
                </a:lnTo>
                <a:lnTo>
                  <a:pt x="10882" y="177542"/>
                </a:lnTo>
                <a:lnTo>
                  <a:pt x="42942" y="220218"/>
                </a:lnTo>
                <a:lnTo>
                  <a:pt x="75034" y="235272"/>
                </a:lnTo>
                <a:lnTo>
                  <a:pt x="78011" y="225722"/>
                </a:lnTo>
                <a:lnTo>
                  <a:pt x="64604" y="219784"/>
                </a:lnTo>
                <a:lnTo>
                  <a:pt x="53035" y="211521"/>
                </a:lnTo>
                <a:lnTo>
                  <a:pt x="29304" y="172988"/>
                </a:lnTo>
                <a:lnTo>
                  <a:pt x="21455" y="116457"/>
                </a:lnTo>
                <a:lnTo>
                  <a:pt x="22327" y="96385"/>
                </a:lnTo>
                <a:lnTo>
                  <a:pt x="35408" y="46818"/>
                </a:lnTo>
                <a:lnTo>
                  <a:pt x="64813" y="15459"/>
                </a:lnTo>
                <a:lnTo>
                  <a:pt x="78383" y="9549"/>
                </a:lnTo>
                <a:lnTo>
                  <a:pt x="75034"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4" name="object 6">
            <a:extLst>
              <a:ext uri="{FF2B5EF4-FFF2-40B4-BE49-F238E27FC236}">
                <a16:creationId xmlns:a16="http://schemas.microsoft.com/office/drawing/2014/main" id="{F27436F8-0CAE-E26D-E937-0161B700784A}"/>
              </a:ext>
            </a:extLst>
          </p:cNvPr>
          <p:cNvSpPr txBox="1"/>
          <p:nvPr/>
        </p:nvSpPr>
        <p:spPr>
          <a:xfrm>
            <a:off x="707390" y="1588008"/>
            <a:ext cx="7640955" cy="3995420"/>
          </a:xfrm>
          <a:prstGeom prst="rect">
            <a:avLst/>
          </a:prstGeom>
        </p:spPr>
        <p:txBody>
          <a:bodyPr vert="horz" wrap="square" lIns="0" tIns="12700" rIns="0" bIns="0" rtlCol="0">
            <a:spAutoFit/>
          </a:bodyPr>
          <a:lstStyle/>
          <a:p>
            <a:pPr marL="242570" marR="737870" indent="-230504" rtl="0">
              <a:lnSpc>
                <a:spcPct val="120000"/>
              </a:lnSpc>
              <a:spcBef>
                <a:spcPts val="100"/>
              </a:spcBef>
              <a:buFont typeface="Arial MT"/>
              <a:buChar char="•"/>
              <a:tabLst>
                <a:tab pos="242570" algn="l"/>
                <a:tab pos="243204" algn="l"/>
              </a:tabLst>
            </a:pPr>
            <a:r>
              <a:rPr sz="2300" kern="1200" spc="-5" dirty="0">
                <a:solidFill>
                  <a:prstClr val="black"/>
                </a:solidFill>
                <a:latin typeface="Palatino Linotype"/>
                <a:cs typeface="Palatino Linotype"/>
              </a:rPr>
              <a:t>The grammar of </a:t>
            </a:r>
            <a:r>
              <a:rPr sz="2300" kern="1200" dirty="0">
                <a:solidFill>
                  <a:prstClr val="black"/>
                </a:solidFill>
                <a:latin typeface="Palatino Linotype"/>
                <a:cs typeface="Palatino Linotype"/>
              </a:rPr>
              <a:t>a </a:t>
            </a:r>
            <a:r>
              <a:rPr sz="2300" kern="1200" spc="-5" dirty="0">
                <a:solidFill>
                  <a:prstClr val="black"/>
                </a:solidFill>
                <a:latin typeface="Palatino Linotype"/>
                <a:cs typeface="Palatino Linotype"/>
              </a:rPr>
              <a:t>programming language </a:t>
            </a:r>
            <a:r>
              <a:rPr sz="2300" kern="1200" dirty="0">
                <a:solidFill>
                  <a:prstClr val="black"/>
                </a:solidFill>
                <a:latin typeface="Palatino Linotype"/>
                <a:cs typeface="Palatino Linotype"/>
              </a:rPr>
              <a:t>typically </a:t>
            </a:r>
            <a:r>
              <a:rPr sz="2300" kern="1200" spc="-560" dirty="0">
                <a:solidFill>
                  <a:prstClr val="black"/>
                </a:solidFill>
                <a:latin typeface="Palatino Linotype"/>
                <a:cs typeface="Palatino Linotype"/>
              </a:rPr>
              <a:t> </a:t>
            </a:r>
            <a:r>
              <a:rPr sz="2300" kern="1200" spc="-5" dirty="0">
                <a:solidFill>
                  <a:prstClr val="black"/>
                </a:solidFill>
                <a:latin typeface="Palatino Linotype"/>
                <a:cs typeface="Palatino Linotype"/>
              </a:rPr>
              <a:t>needs to</a:t>
            </a:r>
            <a:r>
              <a:rPr sz="2300" kern="1200" spc="-10" dirty="0">
                <a:solidFill>
                  <a:prstClr val="black"/>
                </a:solidFill>
                <a:latin typeface="Palatino Linotype"/>
                <a:cs typeface="Palatino Linotype"/>
              </a:rPr>
              <a:t> </a:t>
            </a:r>
            <a:r>
              <a:rPr sz="2300" kern="1200" dirty="0">
                <a:solidFill>
                  <a:prstClr val="black"/>
                </a:solidFill>
                <a:latin typeface="Palatino Linotype"/>
                <a:cs typeface="Palatino Linotype"/>
              </a:rPr>
              <a:t>be</a:t>
            </a:r>
            <a:r>
              <a:rPr sz="2300" kern="1200" spc="-5" dirty="0">
                <a:solidFill>
                  <a:prstClr val="black"/>
                </a:solidFill>
                <a:latin typeface="Palatino Linotype"/>
                <a:cs typeface="Palatino Linotype"/>
              </a:rPr>
              <a:t> unambiguous</a:t>
            </a:r>
            <a:endParaRPr sz="2300" kern="1200" dirty="0">
              <a:solidFill>
                <a:prstClr val="black"/>
              </a:solidFill>
              <a:latin typeface="Palatino Linotype"/>
              <a:cs typeface="Palatino Linotype"/>
            </a:endParaRPr>
          </a:p>
          <a:p>
            <a:pPr marL="698500" lvl="1" indent="-228600" rtl="0">
              <a:spcBef>
                <a:spcPts val="1140"/>
              </a:spcBef>
              <a:buFont typeface="Wingdings"/>
              <a:buChar char=""/>
              <a:tabLst>
                <a:tab pos="698500" algn="l"/>
              </a:tabLst>
            </a:pPr>
            <a:r>
              <a:rPr sz="2000" kern="1200" spc="-5" dirty="0">
                <a:solidFill>
                  <a:prstClr val="black"/>
                </a:solidFill>
                <a:latin typeface="Palatino Linotype"/>
                <a:cs typeface="Palatino Linotype"/>
              </a:rPr>
              <a:t>Otherwise,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there</a:t>
            </a:r>
            <a:r>
              <a:rPr sz="2000" kern="1200" dirty="0">
                <a:solidFill>
                  <a:prstClr val="black"/>
                </a:solidFill>
                <a:latin typeface="Palatino Linotype"/>
                <a:cs typeface="Palatino Linotype"/>
              </a:rPr>
              <a:t> will</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be </a:t>
            </a:r>
            <a:r>
              <a:rPr sz="2000" kern="1200" spc="-5" dirty="0">
                <a:solidFill>
                  <a:prstClr val="black"/>
                </a:solidFill>
                <a:latin typeface="Palatino Linotype"/>
                <a:cs typeface="Palatino Linotype"/>
              </a:rPr>
              <a:t>multiple</a:t>
            </a:r>
            <a:r>
              <a:rPr sz="2000" kern="1200" spc="5" dirty="0">
                <a:solidFill>
                  <a:prstClr val="black"/>
                </a:solidFill>
                <a:latin typeface="Palatino Linotype"/>
                <a:cs typeface="Palatino Linotype"/>
              </a:rPr>
              <a:t> </a:t>
            </a:r>
            <a:r>
              <a:rPr sz="2000" kern="1200" spc="-15" dirty="0">
                <a:solidFill>
                  <a:prstClr val="black"/>
                </a:solidFill>
                <a:latin typeface="Palatino Linotype"/>
                <a:cs typeface="Palatino Linotype"/>
              </a:rPr>
              <a:t>ways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to interpret</a:t>
            </a:r>
            <a:r>
              <a:rPr sz="2000" kern="1200" dirty="0">
                <a:solidFill>
                  <a:prstClr val="black"/>
                </a:solidFill>
                <a:latin typeface="Palatino Linotype"/>
                <a:cs typeface="Palatino Linotype"/>
              </a:rPr>
              <a:t> a </a:t>
            </a:r>
            <a:r>
              <a:rPr sz="2000" kern="1200" spc="-5" dirty="0">
                <a:solidFill>
                  <a:prstClr val="black"/>
                </a:solidFill>
                <a:latin typeface="Palatino Linotype"/>
                <a:cs typeface="Palatino Linotype"/>
              </a:rPr>
              <a:t>program</a:t>
            </a:r>
            <a:endParaRPr sz="2000" kern="1200" dirty="0">
              <a:solidFill>
                <a:prstClr val="black"/>
              </a:solidFill>
              <a:latin typeface="Palatino Linotype"/>
              <a:cs typeface="Palatino Linotype"/>
            </a:endParaRPr>
          </a:p>
          <a:p>
            <a:pPr marL="698500" lvl="1" indent="-228600" rtl="0">
              <a:spcBef>
                <a:spcPts val="1680"/>
              </a:spcBef>
              <a:buFont typeface="Wingdings"/>
              <a:buChar char=""/>
              <a:tabLst>
                <a:tab pos="698500" algn="l"/>
                <a:tab pos="2793365" algn="l"/>
                <a:tab pos="3662679" algn="l"/>
                <a:tab pos="3992245" algn="l"/>
              </a:tabLst>
            </a:pPr>
            <a:r>
              <a:rPr sz="2000" kern="1200" spc="-10" dirty="0">
                <a:solidFill>
                  <a:prstClr val="black"/>
                </a:solidFill>
                <a:latin typeface="Palatino Linotype"/>
                <a:cs typeface="Palatino Linotype"/>
              </a:rPr>
              <a:t>Given</a:t>
            </a:r>
            <a:r>
              <a:rPr sz="2000" kern="1200" spc="-5" dirty="0">
                <a:solidFill>
                  <a:prstClr val="black"/>
                </a:solidFill>
                <a:latin typeface="Palatino Linotype"/>
                <a:cs typeface="Palatino Linotype"/>
              </a:rPr>
              <a:t> </a:t>
            </a:r>
            <a:r>
              <a:rPr sz="2000" kern="1200" dirty="0">
                <a:solidFill>
                  <a:srgbClr val="0432FF"/>
                </a:solidFill>
                <a:latin typeface="Cambria Math"/>
                <a:cs typeface="Cambria Math"/>
              </a:rPr>
              <a:t>𝐸</a:t>
            </a:r>
            <a:r>
              <a:rPr sz="2000" kern="1200" spc="190"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10" dirty="0">
                <a:solidFill>
                  <a:srgbClr val="0432FF"/>
                </a:solidFill>
                <a:latin typeface="Cambria Math"/>
                <a:cs typeface="Cambria Math"/>
              </a:rPr>
              <a:t> </a:t>
            </a:r>
            <a:r>
              <a:rPr sz="2000" kern="1200" dirty="0">
                <a:solidFill>
                  <a:srgbClr val="0432FF"/>
                </a:solidFill>
                <a:latin typeface="Cambria Math"/>
                <a:cs typeface="Cambria Math"/>
              </a:rPr>
              <a:t>𝐸</a:t>
            </a:r>
            <a:r>
              <a:rPr sz="2000" kern="1200" spc="85"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5" dirty="0">
                <a:solidFill>
                  <a:srgbClr val="0432FF"/>
                </a:solidFill>
                <a:latin typeface="Cambria Math"/>
                <a:cs typeface="Cambria Math"/>
              </a:rPr>
              <a:t> </a:t>
            </a:r>
            <a:r>
              <a:rPr sz="2000" kern="1200" dirty="0">
                <a:solidFill>
                  <a:srgbClr val="0432FF"/>
                </a:solidFill>
                <a:latin typeface="Cambria Math"/>
                <a:cs typeface="Cambria Math"/>
              </a:rPr>
              <a:t>𝐸	𝐸</a:t>
            </a:r>
            <a:r>
              <a:rPr sz="2000" kern="1200" spc="80" dirty="0">
                <a:solidFill>
                  <a:srgbClr val="0432FF"/>
                </a:solidFill>
                <a:latin typeface="Cambria Math"/>
                <a:cs typeface="Cambria Math"/>
              </a:rPr>
              <a:t> </a:t>
            </a:r>
            <a:r>
              <a:rPr sz="2000" kern="1200" dirty="0">
                <a:solidFill>
                  <a:srgbClr val="0432FF"/>
                </a:solidFill>
                <a:latin typeface="Cambria Math"/>
                <a:cs typeface="Cambria Math"/>
              </a:rPr>
              <a:t>∗ 𝐸	𝐸	|</a:t>
            </a:r>
            <a:r>
              <a:rPr sz="2000" kern="1200" spc="-5" dirty="0">
                <a:solidFill>
                  <a:srgbClr val="0432FF"/>
                </a:solidFill>
                <a:latin typeface="Cambria Math"/>
                <a:cs typeface="Cambria Math"/>
              </a:rPr>
              <a:t> </a:t>
            </a:r>
            <a:r>
              <a:rPr sz="2000" kern="1200" dirty="0">
                <a:solidFill>
                  <a:srgbClr val="0432FF"/>
                </a:solidFill>
                <a:latin typeface="Cambria Math"/>
                <a:cs typeface="Cambria Math"/>
              </a:rPr>
              <a:t>𝐢𝐝</a:t>
            </a:r>
            <a:r>
              <a:rPr sz="2000" kern="1200" dirty="0">
                <a:solidFill>
                  <a:prstClr val="black"/>
                </a:solidFill>
                <a:latin typeface="Palatino Linotype"/>
                <a:cs typeface="Palatino Linotype"/>
              </a:rPr>
              <a: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how</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to</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interpret</a:t>
            </a:r>
            <a:r>
              <a:rPr sz="2000" kern="1200" spc="-10" dirty="0">
                <a:solidFill>
                  <a:prstClr val="black"/>
                </a:solidFill>
                <a:latin typeface="Palatino Linotype"/>
                <a:cs typeface="Palatino Linotype"/>
              </a:rPr>
              <a:t> </a:t>
            </a:r>
            <a:r>
              <a:rPr sz="2000" kern="1200" dirty="0">
                <a:solidFill>
                  <a:srgbClr val="0432FF"/>
                </a:solidFill>
                <a:latin typeface="Cambria Math"/>
                <a:cs typeface="Cambria Math"/>
              </a:rPr>
              <a:t>𝑎</a:t>
            </a:r>
            <a:r>
              <a:rPr sz="2000" kern="1200" spc="45" dirty="0">
                <a:solidFill>
                  <a:srgbClr val="0432FF"/>
                </a:solidFill>
                <a:latin typeface="Cambria Math"/>
                <a:cs typeface="Cambria Math"/>
              </a:rPr>
              <a:t> </a:t>
            </a:r>
            <a:r>
              <a:rPr sz="2000" kern="1200" dirty="0">
                <a:solidFill>
                  <a:srgbClr val="0432FF"/>
                </a:solidFill>
                <a:latin typeface="Cambria Math"/>
                <a:cs typeface="Cambria Math"/>
              </a:rPr>
              <a:t>+ 𝑏</a:t>
            </a:r>
            <a:r>
              <a:rPr sz="2000" kern="1200" spc="30"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5" dirty="0">
                <a:solidFill>
                  <a:srgbClr val="0432FF"/>
                </a:solidFill>
                <a:latin typeface="Cambria Math"/>
                <a:cs typeface="Cambria Math"/>
              </a:rPr>
              <a:t> </a:t>
            </a:r>
            <a:r>
              <a:rPr sz="2000" kern="1200" spc="30" dirty="0">
                <a:solidFill>
                  <a:srgbClr val="0432FF"/>
                </a:solidFill>
                <a:latin typeface="Cambria Math"/>
                <a:cs typeface="Cambria Math"/>
              </a:rPr>
              <a:t>𝑐</a:t>
            </a:r>
            <a:r>
              <a:rPr sz="2000" kern="1200" spc="30" dirty="0">
                <a:solidFill>
                  <a:prstClr val="black"/>
                </a:solidFill>
                <a:latin typeface="Palatino Linotype"/>
                <a:cs typeface="Palatino Linotype"/>
              </a:rPr>
              <a:t>?</a:t>
            </a:r>
            <a:endParaRPr sz="2000" kern="1200" dirty="0">
              <a:solidFill>
                <a:prstClr val="black"/>
              </a:solidFill>
              <a:latin typeface="Palatino Linotype"/>
              <a:cs typeface="Palatino Linotype"/>
            </a:endParaRPr>
          </a:p>
          <a:p>
            <a:pPr lvl="1" rtl="0">
              <a:spcBef>
                <a:spcPts val="5"/>
              </a:spcBef>
              <a:buFont typeface="Wingdings"/>
              <a:buChar char=""/>
            </a:pPr>
            <a:endParaRPr sz="2200" kern="1200" dirty="0">
              <a:solidFill>
                <a:prstClr val="black"/>
              </a:solidFill>
              <a:latin typeface="Palatino Linotype"/>
              <a:cs typeface="Palatino Linotype"/>
            </a:endParaRPr>
          </a:p>
          <a:p>
            <a:pPr marL="242570" marR="514350" indent="-230504" algn="just" rtl="0">
              <a:lnSpc>
                <a:spcPct val="119600"/>
              </a:lnSpc>
              <a:buClr>
                <a:srgbClr val="000000"/>
              </a:buClr>
              <a:buFont typeface="Arial MT"/>
              <a:buChar char="•"/>
              <a:tabLst>
                <a:tab pos="243204" algn="l"/>
              </a:tabLst>
            </a:pPr>
            <a:r>
              <a:rPr sz="2300" kern="1200" dirty="0">
                <a:solidFill>
                  <a:schemeClr val="bg2">
                    <a:lumMod val="50000"/>
                  </a:schemeClr>
                </a:solidFill>
                <a:latin typeface="Palatino Linotype"/>
                <a:cs typeface="Palatino Linotype"/>
              </a:rPr>
              <a:t>In </a:t>
            </a:r>
            <a:r>
              <a:rPr sz="2300" kern="1200" spc="-5" dirty="0">
                <a:solidFill>
                  <a:schemeClr val="bg2">
                    <a:lumMod val="50000"/>
                  </a:schemeClr>
                </a:solidFill>
                <a:latin typeface="Palatino Linotype"/>
                <a:cs typeface="Palatino Linotype"/>
              </a:rPr>
              <a:t>some cases, </a:t>
            </a:r>
            <a:r>
              <a:rPr sz="2300" kern="1200" dirty="0">
                <a:solidFill>
                  <a:schemeClr val="bg2">
                    <a:lumMod val="50000"/>
                  </a:schemeClr>
                </a:solidFill>
                <a:latin typeface="Palatino Linotype"/>
                <a:cs typeface="Palatino Linotype"/>
              </a:rPr>
              <a:t>it is </a:t>
            </a:r>
            <a:r>
              <a:rPr sz="2300" kern="1200" spc="-10" dirty="0">
                <a:solidFill>
                  <a:schemeClr val="bg2">
                    <a:lumMod val="50000"/>
                  </a:schemeClr>
                </a:solidFill>
                <a:latin typeface="Palatino Linotype"/>
                <a:cs typeface="Palatino Linotype"/>
              </a:rPr>
              <a:t>convenient </a:t>
            </a:r>
            <a:r>
              <a:rPr sz="2300" kern="1200" spc="-5" dirty="0">
                <a:solidFill>
                  <a:schemeClr val="bg2">
                    <a:lumMod val="50000"/>
                  </a:schemeClr>
                </a:solidFill>
                <a:latin typeface="Palatino Linotype"/>
                <a:cs typeface="Palatino Linotype"/>
              </a:rPr>
              <a:t>to </a:t>
            </a:r>
            <a:r>
              <a:rPr sz="2300" kern="1200" dirty="0">
                <a:solidFill>
                  <a:schemeClr val="bg2">
                    <a:lumMod val="50000"/>
                  </a:schemeClr>
                </a:solidFill>
                <a:latin typeface="Palatino Linotype"/>
                <a:cs typeface="Palatino Linotype"/>
              </a:rPr>
              <a:t>use carefully </a:t>
            </a:r>
            <a:r>
              <a:rPr sz="2300" kern="1200" spc="-5" dirty="0">
                <a:solidFill>
                  <a:schemeClr val="bg2">
                    <a:lumMod val="50000"/>
                  </a:schemeClr>
                </a:solidFill>
                <a:latin typeface="Palatino Linotype"/>
                <a:cs typeface="Palatino Linotype"/>
              </a:rPr>
              <a:t>chosen </a:t>
            </a:r>
            <a:r>
              <a:rPr sz="2300" kern="1200" spc="-560" dirty="0">
                <a:solidFill>
                  <a:schemeClr val="bg2">
                    <a:lumMod val="50000"/>
                  </a:schemeClr>
                </a:solidFill>
                <a:latin typeface="Palatino Linotype"/>
                <a:cs typeface="Palatino Linotype"/>
              </a:rPr>
              <a:t> </a:t>
            </a:r>
            <a:r>
              <a:rPr sz="2300" kern="1200" spc="-5" dirty="0">
                <a:solidFill>
                  <a:schemeClr val="bg2">
                    <a:lumMod val="50000"/>
                  </a:schemeClr>
                </a:solidFill>
                <a:latin typeface="Palatino Linotype"/>
                <a:cs typeface="Palatino Linotype"/>
              </a:rPr>
              <a:t>ambiguous grammars, together with disambiguating </a:t>
            </a:r>
            <a:r>
              <a:rPr sz="2300" kern="1200" spc="-560" dirty="0">
                <a:solidFill>
                  <a:schemeClr val="bg2">
                    <a:lumMod val="50000"/>
                  </a:schemeClr>
                </a:solidFill>
                <a:latin typeface="Palatino Linotype"/>
                <a:cs typeface="Palatino Linotype"/>
              </a:rPr>
              <a:t> </a:t>
            </a:r>
            <a:r>
              <a:rPr sz="2300" kern="1200" dirty="0">
                <a:solidFill>
                  <a:schemeClr val="bg2">
                    <a:lumMod val="50000"/>
                  </a:schemeClr>
                </a:solidFill>
                <a:latin typeface="Palatino Linotype"/>
                <a:cs typeface="Palatino Linotype"/>
              </a:rPr>
              <a:t>rules</a:t>
            </a:r>
            <a:r>
              <a:rPr sz="2300" kern="1200" spc="-5" dirty="0">
                <a:solidFill>
                  <a:schemeClr val="bg2">
                    <a:lumMod val="50000"/>
                  </a:schemeClr>
                </a:solidFill>
                <a:latin typeface="Palatino Linotype"/>
                <a:cs typeface="Palatino Linotype"/>
              </a:rPr>
              <a:t> to</a:t>
            </a:r>
            <a:r>
              <a:rPr sz="2300" kern="1200" spc="-10" dirty="0">
                <a:solidFill>
                  <a:schemeClr val="bg2">
                    <a:lumMod val="50000"/>
                  </a:schemeClr>
                </a:solidFill>
                <a:latin typeface="Palatino Linotype"/>
                <a:cs typeface="Palatino Linotype"/>
              </a:rPr>
              <a:t> </a:t>
            </a:r>
            <a:r>
              <a:rPr sz="2300" kern="1200" dirty="0">
                <a:solidFill>
                  <a:schemeClr val="bg2">
                    <a:lumMod val="50000"/>
                  </a:schemeClr>
                </a:solidFill>
                <a:latin typeface="Palatino Linotype"/>
                <a:cs typeface="Palatino Linotype"/>
              </a:rPr>
              <a:t>discard</a:t>
            </a:r>
            <a:r>
              <a:rPr sz="2300" kern="1200" spc="-5" dirty="0">
                <a:solidFill>
                  <a:schemeClr val="bg2">
                    <a:lumMod val="50000"/>
                  </a:schemeClr>
                </a:solidFill>
                <a:latin typeface="Palatino Linotype"/>
                <a:cs typeface="Palatino Linotype"/>
              </a:rPr>
              <a:t> undesirable </a:t>
            </a:r>
            <a:r>
              <a:rPr sz="2300" kern="1200" dirty="0">
                <a:solidFill>
                  <a:schemeClr val="bg2">
                    <a:lumMod val="50000"/>
                  </a:schemeClr>
                </a:solidFill>
                <a:latin typeface="Palatino Linotype"/>
                <a:cs typeface="Palatino Linotype"/>
              </a:rPr>
              <a:t>parse</a:t>
            </a:r>
            <a:r>
              <a:rPr sz="2300" kern="1200" spc="-5" dirty="0">
                <a:solidFill>
                  <a:schemeClr val="bg2">
                    <a:lumMod val="50000"/>
                  </a:schemeClr>
                </a:solidFill>
                <a:latin typeface="Palatino Linotype"/>
                <a:cs typeface="Palatino Linotype"/>
              </a:rPr>
              <a:t> trees</a:t>
            </a:r>
            <a:endParaRPr sz="2300" kern="1200" dirty="0">
              <a:solidFill>
                <a:schemeClr val="bg2">
                  <a:lumMod val="50000"/>
                </a:schemeClr>
              </a:solidFill>
              <a:latin typeface="Palatino Linotype"/>
              <a:cs typeface="Palatino Linotype"/>
            </a:endParaRPr>
          </a:p>
          <a:p>
            <a:pPr marL="698500" lvl="1" indent="-228600" rtl="0">
              <a:spcBef>
                <a:spcPts val="1739"/>
              </a:spcBef>
              <a:buClr>
                <a:srgbClr val="000000"/>
              </a:buClr>
              <a:buFont typeface="Wingdings"/>
              <a:buChar char=""/>
              <a:tabLst>
                <a:tab pos="698500" algn="l"/>
              </a:tabLst>
            </a:pPr>
            <a:r>
              <a:rPr sz="2000" kern="1200" spc="-5" dirty="0">
                <a:solidFill>
                  <a:schemeClr val="bg2">
                    <a:lumMod val="50000"/>
                  </a:schemeClr>
                </a:solidFill>
                <a:latin typeface="Palatino Linotype"/>
                <a:cs typeface="Palatino Linotype"/>
              </a:rPr>
              <a:t>For</a:t>
            </a:r>
            <a:r>
              <a:rPr sz="2000" kern="1200" spc="-10" dirty="0">
                <a:solidFill>
                  <a:schemeClr val="bg2">
                    <a:lumMod val="50000"/>
                  </a:schemeClr>
                </a:solidFill>
                <a:latin typeface="Palatino Linotype"/>
                <a:cs typeface="Palatino Linotype"/>
              </a:rPr>
              <a:t> </a:t>
            </a:r>
            <a:r>
              <a:rPr sz="2000" kern="1200" dirty="0">
                <a:solidFill>
                  <a:schemeClr val="bg2">
                    <a:lumMod val="50000"/>
                  </a:schemeClr>
                </a:solidFill>
                <a:latin typeface="Palatino Linotype"/>
                <a:cs typeface="Palatino Linotype"/>
              </a:rPr>
              <a:t>example:</a:t>
            </a:r>
            <a:r>
              <a:rPr sz="2000" kern="1200" spc="-5" dirty="0">
                <a:solidFill>
                  <a:schemeClr val="bg2">
                    <a:lumMod val="50000"/>
                  </a:schemeClr>
                </a:solidFill>
                <a:latin typeface="Palatino Linotype"/>
                <a:cs typeface="Palatino Linotype"/>
              </a:rPr>
              <a:t> multiplication before </a:t>
            </a:r>
            <a:r>
              <a:rPr sz="2000" kern="1200" dirty="0">
                <a:solidFill>
                  <a:schemeClr val="bg2">
                    <a:lumMod val="50000"/>
                  </a:schemeClr>
                </a:solidFill>
                <a:latin typeface="Palatino Linotype"/>
                <a:cs typeface="Palatino Linotype"/>
              </a:rPr>
              <a:t>addition</a:t>
            </a:r>
          </a:p>
        </p:txBody>
      </p:sp>
    </p:spTree>
    <p:extLst>
      <p:ext uri="{BB962C8B-B14F-4D97-AF65-F5344CB8AC3E}">
        <p14:creationId xmlns:p14="http://schemas.microsoft.com/office/powerpoint/2010/main" val="3372093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21</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6">
            <a:extLst>
              <a:ext uri="{FF2B5EF4-FFF2-40B4-BE49-F238E27FC236}">
                <a16:creationId xmlns:a16="http://schemas.microsoft.com/office/drawing/2014/main" id="{01150CEA-72CC-EA64-2CD5-2CFFCD441C00}"/>
              </a:ext>
            </a:extLst>
          </p:cNvPr>
          <p:cNvSpPr txBox="1"/>
          <p:nvPr/>
        </p:nvSpPr>
        <p:spPr>
          <a:xfrm>
            <a:off x="5652120" y="136524"/>
            <a:ext cx="3226435" cy="2564163"/>
          </a:xfrm>
          <a:prstGeom prst="rect">
            <a:avLst/>
          </a:prstGeom>
          <a:ln w="12700">
            <a:solidFill>
              <a:srgbClr val="7F7F7F"/>
            </a:solidFill>
          </a:ln>
        </p:spPr>
        <p:txBody>
          <a:bodyPr vert="horz" wrap="square" lIns="0" tIns="121285" rIns="0" bIns="0" rtlCol="0">
            <a:spAutoFit/>
          </a:bodyPr>
          <a:lstStyle/>
          <a:p>
            <a:pPr marL="449580" indent="-286385">
              <a:lnSpc>
                <a:spcPct val="100000"/>
              </a:lnSpc>
              <a:spcBef>
                <a:spcPts val="955"/>
              </a:spcBef>
              <a:buFont typeface="Arial MT"/>
              <a:buChar char="•"/>
              <a:tabLst>
                <a:tab pos="449580" algn="l"/>
                <a:tab pos="450215" algn="l"/>
              </a:tabLst>
            </a:pPr>
            <a:r>
              <a:rPr sz="1800" spc="-5" dirty="0">
                <a:solidFill>
                  <a:schemeClr val="bg2">
                    <a:lumMod val="50000"/>
                  </a:schemeClr>
                </a:solidFill>
                <a:latin typeface="Palatino Linotype"/>
                <a:cs typeface="Palatino Linotype"/>
              </a:rPr>
              <a:t>Formal</a:t>
            </a:r>
            <a:r>
              <a:rPr sz="1800" spc="-20"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definition</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of</a:t>
            </a:r>
            <a:r>
              <a:rPr sz="1800" spc="-20"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CFG</a:t>
            </a:r>
            <a:endParaRPr sz="1800" dirty="0">
              <a:solidFill>
                <a:schemeClr val="bg2">
                  <a:lumMod val="50000"/>
                </a:schemeClr>
              </a:solidFill>
              <a:latin typeface="Palatino Linotype"/>
              <a:cs typeface="Palatino Linotype"/>
            </a:endParaRPr>
          </a:p>
          <a:p>
            <a:pPr>
              <a:lnSpc>
                <a:spcPct val="100000"/>
              </a:lnSpc>
              <a:spcBef>
                <a:spcPts val="55"/>
              </a:spcBef>
              <a:buChar char="•"/>
            </a:pPr>
            <a:endParaRPr sz="1700" dirty="0">
              <a:solidFill>
                <a:schemeClr val="bg2">
                  <a:lumMod val="50000"/>
                </a:schemeClr>
              </a:solidFill>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10" dirty="0">
                <a:solidFill>
                  <a:schemeClr val="bg2">
                    <a:lumMod val="50000"/>
                  </a:schemeClr>
                </a:solidFill>
                <a:latin typeface="Palatino Linotype"/>
                <a:cs typeface="Palatino Linotype"/>
              </a:rPr>
              <a:t>Derivation</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and</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parse</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tree</a:t>
            </a:r>
          </a:p>
          <a:p>
            <a:pPr>
              <a:lnSpc>
                <a:spcPct val="100000"/>
              </a:lnSpc>
              <a:spcBef>
                <a:spcPts val="5"/>
              </a:spcBef>
              <a:buChar char="•"/>
            </a:pPr>
            <a:endParaRPr sz="1650" dirty="0">
              <a:solidFill>
                <a:schemeClr val="bg2">
                  <a:lumMod val="50000"/>
                </a:schemeClr>
              </a:solidFill>
              <a:latin typeface="Palatino Linotype"/>
              <a:cs typeface="Palatino Linotype"/>
            </a:endParaRPr>
          </a:p>
          <a:p>
            <a:pPr marL="449580" indent="-286385">
              <a:lnSpc>
                <a:spcPct val="100000"/>
              </a:lnSpc>
              <a:buFont typeface="Arial MT"/>
              <a:buChar char="•"/>
              <a:tabLst>
                <a:tab pos="449580" algn="l"/>
                <a:tab pos="450215" algn="l"/>
              </a:tabLst>
            </a:pPr>
            <a:r>
              <a:rPr sz="1800" spc="-5" dirty="0">
                <a:solidFill>
                  <a:schemeClr val="bg2">
                    <a:lumMod val="50000"/>
                  </a:schemeClr>
                </a:solidFill>
                <a:latin typeface="Palatino Linotype"/>
                <a:cs typeface="Palatino Linotype"/>
              </a:rPr>
              <a:t>Ambiguity</a:t>
            </a:r>
            <a:endParaRPr sz="1800" dirty="0">
              <a:solidFill>
                <a:schemeClr val="bg2">
                  <a:lumMod val="50000"/>
                </a:schemeClr>
              </a:solidFill>
              <a:latin typeface="Palatino Linotype"/>
              <a:cs typeface="Palatino Linotype"/>
            </a:endParaRPr>
          </a:p>
          <a:p>
            <a:pPr>
              <a:lnSpc>
                <a:spcPct val="100000"/>
              </a:lnSpc>
              <a:spcBef>
                <a:spcPts val="55"/>
              </a:spcBef>
              <a:buChar char="•"/>
            </a:pPr>
            <a:endParaRPr sz="1700" dirty="0">
              <a:latin typeface="Palatino Linotype"/>
              <a:cs typeface="Palatino Linotype"/>
            </a:endParaRPr>
          </a:p>
          <a:p>
            <a:pPr marL="449580" indent="-286385">
              <a:lnSpc>
                <a:spcPct val="100000"/>
              </a:lnSpc>
              <a:buFont typeface="Arial MT"/>
              <a:buChar char="•"/>
              <a:tabLst>
                <a:tab pos="449580" algn="l"/>
                <a:tab pos="450215" algn="l"/>
              </a:tabLst>
            </a:pPr>
            <a:r>
              <a:rPr sz="1800" spc="-5" dirty="0">
                <a:latin typeface="Palatino Linotype"/>
                <a:cs typeface="Palatino Linotype"/>
              </a:rPr>
              <a:t>CFG</a:t>
            </a:r>
            <a:r>
              <a:rPr sz="1800" spc="-25" dirty="0">
                <a:latin typeface="Palatino Linotype"/>
                <a:cs typeface="Palatino Linotype"/>
              </a:rPr>
              <a:t> </a:t>
            </a:r>
            <a:r>
              <a:rPr sz="1800" spc="-5" dirty="0">
                <a:latin typeface="Palatino Linotype"/>
                <a:cs typeface="Palatino Linotype"/>
              </a:rPr>
              <a:t>vs.</a:t>
            </a:r>
            <a:r>
              <a:rPr sz="1800" spc="-25" dirty="0">
                <a:latin typeface="Palatino Linotype"/>
                <a:cs typeface="Palatino Linotype"/>
              </a:rPr>
              <a:t> </a:t>
            </a:r>
            <a:r>
              <a:rPr sz="1800" spc="-5" dirty="0">
                <a:latin typeface="Palatino Linotype"/>
                <a:cs typeface="Palatino Linotype"/>
              </a:rPr>
              <a:t>regexp</a:t>
            </a:r>
            <a:endParaRPr sz="1800" dirty="0">
              <a:latin typeface="Palatino Linotype"/>
              <a:cs typeface="Palatino Linotype"/>
            </a:endParaRPr>
          </a:p>
          <a:p>
            <a:pPr>
              <a:lnSpc>
                <a:spcPct val="100000"/>
              </a:lnSpc>
              <a:spcBef>
                <a:spcPts val="5"/>
              </a:spcBef>
              <a:buChar char="•"/>
            </a:pPr>
            <a:endParaRPr sz="1650" dirty="0">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5" dirty="0">
                <a:solidFill>
                  <a:schemeClr val="bg2">
                    <a:lumMod val="50000"/>
                  </a:schemeClr>
                </a:solidFill>
                <a:latin typeface="Palatino Linotype"/>
                <a:cs typeface="Palatino Linotype"/>
              </a:rPr>
              <a:t>Grammar</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design</a:t>
            </a:r>
            <a:endParaRPr sz="1800" dirty="0">
              <a:solidFill>
                <a:schemeClr val="bg2">
                  <a:lumMod val="50000"/>
                </a:schemeClr>
              </a:solidFill>
              <a:latin typeface="Palatino Linotype"/>
              <a:cs typeface="Palatino Linotype"/>
            </a:endParaRPr>
          </a:p>
        </p:txBody>
      </p:sp>
      <p:sp>
        <p:nvSpPr>
          <p:cNvPr id="6" name="object 7">
            <a:extLst>
              <a:ext uri="{FF2B5EF4-FFF2-40B4-BE49-F238E27FC236}">
                <a16:creationId xmlns:a16="http://schemas.microsoft.com/office/drawing/2014/main" id="{296F1C25-B6ED-0F61-B0FE-BEDCA5800578}"/>
              </a:ext>
            </a:extLst>
          </p:cNvPr>
          <p:cNvSpPr/>
          <p:nvPr/>
        </p:nvSpPr>
        <p:spPr>
          <a:xfrm>
            <a:off x="4450680" y="1898772"/>
            <a:ext cx="1207770" cy="554355"/>
          </a:xfrm>
          <a:custGeom>
            <a:avLst/>
            <a:gdLst/>
            <a:ahLst/>
            <a:cxnLst/>
            <a:rect l="l" t="t" r="r" b="b"/>
            <a:pathLst>
              <a:path w="1207770" h="554355">
                <a:moveTo>
                  <a:pt x="1207472" y="0"/>
                </a:moveTo>
                <a:lnTo>
                  <a:pt x="0" y="553742"/>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2232030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22</a:t>
            </a:fld>
            <a:endParaRPr lang="en-US"/>
          </a:p>
        </p:txBody>
      </p:sp>
      <p:sp>
        <p:nvSpPr>
          <p:cNvPr id="8" name="object 2">
            <a:extLst>
              <a:ext uri="{FF2B5EF4-FFF2-40B4-BE49-F238E27FC236}">
                <a16:creationId xmlns:a16="http://schemas.microsoft.com/office/drawing/2014/main" id="{22A9D537-1FF6-10EE-AE96-BD01BA169F68}"/>
              </a:ext>
            </a:extLst>
          </p:cNvPr>
          <p:cNvSpPr txBox="1">
            <a:spLocks/>
          </p:cNvSpPr>
          <p:nvPr/>
        </p:nvSpPr>
        <p:spPr>
          <a:xfrm>
            <a:off x="707390" y="524763"/>
            <a:ext cx="67075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CFG</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vs.</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Regular Expressions</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0" name="object 4">
            <a:extLst>
              <a:ext uri="{FF2B5EF4-FFF2-40B4-BE49-F238E27FC236}">
                <a16:creationId xmlns:a16="http://schemas.microsoft.com/office/drawing/2014/main" id="{23893C13-8B46-587C-6EF6-B2CCD3AC9F94}"/>
              </a:ext>
            </a:extLst>
          </p:cNvPr>
          <p:cNvSpPr txBox="1"/>
          <p:nvPr/>
        </p:nvSpPr>
        <p:spPr>
          <a:xfrm>
            <a:off x="628650" y="1628800"/>
            <a:ext cx="7715884" cy="3775970"/>
          </a:xfrm>
          <a:prstGeom prst="rect">
            <a:avLst/>
          </a:prstGeom>
        </p:spPr>
        <p:txBody>
          <a:bodyPr vert="horz" wrap="square" lIns="0" tIns="12700" rIns="0" bIns="0" rtlCol="0">
            <a:spAutoFit/>
          </a:bodyPr>
          <a:lstStyle/>
          <a:p>
            <a:pPr marL="306705" indent="-230504" rtl="0">
              <a:spcBef>
                <a:spcPts val="100"/>
              </a:spcBef>
              <a:buClr>
                <a:srgbClr val="000000"/>
              </a:buClr>
              <a:buFont typeface="Arial MT"/>
              <a:buChar char="•"/>
              <a:tabLst>
                <a:tab pos="306070" algn="l"/>
                <a:tab pos="306705" algn="l"/>
              </a:tabLst>
            </a:pPr>
            <a:r>
              <a:rPr sz="2300" b="1" kern="1200" dirty="0">
                <a:solidFill>
                  <a:srgbClr val="FF0000"/>
                </a:solidFill>
                <a:latin typeface="Palatino Linotype"/>
                <a:cs typeface="Palatino Linotype"/>
              </a:rPr>
              <a:t>CFGs are </a:t>
            </a:r>
            <a:r>
              <a:rPr sz="2300" b="1" kern="1200" spc="-5" dirty="0">
                <a:solidFill>
                  <a:srgbClr val="FF0000"/>
                </a:solidFill>
                <a:latin typeface="Palatino Linotype"/>
                <a:cs typeface="Palatino Linotype"/>
              </a:rPr>
              <a:t>more</a:t>
            </a:r>
            <a:r>
              <a:rPr sz="2300" b="1" kern="1200" dirty="0">
                <a:solidFill>
                  <a:srgbClr val="FF0000"/>
                </a:solidFill>
                <a:latin typeface="Palatino Linotype"/>
                <a:cs typeface="Palatino Linotype"/>
              </a:rPr>
              <a:t> </a:t>
            </a:r>
            <a:r>
              <a:rPr sz="2300" b="1" kern="1200" spc="-5" dirty="0">
                <a:solidFill>
                  <a:srgbClr val="FF0000"/>
                </a:solidFill>
                <a:latin typeface="Palatino Linotype"/>
                <a:cs typeface="Palatino Linotype"/>
              </a:rPr>
              <a:t>expressive</a:t>
            </a:r>
            <a:r>
              <a:rPr sz="2300" b="1" kern="1200" spc="5" dirty="0">
                <a:solidFill>
                  <a:srgbClr val="FF0000"/>
                </a:solidFill>
                <a:latin typeface="Palatino Linotype"/>
                <a:cs typeface="Palatino Linotype"/>
              </a:rPr>
              <a:t> </a:t>
            </a:r>
            <a:r>
              <a:rPr sz="2300" b="1" kern="1200" spc="-5" dirty="0">
                <a:solidFill>
                  <a:srgbClr val="FF0000"/>
                </a:solidFill>
                <a:latin typeface="Palatino Linotype"/>
                <a:cs typeface="Palatino Linotype"/>
              </a:rPr>
              <a:t>than</a:t>
            </a:r>
            <a:r>
              <a:rPr sz="2300" b="1" kern="1200" spc="-10" dirty="0">
                <a:solidFill>
                  <a:srgbClr val="FF0000"/>
                </a:solidFill>
                <a:latin typeface="Palatino Linotype"/>
                <a:cs typeface="Palatino Linotype"/>
              </a:rPr>
              <a:t> </a:t>
            </a:r>
            <a:r>
              <a:rPr sz="2300" b="1" kern="1200" spc="-5" dirty="0">
                <a:solidFill>
                  <a:srgbClr val="FF0000"/>
                </a:solidFill>
                <a:latin typeface="Palatino Linotype"/>
                <a:cs typeface="Palatino Linotype"/>
              </a:rPr>
              <a:t>regular</a:t>
            </a:r>
            <a:r>
              <a:rPr sz="2300" b="1" kern="1200" spc="5" dirty="0">
                <a:solidFill>
                  <a:srgbClr val="FF0000"/>
                </a:solidFill>
                <a:latin typeface="Palatino Linotype"/>
                <a:cs typeface="Palatino Linotype"/>
              </a:rPr>
              <a:t> </a:t>
            </a:r>
            <a:r>
              <a:rPr sz="2300" b="1" kern="1200" spc="-5" dirty="0">
                <a:solidFill>
                  <a:srgbClr val="FF0000"/>
                </a:solidFill>
                <a:latin typeface="Palatino Linotype"/>
                <a:cs typeface="Palatino Linotype"/>
              </a:rPr>
              <a:t>expressions</a:t>
            </a:r>
            <a:endParaRPr sz="2300" kern="1200" dirty="0">
              <a:solidFill>
                <a:prstClr val="black"/>
              </a:solidFill>
              <a:latin typeface="Palatino Linotype"/>
              <a:cs typeface="Palatino Linotype"/>
            </a:endParaRPr>
          </a:p>
          <a:p>
            <a:pPr marL="762000" marR="50165" lvl="1" indent="-228600" rtl="0">
              <a:lnSpc>
                <a:spcPct val="115599"/>
              </a:lnSpc>
              <a:spcBef>
                <a:spcPts val="1410"/>
              </a:spcBef>
              <a:buFont typeface="Wingdings"/>
              <a:buChar char=""/>
              <a:tabLst>
                <a:tab pos="762000" algn="l"/>
              </a:tabLst>
            </a:pPr>
            <a:r>
              <a:rPr kern="1200" spc="-10" dirty="0">
                <a:solidFill>
                  <a:prstClr val="black"/>
                </a:solidFill>
                <a:latin typeface="Palatino Linotype"/>
                <a:cs typeface="Palatino Linotype"/>
              </a:rPr>
              <a:t>Every</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construct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can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described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by a</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regular</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expression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can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be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described </a:t>
            </a:r>
            <a:r>
              <a:rPr kern="1200" dirty="0">
                <a:solidFill>
                  <a:prstClr val="black"/>
                </a:solidFill>
                <a:latin typeface="Palatino Linotype"/>
                <a:cs typeface="Palatino Linotype"/>
              </a:rPr>
              <a:t>by</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 </a:t>
            </a:r>
            <a:r>
              <a:rPr kern="1200" spc="-15" dirty="0">
                <a:solidFill>
                  <a:prstClr val="black"/>
                </a:solidFill>
                <a:latin typeface="Palatino Linotype"/>
                <a:cs typeface="Palatino Linotype"/>
              </a:rPr>
              <a:t>grammar,</a:t>
            </a:r>
            <a:r>
              <a:rPr kern="1200" dirty="0">
                <a:solidFill>
                  <a:prstClr val="black"/>
                </a:solidFill>
                <a:latin typeface="Palatino Linotype"/>
                <a:cs typeface="Palatino Linotype"/>
              </a:rPr>
              <a:t> but not </a:t>
            </a:r>
            <a:r>
              <a:rPr kern="1200" spc="-5" dirty="0">
                <a:solidFill>
                  <a:prstClr val="black"/>
                </a:solidFill>
                <a:latin typeface="Palatino Linotype"/>
                <a:cs typeface="Palatino Linotype"/>
              </a:rPr>
              <a:t>vice-versa</a:t>
            </a:r>
            <a:endParaRPr kern="1200" dirty="0">
              <a:solidFill>
                <a:prstClr val="black"/>
              </a:solidFill>
              <a:latin typeface="Palatino Linotype"/>
              <a:cs typeface="Palatino Linotype"/>
            </a:endParaRPr>
          </a:p>
          <a:p>
            <a:pPr marL="762000" lvl="1" indent="-228600" rtl="0">
              <a:spcBef>
                <a:spcPts val="1630"/>
              </a:spcBef>
              <a:buFont typeface="Wingdings"/>
              <a:buChar char=""/>
              <a:tabLst>
                <a:tab pos="762000" algn="l"/>
              </a:tabLst>
            </a:pPr>
            <a:r>
              <a:rPr kern="1200" spc="-10" dirty="0">
                <a:solidFill>
                  <a:prstClr val="black"/>
                </a:solidFill>
                <a:latin typeface="Palatino Linotype"/>
                <a:cs typeface="Palatino Linotype"/>
              </a:rPr>
              <a:t>Every</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regular</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language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context-free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language,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but</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not</a:t>
            </a:r>
            <a:r>
              <a:rPr kern="1200" spc="10" dirty="0">
                <a:solidFill>
                  <a:prstClr val="black"/>
                </a:solidFill>
                <a:latin typeface="Palatino Linotype"/>
                <a:cs typeface="Palatino Linotype"/>
              </a:rPr>
              <a:t> </a:t>
            </a:r>
            <a:r>
              <a:rPr kern="1200" spc="-10" dirty="0">
                <a:solidFill>
                  <a:prstClr val="black"/>
                </a:solidFill>
                <a:latin typeface="Palatino Linotype"/>
                <a:cs typeface="Palatino Linotype"/>
              </a:rPr>
              <a:t>vice-versa</a:t>
            </a:r>
            <a:endParaRPr kern="1200" dirty="0">
              <a:solidFill>
                <a:prstClr val="black"/>
              </a:solidFill>
              <a:latin typeface="Palatino Linotype"/>
              <a:cs typeface="Palatino Linotype"/>
            </a:endParaRPr>
          </a:p>
          <a:p>
            <a:pPr lvl="1" rtl="0">
              <a:spcBef>
                <a:spcPts val="20"/>
              </a:spcBef>
              <a:buFont typeface="Wingdings"/>
              <a:buChar char=""/>
            </a:pPr>
            <a:endParaRPr lang="en-US" sz="3050" kern="1200" dirty="0">
              <a:solidFill>
                <a:prstClr val="black"/>
              </a:solidFill>
              <a:latin typeface="Palatino Linotype"/>
              <a:cs typeface="Palatino Linotype"/>
            </a:endParaRPr>
          </a:p>
          <a:p>
            <a:pPr marL="306705" marR="0" lvl="0" indent="-230504" algn="l" defTabSz="914400" rtl="0" eaLnBrk="1" fontAlgn="auto" latinLnBrk="0" hangingPunct="1">
              <a:lnSpc>
                <a:spcPct val="100000"/>
              </a:lnSpc>
              <a:spcBef>
                <a:spcPts val="5"/>
              </a:spcBef>
              <a:spcAft>
                <a:spcPts val="0"/>
              </a:spcAft>
              <a:buClrTx/>
              <a:buSzTx/>
              <a:buFont typeface="Arial MT"/>
              <a:buChar char="•"/>
              <a:tabLst>
                <a:tab pos="306070" algn="l"/>
                <a:tab pos="306705" algn="l"/>
                <a:tab pos="2156460" algn="l"/>
                <a:tab pos="2984500" algn="l"/>
              </a:tabLst>
              <a:defRPr/>
            </a:pPr>
            <a:r>
              <a:rPr kumimoji="0" lang="en-US" altLang="zh-CN" sz="2200" b="0" i="0" u="none" strike="noStrike" kern="1200" cap="none" spc="-5" normalizeH="0" baseline="0" noProof="0" dirty="0">
                <a:ln>
                  <a:noFill/>
                </a:ln>
                <a:solidFill>
                  <a:prstClr val="black"/>
                </a:solidFill>
                <a:effectLst/>
                <a:uLnTx/>
                <a:uFillTx/>
                <a:latin typeface="Palatino Linotype"/>
                <a:cs typeface="Palatino Linotype"/>
              </a:rPr>
              <a:t>Example:</a:t>
            </a:r>
            <a:r>
              <a:rPr kumimoji="0" lang="en-US" altLang="zh-CN" sz="2200" b="0" i="0" u="none" strike="noStrike" kern="1200" cap="none" spc="5" normalizeH="0" baseline="0" noProof="0" dirty="0">
                <a:ln>
                  <a:noFill/>
                </a:ln>
                <a:solidFill>
                  <a:prstClr val="black"/>
                </a:solidFill>
                <a:effectLst/>
                <a:uLnTx/>
                <a:uFillTx/>
                <a:latin typeface="Palatino Linotype"/>
                <a:cs typeface="Palatino Linotype"/>
              </a:rPr>
              <a:t> </a:t>
            </a:r>
            <a:r>
              <a:rPr kumimoji="0" lang="zh-CN" altLang="en-US" sz="2200" b="0" i="0" u="none" strike="noStrike" kern="1200" cap="none" spc="0" normalizeH="0" baseline="0" noProof="0" dirty="0">
                <a:ln>
                  <a:noFill/>
                </a:ln>
                <a:solidFill>
                  <a:srgbClr val="FF0000"/>
                </a:solidFill>
                <a:effectLst/>
                <a:uLnTx/>
                <a:uFillTx/>
                <a:latin typeface="Cambria Math"/>
                <a:cs typeface="Cambria Math"/>
              </a:rPr>
              <a:t>𝐿</a:t>
            </a:r>
            <a:r>
              <a:rPr kumimoji="0" lang="en-US" altLang="zh-CN" sz="2200" b="0" i="0" u="none" strike="noStrike" kern="1200" cap="none" spc="180" normalizeH="0" baseline="0" noProof="0" dirty="0">
                <a:ln>
                  <a:noFill/>
                </a:ln>
                <a:solidFill>
                  <a:srgbClr val="FF0000"/>
                </a:solidFill>
                <a:effectLst/>
                <a:uLnTx/>
                <a:uFillTx/>
                <a:latin typeface="Cambria Math"/>
                <a:cs typeface="Cambria Math"/>
              </a:rPr>
              <a:t> </a:t>
            </a:r>
            <a:r>
              <a:rPr kumimoji="0" lang="en-US" altLang="zh-CN" sz="2200" b="0" i="0" u="none" strike="noStrike" kern="1200" cap="none" spc="0" normalizeH="0" baseline="0" noProof="0" dirty="0">
                <a:ln>
                  <a:noFill/>
                </a:ln>
                <a:solidFill>
                  <a:srgbClr val="FF0000"/>
                </a:solidFill>
                <a:effectLst/>
                <a:uLnTx/>
                <a:uFillTx/>
                <a:latin typeface="Cambria Math"/>
                <a:cs typeface="Cambria Math"/>
              </a:rPr>
              <a:t>={</a:t>
            </a:r>
            <a:r>
              <a:rPr kumimoji="0" lang="zh-CN" altLang="en-US" sz="2200" b="0" i="0" u="none" strike="noStrike" kern="1200" cap="none" spc="114" normalizeH="0" baseline="0" noProof="0" dirty="0">
                <a:ln>
                  <a:noFill/>
                </a:ln>
                <a:solidFill>
                  <a:srgbClr val="FF0000"/>
                </a:solidFill>
                <a:effectLst/>
                <a:uLnTx/>
                <a:uFillTx/>
                <a:latin typeface="Cambria Math"/>
                <a:cs typeface="Cambria Math"/>
              </a:rPr>
              <a:t>𝑎</a:t>
            </a:r>
            <a:r>
              <a:rPr kumimoji="0" lang="zh-CN" altLang="en-US" sz="2400" b="0" i="0" u="none" strike="noStrike" kern="1200" cap="none" spc="172" normalizeH="0" baseline="27777" noProof="0" dirty="0">
                <a:ln>
                  <a:noFill/>
                </a:ln>
                <a:solidFill>
                  <a:srgbClr val="FF0000"/>
                </a:solidFill>
                <a:effectLst/>
                <a:uLnTx/>
                <a:uFillTx/>
                <a:latin typeface="Cambria Math"/>
                <a:cs typeface="Cambria Math"/>
              </a:rPr>
              <a:t>𝑛</a:t>
            </a:r>
            <a:r>
              <a:rPr kumimoji="0" lang="zh-CN" altLang="en-US" sz="2200" b="0" i="0" u="none" strike="noStrike" kern="1200" cap="none" spc="114" normalizeH="0" baseline="0" noProof="0" dirty="0">
                <a:ln>
                  <a:noFill/>
                </a:ln>
                <a:solidFill>
                  <a:srgbClr val="FF0000"/>
                </a:solidFill>
                <a:effectLst/>
                <a:uLnTx/>
                <a:uFillTx/>
                <a:latin typeface="Cambria Math"/>
                <a:cs typeface="Cambria Math"/>
              </a:rPr>
              <a:t>𝑏</a:t>
            </a:r>
            <a:r>
              <a:rPr kumimoji="0" lang="zh-CN" altLang="en-US" sz="2400" b="0" i="0" u="none" strike="noStrike" kern="1200" cap="none" spc="172" normalizeH="0" baseline="27777" noProof="0" dirty="0">
                <a:ln>
                  <a:noFill/>
                </a:ln>
                <a:solidFill>
                  <a:srgbClr val="FF0000"/>
                </a:solidFill>
                <a:effectLst/>
                <a:uLnTx/>
                <a:uFillTx/>
                <a:latin typeface="Cambria Math"/>
                <a:cs typeface="Cambria Math"/>
              </a:rPr>
              <a:t>𝑛 </a:t>
            </a:r>
            <a:r>
              <a:rPr kumimoji="0" lang="en-US" altLang="zh-CN" sz="2200" b="0" i="0" u="none" strike="noStrike" kern="1200" cap="none" spc="0" normalizeH="0" baseline="0" noProof="0" dirty="0">
                <a:ln>
                  <a:noFill/>
                </a:ln>
                <a:solidFill>
                  <a:srgbClr val="FF0000"/>
                </a:solidFill>
                <a:effectLst/>
                <a:uLnTx/>
                <a:uFillTx/>
                <a:latin typeface="Cambria Math"/>
                <a:cs typeface="Cambria Math"/>
              </a:rPr>
              <a:t>| </a:t>
            </a:r>
            <a:r>
              <a:rPr kumimoji="0" lang="zh-CN" altLang="en-US" sz="2200" b="0" i="0" u="none" strike="noStrike" kern="1200" cap="none" spc="0" normalizeH="0" baseline="0" noProof="0" dirty="0">
                <a:ln>
                  <a:noFill/>
                </a:ln>
                <a:solidFill>
                  <a:srgbClr val="FF0000"/>
                </a:solidFill>
                <a:effectLst/>
                <a:uLnTx/>
                <a:uFillTx/>
                <a:latin typeface="Cambria Math"/>
                <a:cs typeface="Cambria Math"/>
              </a:rPr>
              <a:t>𝑛</a:t>
            </a:r>
            <a:r>
              <a:rPr kumimoji="0" lang="en-US" altLang="zh-CN" sz="2200" b="0" i="0" u="none" strike="noStrike" kern="1200" cap="none" spc="0" normalizeH="0" baseline="0" noProof="0" dirty="0">
                <a:ln>
                  <a:noFill/>
                </a:ln>
                <a:solidFill>
                  <a:srgbClr val="FF0000"/>
                </a:solidFill>
                <a:effectLst/>
                <a:uLnTx/>
                <a:uFillTx/>
                <a:latin typeface="Cambria Math"/>
                <a:cs typeface="Cambria Math"/>
              </a:rPr>
              <a:t>&gt;</a:t>
            </a:r>
            <a:r>
              <a:rPr kumimoji="0" lang="en-US" altLang="zh-CN" sz="2200" b="0" i="0" u="none" strike="noStrike" kern="1200" cap="none" spc="95" normalizeH="0" baseline="0" noProof="0" dirty="0">
                <a:ln>
                  <a:noFill/>
                </a:ln>
                <a:solidFill>
                  <a:srgbClr val="FF0000"/>
                </a:solidFill>
                <a:effectLst/>
                <a:uLnTx/>
                <a:uFillTx/>
                <a:latin typeface="Cambria Math"/>
                <a:cs typeface="Cambria Math"/>
              </a:rPr>
              <a:t> </a:t>
            </a:r>
            <a:r>
              <a:rPr kumimoji="0" lang="en-US" altLang="zh-CN" sz="2200" b="0" i="0" u="none" strike="noStrike" kern="1200" cap="none" spc="-5" normalizeH="0" baseline="0" noProof="0" dirty="0">
                <a:ln>
                  <a:noFill/>
                </a:ln>
                <a:solidFill>
                  <a:srgbClr val="FF0000"/>
                </a:solidFill>
                <a:effectLst/>
                <a:uLnTx/>
                <a:uFillTx/>
                <a:latin typeface="Cambria Math"/>
                <a:cs typeface="Cambria Math"/>
              </a:rPr>
              <a:t>0}</a:t>
            </a:r>
            <a:endParaRPr lang="zh-CN" altLang="en-US" sz="3050" kern="1200" dirty="0">
              <a:solidFill>
                <a:prstClr val="black"/>
              </a:solidFill>
              <a:latin typeface="Palatino Linotype"/>
              <a:cs typeface="Palatino Linotype"/>
            </a:endParaRPr>
          </a:p>
          <a:p>
            <a:pPr marL="762000" lvl="1" indent="-228600" rtl="0">
              <a:spcBef>
                <a:spcPts val="1670"/>
              </a:spcBef>
              <a:buFont typeface="Wingdings"/>
              <a:buChar char=""/>
              <a:tabLst>
                <a:tab pos="762000" algn="l"/>
              </a:tabLst>
            </a:pPr>
            <a:r>
              <a:rPr kern="1200" spc="-5" dirty="0">
                <a:solidFill>
                  <a:prstClr val="black"/>
                </a:solidFill>
                <a:latin typeface="Palatino Linotype"/>
                <a:cs typeface="Palatino Linotype"/>
              </a:rPr>
              <a:t>The </a:t>
            </a:r>
            <a:r>
              <a:rPr lang="en-US" kern="1200" spc="-5" dirty="0">
                <a:solidFill>
                  <a:prstClr val="black"/>
                </a:solidFill>
                <a:latin typeface="Palatino Linotype"/>
                <a:cs typeface="Palatino Linotype"/>
              </a:rPr>
              <a:t>language </a:t>
            </a:r>
            <a:r>
              <a:rPr lang="en-US" i="1" kern="1200" dirty="0">
                <a:solidFill>
                  <a:prstClr val="black"/>
                </a:solidFill>
                <a:latin typeface="Palatino Linotype"/>
                <a:cs typeface="Palatino Linotype"/>
              </a:rPr>
              <a:t>L</a:t>
            </a:r>
            <a:r>
              <a:rPr lang="en-US" i="1" kern="1200" spc="-5" dirty="0">
                <a:solidFill>
                  <a:prstClr val="black"/>
                </a:solidFill>
                <a:latin typeface="Palatino Linotype"/>
                <a:cs typeface="Palatino Linotype"/>
              </a:rPr>
              <a:t> </a:t>
            </a:r>
            <a:r>
              <a:rPr lang="en-US" kern="1200" dirty="0">
                <a:solidFill>
                  <a:prstClr val="black"/>
                </a:solidFill>
                <a:latin typeface="Palatino Linotype"/>
                <a:cs typeface="Palatino Linotype"/>
              </a:rPr>
              <a:t>can be </a:t>
            </a:r>
            <a:r>
              <a:rPr kern="1200" spc="-5" dirty="0">
                <a:solidFill>
                  <a:prstClr val="black"/>
                </a:solidFill>
                <a:latin typeface="Palatino Linotype"/>
                <a:cs typeface="Palatino Linotype"/>
              </a:rPr>
              <a:t>described</a:t>
            </a:r>
            <a:r>
              <a:rPr kern="1200" dirty="0">
                <a:solidFill>
                  <a:prstClr val="black"/>
                </a:solidFill>
                <a:latin typeface="Palatino Linotype"/>
                <a:cs typeface="Palatino Linotype"/>
              </a:rPr>
              <a:t> by</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CFG</a:t>
            </a:r>
            <a:r>
              <a:rPr kern="1200" dirty="0">
                <a:solidFill>
                  <a:prstClr val="black"/>
                </a:solidFill>
                <a:latin typeface="Palatino Linotype"/>
                <a:cs typeface="Palatino Linotype"/>
              </a:rPr>
              <a:t> </a:t>
            </a:r>
            <a:r>
              <a:rPr kern="1200" dirty="0">
                <a:solidFill>
                  <a:srgbClr val="0432FF"/>
                </a:solidFill>
                <a:latin typeface="Cambria Math"/>
                <a:cs typeface="Cambria Math"/>
              </a:rPr>
              <a:t>𝑆</a:t>
            </a:r>
            <a:r>
              <a:rPr kern="1200" spc="135" dirty="0">
                <a:solidFill>
                  <a:srgbClr val="0432FF"/>
                </a:solidFill>
                <a:latin typeface="Cambria Math"/>
                <a:cs typeface="Cambria Math"/>
              </a:rPr>
              <a:t> </a:t>
            </a:r>
            <a:r>
              <a:rPr kern="1200" dirty="0">
                <a:solidFill>
                  <a:srgbClr val="0432FF"/>
                </a:solidFill>
                <a:latin typeface="Cambria Math"/>
                <a:cs typeface="Cambria Math"/>
              </a:rPr>
              <a:t>→</a:t>
            </a:r>
            <a:r>
              <a:rPr kern="1200" spc="105" dirty="0">
                <a:solidFill>
                  <a:srgbClr val="0432FF"/>
                </a:solidFill>
                <a:latin typeface="Cambria Math"/>
                <a:cs typeface="Cambria Math"/>
              </a:rPr>
              <a:t> </a:t>
            </a:r>
            <a:r>
              <a:rPr kern="1200" spc="-5" dirty="0">
                <a:solidFill>
                  <a:srgbClr val="0432FF"/>
                </a:solidFill>
                <a:latin typeface="Cambria Math"/>
                <a:cs typeface="Cambria Math"/>
              </a:rPr>
              <a:t>𝑎𝑆𝑏</a:t>
            </a:r>
            <a:r>
              <a:rPr kern="1200" spc="45" dirty="0">
                <a:solidFill>
                  <a:srgbClr val="0432FF"/>
                </a:solidFill>
                <a:latin typeface="Cambria Math"/>
                <a:cs typeface="Cambria Math"/>
              </a:rPr>
              <a:t> </a:t>
            </a:r>
            <a:r>
              <a:rPr kern="1200" dirty="0">
                <a:solidFill>
                  <a:srgbClr val="0432FF"/>
                </a:solidFill>
                <a:latin typeface="Cambria Math"/>
                <a:cs typeface="Cambria Math"/>
              </a:rPr>
              <a:t>|</a:t>
            </a:r>
            <a:r>
              <a:rPr kern="1200" spc="5" dirty="0">
                <a:solidFill>
                  <a:srgbClr val="0432FF"/>
                </a:solidFill>
                <a:latin typeface="Cambria Math"/>
                <a:cs typeface="Cambria Math"/>
              </a:rPr>
              <a:t> </a:t>
            </a:r>
            <a:r>
              <a:rPr kern="1200" spc="-5" dirty="0">
                <a:solidFill>
                  <a:srgbClr val="0432FF"/>
                </a:solidFill>
                <a:latin typeface="Cambria Math"/>
                <a:cs typeface="Cambria Math"/>
              </a:rPr>
              <a:t>𝑎𝑏</a:t>
            </a:r>
            <a:endParaRPr kern="1200" dirty="0">
              <a:solidFill>
                <a:prstClr val="black"/>
              </a:solidFill>
              <a:latin typeface="Cambria Math"/>
              <a:cs typeface="Cambria Math"/>
            </a:endParaRPr>
          </a:p>
          <a:p>
            <a:pPr marL="762000" marR="381000" lvl="1" indent="-228600" rtl="0">
              <a:lnSpc>
                <a:spcPct val="121100"/>
              </a:lnSpc>
              <a:spcBef>
                <a:spcPts val="1175"/>
              </a:spcBef>
              <a:buFont typeface="Wingdings"/>
              <a:buChar char=""/>
              <a:tabLst>
                <a:tab pos="762000" algn="l"/>
              </a:tabLst>
            </a:pPr>
            <a:r>
              <a:rPr i="1" kern="1200" dirty="0">
                <a:solidFill>
                  <a:prstClr val="black"/>
                </a:solidFill>
                <a:latin typeface="Palatino Linotype"/>
                <a:cs typeface="Palatino Linotype"/>
              </a:rPr>
              <a:t>L</a:t>
            </a:r>
            <a:r>
              <a:rPr i="1" kern="1200" spc="-5" dirty="0">
                <a:solidFill>
                  <a:prstClr val="black"/>
                </a:solidFill>
                <a:latin typeface="Palatino Linotype"/>
                <a:cs typeface="Palatino Linotype"/>
              </a:rPr>
              <a:t> </a:t>
            </a:r>
            <a:r>
              <a:rPr kern="1200" dirty="0">
                <a:solidFill>
                  <a:prstClr val="black"/>
                </a:solidFill>
                <a:latin typeface="Palatino Linotype"/>
                <a:cs typeface="Palatino Linotype"/>
              </a:rPr>
              <a:t>cannot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described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by </a:t>
            </a:r>
            <a:r>
              <a:rPr kern="1200" spc="-5" dirty="0">
                <a:solidFill>
                  <a:prstClr val="black"/>
                </a:solidFill>
                <a:latin typeface="Palatino Linotype"/>
                <a:cs typeface="Palatino Linotype"/>
              </a:rPr>
              <a:t>regular</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expressions.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other </a:t>
            </a:r>
            <a:r>
              <a:rPr kern="1200" spc="-10" dirty="0">
                <a:solidFill>
                  <a:prstClr val="black"/>
                </a:solidFill>
                <a:latin typeface="Palatino Linotype"/>
                <a:cs typeface="Palatino Linotype"/>
              </a:rPr>
              <a:t>words,</a:t>
            </a:r>
            <a:r>
              <a:rPr kern="1200" spc="5" dirty="0">
                <a:solidFill>
                  <a:prstClr val="black"/>
                </a:solidFill>
                <a:latin typeface="Palatino Linotype"/>
                <a:cs typeface="Palatino Linotype"/>
              </a:rPr>
              <a:t> </a:t>
            </a:r>
            <a:r>
              <a:rPr kern="1200" spc="-20" dirty="0">
                <a:solidFill>
                  <a:prstClr val="black"/>
                </a:solidFill>
                <a:latin typeface="Palatino Linotype"/>
                <a:cs typeface="Palatino Linotype"/>
              </a:rPr>
              <a:t>we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cannot con</a:t>
            </a:r>
            <a:r>
              <a:rPr kern="1200" spc="-5" dirty="0">
                <a:solidFill>
                  <a:prstClr val="black"/>
                </a:solidFill>
                <a:latin typeface="Palatino Linotype"/>
                <a:cs typeface="Palatino Linotype"/>
              </a:rPr>
              <a:t>s</a:t>
            </a:r>
            <a:r>
              <a:rPr kern="1200" dirty="0">
                <a:solidFill>
                  <a:prstClr val="black"/>
                </a:solidFill>
                <a:latin typeface="Palatino Linotype"/>
                <a:cs typeface="Palatino Linotype"/>
              </a:rPr>
              <a:t>truct a </a:t>
            </a:r>
            <a:r>
              <a:rPr kern="1200" spc="-10" dirty="0">
                <a:solidFill>
                  <a:prstClr val="black"/>
                </a:solidFill>
                <a:latin typeface="Palatino Linotype"/>
                <a:cs typeface="Palatino Linotype"/>
              </a:rPr>
              <a:t>D</a:t>
            </a:r>
            <a:r>
              <a:rPr kern="1200" spc="-114" dirty="0">
                <a:solidFill>
                  <a:prstClr val="black"/>
                </a:solidFill>
                <a:latin typeface="Palatino Linotype"/>
                <a:cs typeface="Palatino Linotype"/>
              </a:rPr>
              <a:t>F</a:t>
            </a:r>
            <a:r>
              <a:rPr kern="1200" dirty="0">
                <a:solidFill>
                  <a:prstClr val="black"/>
                </a:solidFill>
                <a:latin typeface="Palatino Linotype"/>
                <a:cs typeface="Palatino Linotype"/>
              </a:rPr>
              <a:t>A</a:t>
            </a:r>
            <a:r>
              <a:rPr kern="1200" spc="-105" dirty="0">
                <a:solidFill>
                  <a:prstClr val="black"/>
                </a:solidFill>
                <a:latin typeface="Palatino Linotype"/>
                <a:cs typeface="Palatino Linotype"/>
              </a:rPr>
              <a:t> </a:t>
            </a:r>
            <a:r>
              <a:rPr kern="1200" dirty="0">
                <a:solidFill>
                  <a:prstClr val="black"/>
                </a:solidFill>
                <a:latin typeface="Palatino Linotype"/>
                <a:cs typeface="Palatino Linotype"/>
              </a:rPr>
              <a:t>to acce</a:t>
            </a:r>
            <a:r>
              <a:rPr kern="1200" spc="5" dirty="0">
                <a:solidFill>
                  <a:prstClr val="black"/>
                </a:solidFill>
                <a:latin typeface="Palatino Linotype"/>
                <a:cs typeface="Palatino Linotype"/>
              </a:rPr>
              <a:t>p</a:t>
            </a:r>
            <a:r>
              <a:rPr kern="1200" dirty="0">
                <a:solidFill>
                  <a:prstClr val="black"/>
                </a:solidFill>
                <a:latin typeface="Palatino Linotype"/>
                <a:cs typeface="Palatino Linotype"/>
              </a:rPr>
              <a:t>t </a:t>
            </a:r>
            <a:r>
              <a:rPr i="1" kern="1200" dirty="0">
                <a:solidFill>
                  <a:prstClr val="black"/>
                </a:solidFill>
                <a:latin typeface="Palatino Linotype"/>
                <a:cs typeface="Palatino Linotype"/>
              </a:rPr>
              <a:t>L</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2518466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23</a:t>
            </a:fld>
            <a:endParaRPr lang="en-US" dirty="0"/>
          </a:p>
        </p:txBody>
      </p:sp>
      <p:sp>
        <p:nvSpPr>
          <p:cNvPr id="7" name="object 2">
            <a:extLst>
              <a:ext uri="{FF2B5EF4-FFF2-40B4-BE49-F238E27FC236}">
                <a16:creationId xmlns:a16="http://schemas.microsoft.com/office/drawing/2014/main" id="{6D39499A-2244-1E53-BF26-63FC0ED7A726}"/>
              </a:ext>
            </a:extLst>
          </p:cNvPr>
          <p:cNvSpPr txBox="1">
            <a:spLocks/>
          </p:cNvSpPr>
          <p:nvPr/>
        </p:nvSpPr>
        <p:spPr>
          <a:xfrm>
            <a:off x="707390" y="524763"/>
            <a:ext cx="536194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Proof</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by</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Contradiction</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9243FD4-DC31-A06D-786D-578AEEA6A17C}"/>
              </a:ext>
            </a:extLst>
          </p:cNvPr>
          <p:cNvSpPr txBox="1"/>
          <p:nvPr/>
        </p:nvSpPr>
        <p:spPr>
          <a:xfrm>
            <a:off x="669290" y="1586991"/>
            <a:ext cx="7672705" cy="4542155"/>
          </a:xfrm>
          <a:prstGeom prst="rect">
            <a:avLst/>
          </a:prstGeom>
        </p:spPr>
        <p:txBody>
          <a:bodyPr vert="horz" wrap="square" lIns="0" tIns="12700" rIns="0" bIns="0" rtlCol="0">
            <a:spAutoFit/>
          </a:bodyPr>
          <a:lstStyle/>
          <a:p>
            <a:pPr marL="281305" indent="-230504" rtl="0">
              <a:spcBef>
                <a:spcPts val="100"/>
              </a:spcBef>
              <a:buFont typeface="Arial MT"/>
              <a:buChar char="•"/>
              <a:tabLst>
                <a:tab pos="280670" algn="l"/>
                <a:tab pos="281305" algn="l"/>
              </a:tabLst>
            </a:pPr>
            <a:r>
              <a:rPr sz="1900" kern="1200" dirty="0">
                <a:solidFill>
                  <a:prstClr val="black"/>
                </a:solidFill>
                <a:latin typeface="Palatino Linotype"/>
                <a:cs typeface="Palatino Linotype"/>
              </a:rPr>
              <a:t>Su</a:t>
            </a:r>
            <a:r>
              <a:rPr sz="1900" kern="1200" spc="-5" dirty="0">
                <a:solidFill>
                  <a:prstClr val="black"/>
                </a:solidFill>
                <a:latin typeface="Palatino Linotype"/>
                <a:cs typeface="Palatino Linotype"/>
              </a:rPr>
              <a:t>pp</a:t>
            </a:r>
            <a:r>
              <a:rPr sz="1900" kern="1200" dirty="0">
                <a:solidFill>
                  <a:prstClr val="black"/>
                </a:solidFill>
                <a:latin typeface="Palatino Linotype"/>
                <a:cs typeface="Palatino Linotype"/>
              </a:rPr>
              <a:t>o</a:t>
            </a:r>
            <a:r>
              <a:rPr sz="1900" kern="1200" spc="-10" dirty="0">
                <a:solidFill>
                  <a:prstClr val="black"/>
                </a:solidFill>
                <a:latin typeface="Palatino Linotype"/>
                <a:cs typeface="Palatino Linotype"/>
              </a:rPr>
              <a:t>s</a:t>
            </a:r>
            <a:r>
              <a:rPr sz="1900" kern="1200" dirty="0">
                <a:solidFill>
                  <a:prstClr val="black"/>
                </a:solidFill>
                <a:latin typeface="Palatino Linotype"/>
                <a:cs typeface="Palatino Linotype"/>
              </a:rPr>
              <a:t>e </a:t>
            </a:r>
            <a:r>
              <a:rPr sz="1900" kern="1200" spc="5" dirty="0">
                <a:solidFill>
                  <a:prstClr val="black"/>
                </a:solidFill>
                <a:latin typeface="Palatino Linotype"/>
                <a:cs typeface="Palatino Linotype"/>
              </a:rPr>
              <a:t>t</a:t>
            </a:r>
            <a:r>
              <a:rPr sz="1900" kern="1200" spc="-10" dirty="0">
                <a:solidFill>
                  <a:prstClr val="black"/>
                </a:solidFill>
                <a:latin typeface="Palatino Linotype"/>
                <a:cs typeface="Palatino Linotype"/>
              </a:rPr>
              <a:t>h</a:t>
            </a:r>
            <a:r>
              <a:rPr sz="1900" kern="1200" dirty="0">
                <a:solidFill>
                  <a:prstClr val="black"/>
                </a:solidFill>
                <a:latin typeface="Palatino Linotype"/>
                <a:cs typeface="Palatino Linotype"/>
              </a:rPr>
              <a:t>e</a:t>
            </a:r>
            <a:r>
              <a:rPr sz="1900" kern="1200" spc="-5" dirty="0">
                <a:solidFill>
                  <a:prstClr val="black"/>
                </a:solidFill>
                <a:latin typeface="Palatino Linotype"/>
                <a:cs typeface="Palatino Linotype"/>
              </a:rPr>
              <a:t>r</a:t>
            </a:r>
            <a:r>
              <a:rPr sz="1900" kern="1200" dirty="0">
                <a:solidFill>
                  <a:prstClr val="black"/>
                </a:solidFill>
                <a:latin typeface="Palatino Linotype"/>
                <a:cs typeface="Palatino Linotype"/>
              </a:rPr>
              <a:t>e </a:t>
            </a:r>
            <a:r>
              <a:rPr sz="1900" kern="1200" spc="-5" dirty="0">
                <a:solidFill>
                  <a:prstClr val="black"/>
                </a:solidFill>
                <a:latin typeface="Palatino Linotype"/>
                <a:cs typeface="Palatino Linotype"/>
              </a:rPr>
              <a:t>i</a:t>
            </a:r>
            <a:r>
              <a:rPr sz="1900" kern="1200" dirty="0">
                <a:solidFill>
                  <a:prstClr val="black"/>
                </a:solidFill>
                <a:latin typeface="Palatino Linotype"/>
                <a:cs typeface="Palatino Linotype"/>
              </a:rPr>
              <a:t>s</a:t>
            </a:r>
            <a:r>
              <a:rPr sz="1900" kern="1200" spc="-10" dirty="0">
                <a:solidFill>
                  <a:prstClr val="black"/>
                </a:solidFill>
                <a:latin typeface="Palatino Linotype"/>
                <a:cs typeface="Palatino Linotype"/>
              </a:rPr>
              <a:t> </a:t>
            </a:r>
            <a:r>
              <a:rPr sz="1900" kern="1200" dirty="0">
                <a:solidFill>
                  <a:prstClr val="black"/>
                </a:solidFill>
                <a:latin typeface="Palatino Linotype"/>
                <a:cs typeface="Palatino Linotype"/>
              </a:rPr>
              <a:t>a D</a:t>
            </a:r>
            <a:r>
              <a:rPr sz="1900" kern="1200" spc="-114" dirty="0">
                <a:solidFill>
                  <a:prstClr val="black"/>
                </a:solidFill>
                <a:latin typeface="Palatino Linotype"/>
                <a:cs typeface="Palatino Linotype"/>
              </a:rPr>
              <a:t>F</a:t>
            </a:r>
            <a:r>
              <a:rPr sz="1900" kern="1200" dirty="0">
                <a:solidFill>
                  <a:prstClr val="black"/>
                </a:solidFill>
                <a:latin typeface="Palatino Linotype"/>
                <a:cs typeface="Palatino Linotype"/>
              </a:rPr>
              <a:t>A</a:t>
            </a:r>
            <a:r>
              <a:rPr sz="1900" kern="1200" spc="-110" dirty="0">
                <a:solidFill>
                  <a:prstClr val="black"/>
                </a:solidFill>
                <a:latin typeface="Palatino Linotype"/>
                <a:cs typeface="Palatino Linotype"/>
              </a:rPr>
              <a:t> </a:t>
            </a:r>
            <a:r>
              <a:rPr sz="1900" kern="1200" dirty="0">
                <a:solidFill>
                  <a:srgbClr val="0432FF"/>
                </a:solidFill>
                <a:latin typeface="Cambria Math"/>
                <a:cs typeface="Cambria Math"/>
              </a:rPr>
              <a:t>𝐷</a:t>
            </a:r>
            <a:r>
              <a:rPr sz="1900" kern="1200" spc="105" dirty="0">
                <a:solidFill>
                  <a:srgbClr val="0432FF"/>
                </a:solidFill>
                <a:latin typeface="Cambria Math"/>
                <a:cs typeface="Cambria Math"/>
              </a:rPr>
              <a:t> </a:t>
            </a:r>
            <a:r>
              <a:rPr sz="1900" kern="1200" spc="5" dirty="0">
                <a:solidFill>
                  <a:srgbClr val="0432FF"/>
                </a:solidFill>
                <a:latin typeface="Palatino Linotype"/>
                <a:cs typeface="Palatino Linotype"/>
              </a:rPr>
              <a:t>t</a:t>
            </a:r>
            <a:r>
              <a:rPr sz="1900" kern="1200" spc="-10" dirty="0">
                <a:solidFill>
                  <a:srgbClr val="0432FF"/>
                </a:solidFill>
                <a:latin typeface="Palatino Linotype"/>
                <a:cs typeface="Palatino Linotype"/>
              </a:rPr>
              <a:t>h</a:t>
            </a:r>
            <a:r>
              <a:rPr sz="1900" kern="1200" dirty="0">
                <a:solidFill>
                  <a:srgbClr val="0432FF"/>
                </a:solidFill>
                <a:latin typeface="Palatino Linotype"/>
                <a:cs typeface="Palatino Linotype"/>
              </a:rPr>
              <a:t>at</a:t>
            </a:r>
            <a:r>
              <a:rPr sz="1900" kern="1200" spc="5" dirty="0">
                <a:solidFill>
                  <a:srgbClr val="0432FF"/>
                </a:solidFill>
                <a:latin typeface="Palatino Linotype"/>
                <a:cs typeface="Palatino Linotype"/>
              </a:rPr>
              <a:t> </a:t>
            </a:r>
            <a:r>
              <a:rPr sz="1900" kern="1200" dirty="0">
                <a:solidFill>
                  <a:srgbClr val="0432FF"/>
                </a:solidFill>
                <a:latin typeface="Palatino Linotype"/>
                <a:cs typeface="Palatino Linotype"/>
              </a:rPr>
              <a:t>a</a:t>
            </a:r>
            <a:r>
              <a:rPr sz="1900" kern="1200" spc="-10" dirty="0">
                <a:solidFill>
                  <a:srgbClr val="0432FF"/>
                </a:solidFill>
                <a:latin typeface="Palatino Linotype"/>
                <a:cs typeface="Palatino Linotype"/>
              </a:rPr>
              <a:t>cc</a:t>
            </a:r>
            <a:r>
              <a:rPr sz="1900" kern="1200" dirty="0">
                <a:solidFill>
                  <a:srgbClr val="0432FF"/>
                </a:solidFill>
                <a:latin typeface="Palatino Linotype"/>
                <a:cs typeface="Palatino Linotype"/>
              </a:rPr>
              <a:t>e</a:t>
            </a:r>
            <a:r>
              <a:rPr sz="1900" kern="1200" spc="-5" dirty="0">
                <a:solidFill>
                  <a:srgbClr val="0432FF"/>
                </a:solidFill>
                <a:latin typeface="Palatino Linotype"/>
                <a:cs typeface="Palatino Linotype"/>
              </a:rPr>
              <a:t>p</a:t>
            </a:r>
            <a:r>
              <a:rPr sz="1900" kern="1200" spc="5" dirty="0">
                <a:solidFill>
                  <a:srgbClr val="0432FF"/>
                </a:solidFill>
                <a:latin typeface="Palatino Linotype"/>
                <a:cs typeface="Palatino Linotype"/>
              </a:rPr>
              <a:t>t</a:t>
            </a:r>
            <a:r>
              <a:rPr sz="1900" kern="1200" dirty="0">
                <a:solidFill>
                  <a:srgbClr val="0432FF"/>
                </a:solidFill>
                <a:latin typeface="Palatino Linotype"/>
                <a:cs typeface="Palatino Linotype"/>
              </a:rPr>
              <a:t>s</a:t>
            </a:r>
            <a:r>
              <a:rPr sz="1900" kern="1200" spc="-10" dirty="0">
                <a:solidFill>
                  <a:srgbClr val="0432FF"/>
                </a:solidFill>
                <a:latin typeface="Palatino Linotype"/>
                <a:cs typeface="Palatino Linotype"/>
              </a:rPr>
              <a:t> </a:t>
            </a:r>
            <a:r>
              <a:rPr sz="1900" kern="1200" dirty="0">
                <a:solidFill>
                  <a:srgbClr val="0432FF"/>
                </a:solidFill>
                <a:latin typeface="Cambria Math"/>
                <a:cs typeface="Cambria Math"/>
              </a:rPr>
              <a:t>𝐿</a:t>
            </a:r>
            <a:r>
              <a:rPr sz="1900" kern="1200" spc="95" dirty="0">
                <a:solidFill>
                  <a:srgbClr val="0432FF"/>
                </a:solidFill>
                <a:latin typeface="Cambria Math"/>
                <a:cs typeface="Cambria Math"/>
              </a:rPr>
              <a:t> </a:t>
            </a:r>
            <a:r>
              <a:rPr sz="1900" kern="1200" dirty="0">
                <a:solidFill>
                  <a:prstClr val="black"/>
                </a:solidFill>
                <a:latin typeface="Palatino Linotype"/>
                <a:cs typeface="Palatino Linotype"/>
              </a:rPr>
              <a:t>a</a:t>
            </a:r>
            <a:r>
              <a:rPr sz="1900" kern="1200" spc="-10" dirty="0">
                <a:solidFill>
                  <a:prstClr val="black"/>
                </a:solidFill>
                <a:latin typeface="Palatino Linotype"/>
                <a:cs typeface="Palatino Linotype"/>
              </a:rPr>
              <a:t>n</a:t>
            </a:r>
            <a:r>
              <a:rPr sz="1900" kern="1200" dirty="0">
                <a:solidFill>
                  <a:prstClr val="black"/>
                </a:solidFill>
                <a:latin typeface="Palatino Linotype"/>
                <a:cs typeface="Palatino Linotype"/>
              </a:rPr>
              <a:t>d </a:t>
            </a:r>
            <a:r>
              <a:rPr sz="1900" kern="1200" dirty="0">
                <a:solidFill>
                  <a:srgbClr val="0432FF"/>
                </a:solidFill>
                <a:latin typeface="Cambria Math"/>
                <a:cs typeface="Cambria Math"/>
              </a:rPr>
              <a:t>𝐷</a:t>
            </a:r>
            <a:r>
              <a:rPr sz="1900" kern="1200" spc="105" dirty="0">
                <a:solidFill>
                  <a:srgbClr val="0432FF"/>
                </a:solidFill>
                <a:latin typeface="Cambria Math"/>
                <a:cs typeface="Cambria Math"/>
              </a:rPr>
              <a:t> </a:t>
            </a:r>
            <a:r>
              <a:rPr sz="1900" kern="1200" spc="-10" dirty="0">
                <a:solidFill>
                  <a:srgbClr val="0432FF"/>
                </a:solidFill>
                <a:latin typeface="Palatino Linotype"/>
                <a:cs typeface="Palatino Linotype"/>
              </a:rPr>
              <a:t>h</a:t>
            </a:r>
            <a:r>
              <a:rPr sz="1900" kern="1200" dirty="0">
                <a:solidFill>
                  <a:srgbClr val="0432FF"/>
                </a:solidFill>
                <a:latin typeface="Palatino Linotype"/>
                <a:cs typeface="Palatino Linotype"/>
              </a:rPr>
              <a:t>as</a:t>
            </a:r>
            <a:r>
              <a:rPr sz="1900" kern="1200" spc="-10" dirty="0">
                <a:solidFill>
                  <a:srgbClr val="0432FF"/>
                </a:solidFill>
                <a:latin typeface="Palatino Linotype"/>
                <a:cs typeface="Palatino Linotype"/>
              </a:rPr>
              <a:t> </a:t>
            </a:r>
            <a:r>
              <a:rPr sz="1900" kern="1200" dirty="0">
                <a:solidFill>
                  <a:srgbClr val="0432FF"/>
                </a:solidFill>
                <a:latin typeface="Cambria Math"/>
                <a:cs typeface="Cambria Math"/>
              </a:rPr>
              <a:t>𝑘</a:t>
            </a:r>
            <a:r>
              <a:rPr sz="1900" kern="1200" spc="110" dirty="0">
                <a:solidFill>
                  <a:srgbClr val="0432FF"/>
                </a:solidFill>
                <a:latin typeface="Cambria Math"/>
                <a:cs typeface="Cambria Math"/>
              </a:rPr>
              <a:t> </a:t>
            </a:r>
            <a:r>
              <a:rPr sz="1900" kern="1200" spc="-10" dirty="0">
                <a:solidFill>
                  <a:srgbClr val="0432FF"/>
                </a:solidFill>
                <a:latin typeface="Palatino Linotype"/>
                <a:cs typeface="Palatino Linotype"/>
              </a:rPr>
              <a:t>s</a:t>
            </a:r>
            <a:r>
              <a:rPr sz="1900" kern="1200" spc="5" dirty="0">
                <a:solidFill>
                  <a:srgbClr val="0432FF"/>
                </a:solidFill>
                <a:latin typeface="Palatino Linotype"/>
                <a:cs typeface="Palatino Linotype"/>
              </a:rPr>
              <a:t>t</a:t>
            </a:r>
            <a:r>
              <a:rPr sz="1900" kern="1200" dirty="0">
                <a:solidFill>
                  <a:srgbClr val="0432FF"/>
                </a:solidFill>
                <a:latin typeface="Palatino Linotype"/>
                <a:cs typeface="Palatino Linotype"/>
              </a:rPr>
              <a:t>a</a:t>
            </a:r>
            <a:r>
              <a:rPr sz="1900" kern="1200" spc="5" dirty="0">
                <a:solidFill>
                  <a:srgbClr val="0432FF"/>
                </a:solidFill>
                <a:latin typeface="Palatino Linotype"/>
                <a:cs typeface="Palatino Linotype"/>
              </a:rPr>
              <a:t>t</a:t>
            </a:r>
            <a:r>
              <a:rPr sz="1900" kern="1200" dirty="0">
                <a:solidFill>
                  <a:srgbClr val="0432FF"/>
                </a:solidFill>
                <a:latin typeface="Palatino Linotype"/>
                <a:cs typeface="Palatino Linotype"/>
              </a:rPr>
              <a:t>es</a:t>
            </a:r>
            <a:endParaRPr sz="1900" kern="1200" dirty="0">
              <a:solidFill>
                <a:prstClr val="black"/>
              </a:solidFill>
              <a:latin typeface="Palatino Linotype"/>
              <a:cs typeface="Palatino Linotype"/>
            </a:endParaRPr>
          </a:p>
          <a:p>
            <a:pPr marL="280670" marR="337185" indent="-230504" rtl="0">
              <a:lnSpc>
                <a:spcPct val="123200"/>
              </a:lnSpc>
              <a:spcBef>
                <a:spcPts val="1680"/>
              </a:spcBef>
              <a:buFont typeface="Arial MT"/>
              <a:buChar char="•"/>
              <a:tabLst>
                <a:tab pos="280670" algn="l"/>
                <a:tab pos="281305" algn="l"/>
              </a:tabLst>
            </a:pPr>
            <a:r>
              <a:rPr sz="1900" kern="1200" spc="-5" dirty="0">
                <a:solidFill>
                  <a:prstClr val="black"/>
                </a:solidFill>
                <a:latin typeface="Palatino Linotype"/>
                <a:cs typeface="Palatino Linotype"/>
              </a:rPr>
              <a:t>When</a:t>
            </a:r>
            <a:r>
              <a:rPr sz="1900" kern="1200" spc="-10" dirty="0">
                <a:solidFill>
                  <a:prstClr val="black"/>
                </a:solidFill>
                <a:latin typeface="Palatino Linotype"/>
                <a:cs typeface="Palatino Linotype"/>
              </a:rPr>
              <a:t> processing</a:t>
            </a:r>
            <a:r>
              <a:rPr sz="1900" kern="1200" spc="5" dirty="0">
                <a:solidFill>
                  <a:prstClr val="black"/>
                </a:solidFill>
                <a:latin typeface="Palatino Linotype"/>
                <a:cs typeface="Palatino Linotype"/>
              </a:rPr>
              <a:t> </a:t>
            </a:r>
            <a:r>
              <a:rPr sz="1900" kern="1200" spc="195" dirty="0">
                <a:solidFill>
                  <a:prstClr val="black"/>
                </a:solidFill>
                <a:latin typeface="Cambria Math"/>
                <a:cs typeface="Cambria Math"/>
              </a:rPr>
              <a:t>𝑎</a:t>
            </a:r>
            <a:r>
              <a:rPr sz="2100" kern="1200" spc="292" baseline="27777" dirty="0">
                <a:solidFill>
                  <a:srgbClr val="FF0000"/>
                </a:solidFill>
                <a:latin typeface="Cambria Math"/>
                <a:cs typeface="Cambria Math"/>
              </a:rPr>
              <a:t>𝑘</a:t>
            </a:r>
            <a:r>
              <a:rPr lang="en-US" altLang="zh-CN" sz="2100" kern="1200" spc="292" baseline="27777" dirty="0">
                <a:solidFill>
                  <a:srgbClr val="FF0000"/>
                </a:solidFill>
                <a:latin typeface="Cambria Math"/>
                <a:cs typeface="Cambria Math"/>
              </a:rPr>
              <a:t>+1</a:t>
            </a:r>
            <a:r>
              <a:rPr sz="2100" kern="1200" spc="120" baseline="27777" dirty="0">
                <a:solidFill>
                  <a:srgbClr val="FF0000"/>
                </a:solidFill>
                <a:latin typeface="Cambria Math"/>
                <a:cs typeface="Cambria Math"/>
              </a:rPr>
              <a:t> </a:t>
            </a:r>
            <a:r>
              <a:rPr sz="1900" kern="1200" spc="-5" dirty="0">
                <a:solidFill>
                  <a:prstClr val="black"/>
                </a:solidFill>
                <a:latin typeface="Cambria Math"/>
                <a:cs typeface="Cambria Math"/>
              </a:rPr>
              <a:t>…</a:t>
            </a:r>
            <a:r>
              <a:rPr sz="1900" kern="1200" spc="-5" dirty="0">
                <a:solidFill>
                  <a:prstClr val="black"/>
                </a:solidFill>
                <a:latin typeface="Palatino Linotype"/>
                <a:cs typeface="Palatino Linotype"/>
              </a:rPr>
              <a:t>,</a:t>
            </a:r>
            <a:r>
              <a:rPr sz="1900" kern="1200" dirty="0">
                <a:solidFill>
                  <a:prstClr val="black"/>
                </a:solidFill>
                <a:latin typeface="Palatino Linotype"/>
                <a:cs typeface="Palatino Linotype"/>
              </a:rPr>
              <a:t> </a:t>
            </a:r>
            <a:r>
              <a:rPr sz="1900" kern="1200" dirty="0">
                <a:solidFill>
                  <a:srgbClr val="0432FF"/>
                </a:solidFill>
                <a:latin typeface="Cambria Math"/>
                <a:cs typeface="Cambria Math"/>
              </a:rPr>
              <a:t>𝐷</a:t>
            </a:r>
            <a:r>
              <a:rPr sz="1900" kern="1200" spc="105" dirty="0">
                <a:solidFill>
                  <a:srgbClr val="0432FF"/>
                </a:solidFill>
                <a:latin typeface="Cambria Math"/>
                <a:cs typeface="Cambria Math"/>
              </a:rPr>
              <a:t> </a:t>
            </a:r>
            <a:r>
              <a:rPr sz="1900" kern="1200" spc="-5" dirty="0">
                <a:solidFill>
                  <a:srgbClr val="0432FF"/>
                </a:solidFill>
                <a:latin typeface="Palatino Linotype"/>
                <a:cs typeface="Palatino Linotype"/>
              </a:rPr>
              <a:t>must</a:t>
            </a:r>
            <a:r>
              <a:rPr sz="1900" kern="1200" spc="10" dirty="0">
                <a:solidFill>
                  <a:srgbClr val="0432FF"/>
                </a:solidFill>
                <a:latin typeface="Palatino Linotype"/>
                <a:cs typeface="Palatino Linotype"/>
              </a:rPr>
              <a:t> </a:t>
            </a:r>
            <a:r>
              <a:rPr sz="1900" kern="1200" spc="-5" dirty="0">
                <a:solidFill>
                  <a:srgbClr val="0432FF"/>
                </a:solidFill>
                <a:latin typeface="Palatino Linotype"/>
                <a:cs typeface="Palatino Linotype"/>
              </a:rPr>
              <a:t>enter </a:t>
            </a:r>
            <a:r>
              <a:rPr sz="1900" kern="1200" dirty="0">
                <a:solidFill>
                  <a:srgbClr val="0432FF"/>
                </a:solidFill>
                <a:latin typeface="Palatino Linotype"/>
                <a:cs typeface="Palatino Linotype"/>
              </a:rPr>
              <a:t>a state</a:t>
            </a:r>
            <a:r>
              <a:rPr sz="1900" kern="1200" spc="5" dirty="0">
                <a:solidFill>
                  <a:srgbClr val="0432FF"/>
                </a:solidFill>
                <a:latin typeface="Palatino Linotype"/>
                <a:cs typeface="Palatino Linotype"/>
              </a:rPr>
              <a:t> </a:t>
            </a:r>
            <a:r>
              <a:rPr sz="1900" kern="1200" dirty="0">
                <a:solidFill>
                  <a:srgbClr val="0432FF"/>
                </a:solidFill>
                <a:latin typeface="Cambria Math"/>
                <a:cs typeface="Cambria Math"/>
              </a:rPr>
              <a:t>𝑠</a:t>
            </a:r>
            <a:r>
              <a:rPr sz="1900" kern="1200" spc="90" dirty="0">
                <a:solidFill>
                  <a:srgbClr val="0432FF"/>
                </a:solidFill>
                <a:latin typeface="Cambria Math"/>
                <a:cs typeface="Cambria Math"/>
              </a:rPr>
              <a:t> </a:t>
            </a:r>
            <a:r>
              <a:rPr sz="1900" kern="1200" spc="-5" dirty="0">
                <a:solidFill>
                  <a:srgbClr val="0432FF"/>
                </a:solidFill>
                <a:latin typeface="Palatino Linotype"/>
                <a:cs typeface="Palatino Linotype"/>
              </a:rPr>
              <a:t>more</a:t>
            </a:r>
            <a:r>
              <a:rPr sz="1900" kern="1200" dirty="0">
                <a:solidFill>
                  <a:srgbClr val="0432FF"/>
                </a:solidFill>
                <a:latin typeface="Palatino Linotype"/>
                <a:cs typeface="Palatino Linotype"/>
              </a:rPr>
              <a:t> </a:t>
            </a:r>
            <a:r>
              <a:rPr sz="1900" kern="1200" spc="-5" dirty="0">
                <a:solidFill>
                  <a:srgbClr val="0432FF"/>
                </a:solidFill>
                <a:latin typeface="Palatino Linotype"/>
                <a:cs typeface="Palatino Linotype"/>
              </a:rPr>
              <a:t>than once</a:t>
            </a:r>
            <a:r>
              <a:rPr sz="1900" kern="1200" dirty="0">
                <a:solidFill>
                  <a:srgbClr val="0432FF"/>
                </a:solidFill>
                <a:latin typeface="Palatino Linotype"/>
                <a:cs typeface="Palatino Linotype"/>
              </a:rPr>
              <a:t> </a:t>
            </a:r>
            <a:r>
              <a:rPr sz="1900" kern="1200" dirty="0">
                <a:solidFill>
                  <a:prstClr val="black"/>
                </a:solidFill>
                <a:latin typeface="Palatino Linotype"/>
                <a:cs typeface="Palatino Linotype"/>
              </a:rPr>
              <a:t>(</a:t>
            </a:r>
            <a:r>
              <a:rPr sz="1900" kern="1200" dirty="0">
                <a:solidFill>
                  <a:prstClr val="black"/>
                </a:solidFill>
                <a:latin typeface="Cambria Math"/>
                <a:cs typeface="Cambria Math"/>
              </a:rPr>
              <a:t>𝐷 </a:t>
            </a:r>
            <a:r>
              <a:rPr sz="1900" kern="1200" spc="-400" dirty="0">
                <a:solidFill>
                  <a:prstClr val="black"/>
                </a:solidFill>
                <a:latin typeface="Cambria Math"/>
                <a:cs typeface="Cambria Math"/>
              </a:rPr>
              <a:t> </a:t>
            </a:r>
            <a:r>
              <a:rPr sz="1900" kern="1200" spc="-5" dirty="0">
                <a:solidFill>
                  <a:prstClr val="black"/>
                </a:solidFill>
                <a:latin typeface="Palatino Linotype"/>
                <a:cs typeface="Palatino Linotype"/>
              </a:rPr>
              <a:t>enters</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one</a:t>
            </a:r>
            <a:r>
              <a:rPr sz="1900" kern="1200" dirty="0">
                <a:solidFill>
                  <a:prstClr val="black"/>
                </a:solidFill>
                <a:latin typeface="Palatino Linotype"/>
                <a:cs typeface="Palatino Linotype"/>
              </a:rPr>
              <a:t> state after</a:t>
            </a:r>
            <a:r>
              <a:rPr sz="1900" kern="1200" spc="-5" dirty="0">
                <a:solidFill>
                  <a:prstClr val="black"/>
                </a:solidFill>
                <a:latin typeface="Palatino Linotype"/>
                <a:cs typeface="Palatino Linotype"/>
              </a:rPr>
              <a:t> </a:t>
            </a:r>
            <a:r>
              <a:rPr sz="1900" kern="1200" spc="-10" dirty="0">
                <a:solidFill>
                  <a:prstClr val="black"/>
                </a:solidFill>
                <a:latin typeface="Palatino Linotype"/>
                <a:cs typeface="Palatino Linotype"/>
              </a:rPr>
              <a:t>processing</a:t>
            </a:r>
            <a:r>
              <a:rPr sz="1900" kern="1200" spc="5" dirty="0">
                <a:solidFill>
                  <a:prstClr val="black"/>
                </a:solidFill>
                <a:latin typeface="Palatino Linotype"/>
                <a:cs typeface="Palatino Linotype"/>
              </a:rPr>
              <a:t> </a:t>
            </a:r>
            <a:r>
              <a:rPr sz="1900" kern="1200" dirty="0">
                <a:solidFill>
                  <a:prstClr val="black"/>
                </a:solidFill>
                <a:latin typeface="Palatino Linotype"/>
                <a:cs typeface="Palatino Linotype"/>
              </a:rPr>
              <a:t>a </a:t>
            </a:r>
            <a:r>
              <a:rPr sz="1900" kern="1200" spc="-5" dirty="0">
                <a:solidFill>
                  <a:prstClr val="black"/>
                </a:solidFill>
                <a:latin typeface="Palatino Linotype"/>
                <a:cs typeface="Palatino Linotype"/>
              </a:rPr>
              <a:t>symbol)</a:t>
            </a:r>
            <a:r>
              <a:rPr sz="1950" kern="1200" spc="-7" baseline="25641" dirty="0">
                <a:solidFill>
                  <a:prstClr val="black"/>
                </a:solidFill>
                <a:latin typeface="Palatino Linotype"/>
                <a:cs typeface="Palatino Linotype"/>
              </a:rPr>
              <a:t>1</a:t>
            </a:r>
            <a:endParaRPr sz="1950" kern="1200" baseline="25641" dirty="0">
              <a:solidFill>
                <a:prstClr val="black"/>
              </a:solidFill>
              <a:latin typeface="Palatino Linotype"/>
              <a:cs typeface="Palatino Linotype"/>
            </a:endParaRPr>
          </a:p>
          <a:p>
            <a:pPr marL="281305" indent="-230504" rtl="0">
              <a:spcBef>
                <a:spcPts val="2205"/>
              </a:spcBef>
              <a:buFont typeface="Arial MT"/>
              <a:buChar char="•"/>
              <a:tabLst>
                <a:tab pos="280670" algn="l"/>
                <a:tab pos="281305" algn="l"/>
              </a:tabLst>
            </a:pPr>
            <a:r>
              <a:rPr sz="1900" kern="1200" spc="-5" dirty="0">
                <a:solidFill>
                  <a:prstClr val="black"/>
                </a:solidFill>
                <a:latin typeface="Palatino Linotype"/>
                <a:cs typeface="Palatino Linotype"/>
              </a:rPr>
              <a:t>Assume that</a:t>
            </a:r>
            <a:r>
              <a:rPr sz="1900" kern="1200" spc="5" dirty="0">
                <a:solidFill>
                  <a:prstClr val="black"/>
                </a:solidFill>
                <a:latin typeface="Palatino Linotype"/>
                <a:cs typeface="Palatino Linotype"/>
              </a:rPr>
              <a:t> </a:t>
            </a:r>
            <a:r>
              <a:rPr sz="1900" kern="1200" dirty="0">
                <a:solidFill>
                  <a:srgbClr val="0432FF"/>
                </a:solidFill>
                <a:latin typeface="Cambria Math"/>
                <a:cs typeface="Cambria Math"/>
              </a:rPr>
              <a:t>𝐷</a:t>
            </a:r>
            <a:r>
              <a:rPr sz="1900" kern="1200" spc="105" dirty="0">
                <a:solidFill>
                  <a:srgbClr val="0432FF"/>
                </a:solidFill>
                <a:latin typeface="Cambria Math"/>
                <a:cs typeface="Cambria Math"/>
              </a:rPr>
              <a:t> </a:t>
            </a:r>
            <a:r>
              <a:rPr sz="1900" kern="1200" spc="-5" dirty="0">
                <a:solidFill>
                  <a:srgbClr val="0432FF"/>
                </a:solidFill>
                <a:latin typeface="Palatino Linotype"/>
                <a:cs typeface="Palatino Linotype"/>
              </a:rPr>
              <a:t>enters</a:t>
            </a:r>
            <a:r>
              <a:rPr sz="1900" kern="1200" spc="-10" dirty="0">
                <a:solidFill>
                  <a:srgbClr val="0432FF"/>
                </a:solidFill>
                <a:latin typeface="Palatino Linotype"/>
                <a:cs typeface="Palatino Linotype"/>
              </a:rPr>
              <a:t> </a:t>
            </a:r>
            <a:r>
              <a:rPr sz="1900" kern="1200" spc="-5" dirty="0">
                <a:solidFill>
                  <a:srgbClr val="0432FF"/>
                </a:solidFill>
                <a:latin typeface="Palatino Linotype"/>
                <a:cs typeface="Palatino Linotype"/>
              </a:rPr>
              <a:t>the</a:t>
            </a:r>
            <a:r>
              <a:rPr sz="1900" kern="1200" dirty="0">
                <a:solidFill>
                  <a:srgbClr val="0432FF"/>
                </a:solidFill>
                <a:latin typeface="Palatino Linotype"/>
                <a:cs typeface="Palatino Linotype"/>
              </a:rPr>
              <a:t> state </a:t>
            </a:r>
            <a:r>
              <a:rPr sz="1900" kern="1200" dirty="0">
                <a:solidFill>
                  <a:srgbClr val="0432FF"/>
                </a:solidFill>
                <a:latin typeface="Cambria Math"/>
                <a:cs typeface="Cambria Math"/>
              </a:rPr>
              <a:t>𝑠</a:t>
            </a:r>
            <a:r>
              <a:rPr sz="1900" kern="1200" spc="90" dirty="0">
                <a:solidFill>
                  <a:srgbClr val="0432FF"/>
                </a:solidFill>
                <a:latin typeface="Cambria Math"/>
                <a:cs typeface="Cambria Math"/>
              </a:rPr>
              <a:t> </a:t>
            </a:r>
            <a:r>
              <a:rPr sz="1900" kern="1200" dirty="0">
                <a:solidFill>
                  <a:srgbClr val="0432FF"/>
                </a:solidFill>
                <a:latin typeface="Palatino Linotype"/>
                <a:cs typeface="Palatino Linotype"/>
              </a:rPr>
              <a:t>after</a:t>
            </a:r>
            <a:r>
              <a:rPr sz="1900" kern="1200" spc="-5" dirty="0">
                <a:solidFill>
                  <a:srgbClr val="0432FF"/>
                </a:solidFill>
                <a:latin typeface="Palatino Linotype"/>
                <a:cs typeface="Palatino Linotype"/>
              </a:rPr>
              <a:t> reading</a:t>
            </a:r>
            <a:r>
              <a:rPr sz="1900" kern="1200" dirty="0">
                <a:solidFill>
                  <a:srgbClr val="0432FF"/>
                </a:solidFill>
                <a:latin typeface="Palatino Linotype"/>
                <a:cs typeface="Palatino Linotype"/>
              </a:rPr>
              <a:t> </a:t>
            </a:r>
            <a:r>
              <a:rPr sz="1900" kern="1200" spc="-5" dirty="0">
                <a:solidFill>
                  <a:srgbClr val="0432FF"/>
                </a:solidFill>
                <a:latin typeface="Palatino Linotype"/>
                <a:cs typeface="Palatino Linotype"/>
              </a:rPr>
              <a:t>the</a:t>
            </a:r>
            <a:r>
              <a:rPr sz="1900" kern="1200" dirty="0">
                <a:solidFill>
                  <a:srgbClr val="0432FF"/>
                </a:solidFill>
                <a:latin typeface="Palatino Linotype"/>
                <a:cs typeface="Palatino Linotype"/>
              </a:rPr>
              <a:t> </a:t>
            </a:r>
            <a:r>
              <a:rPr sz="1900" kern="1200" spc="20" dirty="0">
                <a:solidFill>
                  <a:srgbClr val="0432FF"/>
                </a:solidFill>
                <a:latin typeface="Cambria Math"/>
                <a:cs typeface="Cambria Math"/>
              </a:rPr>
              <a:t>𝑖</a:t>
            </a:r>
            <a:r>
              <a:rPr sz="1900" kern="1200" spc="20" dirty="0">
                <a:solidFill>
                  <a:srgbClr val="0432FF"/>
                </a:solidFill>
                <a:latin typeface="Palatino Linotype"/>
                <a:cs typeface="Palatino Linotype"/>
              </a:rPr>
              <a:t>th</a:t>
            </a:r>
            <a:r>
              <a:rPr sz="1900" kern="1200" spc="-10" dirty="0">
                <a:solidFill>
                  <a:srgbClr val="0432FF"/>
                </a:solidFill>
                <a:latin typeface="Palatino Linotype"/>
                <a:cs typeface="Palatino Linotype"/>
              </a:rPr>
              <a:t> </a:t>
            </a:r>
            <a:r>
              <a:rPr sz="1900" kern="1200" spc="-5" dirty="0">
                <a:solidFill>
                  <a:srgbClr val="0432FF"/>
                </a:solidFill>
                <a:latin typeface="Palatino Linotype"/>
                <a:cs typeface="Palatino Linotype"/>
              </a:rPr>
              <a:t>and</a:t>
            </a:r>
            <a:r>
              <a:rPr sz="1900" kern="1200" dirty="0">
                <a:solidFill>
                  <a:srgbClr val="0432FF"/>
                </a:solidFill>
                <a:latin typeface="Palatino Linotype"/>
                <a:cs typeface="Palatino Linotype"/>
              </a:rPr>
              <a:t> </a:t>
            </a:r>
            <a:r>
              <a:rPr sz="1900" kern="1200" spc="10" dirty="0">
                <a:solidFill>
                  <a:srgbClr val="0432FF"/>
                </a:solidFill>
                <a:latin typeface="Cambria Math"/>
                <a:cs typeface="Cambria Math"/>
              </a:rPr>
              <a:t>𝑗</a:t>
            </a:r>
            <a:r>
              <a:rPr sz="1900" kern="1200" spc="10" dirty="0">
                <a:solidFill>
                  <a:srgbClr val="0432FF"/>
                </a:solidFill>
                <a:latin typeface="Palatino Linotype"/>
                <a:cs typeface="Palatino Linotype"/>
              </a:rPr>
              <a:t>th</a:t>
            </a:r>
            <a:r>
              <a:rPr sz="1900" kern="1200" spc="-10" dirty="0">
                <a:solidFill>
                  <a:srgbClr val="0432FF"/>
                </a:solidFill>
                <a:latin typeface="Palatino Linotype"/>
                <a:cs typeface="Palatino Linotype"/>
              </a:rPr>
              <a:t> </a:t>
            </a:r>
            <a:r>
              <a:rPr sz="1900" kern="1200" dirty="0">
                <a:solidFill>
                  <a:srgbClr val="0432FF"/>
                </a:solidFill>
                <a:latin typeface="Cambria Math"/>
                <a:cs typeface="Cambria Math"/>
              </a:rPr>
              <a:t>𝑎</a:t>
            </a:r>
            <a:r>
              <a:rPr sz="1900" kern="1200" spc="105" dirty="0">
                <a:solidFill>
                  <a:srgbClr val="0432FF"/>
                </a:solidFill>
                <a:latin typeface="Cambria Math"/>
                <a:cs typeface="Cambria Math"/>
              </a:rPr>
              <a:t> </a:t>
            </a:r>
            <a:r>
              <a:rPr sz="1900" kern="1200" dirty="0">
                <a:solidFill>
                  <a:prstClr val="black"/>
                </a:solidFill>
                <a:latin typeface="Palatino Linotype"/>
                <a:cs typeface="Palatino Linotype"/>
              </a:rPr>
              <a:t>(</a:t>
            </a:r>
            <a:r>
              <a:rPr sz="1900" kern="1200" dirty="0">
                <a:solidFill>
                  <a:prstClr val="black"/>
                </a:solidFill>
                <a:latin typeface="Cambria Math"/>
                <a:cs typeface="Cambria Math"/>
              </a:rPr>
              <a:t>𝑖</a:t>
            </a:r>
            <a:r>
              <a:rPr sz="1900" kern="1200" spc="165" dirty="0">
                <a:solidFill>
                  <a:prstClr val="black"/>
                </a:solidFill>
                <a:latin typeface="Cambria Math"/>
                <a:cs typeface="Cambria Math"/>
              </a:rPr>
              <a:t> </a:t>
            </a:r>
            <a:r>
              <a:rPr sz="1900" kern="1200" dirty="0">
                <a:solidFill>
                  <a:prstClr val="black"/>
                </a:solidFill>
                <a:latin typeface="Cambria Math"/>
                <a:cs typeface="Cambria Math"/>
              </a:rPr>
              <a:t>≠</a:t>
            </a:r>
          </a:p>
          <a:p>
            <a:pPr marL="280670" rtl="0">
              <a:spcBef>
                <a:spcPts val="434"/>
              </a:spcBef>
            </a:pPr>
            <a:r>
              <a:rPr sz="1900" kern="1200" spc="35" dirty="0">
                <a:solidFill>
                  <a:prstClr val="black"/>
                </a:solidFill>
                <a:latin typeface="Cambria Math"/>
                <a:cs typeface="Cambria Math"/>
              </a:rPr>
              <a:t>𝑗</a:t>
            </a:r>
            <a:r>
              <a:rPr sz="1900" kern="1200" dirty="0">
                <a:solidFill>
                  <a:prstClr val="black"/>
                </a:solidFill>
                <a:latin typeface="Cambria Math"/>
                <a:cs typeface="Cambria Math"/>
              </a:rPr>
              <a:t>,</a:t>
            </a:r>
            <a:r>
              <a:rPr sz="1900" kern="1200" spc="-105" dirty="0">
                <a:solidFill>
                  <a:prstClr val="black"/>
                </a:solidFill>
                <a:latin typeface="Cambria Math"/>
                <a:cs typeface="Cambria Math"/>
              </a:rPr>
              <a:t> </a:t>
            </a:r>
            <a:r>
              <a:rPr sz="1900" kern="1200" dirty="0">
                <a:solidFill>
                  <a:prstClr val="black"/>
                </a:solidFill>
                <a:latin typeface="Cambria Math"/>
                <a:cs typeface="Cambria Math"/>
              </a:rPr>
              <a:t>𝑖</a:t>
            </a:r>
            <a:r>
              <a:rPr sz="1900" kern="1200" spc="165" dirty="0">
                <a:solidFill>
                  <a:prstClr val="black"/>
                </a:solidFill>
                <a:latin typeface="Cambria Math"/>
                <a:cs typeface="Cambria Math"/>
              </a:rPr>
              <a:t> </a:t>
            </a:r>
            <a:r>
              <a:rPr sz="1900" kern="1200" dirty="0">
                <a:solidFill>
                  <a:prstClr val="black"/>
                </a:solidFill>
                <a:latin typeface="Cambria Math"/>
                <a:cs typeface="Cambria Math"/>
              </a:rPr>
              <a:t>≤</a:t>
            </a:r>
            <a:r>
              <a:rPr sz="1900" kern="1200" spc="110" dirty="0">
                <a:solidFill>
                  <a:prstClr val="black"/>
                </a:solidFill>
                <a:latin typeface="Cambria Math"/>
                <a:cs typeface="Cambria Math"/>
              </a:rPr>
              <a:t> </a:t>
            </a:r>
            <a:r>
              <a:rPr sz="1900" kern="1200" dirty="0">
                <a:solidFill>
                  <a:prstClr val="black"/>
                </a:solidFill>
                <a:latin typeface="Cambria Math"/>
                <a:cs typeface="Cambria Math"/>
              </a:rPr>
              <a:t>𝑘</a:t>
            </a:r>
            <a:r>
              <a:rPr sz="1900" kern="1200" spc="60" dirty="0">
                <a:solidFill>
                  <a:prstClr val="black"/>
                </a:solidFill>
                <a:latin typeface="Cambria Math"/>
                <a:cs typeface="Cambria Math"/>
              </a:rPr>
              <a:t> </a:t>
            </a:r>
            <a:r>
              <a:rPr sz="1900" kern="1200" dirty="0">
                <a:solidFill>
                  <a:prstClr val="black"/>
                </a:solidFill>
                <a:latin typeface="Cambria Math"/>
                <a:cs typeface="Cambria Math"/>
              </a:rPr>
              <a:t>+</a:t>
            </a:r>
            <a:r>
              <a:rPr sz="1900" kern="1200" spc="5" dirty="0">
                <a:solidFill>
                  <a:prstClr val="black"/>
                </a:solidFill>
                <a:latin typeface="Cambria Math"/>
                <a:cs typeface="Cambria Math"/>
              </a:rPr>
              <a:t> </a:t>
            </a:r>
            <a:r>
              <a:rPr sz="1900" kern="1200" spc="-5" dirty="0">
                <a:solidFill>
                  <a:prstClr val="black"/>
                </a:solidFill>
                <a:latin typeface="Cambria Math"/>
                <a:cs typeface="Cambria Math"/>
              </a:rPr>
              <a:t>1</a:t>
            </a:r>
            <a:r>
              <a:rPr sz="1900" kern="1200" dirty="0">
                <a:solidFill>
                  <a:prstClr val="black"/>
                </a:solidFill>
                <a:latin typeface="Cambria Math"/>
                <a:cs typeface="Cambria Math"/>
              </a:rPr>
              <a:t>,</a:t>
            </a:r>
            <a:r>
              <a:rPr sz="1900" kern="1200" spc="-105" dirty="0">
                <a:solidFill>
                  <a:prstClr val="black"/>
                </a:solidFill>
                <a:latin typeface="Cambria Math"/>
                <a:cs typeface="Cambria Math"/>
              </a:rPr>
              <a:t> </a:t>
            </a:r>
            <a:r>
              <a:rPr sz="1900" kern="1200" dirty="0">
                <a:solidFill>
                  <a:prstClr val="black"/>
                </a:solidFill>
                <a:latin typeface="Cambria Math"/>
                <a:cs typeface="Cambria Math"/>
              </a:rPr>
              <a:t>𝑗</a:t>
            </a:r>
            <a:r>
              <a:rPr sz="1900" kern="1200" spc="145" dirty="0">
                <a:solidFill>
                  <a:prstClr val="black"/>
                </a:solidFill>
                <a:latin typeface="Cambria Math"/>
                <a:cs typeface="Cambria Math"/>
              </a:rPr>
              <a:t> </a:t>
            </a:r>
            <a:r>
              <a:rPr sz="1900" kern="1200" dirty="0">
                <a:solidFill>
                  <a:prstClr val="black"/>
                </a:solidFill>
                <a:latin typeface="Cambria Math"/>
                <a:cs typeface="Cambria Math"/>
              </a:rPr>
              <a:t>≤</a:t>
            </a:r>
            <a:r>
              <a:rPr sz="1900" kern="1200" spc="110" dirty="0">
                <a:solidFill>
                  <a:prstClr val="black"/>
                </a:solidFill>
                <a:latin typeface="Cambria Math"/>
                <a:cs typeface="Cambria Math"/>
              </a:rPr>
              <a:t> </a:t>
            </a:r>
            <a:r>
              <a:rPr sz="1900" kern="1200" dirty="0">
                <a:solidFill>
                  <a:prstClr val="black"/>
                </a:solidFill>
                <a:latin typeface="Cambria Math"/>
                <a:cs typeface="Cambria Math"/>
              </a:rPr>
              <a:t>𝑘</a:t>
            </a:r>
            <a:r>
              <a:rPr sz="1900" kern="1200" spc="60" dirty="0">
                <a:solidFill>
                  <a:prstClr val="black"/>
                </a:solidFill>
                <a:latin typeface="Cambria Math"/>
                <a:cs typeface="Cambria Math"/>
              </a:rPr>
              <a:t> </a:t>
            </a:r>
            <a:r>
              <a:rPr sz="1900" kern="1200" dirty="0">
                <a:solidFill>
                  <a:prstClr val="black"/>
                </a:solidFill>
                <a:latin typeface="Cambria Math"/>
                <a:cs typeface="Cambria Math"/>
              </a:rPr>
              <a:t>+</a:t>
            </a:r>
            <a:r>
              <a:rPr sz="1900" kern="1200" spc="5" dirty="0">
                <a:solidFill>
                  <a:prstClr val="black"/>
                </a:solidFill>
                <a:latin typeface="Cambria Math"/>
                <a:cs typeface="Cambria Math"/>
              </a:rPr>
              <a:t> </a:t>
            </a:r>
            <a:r>
              <a:rPr sz="1900" kern="1200" spc="-5" dirty="0">
                <a:solidFill>
                  <a:prstClr val="black"/>
                </a:solidFill>
                <a:latin typeface="Cambria Math"/>
                <a:cs typeface="Cambria Math"/>
              </a:rPr>
              <a:t>1</a:t>
            </a:r>
            <a:r>
              <a:rPr sz="1900" kern="1200" dirty="0">
                <a:solidFill>
                  <a:prstClr val="black"/>
                </a:solidFill>
                <a:latin typeface="Cambria Math"/>
                <a:cs typeface="Cambria Math"/>
              </a:rPr>
              <a:t>)</a:t>
            </a:r>
          </a:p>
          <a:p>
            <a:pPr marL="280670" marR="433705" indent="-230504" rtl="0">
              <a:lnSpc>
                <a:spcPct val="127400"/>
              </a:lnSpc>
              <a:spcBef>
                <a:spcPts val="1675"/>
              </a:spcBef>
              <a:buFont typeface="Arial MT"/>
              <a:buChar char="•"/>
              <a:tabLst>
                <a:tab pos="280670" algn="l"/>
                <a:tab pos="281305" algn="l"/>
              </a:tabLst>
            </a:pPr>
            <a:r>
              <a:rPr sz="1900" kern="1200" spc="-5" dirty="0">
                <a:solidFill>
                  <a:prstClr val="black"/>
                </a:solidFill>
                <a:latin typeface="Palatino Linotype"/>
                <a:cs typeface="Palatino Linotype"/>
              </a:rPr>
              <a:t>Since </a:t>
            </a:r>
            <a:r>
              <a:rPr sz="1900" kern="1200" dirty="0">
                <a:solidFill>
                  <a:prstClr val="black"/>
                </a:solidFill>
                <a:latin typeface="Cambria Math"/>
                <a:cs typeface="Cambria Math"/>
              </a:rPr>
              <a:t>𝐷</a:t>
            </a:r>
            <a:r>
              <a:rPr sz="1900" kern="1200" spc="100" dirty="0">
                <a:solidFill>
                  <a:prstClr val="black"/>
                </a:solidFill>
                <a:latin typeface="Cambria Math"/>
                <a:cs typeface="Cambria Math"/>
              </a:rPr>
              <a:t> </a:t>
            </a:r>
            <a:r>
              <a:rPr sz="1900" kern="1200" spc="-5" dirty="0">
                <a:solidFill>
                  <a:prstClr val="black"/>
                </a:solidFill>
                <a:latin typeface="Palatino Linotype"/>
                <a:cs typeface="Palatino Linotype"/>
              </a:rPr>
              <a:t>accepts</a:t>
            </a:r>
            <a:r>
              <a:rPr sz="1900" kern="1200" spc="-10" dirty="0">
                <a:solidFill>
                  <a:prstClr val="black"/>
                </a:solidFill>
                <a:latin typeface="Palatino Linotype"/>
                <a:cs typeface="Palatino Linotype"/>
              </a:rPr>
              <a:t> </a:t>
            </a:r>
            <a:r>
              <a:rPr sz="1900" kern="1200" spc="20" dirty="0">
                <a:solidFill>
                  <a:prstClr val="black"/>
                </a:solidFill>
                <a:latin typeface="Cambria Math"/>
                <a:cs typeface="Cambria Math"/>
              </a:rPr>
              <a:t>𝐿</a:t>
            </a:r>
            <a:r>
              <a:rPr sz="1900" kern="1200" spc="20" dirty="0">
                <a:solidFill>
                  <a:prstClr val="black"/>
                </a:solidFill>
                <a:latin typeface="Palatino Linotype"/>
                <a:cs typeface="Palatino Linotype"/>
              </a:rPr>
              <a:t>,</a:t>
            </a:r>
            <a:r>
              <a:rPr sz="1900" kern="1200" spc="-5" dirty="0">
                <a:solidFill>
                  <a:prstClr val="black"/>
                </a:solidFill>
                <a:latin typeface="Palatino Linotype"/>
                <a:cs typeface="Palatino Linotype"/>
              </a:rPr>
              <a:t> </a:t>
            </a:r>
            <a:r>
              <a:rPr sz="1900" kern="1200" spc="-120" dirty="0">
                <a:solidFill>
                  <a:srgbClr val="FF0000"/>
                </a:solidFill>
                <a:latin typeface="Cambria Math"/>
                <a:cs typeface="Cambria Math"/>
              </a:rPr>
              <a:t>𝑎</a:t>
            </a:r>
            <a:r>
              <a:rPr lang="en-US" sz="1900" kern="1200" spc="-120" dirty="0">
                <a:solidFill>
                  <a:srgbClr val="FF0000"/>
                </a:solidFill>
                <a:latin typeface="Cambria Math"/>
                <a:cs typeface="Cambria Math"/>
              </a:rPr>
              <a:t> </a:t>
            </a:r>
            <a:r>
              <a:rPr lang="en-US" altLang="zh-CN" sz="2100" kern="1200" spc="-179" baseline="27777" dirty="0">
                <a:solidFill>
                  <a:srgbClr val="FF0000"/>
                </a:solidFill>
                <a:latin typeface="Cambria Math"/>
                <a:cs typeface="Cambria Math"/>
              </a:rPr>
              <a:t>j  </a:t>
            </a:r>
            <a:r>
              <a:rPr sz="1900" kern="1200" spc="-120" dirty="0">
                <a:solidFill>
                  <a:srgbClr val="FF0000"/>
                </a:solidFill>
                <a:latin typeface="Cambria Math"/>
                <a:cs typeface="Cambria Math"/>
              </a:rPr>
              <a:t>𝑏</a:t>
            </a:r>
            <a:r>
              <a:rPr lang="en-US" sz="1900" kern="1200" spc="-120" dirty="0">
                <a:solidFill>
                  <a:srgbClr val="FF0000"/>
                </a:solidFill>
                <a:latin typeface="Cambria Math"/>
                <a:cs typeface="Cambria Math"/>
              </a:rPr>
              <a:t> </a:t>
            </a:r>
            <a:r>
              <a:rPr lang="en-US" sz="2100" kern="1200" spc="-179" baseline="27777" dirty="0">
                <a:solidFill>
                  <a:srgbClr val="FF0000"/>
                </a:solidFill>
                <a:latin typeface="Cambria Math"/>
                <a:cs typeface="Cambria Math"/>
              </a:rPr>
              <a:t>j</a:t>
            </a:r>
            <a:r>
              <a:rPr sz="2100" kern="1200" spc="52" baseline="27777" dirty="0">
                <a:solidFill>
                  <a:srgbClr val="FF0000"/>
                </a:solidFill>
                <a:latin typeface="Cambria Math"/>
                <a:cs typeface="Cambria Math"/>
              </a:rPr>
              <a:t> </a:t>
            </a:r>
            <a:r>
              <a:rPr sz="1900" kern="1200" spc="-5" dirty="0">
                <a:solidFill>
                  <a:prstClr val="black"/>
                </a:solidFill>
                <a:latin typeface="Palatino Linotype"/>
                <a:cs typeface="Palatino Linotype"/>
              </a:rPr>
              <a:t>must</a:t>
            </a:r>
            <a:r>
              <a:rPr sz="1900" kern="1200" spc="5" dirty="0">
                <a:solidFill>
                  <a:prstClr val="black"/>
                </a:solidFill>
                <a:latin typeface="Palatino Linotype"/>
                <a:cs typeface="Palatino Linotype"/>
              </a:rPr>
              <a:t> </a:t>
            </a:r>
            <a:r>
              <a:rPr sz="1900" kern="1200" spc="-5" dirty="0">
                <a:solidFill>
                  <a:prstClr val="black"/>
                </a:solidFill>
                <a:latin typeface="Palatino Linotype"/>
                <a:cs typeface="Palatino Linotype"/>
              </a:rPr>
              <a:t>reach</a:t>
            </a:r>
            <a:r>
              <a:rPr sz="1900" kern="1200" spc="-15" dirty="0">
                <a:solidFill>
                  <a:prstClr val="black"/>
                </a:solidFill>
                <a:latin typeface="Palatino Linotype"/>
                <a:cs typeface="Palatino Linotype"/>
              </a:rPr>
              <a:t> </a:t>
            </a:r>
            <a:r>
              <a:rPr sz="1900" kern="1200" dirty="0">
                <a:solidFill>
                  <a:prstClr val="black"/>
                </a:solidFill>
                <a:latin typeface="Palatino Linotype"/>
                <a:cs typeface="Palatino Linotype"/>
              </a:rPr>
              <a:t>an</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accepting</a:t>
            </a:r>
            <a:r>
              <a:rPr sz="1900" kern="1200" dirty="0">
                <a:solidFill>
                  <a:prstClr val="black"/>
                </a:solidFill>
                <a:latin typeface="Palatino Linotype"/>
                <a:cs typeface="Palatino Linotype"/>
              </a:rPr>
              <a:t> state. </a:t>
            </a:r>
            <a:r>
              <a:rPr sz="1900" kern="1200" spc="-5" dirty="0">
                <a:solidFill>
                  <a:prstClr val="black"/>
                </a:solidFill>
                <a:latin typeface="Palatino Linotype"/>
                <a:cs typeface="Palatino Linotype"/>
              </a:rPr>
              <a:t>There must </a:t>
            </a:r>
            <a:r>
              <a:rPr sz="1900" kern="1200" spc="-459" dirty="0">
                <a:solidFill>
                  <a:prstClr val="black"/>
                </a:solidFill>
                <a:latin typeface="Palatino Linotype"/>
                <a:cs typeface="Palatino Linotype"/>
              </a:rPr>
              <a:t> </a:t>
            </a:r>
            <a:r>
              <a:rPr sz="1900" kern="1200" spc="-5" dirty="0">
                <a:solidFill>
                  <a:prstClr val="black"/>
                </a:solidFill>
                <a:latin typeface="Palatino Linotype"/>
                <a:cs typeface="Palatino Linotype"/>
              </a:rPr>
              <a:t>exist</a:t>
            </a:r>
            <a:r>
              <a:rPr sz="1900" kern="1200" dirty="0">
                <a:solidFill>
                  <a:prstClr val="black"/>
                </a:solidFill>
                <a:latin typeface="Palatino Linotype"/>
                <a:cs typeface="Palatino Linotype"/>
              </a:rPr>
              <a:t> a path</a:t>
            </a:r>
            <a:r>
              <a:rPr sz="1900" kern="1200" spc="-10" dirty="0">
                <a:solidFill>
                  <a:prstClr val="black"/>
                </a:solidFill>
                <a:latin typeface="Palatino Linotype"/>
                <a:cs typeface="Palatino Linotype"/>
              </a:rPr>
              <a:t> </a:t>
            </a:r>
            <a:r>
              <a:rPr sz="1900" kern="1200" spc="-5" dirty="0">
                <a:solidFill>
                  <a:prstClr val="black"/>
                </a:solidFill>
                <a:latin typeface="Palatino Linotype"/>
                <a:cs typeface="Palatino Linotype"/>
              </a:rPr>
              <a:t>labeled </a:t>
            </a:r>
            <a:r>
              <a:rPr sz="1900" kern="1200" spc="-145" dirty="0">
                <a:solidFill>
                  <a:prstClr val="black"/>
                </a:solidFill>
                <a:latin typeface="Cambria Math"/>
                <a:cs typeface="Cambria Math"/>
              </a:rPr>
              <a:t>𝑏</a:t>
            </a:r>
            <a:r>
              <a:rPr sz="2100" kern="1200" spc="-217" baseline="27777" dirty="0">
                <a:solidFill>
                  <a:prstClr val="black"/>
                </a:solidFill>
                <a:latin typeface="Cambria Math"/>
                <a:cs typeface="Cambria Math"/>
              </a:rPr>
              <a:t>+</a:t>
            </a:r>
            <a:r>
              <a:rPr sz="2100" kern="1200" spc="-60" baseline="27777" dirty="0">
                <a:solidFill>
                  <a:prstClr val="black"/>
                </a:solidFill>
                <a:latin typeface="Cambria Math"/>
                <a:cs typeface="Cambria Math"/>
              </a:rPr>
              <a:t> </a:t>
            </a:r>
            <a:r>
              <a:rPr sz="1900" kern="1200" spc="-5" dirty="0">
                <a:solidFill>
                  <a:prstClr val="black"/>
                </a:solidFill>
                <a:latin typeface="Palatino Linotype"/>
                <a:cs typeface="Palatino Linotype"/>
              </a:rPr>
              <a:t>from </a:t>
            </a:r>
            <a:r>
              <a:rPr sz="1900" kern="1200" dirty="0">
                <a:solidFill>
                  <a:prstClr val="black"/>
                </a:solidFill>
                <a:latin typeface="Cambria Math"/>
                <a:cs typeface="Cambria Math"/>
              </a:rPr>
              <a:t>𝑠</a:t>
            </a:r>
            <a:r>
              <a:rPr sz="1900" kern="1200" spc="90" dirty="0">
                <a:solidFill>
                  <a:prstClr val="black"/>
                </a:solidFill>
                <a:latin typeface="Cambria Math"/>
                <a:cs typeface="Cambria Math"/>
              </a:rPr>
              <a:t> </a:t>
            </a:r>
            <a:r>
              <a:rPr sz="1900" kern="1200" dirty="0">
                <a:solidFill>
                  <a:prstClr val="black"/>
                </a:solidFill>
                <a:latin typeface="Palatino Linotype"/>
                <a:cs typeface="Palatino Linotype"/>
              </a:rPr>
              <a:t>to an</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accepting</a:t>
            </a:r>
            <a:r>
              <a:rPr sz="1900" kern="1200" spc="5" dirty="0">
                <a:solidFill>
                  <a:prstClr val="black"/>
                </a:solidFill>
                <a:latin typeface="Palatino Linotype"/>
                <a:cs typeface="Palatino Linotype"/>
              </a:rPr>
              <a:t> </a:t>
            </a:r>
            <a:r>
              <a:rPr sz="1900" kern="1200" dirty="0">
                <a:solidFill>
                  <a:prstClr val="black"/>
                </a:solidFill>
                <a:latin typeface="Palatino Linotype"/>
                <a:cs typeface="Palatino Linotype"/>
              </a:rPr>
              <a:t>state</a:t>
            </a:r>
          </a:p>
          <a:p>
            <a:pPr marL="280670" marR="43180" indent="-230504" rtl="0">
              <a:lnSpc>
                <a:spcPct val="123200"/>
              </a:lnSpc>
              <a:spcBef>
                <a:spcPts val="1800"/>
              </a:spcBef>
              <a:buFont typeface="Arial MT"/>
              <a:buChar char="•"/>
              <a:tabLst>
                <a:tab pos="280670" algn="l"/>
                <a:tab pos="281305" algn="l"/>
              </a:tabLst>
            </a:pPr>
            <a:r>
              <a:rPr sz="1900" kern="1200" spc="-5" dirty="0">
                <a:solidFill>
                  <a:prstClr val="black"/>
                </a:solidFill>
                <a:latin typeface="Palatino Linotype"/>
                <a:cs typeface="Palatino Linotype"/>
              </a:rPr>
              <a:t>Since </a:t>
            </a:r>
            <a:r>
              <a:rPr sz="1900" kern="1200" spc="75" dirty="0">
                <a:solidFill>
                  <a:prstClr val="black"/>
                </a:solidFill>
                <a:latin typeface="Cambria Math"/>
                <a:cs typeface="Cambria Math"/>
              </a:rPr>
              <a:t>𝑎</a:t>
            </a:r>
            <a:r>
              <a:rPr sz="2100" kern="1200" spc="112" baseline="27777" dirty="0" err="1">
                <a:solidFill>
                  <a:prstClr val="black"/>
                </a:solidFill>
                <a:latin typeface="Cambria Math"/>
                <a:cs typeface="Cambria Math"/>
              </a:rPr>
              <a:t>i</a:t>
            </a:r>
            <a:r>
              <a:rPr sz="2100" kern="1200" spc="120" baseline="27777" dirty="0">
                <a:solidFill>
                  <a:prstClr val="black"/>
                </a:solidFill>
                <a:latin typeface="Cambria Math"/>
                <a:cs typeface="Cambria Math"/>
              </a:rPr>
              <a:t> </a:t>
            </a:r>
            <a:r>
              <a:rPr sz="1900" kern="1200" spc="-5" dirty="0">
                <a:solidFill>
                  <a:prstClr val="black"/>
                </a:solidFill>
                <a:latin typeface="Palatino Linotype"/>
                <a:cs typeface="Palatino Linotype"/>
              </a:rPr>
              <a:t>reaches the </a:t>
            </a:r>
            <a:r>
              <a:rPr sz="1900" kern="1200" dirty="0">
                <a:solidFill>
                  <a:prstClr val="black"/>
                </a:solidFill>
                <a:latin typeface="Palatino Linotype"/>
                <a:cs typeface="Palatino Linotype"/>
              </a:rPr>
              <a:t>state </a:t>
            </a:r>
            <a:r>
              <a:rPr sz="1900" kern="1200" dirty="0">
                <a:solidFill>
                  <a:prstClr val="black"/>
                </a:solidFill>
                <a:latin typeface="Cambria Math"/>
                <a:cs typeface="Cambria Math"/>
              </a:rPr>
              <a:t>𝑠 </a:t>
            </a:r>
            <a:r>
              <a:rPr sz="1900" kern="1200" spc="-5" dirty="0">
                <a:solidFill>
                  <a:prstClr val="black"/>
                </a:solidFill>
                <a:latin typeface="Palatino Linotype"/>
                <a:cs typeface="Palatino Linotype"/>
              </a:rPr>
              <a:t>and there is </a:t>
            </a:r>
            <a:r>
              <a:rPr sz="1900" kern="1200" dirty="0">
                <a:solidFill>
                  <a:prstClr val="black"/>
                </a:solidFill>
                <a:latin typeface="Palatino Linotype"/>
                <a:cs typeface="Palatino Linotype"/>
              </a:rPr>
              <a:t>a path </a:t>
            </a:r>
            <a:r>
              <a:rPr sz="1900" kern="1200" spc="-5" dirty="0">
                <a:solidFill>
                  <a:prstClr val="black"/>
                </a:solidFill>
                <a:latin typeface="Palatino Linotype"/>
                <a:cs typeface="Palatino Linotype"/>
              </a:rPr>
              <a:t>labeled </a:t>
            </a:r>
            <a:r>
              <a:rPr sz="1900" kern="1200" spc="-145" dirty="0">
                <a:solidFill>
                  <a:prstClr val="black"/>
                </a:solidFill>
                <a:latin typeface="Cambria Math"/>
                <a:cs typeface="Cambria Math"/>
              </a:rPr>
              <a:t>𝑏</a:t>
            </a:r>
            <a:r>
              <a:rPr sz="2100" kern="1200" spc="-217" baseline="27777" dirty="0">
                <a:solidFill>
                  <a:prstClr val="black"/>
                </a:solidFill>
                <a:latin typeface="Cambria Math"/>
                <a:cs typeface="Cambria Math"/>
              </a:rPr>
              <a:t>+</a:t>
            </a:r>
            <a:r>
              <a:rPr sz="2100" kern="1200" spc="-209" baseline="27777" dirty="0">
                <a:solidFill>
                  <a:prstClr val="black"/>
                </a:solidFill>
                <a:latin typeface="Cambria Math"/>
                <a:cs typeface="Cambria Math"/>
              </a:rPr>
              <a:t> </a:t>
            </a:r>
            <a:r>
              <a:rPr sz="1900" kern="1200" spc="-5" dirty="0">
                <a:solidFill>
                  <a:prstClr val="black"/>
                </a:solidFill>
                <a:latin typeface="Palatino Linotype"/>
                <a:cs typeface="Palatino Linotype"/>
              </a:rPr>
              <a:t>from </a:t>
            </a:r>
            <a:r>
              <a:rPr sz="1900" kern="1200" dirty="0">
                <a:solidFill>
                  <a:prstClr val="black"/>
                </a:solidFill>
                <a:latin typeface="Cambria Math"/>
                <a:cs typeface="Cambria Math"/>
              </a:rPr>
              <a:t>𝑠 </a:t>
            </a:r>
            <a:r>
              <a:rPr sz="1900" kern="1200" dirty="0">
                <a:solidFill>
                  <a:prstClr val="black"/>
                </a:solidFill>
                <a:latin typeface="Palatino Linotype"/>
                <a:cs typeface="Palatino Linotype"/>
              </a:rPr>
              <a:t>to an </a:t>
            </a:r>
            <a:r>
              <a:rPr sz="1900" kern="1200" spc="-459" dirty="0">
                <a:solidFill>
                  <a:prstClr val="black"/>
                </a:solidFill>
                <a:latin typeface="Palatino Linotype"/>
                <a:cs typeface="Palatino Linotype"/>
              </a:rPr>
              <a:t> </a:t>
            </a:r>
            <a:r>
              <a:rPr sz="1900" kern="1200" spc="-5" dirty="0">
                <a:solidFill>
                  <a:prstClr val="black"/>
                </a:solidFill>
                <a:latin typeface="Palatino Linotype"/>
                <a:cs typeface="Palatino Linotype"/>
              </a:rPr>
              <a:t>accepting</a:t>
            </a:r>
            <a:r>
              <a:rPr sz="1900" kern="1200" dirty="0">
                <a:solidFill>
                  <a:prstClr val="black"/>
                </a:solidFill>
                <a:latin typeface="Palatino Linotype"/>
                <a:cs typeface="Palatino Linotype"/>
              </a:rPr>
              <a:t> state, </a:t>
            </a:r>
            <a:r>
              <a:rPr sz="1900" kern="1200" dirty="0">
                <a:solidFill>
                  <a:srgbClr val="FF0000"/>
                </a:solidFill>
                <a:latin typeface="Cambria Math"/>
                <a:cs typeface="Cambria Math"/>
              </a:rPr>
              <a:t>𝐷</a:t>
            </a:r>
            <a:r>
              <a:rPr sz="1900" kern="1200" spc="105" dirty="0">
                <a:solidFill>
                  <a:srgbClr val="FF0000"/>
                </a:solidFill>
                <a:latin typeface="Cambria Math"/>
                <a:cs typeface="Cambria Math"/>
              </a:rPr>
              <a:t> </a:t>
            </a:r>
            <a:r>
              <a:rPr sz="1900" kern="1200" spc="-5" dirty="0">
                <a:solidFill>
                  <a:srgbClr val="FF0000"/>
                </a:solidFill>
                <a:latin typeface="Palatino Linotype"/>
                <a:cs typeface="Palatino Linotype"/>
              </a:rPr>
              <a:t>will accept</a:t>
            </a:r>
            <a:r>
              <a:rPr sz="1900" kern="1200" spc="5" dirty="0">
                <a:solidFill>
                  <a:srgbClr val="FF0000"/>
                </a:solidFill>
                <a:latin typeface="Palatino Linotype"/>
                <a:cs typeface="Palatino Linotype"/>
              </a:rPr>
              <a:t> </a:t>
            </a:r>
            <a:r>
              <a:rPr sz="1900" kern="1200" spc="15" dirty="0">
                <a:solidFill>
                  <a:srgbClr val="FF0000"/>
                </a:solidFill>
                <a:latin typeface="Cambria Math"/>
                <a:cs typeface="Cambria Math"/>
              </a:rPr>
              <a:t>𝑎</a:t>
            </a:r>
            <a:r>
              <a:rPr lang="en-US" sz="2100" kern="1200" spc="22" baseline="27777" dirty="0">
                <a:solidFill>
                  <a:srgbClr val="FF0000"/>
                </a:solidFill>
                <a:latin typeface="Cambria Math"/>
                <a:cs typeface="Cambria Math"/>
              </a:rPr>
              <a:t>𝑖</a:t>
            </a:r>
            <a:r>
              <a:rPr sz="1900" kern="1200" spc="15" dirty="0">
                <a:solidFill>
                  <a:srgbClr val="FF0000"/>
                </a:solidFill>
                <a:latin typeface="Cambria Math"/>
                <a:cs typeface="Cambria Math"/>
              </a:rPr>
              <a:t>𝑏</a:t>
            </a:r>
            <a:r>
              <a:rPr lang="en-US" sz="2100" kern="1200" spc="22" baseline="27777" dirty="0">
                <a:solidFill>
                  <a:srgbClr val="FF0000"/>
                </a:solidFill>
                <a:latin typeface="Cambria Math"/>
                <a:cs typeface="Cambria Math"/>
              </a:rPr>
              <a:t>j</a:t>
            </a:r>
            <a:r>
              <a:rPr sz="1900" kern="1200" spc="15" dirty="0">
                <a:solidFill>
                  <a:prstClr val="black"/>
                </a:solidFill>
                <a:latin typeface="Palatino Linotype"/>
                <a:cs typeface="Palatino Linotype"/>
              </a:rPr>
              <a:t>.</a:t>
            </a:r>
            <a:r>
              <a:rPr sz="1900" kern="1200" dirty="0">
                <a:solidFill>
                  <a:prstClr val="black"/>
                </a:solidFill>
                <a:latin typeface="Palatino Linotype"/>
                <a:cs typeface="Palatino Linotype"/>
              </a:rPr>
              <a:t> </a:t>
            </a:r>
            <a:r>
              <a:rPr sz="1900" kern="1200" spc="-5" dirty="0">
                <a:solidFill>
                  <a:srgbClr val="FF0000"/>
                </a:solidFill>
                <a:latin typeface="Palatino Linotype"/>
                <a:cs typeface="Palatino Linotype"/>
              </a:rPr>
              <a:t>Contradiction!!!</a:t>
            </a:r>
            <a:endParaRPr sz="1900" kern="1200" dirty="0">
              <a:solidFill>
                <a:prstClr val="black"/>
              </a:solidFill>
              <a:latin typeface="Palatino Linotype"/>
              <a:cs typeface="Palatino Linotype"/>
            </a:endParaRPr>
          </a:p>
          <a:p>
            <a:pPr marL="50800" rtl="0">
              <a:spcBef>
                <a:spcPts val="2205"/>
              </a:spcBef>
            </a:pPr>
            <a:r>
              <a:rPr sz="1350" kern="1200" baseline="24691" dirty="0">
                <a:solidFill>
                  <a:schemeClr val="bg2">
                    <a:lumMod val="50000"/>
                  </a:schemeClr>
                </a:solidFill>
                <a:latin typeface="Palatino Linotype"/>
                <a:cs typeface="Palatino Linotype"/>
              </a:rPr>
              <a:t>1</a:t>
            </a:r>
            <a:r>
              <a:rPr sz="1350" kern="1200" spc="202" baseline="24691"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a</a:t>
            </a:r>
            <a:r>
              <a:rPr sz="1350" kern="1200" spc="7" baseline="24691" dirty="0">
                <a:solidFill>
                  <a:schemeClr val="bg2">
                    <a:lumMod val="50000"/>
                  </a:schemeClr>
                </a:solidFill>
                <a:latin typeface="Palatino Linotype"/>
                <a:cs typeface="Palatino Linotype"/>
              </a:rPr>
              <a:t>k+1</a:t>
            </a:r>
            <a:r>
              <a:rPr sz="1400" kern="1200" spc="5" dirty="0">
                <a:solidFill>
                  <a:schemeClr val="bg2">
                    <a:lumMod val="50000"/>
                  </a:schemeClr>
                </a:solidFill>
                <a:latin typeface="Palatino Linotype"/>
                <a:cs typeface="Palatino Linotype"/>
              </a:rPr>
              <a:t>b</a:t>
            </a:r>
            <a:r>
              <a:rPr sz="1350" kern="1200" spc="7" baseline="24691" dirty="0">
                <a:solidFill>
                  <a:schemeClr val="bg2">
                    <a:lumMod val="50000"/>
                  </a:schemeClr>
                </a:solidFill>
                <a:latin typeface="Palatino Linotype"/>
                <a:cs typeface="Palatino Linotype"/>
              </a:rPr>
              <a:t>k+1</a:t>
            </a:r>
            <a:r>
              <a:rPr sz="1350" kern="1200" spc="202" baseline="24691"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is</a:t>
            </a:r>
            <a:r>
              <a:rPr sz="1400" kern="1200" spc="-10"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a </a:t>
            </a:r>
            <a:r>
              <a:rPr sz="1400" kern="1200" spc="-5" dirty="0">
                <a:solidFill>
                  <a:schemeClr val="bg2">
                    <a:lumMod val="50000"/>
                  </a:schemeClr>
                </a:solidFill>
                <a:latin typeface="Palatino Linotype"/>
                <a:cs typeface="Palatino Linotype"/>
              </a:rPr>
              <a:t>string </a:t>
            </a:r>
            <a:r>
              <a:rPr sz="1400" kern="1200" dirty="0">
                <a:solidFill>
                  <a:schemeClr val="bg2">
                    <a:lumMod val="50000"/>
                  </a:schemeClr>
                </a:solidFill>
                <a:latin typeface="Palatino Linotype"/>
                <a:cs typeface="Palatino Linotype"/>
              </a:rPr>
              <a:t>in</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L</a:t>
            </a:r>
            <a:r>
              <a:rPr sz="1400" kern="1200" spc="-6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so </a:t>
            </a:r>
            <a:r>
              <a:rPr sz="1400" kern="1200" dirty="0">
                <a:solidFill>
                  <a:schemeClr val="bg2">
                    <a:lumMod val="50000"/>
                  </a:schemeClr>
                </a:solidFill>
                <a:latin typeface="Palatino Linotype"/>
                <a:cs typeface="Palatino Linotype"/>
              </a:rPr>
              <a:t>D </a:t>
            </a:r>
            <a:r>
              <a:rPr sz="1400" kern="1200" spc="-5" dirty="0">
                <a:solidFill>
                  <a:schemeClr val="bg2">
                    <a:lumMod val="50000"/>
                  </a:schemeClr>
                </a:solidFill>
                <a:latin typeface="Palatino Linotype"/>
                <a:cs typeface="Palatino Linotype"/>
              </a:rPr>
              <a:t>must</a:t>
            </a:r>
            <a:r>
              <a:rPr sz="1400" kern="1200" spc="5"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accept</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it</a:t>
            </a:r>
          </a:p>
        </p:txBody>
      </p:sp>
    </p:spTree>
    <p:extLst>
      <p:ext uri="{BB962C8B-B14F-4D97-AF65-F5344CB8AC3E}">
        <p14:creationId xmlns:p14="http://schemas.microsoft.com/office/powerpoint/2010/main" val="3000189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24</a:t>
            </a:fld>
            <a:endParaRPr lang="en-US"/>
          </a:p>
        </p:txBody>
      </p:sp>
      <p:sp>
        <p:nvSpPr>
          <p:cNvPr id="7" name="object 2">
            <a:extLst>
              <a:ext uri="{FF2B5EF4-FFF2-40B4-BE49-F238E27FC236}">
                <a16:creationId xmlns:a16="http://schemas.microsoft.com/office/drawing/2014/main" id="{BE62413A-8099-1EAB-867A-E89224BC0233}"/>
              </a:ext>
            </a:extLst>
          </p:cNvPr>
          <p:cNvSpPr txBox="1">
            <a:spLocks/>
          </p:cNvSpPr>
          <p:nvPr/>
        </p:nvSpPr>
        <p:spPr>
          <a:xfrm>
            <a:off x="777716" y="184403"/>
            <a:ext cx="7588567" cy="1199430"/>
          </a:xfrm>
          <a:prstGeom prst="rect">
            <a:avLst/>
          </a:prstGeom>
        </p:spPr>
        <p:txBody>
          <a:bodyPr vert="horz" wrap="square" lIns="0" tIns="197230" rIns="0" bIns="0" rtlCol="0">
            <a:spAutoFit/>
          </a:bodyPr>
          <a:lstStyle>
            <a:lvl1pPr>
              <a:defRPr sz="4000" b="1" i="0">
                <a:solidFill>
                  <a:schemeClr val="tx1"/>
                </a:solidFill>
                <a:latin typeface="Palatino Linotype"/>
                <a:ea typeface="+mj-ea"/>
                <a:cs typeface="Palatino Linotype"/>
              </a:defRPr>
            </a:lvl1pPr>
          </a:lstStyle>
          <a:p>
            <a:pPr marL="1691639" marR="5080" lvl="0" indent="-1094740" defTabSz="914400" eaLnBrk="1" fontAlgn="auto" latinLnBrk="0" hangingPunct="1">
              <a:lnSpc>
                <a:spcPts val="3890"/>
              </a:lnSpc>
              <a:spcBef>
                <a:spcPts val="585"/>
              </a:spcBef>
              <a:spcAft>
                <a:spcPts val="0"/>
              </a:spcAft>
              <a:buClrTx/>
              <a:buSzTx/>
              <a:buFontTx/>
              <a:buNone/>
              <a:tabLst/>
              <a:defRPr/>
            </a:pPr>
            <a:r>
              <a:rPr kumimoji="0" lang="en-US" sz="3600" b="1" i="0" u="none" strike="noStrike" kern="0" cap="none" spc="-5" normalizeH="0" baseline="0" noProof="0" dirty="0">
                <a:ln>
                  <a:noFill/>
                </a:ln>
                <a:solidFill>
                  <a:sysClr val="windowText" lastClr="000000"/>
                </a:solidFill>
                <a:effectLst/>
                <a:uLnTx/>
                <a:uFillTx/>
                <a:latin typeface="Palatino Linotype"/>
                <a:ea typeface="+mj-ea"/>
              </a:rPr>
              <a:t>Any</a:t>
            </a:r>
            <a:r>
              <a:rPr kumimoji="0" lang="en-US" sz="3600" b="1" i="0" u="none" strike="noStrike" kern="0" cap="none" spc="-20"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Regular</a:t>
            </a:r>
            <a:r>
              <a:rPr kumimoji="0" lang="en-US" sz="36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Language</a:t>
            </a:r>
            <a:r>
              <a:rPr kumimoji="0" lang="en-US" sz="36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Can</a:t>
            </a:r>
            <a:r>
              <a:rPr kumimoji="0" lang="en-US" sz="3600" b="1" i="0" u="none" strike="noStrike" kern="0" cap="none" spc="-10"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Be </a:t>
            </a:r>
            <a:r>
              <a:rPr kumimoji="0" lang="en-US" sz="3600" b="1" i="0" u="none" strike="noStrike" kern="0" cap="none" spc="-88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Described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by</a:t>
            </a:r>
            <a:r>
              <a:rPr kumimoji="0" lang="en-US" sz="3600" b="1" i="0" u="none" strike="noStrike" kern="0" cap="none" spc="-10"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a</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CFG</a:t>
            </a:r>
          </a:p>
        </p:txBody>
      </p:sp>
      <p:sp>
        <p:nvSpPr>
          <p:cNvPr id="8" name="object 3">
            <a:extLst>
              <a:ext uri="{FF2B5EF4-FFF2-40B4-BE49-F238E27FC236}">
                <a16:creationId xmlns:a16="http://schemas.microsoft.com/office/drawing/2014/main" id="{1028EE57-1298-1016-8AB8-7CEF0572674F}"/>
              </a:ext>
            </a:extLst>
          </p:cNvPr>
          <p:cNvSpPr txBox="1"/>
          <p:nvPr/>
        </p:nvSpPr>
        <p:spPr>
          <a:xfrm>
            <a:off x="681990" y="1610867"/>
            <a:ext cx="7456805" cy="3961084"/>
          </a:xfrm>
          <a:prstGeom prst="rect">
            <a:avLst/>
          </a:prstGeom>
        </p:spPr>
        <p:txBody>
          <a:bodyPr vert="horz" wrap="square" lIns="0" tIns="12700" rIns="0" bIns="0" rtlCol="0">
            <a:spAutoFit/>
          </a:bodyPr>
          <a:lstStyle/>
          <a:p>
            <a:pPr marL="267970" marR="30480" indent="-230504" rtl="0">
              <a:lnSpc>
                <a:spcPct val="115999"/>
              </a:lnSpc>
              <a:spcBef>
                <a:spcPts val="100"/>
              </a:spcBef>
              <a:buClr>
                <a:srgbClr val="000000"/>
              </a:buClr>
              <a:buFont typeface="Arial MT"/>
              <a:buChar char="•"/>
              <a:tabLst>
                <a:tab pos="267970" algn="l"/>
                <a:tab pos="268605" algn="l"/>
              </a:tabLst>
            </a:pPr>
            <a:r>
              <a:rPr sz="2000" b="1" kern="1200" spc="-5" dirty="0">
                <a:solidFill>
                  <a:srgbClr val="FF0000"/>
                </a:solidFill>
                <a:latin typeface="Palatino Linotype"/>
                <a:cs typeface="Palatino Linotype"/>
              </a:rPr>
              <a:t>(Proof</a:t>
            </a:r>
            <a:r>
              <a:rPr sz="2000" b="1" kern="1200" dirty="0">
                <a:solidFill>
                  <a:srgbClr val="FF0000"/>
                </a:solidFill>
                <a:latin typeface="Palatino Linotype"/>
                <a:cs typeface="Palatino Linotype"/>
              </a:rPr>
              <a:t> by</a:t>
            </a:r>
            <a:r>
              <a:rPr sz="2000" b="1" kern="1200" spc="10" dirty="0">
                <a:solidFill>
                  <a:srgbClr val="FF0000"/>
                </a:solidFill>
                <a:latin typeface="Palatino Linotype"/>
                <a:cs typeface="Palatino Linotype"/>
              </a:rPr>
              <a:t> </a:t>
            </a:r>
            <a:r>
              <a:rPr sz="2000" b="1" kern="1200" spc="-5" dirty="0">
                <a:solidFill>
                  <a:srgbClr val="FF0000"/>
                </a:solidFill>
                <a:latin typeface="Palatino Linotype"/>
                <a:cs typeface="Palatino Linotype"/>
              </a:rPr>
              <a:t>Construction)</a:t>
            </a:r>
            <a:r>
              <a:rPr sz="2000" b="1" kern="1200" dirty="0">
                <a:solidFill>
                  <a:srgbClr val="FF0000"/>
                </a:solidFill>
                <a:latin typeface="Palatino Linotype"/>
                <a:cs typeface="Palatino Linotype"/>
              </a:rPr>
              <a:t> </a:t>
            </a:r>
            <a:r>
              <a:rPr sz="2000" kern="1200" spc="-5" dirty="0">
                <a:solidFill>
                  <a:prstClr val="black"/>
                </a:solidFill>
                <a:latin typeface="Palatino Linotype"/>
                <a:cs typeface="Palatino Linotype"/>
              </a:rPr>
              <a:t>Each</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regular</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language</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can</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be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accepted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by</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an</a:t>
            </a:r>
            <a:r>
              <a:rPr sz="2000" kern="1200" spc="-5" dirty="0">
                <a:solidFill>
                  <a:prstClr val="black"/>
                </a:solidFill>
                <a:latin typeface="Palatino Linotype"/>
                <a:cs typeface="Palatino Linotype"/>
              </a:rPr>
              <a:t> </a:t>
            </a:r>
            <a:r>
              <a:rPr sz="2000" kern="1200" spc="-35" dirty="0">
                <a:solidFill>
                  <a:prstClr val="black"/>
                </a:solidFill>
                <a:latin typeface="Palatino Linotype"/>
                <a:cs typeface="Palatino Linotype"/>
              </a:rPr>
              <a:t>NFA.</a:t>
            </a:r>
            <a:r>
              <a:rPr sz="2000" kern="1200" dirty="0">
                <a:solidFill>
                  <a:prstClr val="black"/>
                </a:solidFill>
                <a:latin typeface="Palatino Linotype"/>
                <a:cs typeface="Palatino Linotype"/>
              </a:rPr>
              <a:t> </a:t>
            </a:r>
            <a:r>
              <a:rPr sz="2000" kern="1200" spc="-70" dirty="0">
                <a:solidFill>
                  <a:prstClr val="black"/>
                </a:solidFill>
                <a:latin typeface="Palatino Linotype"/>
                <a:cs typeface="Palatino Linotype"/>
              </a:rPr>
              <a:t>We</a:t>
            </a:r>
            <a:r>
              <a:rPr sz="2000" kern="1200" spc="-5" dirty="0">
                <a:solidFill>
                  <a:prstClr val="black"/>
                </a:solidFill>
                <a:latin typeface="Palatino Linotype"/>
                <a:cs typeface="Palatino Linotype"/>
              </a:rPr>
              <a:t> can construct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CFG</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to </a:t>
            </a:r>
            <a:r>
              <a:rPr sz="2000" kern="1200" dirty="0">
                <a:solidFill>
                  <a:prstClr val="black"/>
                </a:solidFill>
                <a:latin typeface="Palatino Linotype"/>
                <a:cs typeface="Palatino Linotype"/>
              </a:rPr>
              <a:t>describe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language:</a:t>
            </a:r>
            <a:endParaRPr sz="2000" kern="1200" dirty="0">
              <a:solidFill>
                <a:prstClr val="black"/>
              </a:solidFill>
              <a:latin typeface="Palatino Linotype"/>
              <a:cs typeface="Palatino Linotype"/>
            </a:endParaRPr>
          </a:p>
          <a:p>
            <a:pPr marL="723900" lvl="1" indent="-228600" rtl="0">
              <a:spcBef>
                <a:spcPts val="2310"/>
              </a:spcBef>
              <a:buFont typeface="Wingdings"/>
              <a:buChar char=""/>
              <a:tabLst>
                <a:tab pos="723900" algn="l"/>
              </a:tabLst>
            </a:pPr>
            <a:r>
              <a:rPr kern="1200" spc="-5" dirty="0">
                <a:solidFill>
                  <a:prstClr val="black"/>
                </a:solidFill>
                <a:latin typeface="Palatino Linotype"/>
                <a:cs typeface="Palatino Linotype"/>
              </a:rPr>
              <a:t>For</a:t>
            </a:r>
            <a:r>
              <a:rPr kern="1200" dirty="0">
                <a:solidFill>
                  <a:prstClr val="black"/>
                </a:solidFill>
                <a:latin typeface="Palatino Linotype"/>
                <a:cs typeface="Palatino Linotype"/>
              </a:rPr>
              <a:t> each </a:t>
            </a:r>
            <a:r>
              <a:rPr kern="1200" spc="-5" dirty="0">
                <a:solidFill>
                  <a:prstClr val="black"/>
                </a:solidFill>
                <a:latin typeface="Palatino Linotype"/>
                <a:cs typeface="Palatino Linotype"/>
              </a:rPr>
              <a:t>state</a:t>
            </a:r>
            <a:r>
              <a:rPr kern="1200" dirty="0">
                <a:solidFill>
                  <a:prstClr val="black"/>
                </a:solidFill>
                <a:latin typeface="Palatino Linotype"/>
                <a:cs typeface="Palatino Linotype"/>
              </a:rPr>
              <a:t> </a:t>
            </a:r>
            <a:r>
              <a:rPr kern="1200" dirty="0">
                <a:solidFill>
                  <a:prstClr val="black"/>
                </a:solidFill>
                <a:latin typeface="Cambria Math"/>
                <a:cs typeface="Cambria Math"/>
              </a:rPr>
              <a:t>𝑖</a:t>
            </a:r>
            <a:r>
              <a:rPr kern="1200" spc="114" dirty="0">
                <a:solidFill>
                  <a:prstClr val="black"/>
                </a:solidFill>
                <a:latin typeface="Cambria Math"/>
                <a:cs typeface="Cambria Math"/>
              </a:rPr>
              <a:t> </a:t>
            </a:r>
            <a:r>
              <a:rPr kern="1200" dirty="0">
                <a:solidFill>
                  <a:prstClr val="black"/>
                </a:solidFill>
                <a:latin typeface="Palatino Linotype"/>
                <a:cs typeface="Palatino Linotype"/>
              </a:rPr>
              <a:t>of the </a:t>
            </a:r>
            <a:r>
              <a:rPr kern="1200" spc="-30" dirty="0">
                <a:solidFill>
                  <a:prstClr val="black"/>
                </a:solidFill>
                <a:latin typeface="Palatino Linotype"/>
                <a:cs typeface="Palatino Linotype"/>
              </a:rPr>
              <a:t>NFA,</a:t>
            </a:r>
            <a:r>
              <a:rPr kern="1200" dirty="0">
                <a:solidFill>
                  <a:prstClr val="black"/>
                </a:solidFill>
                <a:latin typeface="Palatino Linotype"/>
                <a:cs typeface="Palatino Linotype"/>
              </a:rPr>
              <a:t> create a </a:t>
            </a:r>
            <a:r>
              <a:rPr kern="1200" spc="-5" dirty="0">
                <a:solidFill>
                  <a:prstClr val="black"/>
                </a:solidFill>
                <a:latin typeface="Palatino Linotype"/>
                <a:cs typeface="Palatino Linotype"/>
              </a:rPr>
              <a:t>nonterminal</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symbol</a:t>
            </a:r>
            <a:r>
              <a:rPr lang="en-US" kern="1200" spc="-5" dirty="0">
                <a:solidFill>
                  <a:prstClr val="black"/>
                </a:solidFill>
                <a:latin typeface="Palatino Linotype"/>
                <a:cs typeface="Palatino Linotype"/>
              </a:rPr>
              <a:t> </a:t>
            </a:r>
            <a:r>
              <a:rPr lang="zh-CN" altLang="en-US" kern="1200" spc="40" dirty="0">
                <a:solidFill>
                  <a:prstClr val="black"/>
                </a:solidFill>
                <a:latin typeface="Cambria Math"/>
                <a:cs typeface="Cambria Math"/>
              </a:rPr>
              <a:t>𝐴</a:t>
            </a:r>
            <a:r>
              <a:rPr lang="zh-CN" altLang="en-US" sz="1950" kern="1200" spc="494" baseline="-14957" dirty="0">
                <a:solidFill>
                  <a:prstClr val="black"/>
                </a:solidFill>
                <a:latin typeface="Cambria Math"/>
                <a:cs typeface="Cambria Math"/>
              </a:rPr>
              <a:t>𝑖</a:t>
            </a:r>
            <a:endParaRPr lang="en-US" altLang="zh-CN" sz="1950" kern="1200" spc="494" baseline="-14957" dirty="0">
              <a:solidFill>
                <a:prstClr val="black"/>
              </a:solidFill>
              <a:latin typeface="Cambria Math"/>
              <a:cs typeface="Cambria Math"/>
            </a:endParaRPr>
          </a:p>
          <a:p>
            <a:pPr marL="723900" lvl="1" indent="-228600" rtl="0">
              <a:spcBef>
                <a:spcPts val="2310"/>
              </a:spcBef>
              <a:buFont typeface="Wingdings"/>
              <a:buChar char=""/>
              <a:tabLst>
                <a:tab pos="723900" algn="l"/>
              </a:tabLst>
            </a:pPr>
            <a:r>
              <a:rPr kern="1200" dirty="0">
                <a:solidFill>
                  <a:prstClr val="black"/>
                </a:solidFill>
                <a:latin typeface="Palatino Linotype"/>
                <a:cs typeface="Palatino Linotype"/>
              </a:rPr>
              <a:t>If </a:t>
            </a:r>
            <a:r>
              <a:rPr kern="1200" spc="-5" dirty="0">
                <a:solidFill>
                  <a:prstClr val="black"/>
                </a:solidFill>
                <a:latin typeface="Palatino Linotype"/>
                <a:cs typeface="Palatino Linotype"/>
              </a:rPr>
              <a:t>state</a:t>
            </a:r>
            <a:r>
              <a:rPr kern="1200" dirty="0">
                <a:solidFill>
                  <a:prstClr val="black"/>
                </a:solidFill>
                <a:latin typeface="Palatino Linotype"/>
                <a:cs typeface="Palatino Linotype"/>
              </a:rPr>
              <a:t> </a:t>
            </a:r>
            <a:r>
              <a:rPr kern="1200" dirty="0">
                <a:solidFill>
                  <a:prstClr val="black"/>
                </a:solidFill>
                <a:latin typeface="Cambria Math"/>
                <a:cs typeface="Cambria Math"/>
              </a:rPr>
              <a:t>𝑖</a:t>
            </a:r>
            <a:r>
              <a:rPr kern="1200" spc="114" dirty="0">
                <a:solidFill>
                  <a:prstClr val="black"/>
                </a:solidFill>
                <a:latin typeface="Cambria Math"/>
                <a:cs typeface="Cambria Math"/>
              </a:rPr>
              <a:t> </a:t>
            </a:r>
            <a:r>
              <a:rPr kern="1200" dirty="0">
                <a:solidFill>
                  <a:prstClr val="black"/>
                </a:solidFill>
                <a:latin typeface="Palatino Linotype"/>
                <a:cs typeface="Palatino Linotype"/>
              </a:rPr>
              <a:t>has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 </a:t>
            </a:r>
            <a:r>
              <a:rPr kern="1200" spc="-5" dirty="0">
                <a:solidFill>
                  <a:prstClr val="black"/>
                </a:solidFill>
                <a:latin typeface="Palatino Linotype"/>
                <a:cs typeface="Palatino Linotype"/>
              </a:rPr>
              <a:t>transition</a:t>
            </a:r>
            <a:r>
              <a:rPr kern="1200" dirty="0">
                <a:solidFill>
                  <a:prstClr val="black"/>
                </a:solidFill>
                <a:latin typeface="Palatino Linotype"/>
                <a:cs typeface="Palatino Linotype"/>
              </a:rPr>
              <a:t> to </a:t>
            </a:r>
            <a:r>
              <a:rPr kern="1200" spc="-5" dirty="0">
                <a:solidFill>
                  <a:prstClr val="black"/>
                </a:solidFill>
                <a:latin typeface="Palatino Linotype"/>
                <a:cs typeface="Palatino Linotype"/>
              </a:rPr>
              <a:t>state</a:t>
            </a:r>
            <a:r>
              <a:rPr kern="1200" dirty="0">
                <a:solidFill>
                  <a:prstClr val="black"/>
                </a:solidFill>
                <a:latin typeface="Palatino Linotype"/>
                <a:cs typeface="Palatino Linotype"/>
              </a:rPr>
              <a:t> </a:t>
            </a:r>
            <a:r>
              <a:rPr kern="1200" dirty="0">
                <a:solidFill>
                  <a:prstClr val="black"/>
                </a:solidFill>
                <a:latin typeface="Cambria Math"/>
                <a:cs typeface="Cambria Math"/>
              </a:rPr>
              <a:t>𝑗</a:t>
            </a:r>
            <a:r>
              <a:rPr kern="1200" spc="85" dirty="0">
                <a:solidFill>
                  <a:prstClr val="black"/>
                </a:solidFill>
                <a:latin typeface="Cambria Math"/>
                <a:cs typeface="Cambria Math"/>
              </a:rPr>
              <a:t> </a:t>
            </a:r>
            <a:r>
              <a:rPr kern="1200" dirty="0">
                <a:solidFill>
                  <a:prstClr val="black"/>
                </a:solidFill>
                <a:latin typeface="Palatino Linotype"/>
                <a:cs typeface="Palatino Linotype"/>
              </a:rPr>
              <a:t>on input </a:t>
            </a:r>
            <a:r>
              <a:rPr kern="1200" spc="20" dirty="0">
                <a:solidFill>
                  <a:prstClr val="black"/>
                </a:solidFill>
                <a:latin typeface="Cambria Math"/>
                <a:cs typeface="Cambria Math"/>
              </a:rPr>
              <a:t>𝑎</a:t>
            </a:r>
            <a:r>
              <a:rPr kern="1200" spc="20" dirty="0">
                <a:solidFill>
                  <a:prstClr val="black"/>
                </a:solidFill>
                <a:latin typeface="Palatino Linotype"/>
                <a:cs typeface="Palatino Linotype"/>
              </a:rPr>
              <a:t>,</a:t>
            </a:r>
            <a:r>
              <a:rPr kern="1200" dirty="0">
                <a:solidFill>
                  <a:prstClr val="black"/>
                </a:solidFill>
                <a:latin typeface="Palatino Linotype"/>
                <a:cs typeface="Palatino Linotype"/>
              </a:rPr>
              <a:t> add the production</a:t>
            </a:r>
          </a:p>
          <a:p>
            <a:pPr marL="723900" rtl="0">
              <a:spcBef>
                <a:spcPts val="550"/>
              </a:spcBef>
            </a:pPr>
            <a:r>
              <a:rPr lang="zh-CN" altLang="en-US" kern="1200" spc="40" dirty="0">
                <a:solidFill>
                  <a:prstClr val="black"/>
                </a:solidFill>
                <a:latin typeface="Cambria Math"/>
                <a:cs typeface="Cambria Math"/>
              </a:rPr>
              <a:t>𝐴</a:t>
            </a:r>
            <a:r>
              <a:rPr lang="zh-CN" altLang="en-US" sz="1950" kern="1200" spc="494" baseline="-14957" dirty="0">
                <a:solidFill>
                  <a:prstClr val="black"/>
                </a:solidFill>
                <a:latin typeface="Cambria Math"/>
                <a:cs typeface="Cambria Math"/>
              </a:rPr>
              <a:t>𝑖</a:t>
            </a:r>
            <a:r>
              <a:rPr kern="1200" dirty="0">
                <a:solidFill>
                  <a:prstClr val="black"/>
                </a:solidFill>
                <a:latin typeface="Cambria Math"/>
                <a:cs typeface="Cambria Math"/>
              </a:rPr>
              <a:t>→</a:t>
            </a:r>
            <a:r>
              <a:rPr kern="1200" spc="80" dirty="0">
                <a:solidFill>
                  <a:prstClr val="black"/>
                </a:solidFill>
                <a:latin typeface="Cambria Math"/>
                <a:cs typeface="Cambria Math"/>
              </a:rPr>
              <a:t> </a:t>
            </a:r>
            <a:r>
              <a:rPr kern="1200" spc="45" dirty="0">
                <a:solidFill>
                  <a:prstClr val="black"/>
                </a:solidFill>
                <a:latin typeface="Cambria Math"/>
                <a:cs typeface="Cambria Math"/>
              </a:rPr>
              <a:t>𝑎𝐴</a:t>
            </a:r>
            <a:r>
              <a:rPr sz="1950" kern="1200" spc="67" baseline="-14957" dirty="0">
                <a:solidFill>
                  <a:prstClr val="black"/>
                </a:solidFill>
                <a:latin typeface="Cambria Math"/>
                <a:cs typeface="Cambria Math"/>
              </a:rPr>
              <a:t>j</a:t>
            </a:r>
            <a:endParaRPr sz="1950" kern="1200" baseline="-14957" dirty="0">
              <a:solidFill>
                <a:prstClr val="black"/>
              </a:solidFill>
              <a:latin typeface="Cambria Math"/>
              <a:cs typeface="Cambria Math"/>
            </a:endParaRPr>
          </a:p>
          <a:p>
            <a:pPr rtl="0">
              <a:spcBef>
                <a:spcPts val="20"/>
              </a:spcBef>
            </a:pPr>
            <a:endParaRPr sz="2050" kern="1200" dirty="0">
              <a:solidFill>
                <a:prstClr val="black"/>
              </a:solidFill>
              <a:latin typeface="Cambria Math"/>
              <a:cs typeface="Cambria Math"/>
            </a:endParaRPr>
          </a:p>
          <a:p>
            <a:pPr marL="723900" lvl="1" indent="-228600" rtl="0">
              <a:buFont typeface="Wingdings"/>
              <a:buChar char=""/>
              <a:tabLst>
                <a:tab pos="723900" algn="l"/>
              </a:tabLst>
            </a:pPr>
            <a:r>
              <a:rPr kern="1200" dirty="0">
                <a:solidFill>
                  <a:prstClr val="black"/>
                </a:solidFill>
                <a:latin typeface="Palatino Linotype"/>
                <a:cs typeface="Palatino Linotype"/>
              </a:rPr>
              <a:t>If</a:t>
            </a:r>
            <a:r>
              <a:rPr kern="1200" spc="-5" dirty="0">
                <a:solidFill>
                  <a:prstClr val="black"/>
                </a:solidFill>
                <a:latin typeface="Palatino Linotype"/>
                <a:cs typeface="Palatino Linotype"/>
              </a:rPr>
              <a:t> state</a:t>
            </a:r>
            <a:r>
              <a:rPr kern="1200" dirty="0">
                <a:solidFill>
                  <a:prstClr val="black"/>
                </a:solidFill>
                <a:latin typeface="Palatino Linotype"/>
                <a:cs typeface="Palatino Linotype"/>
              </a:rPr>
              <a:t> </a:t>
            </a:r>
            <a:r>
              <a:rPr kern="1200" dirty="0">
                <a:solidFill>
                  <a:prstClr val="black"/>
                </a:solidFill>
                <a:latin typeface="Cambria Math"/>
                <a:cs typeface="Cambria Math"/>
              </a:rPr>
              <a:t>𝑖</a:t>
            </a:r>
            <a:r>
              <a:rPr kern="1200" spc="114" dirty="0">
                <a:solidFill>
                  <a:prstClr val="black"/>
                </a:solidFill>
                <a:latin typeface="Cambria Math"/>
                <a:cs typeface="Cambria Math"/>
              </a:rPr>
              <a:t> </a:t>
            </a:r>
            <a:r>
              <a:rPr kern="1200" spc="-5" dirty="0">
                <a:solidFill>
                  <a:prstClr val="black"/>
                </a:solidFill>
                <a:latin typeface="Palatino Linotype"/>
                <a:cs typeface="Palatino Linotype"/>
              </a:rPr>
              <a:t>goes </a:t>
            </a:r>
            <a:r>
              <a:rPr kern="1200" dirty="0">
                <a:solidFill>
                  <a:prstClr val="black"/>
                </a:solidFill>
                <a:latin typeface="Palatino Linotype"/>
                <a:cs typeface="Palatino Linotype"/>
              </a:rPr>
              <a:t>to </a:t>
            </a:r>
            <a:r>
              <a:rPr kern="1200" spc="-5" dirty="0">
                <a:solidFill>
                  <a:prstClr val="black"/>
                </a:solidFill>
                <a:latin typeface="Palatino Linotype"/>
                <a:cs typeface="Palatino Linotype"/>
              </a:rPr>
              <a:t>state </a:t>
            </a:r>
            <a:r>
              <a:rPr kern="1200" dirty="0">
                <a:solidFill>
                  <a:prstClr val="black"/>
                </a:solidFill>
                <a:latin typeface="Cambria Math"/>
                <a:cs typeface="Cambria Math"/>
              </a:rPr>
              <a:t>𝑗</a:t>
            </a:r>
            <a:r>
              <a:rPr kern="1200" spc="85" dirty="0">
                <a:solidFill>
                  <a:prstClr val="black"/>
                </a:solidFill>
                <a:latin typeface="Cambria Math"/>
                <a:cs typeface="Cambria Math"/>
              </a:rPr>
              <a:t> </a:t>
            </a:r>
            <a:r>
              <a:rPr kern="1200" dirty="0">
                <a:solidFill>
                  <a:prstClr val="black"/>
                </a:solidFill>
                <a:latin typeface="Palatino Linotype"/>
                <a:cs typeface="Palatino Linotype"/>
              </a:rPr>
              <a:t>on input </a:t>
            </a:r>
            <a:r>
              <a:rPr kern="1200" spc="-5" dirty="0">
                <a:solidFill>
                  <a:prstClr val="black"/>
                </a:solidFill>
                <a:latin typeface="Cambria Math"/>
                <a:cs typeface="Cambria Math"/>
              </a:rPr>
              <a:t>𝜖</a:t>
            </a:r>
            <a:r>
              <a:rPr kern="1200" spc="-5" dirty="0">
                <a:solidFill>
                  <a:prstClr val="black"/>
                </a:solidFill>
                <a:latin typeface="Palatino Linotype"/>
                <a:cs typeface="Palatino Linotype"/>
              </a:rPr>
              <a:t>,</a:t>
            </a:r>
            <a:r>
              <a:rPr kern="1200" dirty="0">
                <a:solidFill>
                  <a:prstClr val="black"/>
                </a:solidFill>
                <a:latin typeface="Palatino Linotype"/>
                <a:cs typeface="Palatino Linotype"/>
              </a:rPr>
              <a:t> add the production</a:t>
            </a:r>
            <a:r>
              <a:rPr lang="en-US" kern="1200" dirty="0">
                <a:solidFill>
                  <a:prstClr val="black"/>
                </a:solidFill>
                <a:latin typeface="Palatino Linotype"/>
                <a:cs typeface="Palatino Linotype"/>
              </a:rPr>
              <a:t> </a:t>
            </a:r>
            <a:r>
              <a:rPr lang="zh-CN" altLang="en-US" kern="1200" spc="40" dirty="0">
                <a:solidFill>
                  <a:prstClr val="black"/>
                </a:solidFill>
                <a:latin typeface="Cambria Math"/>
                <a:cs typeface="Cambria Math"/>
              </a:rPr>
              <a:t>𝐴</a:t>
            </a:r>
            <a:r>
              <a:rPr lang="zh-CN" altLang="en-US" sz="1950" kern="1200" spc="494" baseline="-14957" dirty="0">
                <a:solidFill>
                  <a:prstClr val="black"/>
                </a:solidFill>
                <a:latin typeface="Cambria Math"/>
                <a:cs typeface="Cambria Math"/>
              </a:rPr>
              <a:t>𝑖</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spc="45" dirty="0">
                <a:solidFill>
                  <a:prstClr val="black"/>
                </a:solidFill>
                <a:latin typeface="Cambria Math"/>
                <a:cs typeface="Cambria Math"/>
              </a:rPr>
              <a:t>𝐴</a:t>
            </a:r>
            <a:r>
              <a:rPr sz="1950" kern="1200" spc="67" baseline="-17094" dirty="0">
                <a:solidFill>
                  <a:prstClr val="black"/>
                </a:solidFill>
                <a:latin typeface="Cambria Math"/>
                <a:cs typeface="Cambria Math"/>
              </a:rPr>
              <a:t>j</a:t>
            </a:r>
            <a:endParaRPr sz="1950" kern="1200" baseline="-17094" dirty="0">
              <a:solidFill>
                <a:prstClr val="black"/>
              </a:solidFill>
              <a:latin typeface="Cambria Math"/>
              <a:cs typeface="Cambria Math"/>
            </a:endParaRPr>
          </a:p>
          <a:p>
            <a:pPr lvl="1" rtl="0">
              <a:spcBef>
                <a:spcPts val="5"/>
              </a:spcBef>
              <a:buFont typeface="Wingdings"/>
              <a:buChar char=""/>
            </a:pPr>
            <a:endParaRPr sz="2000" kern="1200" dirty="0">
              <a:solidFill>
                <a:prstClr val="black"/>
              </a:solidFill>
              <a:latin typeface="Cambria Math"/>
              <a:cs typeface="Cambria Math"/>
            </a:endParaRPr>
          </a:p>
          <a:p>
            <a:pPr marL="723900" lvl="1" indent="-228600" rtl="0">
              <a:buFont typeface="Wingdings"/>
              <a:buChar char=""/>
              <a:tabLst>
                <a:tab pos="723900" algn="l"/>
              </a:tabLst>
            </a:pPr>
            <a:r>
              <a:rPr kern="1200" dirty="0">
                <a:solidFill>
                  <a:prstClr val="black"/>
                </a:solidFill>
                <a:latin typeface="Palatino Linotype"/>
                <a:cs typeface="Palatino Linotype"/>
              </a:rPr>
              <a:t>If</a:t>
            </a:r>
            <a:r>
              <a:rPr kern="1200" spc="-10" dirty="0">
                <a:solidFill>
                  <a:prstClr val="black"/>
                </a:solidFill>
                <a:latin typeface="Palatino Linotype"/>
                <a:cs typeface="Palatino Linotype"/>
              </a:rPr>
              <a:t> </a:t>
            </a:r>
            <a:r>
              <a:rPr kern="1200" dirty="0">
                <a:solidFill>
                  <a:prstClr val="black"/>
                </a:solidFill>
                <a:latin typeface="Cambria Math"/>
                <a:cs typeface="Cambria Math"/>
              </a:rPr>
              <a:t>𝑖</a:t>
            </a:r>
            <a:r>
              <a:rPr kern="1200" spc="110" dirty="0">
                <a:solidFill>
                  <a:prstClr val="black"/>
                </a:solidFill>
                <a:latin typeface="Cambria Math"/>
                <a:cs typeface="Cambria Math"/>
              </a:rPr>
              <a:t> </a:t>
            </a:r>
            <a:r>
              <a:rPr kern="1200"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accepting</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state, </a:t>
            </a:r>
            <a:r>
              <a:rPr kern="1200" dirty="0">
                <a:solidFill>
                  <a:prstClr val="black"/>
                </a:solidFill>
                <a:latin typeface="Palatino Linotype"/>
                <a:cs typeface="Palatino Linotype"/>
              </a:rPr>
              <a:t>add</a:t>
            </a:r>
            <a:r>
              <a:rPr kern="1200" spc="-5" dirty="0">
                <a:solidFill>
                  <a:prstClr val="black"/>
                </a:solidFill>
                <a:latin typeface="Palatino Linotype"/>
                <a:cs typeface="Palatino Linotype"/>
              </a:rPr>
              <a:t> </a:t>
            </a:r>
            <a:r>
              <a:rPr kern="1200" spc="40" dirty="0">
                <a:solidFill>
                  <a:prstClr val="black"/>
                </a:solidFill>
                <a:latin typeface="Cambria Math"/>
                <a:cs typeface="Cambria Math"/>
              </a:rPr>
              <a:t>𝐴</a:t>
            </a:r>
            <a:r>
              <a:rPr lang="zh-CN" altLang="en-US" sz="1950" kern="1200" spc="494" baseline="-14957" dirty="0">
                <a:solidFill>
                  <a:prstClr val="black"/>
                </a:solidFill>
                <a:latin typeface="Cambria Math"/>
                <a:cs typeface="Cambria Math"/>
              </a:rPr>
              <a:t>𝑖</a:t>
            </a:r>
            <a:r>
              <a:rPr kern="1200" dirty="0">
                <a:solidFill>
                  <a:prstClr val="black"/>
                </a:solidFill>
                <a:latin typeface="Cambria Math"/>
                <a:cs typeface="Cambria Math"/>
              </a:rPr>
              <a:t>→</a:t>
            </a:r>
            <a:r>
              <a:rPr kern="1200" spc="100" dirty="0">
                <a:solidFill>
                  <a:prstClr val="black"/>
                </a:solidFill>
                <a:latin typeface="Cambria Math"/>
                <a:cs typeface="Cambria Math"/>
              </a:rPr>
              <a:t> </a:t>
            </a:r>
            <a:r>
              <a:rPr kern="1200" dirty="0">
                <a:solidFill>
                  <a:prstClr val="black"/>
                </a:solidFill>
                <a:latin typeface="Cambria Math"/>
                <a:cs typeface="Cambria Math"/>
              </a:rPr>
              <a:t>𝜖</a:t>
            </a:r>
          </a:p>
          <a:p>
            <a:pPr marL="723900" lvl="1" indent="-228600" rtl="0">
              <a:spcBef>
                <a:spcPts val="2235"/>
              </a:spcBef>
              <a:buFont typeface="Wingdings"/>
              <a:buChar char=""/>
              <a:tabLst>
                <a:tab pos="723900" algn="l"/>
              </a:tabLst>
            </a:pPr>
            <a:r>
              <a:rPr kern="1200" dirty="0">
                <a:solidFill>
                  <a:prstClr val="black"/>
                </a:solidFill>
                <a:latin typeface="Cambria Math"/>
                <a:cs typeface="Cambria Math"/>
              </a:rPr>
              <a:t>If 𝑖</a:t>
            </a:r>
            <a:r>
              <a:rPr kern="1200" spc="65" dirty="0">
                <a:solidFill>
                  <a:prstClr val="black"/>
                </a:solidFill>
                <a:latin typeface="Cambria Math"/>
                <a:cs typeface="Cambria Math"/>
              </a:rPr>
              <a:t> </a:t>
            </a:r>
            <a:r>
              <a:rPr kern="1200" spc="-5" dirty="0">
                <a:solidFill>
                  <a:prstClr val="black"/>
                </a:solidFill>
                <a:latin typeface="Cambria Math"/>
                <a:cs typeface="Cambria Math"/>
              </a:rPr>
              <a:t>is</a:t>
            </a:r>
            <a:r>
              <a:rPr kern="1200" dirty="0">
                <a:solidFill>
                  <a:prstClr val="black"/>
                </a:solidFill>
                <a:latin typeface="Cambria Math"/>
                <a:cs typeface="Cambria Math"/>
              </a:rPr>
              <a:t> </a:t>
            </a:r>
            <a:r>
              <a:rPr kern="1200" spc="-5" dirty="0">
                <a:solidFill>
                  <a:prstClr val="black"/>
                </a:solidFill>
                <a:latin typeface="Cambria Math"/>
                <a:cs typeface="Cambria Math"/>
              </a:rPr>
              <a:t>the</a:t>
            </a:r>
            <a:r>
              <a:rPr kern="1200" spc="-10" dirty="0">
                <a:solidFill>
                  <a:prstClr val="black"/>
                </a:solidFill>
                <a:latin typeface="Cambria Math"/>
                <a:cs typeface="Cambria Math"/>
              </a:rPr>
              <a:t> </a:t>
            </a:r>
            <a:r>
              <a:rPr kern="1200" dirty="0">
                <a:solidFill>
                  <a:prstClr val="black"/>
                </a:solidFill>
                <a:latin typeface="Cambria Math"/>
                <a:cs typeface="Cambria Math"/>
              </a:rPr>
              <a:t>start</a:t>
            </a:r>
            <a:r>
              <a:rPr kern="1200" spc="5" dirty="0">
                <a:solidFill>
                  <a:prstClr val="black"/>
                </a:solidFill>
                <a:latin typeface="Cambria Math"/>
                <a:cs typeface="Cambria Math"/>
              </a:rPr>
              <a:t> </a:t>
            </a:r>
            <a:r>
              <a:rPr kern="1200" spc="-5" dirty="0">
                <a:solidFill>
                  <a:prstClr val="black"/>
                </a:solidFill>
                <a:latin typeface="Cambria Math"/>
                <a:cs typeface="Cambria Math"/>
              </a:rPr>
              <a:t>state,</a:t>
            </a:r>
            <a:r>
              <a:rPr kern="1200" spc="5" dirty="0">
                <a:solidFill>
                  <a:prstClr val="black"/>
                </a:solidFill>
                <a:latin typeface="Cambria Math"/>
                <a:cs typeface="Cambria Math"/>
              </a:rPr>
              <a:t> </a:t>
            </a:r>
            <a:r>
              <a:rPr kern="1200" spc="-10" dirty="0">
                <a:solidFill>
                  <a:prstClr val="black"/>
                </a:solidFill>
                <a:latin typeface="Cambria Math"/>
                <a:cs typeface="Cambria Math"/>
              </a:rPr>
              <a:t>make</a:t>
            </a:r>
            <a:r>
              <a:rPr lang="en-US" kern="1200" spc="-10" dirty="0">
                <a:solidFill>
                  <a:prstClr val="black"/>
                </a:solidFill>
                <a:latin typeface="Cambria Math"/>
                <a:cs typeface="Cambria Math"/>
              </a:rPr>
              <a:t> </a:t>
            </a:r>
            <a:r>
              <a:rPr lang="zh-CN" altLang="en-US" kern="1200" spc="40" dirty="0">
                <a:solidFill>
                  <a:prstClr val="black"/>
                </a:solidFill>
                <a:latin typeface="Cambria Math"/>
                <a:cs typeface="Cambria Math"/>
              </a:rPr>
              <a:t>𝐴</a:t>
            </a:r>
            <a:r>
              <a:rPr lang="zh-CN" altLang="en-US" sz="1950" kern="1200" spc="494" baseline="-14957" dirty="0">
                <a:solidFill>
                  <a:prstClr val="black"/>
                </a:solidFill>
                <a:latin typeface="Cambria Math"/>
                <a:cs typeface="Cambria Math"/>
              </a:rPr>
              <a:t>𝑖</a:t>
            </a:r>
            <a:r>
              <a:rPr kern="1200" dirty="0">
                <a:solidFill>
                  <a:prstClr val="black"/>
                </a:solidFill>
                <a:latin typeface="Cambria Math"/>
                <a:cs typeface="Cambria Math"/>
              </a:rPr>
              <a:t>be</a:t>
            </a:r>
            <a:r>
              <a:rPr kern="1200" spc="-5" dirty="0">
                <a:solidFill>
                  <a:prstClr val="black"/>
                </a:solidFill>
                <a:latin typeface="Cambria Math"/>
                <a:cs typeface="Cambria Math"/>
              </a:rPr>
              <a:t> the </a:t>
            </a:r>
            <a:r>
              <a:rPr kern="1200" dirty="0">
                <a:solidFill>
                  <a:prstClr val="black"/>
                </a:solidFill>
                <a:latin typeface="Cambria Math"/>
                <a:cs typeface="Cambria Math"/>
              </a:rPr>
              <a:t>start</a:t>
            </a:r>
            <a:r>
              <a:rPr kern="1200" spc="5" dirty="0">
                <a:solidFill>
                  <a:prstClr val="black"/>
                </a:solidFill>
                <a:latin typeface="Cambria Math"/>
                <a:cs typeface="Cambria Math"/>
              </a:rPr>
              <a:t> </a:t>
            </a:r>
            <a:r>
              <a:rPr kern="1200" spc="-5" dirty="0">
                <a:solidFill>
                  <a:prstClr val="black"/>
                </a:solidFill>
                <a:latin typeface="Cambria Math"/>
                <a:cs typeface="Cambria Math"/>
              </a:rPr>
              <a:t>symbol</a:t>
            </a:r>
            <a:r>
              <a:rPr kern="1200" dirty="0">
                <a:solidFill>
                  <a:prstClr val="black"/>
                </a:solidFill>
                <a:latin typeface="Cambria Math"/>
                <a:cs typeface="Cambria Math"/>
              </a:rPr>
              <a:t> </a:t>
            </a:r>
            <a:r>
              <a:rPr kern="1200" spc="-5" dirty="0">
                <a:solidFill>
                  <a:prstClr val="black"/>
                </a:solidFill>
                <a:latin typeface="Cambria Math"/>
                <a:cs typeface="Cambria Math"/>
              </a:rPr>
              <a:t>of</a:t>
            </a:r>
            <a:r>
              <a:rPr kern="1200" dirty="0">
                <a:solidFill>
                  <a:prstClr val="black"/>
                </a:solidFill>
                <a:latin typeface="Cambria Math"/>
                <a:cs typeface="Cambria Math"/>
              </a:rPr>
              <a:t> </a:t>
            </a:r>
            <a:r>
              <a:rPr kern="1200" spc="-5" dirty="0">
                <a:solidFill>
                  <a:prstClr val="black"/>
                </a:solidFill>
                <a:latin typeface="Cambria Math"/>
                <a:cs typeface="Cambria Math"/>
              </a:rPr>
              <a:t>the</a:t>
            </a:r>
            <a:r>
              <a:rPr kern="1200" dirty="0">
                <a:solidFill>
                  <a:prstClr val="black"/>
                </a:solidFill>
                <a:latin typeface="Cambria Math"/>
                <a:cs typeface="Cambria Math"/>
              </a:rPr>
              <a:t> </a:t>
            </a:r>
            <a:r>
              <a:rPr kern="1200" spc="-10" dirty="0">
                <a:solidFill>
                  <a:prstClr val="black"/>
                </a:solidFill>
                <a:latin typeface="Cambria Math"/>
                <a:cs typeface="Cambria Math"/>
              </a:rPr>
              <a:t>grammar</a:t>
            </a:r>
            <a:endParaRPr kern="1200" dirty="0">
              <a:solidFill>
                <a:prstClr val="black"/>
              </a:solidFill>
              <a:latin typeface="Cambria Math"/>
              <a:cs typeface="Cambria Math"/>
            </a:endParaRPr>
          </a:p>
        </p:txBody>
      </p:sp>
    </p:spTree>
    <p:extLst>
      <p:ext uri="{BB962C8B-B14F-4D97-AF65-F5344CB8AC3E}">
        <p14:creationId xmlns:p14="http://schemas.microsoft.com/office/powerpoint/2010/main" val="4143078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25</a:t>
            </a:fld>
            <a:endParaRPr lang="en-US"/>
          </a:p>
        </p:txBody>
      </p:sp>
      <p:sp>
        <p:nvSpPr>
          <p:cNvPr id="13" name="object 2">
            <a:extLst>
              <a:ext uri="{FF2B5EF4-FFF2-40B4-BE49-F238E27FC236}">
                <a16:creationId xmlns:a16="http://schemas.microsoft.com/office/drawing/2014/main" id="{5A013878-E5B1-541D-2CB3-3B17D3766D17}"/>
              </a:ext>
            </a:extLst>
          </p:cNvPr>
          <p:cNvSpPr txBox="1">
            <a:spLocks/>
          </p:cNvSpPr>
          <p:nvPr/>
        </p:nvSpPr>
        <p:spPr>
          <a:xfrm>
            <a:off x="707390" y="524763"/>
            <a:ext cx="513461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dirty="0">
                <a:ln>
                  <a:noFill/>
                </a:ln>
                <a:solidFill>
                  <a:sysClr val="windowText" lastClr="000000"/>
                </a:solidFill>
                <a:effectLst/>
                <a:uLnTx/>
                <a:uFillTx/>
                <a:latin typeface="Palatino Linotype"/>
                <a:ea typeface="+mj-ea"/>
              </a:rPr>
              <a:t>Example:</a:t>
            </a:r>
            <a:r>
              <a:rPr kumimoji="0" lang="en-US" sz="4000" b="1" i="0" u="none" strike="noStrike" kern="0" cap="none" spc="-3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75" normalizeH="0" baseline="0" noProof="0" dirty="0">
                <a:ln>
                  <a:noFill/>
                </a:ln>
                <a:solidFill>
                  <a:sysClr val="windowText" lastClr="000000"/>
                </a:solidFill>
                <a:effectLst/>
                <a:uLnTx/>
                <a:uFillTx/>
                <a:latin typeface="Palatino Linotype"/>
                <a:ea typeface="+mj-ea"/>
              </a:rPr>
              <a:t>NFA</a:t>
            </a:r>
            <a:r>
              <a:rPr kumimoji="0" lang="en-US" sz="4000" b="1" i="0" u="none" strike="noStrike" kern="0" cap="none" spc="-3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to</a:t>
            </a:r>
            <a:r>
              <a:rPr kumimoji="0" lang="en-US" sz="4000" b="1" i="0" u="none" strike="noStrike" kern="0" cap="none" spc="-3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CFG</a:t>
            </a:r>
          </a:p>
        </p:txBody>
      </p:sp>
      <p:sp>
        <p:nvSpPr>
          <p:cNvPr id="14" name="object 3">
            <a:extLst>
              <a:ext uri="{FF2B5EF4-FFF2-40B4-BE49-F238E27FC236}">
                <a16:creationId xmlns:a16="http://schemas.microsoft.com/office/drawing/2014/main" id="{1602C43A-24A5-C98E-EDD1-34243EDABBC0}"/>
              </a:ext>
            </a:extLst>
          </p:cNvPr>
          <p:cNvSpPr txBox="1"/>
          <p:nvPr/>
        </p:nvSpPr>
        <p:spPr>
          <a:xfrm>
            <a:off x="681990" y="1681988"/>
            <a:ext cx="1569720" cy="2080057"/>
          </a:xfrm>
          <a:prstGeom prst="rect">
            <a:avLst/>
          </a:prstGeom>
        </p:spPr>
        <p:txBody>
          <a:bodyPr vert="horz" wrap="square" lIns="0" tIns="152400" rIns="0" bIns="0" rtlCol="0">
            <a:spAutoFit/>
          </a:bodyPr>
          <a:lstStyle/>
          <a:p>
            <a:pPr marL="268605" indent="-230504" rtl="0">
              <a:spcBef>
                <a:spcPts val="1200"/>
              </a:spcBef>
              <a:buFont typeface="Arial MT"/>
              <a:buChar char="•"/>
              <a:tabLst>
                <a:tab pos="268605" algn="l"/>
              </a:tabLst>
            </a:pPr>
            <a:r>
              <a:rPr sz="2400" kern="1200" spc="-30" dirty="0">
                <a:solidFill>
                  <a:prstClr val="black"/>
                </a:solidFill>
                <a:latin typeface="Cambria Math"/>
                <a:cs typeface="Cambria Math"/>
              </a:rPr>
              <a:t>𝐴</a:t>
            </a:r>
            <a:r>
              <a:rPr lang="en-US" altLang="zh-CN" sz="2700" kern="1200" spc="-44" baseline="-15432" dirty="0">
                <a:solidFill>
                  <a:prstClr val="black"/>
                </a:solidFill>
                <a:latin typeface="Cambria Math"/>
                <a:cs typeface="Cambria Math"/>
              </a:rPr>
              <a:t>0</a:t>
            </a:r>
            <a:r>
              <a:rPr sz="2700" kern="1200" spc="427" baseline="-15432" dirty="0">
                <a:solidFill>
                  <a:prstClr val="black"/>
                </a:solidFill>
                <a:latin typeface="Cambria Math"/>
                <a:cs typeface="Cambria Math"/>
              </a:rPr>
              <a:t> </a:t>
            </a:r>
            <a:r>
              <a:rPr sz="2400" kern="1200" dirty="0">
                <a:solidFill>
                  <a:prstClr val="black"/>
                </a:solidFill>
                <a:latin typeface="Cambria Math"/>
                <a:cs typeface="Cambria Math"/>
              </a:rPr>
              <a:t>→</a:t>
            </a:r>
            <a:r>
              <a:rPr sz="2400" kern="1200" spc="95" dirty="0">
                <a:solidFill>
                  <a:prstClr val="black"/>
                </a:solidFill>
                <a:latin typeface="Cambria Math"/>
                <a:cs typeface="Cambria Math"/>
              </a:rPr>
              <a:t> </a:t>
            </a:r>
            <a:r>
              <a:rPr sz="2400" kern="1200" dirty="0">
                <a:solidFill>
                  <a:prstClr val="black"/>
                </a:solidFill>
                <a:latin typeface="Cambria Math"/>
                <a:cs typeface="Cambria Math"/>
              </a:rPr>
              <a:t>𝑎𝐴</a:t>
            </a:r>
            <a:r>
              <a:rPr lang="en-US" altLang="zh-CN" sz="2700" kern="1200" baseline="-15432" dirty="0">
                <a:solidFill>
                  <a:prstClr val="black"/>
                </a:solidFill>
                <a:latin typeface="Cambria Math"/>
                <a:cs typeface="Cambria Math"/>
              </a:rPr>
              <a:t>0</a:t>
            </a:r>
            <a:endParaRPr sz="2700" kern="1200" baseline="-15432" dirty="0">
              <a:solidFill>
                <a:prstClr val="black"/>
              </a:solidFill>
              <a:latin typeface="Cambria Math"/>
              <a:cs typeface="Cambria Math"/>
            </a:endParaRPr>
          </a:p>
          <a:p>
            <a:pPr marL="268605" indent="-230504" rtl="0">
              <a:spcBef>
                <a:spcPts val="1105"/>
              </a:spcBef>
              <a:buFont typeface="Arial MT"/>
              <a:buChar char="•"/>
              <a:tabLst>
                <a:tab pos="268605" algn="l"/>
              </a:tabLst>
            </a:pPr>
            <a:r>
              <a:rPr sz="2400" kern="1200" spc="-125" dirty="0">
                <a:solidFill>
                  <a:prstClr val="black"/>
                </a:solidFill>
                <a:latin typeface="Cambria Math"/>
                <a:cs typeface="Cambria Math"/>
              </a:rPr>
              <a:t>𝐴</a:t>
            </a:r>
            <a:r>
              <a:rPr lang="en-US" altLang="zh-CN" sz="2700" kern="1200" spc="-187" baseline="-15432" dirty="0">
                <a:solidFill>
                  <a:prstClr val="black"/>
                </a:solidFill>
                <a:latin typeface="Cambria Math"/>
                <a:cs typeface="Cambria Math"/>
              </a:rPr>
              <a:t>1</a:t>
            </a:r>
            <a:r>
              <a:rPr sz="2700" kern="1200" spc="427" baseline="-15432" dirty="0">
                <a:solidFill>
                  <a:prstClr val="black"/>
                </a:solidFill>
                <a:latin typeface="Cambria Math"/>
                <a:cs typeface="Cambria Math"/>
              </a:rPr>
              <a:t> </a:t>
            </a:r>
            <a:r>
              <a:rPr sz="2400" kern="1200" dirty="0">
                <a:solidFill>
                  <a:prstClr val="black"/>
                </a:solidFill>
                <a:latin typeface="Cambria Math"/>
                <a:cs typeface="Cambria Math"/>
              </a:rPr>
              <a:t>→</a:t>
            </a:r>
            <a:r>
              <a:rPr sz="2400" kern="1200" spc="95" dirty="0">
                <a:solidFill>
                  <a:prstClr val="black"/>
                </a:solidFill>
                <a:latin typeface="Cambria Math"/>
                <a:cs typeface="Cambria Math"/>
              </a:rPr>
              <a:t> </a:t>
            </a:r>
            <a:r>
              <a:rPr sz="2400" kern="1200" spc="170" dirty="0">
                <a:solidFill>
                  <a:prstClr val="black"/>
                </a:solidFill>
                <a:latin typeface="Cambria Math"/>
                <a:cs typeface="Cambria Math"/>
              </a:rPr>
              <a:t>𝑏𝐴</a:t>
            </a:r>
            <a:r>
              <a:rPr lang="en-US" altLang="zh-CN" sz="2700" kern="1200" spc="254" baseline="-15432" dirty="0">
                <a:solidFill>
                  <a:prstClr val="black"/>
                </a:solidFill>
                <a:latin typeface="Cambria Math"/>
                <a:cs typeface="Cambria Math"/>
              </a:rPr>
              <a:t>2</a:t>
            </a:r>
            <a:endParaRPr sz="2700" kern="1200" baseline="-15432" dirty="0">
              <a:solidFill>
                <a:prstClr val="black"/>
              </a:solidFill>
              <a:latin typeface="Cambria Math"/>
              <a:cs typeface="Cambria Math"/>
            </a:endParaRPr>
          </a:p>
          <a:p>
            <a:pPr marL="268605" indent="-230504" rtl="0">
              <a:spcBef>
                <a:spcPts val="1225"/>
              </a:spcBef>
              <a:buFont typeface="Arial MT"/>
              <a:buChar char="•"/>
              <a:tabLst>
                <a:tab pos="268605" algn="l"/>
              </a:tabLst>
            </a:pPr>
            <a:r>
              <a:rPr sz="2400" kern="1200" spc="229" dirty="0">
                <a:solidFill>
                  <a:prstClr val="black"/>
                </a:solidFill>
                <a:latin typeface="Cambria Math"/>
                <a:cs typeface="Cambria Math"/>
              </a:rPr>
              <a:t>𝐴</a:t>
            </a:r>
            <a:r>
              <a:rPr lang="en-US" altLang="zh-CN" sz="2700" kern="1200" spc="345" baseline="-15432" dirty="0">
                <a:solidFill>
                  <a:prstClr val="black"/>
                </a:solidFill>
                <a:latin typeface="Cambria Math"/>
                <a:cs typeface="Cambria Math"/>
              </a:rPr>
              <a:t>2</a:t>
            </a:r>
            <a:r>
              <a:rPr sz="2400" kern="1200" dirty="0">
                <a:solidFill>
                  <a:prstClr val="black"/>
                </a:solidFill>
                <a:latin typeface="Cambria Math"/>
                <a:cs typeface="Cambria Math"/>
              </a:rPr>
              <a:t>→</a:t>
            </a:r>
            <a:r>
              <a:rPr sz="2400" kern="1200" spc="90" dirty="0">
                <a:solidFill>
                  <a:prstClr val="black"/>
                </a:solidFill>
                <a:latin typeface="Cambria Math"/>
                <a:cs typeface="Cambria Math"/>
              </a:rPr>
              <a:t> </a:t>
            </a:r>
            <a:r>
              <a:rPr sz="2400" kern="1200" spc="180" dirty="0">
                <a:solidFill>
                  <a:prstClr val="black"/>
                </a:solidFill>
                <a:latin typeface="Cambria Math"/>
                <a:cs typeface="Cambria Math"/>
              </a:rPr>
              <a:t>𝑏𝐴</a:t>
            </a:r>
            <a:r>
              <a:rPr lang="en-US" altLang="zh-CN" sz="2700" kern="1200" spc="270" baseline="-15432" dirty="0">
                <a:solidFill>
                  <a:prstClr val="black"/>
                </a:solidFill>
                <a:latin typeface="Cambria Math"/>
                <a:cs typeface="Cambria Math"/>
              </a:rPr>
              <a:t>3</a:t>
            </a:r>
            <a:endParaRPr sz="2700" kern="1200" baseline="-15432" dirty="0">
              <a:solidFill>
                <a:prstClr val="black"/>
              </a:solidFill>
              <a:latin typeface="Cambria Math"/>
              <a:cs typeface="Cambria Math"/>
            </a:endParaRPr>
          </a:p>
          <a:p>
            <a:pPr marL="268605" indent="-230504" rtl="0">
              <a:spcBef>
                <a:spcPts val="1225"/>
              </a:spcBef>
              <a:buFont typeface="Arial MT"/>
              <a:buChar char="•"/>
              <a:tabLst>
                <a:tab pos="268605" algn="l"/>
              </a:tabLst>
            </a:pPr>
            <a:r>
              <a:rPr sz="2400" kern="1200" spc="245" dirty="0">
                <a:solidFill>
                  <a:prstClr val="black"/>
                </a:solidFill>
                <a:latin typeface="Cambria Math"/>
                <a:cs typeface="Cambria Math"/>
              </a:rPr>
              <a:t>𝐴</a:t>
            </a:r>
            <a:r>
              <a:rPr lang="en-US" altLang="zh-CN" sz="2700" kern="1200" spc="367" baseline="-15432" dirty="0">
                <a:solidFill>
                  <a:prstClr val="black"/>
                </a:solidFill>
                <a:latin typeface="Cambria Math"/>
                <a:cs typeface="Cambria Math"/>
              </a:rPr>
              <a:t>3</a:t>
            </a:r>
            <a:r>
              <a:rPr sz="2700" kern="1200" spc="450" baseline="-15432" dirty="0">
                <a:solidFill>
                  <a:prstClr val="black"/>
                </a:solidFill>
                <a:latin typeface="Cambria Math"/>
                <a:cs typeface="Cambria Math"/>
              </a:rPr>
              <a:t> </a:t>
            </a:r>
            <a:r>
              <a:rPr sz="2400" kern="1200" dirty="0">
                <a:solidFill>
                  <a:prstClr val="black"/>
                </a:solidFill>
                <a:latin typeface="Cambria Math"/>
                <a:cs typeface="Cambria Math"/>
              </a:rPr>
              <a:t>→</a:t>
            </a:r>
            <a:r>
              <a:rPr sz="2400" kern="1200" spc="110" dirty="0">
                <a:solidFill>
                  <a:prstClr val="black"/>
                </a:solidFill>
                <a:latin typeface="Cambria Math"/>
                <a:cs typeface="Cambria Math"/>
              </a:rPr>
              <a:t> </a:t>
            </a:r>
            <a:r>
              <a:rPr sz="2400" kern="1200" dirty="0">
                <a:solidFill>
                  <a:prstClr val="black"/>
                </a:solidFill>
                <a:latin typeface="Cambria Math"/>
                <a:cs typeface="Cambria Math"/>
              </a:rPr>
              <a:t>𝜖</a:t>
            </a:r>
          </a:p>
        </p:txBody>
      </p:sp>
      <p:sp>
        <p:nvSpPr>
          <p:cNvPr id="15" name="object 4">
            <a:extLst>
              <a:ext uri="{FF2B5EF4-FFF2-40B4-BE49-F238E27FC236}">
                <a16:creationId xmlns:a16="http://schemas.microsoft.com/office/drawing/2014/main" id="{46D6CBEF-CCC2-E18B-6623-0F428BEF2CA8}"/>
              </a:ext>
            </a:extLst>
          </p:cNvPr>
          <p:cNvSpPr/>
          <p:nvPr/>
        </p:nvSpPr>
        <p:spPr>
          <a:xfrm>
            <a:off x="3062471" y="1912809"/>
            <a:ext cx="23495" cy="277495"/>
          </a:xfrm>
          <a:custGeom>
            <a:avLst/>
            <a:gdLst/>
            <a:ahLst/>
            <a:cxnLst/>
            <a:rect l="l" t="t" r="r" b="b"/>
            <a:pathLst>
              <a:path w="23494" h="277494">
                <a:moveTo>
                  <a:pt x="22919" y="0"/>
                </a:moveTo>
                <a:lnTo>
                  <a:pt x="0" y="0"/>
                </a:lnTo>
                <a:lnTo>
                  <a:pt x="0" y="276969"/>
                </a:lnTo>
                <a:lnTo>
                  <a:pt x="22919" y="276969"/>
                </a:lnTo>
                <a:lnTo>
                  <a:pt x="2291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5">
            <a:extLst>
              <a:ext uri="{FF2B5EF4-FFF2-40B4-BE49-F238E27FC236}">
                <a16:creationId xmlns:a16="http://schemas.microsoft.com/office/drawing/2014/main" id="{CF568C01-E1B8-5044-1AEB-3C102D2D0C86}"/>
              </a:ext>
            </a:extLst>
          </p:cNvPr>
          <p:cNvSpPr/>
          <p:nvPr/>
        </p:nvSpPr>
        <p:spPr>
          <a:xfrm>
            <a:off x="2325998" y="1912809"/>
            <a:ext cx="23495" cy="277495"/>
          </a:xfrm>
          <a:custGeom>
            <a:avLst/>
            <a:gdLst/>
            <a:ahLst/>
            <a:cxnLst/>
            <a:rect l="l" t="t" r="r" b="b"/>
            <a:pathLst>
              <a:path w="23494" h="277494">
                <a:moveTo>
                  <a:pt x="22919" y="0"/>
                </a:moveTo>
                <a:lnTo>
                  <a:pt x="0" y="0"/>
                </a:lnTo>
                <a:lnTo>
                  <a:pt x="0" y="276969"/>
                </a:lnTo>
                <a:lnTo>
                  <a:pt x="22919" y="276969"/>
                </a:lnTo>
                <a:lnTo>
                  <a:pt x="2291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7" name="object 6">
            <a:extLst>
              <a:ext uri="{FF2B5EF4-FFF2-40B4-BE49-F238E27FC236}">
                <a16:creationId xmlns:a16="http://schemas.microsoft.com/office/drawing/2014/main" id="{B25985B9-19FB-637A-FF55-A09977E9CB44}"/>
              </a:ext>
            </a:extLst>
          </p:cNvPr>
          <p:cNvSpPr txBox="1"/>
          <p:nvPr/>
        </p:nvSpPr>
        <p:spPr>
          <a:xfrm>
            <a:off x="2414270" y="1822196"/>
            <a:ext cx="574040" cy="382156"/>
          </a:xfrm>
          <a:prstGeom prst="rect">
            <a:avLst/>
          </a:prstGeom>
        </p:spPr>
        <p:txBody>
          <a:bodyPr vert="horz" wrap="square" lIns="0" tIns="12700" rIns="0" bIns="0" rtlCol="0">
            <a:spAutoFit/>
          </a:bodyPr>
          <a:lstStyle/>
          <a:p>
            <a:pPr marL="38100" rtl="0">
              <a:spcBef>
                <a:spcPts val="100"/>
              </a:spcBef>
            </a:pPr>
            <a:r>
              <a:rPr sz="2400" kern="1200" dirty="0">
                <a:solidFill>
                  <a:prstClr val="black"/>
                </a:solidFill>
                <a:latin typeface="Cambria Math"/>
                <a:cs typeface="Cambria Math"/>
              </a:rPr>
              <a:t>𝑏𝐴</a:t>
            </a:r>
            <a:r>
              <a:rPr lang="en-US" altLang="zh-CN" sz="2700" kern="1200" baseline="-15432" dirty="0">
                <a:solidFill>
                  <a:prstClr val="black"/>
                </a:solidFill>
                <a:latin typeface="Cambria Math"/>
                <a:cs typeface="Cambria Math"/>
              </a:rPr>
              <a:t>0</a:t>
            </a:r>
            <a:endParaRPr sz="2700" kern="1200" baseline="-15432" dirty="0">
              <a:solidFill>
                <a:prstClr val="black"/>
              </a:solidFill>
              <a:latin typeface="Cambria Math"/>
              <a:cs typeface="Cambria Math"/>
            </a:endParaRPr>
          </a:p>
        </p:txBody>
      </p:sp>
      <p:sp>
        <p:nvSpPr>
          <p:cNvPr id="18" name="object 7">
            <a:extLst>
              <a:ext uri="{FF2B5EF4-FFF2-40B4-BE49-F238E27FC236}">
                <a16:creationId xmlns:a16="http://schemas.microsoft.com/office/drawing/2014/main" id="{74F0601F-D97D-736A-39F5-E879AAD6A7F6}"/>
              </a:ext>
            </a:extLst>
          </p:cNvPr>
          <p:cNvSpPr txBox="1"/>
          <p:nvPr/>
        </p:nvSpPr>
        <p:spPr>
          <a:xfrm>
            <a:off x="3150742" y="1822196"/>
            <a:ext cx="572770" cy="382156"/>
          </a:xfrm>
          <a:prstGeom prst="rect">
            <a:avLst/>
          </a:prstGeom>
        </p:spPr>
        <p:txBody>
          <a:bodyPr vert="horz" wrap="square" lIns="0" tIns="12700" rIns="0" bIns="0" rtlCol="0">
            <a:spAutoFit/>
          </a:bodyPr>
          <a:lstStyle/>
          <a:p>
            <a:pPr marL="38100" rtl="0">
              <a:spcBef>
                <a:spcPts val="100"/>
              </a:spcBef>
            </a:pPr>
            <a:r>
              <a:rPr sz="2400" kern="1200" spc="-65" dirty="0">
                <a:solidFill>
                  <a:prstClr val="black"/>
                </a:solidFill>
                <a:latin typeface="Cambria Math"/>
                <a:cs typeface="Cambria Math"/>
              </a:rPr>
              <a:t>𝑎𝐴</a:t>
            </a:r>
            <a:r>
              <a:rPr lang="en-US" altLang="zh-CN" sz="2700" kern="1200" spc="-97" baseline="-15432" dirty="0">
                <a:solidFill>
                  <a:prstClr val="black"/>
                </a:solidFill>
                <a:latin typeface="Cambria Math"/>
                <a:cs typeface="Cambria Math"/>
              </a:rPr>
              <a:t>1</a:t>
            </a:r>
            <a:endParaRPr sz="2700" kern="1200" baseline="-15432" dirty="0">
              <a:solidFill>
                <a:prstClr val="black"/>
              </a:solidFill>
              <a:latin typeface="Cambria Math"/>
              <a:cs typeface="Cambria Math"/>
            </a:endParaRPr>
          </a:p>
        </p:txBody>
      </p:sp>
      <p:pic>
        <p:nvPicPr>
          <p:cNvPr id="19" name="object 8">
            <a:extLst>
              <a:ext uri="{FF2B5EF4-FFF2-40B4-BE49-F238E27FC236}">
                <a16:creationId xmlns:a16="http://schemas.microsoft.com/office/drawing/2014/main" id="{0ACE229E-4BAA-230E-3E4C-A09896288A53}"/>
              </a:ext>
            </a:extLst>
          </p:cNvPr>
          <p:cNvPicPr/>
          <p:nvPr/>
        </p:nvPicPr>
        <p:blipFill>
          <a:blip r:embed="rId3" cstate="print"/>
          <a:stretch>
            <a:fillRect/>
          </a:stretch>
        </p:blipFill>
        <p:spPr>
          <a:xfrm>
            <a:off x="3991450" y="1991931"/>
            <a:ext cx="4442966" cy="1347960"/>
          </a:xfrm>
          <a:prstGeom prst="rect">
            <a:avLst/>
          </a:prstGeom>
        </p:spPr>
      </p:pic>
      <p:sp>
        <p:nvSpPr>
          <p:cNvPr id="20" name="object 9">
            <a:extLst>
              <a:ext uri="{FF2B5EF4-FFF2-40B4-BE49-F238E27FC236}">
                <a16:creationId xmlns:a16="http://schemas.microsoft.com/office/drawing/2014/main" id="{80C66F4A-A7E9-B4F1-0BCB-E14DA7A8B313}"/>
              </a:ext>
            </a:extLst>
          </p:cNvPr>
          <p:cNvSpPr txBox="1"/>
          <p:nvPr/>
        </p:nvSpPr>
        <p:spPr>
          <a:xfrm>
            <a:off x="675506" y="4278884"/>
            <a:ext cx="7582534" cy="866775"/>
          </a:xfrm>
          <a:prstGeom prst="rect">
            <a:avLst/>
          </a:prstGeom>
        </p:spPr>
        <p:txBody>
          <a:bodyPr vert="horz" wrap="square" lIns="0" tIns="12700" rIns="0" bIns="0" rtlCol="0">
            <a:spAutoFit/>
          </a:bodyPr>
          <a:lstStyle/>
          <a:p>
            <a:pPr marL="12700" marR="5080" rtl="0">
              <a:lnSpc>
                <a:spcPct val="153300"/>
              </a:lnSpc>
              <a:spcBef>
                <a:spcPts val="100"/>
              </a:spcBef>
            </a:pPr>
            <a:r>
              <a:rPr b="1" kern="1200" spc="-5" dirty="0">
                <a:solidFill>
                  <a:prstClr val="black"/>
                </a:solidFill>
                <a:latin typeface="Palatino Linotype"/>
                <a:cs typeface="Palatino Linotype"/>
              </a:rPr>
              <a:t>Consider </a:t>
            </a:r>
            <a:r>
              <a:rPr b="1" kern="1200" dirty="0">
                <a:solidFill>
                  <a:prstClr val="black"/>
                </a:solidFill>
                <a:latin typeface="Palatino Linotype"/>
                <a:cs typeface="Palatino Linotype"/>
              </a:rPr>
              <a:t>the </a:t>
            </a:r>
            <a:r>
              <a:rPr b="1" kern="1200" spc="-5" dirty="0">
                <a:solidFill>
                  <a:prstClr val="black"/>
                </a:solidFill>
                <a:latin typeface="Palatino Linotype"/>
                <a:cs typeface="Palatino Linotype"/>
              </a:rPr>
              <a:t>string </a:t>
            </a:r>
            <a:r>
              <a:rPr kern="1200" spc="-5" dirty="0">
                <a:solidFill>
                  <a:srgbClr val="FF0000"/>
                </a:solidFill>
                <a:latin typeface="Cambria Math"/>
                <a:cs typeface="Cambria Math"/>
              </a:rPr>
              <a:t>𝒃𝒂𝒂𝒃𝒃</a:t>
            </a:r>
            <a:r>
              <a:rPr b="1"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 </a:t>
            </a:r>
            <a:r>
              <a:rPr kern="1200" dirty="0">
                <a:solidFill>
                  <a:prstClr val="black"/>
                </a:solidFill>
                <a:latin typeface="Palatino Linotype"/>
                <a:cs typeface="Palatino Linotype"/>
              </a:rPr>
              <a:t>process of the </a:t>
            </a:r>
            <a:r>
              <a:rPr kern="1200" spc="-40" dirty="0">
                <a:solidFill>
                  <a:prstClr val="black"/>
                </a:solidFill>
                <a:latin typeface="Palatino Linotype"/>
                <a:cs typeface="Palatino Linotype"/>
              </a:rPr>
              <a:t>NFA </a:t>
            </a:r>
            <a:r>
              <a:rPr kern="1200" dirty="0">
                <a:solidFill>
                  <a:prstClr val="black"/>
                </a:solidFill>
                <a:latin typeface="Palatino Linotype"/>
                <a:cs typeface="Palatino Linotype"/>
              </a:rPr>
              <a:t>accepting the </a:t>
            </a:r>
            <a:r>
              <a:rPr kern="1200" spc="-5" dirty="0">
                <a:solidFill>
                  <a:prstClr val="black"/>
                </a:solidFill>
                <a:latin typeface="Palatino Linotype"/>
                <a:cs typeface="Palatino Linotype"/>
              </a:rPr>
              <a:t>sentence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corresponds</a:t>
            </a:r>
            <a:r>
              <a:rPr kern="1200" spc="-5" dirty="0">
                <a:solidFill>
                  <a:prstClr val="black"/>
                </a:solidFill>
                <a:latin typeface="Palatino Linotype"/>
                <a:cs typeface="Palatino Linotype"/>
              </a:rPr>
              <a:t> exactly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a:t>
            </a:r>
            <a:r>
              <a:rPr kern="1200" spc="-10" dirty="0">
                <a:solidFill>
                  <a:prstClr val="black"/>
                </a:solidFill>
                <a:latin typeface="Palatino Linotype"/>
                <a:cs typeface="Palatino Linotype"/>
              </a:rPr>
              <a:t>derivation</a:t>
            </a:r>
            <a:r>
              <a:rPr kern="1200" dirty="0">
                <a:solidFill>
                  <a:prstClr val="black"/>
                </a:solidFill>
                <a:latin typeface="Palatino Linotype"/>
                <a:cs typeface="Palatino Linotype"/>
              </a:rPr>
              <a:t> of</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sentence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from</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grammar</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589584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26</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6">
            <a:extLst>
              <a:ext uri="{FF2B5EF4-FFF2-40B4-BE49-F238E27FC236}">
                <a16:creationId xmlns:a16="http://schemas.microsoft.com/office/drawing/2014/main" id="{01150CEA-72CC-EA64-2CD5-2CFFCD441C00}"/>
              </a:ext>
            </a:extLst>
          </p:cNvPr>
          <p:cNvSpPr txBox="1"/>
          <p:nvPr/>
        </p:nvSpPr>
        <p:spPr>
          <a:xfrm>
            <a:off x="5652120" y="136524"/>
            <a:ext cx="3226435" cy="2564163"/>
          </a:xfrm>
          <a:prstGeom prst="rect">
            <a:avLst/>
          </a:prstGeom>
          <a:ln w="12700">
            <a:solidFill>
              <a:srgbClr val="7F7F7F"/>
            </a:solidFill>
          </a:ln>
        </p:spPr>
        <p:txBody>
          <a:bodyPr vert="horz" wrap="square" lIns="0" tIns="121285" rIns="0" bIns="0" rtlCol="0">
            <a:spAutoFit/>
          </a:bodyPr>
          <a:lstStyle/>
          <a:p>
            <a:pPr marL="449580" indent="-286385">
              <a:lnSpc>
                <a:spcPct val="100000"/>
              </a:lnSpc>
              <a:spcBef>
                <a:spcPts val="955"/>
              </a:spcBef>
              <a:buFont typeface="Arial MT"/>
              <a:buChar char="•"/>
              <a:tabLst>
                <a:tab pos="449580" algn="l"/>
                <a:tab pos="450215" algn="l"/>
              </a:tabLst>
            </a:pPr>
            <a:r>
              <a:rPr sz="1800" spc="-5" dirty="0">
                <a:solidFill>
                  <a:schemeClr val="bg2">
                    <a:lumMod val="50000"/>
                  </a:schemeClr>
                </a:solidFill>
                <a:latin typeface="Palatino Linotype"/>
                <a:cs typeface="Palatino Linotype"/>
              </a:rPr>
              <a:t>Formal</a:t>
            </a:r>
            <a:r>
              <a:rPr sz="1800" spc="-20"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definition</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of</a:t>
            </a:r>
            <a:r>
              <a:rPr sz="1800" spc="-20"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CFG</a:t>
            </a:r>
            <a:endParaRPr sz="1800" dirty="0">
              <a:solidFill>
                <a:schemeClr val="bg2">
                  <a:lumMod val="50000"/>
                </a:schemeClr>
              </a:solidFill>
              <a:latin typeface="Palatino Linotype"/>
              <a:cs typeface="Palatino Linotype"/>
            </a:endParaRPr>
          </a:p>
          <a:p>
            <a:pPr>
              <a:lnSpc>
                <a:spcPct val="100000"/>
              </a:lnSpc>
              <a:spcBef>
                <a:spcPts val="55"/>
              </a:spcBef>
              <a:buChar char="•"/>
            </a:pPr>
            <a:endParaRPr sz="1700" dirty="0">
              <a:solidFill>
                <a:schemeClr val="bg2">
                  <a:lumMod val="50000"/>
                </a:schemeClr>
              </a:solidFill>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10" dirty="0">
                <a:solidFill>
                  <a:schemeClr val="bg2">
                    <a:lumMod val="50000"/>
                  </a:schemeClr>
                </a:solidFill>
                <a:latin typeface="Palatino Linotype"/>
                <a:cs typeface="Palatino Linotype"/>
              </a:rPr>
              <a:t>Derivation</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and</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parse</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tree</a:t>
            </a:r>
          </a:p>
          <a:p>
            <a:pPr>
              <a:lnSpc>
                <a:spcPct val="100000"/>
              </a:lnSpc>
              <a:spcBef>
                <a:spcPts val="5"/>
              </a:spcBef>
              <a:buChar char="•"/>
            </a:pPr>
            <a:endParaRPr sz="1650" dirty="0">
              <a:solidFill>
                <a:schemeClr val="bg2">
                  <a:lumMod val="50000"/>
                </a:schemeClr>
              </a:solidFill>
              <a:latin typeface="Palatino Linotype"/>
              <a:cs typeface="Palatino Linotype"/>
            </a:endParaRPr>
          </a:p>
          <a:p>
            <a:pPr marL="449580" indent="-286385">
              <a:lnSpc>
                <a:spcPct val="100000"/>
              </a:lnSpc>
              <a:buFont typeface="Arial MT"/>
              <a:buChar char="•"/>
              <a:tabLst>
                <a:tab pos="449580" algn="l"/>
                <a:tab pos="450215" algn="l"/>
              </a:tabLst>
            </a:pPr>
            <a:r>
              <a:rPr sz="1800" spc="-5" dirty="0">
                <a:solidFill>
                  <a:schemeClr val="bg2">
                    <a:lumMod val="50000"/>
                  </a:schemeClr>
                </a:solidFill>
                <a:latin typeface="Palatino Linotype"/>
                <a:cs typeface="Palatino Linotype"/>
              </a:rPr>
              <a:t>Ambiguity</a:t>
            </a:r>
            <a:endParaRPr sz="1800" dirty="0">
              <a:solidFill>
                <a:schemeClr val="bg2">
                  <a:lumMod val="50000"/>
                </a:schemeClr>
              </a:solidFill>
              <a:latin typeface="Palatino Linotype"/>
              <a:cs typeface="Palatino Linotype"/>
            </a:endParaRPr>
          </a:p>
          <a:p>
            <a:pPr>
              <a:lnSpc>
                <a:spcPct val="100000"/>
              </a:lnSpc>
              <a:spcBef>
                <a:spcPts val="55"/>
              </a:spcBef>
              <a:buChar char="•"/>
            </a:pPr>
            <a:endParaRPr sz="1700" dirty="0">
              <a:solidFill>
                <a:schemeClr val="bg2">
                  <a:lumMod val="50000"/>
                </a:schemeClr>
              </a:solidFill>
              <a:latin typeface="Palatino Linotype"/>
              <a:cs typeface="Palatino Linotype"/>
            </a:endParaRPr>
          </a:p>
          <a:p>
            <a:pPr marL="449580" indent="-286385">
              <a:lnSpc>
                <a:spcPct val="100000"/>
              </a:lnSpc>
              <a:buFont typeface="Arial MT"/>
              <a:buChar char="•"/>
              <a:tabLst>
                <a:tab pos="449580" algn="l"/>
                <a:tab pos="450215" algn="l"/>
              </a:tabLst>
            </a:pPr>
            <a:r>
              <a:rPr sz="1800" spc="-5" dirty="0">
                <a:solidFill>
                  <a:schemeClr val="bg2">
                    <a:lumMod val="50000"/>
                  </a:schemeClr>
                </a:solidFill>
                <a:latin typeface="Palatino Linotype"/>
                <a:cs typeface="Palatino Linotype"/>
              </a:rPr>
              <a:t>CFG</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vs.</a:t>
            </a:r>
            <a:r>
              <a:rPr sz="1800" spc="-25"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regexp</a:t>
            </a:r>
            <a:endParaRPr sz="1800" dirty="0">
              <a:solidFill>
                <a:schemeClr val="bg2">
                  <a:lumMod val="50000"/>
                </a:schemeClr>
              </a:solidFill>
              <a:latin typeface="Palatino Linotype"/>
              <a:cs typeface="Palatino Linotype"/>
            </a:endParaRPr>
          </a:p>
          <a:p>
            <a:pPr>
              <a:lnSpc>
                <a:spcPct val="100000"/>
              </a:lnSpc>
              <a:spcBef>
                <a:spcPts val="5"/>
              </a:spcBef>
              <a:buChar char="•"/>
            </a:pPr>
            <a:endParaRPr sz="1650" dirty="0">
              <a:latin typeface="Palatino Linotype"/>
              <a:cs typeface="Palatino Linotype"/>
            </a:endParaRPr>
          </a:p>
          <a:p>
            <a:pPr marL="449580" indent="-286385">
              <a:lnSpc>
                <a:spcPct val="100000"/>
              </a:lnSpc>
              <a:spcBef>
                <a:spcPts val="5"/>
              </a:spcBef>
              <a:buFont typeface="Arial MT"/>
              <a:buChar char="•"/>
              <a:tabLst>
                <a:tab pos="449580" algn="l"/>
                <a:tab pos="450215" algn="l"/>
              </a:tabLst>
            </a:pPr>
            <a:r>
              <a:rPr sz="1800" spc="-5" dirty="0">
                <a:latin typeface="Palatino Linotype"/>
                <a:cs typeface="Palatino Linotype"/>
              </a:rPr>
              <a:t>Grammar</a:t>
            </a:r>
            <a:r>
              <a:rPr sz="1800" spc="-25" dirty="0">
                <a:latin typeface="Palatino Linotype"/>
                <a:cs typeface="Palatino Linotype"/>
              </a:rPr>
              <a:t> </a:t>
            </a:r>
            <a:r>
              <a:rPr sz="1800" spc="-5" dirty="0">
                <a:latin typeface="Palatino Linotype"/>
                <a:cs typeface="Palatino Linotype"/>
              </a:rPr>
              <a:t>design</a:t>
            </a:r>
            <a:endParaRPr sz="1800" dirty="0">
              <a:latin typeface="Palatino Linotype"/>
              <a:cs typeface="Palatino Linotype"/>
            </a:endParaRPr>
          </a:p>
        </p:txBody>
      </p:sp>
      <p:sp>
        <p:nvSpPr>
          <p:cNvPr id="6" name="object 7">
            <a:extLst>
              <a:ext uri="{FF2B5EF4-FFF2-40B4-BE49-F238E27FC236}">
                <a16:creationId xmlns:a16="http://schemas.microsoft.com/office/drawing/2014/main" id="{296F1C25-B6ED-0F61-B0FE-BEDCA5800578}"/>
              </a:ext>
            </a:extLst>
          </p:cNvPr>
          <p:cNvSpPr/>
          <p:nvPr/>
        </p:nvSpPr>
        <p:spPr>
          <a:xfrm>
            <a:off x="4450680" y="1898772"/>
            <a:ext cx="1207770" cy="554355"/>
          </a:xfrm>
          <a:custGeom>
            <a:avLst/>
            <a:gdLst/>
            <a:ahLst/>
            <a:cxnLst/>
            <a:rect l="l" t="t" r="r" b="b"/>
            <a:pathLst>
              <a:path w="1207770" h="554355">
                <a:moveTo>
                  <a:pt x="1207472" y="0"/>
                </a:moveTo>
                <a:lnTo>
                  <a:pt x="0" y="553742"/>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1577399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dirty="0"/>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27</a:t>
            </a:fld>
            <a:endParaRPr lang="en-US"/>
          </a:p>
        </p:txBody>
      </p:sp>
      <p:sp>
        <p:nvSpPr>
          <p:cNvPr id="7" name="object 2">
            <a:extLst>
              <a:ext uri="{FF2B5EF4-FFF2-40B4-BE49-F238E27FC236}">
                <a16:creationId xmlns:a16="http://schemas.microsoft.com/office/drawing/2014/main" id="{E4E8B8B7-B017-9751-F9E5-14038E656783}"/>
              </a:ext>
            </a:extLst>
          </p:cNvPr>
          <p:cNvSpPr txBox="1">
            <a:spLocks/>
          </p:cNvSpPr>
          <p:nvPr/>
        </p:nvSpPr>
        <p:spPr>
          <a:xfrm>
            <a:off x="707390" y="524763"/>
            <a:ext cx="737235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dirty="0">
                <a:ln>
                  <a:noFill/>
                </a:ln>
                <a:solidFill>
                  <a:sysClr val="windowText" lastClr="000000"/>
                </a:solidFill>
                <a:effectLst/>
                <a:uLnTx/>
                <a:uFillTx/>
                <a:latin typeface="Palatino Linotype"/>
                <a:ea typeface="+mj-ea"/>
              </a:rPr>
              <a:t>Grammar</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Design</a:t>
            </a:r>
            <a:endParaRPr kumimoji="0" lang="en-US" sz="24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37362D07-3019-8F01-E340-99C0DF3A147F}"/>
              </a:ext>
            </a:extLst>
          </p:cNvPr>
          <p:cNvSpPr txBox="1"/>
          <p:nvPr/>
        </p:nvSpPr>
        <p:spPr>
          <a:xfrm>
            <a:off x="707390" y="1610867"/>
            <a:ext cx="7483475" cy="4380230"/>
          </a:xfrm>
          <a:prstGeom prst="rect">
            <a:avLst/>
          </a:prstGeom>
        </p:spPr>
        <p:txBody>
          <a:bodyPr vert="horz" wrap="square" lIns="0" tIns="12700" rIns="0" bIns="0" rtlCol="0">
            <a:spAutoFit/>
          </a:bodyPr>
          <a:lstStyle/>
          <a:p>
            <a:pPr marL="242570" marR="5080" indent="-230504" rtl="0">
              <a:lnSpc>
                <a:spcPct val="115999"/>
              </a:lnSpc>
              <a:spcBef>
                <a:spcPts val="100"/>
              </a:spcBef>
              <a:buFont typeface="Arial MT"/>
              <a:buChar char="•"/>
              <a:tabLst>
                <a:tab pos="242570" algn="l"/>
                <a:tab pos="243204" algn="l"/>
              </a:tabLst>
            </a:pPr>
            <a:r>
              <a:rPr sz="2000" kern="1200" spc="-5" dirty="0">
                <a:solidFill>
                  <a:prstClr val="black"/>
                </a:solidFill>
                <a:latin typeface="Palatino Linotype"/>
                <a:cs typeface="Palatino Linotype"/>
              </a:rPr>
              <a:t>CFGs are</a:t>
            </a:r>
            <a:r>
              <a:rPr sz="2000" kern="1200" dirty="0">
                <a:solidFill>
                  <a:prstClr val="black"/>
                </a:solidFill>
                <a:latin typeface="Palatino Linotype"/>
                <a:cs typeface="Palatino Linotype"/>
              </a:rPr>
              <a:t> capable </a:t>
            </a:r>
            <a:r>
              <a:rPr sz="2000" kern="1200" spc="-5" dirty="0">
                <a:solidFill>
                  <a:prstClr val="black"/>
                </a:solidFill>
                <a:latin typeface="Palatino Linotype"/>
                <a:cs typeface="Palatino Linotype"/>
              </a:rPr>
              <a:t>of </a:t>
            </a:r>
            <a:r>
              <a:rPr sz="2000" kern="1200" dirty="0">
                <a:solidFill>
                  <a:prstClr val="black"/>
                </a:solidFill>
                <a:latin typeface="Palatino Linotype"/>
                <a:cs typeface="Palatino Linotype"/>
              </a:rPr>
              <a:t>describing </a:t>
            </a:r>
            <a:r>
              <a:rPr sz="2000" kern="1200" spc="-5" dirty="0">
                <a:solidFill>
                  <a:prstClr val="black"/>
                </a:solidFill>
                <a:latin typeface="Palatino Linotype"/>
                <a:cs typeface="Palatino Linotype"/>
              </a:rPr>
              <a:t>most,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but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not </a:t>
            </a:r>
            <a:r>
              <a:rPr sz="2000" kern="1200" dirty="0">
                <a:solidFill>
                  <a:prstClr val="black"/>
                </a:solidFill>
                <a:latin typeface="Palatino Linotype"/>
                <a:cs typeface="Palatino Linotype"/>
              </a:rPr>
              <a:t>all, </a:t>
            </a:r>
            <a:r>
              <a:rPr sz="2000" kern="1200" spc="-5" dirty="0">
                <a:solidFill>
                  <a:prstClr val="black"/>
                </a:solidFill>
                <a:latin typeface="Palatino Linotype"/>
                <a:cs typeface="Palatino Linotype"/>
              </a:rPr>
              <a:t>of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syntax</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of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programming languages</a:t>
            </a:r>
            <a:endParaRPr sz="2000" kern="1200" dirty="0">
              <a:solidFill>
                <a:prstClr val="black"/>
              </a:solidFill>
              <a:latin typeface="Palatino Linotype"/>
              <a:cs typeface="Palatino Linotype"/>
            </a:endParaRPr>
          </a:p>
          <a:p>
            <a:pPr marL="698500" lvl="1" indent="-228600" rtl="0">
              <a:spcBef>
                <a:spcPts val="1695"/>
              </a:spcBef>
              <a:buFont typeface="Wingdings"/>
              <a:buChar char=""/>
              <a:tabLst>
                <a:tab pos="697865" algn="l"/>
                <a:tab pos="698500" algn="l"/>
              </a:tabLst>
            </a:pPr>
            <a:r>
              <a:rPr sz="1600" kern="1200" spc="-5" dirty="0">
                <a:solidFill>
                  <a:prstClr val="black"/>
                </a:solidFill>
                <a:latin typeface="Palatino Linotype"/>
                <a:cs typeface="Palatino Linotype"/>
              </a:rPr>
              <a:t>“Identifiers should</a:t>
            </a:r>
            <a:r>
              <a:rPr sz="1600" kern="1200" dirty="0">
                <a:solidFill>
                  <a:prstClr val="black"/>
                </a:solidFill>
                <a:latin typeface="Palatino Linotype"/>
                <a:cs typeface="Palatino Linotype"/>
              </a:rPr>
              <a:t> be</a:t>
            </a:r>
            <a:r>
              <a:rPr sz="1600" kern="1200" spc="-5" dirty="0">
                <a:solidFill>
                  <a:prstClr val="black"/>
                </a:solidFill>
                <a:latin typeface="Palatino Linotype"/>
                <a:cs typeface="Palatino Linotype"/>
              </a:rPr>
              <a:t> declared</a:t>
            </a:r>
            <a:r>
              <a:rPr sz="1600" kern="1200" dirty="0">
                <a:solidFill>
                  <a:prstClr val="black"/>
                </a:solidFill>
                <a:latin typeface="Palatino Linotype"/>
                <a:cs typeface="Palatino Linotype"/>
              </a:rPr>
              <a:t> before</a:t>
            </a:r>
            <a:r>
              <a:rPr sz="1600" kern="1200" spc="-5" dirty="0">
                <a:solidFill>
                  <a:prstClr val="black"/>
                </a:solidFill>
                <a:latin typeface="Palatino Linotype"/>
                <a:cs typeface="Palatino Linotype"/>
              </a:rPr>
              <a:t> use”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cannot be </a:t>
            </a:r>
            <a:r>
              <a:rPr sz="1600" kern="1200" spc="-5" dirty="0">
                <a:solidFill>
                  <a:prstClr val="black"/>
                </a:solidFill>
                <a:latin typeface="Palatino Linotype"/>
                <a:cs typeface="Palatino Linotype"/>
              </a:rPr>
              <a:t>described</a:t>
            </a:r>
            <a:r>
              <a:rPr sz="1600" kern="1200" dirty="0">
                <a:solidFill>
                  <a:prstClr val="black"/>
                </a:solidFill>
                <a:latin typeface="Palatino Linotype"/>
                <a:cs typeface="Palatino Linotype"/>
              </a:rPr>
              <a:t> by</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a</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CFG</a:t>
            </a:r>
            <a:endParaRPr sz="1600" kern="1200" dirty="0">
              <a:solidFill>
                <a:prstClr val="black"/>
              </a:solidFill>
              <a:latin typeface="Palatino Linotype"/>
              <a:cs typeface="Palatino Linotype"/>
            </a:endParaRPr>
          </a:p>
          <a:p>
            <a:pPr marL="698500" marR="763905" lvl="1" indent="-228600" rtl="0">
              <a:lnSpc>
                <a:spcPct val="120000"/>
              </a:lnSpc>
              <a:spcBef>
                <a:spcPts val="1200"/>
              </a:spcBef>
              <a:buFont typeface="Wingdings"/>
              <a:buChar char=""/>
              <a:tabLst>
                <a:tab pos="697865" algn="l"/>
                <a:tab pos="698500" algn="l"/>
              </a:tabLst>
            </a:pPr>
            <a:r>
              <a:rPr sz="1600" kern="1200" spc="-5" dirty="0">
                <a:solidFill>
                  <a:prstClr val="black"/>
                </a:solidFill>
                <a:latin typeface="Palatino Linotype"/>
                <a:cs typeface="Palatino Linotype"/>
              </a:rPr>
              <a:t>Subsequent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phases</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must</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analyze</a:t>
            </a:r>
            <a:r>
              <a:rPr sz="1600" kern="1200" dirty="0">
                <a:solidFill>
                  <a:prstClr val="black"/>
                </a:solidFill>
                <a:latin typeface="Palatino Linotype"/>
                <a:cs typeface="Palatino Linotype"/>
              </a:rPr>
              <a:t> the </a:t>
            </a:r>
            <a:r>
              <a:rPr sz="1600" kern="1200" spc="-5" dirty="0">
                <a:solidFill>
                  <a:prstClr val="black"/>
                </a:solidFill>
                <a:latin typeface="Palatino Linotype"/>
                <a:cs typeface="Palatino Linotype"/>
              </a:rPr>
              <a:t>output</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of</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 </a:t>
            </a:r>
            <a:r>
              <a:rPr sz="1600" kern="1200" spc="-5" dirty="0">
                <a:solidFill>
                  <a:prstClr val="black"/>
                </a:solidFill>
                <a:latin typeface="Palatino Linotype"/>
                <a:cs typeface="Palatino Linotype"/>
              </a:rPr>
              <a:t>parser</a:t>
            </a:r>
            <a:r>
              <a:rPr sz="1600" kern="1200" spc="15" dirty="0">
                <a:solidFill>
                  <a:prstClr val="black"/>
                </a:solidFill>
                <a:latin typeface="Palatino Linotype"/>
                <a:cs typeface="Palatino Linotype"/>
              </a:rPr>
              <a:t> </a:t>
            </a:r>
            <a:r>
              <a:rPr sz="1600" kern="1200"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ensure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compliance</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with</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such</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rules</a:t>
            </a:r>
            <a:endParaRPr sz="1600" kern="1200" dirty="0">
              <a:solidFill>
                <a:prstClr val="black"/>
              </a:solidFill>
              <a:latin typeface="Palatino Linotype"/>
              <a:cs typeface="Palatino Linotype"/>
            </a:endParaRPr>
          </a:p>
          <a:p>
            <a:pPr lvl="1" rtl="0">
              <a:spcBef>
                <a:spcPts val="10"/>
              </a:spcBef>
              <a:buFont typeface="Wingdings"/>
              <a:buChar char=""/>
            </a:pPr>
            <a:endParaRPr sz="2150" kern="1200" dirty="0">
              <a:solidFill>
                <a:prstClr val="black"/>
              </a:solidFill>
              <a:latin typeface="Palatino Linotype"/>
              <a:cs typeface="Palatino Linotype"/>
            </a:endParaRPr>
          </a:p>
          <a:p>
            <a:pPr marL="242570" marR="200025" indent="-230504" rtl="0">
              <a:lnSpc>
                <a:spcPct val="120000"/>
              </a:lnSpc>
              <a:buFont typeface="Arial MT"/>
              <a:buChar char="•"/>
              <a:tabLst>
                <a:tab pos="242570" algn="l"/>
                <a:tab pos="243204" algn="l"/>
              </a:tabLst>
            </a:pPr>
            <a:r>
              <a:rPr sz="2000" kern="1200" spc="-5" dirty="0">
                <a:solidFill>
                  <a:prstClr val="black"/>
                </a:solidFill>
                <a:latin typeface="Palatino Linotype"/>
                <a:cs typeface="Palatino Linotype"/>
              </a:rPr>
              <a:t>Before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parsing,</a:t>
            </a:r>
            <a:r>
              <a:rPr sz="2000" kern="1200" spc="5" dirty="0">
                <a:solidFill>
                  <a:prstClr val="black"/>
                </a:solidFill>
                <a:latin typeface="Palatino Linotype"/>
                <a:cs typeface="Palatino Linotype"/>
              </a:rPr>
              <a:t> </a:t>
            </a:r>
            <a:r>
              <a:rPr sz="2000" kern="1200" spc="-20" dirty="0">
                <a:solidFill>
                  <a:prstClr val="black"/>
                </a:solidFill>
                <a:latin typeface="Palatino Linotype"/>
                <a:cs typeface="Palatino Linotype"/>
              </a:rPr>
              <a:t>we</a:t>
            </a:r>
            <a:r>
              <a:rPr sz="2000" kern="1200" dirty="0">
                <a:solidFill>
                  <a:prstClr val="black"/>
                </a:solidFill>
                <a:latin typeface="Palatino Linotype"/>
                <a:cs typeface="Palatino Linotype"/>
              </a:rPr>
              <a:t> typically</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apply</a:t>
            </a:r>
            <a:r>
              <a:rPr sz="2000" kern="1200" spc="5" dirty="0">
                <a:solidFill>
                  <a:prstClr val="black"/>
                </a:solidFill>
                <a:latin typeface="Palatino Linotype"/>
                <a:cs typeface="Palatino Linotype"/>
              </a:rPr>
              <a:t> </a:t>
            </a:r>
            <a:r>
              <a:rPr sz="2000" kern="1200" spc="-10" dirty="0">
                <a:solidFill>
                  <a:prstClr val="black"/>
                </a:solidFill>
                <a:latin typeface="Palatino Linotype"/>
                <a:cs typeface="Palatino Linotype"/>
              </a:rPr>
              <a:t>several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transformations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to </a:t>
            </a:r>
            <a:r>
              <a:rPr sz="2000" kern="1200" dirty="0">
                <a:solidFill>
                  <a:prstClr val="black"/>
                </a:solidFill>
                <a:latin typeface="Palatino Linotype"/>
                <a:cs typeface="Palatino Linotype"/>
              </a:rPr>
              <a:t>a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grammar</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to make</a:t>
            </a:r>
            <a:r>
              <a:rPr sz="2000" kern="1200" dirty="0">
                <a:solidFill>
                  <a:prstClr val="black"/>
                </a:solidFill>
                <a:latin typeface="Palatino Linotype"/>
                <a:cs typeface="Palatino Linotype"/>
              </a:rPr>
              <a:t> it</a:t>
            </a:r>
            <a:r>
              <a:rPr sz="2000" kern="1200" spc="-5" dirty="0">
                <a:solidFill>
                  <a:prstClr val="black"/>
                </a:solidFill>
                <a:latin typeface="Palatino Linotype"/>
                <a:cs typeface="Palatino Linotype"/>
              </a:rPr>
              <a:t> more</a:t>
            </a:r>
            <a:r>
              <a:rPr sz="2000" kern="1200" dirty="0">
                <a:solidFill>
                  <a:prstClr val="black"/>
                </a:solidFill>
                <a:latin typeface="Palatino Linotype"/>
                <a:cs typeface="Palatino Linotype"/>
              </a:rPr>
              <a:t> suitable </a:t>
            </a:r>
            <a:r>
              <a:rPr sz="2000" kern="1200" spc="-5" dirty="0">
                <a:solidFill>
                  <a:prstClr val="black"/>
                </a:solidFill>
                <a:latin typeface="Palatino Linotype"/>
                <a:cs typeface="Palatino Linotype"/>
              </a:rPr>
              <a:t>for parsing</a:t>
            </a:r>
            <a:endParaRPr sz="2000" kern="1200" dirty="0">
              <a:solidFill>
                <a:prstClr val="black"/>
              </a:solidFill>
              <a:latin typeface="Palatino Linotype"/>
              <a:cs typeface="Palatino Linotype"/>
            </a:endParaRPr>
          </a:p>
          <a:p>
            <a:pPr marL="698500" lvl="1" indent="-228600" rtl="0">
              <a:spcBef>
                <a:spcPts val="1720"/>
              </a:spcBef>
              <a:buClr>
                <a:srgbClr val="000000"/>
              </a:buClr>
              <a:buFont typeface="Wingdings"/>
              <a:buChar char=""/>
              <a:tabLst>
                <a:tab pos="697865" algn="l"/>
                <a:tab pos="698500" algn="l"/>
              </a:tabLst>
            </a:pPr>
            <a:r>
              <a:rPr sz="1600" kern="1200" spc="-5" dirty="0">
                <a:solidFill>
                  <a:srgbClr val="0432FF"/>
                </a:solidFill>
                <a:latin typeface="Palatino Linotype"/>
                <a:cs typeface="Palatino Linotype"/>
              </a:rPr>
              <a:t>Eliminating</a:t>
            </a:r>
            <a:r>
              <a:rPr sz="1600" kern="1200" spc="-20" dirty="0">
                <a:solidFill>
                  <a:srgbClr val="0432FF"/>
                </a:solidFill>
                <a:latin typeface="Palatino Linotype"/>
                <a:cs typeface="Palatino Linotype"/>
              </a:rPr>
              <a:t> </a:t>
            </a:r>
            <a:r>
              <a:rPr sz="1600" kern="1200" spc="-5" dirty="0">
                <a:solidFill>
                  <a:srgbClr val="0432FF"/>
                </a:solidFill>
                <a:latin typeface="Palatino Linotype"/>
                <a:cs typeface="Palatino Linotype"/>
              </a:rPr>
              <a:t>ambiguity</a:t>
            </a:r>
            <a:r>
              <a:rPr sz="1600" kern="1200" spc="-15" dirty="0">
                <a:solidFill>
                  <a:srgbClr val="0432FF"/>
                </a:solidFill>
                <a:latin typeface="Palatino Linotype"/>
                <a:cs typeface="Palatino Linotype"/>
              </a:rPr>
              <a:t> </a:t>
            </a:r>
            <a:r>
              <a:rPr sz="1600" kern="1200" dirty="0">
                <a:solidFill>
                  <a:srgbClr val="0432FF"/>
                </a:solidFill>
                <a:latin typeface="Palatino Linotype"/>
                <a:cs typeface="Palatino Linotype"/>
              </a:rPr>
              <a:t>(</a:t>
            </a:r>
            <a:r>
              <a:rPr sz="1600" kern="1200" dirty="0">
                <a:solidFill>
                  <a:srgbClr val="0432FF"/>
                </a:solidFill>
                <a:latin typeface="SimSun"/>
                <a:cs typeface="SimSun"/>
              </a:rPr>
              <a:t>消除二义性</a:t>
            </a:r>
            <a:r>
              <a:rPr sz="1600" kern="1200" dirty="0">
                <a:solidFill>
                  <a:srgbClr val="0432FF"/>
                </a:solidFill>
                <a:latin typeface="Palatino Linotype"/>
                <a:cs typeface="Palatino Linotype"/>
              </a:rPr>
              <a:t>)</a:t>
            </a:r>
            <a:endParaRPr sz="1600" kern="1200" dirty="0">
              <a:solidFill>
                <a:prstClr val="black"/>
              </a:solidFill>
              <a:latin typeface="Palatino Linotype"/>
              <a:cs typeface="Palatino Linotype"/>
            </a:endParaRPr>
          </a:p>
          <a:p>
            <a:pPr marL="698500" lvl="1" indent="-228600" rtl="0">
              <a:spcBef>
                <a:spcPts val="1560"/>
              </a:spcBef>
              <a:buClr>
                <a:srgbClr val="000000"/>
              </a:buClr>
              <a:buFont typeface="Wingdings"/>
              <a:buChar char=""/>
              <a:tabLst>
                <a:tab pos="697865" algn="l"/>
                <a:tab pos="698500" algn="l"/>
              </a:tabLst>
            </a:pPr>
            <a:r>
              <a:rPr sz="1600" kern="1200" spc="-5" dirty="0">
                <a:solidFill>
                  <a:srgbClr val="0432FF"/>
                </a:solidFill>
                <a:latin typeface="Palatino Linotype"/>
                <a:cs typeface="Palatino Linotype"/>
              </a:rPr>
              <a:t>Eliminating</a:t>
            </a:r>
            <a:r>
              <a:rPr sz="1600" kern="1200" spc="-10" dirty="0">
                <a:solidFill>
                  <a:srgbClr val="0432FF"/>
                </a:solidFill>
                <a:latin typeface="Palatino Linotype"/>
                <a:cs typeface="Palatino Linotype"/>
              </a:rPr>
              <a:t> </a:t>
            </a:r>
            <a:r>
              <a:rPr sz="1600" kern="1200" spc="-5" dirty="0">
                <a:solidFill>
                  <a:srgbClr val="0432FF"/>
                </a:solidFill>
                <a:latin typeface="Palatino Linotype"/>
                <a:cs typeface="Palatino Linotype"/>
              </a:rPr>
              <a:t>left recursion</a:t>
            </a:r>
            <a:r>
              <a:rPr sz="1600" kern="1200" dirty="0">
                <a:solidFill>
                  <a:srgbClr val="0432FF"/>
                </a:solidFill>
                <a:latin typeface="Palatino Linotype"/>
                <a:cs typeface="Palatino Linotype"/>
              </a:rPr>
              <a:t> (</a:t>
            </a:r>
            <a:r>
              <a:rPr sz="1600" kern="1200" dirty="0">
                <a:solidFill>
                  <a:srgbClr val="0432FF"/>
                </a:solidFill>
                <a:latin typeface="SimSun"/>
                <a:cs typeface="SimSun"/>
              </a:rPr>
              <a:t>消除左递归</a:t>
            </a:r>
            <a:r>
              <a:rPr sz="1600" kern="1200" dirty="0">
                <a:solidFill>
                  <a:srgbClr val="0432FF"/>
                </a:solidFill>
                <a:latin typeface="Palatino Linotype"/>
                <a:cs typeface="Palatino Linotype"/>
              </a:rPr>
              <a:t>)</a:t>
            </a:r>
            <a:endParaRPr sz="1600" kern="1200" dirty="0">
              <a:solidFill>
                <a:prstClr val="black"/>
              </a:solidFill>
              <a:latin typeface="Palatino Linotype"/>
              <a:cs typeface="Palatino Linotype"/>
            </a:endParaRPr>
          </a:p>
          <a:p>
            <a:pPr marL="698500" lvl="1" indent="-228600" rtl="0">
              <a:spcBef>
                <a:spcPts val="1585"/>
              </a:spcBef>
              <a:buClr>
                <a:srgbClr val="000000"/>
              </a:buClr>
              <a:buFont typeface="Wingdings"/>
              <a:buChar char=""/>
              <a:tabLst>
                <a:tab pos="697865" algn="l"/>
                <a:tab pos="698500" algn="l"/>
              </a:tabLst>
            </a:pPr>
            <a:r>
              <a:rPr sz="1600" kern="1200" spc="-5" dirty="0">
                <a:solidFill>
                  <a:srgbClr val="0432FF"/>
                </a:solidFill>
                <a:latin typeface="Palatino Linotype"/>
                <a:cs typeface="Palatino Linotype"/>
              </a:rPr>
              <a:t>Left</a:t>
            </a:r>
            <a:r>
              <a:rPr sz="1600" kern="1200" spc="-30" dirty="0">
                <a:solidFill>
                  <a:srgbClr val="0432FF"/>
                </a:solidFill>
                <a:latin typeface="Palatino Linotype"/>
                <a:cs typeface="Palatino Linotype"/>
              </a:rPr>
              <a:t> </a:t>
            </a:r>
            <a:r>
              <a:rPr sz="1600" kern="1200" dirty="0">
                <a:solidFill>
                  <a:srgbClr val="0432FF"/>
                </a:solidFill>
                <a:latin typeface="Palatino Linotype"/>
                <a:cs typeface="Palatino Linotype"/>
              </a:rPr>
              <a:t>factoring</a:t>
            </a:r>
            <a:r>
              <a:rPr sz="1600" kern="1200" spc="-30" dirty="0">
                <a:solidFill>
                  <a:srgbClr val="0432FF"/>
                </a:solidFill>
                <a:latin typeface="Palatino Linotype"/>
                <a:cs typeface="Palatino Linotype"/>
              </a:rPr>
              <a:t> </a:t>
            </a:r>
            <a:r>
              <a:rPr sz="1600" kern="1200" spc="5" dirty="0">
                <a:solidFill>
                  <a:srgbClr val="0432FF"/>
                </a:solidFill>
                <a:latin typeface="Palatino Linotype"/>
                <a:cs typeface="Palatino Linotype"/>
              </a:rPr>
              <a:t>(</a:t>
            </a:r>
            <a:r>
              <a:rPr sz="1600" kern="1200" dirty="0">
                <a:solidFill>
                  <a:srgbClr val="0432FF"/>
                </a:solidFill>
                <a:latin typeface="SimSun"/>
                <a:cs typeface="SimSun"/>
              </a:rPr>
              <a:t>提取左公因子</a:t>
            </a:r>
            <a:r>
              <a:rPr sz="1600" kern="1200" dirty="0">
                <a:solidFill>
                  <a:srgbClr val="0432FF"/>
                </a:solidFill>
                <a:latin typeface="Palatino Linotype"/>
                <a:cs typeface="Palatino Linotype"/>
              </a:rPr>
              <a:t>)</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039309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28</a:t>
            </a:fld>
            <a:endParaRPr lang="en-US"/>
          </a:p>
        </p:txBody>
      </p:sp>
      <p:sp>
        <p:nvSpPr>
          <p:cNvPr id="12" name="object 2">
            <a:extLst>
              <a:ext uri="{FF2B5EF4-FFF2-40B4-BE49-F238E27FC236}">
                <a16:creationId xmlns:a16="http://schemas.microsoft.com/office/drawing/2014/main" id="{F5731AFF-AA48-F607-FFB8-9C1A08ABF569}"/>
              </a:ext>
            </a:extLst>
          </p:cNvPr>
          <p:cNvSpPr txBox="1">
            <a:spLocks/>
          </p:cNvSpPr>
          <p:nvPr/>
        </p:nvSpPr>
        <p:spPr>
          <a:xfrm>
            <a:off x="707390" y="524763"/>
            <a:ext cx="617982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Eliminating</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Ambiguity</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(1)</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pic>
        <p:nvPicPr>
          <p:cNvPr id="13" name="object 3">
            <a:extLst>
              <a:ext uri="{FF2B5EF4-FFF2-40B4-BE49-F238E27FC236}">
                <a16:creationId xmlns:a16="http://schemas.microsoft.com/office/drawing/2014/main" id="{9EA86F63-06B3-9D97-C690-2C27927E280B}"/>
              </a:ext>
            </a:extLst>
          </p:cNvPr>
          <p:cNvPicPr/>
          <p:nvPr/>
        </p:nvPicPr>
        <p:blipFill>
          <a:blip r:embed="rId3" cstate="print"/>
          <a:stretch>
            <a:fillRect/>
          </a:stretch>
        </p:blipFill>
        <p:spPr>
          <a:xfrm>
            <a:off x="798651" y="1891482"/>
            <a:ext cx="4319681" cy="861306"/>
          </a:xfrm>
          <a:prstGeom prst="rect">
            <a:avLst/>
          </a:prstGeom>
        </p:spPr>
      </p:pic>
      <p:sp>
        <p:nvSpPr>
          <p:cNvPr id="14" name="object 4">
            <a:extLst>
              <a:ext uri="{FF2B5EF4-FFF2-40B4-BE49-F238E27FC236}">
                <a16:creationId xmlns:a16="http://schemas.microsoft.com/office/drawing/2014/main" id="{B2E69561-A336-92D8-FCF5-151AB5914143}"/>
              </a:ext>
            </a:extLst>
          </p:cNvPr>
          <p:cNvSpPr txBox="1"/>
          <p:nvPr/>
        </p:nvSpPr>
        <p:spPr>
          <a:xfrm>
            <a:off x="706053" y="3123691"/>
            <a:ext cx="5912485" cy="299720"/>
          </a:xfrm>
          <a:prstGeom prst="rect">
            <a:avLst/>
          </a:prstGeom>
        </p:spPr>
        <p:txBody>
          <a:bodyPr vert="horz" wrap="square" lIns="0" tIns="12700" rIns="0" bIns="0" rtlCol="0">
            <a:spAutoFit/>
          </a:bodyPr>
          <a:lstStyle/>
          <a:p>
            <a:pPr marL="38100" rtl="0">
              <a:spcBef>
                <a:spcPts val="100"/>
              </a:spcBef>
            </a:pPr>
            <a:r>
              <a:rPr kern="1200" spc="-55" dirty="0">
                <a:solidFill>
                  <a:srgbClr val="FF0000"/>
                </a:solidFill>
                <a:latin typeface="Palatino Linotype"/>
                <a:cs typeface="Palatino Linotype"/>
              </a:rPr>
              <a:t>Two</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parse trees</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for </a:t>
            </a:r>
            <a:r>
              <a:rPr b="1" kern="1200" spc="-5" dirty="0">
                <a:solidFill>
                  <a:srgbClr val="0432FF"/>
                </a:solidFill>
                <a:latin typeface="Consolas"/>
                <a:cs typeface="Consolas"/>
              </a:rPr>
              <a:t>if</a:t>
            </a:r>
            <a:r>
              <a:rPr b="1" kern="1200" spc="-10" dirty="0">
                <a:solidFill>
                  <a:srgbClr val="0432FF"/>
                </a:solidFill>
                <a:latin typeface="Consolas"/>
                <a:cs typeface="Consolas"/>
              </a:rPr>
              <a:t> </a:t>
            </a:r>
            <a:r>
              <a:rPr i="1" kern="1200" spc="-5" dirty="0">
                <a:solidFill>
                  <a:srgbClr val="0432FF"/>
                </a:solidFill>
                <a:latin typeface="Consolas"/>
                <a:cs typeface="Consolas"/>
              </a:rPr>
              <a:t>E</a:t>
            </a:r>
            <a:r>
              <a:rPr kern="1200" spc="-7" baseline="-13888" dirty="0">
                <a:solidFill>
                  <a:srgbClr val="0432FF"/>
                </a:solidFill>
                <a:latin typeface="Consolas"/>
                <a:cs typeface="Consolas"/>
              </a:rPr>
              <a:t>1</a:t>
            </a:r>
            <a:r>
              <a:rPr kern="1200" spc="487" baseline="-13888" dirty="0">
                <a:solidFill>
                  <a:srgbClr val="0432FF"/>
                </a:solidFill>
                <a:latin typeface="Consolas"/>
                <a:cs typeface="Consolas"/>
              </a:rPr>
              <a:t> </a:t>
            </a:r>
            <a:r>
              <a:rPr b="1" kern="1200" spc="-5" dirty="0">
                <a:solidFill>
                  <a:srgbClr val="0432FF"/>
                </a:solidFill>
                <a:latin typeface="Consolas"/>
                <a:cs typeface="Consolas"/>
              </a:rPr>
              <a:t>then</a:t>
            </a:r>
            <a:r>
              <a:rPr b="1" kern="1200" spc="-10" dirty="0">
                <a:solidFill>
                  <a:srgbClr val="0432FF"/>
                </a:solidFill>
                <a:latin typeface="Consolas"/>
                <a:cs typeface="Consolas"/>
              </a:rPr>
              <a:t> </a:t>
            </a:r>
            <a:r>
              <a:rPr b="1" kern="1200" spc="-5" dirty="0">
                <a:solidFill>
                  <a:srgbClr val="0432FF"/>
                </a:solidFill>
                <a:latin typeface="Consolas"/>
                <a:cs typeface="Consolas"/>
              </a:rPr>
              <a:t>if</a:t>
            </a:r>
            <a:r>
              <a:rPr b="1" kern="1200" spc="-10" dirty="0">
                <a:solidFill>
                  <a:srgbClr val="0432FF"/>
                </a:solidFill>
                <a:latin typeface="Consolas"/>
                <a:cs typeface="Consolas"/>
              </a:rPr>
              <a:t> </a:t>
            </a:r>
            <a:r>
              <a:rPr i="1" kern="1200" spc="-5" dirty="0">
                <a:solidFill>
                  <a:srgbClr val="0432FF"/>
                </a:solidFill>
                <a:latin typeface="Consolas"/>
                <a:cs typeface="Consolas"/>
              </a:rPr>
              <a:t>E</a:t>
            </a:r>
            <a:r>
              <a:rPr kern="1200" spc="-7" baseline="-13888" dirty="0">
                <a:solidFill>
                  <a:srgbClr val="0432FF"/>
                </a:solidFill>
                <a:latin typeface="Consolas"/>
                <a:cs typeface="Consolas"/>
              </a:rPr>
              <a:t>2</a:t>
            </a:r>
            <a:r>
              <a:rPr kern="1200" spc="487" baseline="-13888" dirty="0">
                <a:solidFill>
                  <a:srgbClr val="0432FF"/>
                </a:solidFill>
                <a:latin typeface="Consolas"/>
                <a:cs typeface="Consolas"/>
              </a:rPr>
              <a:t> </a:t>
            </a:r>
            <a:r>
              <a:rPr b="1" kern="1200" spc="-5" dirty="0">
                <a:solidFill>
                  <a:srgbClr val="0432FF"/>
                </a:solidFill>
                <a:latin typeface="Consolas"/>
                <a:cs typeface="Consolas"/>
              </a:rPr>
              <a:t>then </a:t>
            </a:r>
            <a:r>
              <a:rPr i="1" kern="1200" spc="-5" dirty="0">
                <a:solidFill>
                  <a:srgbClr val="0432FF"/>
                </a:solidFill>
                <a:latin typeface="Consolas"/>
                <a:cs typeface="Consolas"/>
              </a:rPr>
              <a:t>S</a:t>
            </a:r>
            <a:r>
              <a:rPr kern="1200" spc="-7" baseline="-13888" dirty="0">
                <a:solidFill>
                  <a:srgbClr val="0432FF"/>
                </a:solidFill>
                <a:latin typeface="Consolas"/>
                <a:cs typeface="Consolas"/>
              </a:rPr>
              <a:t>1</a:t>
            </a:r>
            <a:r>
              <a:rPr kern="1200" spc="487" baseline="-13888" dirty="0">
                <a:solidFill>
                  <a:srgbClr val="0432FF"/>
                </a:solidFill>
                <a:latin typeface="Consolas"/>
                <a:cs typeface="Consolas"/>
              </a:rPr>
              <a:t> </a:t>
            </a:r>
            <a:r>
              <a:rPr b="1" kern="1200" spc="-5" dirty="0">
                <a:solidFill>
                  <a:srgbClr val="0432FF"/>
                </a:solidFill>
                <a:latin typeface="Consolas"/>
                <a:cs typeface="Consolas"/>
              </a:rPr>
              <a:t>else</a:t>
            </a:r>
            <a:r>
              <a:rPr b="1" kern="1200" spc="-10" dirty="0">
                <a:solidFill>
                  <a:srgbClr val="0432FF"/>
                </a:solidFill>
                <a:latin typeface="Consolas"/>
                <a:cs typeface="Consolas"/>
              </a:rPr>
              <a:t> </a:t>
            </a:r>
            <a:r>
              <a:rPr i="1" kern="1200" spc="-5" dirty="0">
                <a:solidFill>
                  <a:srgbClr val="0432FF"/>
                </a:solidFill>
                <a:latin typeface="Consolas"/>
                <a:cs typeface="Consolas"/>
              </a:rPr>
              <a:t>S</a:t>
            </a:r>
            <a:r>
              <a:rPr kern="1200" spc="-7" baseline="-13888" dirty="0">
                <a:solidFill>
                  <a:srgbClr val="0432FF"/>
                </a:solidFill>
                <a:latin typeface="Consolas"/>
                <a:cs typeface="Consolas"/>
              </a:rPr>
              <a:t>2</a:t>
            </a:r>
            <a:endParaRPr kern="1200" baseline="-13888">
              <a:solidFill>
                <a:prstClr val="black"/>
              </a:solidFill>
              <a:latin typeface="Consolas"/>
              <a:cs typeface="Consolas"/>
            </a:endParaRPr>
          </a:p>
        </p:txBody>
      </p:sp>
      <p:pic>
        <p:nvPicPr>
          <p:cNvPr id="15" name="object 5">
            <a:extLst>
              <a:ext uri="{FF2B5EF4-FFF2-40B4-BE49-F238E27FC236}">
                <a16:creationId xmlns:a16="http://schemas.microsoft.com/office/drawing/2014/main" id="{93CF8081-8AC5-8215-ED00-E96DD2A9400F}"/>
              </a:ext>
            </a:extLst>
          </p:cNvPr>
          <p:cNvPicPr/>
          <p:nvPr/>
        </p:nvPicPr>
        <p:blipFill>
          <a:blip r:embed="rId4" cstate="print"/>
          <a:stretch>
            <a:fillRect/>
          </a:stretch>
        </p:blipFill>
        <p:spPr>
          <a:xfrm>
            <a:off x="852177" y="3715852"/>
            <a:ext cx="3384211" cy="1096267"/>
          </a:xfrm>
          <a:prstGeom prst="rect">
            <a:avLst/>
          </a:prstGeom>
        </p:spPr>
      </p:pic>
      <p:pic>
        <p:nvPicPr>
          <p:cNvPr id="16" name="object 6">
            <a:extLst>
              <a:ext uri="{FF2B5EF4-FFF2-40B4-BE49-F238E27FC236}">
                <a16:creationId xmlns:a16="http://schemas.microsoft.com/office/drawing/2014/main" id="{CAE45CEE-DE5B-3E52-A825-56046699EB51}"/>
              </a:ext>
            </a:extLst>
          </p:cNvPr>
          <p:cNvPicPr/>
          <p:nvPr/>
        </p:nvPicPr>
        <p:blipFill>
          <a:blip r:embed="rId5" cstate="print"/>
          <a:stretch>
            <a:fillRect/>
          </a:stretch>
        </p:blipFill>
        <p:spPr>
          <a:xfrm>
            <a:off x="5044931" y="3775816"/>
            <a:ext cx="2664452" cy="1090123"/>
          </a:xfrm>
          <a:prstGeom prst="rect">
            <a:avLst/>
          </a:prstGeom>
        </p:spPr>
      </p:pic>
      <p:sp>
        <p:nvSpPr>
          <p:cNvPr id="17" name="object 7">
            <a:extLst>
              <a:ext uri="{FF2B5EF4-FFF2-40B4-BE49-F238E27FC236}">
                <a16:creationId xmlns:a16="http://schemas.microsoft.com/office/drawing/2014/main" id="{1730A2C1-A020-4DAE-6A26-1DE821556B86}"/>
              </a:ext>
            </a:extLst>
          </p:cNvPr>
          <p:cNvSpPr txBox="1"/>
          <p:nvPr/>
        </p:nvSpPr>
        <p:spPr>
          <a:xfrm>
            <a:off x="2316096" y="5336540"/>
            <a:ext cx="4914900" cy="565150"/>
          </a:xfrm>
          <a:prstGeom prst="rect">
            <a:avLst/>
          </a:prstGeom>
        </p:spPr>
        <p:txBody>
          <a:bodyPr vert="horz" wrap="square" lIns="0" tIns="28575" rIns="0" bIns="0" rtlCol="0">
            <a:spAutoFit/>
          </a:bodyPr>
          <a:lstStyle/>
          <a:p>
            <a:pPr marL="876300" marR="5080" indent="-863600" rtl="0">
              <a:lnSpc>
                <a:spcPts val="2090"/>
              </a:lnSpc>
              <a:spcBef>
                <a:spcPts val="225"/>
              </a:spcBef>
            </a:pPr>
            <a:r>
              <a:rPr b="1" kern="1200" dirty="0">
                <a:solidFill>
                  <a:srgbClr val="FF0000"/>
                </a:solidFill>
                <a:latin typeface="Palatino Linotype"/>
                <a:cs typeface="Palatino Linotype"/>
              </a:rPr>
              <a:t>Which</a:t>
            </a:r>
            <a:r>
              <a:rPr b="1" kern="1200" spc="-5" dirty="0">
                <a:solidFill>
                  <a:srgbClr val="FF0000"/>
                </a:solidFill>
                <a:latin typeface="Palatino Linotype"/>
                <a:cs typeface="Palatino Linotype"/>
              </a:rPr>
              <a:t> parse</a:t>
            </a:r>
            <a:r>
              <a:rPr b="1" kern="1200" dirty="0">
                <a:solidFill>
                  <a:srgbClr val="FF0000"/>
                </a:solidFill>
                <a:latin typeface="Palatino Linotype"/>
                <a:cs typeface="Palatino Linotype"/>
              </a:rPr>
              <a:t> </a:t>
            </a:r>
            <a:r>
              <a:rPr b="1" kern="1200" spc="-5" dirty="0">
                <a:solidFill>
                  <a:srgbClr val="FF0000"/>
                </a:solidFill>
                <a:latin typeface="Palatino Linotype"/>
                <a:cs typeface="Palatino Linotype"/>
              </a:rPr>
              <a:t>tree </a:t>
            </a:r>
            <a:r>
              <a:rPr b="1" kern="1200" dirty="0">
                <a:solidFill>
                  <a:srgbClr val="FF0000"/>
                </a:solidFill>
                <a:latin typeface="Palatino Linotype"/>
                <a:cs typeface="Palatino Linotype"/>
              </a:rPr>
              <a:t>is </a:t>
            </a:r>
            <a:r>
              <a:rPr b="1" kern="1200" spc="-5" dirty="0">
                <a:solidFill>
                  <a:srgbClr val="FF0000"/>
                </a:solidFill>
                <a:latin typeface="Palatino Linotype"/>
                <a:cs typeface="Palatino Linotype"/>
              </a:rPr>
              <a:t>preferred </a:t>
            </a:r>
            <a:r>
              <a:rPr b="1" kern="1200" dirty="0">
                <a:solidFill>
                  <a:srgbClr val="FF0000"/>
                </a:solidFill>
                <a:latin typeface="Palatino Linotype"/>
                <a:cs typeface="Palatino Linotype"/>
              </a:rPr>
              <a:t>in </a:t>
            </a:r>
            <a:r>
              <a:rPr b="1" kern="1200" spc="-5" dirty="0">
                <a:solidFill>
                  <a:srgbClr val="FF0000"/>
                </a:solidFill>
                <a:latin typeface="Palatino Linotype"/>
                <a:cs typeface="Palatino Linotype"/>
              </a:rPr>
              <a:t>programming? </a:t>
            </a:r>
            <a:r>
              <a:rPr b="1" kern="1200" spc="-434" dirty="0">
                <a:solidFill>
                  <a:srgbClr val="FF0000"/>
                </a:solidFill>
                <a:latin typeface="Palatino Linotype"/>
                <a:cs typeface="Palatino Linotype"/>
              </a:rPr>
              <a:t> </a:t>
            </a:r>
            <a:r>
              <a:rPr b="1" kern="1200" dirty="0">
                <a:solidFill>
                  <a:srgbClr val="0432FF"/>
                </a:solidFill>
                <a:latin typeface="Palatino Linotype"/>
                <a:cs typeface="Palatino Linotype"/>
              </a:rPr>
              <a:t>(i.e.,</a:t>
            </a:r>
            <a:r>
              <a:rPr b="1" kern="1200" spc="-5" dirty="0">
                <a:solidFill>
                  <a:srgbClr val="0432FF"/>
                </a:solidFill>
                <a:latin typeface="Palatino Linotype"/>
                <a:cs typeface="Palatino Linotype"/>
              </a:rPr>
              <a:t> </a:t>
            </a:r>
            <a:r>
              <a:rPr b="1" kern="1200" dirty="0">
                <a:solidFill>
                  <a:srgbClr val="0432FF"/>
                </a:solidFill>
                <a:latin typeface="Palatino Linotype"/>
                <a:cs typeface="Palatino Linotype"/>
              </a:rPr>
              <a:t>else</a:t>
            </a:r>
            <a:r>
              <a:rPr b="1" kern="1200" spc="-5" dirty="0">
                <a:solidFill>
                  <a:srgbClr val="0432FF"/>
                </a:solidFill>
                <a:latin typeface="Palatino Linotype"/>
                <a:cs typeface="Palatino Linotype"/>
              </a:rPr>
              <a:t> matches </a:t>
            </a:r>
            <a:r>
              <a:rPr b="1" kern="1200" dirty="0">
                <a:solidFill>
                  <a:srgbClr val="0432FF"/>
                </a:solidFill>
                <a:latin typeface="Palatino Linotype"/>
                <a:cs typeface="Palatino Linotype"/>
              </a:rPr>
              <a:t>which</a:t>
            </a:r>
            <a:r>
              <a:rPr b="1" kern="1200" spc="-5" dirty="0">
                <a:solidFill>
                  <a:srgbClr val="0432FF"/>
                </a:solidFill>
                <a:latin typeface="Palatino Linotype"/>
                <a:cs typeface="Palatino Linotype"/>
              </a:rPr>
              <a:t> </a:t>
            </a:r>
            <a:r>
              <a:rPr b="1" kern="1200" dirty="0">
                <a:solidFill>
                  <a:srgbClr val="0432FF"/>
                </a:solidFill>
                <a:latin typeface="Palatino Linotype"/>
                <a:cs typeface="Palatino Linotype"/>
              </a:rPr>
              <a:t>then?)</a:t>
            </a:r>
            <a:endParaRPr kern="1200" dirty="0">
              <a:solidFill>
                <a:prstClr val="black"/>
              </a:solidFill>
              <a:latin typeface="Palatino Linotype"/>
              <a:cs typeface="Palatino Linotype"/>
            </a:endParaRPr>
          </a:p>
        </p:txBody>
      </p:sp>
      <p:pic>
        <p:nvPicPr>
          <p:cNvPr id="18" name="object 8">
            <a:extLst>
              <a:ext uri="{FF2B5EF4-FFF2-40B4-BE49-F238E27FC236}">
                <a16:creationId xmlns:a16="http://schemas.microsoft.com/office/drawing/2014/main" id="{8209FBB0-60B9-C094-E037-036943A621F1}"/>
              </a:ext>
            </a:extLst>
          </p:cNvPr>
          <p:cNvPicPr/>
          <p:nvPr/>
        </p:nvPicPr>
        <p:blipFill>
          <a:blip r:embed="rId6" cstate="print"/>
          <a:stretch>
            <a:fillRect/>
          </a:stretch>
        </p:blipFill>
        <p:spPr>
          <a:xfrm>
            <a:off x="1219022" y="5090331"/>
            <a:ext cx="1060264" cy="1060265"/>
          </a:xfrm>
          <a:prstGeom prst="rect">
            <a:avLst/>
          </a:prstGeom>
        </p:spPr>
      </p:pic>
    </p:spTree>
    <p:extLst>
      <p:ext uri="{BB962C8B-B14F-4D97-AF65-F5344CB8AC3E}">
        <p14:creationId xmlns:p14="http://schemas.microsoft.com/office/powerpoint/2010/main" val="4102918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29</a:t>
            </a:fld>
            <a:endParaRPr lang="en-US"/>
          </a:p>
        </p:txBody>
      </p:sp>
      <p:sp>
        <p:nvSpPr>
          <p:cNvPr id="10" name="object 2">
            <a:extLst>
              <a:ext uri="{FF2B5EF4-FFF2-40B4-BE49-F238E27FC236}">
                <a16:creationId xmlns:a16="http://schemas.microsoft.com/office/drawing/2014/main" id="{C9025720-EABA-2730-C621-B75CDAF5A650}"/>
              </a:ext>
            </a:extLst>
          </p:cNvPr>
          <p:cNvSpPr txBox="1">
            <a:spLocks/>
          </p:cNvSpPr>
          <p:nvPr/>
        </p:nvSpPr>
        <p:spPr>
          <a:xfrm>
            <a:off x="707390" y="524763"/>
            <a:ext cx="617982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Eliminating</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Ambiguity</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(2)</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ABAF210C-45E4-D9EA-11E4-3DE804D3C92F}"/>
              </a:ext>
            </a:extLst>
          </p:cNvPr>
          <p:cNvSpPr txBox="1"/>
          <p:nvPr/>
        </p:nvSpPr>
        <p:spPr>
          <a:xfrm>
            <a:off x="707390" y="1600708"/>
            <a:ext cx="7281545" cy="1564005"/>
          </a:xfrm>
          <a:prstGeom prst="rect">
            <a:avLst/>
          </a:prstGeom>
        </p:spPr>
        <p:txBody>
          <a:bodyPr vert="horz" wrap="square" lIns="0" tIns="12700" rIns="0" bIns="0" rtlCol="0">
            <a:spAutoFit/>
          </a:bodyPr>
          <a:lstStyle/>
          <a:p>
            <a:pPr marL="242570" marR="5080" indent="-230504" rtl="0">
              <a:lnSpc>
                <a:spcPct val="117300"/>
              </a:lnSpc>
              <a:spcBef>
                <a:spcPts val="100"/>
              </a:spcBef>
              <a:buClr>
                <a:srgbClr val="000000"/>
              </a:buClr>
              <a:buFont typeface="Arial MT"/>
              <a:buChar char="•"/>
              <a:tabLst>
                <a:tab pos="242570" algn="l"/>
                <a:tab pos="243204" algn="l"/>
              </a:tabLst>
            </a:pPr>
            <a:r>
              <a:rPr sz="2200" b="1" kern="1200" spc="-5" dirty="0">
                <a:solidFill>
                  <a:srgbClr val="FF0000"/>
                </a:solidFill>
                <a:latin typeface="Palatino Linotype"/>
                <a:cs typeface="Palatino Linotype"/>
              </a:rPr>
              <a:t>Principle</a:t>
            </a:r>
            <a:r>
              <a:rPr sz="2200" b="1" kern="1200" dirty="0">
                <a:solidFill>
                  <a:srgbClr val="FF0000"/>
                </a:solidFill>
                <a:latin typeface="Palatino Linotype"/>
                <a:cs typeface="Palatino Linotype"/>
              </a:rPr>
              <a:t> of</a:t>
            </a:r>
            <a:r>
              <a:rPr sz="2200" b="1" kern="1200" spc="-10" dirty="0">
                <a:solidFill>
                  <a:srgbClr val="FF0000"/>
                </a:solidFill>
                <a:latin typeface="Palatino Linotype"/>
                <a:cs typeface="Palatino Linotype"/>
              </a:rPr>
              <a:t> </a:t>
            </a:r>
            <a:r>
              <a:rPr sz="2200" b="1" kern="1200" spc="-5" dirty="0">
                <a:solidFill>
                  <a:srgbClr val="FF0000"/>
                </a:solidFill>
                <a:latin typeface="Palatino Linotype"/>
                <a:cs typeface="Palatino Linotype"/>
              </a:rPr>
              <a:t>proximity:</a:t>
            </a:r>
            <a:r>
              <a:rPr sz="2200" b="1" kern="1200" spc="5" dirty="0">
                <a:solidFill>
                  <a:srgbClr val="FF0000"/>
                </a:solidFill>
                <a:latin typeface="Palatino Linotype"/>
                <a:cs typeface="Palatino Linotype"/>
              </a:rPr>
              <a:t> </a:t>
            </a:r>
            <a:r>
              <a:rPr sz="2200" kern="1200" spc="-5" dirty="0">
                <a:solidFill>
                  <a:prstClr val="black"/>
                </a:solidFill>
                <a:latin typeface="Palatino Linotype"/>
                <a:cs typeface="Palatino Linotype"/>
              </a:rPr>
              <a:t>match</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each </a:t>
            </a:r>
            <a:r>
              <a:rPr sz="2200" b="1" kern="1200" dirty="0">
                <a:solidFill>
                  <a:srgbClr val="0432FF"/>
                </a:solidFill>
                <a:latin typeface="Consolas"/>
                <a:cs typeface="Consolas"/>
              </a:rPr>
              <a:t>else</a:t>
            </a:r>
            <a:r>
              <a:rPr sz="2200" b="1" kern="1200" spc="-660" dirty="0">
                <a:solidFill>
                  <a:srgbClr val="0432FF"/>
                </a:solidFill>
                <a:latin typeface="Consolas"/>
                <a:cs typeface="Consolas"/>
              </a:rPr>
              <a:t> </a:t>
            </a:r>
            <a:r>
              <a:rPr sz="2200" kern="1200" spc="-5" dirty="0">
                <a:solidFill>
                  <a:prstClr val="black"/>
                </a:solidFill>
                <a:latin typeface="Palatino Linotype"/>
                <a:cs typeface="Palatino Linotype"/>
              </a:rPr>
              <a:t>with the closest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unmatched</a:t>
            </a:r>
            <a:r>
              <a:rPr sz="2200" kern="1200" dirty="0">
                <a:solidFill>
                  <a:prstClr val="black"/>
                </a:solidFill>
                <a:latin typeface="Palatino Linotype"/>
                <a:cs typeface="Palatino Linotype"/>
              </a:rPr>
              <a:t> </a:t>
            </a:r>
            <a:r>
              <a:rPr sz="2200" b="1" kern="1200" dirty="0">
                <a:solidFill>
                  <a:srgbClr val="0432FF"/>
                </a:solidFill>
                <a:latin typeface="Consolas"/>
                <a:cs typeface="Consolas"/>
              </a:rPr>
              <a:t>then</a:t>
            </a:r>
            <a:endParaRPr sz="2200" kern="1200" dirty="0">
              <a:solidFill>
                <a:prstClr val="black"/>
              </a:solidFill>
              <a:latin typeface="Consolas"/>
              <a:cs typeface="Consolas"/>
            </a:endParaRPr>
          </a:p>
          <a:p>
            <a:pPr marL="698500" lvl="1" indent="-228600" rtl="0">
              <a:spcBef>
                <a:spcPts val="1165"/>
              </a:spcBef>
              <a:buClr>
                <a:srgbClr val="000000"/>
              </a:buClr>
              <a:buFont typeface="Wingdings"/>
              <a:buChar char=""/>
              <a:tabLst>
                <a:tab pos="698500" algn="l"/>
              </a:tabLst>
            </a:pPr>
            <a:r>
              <a:rPr b="1" kern="1200" spc="-5" dirty="0">
                <a:solidFill>
                  <a:srgbClr val="FF0000"/>
                </a:solidFill>
                <a:latin typeface="Palatino Linotype"/>
                <a:cs typeface="Palatino Linotype"/>
              </a:rPr>
              <a:t>Idea</a:t>
            </a:r>
            <a:r>
              <a:rPr b="1" kern="1200" dirty="0">
                <a:solidFill>
                  <a:srgbClr val="FF0000"/>
                </a:solidFill>
                <a:latin typeface="Palatino Linotype"/>
                <a:cs typeface="Palatino Linotype"/>
              </a:rPr>
              <a:t> </a:t>
            </a:r>
            <a:r>
              <a:rPr b="1" kern="1200" spc="-5" dirty="0">
                <a:solidFill>
                  <a:srgbClr val="FF0000"/>
                </a:solidFill>
                <a:latin typeface="Palatino Linotype"/>
                <a:cs typeface="Palatino Linotype"/>
              </a:rPr>
              <a:t>of rewriting:</a:t>
            </a:r>
            <a:r>
              <a:rPr b="1" kern="1200" dirty="0">
                <a:solidFill>
                  <a:srgbClr val="FF0000"/>
                </a:solidFill>
                <a:latin typeface="Palatino Linotype"/>
                <a:cs typeface="Palatino Linotype"/>
              </a:rPr>
              <a:t> </a:t>
            </a:r>
            <a:r>
              <a:rPr kern="1200" dirty="0">
                <a:solidFill>
                  <a:prstClr val="black"/>
                </a:solidFill>
                <a:latin typeface="Palatino Linotype"/>
                <a:cs typeface="Palatino Linotype"/>
              </a:rPr>
              <a:t>A</a:t>
            </a:r>
            <a:r>
              <a:rPr kern="1200" spc="-105" dirty="0">
                <a:solidFill>
                  <a:prstClr val="black"/>
                </a:solidFill>
                <a:latin typeface="Palatino Linotype"/>
                <a:cs typeface="Palatino Linotype"/>
              </a:rPr>
              <a:t> </a:t>
            </a:r>
            <a:r>
              <a:rPr kern="1200" spc="-5" dirty="0">
                <a:solidFill>
                  <a:prstClr val="black"/>
                </a:solidFill>
                <a:latin typeface="Palatino Linotype"/>
                <a:cs typeface="Palatino Linotype"/>
              </a:rPr>
              <a:t>statement</a:t>
            </a:r>
            <a:r>
              <a:rPr kern="1200" dirty="0">
                <a:solidFill>
                  <a:prstClr val="black"/>
                </a:solidFill>
                <a:latin typeface="Palatino Linotype"/>
                <a:cs typeface="Palatino Linotype"/>
              </a:rPr>
              <a:t> appearing</a:t>
            </a:r>
            <a:r>
              <a:rPr kern="1200" spc="-5" dirty="0">
                <a:solidFill>
                  <a:prstClr val="black"/>
                </a:solidFill>
                <a:latin typeface="Palatino Linotype"/>
                <a:cs typeface="Palatino Linotype"/>
              </a:rPr>
              <a:t> between</a:t>
            </a:r>
            <a:r>
              <a:rPr kern="1200" dirty="0">
                <a:solidFill>
                  <a:prstClr val="black"/>
                </a:solidFill>
                <a:latin typeface="Palatino Linotype"/>
                <a:cs typeface="Palatino Linotype"/>
              </a:rPr>
              <a:t> a</a:t>
            </a:r>
            <a:r>
              <a:rPr kern="1200" spc="-5" dirty="0">
                <a:solidFill>
                  <a:prstClr val="black"/>
                </a:solidFill>
                <a:latin typeface="Palatino Linotype"/>
                <a:cs typeface="Palatino Linotype"/>
              </a:rPr>
              <a:t> </a:t>
            </a:r>
            <a:r>
              <a:rPr b="1" kern="1200" spc="-5" dirty="0">
                <a:solidFill>
                  <a:srgbClr val="0432FF"/>
                </a:solidFill>
                <a:latin typeface="Consolas"/>
                <a:cs typeface="Consolas"/>
              </a:rPr>
              <a:t>then</a:t>
            </a:r>
            <a:r>
              <a:rPr b="1" kern="1200" spc="-545" dirty="0">
                <a:solidFill>
                  <a:srgbClr val="0432FF"/>
                </a:solidFill>
                <a:latin typeface="Consolas"/>
                <a:cs typeface="Consolas"/>
              </a:rPr>
              <a:t> </a:t>
            </a:r>
            <a:r>
              <a:rPr kern="1200" dirty="0">
                <a:solidFill>
                  <a:prstClr val="black"/>
                </a:solidFill>
                <a:latin typeface="Palatino Linotype"/>
                <a:cs typeface="Palatino Linotype"/>
              </a:rPr>
              <a:t>and an</a:t>
            </a:r>
          </a:p>
          <a:p>
            <a:pPr marL="698500" rtl="0">
              <a:spcBef>
                <a:spcPts val="434"/>
              </a:spcBef>
            </a:pPr>
            <a:r>
              <a:rPr b="1" kern="1200" spc="-5" dirty="0">
                <a:solidFill>
                  <a:srgbClr val="0432FF"/>
                </a:solidFill>
                <a:latin typeface="Consolas"/>
                <a:cs typeface="Consolas"/>
              </a:rPr>
              <a:t>else</a:t>
            </a:r>
            <a:r>
              <a:rPr b="1" kern="1200" spc="-545" dirty="0">
                <a:solidFill>
                  <a:srgbClr val="0432FF"/>
                </a:solidFill>
                <a:latin typeface="Consolas"/>
                <a:cs typeface="Consolas"/>
              </a:rPr>
              <a:t> </a:t>
            </a:r>
            <a:r>
              <a:rPr kern="1200" spc="-5" dirty="0">
                <a:solidFill>
                  <a:prstClr val="black"/>
                </a:solidFill>
                <a:latin typeface="Palatino Linotype"/>
                <a:cs typeface="Palatino Linotype"/>
              </a:rPr>
              <a:t>must</a:t>
            </a:r>
            <a:r>
              <a:rPr kern="1200" dirty="0">
                <a:solidFill>
                  <a:prstClr val="black"/>
                </a:solidFill>
                <a:latin typeface="Palatino Linotype"/>
                <a:cs typeface="Palatino Linotype"/>
              </a:rPr>
              <a:t> be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matched</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(must</a:t>
            </a:r>
            <a:r>
              <a:rPr kern="1200" dirty="0">
                <a:solidFill>
                  <a:prstClr val="black"/>
                </a:solidFill>
                <a:latin typeface="Palatino Linotype"/>
                <a:cs typeface="Palatino Linotype"/>
              </a:rPr>
              <a:t> not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end </a:t>
            </a:r>
            <a:r>
              <a:rPr kern="1200" spc="-5" dirty="0">
                <a:solidFill>
                  <a:prstClr val="black"/>
                </a:solidFill>
                <a:latin typeface="Palatino Linotype"/>
                <a:cs typeface="Palatino Linotype"/>
              </a:rPr>
              <a:t>with</a:t>
            </a:r>
            <a:r>
              <a:rPr kern="1200" dirty="0">
                <a:solidFill>
                  <a:prstClr val="black"/>
                </a:solidFill>
                <a:latin typeface="Palatino Linotype"/>
                <a:cs typeface="Palatino Linotype"/>
              </a:rPr>
              <a:t> an</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unmatched</a:t>
            </a:r>
            <a:r>
              <a:rPr kern="1200" dirty="0">
                <a:solidFill>
                  <a:prstClr val="black"/>
                </a:solidFill>
                <a:latin typeface="Palatino Linotype"/>
                <a:cs typeface="Palatino Linotype"/>
              </a:rPr>
              <a:t> </a:t>
            </a:r>
            <a:r>
              <a:rPr b="1" kern="1200" spc="-5" dirty="0">
                <a:solidFill>
                  <a:srgbClr val="0432FF"/>
                </a:solidFill>
                <a:latin typeface="Consolas"/>
                <a:cs typeface="Consolas"/>
              </a:rPr>
              <a:t>then</a:t>
            </a:r>
            <a:r>
              <a:rPr kern="1200" spc="-5" dirty="0">
                <a:solidFill>
                  <a:prstClr val="black"/>
                </a:solidFill>
                <a:latin typeface="Palatino Linotype"/>
                <a:cs typeface="Palatino Linotype"/>
              </a:rPr>
              <a:t>)</a:t>
            </a:r>
            <a:endParaRPr kern="1200" dirty="0">
              <a:solidFill>
                <a:prstClr val="black"/>
              </a:solidFill>
              <a:latin typeface="Palatino Linotype"/>
              <a:cs typeface="Palatino Linotype"/>
            </a:endParaRPr>
          </a:p>
        </p:txBody>
      </p:sp>
      <p:pic>
        <p:nvPicPr>
          <p:cNvPr id="12" name="object 4">
            <a:extLst>
              <a:ext uri="{FF2B5EF4-FFF2-40B4-BE49-F238E27FC236}">
                <a16:creationId xmlns:a16="http://schemas.microsoft.com/office/drawing/2014/main" id="{A8874E55-CF18-7A25-5DDC-4EEB4867B2C4}"/>
              </a:ext>
            </a:extLst>
          </p:cNvPr>
          <p:cNvPicPr/>
          <p:nvPr/>
        </p:nvPicPr>
        <p:blipFill>
          <a:blip r:embed="rId3" cstate="print"/>
          <a:stretch>
            <a:fillRect/>
          </a:stretch>
        </p:blipFill>
        <p:spPr>
          <a:xfrm>
            <a:off x="1201421" y="3481220"/>
            <a:ext cx="5843483" cy="1430705"/>
          </a:xfrm>
          <a:prstGeom prst="rect">
            <a:avLst/>
          </a:prstGeom>
        </p:spPr>
      </p:pic>
      <p:sp>
        <p:nvSpPr>
          <p:cNvPr id="13" name="object 5">
            <a:extLst>
              <a:ext uri="{FF2B5EF4-FFF2-40B4-BE49-F238E27FC236}">
                <a16:creationId xmlns:a16="http://schemas.microsoft.com/office/drawing/2014/main" id="{79757388-67C4-60A5-0936-2F6F525A2DD4}"/>
              </a:ext>
            </a:extLst>
          </p:cNvPr>
          <p:cNvSpPr txBox="1"/>
          <p:nvPr/>
        </p:nvSpPr>
        <p:spPr>
          <a:xfrm>
            <a:off x="1185644" y="5318252"/>
            <a:ext cx="5629910" cy="565150"/>
          </a:xfrm>
          <a:prstGeom prst="rect">
            <a:avLst/>
          </a:prstGeom>
        </p:spPr>
        <p:txBody>
          <a:bodyPr vert="horz" wrap="square" lIns="0" tIns="28575" rIns="0" bIns="0" rtlCol="0">
            <a:spAutoFit/>
          </a:bodyPr>
          <a:lstStyle/>
          <a:p>
            <a:pPr marL="12700" marR="5080" rtl="0">
              <a:lnSpc>
                <a:spcPts val="2090"/>
              </a:lnSpc>
              <a:spcBef>
                <a:spcPts val="225"/>
              </a:spcBef>
            </a:pPr>
            <a:r>
              <a:rPr kern="1200" spc="-5" dirty="0">
                <a:solidFill>
                  <a:srgbClr val="FF0000"/>
                </a:solidFill>
                <a:latin typeface="Palatino Linotype"/>
                <a:cs typeface="Palatino Linotype"/>
              </a:rPr>
              <a:t>Rewriting</a:t>
            </a:r>
            <a:r>
              <a:rPr kern="1200" dirty="0">
                <a:solidFill>
                  <a:srgbClr val="FF0000"/>
                </a:solidFill>
                <a:latin typeface="Palatino Linotype"/>
                <a:cs typeface="Palatino Linotype"/>
              </a:rPr>
              <a:t> </a:t>
            </a:r>
            <a:r>
              <a:rPr kern="1200" spc="-5" dirty="0">
                <a:solidFill>
                  <a:srgbClr val="FF0000"/>
                </a:solidFill>
                <a:latin typeface="Palatino Linotype"/>
                <a:cs typeface="Palatino Linotype"/>
              </a:rPr>
              <a:t>grammars</a:t>
            </a:r>
            <a:r>
              <a:rPr kern="1200" dirty="0">
                <a:solidFill>
                  <a:srgbClr val="FF0000"/>
                </a:solidFill>
                <a:latin typeface="Palatino Linotype"/>
                <a:cs typeface="Palatino Linotype"/>
              </a:rPr>
              <a:t> to</a:t>
            </a:r>
            <a:r>
              <a:rPr kern="1200" spc="5" dirty="0">
                <a:solidFill>
                  <a:srgbClr val="FF0000"/>
                </a:solidFill>
                <a:latin typeface="Palatino Linotype"/>
                <a:cs typeface="Palatino Linotype"/>
              </a:rPr>
              <a:t> </a:t>
            </a:r>
            <a:r>
              <a:rPr kern="1200" spc="-5" dirty="0">
                <a:solidFill>
                  <a:srgbClr val="FF0000"/>
                </a:solidFill>
                <a:latin typeface="Palatino Linotype"/>
                <a:cs typeface="Palatino Linotype"/>
              </a:rPr>
              <a:t>eliminate</a:t>
            </a:r>
            <a:r>
              <a:rPr kern="1200" spc="5" dirty="0">
                <a:solidFill>
                  <a:srgbClr val="FF0000"/>
                </a:solidFill>
                <a:latin typeface="Palatino Linotype"/>
                <a:cs typeface="Palatino Linotype"/>
              </a:rPr>
              <a:t> </a:t>
            </a:r>
            <a:r>
              <a:rPr kern="1200" spc="-5" dirty="0">
                <a:solidFill>
                  <a:srgbClr val="FF0000"/>
                </a:solidFill>
                <a:latin typeface="Palatino Linotype"/>
                <a:cs typeface="Palatino Linotype"/>
              </a:rPr>
              <a:t>ambiguity</a:t>
            </a:r>
            <a:r>
              <a:rPr kern="1200" dirty="0">
                <a:solidFill>
                  <a:srgbClr val="FF0000"/>
                </a:solidFill>
                <a:latin typeface="Palatino Linotype"/>
                <a:cs typeface="Palatino Linotype"/>
              </a:rPr>
              <a:t> is difficult. </a:t>
            </a:r>
            <a:r>
              <a:rPr kern="1200" spc="-434" dirty="0">
                <a:solidFill>
                  <a:srgbClr val="FF0000"/>
                </a:solidFill>
                <a:latin typeface="Palatino Linotype"/>
                <a:cs typeface="Palatino Linotype"/>
              </a:rPr>
              <a:t> </a:t>
            </a:r>
            <a:r>
              <a:rPr kern="1200" spc="-5" dirty="0">
                <a:solidFill>
                  <a:srgbClr val="FF0000"/>
                </a:solidFill>
                <a:latin typeface="Palatino Linotype"/>
                <a:cs typeface="Palatino Linotype"/>
              </a:rPr>
              <a:t>There</a:t>
            </a:r>
            <a:r>
              <a:rPr kern="1200" dirty="0">
                <a:solidFill>
                  <a:srgbClr val="FF0000"/>
                </a:solidFill>
                <a:latin typeface="Palatino Linotype"/>
                <a:cs typeface="Palatino Linotype"/>
              </a:rPr>
              <a:t> are no </a:t>
            </a:r>
            <a:r>
              <a:rPr kern="1200" spc="-5" dirty="0">
                <a:solidFill>
                  <a:srgbClr val="FF0000"/>
                </a:solidFill>
                <a:latin typeface="Palatino Linotype"/>
                <a:cs typeface="Palatino Linotype"/>
              </a:rPr>
              <a:t>general</a:t>
            </a:r>
            <a:r>
              <a:rPr kern="1200" dirty="0">
                <a:solidFill>
                  <a:srgbClr val="FF0000"/>
                </a:solidFill>
                <a:latin typeface="Palatino Linotype"/>
                <a:cs typeface="Palatino Linotype"/>
              </a:rPr>
              <a:t> rules</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to </a:t>
            </a:r>
            <a:r>
              <a:rPr kern="1200" spc="-5" dirty="0">
                <a:solidFill>
                  <a:srgbClr val="FF0000"/>
                </a:solidFill>
                <a:latin typeface="Palatino Linotype"/>
                <a:cs typeface="Palatino Linotype"/>
              </a:rPr>
              <a:t>guide</a:t>
            </a:r>
            <a:r>
              <a:rPr kern="1200" dirty="0">
                <a:solidFill>
                  <a:srgbClr val="FF0000"/>
                </a:solidFill>
                <a:latin typeface="Palatino Linotype"/>
                <a:cs typeface="Palatino Linotype"/>
              </a:rPr>
              <a:t> the </a:t>
            </a:r>
            <a:r>
              <a:rPr kern="1200" spc="-5" dirty="0">
                <a:solidFill>
                  <a:srgbClr val="FF0000"/>
                </a:solidFill>
                <a:latin typeface="Palatino Linotype"/>
                <a:cs typeface="Palatino Linotype"/>
              </a:rPr>
              <a:t>process.</a:t>
            </a:r>
            <a:endParaRPr kern="1200">
              <a:solidFill>
                <a:prstClr val="black"/>
              </a:solidFill>
              <a:latin typeface="Palatino Linotype"/>
              <a:cs typeface="Palatino Linotype"/>
            </a:endParaRPr>
          </a:p>
        </p:txBody>
      </p:sp>
      <p:pic>
        <p:nvPicPr>
          <p:cNvPr id="14" name="object 6">
            <a:extLst>
              <a:ext uri="{FF2B5EF4-FFF2-40B4-BE49-F238E27FC236}">
                <a16:creationId xmlns:a16="http://schemas.microsoft.com/office/drawing/2014/main" id="{B75C2B5A-6C10-0434-7D55-7784FC83B242}"/>
              </a:ext>
            </a:extLst>
          </p:cNvPr>
          <p:cNvPicPr/>
          <p:nvPr/>
        </p:nvPicPr>
        <p:blipFill>
          <a:blip r:embed="rId4" cstate="print"/>
          <a:stretch>
            <a:fillRect/>
          </a:stretch>
        </p:blipFill>
        <p:spPr>
          <a:xfrm>
            <a:off x="7061792" y="5039660"/>
            <a:ext cx="725947" cy="1028700"/>
          </a:xfrm>
          <a:prstGeom prst="rect">
            <a:avLst/>
          </a:prstGeom>
        </p:spPr>
      </p:pic>
    </p:spTree>
    <p:extLst>
      <p:ext uri="{BB962C8B-B14F-4D97-AF65-F5344CB8AC3E}">
        <p14:creationId xmlns:p14="http://schemas.microsoft.com/office/powerpoint/2010/main" val="1873423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 name="object 4">
            <a:extLst>
              <a:ext uri="{FF2B5EF4-FFF2-40B4-BE49-F238E27FC236}">
                <a16:creationId xmlns:a16="http://schemas.microsoft.com/office/drawing/2014/main" id="{EDFAE38E-5337-C067-11F1-4DE841EE7C09}"/>
              </a:ext>
            </a:extLst>
          </p:cNvPr>
          <p:cNvSpPr txBox="1"/>
          <p:nvPr/>
        </p:nvSpPr>
        <p:spPr>
          <a:xfrm>
            <a:off x="707390" y="1500124"/>
            <a:ext cx="7354570" cy="1460500"/>
          </a:xfrm>
          <a:prstGeom prst="rect">
            <a:avLst/>
          </a:prstGeom>
        </p:spPr>
        <p:txBody>
          <a:bodyPr vert="horz" wrap="square" lIns="0" tIns="12700" rIns="0" bIns="0" rtlCol="0">
            <a:spAutoFit/>
          </a:bodyPr>
          <a:lstStyle/>
          <a:p>
            <a:pPr marL="242570" marR="5080" indent="-230504" rtl="0">
              <a:lnSpc>
                <a:spcPct val="147300"/>
              </a:lnSpc>
              <a:spcBef>
                <a:spcPts val="100"/>
              </a:spcBef>
              <a:buFont typeface="Arial MT"/>
              <a:buChar char="•"/>
              <a:tabLst>
                <a:tab pos="242570" algn="l"/>
                <a:tab pos="243204" algn="l"/>
              </a:tabLst>
            </a:pPr>
            <a:r>
              <a:rPr sz="2200" kern="1200" dirty="0">
                <a:solidFill>
                  <a:prstClr val="black"/>
                </a:solidFill>
                <a:latin typeface="Palatino Linotype"/>
                <a:cs typeface="Palatino Linotype"/>
              </a:rPr>
              <a:t>A </a:t>
            </a:r>
            <a:r>
              <a:rPr sz="2200" kern="1200" spc="-5" dirty="0">
                <a:solidFill>
                  <a:prstClr val="black"/>
                </a:solidFill>
                <a:latin typeface="Palatino Linotype"/>
                <a:cs typeface="Palatino Linotype"/>
              </a:rPr>
              <a:t>grammar is </a:t>
            </a:r>
            <a:r>
              <a:rPr sz="2200" b="1" kern="1200" spc="-5" dirty="0">
                <a:solidFill>
                  <a:srgbClr val="FF0000"/>
                </a:solidFill>
                <a:latin typeface="Palatino Linotype"/>
                <a:cs typeface="Palatino Linotype"/>
              </a:rPr>
              <a:t>left recursive </a:t>
            </a:r>
            <a:r>
              <a:rPr sz="2200" kern="1200" spc="-5" dirty="0">
                <a:solidFill>
                  <a:prstClr val="black"/>
                </a:solidFill>
                <a:latin typeface="Palatino Linotype"/>
                <a:cs typeface="Palatino Linotype"/>
              </a:rPr>
              <a:t>if it has </a:t>
            </a:r>
            <a:r>
              <a:rPr sz="2200" kern="1200" dirty="0">
                <a:solidFill>
                  <a:prstClr val="black"/>
                </a:solidFill>
                <a:latin typeface="Palatino Linotype"/>
                <a:cs typeface="Palatino Linotype"/>
              </a:rPr>
              <a:t>a </a:t>
            </a:r>
            <a:r>
              <a:rPr sz="2200" kern="1200" spc="-5" dirty="0">
                <a:solidFill>
                  <a:prstClr val="black"/>
                </a:solidFill>
                <a:latin typeface="Palatino Linotype"/>
                <a:cs typeface="Palatino Linotype"/>
              </a:rPr>
              <a:t>nonterminal </a:t>
            </a:r>
            <a:r>
              <a:rPr sz="2200" kern="1200" dirty="0">
                <a:solidFill>
                  <a:prstClr val="black"/>
                </a:solidFill>
                <a:latin typeface="Cambria Math"/>
                <a:cs typeface="Cambria Math"/>
              </a:rPr>
              <a:t>𝐴 </a:t>
            </a:r>
            <a:r>
              <a:rPr sz="2200" kern="1200" spc="-5" dirty="0">
                <a:solidFill>
                  <a:prstClr val="black"/>
                </a:solidFill>
                <a:latin typeface="Palatino Linotype"/>
                <a:cs typeface="Palatino Linotype"/>
              </a:rPr>
              <a:t>such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that</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there is</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a </a:t>
            </a:r>
            <a:r>
              <a:rPr sz="2200" kern="1200" spc="-10" dirty="0">
                <a:solidFill>
                  <a:prstClr val="black"/>
                </a:solidFill>
                <a:latin typeface="Palatino Linotype"/>
                <a:cs typeface="Palatino Linotype"/>
              </a:rPr>
              <a:t>derivation </a:t>
            </a:r>
            <a:r>
              <a:rPr sz="2200" kern="1200" dirty="0">
                <a:solidFill>
                  <a:prstClr val="black"/>
                </a:solidFill>
                <a:latin typeface="Cambria Math"/>
                <a:cs typeface="Cambria Math"/>
              </a:rPr>
              <a:t>𝐴</a:t>
            </a:r>
            <a:r>
              <a:rPr sz="2200" kern="1200" spc="20" dirty="0">
                <a:solidFill>
                  <a:prstClr val="black"/>
                </a:solidFill>
                <a:latin typeface="Cambria Math"/>
                <a:cs typeface="Cambria Math"/>
              </a:rPr>
              <a:t> </a:t>
            </a:r>
            <a:r>
              <a:rPr sz="2200" kern="1200" dirty="0">
                <a:solidFill>
                  <a:prstClr val="black"/>
                </a:solidFill>
                <a:latin typeface="Cambria Math"/>
                <a:cs typeface="Cambria Math"/>
              </a:rPr>
              <a:t>⇒ </a:t>
            </a:r>
            <a:r>
              <a:rPr sz="2200" kern="1200" spc="-5" dirty="0">
                <a:solidFill>
                  <a:prstClr val="black"/>
                </a:solidFill>
                <a:latin typeface="Cambria Math"/>
                <a:cs typeface="Cambria Math"/>
              </a:rPr>
              <a:t>𝐴𝛼</a:t>
            </a:r>
            <a:r>
              <a:rPr sz="2200" kern="1200" spc="135" dirty="0">
                <a:solidFill>
                  <a:prstClr val="black"/>
                </a:solidFill>
                <a:latin typeface="Cambria Math"/>
                <a:cs typeface="Cambria Math"/>
              </a:rPr>
              <a:t> </a:t>
            </a:r>
            <a:r>
              <a:rPr sz="2200" kern="1200" spc="-5" dirty="0">
                <a:solidFill>
                  <a:prstClr val="black"/>
                </a:solidFill>
                <a:latin typeface="Palatino Linotype"/>
                <a:cs typeface="Palatino Linotype"/>
              </a:rPr>
              <a:t>for</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some string</a:t>
            </a:r>
            <a:r>
              <a:rPr sz="2200" kern="1200" dirty="0">
                <a:solidFill>
                  <a:prstClr val="black"/>
                </a:solidFill>
                <a:latin typeface="Palatino Linotype"/>
                <a:cs typeface="Palatino Linotype"/>
              </a:rPr>
              <a:t> </a:t>
            </a:r>
            <a:r>
              <a:rPr sz="2200" kern="1200" dirty="0">
                <a:solidFill>
                  <a:prstClr val="black"/>
                </a:solidFill>
                <a:latin typeface="Cambria Math"/>
                <a:cs typeface="Cambria Math"/>
              </a:rPr>
              <a:t>𝛼</a:t>
            </a:r>
          </a:p>
          <a:p>
            <a:pPr marL="698500" lvl="1" indent="-228600" rtl="0">
              <a:spcBef>
                <a:spcPts val="1360"/>
              </a:spcBef>
              <a:buClr>
                <a:srgbClr val="000000"/>
              </a:buClr>
              <a:buFont typeface="Wingdings"/>
              <a:buChar char=""/>
              <a:tabLst>
                <a:tab pos="698500" algn="l"/>
              </a:tabLst>
            </a:pPr>
            <a:r>
              <a:rPr kern="1200" dirty="0">
                <a:solidFill>
                  <a:srgbClr val="0432FF"/>
                </a:solidFill>
                <a:latin typeface="Cambria Math"/>
                <a:cs typeface="Cambria Math"/>
              </a:rPr>
              <a:t>𝑆</a:t>
            </a:r>
            <a:r>
              <a:rPr kern="1200" spc="110" dirty="0">
                <a:solidFill>
                  <a:srgbClr val="0432FF"/>
                </a:solidFill>
                <a:latin typeface="Cambria Math"/>
                <a:cs typeface="Cambria Math"/>
              </a:rPr>
              <a:t> </a:t>
            </a:r>
            <a:r>
              <a:rPr kern="1200" dirty="0">
                <a:solidFill>
                  <a:srgbClr val="0432FF"/>
                </a:solidFill>
                <a:latin typeface="Cambria Math"/>
                <a:cs typeface="Cambria Math"/>
              </a:rPr>
              <a:t>→</a:t>
            </a:r>
            <a:r>
              <a:rPr kern="1200" spc="90" dirty="0">
                <a:solidFill>
                  <a:srgbClr val="0432FF"/>
                </a:solidFill>
                <a:latin typeface="Cambria Math"/>
                <a:cs typeface="Cambria Math"/>
              </a:rPr>
              <a:t> </a:t>
            </a:r>
            <a:r>
              <a:rPr kern="1200" spc="-5" dirty="0">
                <a:solidFill>
                  <a:srgbClr val="0432FF"/>
                </a:solidFill>
                <a:latin typeface="Cambria Math"/>
                <a:cs typeface="Cambria Math"/>
              </a:rPr>
              <a:t>𝐴𝑎</a:t>
            </a:r>
            <a:r>
              <a:rPr kern="1200" spc="20" dirty="0">
                <a:solidFill>
                  <a:srgbClr val="0432FF"/>
                </a:solidFill>
                <a:latin typeface="Cambria Math"/>
                <a:cs typeface="Cambria Math"/>
              </a:rPr>
              <a:t> </a:t>
            </a:r>
            <a:r>
              <a:rPr kern="1200" dirty="0">
                <a:solidFill>
                  <a:srgbClr val="0432FF"/>
                </a:solidFill>
                <a:latin typeface="Cambria Math"/>
                <a:cs typeface="Cambria Math"/>
              </a:rPr>
              <a:t>|</a:t>
            </a:r>
            <a:r>
              <a:rPr kern="1200" spc="-10" dirty="0">
                <a:solidFill>
                  <a:srgbClr val="0432FF"/>
                </a:solidFill>
                <a:latin typeface="Cambria Math"/>
                <a:cs typeface="Cambria Math"/>
              </a:rPr>
              <a:t> </a:t>
            </a:r>
            <a:r>
              <a:rPr kern="1200" dirty="0">
                <a:solidFill>
                  <a:srgbClr val="0432FF"/>
                </a:solidFill>
                <a:latin typeface="Cambria Math"/>
                <a:cs typeface="Cambria Math"/>
              </a:rPr>
              <a:t>𝑏</a:t>
            </a:r>
            <a:endParaRPr kern="1200" dirty="0">
              <a:solidFill>
                <a:prstClr val="black"/>
              </a:solidFill>
              <a:latin typeface="Cambria Math"/>
              <a:cs typeface="Cambria Math"/>
            </a:endParaRPr>
          </a:p>
        </p:txBody>
      </p:sp>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30</a:t>
            </a:fld>
            <a:endParaRPr lang="en-US"/>
          </a:p>
        </p:txBody>
      </p:sp>
      <p:sp>
        <p:nvSpPr>
          <p:cNvPr id="11" name="object 2">
            <a:extLst>
              <a:ext uri="{FF2B5EF4-FFF2-40B4-BE49-F238E27FC236}">
                <a16:creationId xmlns:a16="http://schemas.microsoft.com/office/drawing/2014/main" id="{01DFA82B-65C6-37B8-989A-CC655C7A53D0}"/>
              </a:ext>
            </a:extLst>
          </p:cNvPr>
          <p:cNvSpPr txBox="1">
            <a:spLocks/>
          </p:cNvSpPr>
          <p:nvPr/>
        </p:nvSpPr>
        <p:spPr>
          <a:xfrm>
            <a:off x="707390" y="524763"/>
            <a:ext cx="63131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Eliminating</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Left</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Recursion</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6FC0E76C-86C6-648E-4653-5053B8359A2B}"/>
              </a:ext>
            </a:extLst>
          </p:cNvPr>
          <p:cNvSpPr txBox="1"/>
          <p:nvPr/>
        </p:nvSpPr>
        <p:spPr>
          <a:xfrm>
            <a:off x="4222778" y="1961134"/>
            <a:ext cx="173355" cy="269240"/>
          </a:xfrm>
          <a:prstGeom prst="rect">
            <a:avLst/>
          </a:prstGeom>
        </p:spPr>
        <p:txBody>
          <a:bodyPr vert="horz" wrap="square" lIns="0" tIns="12700" rIns="0" bIns="0" rtlCol="0">
            <a:spAutoFit/>
          </a:bodyPr>
          <a:lstStyle/>
          <a:p>
            <a:pPr marL="12700" rtl="0">
              <a:spcBef>
                <a:spcPts val="100"/>
              </a:spcBef>
            </a:pPr>
            <a:r>
              <a:rPr lang="en-US" altLang="zh-CN" sz="1600" kern="1200" spc="500" dirty="0">
                <a:solidFill>
                  <a:prstClr val="black"/>
                </a:solidFill>
                <a:latin typeface="Cambria Math"/>
                <a:cs typeface="Cambria Math"/>
              </a:rPr>
              <a:t>+</a:t>
            </a:r>
            <a:endParaRPr sz="1600" kern="1200" dirty="0">
              <a:solidFill>
                <a:prstClr val="black"/>
              </a:solidFill>
              <a:latin typeface="Cambria Math"/>
              <a:cs typeface="Cambria Math"/>
            </a:endParaRPr>
          </a:p>
        </p:txBody>
      </p:sp>
      <p:sp>
        <p:nvSpPr>
          <p:cNvPr id="14" name="object 5">
            <a:extLst>
              <a:ext uri="{FF2B5EF4-FFF2-40B4-BE49-F238E27FC236}">
                <a16:creationId xmlns:a16="http://schemas.microsoft.com/office/drawing/2014/main" id="{4A3DBAD5-57C9-DFD9-4FF7-31207D855118}"/>
              </a:ext>
            </a:extLst>
          </p:cNvPr>
          <p:cNvSpPr/>
          <p:nvPr/>
        </p:nvSpPr>
        <p:spPr>
          <a:xfrm>
            <a:off x="2640087" y="3140491"/>
            <a:ext cx="17780" cy="208279"/>
          </a:xfrm>
          <a:custGeom>
            <a:avLst/>
            <a:gdLst/>
            <a:ahLst/>
            <a:cxnLst/>
            <a:rect l="l" t="t" r="r" b="b"/>
            <a:pathLst>
              <a:path w="17780" h="208279">
                <a:moveTo>
                  <a:pt x="17189" y="0"/>
                </a:moveTo>
                <a:lnTo>
                  <a:pt x="0" y="0"/>
                </a:lnTo>
                <a:lnTo>
                  <a:pt x="0" y="207727"/>
                </a:lnTo>
                <a:lnTo>
                  <a:pt x="17189" y="207727"/>
                </a:lnTo>
                <a:lnTo>
                  <a:pt x="1718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6">
            <a:extLst>
              <a:ext uri="{FF2B5EF4-FFF2-40B4-BE49-F238E27FC236}">
                <a16:creationId xmlns:a16="http://schemas.microsoft.com/office/drawing/2014/main" id="{97B70DE8-BA39-ABDF-102E-838E34E0F391}"/>
              </a:ext>
            </a:extLst>
          </p:cNvPr>
          <p:cNvSpPr/>
          <p:nvPr/>
        </p:nvSpPr>
        <p:spPr>
          <a:xfrm>
            <a:off x="2206509" y="3140491"/>
            <a:ext cx="17780" cy="208279"/>
          </a:xfrm>
          <a:custGeom>
            <a:avLst/>
            <a:gdLst/>
            <a:ahLst/>
            <a:cxnLst/>
            <a:rect l="l" t="t" r="r" b="b"/>
            <a:pathLst>
              <a:path w="17780" h="208279">
                <a:moveTo>
                  <a:pt x="17189" y="0"/>
                </a:moveTo>
                <a:lnTo>
                  <a:pt x="0" y="0"/>
                </a:lnTo>
                <a:lnTo>
                  <a:pt x="0" y="207727"/>
                </a:lnTo>
                <a:lnTo>
                  <a:pt x="17189" y="207727"/>
                </a:lnTo>
                <a:lnTo>
                  <a:pt x="1718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7">
            <a:extLst>
              <a:ext uri="{FF2B5EF4-FFF2-40B4-BE49-F238E27FC236}">
                <a16:creationId xmlns:a16="http://schemas.microsoft.com/office/drawing/2014/main" id="{B1CB6B94-E33F-D6D9-F67E-D6A0D5C70B0C}"/>
              </a:ext>
            </a:extLst>
          </p:cNvPr>
          <p:cNvSpPr txBox="1"/>
          <p:nvPr/>
        </p:nvSpPr>
        <p:spPr>
          <a:xfrm>
            <a:off x="707390" y="2937764"/>
            <a:ext cx="7513955" cy="2891790"/>
          </a:xfrm>
          <a:prstGeom prst="rect">
            <a:avLst/>
          </a:prstGeom>
        </p:spPr>
        <p:txBody>
          <a:bodyPr vert="horz" wrap="square" lIns="0" tIns="143510" rIns="0" bIns="0" rtlCol="0">
            <a:spAutoFit/>
          </a:bodyPr>
          <a:lstStyle/>
          <a:p>
            <a:pPr marL="698500" indent="-228600" rtl="0">
              <a:spcBef>
                <a:spcPts val="1130"/>
              </a:spcBef>
              <a:buClr>
                <a:srgbClr val="000000"/>
              </a:buClr>
              <a:buFont typeface="Wingdings"/>
              <a:buChar char=""/>
              <a:tabLst>
                <a:tab pos="698500" algn="l"/>
                <a:tab pos="1594485" algn="l"/>
                <a:tab pos="2028189" algn="l"/>
              </a:tabLst>
            </a:pPr>
            <a:r>
              <a:rPr kern="1200" dirty="0">
                <a:solidFill>
                  <a:srgbClr val="0432FF"/>
                </a:solidFill>
                <a:latin typeface="Cambria Math"/>
                <a:cs typeface="Cambria Math"/>
              </a:rPr>
              <a:t>𝐴</a:t>
            </a:r>
            <a:r>
              <a:rPr kern="1200" spc="114" dirty="0">
                <a:solidFill>
                  <a:srgbClr val="0432FF"/>
                </a:solidFill>
                <a:latin typeface="Cambria Math"/>
                <a:cs typeface="Cambria Math"/>
              </a:rPr>
              <a:t> </a:t>
            </a:r>
            <a:r>
              <a:rPr kern="1200" dirty="0">
                <a:solidFill>
                  <a:srgbClr val="0432FF"/>
                </a:solidFill>
                <a:latin typeface="Cambria Math"/>
                <a:cs typeface="Cambria Math"/>
              </a:rPr>
              <a:t>→</a:t>
            </a:r>
            <a:r>
              <a:rPr kern="1200" spc="105" dirty="0">
                <a:solidFill>
                  <a:srgbClr val="0432FF"/>
                </a:solidFill>
                <a:latin typeface="Cambria Math"/>
                <a:cs typeface="Cambria Math"/>
              </a:rPr>
              <a:t> </a:t>
            </a:r>
            <a:r>
              <a:rPr kern="1200" spc="-5" dirty="0">
                <a:solidFill>
                  <a:srgbClr val="0432FF"/>
                </a:solidFill>
                <a:latin typeface="Cambria Math"/>
                <a:cs typeface="Cambria Math"/>
              </a:rPr>
              <a:t>𝐴𝑐	𝑆𝑑	</a:t>
            </a:r>
            <a:r>
              <a:rPr kern="1200" dirty="0">
                <a:solidFill>
                  <a:srgbClr val="0432FF"/>
                </a:solidFill>
                <a:latin typeface="Cambria Math"/>
                <a:cs typeface="Cambria Math"/>
              </a:rPr>
              <a:t>𝜖</a:t>
            </a:r>
            <a:endParaRPr kern="1200" dirty="0">
              <a:solidFill>
                <a:prstClr val="black"/>
              </a:solidFill>
              <a:latin typeface="Cambria Math"/>
              <a:cs typeface="Cambria Math"/>
            </a:endParaRPr>
          </a:p>
          <a:p>
            <a:pPr marL="698500" indent="-228600" rtl="0">
              <a:spcBef>
                <a:spcPts val="1030"/>
              </a:spcBef>
              <a:buFont typeface="Wingdings"/>
              <a:buChar char=""/>
              <a:tabLst>
                <a:tab pos="698500" algn="l"/>
              </a:tabLst>
            </a:pPr>
            <a:r>
              <a:rPr kern="1200" spc="-5" dirty="0">
                <a:solidFill>
                  <a:prstClr val="black"/>
                </a:solidFill>
                <a:latin typeface="Palatino Linotype"/>
                <a:cs typeface="Palatino Linotype"/>
              </a:rPr>
              <a:t>Because</a:t>
            </a:r>
            <a:r>
              <a:rPr kern="1200" spc="-10" dirty="0">
                <a:solidFill>
                  <a:prstClr val="black"/>
                </a:solidFill>
                <a:latin typeface="Palatino Linotype"/>
                <a:cs typeface="Palatino Linotype"/>
              </a:rPr>
              <a:t> </a:t>
            </a:r>
            <a:r>
              <a:rPr kern="1200" dirty="0">
                <a:solidFill>
                  <a:srgbClr val="FF0000"/>
                </a:solidFill>
                <a:latin typeface="Cambria Math"/>
                <a:cs typeface="Cambria Math"/>
              </a:rPr>
              <a:t>𝑆</a:t>
            </a:r>
            <a:r>
              <a:rPr kern="1200" spc="125" dirty="0">
                <a:solidFill>
                  <a:srgbClr val="FF0000"/>
                </a:solidFill>
                <a:latin typeface="Cambria Math"/>
                <a:cs typeface="Cambria Math"/>
              </a:rPr>
              <a:t> </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spc="-5" dirty="0">
                <a:solidFill>
                  <a:prstClr val="black"/>
                </a:solidFill>
                <a:latin typeface="Cambria Math"/>
                <a:cs typeface="Cambria Math"/>
              </a:rPr>
              <a:t>𝐴𝑎</a:t>
            </a:r>
            <a:r>
              <a:rPr kern="1200" spc="130" dirty="0">
                <a:solidFill>
                  <a:prstClr val="black"/>
                </a:solidFill>
                <a:latin typeface="Cambria Math"/>
                <a:cs typeface="Cambria Math"/>
              </a:rPr>
              <a:t> </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spc="-10" dirty="0">
                <a:solidFill>
                  <a:srgbClr val="FF0000"/>
                </a:solidFill>
                <a:latin typeface="Cambria Math"/>
                <a:cs typeface="Cambria Math"/>
              </a:rPr>
              <a:t>𝑆</a:t>
            </a:r>
            <a:r>
              <a:rPr kern="1200" spc="-10" dirty="0">
                <a:solidFill>
                  <a:prstClr val="black"/>
                </a:solidFill>
                <a:latin typeface="Cambria Math"/>
                <a:cs typeface="Cambria Math"/>
              </a:rPr>
              <a:t>𝑑𝑎</a:t>
            </a:r>
            <a:endParaRPr kern="1200" dirty="0">
              <a:solidFill>
                <a:prstClr val="black"/>
              </a:solidFill>
              <a:latin typeface="Cambria Math"/>
              <a:cs typeface="Cambria Math"/>
            </a:endParaRPr>
          </a:p>
          <a:p>
            <a:pPr marL="242570" marR="5080" indent="-230504" rtl="0">
              <a:lnSpc>
                <a:spcPct val="117300"/>
              </a:lnSpc>
              <a:spcBef>
                <a:spcPts val="1785"/>
              </a:spcBef>
              <a:buClr>
                <a:srgbClr val="000000"/>
              </a:buClr>
              <a:buFont typeface="Arial MT"/>
              <a:buChar char="•"/>
              <a:tabLst>
                <a:tab pos="242570" algn="l"/>
                <a:tab pos="243204" algn="l"/>
              </a:tabLst>
            </a:pPr>
            <a:r>
              <a:rPr sz="2200" b="1" kern="1200" spc="-5" dirty="0">
                <a:solidFill>
                  <a:srgbClr val="FF0000"/>
                </a:solidFill>
                <a:latin typeface="Palatino Linotype"/>
                <a:cs typeface="Palatino Linotype"/>
              </a:rPr>
              <a:t>Immediate left recursion</a:t>
            </a:r>
            <a:r>
              <a:rPr sz="2200" b="1" kern="1200" spc="5" dirty="0">
                <a:solidFill>
                  <a:srgbClr val="FF0000"/>
                </a:solidFill>
                <a:latin typeface="Palatino Linotype"/>
                <a:cs typeface="Palatino Linotype"/>
              </a:rPr>
              <a:t> (</a:t>
            </a:r>
            <a:r>
              <a:rPr sz="3225" kern="1200" spc="89" baseline="1291" dirty="0">
                <a:solidFill>
                  <a:srgbClr val="FF0000"/>
                </a:solidFill>
                <a:latin typeface="SimSun"/>
                <a:cs typeface="SimSun"/>
              </a:rPr>
              <a:t>立即左递归</a:t>
            </a:r>
            <a:r>
              <a:rPr sz="2200" b="1" kern="1200" dirty="0">
                <a:solidFill>
                  <a:srgbClr val="FF0000"/>
                </a:solidFill>
                <a:latin typeface="Palatino Linotype"/>
                <a:cs typeface="Palatino Linotype"/>
              </a:rPr>
              <a:t>):</a:t>
            </a:r>
            <a:r>
              <a:rPr sz="2200" b="1" kern="1200" spc="-5" dirty="0">
                <a:solidFill>
                  <a:srgbClr val="FF0000"/>
                </a:solidFill>
                <a:latin typeface="Palatino Linotype"/>
                <a:cs typeface="Palatino Linotype"/>
              </a:rPr>
              <a:t> </a:t>
            </a:r>
            <a:r>
              <a:rPr sz="2200" kern="1200" spc="-5" dirty="0">
                <a:solidFill>
                  <a:prstClr val="black"/>
                </a:solidFill>
                <a:latin typeface="Palatino Linotype"/>
                <a:cs typeface="Palatino Linotype"/>
              </a:rPr>
              <a:t>the grammar</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has</a:t>
            </a:r>
            <a:r>
              <a:rPr sz="2200" kern="1200" dirty="0">
                <a:solidFill>
                  <a:prstClr val="black"/>
                </a:solidFill>
                <a:latin typeface="Palatino Linotype"/>
                <a:cs typeface="Palatino Linotype"/>
              </a:rPr>
              <a:t> a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production</a:t>
            </a:r>
            <a:r>
              <a:rPr sz="2200" kern="1200" spc="-15" dirty="0">
                <a:solidFill>
                  <a:prstClr val="black"/>
                </a:solidFill>
                <a:latin typeface="Palatino Linotype"/>
                <a:cs typeface="Palatino Linotype"/>
              </a:rPr>
              <a:t> </a:t>
            </a:r>
            <a:r>
              <a:rPr sz="2200" kern="1200" spc="-5" dirty="0">
                <a:solidFill>
                  <a:prstClr val="black"/>
                </a:solidFill>
                <a:latin typeface="Palatino Linotype"/>
                <a:cs typeface="Palatino Linotype"/>
              </a:rPr>
              <a:t>of</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the </a:t>
            </a:r>
            <a:r>
              <a:rPr sz="2200" kern="1200" dirty="0">
                <a:solidFill>
                  <a:prstClr val="black"/>
                </a:solidFill>
                <a:latin typeface="Palatino Linotype"/>
                <a:cs typeface="Palatino Linotype"/>
              </a:rPr>
              <a:t>form</a:t>
            </a:r>
            <a:r>
              <a:rPr sz="2200" kern="1200" spc="-5" dirty="0">
                <a:solidFill>
                  <a:prstClr val="black"/>
                </a:solidFill>
                <a:latin typeface="Palatino Linotype"/>
                <a:cs typeface="Palatino Linotype"/>
              </a:rPr>
              <a:t> </a:t>
            </a:r>
            <a:r>
              <a:rPr sz="2200" kern="1200" dirty="0">
                <a:solidFill>
                  <a:prstClr val="black"/>
                </a:solidFill>
                <a:latin typeface="Cambria Math"/>
                <a:cs typeface="Cambria Math"/>
              </a:rPr>
              <a:t>𝐴</a:t>
            </a:r>
            <a:r>
              <a:rPr sz="2200" kern="1200" spc="13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20" dirty="0">
                <a:solidFill>
                  <a:prstClr val="black"/>
                </a:solidFill>
                <a:latin typeface="Cambria Math"/>
                <a:cs typeface="Cambria Math"/>
              </a:rPr>
              <a:t> </a:t>
            </a:r>
            <a:r>
              <a:rPr sz="2200" kern="1200" spc="-5" dirty="0">
                <a:solidFill>
                  <a:prstClr val="black"/>
                </a:solidFill>
                <a:latin typeface="Cambria Math"/>
                <a:cs typeface="Cambria Math"/>
              </a:rPr>
              <a:t>𝐴𝛼</a:t>
            </a:r>
            <a:endParaRPr sz="2200" kern="1200" dirty="0">
              <a:solidFill>
                <a:prstClr val="black"/>
              </a:solidFill>
              <a:latin typeface="Cambria Math"/>
              <a:cs typeface="Cambria Math"/>
            </a:endParaRPr>
          </a:p>
          <a:p>
            <a:pPr marL="242570" marR="311150" indent="-230504" rtl="0">
              <a:lnSpc>
                <a:spcPct val="120900"/>
              </a:lnSpc>
              <a:spcBef>
                <a:spcPts val="1825"/>
              </a:spcBef>
              <a:buFont typeface="Arial MT"/>
              <a:buChar char="•"/>
              <a:tabLst>
                <a:tab pos="242570" algn="l"/>
                <a:tab pos="243204" algn="l"/>
              </a:tabLst>
            </a:pPr>
            <a:r>
              <a:rPr sz="2200" kern="1200" spc="-20" dirty="0">
                <a:solidFill>
                  <a:prstClr val="black"/>
                </a:solidFill>
                <a:latin typeface="Palatino Linotype"/>
                <a:cs typeface="Palatino Linotype"/>
              </a:rPr>
              <a:t>Top-down </a:t>
            </a:r>
            <a:r>
              <a:rPr sz="2200" kern="1200" spc="-5" dirty="0">
                <a:solidFill>
                  <a:prstClr val="black"/>
                </a:solidFill>
                <a:latin typeface="Palatino Linotype"/>
                <a:cs typeface="Palatino Linotype"/>
              </a:rPr>
              <a:t>parsing methods cannot handle left-recursive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grammars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(bottom-up</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parsing</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methods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can</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handle…)</a:t>
            </a:r>
            <a:endParaRPr sz="2200" kern="1200" dirty="0">
              <a:solidFill>
                <a:prstClr val="black"/>
              </a:solidFill>
              <a:latin typeface="Palatino Linotype"/>
              <a:cs typeface="Palatino Linotype"/>
            </a:endParaRPr>
          </a:p>
        </p:txBody>
      </p:sp>
    </p:spTree>
    <p:extLst>
      <p:ext uri="{BB962C8B-B14F-4D97-AF65-F5344CB8AC3E}">
        <p14:creationId xmlns:p14="http://schemas.microsoft.com/office/powerpoint/2010/main" val="4031888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31</a:t>
            </a:fld>
            <a:endParaRPr lang="en-US"/>
          </a:p>
        </p:txBody>
      </p:sp>
      <p:pic>
        <p:nvPicPr>
          <p:cNvPr id="9" name="object 2">
            <a:extLst>
              <a:ext uri="{FF2B5EF4-FFF2-40B4-BE49-F238E27FC236}">
                <a16:creationId xmlns:a16="http://schemas.microsoft.com/office/drawing/2014/main" id="{D966E33F-8770-7937-F761-F18CAC735AF9}"/>
              </a:ext>
            </a:extLst>
          </p:cNvPr>
          <p:cNvPicPr/>
          <p:nvPr/>
        </p:nvPicPr>
        <p:blipFill>
          <a:blip r:embed="rId3" cstate="print"/>
          <a:stretch>
            <a:fillRect/>
          </a:stretch>
        </p:blipFill>
        <p:spPr>
          <a:xfrm>
            <a:off x="5308733" y="1344816"/>
            <a:ext cx="2398856" cy="2201602"/>
          </a:xfrm>
          <a:prstGeom prst="rect">
            <a:avLst/>
          </a:prstGeom>
        </p:spPr>
      </p:pic>
      <p:sp>
        <p:nvSpPr>
          <p:cNvPr id="10" name="object 3">
            <a:extLst>
              <a:ext uri="{FF2B5EF4-FFF2-40B4-BE49-F238E27FC236}">
                <a16:creationId xmlns:a16="http://schemas.microsoft.com/office/drawing/2014/main" id="{55F56903-AEC9-DD96-2C96-9D81BC6F9006}"/>
              </a:ext>
            </a:extLst>
          </p:cNvPr>
          <p:cNvSpPr txBox="1">
            <a:spLocks/>
          </p:cNvSpPr>
          <p:nvPr/>
        </p:nvSpPr>
        <p:spPr>
          <a:xfrm>
            <a:off x="707390" y="579627"/>
            <a:ext cx="7615555" cy="54356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400" b="1" i="0" u="none" strike="noStrike" kern="0" cap="none" spc="0" normalizeH="0" baseline="0" noProof="0">
                <a:ln>
                  <a:noFill/>
                </a:ln>
                <a:solidFill>
                  <a:sysClr val="windowText" lastClr="000000"/>
                </a:solidFill>
                <a:effectLst/>
                <a:uLnTx/>
                <a:uFillTx/>
                <a:latin typeface="Palatino Linotype"/>
                <a:ea typeface="+mj-ea"/>
              </a:rPr>
              <a:t>Eliminating</a:t>
            </a:r>
            <a:r>
              <a:rPr kumimoji="0" lang="en-US" sz="3400" b="1" i="0" u="none" strike="noStrike" kern="0" cap="none" spc="-20" normalizeH="0" baseline="0" noProof="0">
                <a:ln>
                  <a:noFill/>
                </a:ln>
                <a:solidFill>
                  <a:sysClr val="windowText" lastClr="000000"/>
                </a:solidFill>
                <a:effectLst/>
                <a:uLnTx/>
                <a:uFillTx/>
                <a:latin typeface="Palatino Linotype"/>
                <a:ea typeface="+mj-ea"/>
              </a:rPr>
              <a:t> </a:t>
            </a:r>
            <a:r>
              <a:rPr kumimoji="0" lang="en-US" sz="3400" b="1" i="0" u="none" strike="noStrike" kern="0" cap="none" spc="0" normalizeH="0" baseline="0" noProof="0">
                <a:ln>
                  <a:noFill/>
                </a:ln>
                <a:solidFill>
                  <a:sysClr val="windowText" lastClr="000000"/>
                </a:solidFill>
                <a:effectLst/>
                <a:uLnTx/>
                <a:uFillTx/>
                <a:latin typeface="Palatino Linotype"/>
                <a:ea typeface="+mj-ea"/>
              </a:rPr>
              <a:t>Immediate</a:t>
            </a:r>
            <a:r>
              <a:rPr kumimoji="0" lang="en-US" sz="3400" b="1" i="0" u="none" strike="noStrike" kern="0" cap="none" spc="-15" normalizeH="0" baseline="0" noProof="0">
                <a:ln>
                  <a:noFill/>
                </a:ln>
                <a:solidFill>
                  <a:sysClr val="windowText" lastClr="000000"/>
                </a:solidFill>
                <a:effectLst/>
                <a:uLnTx/>
                <a:uFillTx/>
                <a:latin typeface="Palatino Linotype"/>
                <a:ea typeface="+mj-ea"/>
              </a:rPr>
              <a:t> </a:t>
            </a:r>
            <a:r>
              <a:rPr kumimoji="0" lang="en-US" sz="3400" b="1" i="0" u="none" strike="noStrike" kern="0" cap="none" spc="0" normalizeH="0" baseline="0" noProof="0">
                <a:ln>
                  <a:noFill/>
                </a:ln>
                <a:solidFill>
                  <a:sysClr val="windowText" lastClr="000000"/>
                </a:solidFill>
                <a:effectLst/>
                <a:uLnTx/>
                <a:uFillTx/>
                <a:latin typeface="Palatino Linotype"/>
                <a:ea typeface="+mj-ea"/>
              </a:rPr>
              <a:t>Left</a:t>
            </a:r>
            <a:r>
              <a:rPr kumimoji="0" lang="en-US" sz="3400" b="1" i="0" u="none" strike="noStrike" kern="0" cap="none" spc="-10" normalizeH="0" baseline="0" noProof="0">
                <a:ln>
                  <a:noFill/>
                </a:ln>
                <a:solidFill>
                  <a:sysClr val="windowText" lastClr="000000"/>
                </a:solidFill>
                <a:effectLst/>
                <a:uLnTx/>
                <a:uFillTx/>
                <a:latin typeface="Palatino Linotype"/>
                <a:ea typeface="+mj-ea"/>
              </a:rPr>
              <a:t> </a:t>
            </a:r>
            <a:r>
              <a:rPr kumimoji="0" lang="en-US" sz="3400" b="1" i="0" u="none" strike="noStrike" kern="0" cap="none" spc="-5" normalizeH="0" baseline="0" noProof="0">
                <a:ln>
                  <a:noFill/>
                </a:ln>
                <a:solidFill>
                  <a:sysClr val="windowText" lastClr="000000"/>
                </a:solidFill>
                <a:effectLst/>
                <a:uLnTx/>
                <a:uFillTx/>
                <a:latin typeface="Palatino Linotype"/>
                <a:ea typeface="+mj-ea"/>
              </a:rPr>
              <a:t>Recursion</a:t>
            </a:r>
            <a:endParaRPr kumimoji="0" lang="en-US" sz="34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1" name="object 4">
            <a:extLst>
              <a:ext uri="{FF2B5EF4-FFF2-40B4-BE49-F238E27FC236}">
                <a16:creationId xmlns:a16="http://schemas.microsoft.com/office/drawing/2014/main" id="{E01C48CC-3637-FDA5-CE25-DE3E50E4060F}"/>
              </a:ext>
            </a:extLst>
          </p:cNvPr>
          <p:cNvSpPr txBox="1"/>
          <p:nvPr/>
        </p:nvSpPr>
        <p:spPr>
          <a:xfrm>
            <a:off x="669290" y="1659636"/>
            <a:ext cx="4711065" cy="4117975"/>
          </a:xfrm>
          <a:prstGeom prst="rect">
            <a:avLst/>
          </a:prstGeom>
        </p:spPr>
        <p:txBody>
          <a:bodyPr vert="horz" wrap="square" lIns="0" tIns="12700" rIns="0" bIns="0" rtlCol="0">
            <a:spAutoFit/>
          </a:bodyPr>
          <a:lstStyle/>
          <a:p>
            <a:pPr marL="281305" indent="-230504" rtl="0">
              <a:spcBef>
                <a:spcPts val="100"/>
              </a:spcBef>
              <a:buClr>
                <a:srgbClr val="000000"/>
              </a:buClr>
              <a:buFont typeface="Arial MT"/>
              <a:buChar char="•"/>
              <a:tabLst>
                <a:tab pos="281305" algn="l"/>
              </a:tabLst>
            </a:pPr>
            <a:r>
              <a:rPr sz="2600" kern="1200" dirty="0">
                <a:solidFill>
                  <a:srgbClr val="0432FF"/>
                </a:solidFill>
                <a:latin typeface="Palatino Linotype"/>
                <a:cs typeface="Palatino Linotype"/>
              </a:rPr>
              <a:t>Simple</a:t>
            </a:r>
            <a:r>
              <a:rPr sz="2600" kern="1200" spc="-10" dirty="0">
                <a:solidFill>
                  <a:srgbClr val="0432FF"/>
                </a:solidFill>
                <a:latin typeface="Palatino Linotype"/>
                <a:cs typeface="Palatino Linotype"/>
              </a:rPr>
              <a:t> </a:t>
            </a:r>
            <a:r>
              <a:rPr sz="2600" kern="1200" spc="-5" dirty="0">
                <a:solidFill>
                  <a:srgbClr val="0432FF"/>
                </a:solidFill>
                <a:latin typeface="Palatino Linotype"/>
                <a:cs typeface="Palatino Linotype"/>
              </a:rPr>
              <a:t>grammar:</a:t>
            </a:r>
            <a:r>
              <a:rPr sz="2600" kern="1200" spc="-10" dirty="0">
                <a:solidFill>
                  <a:srgbClr val="0432FF"/>
                </a:solidFill>
                <a:latin typeface="Palatino Linotype"/>
                <a:cs typeface="Palatino Linotype"/>
              </a:rPr>
              <a:t> </a:t>
            </a:r>
            <a:r>
              <a:rPr sz="2600" kern="1200" dirty="0">
                <a:solidFill>
                  <a:prstClr val="black"/>
                </a:solidFill>
                <a:latin typeface="Cambria Math"/>
                <a:cs typeface="Cambria Math"/>
              </a:rPr>
              <a:t>𝐴</a:t>
            </a:r>
            <a:r>
              <a:rPr sz="2600" kern="1200" spc="16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35" dirty="0">
                <a:solidFill>
                  <a:prstClr val="black"/>
                </a:solidFill>
                <a:latin typeface="Cambria Math"/>
                <a:cs typeface="Cambria Math"/>
              </a:rPr>
              <a:t> </a:t>
            </a:r>
            <a:r>
              <a:rPr sz="2600" kern="1200" dirty="0">
                <a:solidFill>
                  <a:prstClr val="black"/>
                </a:solidFill>
                <a:latin typeface="Cambria Math"/>
                <a:cs typeface="Cambria Math"/>
              </a:rPr>
              <a:t>𝐴𝛼</a:t>
            </a:r>
            <a:r>
              <a:rPr sz="2600" kern="1200" spc="70"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0" dirty="0">
                <a:solidFill>
                  <a:prstClr val="black"/>
                </a:solidFill>
                <a:latin typeface="Cambria Math"/>
                <a:cs typeface="Cambria Math"/>
              </a:rPr>
              <a:t> </a:t>
            </a:r>
            <a:r>
              <a:rPr sz="2600" kern="1200" dirty="0">
                <a:solidFill>
                  <a:prstClr val="black"/>
                </a:solidFill>
                <a:latin typeface="Cambria Math"/>
                <a:cs typeface="Cambria Math"/>
              </a:rPr>
              <a:t>𝛽</a:t>
            </a:r>
          </a:p>
          <a:p>
            <a:pPr marL="736600" marR="17780" lvl="1" indent="-228600" rtl="0">
              <a:lnSpc>
                <a:spcPct val="120500"/>
              </a:lnSpc>
              <a:spcBef>
                <a:spcPts val="1285"/>
              </a:spcBef>
              <a:buFont typeface="Wingdings"/>
              <a:buChar char=""/>
              <a:tabLst>
                <a:tab pos="736600" algn="l"/>
              </a:tabLst>
            </a:pPr>
            <a:r>
              <a:rPr sz="2000" kern="1200" dirty="0">
                <a:solidFill>
                  <a:prstClr val="black"/>
                </a:solidFill>
                <a:latin typeface="Palatino Linotype"/>
                <a:cs typeface="Palatino Linotype"/>
              </a:rPr>
              <a:t>It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generates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sentences starting</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with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the symbol</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𝛽</a:t>
            </a:r>
            <a:r>
              <a:rPr sz="2000" kern="1200" spc="120" dirty="0">
                <a:solidFill>
                  <a:prstClr val="black"/>
                </a:solidFill>
                <a:latin typeface="Cambria Math"/>
                <a:cs typeface="Cambria Math"/>
              </a:rPr>
              <a:t> </a:t>
            </a:r>
            <a:r>
              <a:rPr sz="2000" kern="1200" spc="-10" dirty="0">
                <a:solidFill>
                  <a:prstClr val="black"/>
                </a:solidFill>
                <a:latin typeface="Palatino Linotype"/>
                <a:cs typeface="Palatino Linotype"/>
              </a:rPr>
              <a:t>followed</a:t>
            </a:r>
            <a:r>
              <a:rPr sz="2000" kern="1200" dirty="0">
                <a:solidFill>
                  <a:prstClr val="black"/>
                </a:solidFill>
                <a:latin typeface="Palatino Linotype"/>
                <a:cs typeface="Palatino Linotype"/>
              </a:rPr>
              <a:t> by</a:t>
            </a:r>
            <a:r>
              <a:rPr sz="2000" kern="1200" spc="-5" dirty="0">
                <a:solidFill>
                  <a:prstClr val="black"/>
                </a:solidFill>
                <a:latin typeface="Palatino Linotype"/>
                <a:cs typeface="Palatino Linotype"/>
              </a:rPr>
              <a:t> zero or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more </a:t>
            </a:r>
            <a:r>
              <a:rPr sz="2000" kern="1200" spc="-130" dirty="0">
                <a:solidFill>
                  <a:prstClr val="black"/>
                </a:solidFill>
                <a:latin typeface="Cambria Math"/>
                <a:cs typeface="Cambria Math"/>
              </a:rPr>
              <a:t>𝛼</a:t>
            </a:r>
            <a:r>
              <a:rPr sz="2000" kern="1200" spc="-130" dirty="0">
                <a:solidFill>
                  <a:prstClr val="black"/>
                </a:solidFill>
                <a:latin typeface="Palatino Linotype"/>
                <a:cs typeface="Palatino Linotype"/>
              </a:rPr>
              <a:t>’s</a:t>
            </a:r>
            <a:endParaRPr sz="2000" kern="1200" dirty="0">
              <a:solidFill>
                <a:prstClr val="black"/>
              </a:solidFill>
              <a:latin typeface="Palatino Linotype"/>
              <a:cs typeface="Palatino Linotype"/>
            </a:endParaRPr>
          </a:p>
          <a:p>
            <a:pPr lvl="1" rtl="0">
              <a:spcBef>
                <a:spcPts val="45"/>
              </a:spcBef>
              <a:buFontTx/>
              <a:buChar char=""/>
            </a:pPr>
            <a:endParaRPr sz="3450" kern="1200" dirty="0">
              <a:solidFill>
                <a:prstClr val="black"/>
              </a:solidFill>
              <a:latin typeface="Palatino Linotype"/>
              <a:cs typeface="Palatino Linotype"/>
            </a:endParaRPr>
          </a:p>
          <a:p>
            <a:pPr marL="281305" indent="-230504" rtl="0">
              <a:buFont typeface="Arial MT"/>
              <a:buChar char="•"/>
              <a:tabLst>
                <a:tab pos="281305" algn="l"/>
              </a:tabLst>
            </a:pPr>
            <a:r>
              <a:rPr sz="2600" kern="1200" spc="-5" dirty="0">
                <a:solidFill>
                  <a:prstClr val="black"/>
                </a:solidFill>
                <a:latin typeface="Palatino Linotype"/>
                <a:cs typeface="Palatino Linotype"/>
              </a:rPr>
              <a:t>Replace the grammar</a:t>
            </a:r>
            <a:r>
              <a:rPr sz="2600" kern="1200" spc="-10" dirty="0">
                <a:solidFill>
                  <a:prstClr val="black"/>
                </a:solidFill>
                <a:latin typeface="Palatino Linotype"/>
                <a:cs typeface="Palatino Linotype"/>
              </a:rPr>
              <a:t> </a:t>
            </a:r>
            <a:r>
              <a:rPr sz="2600" kern="1200" spc="-5" dirty="0">
                <a:solidFill>
                  <a:prstClr val="black"/>
                </a:solidFill>
                <a:latin typeface="Palatino Linotype"/>
                <a:cs typeface="Palatino Linotype"/>
              </a:rPr>
              <a:t>by:</a:t>
            </a:r>
            <a:endParaRPr sz="2600" kern="1200" dirty="0">
              <a:solidFill>
                <a:prstClr val="black"/>
              </a:solidFill>
              <a:latin typeface="Palatino Linotype"/>
              <a:cs typeface="Palatino Linotype"/>
            </a:endParaRPr>
          </a:p>
          <a:p>
            <a:pPr marL="736600" lvl="1" indent="-228600" rtl="0">
              <a:spcBef>
                <a:spcPts val="1195"/>
              </a:spcBef>
              <a:buFont typeface="Wingdings"/>
              <a:buChar char=""/>
              <a:tabLst>
                <a:tab pos="736600" algn="l"/>
              </a:tabLst>
            </a:pPr>
            <a:r>
              <a:rPr sz="2200" kern="1200" dirty="0">
                <a:solidFill>
                  <a:prstClr val="black"/>
                </a:solidFill>
                <a:latin typeface="Cambria Math"/>
                <a:cs typeface="Cambria Math"/>
              </a:rPr>
              <a:t>𝐴</a:t>
            </a:r>
            <a:r>
              <a:rPr sz="2200" kern="1200" spc="110" dirty="0">
                <a:solidFill>
                  <a:prstClr val="black"/>
                </a:solidFill>
                <a:latin typeface="Cambria Math"/>
                <a:cs typeface="Cambria Math"/>
              </a:rPr>
              <a:t> </a:t>
            </a:r>
            <a:r>
              <a:rPr sz="2200" kern="1200" dirty="0">
                <a:solidFill>
                  <a:prstClr val="black"/>
                </a:solidFill>
                <a:latin typeface="Cambria Math"/>
                <a:cs typeface="Cambria Math"/>
              </a:rPr>
              <a:t>→</a:t>
            </a:r>
            <a:r>
              <a:rPr sz="2200" kern="1200" spc="90" dirty="0">
                <a:solidFill>
                  <a:prstClr val="black"/>
                </a:solidFill>
                <a:latin typeface="Cambria Math"/>
                <a:cs typeface="Cambria Math"/>
              </a:rPr>
              <a:t> </a:t>
            </a:r>
            <a:r>
              <a:rPr sz="2200" kern="1200" spc="-20" dirty="0">
                <a:solidFill>
                  <a:prstClr val="black"/>
                </a:solidFill>
                <a:latin typeface="Cambria Math"/>
                <a:cs typeface="Cambria Math"/>
              </a:rPr>
              <a:t>𝛽</a:t>
            </a:r>
            <a:r>
              <a:rPr lang="en-US" sz="2200" kern="1200" spc="-20" dirty="0">
                <a:solidFill>
                  <a:prstClr val="black"/>
                </a:solidFill>
                <a:latin typeface="Cambria Math"/>
                <a:cs typeface="Cambria Math"/>
              </a:rPr>
              <a:t>A'</a:t>
            </a:r>
            <a:endParaRPr sz="2400" kern="1200" baseline="27777" dirty="0">
              <a:solidFill>
                <a:prstClr val="black"/>
              </a:solidFill>
              <a:latin typeface="Cambria Math"/>
              <a:cs typeface="Cambria Math"/>
            </a:endParaRPr>
          </a:p>
          <a:p>
            <a:pPr marL="736600" lvl="1" indent="-228600" rtl="0">
              <a:spcBef>
                <a:spcPts val="1150"/>
              </a:spcBef>
              <a:buFont typeface="Wingdings"/>
              <a:buChar char=""/>
              <a:tabLst>
                <a:tab pos="736600" algn="l"/>
              </a:tabLst>
            </a:pPr>
            <a:r>
              <a:rPr lang="en-US" altLang="zh-CN" sz="2200" kern="1200" spc="-20" dirty="0">
                <a:solidFill>
                  <a:prstClr val="black"/>
                </a:solidFill>
                <a:latin typeface="Cambria Math"/>
                <a:cs typeface="Cambria Math"/>
              </a:rPr>
              <a:t>A' </a:t>
            </a:r>
            <a:r>
              <a:rPr sz="2200" kern="1200" dirty="0">
                <a:solidFill>
                  <a:prstClr val="black"/>
                </a:solidFill>
                <a:latin typeface="Cambria Math"/>
                <a:cs typeface="Cambria Math"/>
              </a:rPr>
              <a:t>→</a:t>
            </a:r>
            <a:r>
              <a:rPr sz="2200" kern="1200" spc="95" dirty="0">
                <a:solidFill>
                  <a:prstClr val="black"/>
                </a:solidFill>
                <a:latin typeface="Cambria Math"/>
                <a:cs typeface="Cambria Math"/>
              </a:rPr>
              <a:t> </a:t>
            </a:r>
            <a:r>
              <a:rPr sz="2200" kern="1200" spc="10" dirty="0">
                <a:solidFill>
                  <a:prstClr val="black"/>
                </a:solidFill>
                <a:latin typeface="Cambria Math"/>
                <a:cs typeface="Cambria Math"/>
              </a:rPr>
              <a:t>𝛼</a:t>
            </a:r>
            <a:r>
              <a:rPr lang="en-US" altLang="zh-CN" sz="2200" kern="1200" spc="-20" dirty="0">
                <a:solidFill>
                  <a:prstClr val="black"/>
                </a:solidFill>
                <a:latin typeface="Cambria Math"/>
                <a:cs typeface="Cambria Math"/>
              </a:rPr>
              <a:t>A' </a:t>
            </a:r>
            <a:r>
              <a:rPr sz="2200" kern="1200" spc="10" dirty="0">
                <a:solidFill>
                  <a:prstClr val="black"/>
                </a:solidFill>
                <a:latin typeface="Cambria Math"/>
                <a:cs typeface="Cambria Math"/>
              </a:rPr>
              <a:t>|</a:t>
            </a:r>
            <a:r>
              <a:rPr sz="2200" kern="1200" spc="-10" dirty="0">
                <a:solidFill>
                  <a:prstClr val="black"/>
                </a:solidFill>
                <a:latin typeface="Cambria Math"/>
                <a:cs typeface="Cambria Math"/>
              </a:rPr>
              <a:t> </a:t>
            </a:r>
            <a:r>
              <a:rPr sz="2200" kern="1200" dirty="0">
                <a:solidFill>
                  <a:prstClr val="black"/>
                </a:solidFill>
                <a:latin typeface="Cambria Math"/>
                <a:cs typeface="Cambria Math"/>
              </a:rPr>
              <a:t>𝜖</a:t>
            </a:r>
          </a:p>
          <a:p>
            <a:pPr marL="736600" lvl="1" indent="-228600" rtl="0">
              <a:spcBef>
                <a:spcPts val="1055"/>
              </a:spcBef>
              <a:buClr>
                <a:srgbClr val="000000"/>
              </a:buClr>
              <a:buFont typeface="Wingdings"/>
              <a:buChar char=""/>
              <a:tabLst>
                <a:tab pos="736600" algn="l"/>
              </a:tabLst>
            </a:pPr>
            <a:r>
              <a:rPr sz="2200" kern="1200" spc="-5" dirty="0">
                <a:solidFill>
                  <a:srgbClr val="FF0000"/>
                </a:solidFill>
                <a:latin typeface="Palatino Linotype"/>
                <a:cs typeface="Palatino Linotype"/>
              </a:rPr>
              <a:t>It</a:t>
            </a:r>
            <a:r>
              <a:rPr sz="2200" kern="1200" spc="-15" dirty="0">
                <a:solidFill>
                  <a:srgbClr val="FF0000"/>
                </a:solidFill>
                <a:latin typeface="Palatino Linotype"/>
                <a:cs typeface="Palatino Linotype"/>
              </a:rPr>
              <a:t> </a:t>
            </a:r>
            <a:r>
              <a:rPr sz="2200" kern="1200" spc="-5" dirty="0">
                <a:solidFill>
                  <a:srgbClr val="FF0000"/>
                </a:solidFill>
                <a:latin typeface="Palatino Linotype"/>
                <a:cs typeface="Palatino Linotype"/>
              </a:rPr>
              <a:t>is</a:t>
            </a:r>
            <a:r>
              <a:rPr sz="2200" kern="1200" dirty="0">
                <a:solidFill>
                  <a:srgbClr val="FF0000"/>
                </a:solidFill>
                <a:latin typeface="Palatino Linotype"/>
                <a:cs typeface="Palatino Linotype"/>
              </a:rPr>
              <a:t> </a:t>
            </a:r>
            <a:r>
              <a:rPr sz="2200" kern="1200" spc="-5" dirty="0">
                <a:solidFill>
                  <a:srgbClr val="FF0000"/>
                </a:solidFill>
                <a:latin typeface="Palatino Linotype"/>
                <a:cs typeface="Palatino Linotype"/>
              </a:rPr>
              <a:t>right</a:t>
            </a:r>
            <a:r>
              <a:rPr sz="2200" kern="1200" spc="-10" dirty="0">
                <a:solidFill>
                  <a:srgbClr val="FF0000"/>
                </a:solidFill>
                <a:latin typeface="Palatino Linotype"/>
                <a:cs typeface="Palatino Linotype"/>
              </a:rPr>
              <a:t> recursive</a:t>
            </a:r>
            <a:r>
              <a:rPr sz="2200" kern="1200" spc="-15" dirty="0">
                <a:solidFill>
                  <a:srgbClr val="FF0000"/>
                </a:solidFill>
                <a:latin typeface="Palatino Linotype"/>
                <a:cs typeface="Palatino Linotype"/>
              </a:rPr>
              <a:t> </a:t>
            </a:r>
            <a:r>
              <a:rPr sz="2200" kern="1200" spc="-5" dirty="0">
                <a:solidFill>
                  <a:srgbClr val="FF0000"/>
                </a:solidFill>
                <a:latin typeface="Palatino Linotype"/>
                <a:cs typeface="Palatino Linotype"/>
              </a:rPr>
              <a:t>now</a:t>
            </a:r>
            <a:endParaRPr sz="2200" kern="1200" dirty="0">
              <a:solidFill>
                <a:prstClr val="black"/>
              </a:solidFill>
              <a:latin typeface="Palatino Linotype"/>
              <a:cs typeface="Palatino Linotype"/>
            </a:endParaRPr>
          </a:p>
        </p:txBody>
      </p:sp>
      <p:pic>
        <p:nvPicPr>
          <p:cNvPr id="12" name="object 5">
            <a:extLst>
              <a:ext uri="{FF2B5EF4-FFF2-40B4-BE49-F238E27FC236}">
                <a16:creationId xmlns:a16="http://schemas.microsoft.com/office/drawing/2014/main" id="{62020B94-8B03-5577-2C6F-26FF38C1EFD6}"/>
              </a:ext>
            </a:extLst>
          </p:cNvPr>
          <p:cNvPicPr/>
          <p:nvPr/>
        </p:nvPicPr>
        <p:blipFill>
          <a:blip r:embed="rId4" cstate="print"/>
          <a:stretch>
            <a:fillRect/>
          </a:stretch>
        </p:blipFill>
        <p:spPr>
          <a:xfrm>
            <a:off x="5279932" y="3923991"/>
            <a:ext cx="2356035" cy="2154011"/>
          </a:xfrm>
          <a:prstGeom prst="rect">
            <a:avLst/>
          </a:prstGeom>
        </p:spPr>
      </p:pic>
      <p:pic>
        <p:nvPicPr>
          <p:cNvPr id="21" name="图片 20">
            <a:extLst>
              <a:ext uri="{FF2B5EF4-FFF2-40B4-BE49-F238E27FC236}">
                <a16:creationId xmlns:a16="http://schemas.microsoft.com/office/drawing/2014/main" id="{8FC20EF5-4AE2-4FA9-B5D6-42C812C38AEE}"/>
              </a:ext>
            </a:extLst>
          </p:cNvPr>
          <p:cNvPicPr>
            <a:picLocks noChangeAspect="1"/>
          </p:cNvPicPr>
          <p:nvPr/>
        </p:nvPicPr>
        <p:blipFill>
          <a:blip r:embed="rId5"/>
          <a:stretch>
            <a:fillRect/>
          </a:stretch>
        </p:blipFill>
        <p:spPr>
          <a:xfrm>
            <a:off x="7707589" y="1621013"/>
            <a:ext cx="792655" cy="244885"/>
          </a:xfrm>
          <a:prstGeom prst="rect">
            <a:avLst/>
          </a:prstGeom>
        </p:spPr>
      </p:pic>
      <p:pic>
        <p:nvPicPr>
          <p:cNvPr id="22" name="图片 21">
            <a:extLst>
              <a:ext uri="{FF2B5EF4-FFF2-40B4-BE49-F238E27FC236}">
                <a16:creationId xmlns:a16="http://schemas.microsoft.com/office/drawing/2014/main" id="{D080316A-F0CC-4053-99D0-FAD4CC7FC20C}"/>
              </a:ext>
            </a:extLst>
          </p:cNvPr>
          <p:cNvPicPr>
            <a:picLocks noChangeAspect="1"/>
          </p:cNvPicPr>
          <p:nvPr/>
        </p:nvPicPr>
        <p:blipFill>
          <a:blip r:embed="rId6"/>
          <a:stretch>
            <a:fillRect/>
          </a:stretch>
        </p:blipFill>
        <p:spPr>
          <a:xfrm>
            <a:off x="7916628" y="2028605"/>
            <a:ext cx="779766" cy="225552"/>
          </a:xfrm>
          <a:prstGeom prst="rect">
            <a:avLst/>
          </a:prstGeom>
        </p:spPr>
      </p:pic>
      <p:pic>
        <p:nvPicPr>
          <p:cNvPr id="23" name="图片 22">
            <a:extLst>
              <a:ext uri="{FF2B5EF4-FFF2-40B4-BE49-F238E27FC236}">
                <a16:creationId xmlns:a16="http://schemas.microsoft.com/office/drawing/2014/main" id="{FFDA49BF-2DAB-47BB-B95A-7D17E6439C9A}"/>
              </a:ext>
            </a:extLst>
          </p:cNvPr>
          <p:cNvPicPr>
            <a:picLocks noChangeAspect="1"/>
          </p:cNvPicPr>
          <p:nvPr/>
        </p:nvPicPr>
        <p:blipFill>
          <a:blip r:embed="rId7"/>
          <a:stretch>
            <a:fillRect/>
          </a:stretch>
        </p:blipFill>
        <p:spPr>
          <a:xfrm>
            <a:off x="7875271" y="2475113"/>
            <a:ext cx="1082651" cy="747545"/>
          </a:xfrm>
          <a:prstGeom prst="rect">
            <a:avLst/>
          </a:prstGeom>
        </p:spPr>
      </p:pic>
      <p:pic>
        <p:nvPicPr>
          <p:cNvPr id="24" name="图片 23">
            <a:extLst>
              <a:ext uri="{FF2B5EF4-FFF2-40B4-BE49-F238E27FC236}">
                <a16:creationId xmlns:a16="http://schemas.microsoft.com/office/drawing/2014/main" id="{BDABE58D-4609-4579-B267-D6CBD604EBE1}"/>
              </a:ext>
            </a:extLst>
          </p:cNvPr>
          <p:cNvPicPr>
            <a:picLocks noChangeAspect="1"/>
          </p:cNvPicPr>
          <p:nvPr/>
        </p:nvPicPr>
        <p:blipFill>
          <a:blip r:embed="rId8"/>
          <a:stretch>
            <a:fillRect/>
          </a:stretch>
        </p:blipFill>
        <p:spPr>
          <a:xfrm>
            <a:off x="7868506" y="3479806"/>
            <a:ext cx="1037540" cy="238441"/>
          </a:xfrm>
          <a:prstGeom prst="rect">
            <a:avLst/>
          </a:prstGeom>
        </p:spPr>
      </p:pic>
      <p:pic>
        <p:nvPicPr>
          <p:cNvPr id="25" name="图片 24">
            <a:extLst>
              <a:ext uri="{FF2B5EF4-FFF2-40B4-BE49-F238E27FC236}">
                <a16:creationId xmlns:a16="http://schemas.microsoft.com/office/drawing/2014/main" id="{20411397-E261-44D5-AFB5-09095B0ABC81}"/>
              </a:ext>
            </a:extLst>
          </p:cNvPr>
          <p:cNvPicPr>
            <a:picLocks noChangeAspect="1"/>
          </p:cNvPicPr>
          <p:nvPr/>
        </p:nvPicPr>
        <p:blipFill>
          <a:blip r:embed="rId9"/>
          <a:stretch>
            <a:fillRect/>
          </a:stretch>
        </p:blipFill>
        <p:spPr>
          <a:xfrm>
            <a:off x="7594621" y="3880954"/>
            <a:ext cx="992430" cy="251330"/>
          </a:xfrm>
          <a:prstGeom prst="rect">
            <a:avLst/>
          </a:prstGeom>
        </p:spPr>
      </p:pic>
      <p:pic>
        <p:nvPicPr>
          <p:cNvPr id="26" name="图片 25">
            <a:extLst>
              <a:ext uri="{FF2B5EF4-FFF2-40B4-BE49-F238E27FC236}">
                <a16:creationId xmlns:a16="http://schemas.microsoft.com/office/drawing/2014/main" id="{96AEA70C-08B5-4FE7-B8A7-BEEEEDB7D11C}"/>
              </a:ext>
            </a:extLst>
          </p:cNvPr>
          <p:cNvPicPr>
            <a:picLocks noChangeAspect="1"/>
          </p:cNvPicPr>
          <p:nvPr/>
        </p:nvPicPr>
        <p:blipFill>
          <a:blip r:embed="rId10"/>
          <a:stretch>
            <a:fillRect/>
          </a:stretch>
        </p:blipFill>
        <p:spPr>
          <a:xfrm>
            <a:off x="7999067" y="4279115"/>
            <a:ext cx="882876" cy="257774"/>
          </a:xfrm>
          <a:prstGeom prst="rect">
            <a:avLst/>
          </a:prstGeom>
        </p:spPr>
      </p:pic>
      <p:pic>
        <p:nvPicPr>
          <p:cNvPr id="27" name="图片 26">
            <a:extLst>
              <a:ext uri="{FF2B5EF4-FFF2-40B4-BE49-F238E27FC236}">
                <a16:creationId xmlns:a16="http://schemas.microsoft.com/office/drawing/2014/main" id="{7D2200DF-CCFF-4424-A45D-625966369A3E}"/>
              </a:ext>
            </a:extLst>
          </p:cNvPr>
          <p:cNvPicPr>
            <a:picLocks noChangeAspect="1"/>
          </p:cNvPicPr>
          <p:nvPr/>
        </p:nvPicPr>
        <p:blipFill>
          <a:blip r:embed="rId11"/>
          <a:stretch>
            <a:fillRect/>
          </a:stretch>
        </p:blipFill>
        <p:spPr>
          <a:xfrm>
            <a:off x="7999066" y="4699596"/>
            <a:ext cx="1108428" cy="650879"/>
          </a:xfrm>
          <a:prstGeom prst="rect">
            <a:avLst/>
          </a:prstGeom>
        </p:spPr>
      </p:pic>
      <p:pic>
        <p:nvPicPr>
          <p:cNvPr id="28" name="图片 27">
            <a:extLst>
              <a:ext uri="{FF2B5EF4-FFF2-40B4-BE49-F238E27FC236}">
                <a16:creationId xmlns:a16="http://schemas.microsoft.com/office/drawing/2014/main" id="{40D9F15B-C036-4635-8FE8-70E0A7AFBD3C}"/>
              </a:ext>
            </a:extLst>
          </p:cNvPr>
          <p:cNvPicPr>
            <a:picLocks noChangeAspect="1"/>
          </p:cNvPicPr>
          <p:nvPr/>
        </p:nvPicPr>
        <p:blipFill>
          <a:blip r:embed="rId12"/>
          <a:stretch>
            <a:fillRect/>
          </a:stretch>
        </p:blipFill>
        <p:spPr>
          <a:xfrm>
            <a:off x="8090836" y="5601868"/>
            <a:ext cx="921542" cy="219108"/>
          </a:xfrm>
          <a:prstGeom prst="rect">
            <a:avLst/>
          </a:prstGeom>
        </p:spPr>
      </p:pic>
    </p:spTree>
    <p:extLst>
      <p:ext uri="{BB962C8B-B14F-4D97-AF65-F5344CB8AC3E}">
        <p14:creationId xmlns:p14="http://schemas.microsoft.com/office/powerpoint/2010/main" val="372048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32</a:t>
            </a:fld>
            <a:endParaRPr lang="en-US"/>
          </a:p>
        </p:txBody>
      </p:sp>
      <p:sp>
        <p:nvSpPr>
          <p:cNvPr id="17" name="object 2">
            <a:extLst>
              <a:ext uri="{FF2B5EF4-FFF2-40B4-BE49-F238E27FC236}">
                <a16:creationId xmlns:a16="http://schemas.microsoft.com/office/drawing/2014/main" id="{830D4FFF-647F-0807-757A-F61FA192B074}"/>
              </a:ext>
            </a:extLst>
          </p:cNvPr>
          <p:cNvSpPr txBox="1">
            <a:spLocks/>
          </p:cNvSpPr>
          <p:nvPr/>
        </p:nvSpPr>
        <p:spPr>
          <a:xfrm>
            <a:off x="707390" y="579627"/>
            <a:ext cx="7615555" cy="54356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400" b="1" i="0" u="none" strike="noStrike" kern="0" cap="none" spc="0" normalizeH="0" baseline="0" noProof="0">
                <a:ln>
                  <a:noFill/>
                </a:ln>
                <a:solidFill>
                  <a:sysClr val="windowText" lastClr="000000"/>
                </a:solidFill>
                <a:effectLst/>
                <a:uLnTx/>
                <a:uFillTx/>
                <a:latin typeface="Palatino Linotype"/>
                <a:ea typeface="+mj-ea"/>
              </a:rPr>
              <a:t>Eliminating</a:t>
            </a:r>
            <a:r>
              <a:rPr kumimoji="0" lang="en-US" sz="3400" b="1" i="0" u="none" strike="noStrike" kern="0" cap="none" spc="-20" normalizeH="0" baseline="0" noProof="0">
                <a:ln>
                  <a:noFill/>
                </a:ln>
                <a:solidFill>
                  <a:sysClr val="windowText" lastClr="000000"/>
                </a:solidFill>
                <a:effectLst/>
                <a:uLnTx/>
                <a:uFillTx/>
                <a:latin typeface="Palatino Linotype"/>
                <a:ea typeface="+mj-ea"/>
              </a:rPr>
              <a:t> </a:t>
            </a:r>
            <a:r>
              <a:rPr kumimoji="0" lang="en-US" sz="3400" b="1" i="0" u="none" strike="noStrike" kern="0" cap="none" spc="0" normalizeH="0" baseline="0" noProof="0">
                <a:ln>
                  <a:noFill/>
                </a:ln>
                <a:solidFill>
                  <a:sysClr val="windowText" lastClr="000000"/>
                </a:solidFill>
                <a:effectLst/>
                <a:uLnTx/>
                <a:uFillTx/>
                <a:latin typeface="Palatino Linotype"/>
                <a:ea typeface="+mj-ea"/>
              </a:rPr>
              <a:t>Immediate</a:t>
            </a:r>
            <a:r>
              <a:rPr kumimoji="0" lang="en-US" sz="3400" b="1" i="0" u="none" strike="noStrike" kern="0" cap="none" spc="-15" normalizeH="0" baseline="0" noProof="0">
                <a:ln>
                  <a:noFill/>
                </a:ln>
                <a:solidFill>
                  <a:sysClr val="windowText" lastClr="000000"/>
                </a:solidFill>
                <a:effectLst/>
                <a:uLnTx/>
                <a:uFillTx/>
                <a:latin typeface="Palatino Linotype"/>
                <a:ea typeface="+mj-ea"/>
              </a:rPr>
              <a:t> </a:t>
            </a:r>
            <a:r>
              <a:rPr kumimoji="0" lang="en-US" sz="3400" b="1" i="0" u="none" strike="noStrike" kern="0" cap="none" spc="0" normalizeH="0" baseline="0" noProof="0">
                <a:ln>
                  <a:noFill/>
                </a:ln>
                <a:solidFill>
                  <a:sysClr val="windowText" lastClr="000000"/>
                </a:solidFill>
                <a:effectLst/>
                <a:uLnTx/>
                <a:uFillTx/>
                <a:latin typeface="Palatino Linotype"/>
                <a:ea typeface="+mj-ea"/>
              </a:rPr>
              <a:t>Left</a:t>
            </a:r>
            <a:r>
              <a:rPr kumimoji="0" lang="en-US" sz="3400" b="1" i="0" u="none" strike="noStrike" kern="0" cap="none" spc="-10" normalizeH="0" baseline="0" noProof="0">
                <a:ln>
                  <a:noFill/>
                </a:ln>
                <a:solidFill>
                  <a:sysClr val="windowText" lastClr="000000"/>
                </a:solidFill>
                <a:effectLst/>
                <a:uLnTx/>
                <a:uFillTx/>
                <a:latin typeface="Palatino Linotype"/>
                <a:ea typeface="+mj-ea"/>
              </a:rPr>
              <a:t> </a:t>
            </a:r>
            <a:r>
              <a:rPr kumimoji="0" lang="en-US" sz="3400" b="1" i="0" u="none" strike="noStrike" kern="0" cap="none" spc="-5" normalizeH="0" baseline="0" noProof="0">
                <a:ln>
                  <a:noFill/>
                </a:ln>
                <a:solidFill>
                  <a:sysClr val="windowText" lastClr="000000"/>
                </a:solidFill>
                <a:effectLst/>
                <a:uLnTx/>
                <a:uFillTx/>
                <a:latin typeface="Palatino Linotype"/>
                <a:ea typeface="+mj-ea"/>
              </a:rPr>
              <a:t>Recursion</a:t>
            </a:r>
            <a:endParaRPr kumimoji="0" lang="en-US" sz="34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8" name="object 3">
            <a:extLst>
              <a:ext uri="{FF2B5EF4-FFF2-40B4-BE49-F238E27FC236}">
                <a16:creationId xmlns:a16="http://schemas.microsoft.com/office/drawing/2014/main" id="{7081EBFA-09A2-EFB1-03CE-6967FABA3B0B}"/>
              </a:ext>
            </a:extLst>
          </p:cNvPr>
          <p:cNvSpPr/>
          <p:nvPr/>
        </p:nvSpPr>
        <p:spPr>
          <a:xfrm>
            <a:off x="5278128" y="1757210"/>
            <a:ext cx="25400" cy="300355"/>
          </a:xfrm>
          <a:custGeom>
            <a:avLst/>
            <a:gdLst/>
            <a:ahLst/>
            <a:cxnLst/>
            <a:rect l="l" t="t" r="r" b="b"/>
            <a:pathLst>
              <a:path w="25400" h="300355">
                <a:moveTo>
                  <a:pt x="24829" y="0"/>
                </a:moveTo>
                <a:lnTo>
                  <a:pt x="0" y="0"/>
                </a:lnTo>
                <a:lnTo>
                  <a:pt x="0" y="300050"/>
                </a:lnTo>
                <a:lnTo>
                  <a:pt x="24829" y="300050"/>
                </a:lnTo>
                <a:lnTo>
                  <a:pt x="2482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4">
            <a:extLst>
              <a:ext uri="{FF2B5EF4-FFF2-40B4-BE49-F238E27FC236}">
                <a16:creationId xmlns:a16="http://schemas.microsoft.com/office/drawing/2014/main" id="{6B46472E-1308-3746-2A37-73CCC65ABC36}"/>
              </a:ext>
            </a:extLst>
          </p:cNvPr>
          <p:cNvSpPr/>
          <p:nvPr/>
        </p:nvSpPr>
        <p:spPr>
          <a:xfrm>
            <a:off x="4870967" y="1757210"/>
            <a:ext cx="25400" cy="300355"/>
          </a:xfrm>
          <a:custGeom>
            <a:avLst/>
            <a:gdLst/>
            <a:ahLst/>
            <a:cxnLst/>
            <a:rect l="l" t="t" r="r" b="b"/>
            <a:pathLst>
              <a:path w="25400" h="300355">
                <a:moveTo>
                  <a:pt x="24829" y="0"/>
                </a:moveTo>
                <a:lnTo>
                  <a:pt x="0" y="0"/>
                </a:lnTo>
                <a:lnTo>
                  <a:pt x="0" y="300050"/>
                </a:lnTo>
                <a:lnTo>
                  <a:pt x="24829" y="300050"/>
                </a:lnTo>
                <a:lnTo>
                  <a:pt x="2482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5">
            <a:extLst>
              <a:ext uri="{FF2B5EF4-FFF2-40B4-BE49-F238E27FC236}">
                <a16:creationId xmlns:a16="http://schemas.microsoft.com/office/drawing/2014/main" id="{E5B995D7-135C-752C-CF7C-92D959A97D69}"/>
              </a:ext>
            </a:extLst>
          </p:cNvPr>
          <p:cNvSpPr/>
          <p:nvPr/>
        </p:nvSpPr>
        <p:spPr>
          <a:xfrm>
            <a:off x="6758504" y="1757210"/>
            <a:ext cx="25400" cy="300355"/>
          </a:xfrm>
          <a:custGeom>
            <a:avLst/>
            <a:gdLst/>
            <a:ahLst/>
            <a:cxnLst/>
            <a:rect l="l" t="t" r="r" b="b"/>
            <a:pathLst>
              <a:path w="25400" h="300355">
                <a:moveTo>
                  <a:pt x="24829" y="0"/>
                </a:moveTo>
                <a:lnTo>
                  <a:pt x="0" y="0"/>
                </a:lnTo>
                <a:lnTo>
                  <a:pt x="0" y="300050"/>
                </a:lnTo>
                <a:lnTo>
                  <a:pt x="24829" y="300050"/>
                </a:lnTo>
                <a:lnTo>
                  <a:pt x="2482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1" name="object 6">
            <a:extLst>
              <a:ext uri="{FF2B5EF4-FFF2-40B4-BE49-F238E27FC236}">
                <a16:creationId xmlns:a16="http://schemas.microsoft.com/office/drawing/2014/main" id="{D9F0956D-4D22-762D-1948-E168294369F9}"/>
              </a:ext>
            </a:extLst>
          </p:cNvPr>
          <p:cNvSpPr/>
          <p:nvPr/>
        </p:nvSpPr>
        <p:spPr>
          <a:xfrm>
            <a:off x="6183130" y="1757210"/>
            <a:ext cx="25400" cy="300355"/>
          </a:xfrm>
          <a:custGeom>
            <a:avLst/>
            <a:gdLst/>
            <a:ahLst/>
            <a:cxnLst/>
            <a:rect l="l" t="t" r="r" b="b"/>
            <a:pathLst>
              <a:path w="25400" h="300355">
                <a:moveTo>
                  <a:pt x="24829" y="0"/>
                </a:moveTo>
                <a:lnTo>
                  <a:pt x="0" y="0"/>
                </a:lnTo>
                <a:lnTo>
                  <a:pt x="0" y="300050"/>
                </a:lnTo>
                <a:lnTo>
                  <a:pt x="24829" y="300050"/>
                </a:lnTo>
                <a:lnTo>
                  <a:pt x="2482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7">
            <a:extLst>
              <a:ext uri="{FF2B5EF4-FFF2-40B4-BE49-F238E27FC236}">
                <a16:creationId xmlns:a16="http://schemas.microsoft.com/office/drawing/2014/main" id="{4F4F0F8E-C41A-7E28-7B94-724A2FB9A78A}"/>
              </a:ext>
            </a:extLst>
          </p:cNvPr>
          <p:cNvSpPr txBox="1"/>
          <p:nvPr/>
        </p:nvSpPr>
        <p:spPr>
          <a:xfrm>
            <a:off x="694690" y="1659636"/>
            <a:ext cx="7025640" cy="1284605"/>
          </a:xfrm>
          <a:prstGeom prst="rect">
            <a:avLst/>
          </a:prstGeom>
        </p:spPr>
        <p:txBody>
          <a:bodyPr vert="horz" wrap="square" lIns="0" tIns="12700" rIns="0" bIns="0" rtlCol="0">
            <a:spAutoFit/>
          </a:bodyPr>
          <a:lstStyle/>
          <a:p>
            <a:pPr marL="255904" indent="-230504" rtl="0">
              <a:spcBef>
                <a:spcPts val="100"/>
              </a:spcBef>
              <a:buClr>
                <a:srgbClr val="000000"/>
              </a:buClr>
              <a:buFont typeface="Arial MT"/>
              <a:buChar char="•"/>
              <a:tabLst>
                <a:tab pos="255904" algn="l"/>
                <a:tab pos="4240530" algn="l"/>
                <a:tab pos="4720590" algn="l"/>
                <a:tab pos="5625465" algn="l"/>
                <a:tab pos="6182995" algn="l"/>
              </a:tabLst>
            </a:pPr>
            <a:r>
              <a:rPr sz="2600" kern="1200" spc="-10" dirty="0">
                <a:solidFill>
                  <a:srgbClr val="0432FF"/>
                </a:solidFill>
                <a:latin typeface="Palatino Linotype"/>
                <a:cs typeface="Palatino Linotype"/>
              </a:rPr>
              <a:t>T</a:t>
            </a:r>
            <a:r>
              <a:rPr sz="2600" kern="1200" spc="-5" dirty="0">
                <a:solidFill>
                  <a:srgbClr val="0432FF"/>
                </a:solidFill>
                <a:latin typeface="Palatino Linotype"/>
                <a:cs typeface="Palatino Linotype"/>
              </a:rPr>
              <a:t>h</a:t>
            </a:r>
            <a:r>
              <a:rPr sz="2600" kern="1200" dirty="0">
                <a:solidFill>
                  <a:srgbClr val="0432FF"/>
                </a:solidFill>
                <a:latin typeface="Palatino Linotype"/>
                <a:cs typeface="Palatino Linotype"/>
              </a:rPr>
              <a:t>e ge</a:t>
            </a:r>
            <a:r>
              <a:rPr sz="2600" kern="1200" spc="-5" dirty="0">
                <a:solidFill>
                  <a:srgbClr val="0432FF"/>
                </a:solidFill>
                <a:latin typeface="Palatino Linotype"/>
                <a:cs typeface="Palatino Linotype"/>
              </a:rPr>
              <a:t>n</a:t>
            </a:r>
            <a:r>
              <a:rPr sz="2600" kern="1200" dirty="0">
                <a:solidFill>
                  <a:srgbClr val="0432FF"/>
                </a:solidFill>
                <a:latin typeface="Palatino Linotype"/>
                <a:cs typeface="Palatino Linotype"/>
              </a:rPr>
              <a:t>e</a:t>
            </a:r>
            <a:r>
              <a:rPr sz="2600" kern="1200" spc="-5" dirty="0">
                <a:solidFill>
                  <a:srgbClr val="0432FF"/>
                </a:solidFill>
                <a:latin typeface="Palatino Linotype"/>
                <a:cs typeface="Palatino Linotype"/>
              </a:rPr>
              <a:t>r</a:t>
            </a:r>
            <a:r>
              <a:rPr sz="2600" kern="1200" dirty="0">
                <a:solidFill>
                  <a:srgbClr val="0432FF"/>
                </a:solidFill>
                <a:latin typeface="Palatino Linotype"/>
                <a:cs typeface="Palatino Linotype"/>
              </a:rPr>
              <a:t>al</a:t>
            </a:r>
            <a:r>
              <a:rPr sz="2600" kern="1200" spc="5" dirty="0">
                <a:solidFill>
                  <a:srgbClr val="0432FF"/>
                </a:solidFill>
                <a:latin typeface="Palatino Linotype"/>
                <a:cs typeface="Palatino Linotype"/>
              </a:rPr>
              <a:t> </a:t>
            </a:r>
            <a:r>
              <a:rPr sz="2600" kern="1200" spc="-5" dirty="0">
                <a:solidFill>
                  <a:srgbClr val="0432FF"/>
                </a:solidFill>
                <a:latin typeface="Palatino Linotype"/>
                <a:cs typeface="Palatino Linotype"/>
              </a:rPr>
              <a:t>c</a:t>
            </a:r>
            <a:r>
              <a:rPr sz="2600" kern="1200" dirty="0">
                <a:solidFill>
                  <a:srgbClr val="0432FF"/>
                </a:solidFill>
                <a:latin typeface="Palatino Linotype"/>
                <a:cs typeface="Palatino Linotype"/>
              </a:rPr>
              <a:t>a</a:t>
            </a:r>
            <a:r>
              <a:rPr sz="2600" kern="1200" spc="-5" dirty="0">
                <a:solidFill>
                  <a:srgbClr val="0432FF"/>
                </a:solidFill>
                <a:latin typeface="Palatino Linotype"/>
                <a:cs typeface="Palatino Linotype"/>
              </a:rPr>
              <a:t>s</a:t>
            </a:r>
            <a:r>
              <a:rPr sz="2600" kern="1200" dirty="0">
                <a:solidFill>
                  <a:srgbClr val="0432FF"/>
                </a:solidFill>
                <a:latin typeface="Palatino Linotype"/>
                <a:cs typeface="Palatino Linotype"/>
              </a:rPr>
              <a:t>e: </a:t>
            </a:r>
            <a:r>
              <a:rPr sz="2600" kern="1200" dirty="0">
                <a:solidFill>
                  <a:prstClr val="black"/>
                </a:solidFill>
                <a:latin typeface="Cambria Math"/>
                <a:cs typeface="Cambria Math"/>
              </a:rPr>
              <a:t>𝐴</a:t>
            </a:r>
            <a:r>
              <a:rPr sz="2600" kern="1200" spc="17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45" dirty="0">
                <a:solidFill>
                  <a:prstClr val="black"/>
                </a:solidFill>
                <a:latin typeface="Cambria Math"/>
                <a:cs typeface="Cambria Math"/>
              </a:rPr>
              <a:t> </a:t>
            </a:r>
            <a:r>
              <a:rPr sz="2600" kern="1200" spc="25" dirty="0">
                <a:solidFill>
                  <a:prstClr val="black"/>
                </a:solidFill>
                <a:latin typeface="Cambria Math"/>
                <a:cs typeface="Cambria Math"/>
              </a:rPr>
              <a:t>𝐴</a:t>
            </a:r>
            <a:r>
              <a:rPr sz="2600" kern="1200" spc="-60" dirty="0">
                <a:solidFill>
                  <a:prstClr val="black"/>
                </a:solidFill>
                <a:latin typeface="Cambria Math"/>
                <a:cs typeface="Cambria Math"/>
              </a:rPr>
              <a:t>𝛼</a:t>
            </a:r>
            <a:r>
              <a:rPr sz="2850" kern="1200" spc="67" baseline="-16081" dirty="0">
                <a:solidFill>
                  <a:prstClr val="black"/>
                </a:solidFill>
                <a:latin typeface="Cambria Math"/>
                <a:cs typeface="Cambria Math"/>
              </a:rPr>
              <a:t>1</a:t>
            </a:r>
            <a:r>
              <a:rPr sz="2850" kern="1200" baseline="-16081" dirty="0">
                <a:solidFill>
                  <a:prstClr val="black"/>
                </a:solidFill>
                <a:latin typeface="Cambria Math"/>
                <a:cs typeface="Cambria Math"/>
              </a:rPr>
              <a:t>	</a:t>
            </a:r>
            <a:r>
              <a:rPr sz="2600" kern="1200" dirty="0">
                <a:solidFill>
                  <a:prstClr val="black"/>
                </a:solidFill>
                <a:latin typeface="Cambria Math"/>
                <a:cs typeface="Cambria Math"/>
              </a:rPr>
              <a:t>…	</a:t>
            </a:r>
            <a:r>
              <a:rPr sz="2600" kern="1200" spc="25" dirty="0">
                <a:solidFill>
                  <a:prstClr val="black"/>
                </a:solidFill>
                <a:latin typeface="Cambria Math"/>
                <a:cs typeface="Cambria Math"/>
              </a:rPr>
              <a:t>𝐴</a:t>
            </a:r>
            <a:r>
              <a:rPr sz="2600" kern="1200" dirty="0">
                <a:solidFill>
                  <a:prstClr val="black"/>
                </a:solidFill>
                <a:latin typeface="Cambria Math"/>
                <a:cs typeface="Cambria Math"/>
              </a:rPr>
              <a:t>𝛼</a:t>
            </a:r>
            <a:r>
              <a:rPr sz="2850" kern="1200" spc="322" baseline="-16081" dirty="0">
                <a:solidFill>
                  <a:prstClr val="black"/>
                </a:solidFill>
                <a:latin typeface="Cambria Math"/>
                <a:cs typeface="Cambria Math"/>
              </a:rPr>
              <a:t>𝑚</a:t>
            </a:r>
            <a:r>
              <a:rPr sz="2850" kern="1200" baseline="-16081" dirty="0">
                <a:solidFill>
                  <a:prstClr val="black"/>
                </a:solidFill>
                <a:latin typeface="Cambria Math"/>
                <a:cs typeface="Cambria Math"/>
              </a:rPr>
              <a:t>	</a:t>
            </a:r>
            <a:r>
              <a:rPr sz="2600" kern="1200" spc="-229" dirty="0">
                <a:solidFill>
                  <a:prstClr val="black"/>
                </a:solidFill>
                <a:latin typeface="Cambria Math"/>
                <a:cs typeface="Cambria Math"/>
              </a:rPr>
              <a:t>𝛽</a:t>
            </a:r>
            <a:r>
              <a:rPr sz="2850" kern="1200" spc="67" baseline="-16081" dirty="0">
                <a:solidFill>
                  <a:prstClr val="black"/>
                </a:solidFill>
                <a:latin typeface="Cambria Math"/>
                <a:cs typeface="Cambria Math"/>
              </a:rPr>
              <a:t>1</a:t>
            </a:r>
            <a:r>
              <a:rPr sz="2850" kern="1200" baseline="-16081"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45" dirty="0">
                <a:solidFill>
                  <a:prstClr val="black"/>
                </a:solidFill>
                <a:latin typeface="Cambria Math"/>
                <a:cs typeface="Cambria Math"/>
              </a:rPr>
              <a:t> </a:t>
            </a:r>
            <a:r>
              <a:rPr sz="2600" kern="1200" dirty="0">
                <a:solidFill>
                  <a:prstClr val="black"/>
                </a:solidFill>
                <a:latin typeface="Cambria Math"/>
                <a:cs typeface="Cambria Math"/>
              </a:rPr>
              <a:t>| </a:t>
            </a:r>
            <a:r>
              <a:rPr sz="2600" kern="1200" spc="-170" dirty="0">
                <a:solidFill>
                  <a:prstClr val="black"/>
                </a:solidFill>
                <a:latin typeface="Cambria Math"/>
                <a:cs typeface="Cambria Math"/>
              </a:rPr>
              <a:t>𝛽</a:t>
            </a:r>
            <a:r>
              <a:rPr sz="2850" kern="1200" spc="375" baseline="-16081" dirty="0">
                <a:solidFill>
                  <a:prstClr val="black"/>
                </a:solidFill>
                <a:latin typeface="Cambria Math"/>
                <a:cs typeface="Cambria Math"/>
              </a:rPr>
              <a:t>𝑛</a:t>
            </a:r>
            <a:endParaRPr sz="2850" kern="1200" baseline="-16081" dirty="0">
              <a:solidFill>
                <a:prstClr val="black"/>
              </a:solidFill>
              <a:latin typeface="Cambria Math"/>
              <a:cs typeface="Cambria Math"/>
            </a:endParaRPr>
          </a:p>
          <a:p>
            <a:pPr rtl="0">
              <a:spcBef>
                <a:spcPts val="35"/>
              </a:spcBef>
              <a:buFont typeface="Arial MT"/>
              <a:buChar char="•"/>
            </a:pPr>
            <a:endParaRPr sz="3100" kern="1200" dirty="0">
              <a:solidFill>
                <a:prstClr val="black"/>
              </a:solidFill>
              <a:latin typeface="Cambria Math"/>
              <a:cs typeface="Cambria Math"/>
            </a:endParaRPr>
          </a:p>
          <a:p>
            <a:pPr marL="255904" indent="-230504" rtl="0">
              <a:buFont typeface="Arial MT"/>
              <a:buChar char="•"/>
              <a:tabLst>
                <a:tab pos="255904" algn="l"/>
              </a:tabLst>
            </a:pPr>
            <a:r>
              <a:rPr sz="2600" kern="1200" spc="-5" dirty="0">
                <a:solidFill>
                  <a:prstClr val="black"/>
                </a:solidFill>
                <a:latin typeface="Palatino Linotype"/>
                <a:cs typeface="Palatino Linotype"/>
              </a:rPr>
              <a:t>Replace the grammar</a:t>
            </a:r>
            <a:r>
              <a:rPr sz="2600" kern="1200" spc="-10" dirty="0">
                <a:solidFill>
                  <a:prstClr val="black"/>
                </a:solidFill>
                <a:latin typeface="Palatino Linotype"/>
                <a:cs typeface="Palatino Linotype"/>
              </a:rPr>
              <a:t> </a:t>
            </a:r>
            <a:r>
              <a:rPr sz="2600" kern="1200" spc="-5" dirty="0">
                <a:solidFill>
                  <a:prstClr val="black"/>
                </a:solidFill>
                <a:latin typeface="Palatino Linotype"/>
                <a:cs typeface="Palatino Linotype"/>
              </a:rPr>
              <a:t>by:</a:t>
            </a:r>
            <a:endParaRPr sz="2600" kern="1200" dirty="0">
              <a:solidFill>
                <a:prstClr val="black"/>
              </a:solidFill>
              <a:latin typeface="Palatino Linotype"/>
              <a:cs typeface="Palatino Linotype"/>
            </a:endParaRPr>
          </a:p>
        </p:txBody>
      </p:sp>
      <p:sp>
        <p:nvSpPr>
          <p:cNvPr id="23" name="object 8">
            <a:extLst>
              <a:ext uri="{FF2B5EF4-FFF2-40B4-BE49-F238E27FC236}">
                <a16:creationId xmlns:a16="http://schemas.microsoft.com/office/drawing/2014/main" id="{77294285-1B53-E87C-5C57-CFE7922E16F0}"/>
              </a:ext>
            </a:extLst>
          </p:cNvPr>
          <p:cNvSpPr/>
          <p:nvPr/>
        </p:nvSpPr>
        <p:spPr>
          <a:xfrm>
            <a:off x="2946378" y="3306037"/>
            <a:ext cx="21590" cy="254000"/>
          </a:xfrm>
          <a:custGeom>
            <a:avLst/>
            <a:gdLst/>
            <a:ahLst/>
            <a:cxnLst/>
            <a:rect l="l" t="t" r="r" b="b"/>
            <a:pathLst>
              <a:path w="21589" h="254000">
                <a:moveTo>
                  <a:pt x="21009" y="0"/>
                </a:moveTo>
                <a:lnTo>
                  <a:pt x="0" y="0"/>
                </a:lnTo>
                <a:lnTo>
                  <a:pt x="0" y="253888"/>
                </a:lnTo>
                <a:lnTo>
                  <a:pt x="21009" y="253888"/>
                </a:lnTo>
                <a:lnTo>
                  <a:pt x="2100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9">
            <a:extLst>
              <a:ext uri="{FF2B5EF4-FFF2-40B4-BE49-F238E27FC236}">
                <a16:creationId xmlns:a16="http://schemas.microsoft.com/office/drawing/2014/main" id="{9CAC3112-F472-5896-7D34-BAED534E7832}"/>
              </a:ext>
            </a:extLst>
          </p:cNvPr>
          <p:cNvSpPr/>
          <p:nvPr/>
        </p:nvSpPr>
        <p:spPr>
          <a:xfrm>
            <a:off x="2601890" y="3306037"/>
            <a:ext cx="21590" cy="254000"/>
          </a:xfrm>
          <a:custGeom>
            <a:avLst/>
            <a:gdLst/>
            <a:ahLst/>
            <a:cxnLst/>
            <a:rect l="l" t="t" r="r" b="b"/>
            <a:pathLst>
              <a:path w="21589" h="254000">
                <a:moveTo>
                  <a:pt x="21009" y="0"/>
                </a:moveTo>
                <a:lnTo>
                  <a:pt x="0" y="0"/>
                </a:lnTo>
                <a:lnTo>
                  <a:pt x="0" y="253888"/>
                </a:lnTo>
                <a:lnTo>
                  <a:pt x="21009" y="253888"/>
                </a:lnTo>
                <a:lnTo>
                  <a:pt x="2100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10">
            <a:extLst>
              <a:ext uri="{FF2B5EF4-FFF2-40B4-BE49-F238E27FC236}">
                <a16:creationId xmlns:a16="http://schemas.microsoft.com/office/drawing/2014/main" id="{2DAE5C93-358D-0738-7B0C-AF74359CD17F}"/>
              </a:ext>
            </a:extLst>
          </p:cNvPr>
          <p:cNvSpPr/>
          <p:nvPr/>
        </p:nvSpPr>
        <p:spPr>
          <a:xfrm>
            <a:off x="3041691" y="3928337"/>
            <a:ext cx="21590" cy="254000"/>
          </a:xfrm>
          <a:custGeom>
            <a:avLst/>
            <a:gdLst/>
            <a:ahLst/>
            <a:cxnLst/>
            <a:rect l="l" t="t" r="r" b="b"/>
            <a:pathLst>
              <a:path w="21589" h="254000">
                <a:moveTo>
                  <a:pt x="21009" y="0"/>
                </a:moveTo>
                <a:lnTo>
                  <a:pt x="0" y="0"/>
                </a:lnTo>
                <a:lnTo>
                  <a:pt x="0" y="253888"/>
                </a:lnTo>
                <a:lnTo>
                  <a:pt x="21009" y="253888"/>
                </a:lnTo>
                <a:lnTo>
                  <a:pt x="2100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11">
            <a:extLst>
              <a:ext uri="{FF2B5EF4-FFF2-40B4-BE49-F238E27FC236}">
                <a16:creationId xmlns:a16="http://schemas.microsoft.com/office/drawing/2014/main" id="{16D80363-3601-8107-E24A-D3A38E7079BE}"/>
              </a:ext>
            </a:extLst>
          </p:cNvPr>
          <p:cNvSpPr txBox="1"/>
          <p:nvPr/>
        </p:nvSpPr>
        <p:spPr>
          <a:xfrm>
            <a:off x="3024885" y="3219196"/>
            <a:ext cx="1136015" cy="985519"/>
          </a:xfrm>
          <a:prstGeom prst="rect">
            <a:avLst/>
          </a:prstGeom>
        </p:spPr>
        <p:txBody>
          <a:bodyPr vert="horz" wrap="square" lIns="0" tIns="12700" rIns="0" bIns="0" rtlCol="0">
            <a:spAutoFit/>
          </a:bodyPr>
          <a:lstStyle/>
          <a:p>
            <a:pPr marL="38100" rtl="0">
              <a:spcBef>
                <a:spcPts val="100"/>
              </a:spcBef>
            </a:pPr>
            <a:r>
              <a:rPr sz="2200" kern="1200" spc="-10" dirty="0">
                <a:solidFill>
                  <a:prstClr val="black"/>
                </a:solidFill>
                <a:latin typeface="Cambria Math"/>
                <a:cs typeface="Cambria Math"/>
              </a:rPr>
              <a:t>𝛽</a:t>
            </a:r>
            <a:r>
              <a:rPr sz="2400" kern="1200" spc="-15" baseline="-15625" dirty="0">
                <a:solidFill>
                  <a:prstClr val="black"/>
                </a:solidFill>
                <a:latin typeface="Cambria Math"/>
                <a:cs typeface="Cambria Math"/>
              </a:rPr>
              <a:t>𝑛</a:t>
            </a:r>
            <a:r>
              <a:rPr lang="zh-CN" altLang="en-US" sz="2200" kern="1200" spc="65" dirty="0">
                <a:solidFill>
                  <a:prstClr val="black"/>
                </a:solidFill>
                <a:latin typeface="Cambria Math"/>
                <a:cs typeface="Cambria Math"/>
              </a:rPr>
              <a:t>𝐴</a:t>
            </a:r>
            <a:r>
              <a:rPr lang="en-US" altLang="zh-CN" sz="2200" kern="1200" spc="65" dirty="0">
                <a:solidFill>
                  <a:prstClr val="black"/>
                </a:solidFill>
                <a:latin typeface="Cambria Math"/>
                <a:cs typeface="Cambria Math"/>
              </a:rPr>
              <a:t>′</a:t>
            </a:r>
            <a:r>
              <a:rPr lang="zh-CN" altLang="en-US" sz="2200" kern="1200" spc="-40" dirty="0">
                <a:solidFill>
                  <a:prstClr val="black"/>
                </a:solidFill>
                <a:latin typeface="Cambria Math"/>
                <a:cs typeface="Cambria Math"/>
              </a:rPr>
              <a:t> </a:t>
            </a:r>
            <a:endParaRPr sz="2400" kern="1200" baseline="27777" dirty="0">
              <a:solidFill>
                <a:prstClr val="black"/>
              </a:solidFill>
              <a:latin typeface="Cambria Math"/>
              <a:cs typeface="Cambria Math"/>
            </a:endParaRPr>
          </a:p>
          <a:p>
            <a:pPr marL="133350" rtl="0">
              <a:spcBef>
                <a:spcPts val="2280"/>
              </a:spcBef>
            </a:pPr>
            <a:r>
              <a:rPr sz="2200" kern="1200" spc="65" dirty="0">
                <a:solidFill>
                  <a:prstClr val="black"/>
                </a:solidFill>
                <a:latin typeface="Cambria Math"/>
                <a:cs typeface="Cambria Math"/>
              </a:rPr>
              <a:t>𝛼</a:t>
            </a:r>
            <a:r>
              <a:rPr sz="2400" kern="1200" spc="97" baseline="-15625" dirty="0">
                <a:solidFill>
                  <a:prstClr val="black"/>
                </a:solidFill>
                <a:latin typeface="Cambria Math"/>
                <a:cs typeface="Cambria Math"/>
              </a:rPr>
              <a:t>𝑚</a:t>
            </a:r>
            <a:r>
              <a:rPr sz="2200" kern="1200" spc="65" dirty="0">
                <a:solidFill>
                  <a:prstClr val="black"/>
                </a:solidFill>
                <a:latin typeface="Cambria Math"/>
                <a:cs typeface="Cambria Math"/>
              </a:rPr>
              <a:t>𝐴′</a:t>
            </a:r>
            <a:r>
              <a:rPr sz="2200" kern="1200" spc="-40" dirty="0">
                <a:solidFill>
                  <a:prstClr val="black"/>
                </a:solidFill>
                <a:latin typeface="Cambria Math"/>
                <a:cs typeface="Cambria Math"/>
              </a:rPr>
              <a:t> </a:t>
            </a:r>
            <a:r>
              <a:rPr sz="2200" kern="1200" dirty="0">
                <a:solidFill>
                  <a:prstClr val="black"/>
                </a:solidFill>
                <a:latin typeface="Cambria Math"/>
                <a:cs typeface="Cambria Math"/>
              </a:rPr>
              <a:t>|</a:t>
            </a:r>
            <a:r>
              <a:rPr sz="2200" kern="1200" spc="-30" dirty="0">
                <a:solidFill>
                  <a:prstClr val="black"/>
                </a:solidFill>
                <a:latin typeface="Cambria Math"/>
                <a:cs typeface="Cambria Math"/>
              </a:rPr>
              <a:t> </a:t>
            </a:r>
            <a:r>
              <a:rPr sz="2200" kern="1200" dirty="0">
                <a:solidFill>
                  <a:prstClr val="black"/>
                </a:solidFill>
                <a:latin typeface="Cambria Math"/>
                <a:cs typeface="Cambria Math"/>
              </a:rPr>
              <a:t>𝜖</a:t>
            </a:r>
          </a:p>
        </p:txBody>
      </p:sp>
      <p:sp>
        <p:nvSpPr>
          <p:cNvPr id="27" name="object 12">
            <a:extLst>
              <a:ext uri="{FF2B5EF4-FFF2-40B4-BE49-F238E27FC236}">
                <a16:creationId xmlns:a16="http://schemas.microsoft.com/office/drawing/2014/main" id="{7AFEB25C-0C54-3E80-2388-F348A3096A04}"/>
              </a:ext>
            </a:extLst>
          </p:cNvPr>
          <p:cNvSpPr/>
          <p:nvPr/>
        </p:nvSpPr>
        <p:spPr>
          <a:xfrm>
            <a:off x="2697204" y="3928337"/>
            <a:ext cx="21590" cy="254000"/>
          </a:xfrm>
          <a:custGeom>
            <a:avLst/>
            <a:gdLst/>
            <a:ahLst/>
            <a:cxnLst/>
            <a:rect l="l" t="t" r="r" b="b"/>
            <a:pathLst>
              <a:path w="21589" h="254000">
                <a:moveTo>
                  <a:pt x="21009" y="0"/>
                </a:moveTo>
                <a:lnTo>
                  <a:pt x="0" y="0"/>
                </a:lnTo>
                <a:lnTo>
                  <a:pt x="0" y="253888"/>
                </a:lnTo>
                <a:lnTo>
                  <a:pt x="21009" y="253888"/>
                </a:lnTo>
                <a:lnTo>
                  <a:pt x="2100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13">
            <a:extLst>
              <a:ext uri="{FF2B5EF4-FFF2-40B4-BE49-F238E27FC236}">
                <a16:creationId xmlns:a16="http://schemas.microsoft.com/office/drawing/2014/main" id="{E820EDA0-B6B3-67A4-77FE-98243A3B1116}"/>
              </a:ext>
            </a:extLst>
          </p:cNvPr>
          <p:cNvSpPr txBox="1"/>
          <p:nvPr/>
        </p:nvSpPr>
        <p:spPr>
          <a:xfrm>
            <a:off x="1113789" y="3219196"/>
            <a:ext cx="1886585" cy="984885"/>
          </a:xfrm>
          <a:prstGeom prst="rect">
            <a:avLst/>
          </a:prstGeom>
        </p:spPr>
        <p:txBody>
          <a:bodyPr vert="horz" wrap="square" lIns="0" tIns="12700" rIns="0" bIns="0" rtlCol="0">
            <a:spAutoFit/>
          </a:bodyPr>
          <a:lstStyle/>
          <a:p>
            <a:pPr marL="292100" indent="-228600" rtl="0">
              <a:spcBef>
                <a:spcPts val="100"/>
              </a:spcBef>
              <a:buFont typeface="Wingdings"/>
              <a:buChar char=""/>
              <a:tabLst>
                <a:tab pos="292100" algn="l"/>
                <a:tab pos="1542415" algn="l"/>
              </a:tabLst>
            </a:pPr>
            <a:r>
              <a:rPr sz="2200" kern="1200" dirty="0">
                <a:solidFill>
                  <a:prstClr val="black"/>
                </a:solidFill>
                <a:latin typeface="Cambria Math"/>
                <a:cs typeface="Cambria Math"/>
              </a:rPr>
              <a:t>𝐴</a:t>
            </a:r>
            <a:r>
              <a:rPr sz="2200" kern="1200" spc="140"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25" dirty="0">
                <a:solidFill>
                  <a:prstClr val="black"/>
                </a:solidFill>
                <a:latin typeface="Cambria Math"/>
                <a:cs typeface="Cambria Math"/>
              </a:rPr>
              <a:t> </a:t>
            </a:r>
            <a:r>
              <a:rPr sz="2200" kern="1200" dirty="0">
                <a:solidFill>
                  <a:prstClr val="black"/>
                </a:solidFill>
                <a:latin typeface="Cambria Math"/>
                <a:cs typeface="Cambria Math"/>
              </a:rPr>
              <a:t>𝛽</a:t>
            </a:r>
            <a:r>
              <a:rPr lang="en-US" altLang="zh-CN" sz="2400" kern="1200" baseline="-15625" dirty="0">
                <a:solidFill>
                  <a:prstClr val="black"/>
                </a:solidFill>
                <a:latin typeface="Cambria Math"/>
                <a:cs typeface="Cambria Math"/>
              </a:rPr>
              <a:t>1</a:t>
            </a:r>
            <a:r>
              <a:rPr lang="zh-CN" altLang="en-US" sz="2200" kern="1200" spc="65" dirty="0">
                <a:solidFill>
                  <a:prstClr val="black"/>
                </a:solidFill>
                <a:latin typeface="Cambria Math"/>
                <a:cs typeface="Cambria Math"/>
              </a:rPr>
              <a:t>𝐴</a:t>
            </a:r>
            <a:r>
              <a:rPr lang="en-US" altLang="zh-CN" sz="2200" kern="1200" spc="65" dirty="0">
                <a:solidFill>
                  <a:prstClr val="black"/>
                </a:solidFill>
                <a:latin typeface="Cambria Math"/>
                <a:cs typeface="Cambria Math"/>
              </a:rPr>
              <a:t>′</a:t>
            </a:r>
            <a:r>
              <a:rPr lang="en-US" altLang="zh-CN" sz="2200" kern="1200" spc="-20" dirty="0">
                <a:solidFill>
                  <a:prstClr val="black"/>
                </a:solidFill>
                <a:latin typeface="Cambria Math"/>
                <a:cs typeface="Cambria Math"/>
              </a:rPr>
              <a:t> </a:t>
            </a:r>
            <a:r>
              <a:rPr sz="2400" kern="1200" baseline="27777" dirty="0">
                <a:solidFill>
                  <a:prstClr val="black"/>
                </a:solidFill>
                <a:latin typeface="Cambria Math"/>
                <a:cs typeface="Cambria Math"/>
              </a:rPr>
              <a:t>	</a:t>
            </a:r>
            <a:r>
              <a:rPr sz="2200" kern="1200" dirty="0">
                <a:solidFill>
                  <a:prstClr val="black"/>
                </a:solidFill>
                <a:latin typeface="Cambria Math"/>
                <a:cs typeface="Cambria Math"/>
              </a:rPr>
              <a:t>…</a:t>
            </a:r>
          </a:p>
          <a:p>
            <a:pPr marL="292100" indent="-228600" rtl="0">
              <a:spcBef>
                <a:spcPts val="2280"/>
              </a:spcBef>
              <a:buFont typeface="Wingdings"/>
              <a:buChar char=""/>
              <a:tabLst>
                <a:tab pos="292100" algn="l"/>
                <a:tab pos="1637664" algn="l"/>
              </a:tabLst>
            </a:pPr>
            <a:r>
              <a:rPr lang="zh-CN" altLang="en-US" sz="2200" kern="1200" spc="65" dirty="0">
                <a:solidFill>
                  <a:prstClr val="black"/>
                </a:solidFill>
                <a:latin typeface="Cambria Math"/>
                <a:cs typeface="Cambria Math"/>
              </a:rPr>
              <a:t>𝐴</a:t>
            </a:r>
            <a:r>
              <a:rPr lang="en-US" altLang="zh-CN" sz="2200" kern="1200" spc="65" dirty="0">
                <a:solidFill>
                  <a:prstClr val="black"/>
                </a:solidFill>
                <a:latin typeface="Cambria Math"/>
                <a:cs typeface="Cambria Math"/>
              </a:rPr>
              <a:t>′</a:t>
            </a:r>
            <a:r>
              <a:rPr sz="2400" kern="1200" spc="532" baseline="27777"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25" dirty="0">
                <a:solidFill>
                  <a:prstClr val="black"/>
                </a:solidFill>
                <a:latin typeface="Cambria Math"/>
                <a:cs typeface="Cambria Math"/>
              </a:rPr>
              <a:t> </a:t>
            </a:r>
            <a:r>
              <a:rPr sz="2200" kern="1200" spc="35" dirty="0">
                <a:solidFill>
                  <a:prstClr val="black"/>
                </a:solidFill>
                <a:latin typeface="Cambria Math"/>
                <a:cs typeface="Cambria Math"/>
              </a:rPr>
              <a:t>𝛼</a:t>
            </a:r>
            <a:r>
              <a:rPr lang="en-US" altLang="zh-CN" sz="2400" kern="1200" spc="52" baseline="-15625" dirty="0">
                <a:solidFill>
                  <a:prstClr val="black"/>
                </a:solidFill>
                <a:latin typeface="Cambria Math"/>
                <a:cs typeface="Cambria Math"/>
              </a:rPr>
              <a:t>1</a:t>
            </a:r>
            <a:r>
              <a:rPr lang="zh-CN" altLang="en-US" sz="2200" kern="1200" spc="65" dirty="0">
                <a:solidFill>
                  <a:prstClr val="black"/>
                </a:solidFill>
                <a:latin typeface="Cambria Math"/>
                <a:cs typeface="Cambria Math"/>
              </a:rPr>
              <a:t>𝐴</a:t>
            </a:r>
            <a:r>
              <a:rPr lang="en-US" altLang="zh-CN" sz="2200" kern="1200" spc="65" dirty="0">
                <a:solidFill>
                  <a:prstClr val="black"/>
                </a:solidFill>
                <a:latin typeface="Cambria Math"/>
                <a:cs typeface="Cambria Math"/>
              </a:rPr>
              <a:t>′</a:t>
            </a:r>
            <a:r>
              <a:rPr lang="zh-CN" altLang="en-US" sz="2200" kern="1200" spc="-40" dirty="0">
                <a:solidFill>
                  <a:prstClr val="black"/>
                </a:solidFill>
                <a:latin typeface="Cambria Math"/>
                <a:cs typeface="Cambria Math"/>
              </a:rPr>
              <a:t> </a:t>
            </a:r>
            <a:r>
              <a:rPr sz="2400" kern="1200" spc="52" baseline="27777" dirty="0">
                <a:solidFill>
                  <a:prstClr val="black"/>
                </a:solidFill>
                <a:latin typeface="Cambria Math"/>
                <a:cs typeface="Cambria Math"/>
              </a:rPr>
              <a:t>	</a:t>
            </a:r>
            <a:r>
              <a:rPr sz="2200" kern="1200" dirty="0">
                <a:solidFill>
                  <a:prstClr val="black"/>
                </a:solidFill>
                <a:latin typeface="Cambria Math"/>
                <a:cs typeface="Cambria Math"/>
              </a:rPr>
              <a:t>…</a:t>
            </a:r>
          </a:p>
        </p:txBody>
      </p:sp>
    </p:spTree>
    <p:extLst>
      <p:ext uri="{BB962C8B-B14F-4D97-AF65-F5344CB8AC3E}">
        <p14:creationId xmlns:p14="http://schemas.microsoft.com/office/powerpoint/2010/main" val="25147230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a:xfrm>
            <a:off x="447154" y="6307684"/>
            <a:ext cx="2057400" cy="365125"/>
          </a:xfrm>
        </p:spPr>
        <p:txBody>
          <a:bodyPr/>
          <a:lstStyle/>
          <a:p>
            <a:pPr>
              <a:defRPr/>
            </a:pPr>
            <a:r>
              <a:rPr lang="en-US" altLang="zh-CN"/>
              <a:t>Fall 2024</a:t>
            </a:r>
            <a:endParaRPr dirty="0"/>
          </a:p>
        </p:txBody>
      </p:sp>
      <p:sp>
        <p:nvSpPr>
          <p:cNvPr id="4" name="页脚占位符 3"/>
          <p:cNvSpPr>
            <a:spLocks noGrp="1"/>
          </p:cNvSpPr>
          <p:nvPr>
            <p:ph type="ftr" sz="quarter" idx="11"/>
          </p:nvPr>
        </p:nvSpPr>
        <p:spPr bwMode="auto">
          <a:xfrm>
            <a:off x="2935154" y="6318004"/>
            <a:ext cx="3086100" cy="365125"/>
          </a:xfrm>
        </p:spPr>
        <p:txBody>
          <a:bodyPr/>
          <a:lstStyle/>
          <a:p>
            <a:pPr>
              <a:defRPr/>
            </a:pPr>
            <a:r>
              <a:rPr lang="en-US" dirty="0"/>
              <a:t>BUPT Compilers</a:t>
            </a:r>
            <a:endParaRPr dirty="0"/>
          </a:p>
        </p:txBody>
      </p:sp>
      <p:sp>
        <p:nvSpPr>
          <p:cNvPr id="5" name="灯片编号占位符 4"/>
          <p:cNvSpPr>
            <a:spLocks noGrp="1"/>
          </p:cNvSpPr>
          <p:nvPr>
            <p:ph type="sldNum" sz="quarter" idx="12"/>
          </p:nvPr>
        </p:nvSpPr>
        <p:spPr bwMode="auto">
          <a:xfrm>
            <a:off x="7798438" y="6318004"/>
            <a:ext cx="1063053" cy="457200"/>
          </a:xfrm>
        </p:spPr>
        <p:txBody>
          <a:bodyPr/>
          <a:lstStyle/>
          <a:p>
            <a:pPr>
              <a:defRPr/>
            </a:pPr>
            <a:fld id="{2FBC720A-3716-234A-B2DF-CBC7E48049F5}" type="slidenum">
              <a:rPr lang="en-US"/>
              <a:t>33</a:t>
            </a:fld>
            <a:endParaRPr lang="en-US" dirty="0"/>
          </a:p>
        </p:txBody>
      </p:sp>
      <p:grpSp>
        <p:nvGrpSpPr>
          <p:cNvPr id="12" name="object 2">
            <a:extLst>
              <a:ext uri="{FF2B5EF4-FFF2-40B4-BE49-F238E27FC236}">
                <a16:creationId xmlns:a16="http://schemas.microsoft.com/office/drawing/2014/main" id="{66C1F5D0-D94F-38F8-00A2-231FCE16EF1E}"/>
              </a:ext>
            </a:extLst>
          </p:cNvPr>
          <p:cNvGrpSpPr/>
          <p:nvPr/>
        </p:nvGrpSpPr>
        <p:grpSpPr>
          <a:xfrm>
            <a:off x="1933425" y="3785534"/>
            <a:ext cx="5619115" cy="2535555"/>
            <a:chOff x="1282802" y="1997336"/>
            <a:chExt cx="5619115" cy="2535555"/>
          </a:xfrm>
        </p:grpSpPr>
        <p:pic>
          <p:nvPicPr>
            <p:cNvPr id="13" name="object 3">
              <a:extLst>
                <a:ext uri="{FF2B5EF4-FFF2-40B4-BE49-F238E27FC236}">
                  <a16:creationId xmlns:a16="http://schemas.microsoft.com/office/drawing/2014/main" id="{761B1C8D-E61D-029E-45B8-5DCE8F0DDAE3}"/>
                </a:ext>
              </a:extLst>
            </p:cNvPr>
            <p:cNvPicPr/>
            <p:nvPr/>
          </p:nvPicPr>
          <p:blipFill>
            <a:blip r:embed="rId2" cstate="print"/>
            <a:stretch>
              <a:fillRect/>
            </a:stretch>
          </p:blipFill>
          <p:spPr>
            <a:xfrm>
              <a:off x="1389464" y="2181564"/>
              <a:ext cx="5476943" cy="2351274"/>
            </a:xfrm>
            <a:prstGeom prst="rect">
              <a:avLst/>
            </a:prstGeom>
          </p:spPr>
        </p:pic>
        <p:sp>
          <p:nvSpPr>
            <p:cNvPr id="14" name="object 4">
              <a:extLst>
                <a:ext uri="{FF2B5EF4-FFF2-40B4-BE49-F238E27FC236}">
                  <a16:creationId xmlns:a16="http://schemas.microsoft.com/office/drawing/2014/main" id="{7D1C227B-3769-BA00-1E75-CB4B8D60877A}"/>
                </a:ext>
              </a:extLst>
            </p:cNvPr>
            <p:cNvSpPr/>
            <p:nvPr/>
          </p:nvSpPr>
          <p:spPr>
            <a:xfrm>
              <a:off x="1289155" y="2533337"/>
              <a:ext cx="2173605" cy="532765"/>
            </a:xfrm>
            <a:custGeom>
              <a:avLst/>
              <a:gdLst/>
              <a:ahLst/>
              <a:cxnLst/>
              <a:rect l="l" t="t" r="r" b="b"/>
              <a:pathLst>
                <a:path w="2173604" h="532764">
                  <a:moveTo>
                    <a:pt x="0" y="0"/>
                  </a:moveTo>
                  <a:lnTo>
                    <a:pt x="2173574" y="0"/>
                  </a:lnTo>
                  <a:lnTo>
                    <a:pt x="2173574" y="532151"/>
                  </a:lnTo>
                  <a:lnTo>
                    <a:pt x="0" y="532151"/>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5">
              <a:extLst>
                <a:ext uri="{FF2B5EF4-FFF2-40B4-BE49-F238E27FC236}">
                  <a16:creationId xmlns:a16="http://schemas.microsoft.com/office/drawing/2014/main" id="{667219F1-1728-74DC-CC12-371CA12F8CB6}"/>
                </a:ext>
              </a:extLst>
            </p:cNvPr>
            <p:cNvSpPr/>
            <p:nvPr/>
          </p:nvSpPr>
          <p:spPr>
            <a:xfrm>
              <a:off x="4469566" y="2003686"/>
              <a:ext cx="2426335" cy="1062355"/>
            </a:xfrm>
            <a:custGeom>
              <a:avLst/>
              <a:gdLst/>
              <a:ahLst/>
              <a:cxnLst/>
              <a:rect l="l" t="t" r="r" b="b"/>
              <a:pathLst>
                <a:path w="2426334" h="1062355">
                  <a:moveTo>
                    <a:pt x="0" y="0"/>
                  </a:moveTo>
                  <a:lnTo>
                    <a:pt x="2425907" y="0"/>
                  </a:lnTo>
                  <a:lnTo>
                    <a:pt x="2425907" y="1061803"/>
                  </a:lnTo>
                  <a:lnTo>
                    <a:pt x="0" y="1061803"/>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6">
              <a:extLst>
                <a:ext uri="{FF2B5EF4-FFF2-40B4-BE49-F238E27FC236}">
                  <a16:creationId xmlns:a16="http://schemas.microsoft.com/office/drawing/2014/main" id="{8571F416-9D3D-DF75-DBEB-C2761C96D5D2}"/>
                </a:ext>
              </a:extLst>
            </p:cNvPr>
            <p:cNvSpPr/>
            <p:nvPr/>
          </p:nvSpPr>
          <p:spPr>
            <a:xfrm>
              <a:off x="1289152" y="3109409"/>
              <a:ext cx="2173605" cy="450850"/>
            </a:xfrm>
            <a:custGeom>
              <a:avLst/>
              <a:gdLst/>
              <a:ahLst/>
              <a:cxnLst/>
              <a:rect l="l" t="t" r="r" b="b"/>
              <a:pathLst>
                <a:path w="2173604" h="450850">
                  <a:moveTo>
                    <a:pt x="0" y="0"/>
                  </a:moveTo>
                  <a:lnTo>
                    <a:pt x="2173574" y="0"/>
                  </a:lnTo>
                  <a:lnTo>
                    <a:pt x="2173574" y="450755"/>
                  </a:lnTo>
                  <a:lnTo>
                    <a:pt x="0" y="450755"/>
                  </a:lnTo>
                  <a:lnTo>
                    <a:pt x="0" y="0"/>
                  </a:lnTo>
                  <a:close/>
                </a:path>
              </a:pathLst>
            </a:custGeom>
            <a:ln w="12700">
              <a:solidFill>
                <a:srgbClr val="0432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7" name="object 7">
              <a:extLst>
                <a:ext uri="{FF2B5EF4-FFF2-40B4-BE49-F238E27FC236}">
                  <a16:creationId xmlns:a16="http://schemas.microsoft.com/office/drawing/2014/main" id="{2D14A5AF-1BBF-622A-DA35-D0CD1DFEF1F0}"/>
                </a:ext>
              </a:extLst>
            </p:cNvPr>
            <p:cNvSpPr/>
            <p:nvPr/>
          </p:nvSpPr>
          <p:spPr>
            <a:xfrm>
              <a:off x="4468321" y="3110659"/>
              <a:ext cx="2426335" cy="959485"/>
            </a:xfrm>
            <a:custGeom>
              <a:avLst/>
              <a:gdLst/>
              <a:ahLst/>
              <a:cxnLst/>
              <a:rect l="l" t="t" r="r" b="b"/>
              <a:pathLst>
                <a:path w="2426334" h="959485">
                  <a:moveTo>
                    <a:pt x="0" y="0"/>
                  </a:moveTo>
                  <a:lnTo>
                    <a:pt x="2425907" y="0"/>
                  </a:lnTo>
                  <a:lnTo>
                    <a:pt x="2425907" y="959172"/>
                  </a:lnTo>
                  <a:lnTo>
                    <a:pt x="0" y="959172"/>
                  </a:lnTo>
                  <a:lnTo>
                    <a:pt x="0" y="0"/>
                  </a:lnTo>
                  <a:close/>
                </a:path>
              </a:pathLst>
            </a:custGeom>
            <a:ln w="12700">
              <a:solidFill>
                <a:srgbClr val="0432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8" name="object 8">
            <a:extLst>
              <a:ext uri="{FF2B5EF4-FFF2-40B4-BE49-F238E27FC236}">
                <a16:creationId xmlns:a16="http://schemas.microsoft.com/office/drawing/2014/main" id="{FCD0EBAA-4A3E-E46F-CFC9-295F8C9EB983}"/>
              </a:ext>
            </a:extLst>
          </p:cNvPr>
          <p:cNvSpPr txBox="1">
            <a:spLocks/>
          </p:cNvSpPr>
          <p:nvPr/>
        </p:nvSpPr>
        <p:spPr>
          <a:xfrm>
            <a:off x="707390" y="524763"/>
            <a:ext cx="20275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a:t>
            </a:r>
            <a:r>
              <a:rPr kumimoji="0" lang="en-US" sz="4000" b="1" i="0" u="none" strike="noStrike" kern="0" cap="none" spc="5" normalizeH="0" baseline="0" noProof="0">
                <a:ln>
                  <a:noFill/>
                </a:ln>
                <a:solidFill>
                  <a:sysClr val="windowText" lastClr="000000"/>
                </a:solidFill>
                <a:effectLst/>
                <a:uLnTx/>
                <a:uFillTx/>
                <a:latin typeface="Palatino Linotype"/>
                <a:ea typeface="+mj-ea"/>
              </a:rPr>
              <a:t>m</a:t>
            </a:r>
            <a:r>
              <a:rPr kumimoji="0" lang="en-US" sz="4000" b="1" i="0" u="none" strike="noStrike" kern="0" cap="none" spc="-10" normalizeH="0" baseline="0" noProof="0">
                <a:ln>
                  <a:noFill/>
                </a:ln>
                <a:solidFill>
                  <a:sysClr val="windowText" lastClr="000000"/>
                </a:solidFill>
                <a:effectLst/>
                <a:uLnTx/>
                <a:uFillTx/>
                <a:latin typeface="Palatino Linotype"/>
                <a:ea typeface="+mj-ea"/>
              </a:rPr>
              <a:t>p</a:t>
            </a:r>
            <a:r>
              <a:rPr kumimoji="0" lang="en-US" sz="4000" b="1" i="0" u="none" strike="noStrike" kern="0" cap="none" spc="5" normalizeH="0" baseline="0" noProof="0">
                <a:ln>
                  <a:noFill/>
                </a:ln>
                <a:solidFill>
                  <a:sysClr val="windowText" lastClr="000000"/>
                </a:solidFill>
                <a:effectLst/>
                <a:uLnTx/>
                <a:uFillTx/>
                <a:latin typeface="Palatino Linotype"/>
                <a:ea typeface="+mj-ea"/>
              </a:rPr>
              <a:t>l</a:t>
            </a:r>
            <a:r>
              <a:rPr kumimoji="0" lang="en-US" sz="4000" b="1" i="0" u="none" strike="noStrike" kern="0" cap="none" spc="0" normalizeH="0" baseline="0" noProof="0">
                <a:ln>
                  <a:noFill/>
                </a:ln>
                <a:solidFill>
                  <a:sysClr val="windowText" lastClr="000000"/>
                </a:solidFill>
                <a:effectLst/>
                <a:uLnTx/>
                <a:uFillTx/>
                <a:latin typeface="Palatino Linotype"/>
                <a:ea typeface="+mj-ea"/>
              </a:rPr>
              <a:t>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9" name="右箭头 13">
            <a:extLst>
              <a:ext uri="{FF2B5EF4-FFF2-40B4-BE49-F238E27FC236}">
                <a16:creationId xmlns:a16="http://schemas.microsoft.com/office/drawing/2014/main" id="{8DF769D6-F8CE-41E3-BDA9-07D31AC1055D}"/>
              </a:ext>
            </a:extLst>
          </p:cNvPr>
          <p:cNvSpPr/>
          <p:nvPr/>
        </p:nvSpPr>
        <p:spPr>
          <a:xfrm>
            <a:off x="4394241" y="2250040"/>
            <a:ext cx="900333" cy="3938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20" name="组合 19">
            <a:extLst>
              <a:ext uri="{FF2B5EF4-FFF2-40B4-BE49-F238E27FC236}">
                <a16:creationId xmlns:a16="http://schemas.microsoft.com/office/drawing/2014/main" id="{A9C6D095-0FAD-46E5-B0F6-50FA1643CE66}"/>
              </a:ext>
            </a:extLst>
          </p:cNvPr>
          <p:cNvGrpSpPr/>
          <p:nvPr/>
        </p:nvGrpSpPr>
        <p:grpSpPr>
          <a:xfrm>
            <a:off x="899592" y="1089037"/>
            <a:ext cx="3209925" cy="2437058"/>
            <a:chOff x="838200" y="3903366"/>
            <a:chExt cx="3209925" cy="2437058"/>
          </a:xfrm>
        </p:grpSpPr>
        <p:pic>
          <p:nvPicPr>
            <p:cNvPr id="21" name="图片 20">
              <a:extLst>
                <a:ext uri="{FF2B5EF4-FFF2-40B4-BE49-F238E27FC236}">
                  <a16:creationId xmlns:a16="http://schemas.microsoft.com/office/drawing/2014/main" id="{DF8AA0ED-CA7B-406F-8884-C228AB762CDC}"/>
                </a:ext>
              </a:extLst>
            </p:cNvPr>
            <p:cNvPicPr>
              <a:picLocks noChangeAspect="1"/>
            </p:cNvPicPr>
            <p:nvPr/>
          </p:nvPicPr>
          <p:blipFill>
            <a:blip r:embed="rId3"/>
            <a:stretch>
              <a:fillRect/>
            </a:stretch>
          </p:blipFill>
          <p:spPr>
            <a:xfrm>
              <a:off x="838200" y="3903366"/>
              <a:ext cx="3209925" cy="457200"/>
            </a:xfrm>
            <a:prstGeom prst="rect">
              <a:avLst/>
            </a:prstGeom>
          </p:spPr>
        </p:pic>
        <p:pic>
          <p:nvPicPr>
            <p:cNvPr id="22" name="图片 21">
              <a:extLst>
                <a:ext uri="{FF2B5EF4-FFF2-40B4-BE49-F238E27FC236}">
                  <a16:creationId xmlns:a16="http://schemas.microsoft.com/office/drawing/2014/main" id="{95EC9F16-53DF-4DE9-B580-22A8123F854B}"/>
                </a:ext>
              </a:extLst>
            </p:cNvPr>
            <p:cNvPicPr>
              <a:picLocks noChangeAspect="1"/>
            </p:cNvPicPr>
            <p:nvPr/>
          </p:nvPicPr>
          <p:blipFill>
            <a:blip r:embed="rId4"/>
            <a:stretch>
              <a:fillRect/>
            </a:stretch>
          </p:blipFill>
          <p:spPr>
            <a:xfrm>
              <a:off x="1715239" y="4963125"/>
              <a:ext cx="2190750" cy="333375"/>
            </a:xfrm>
            <a:prstGeom prst="rect">
              <a:avLst/>
            </a:prstGeom>
          </p:spPr>
        </p:pic>
        <p:pic>
          <p:nvPicPr>
            <p:cNvPr id="23" name="图片 22">
              <a:extLst>
                <a:ext uri="{FF2B5EF4-FFF2-40B4-BE49-F238E27FC236}">
                  <a16:creationId xmlns:a16="http://schemas.microsoft.com/office/drawing/2014/main" id="{C67A85B4-D969-4476-BF26-A0298AD3B534}"/>
                </a:ext>
              </a:extLst>
            </p:cNvPr>
            <p:cNvPicPr>
              <a:picLocks noChangeAspect="1"/>
            </p:cNvPicPr>
            <p:nvPr/>
          </p:nvPicPr>
          <p:blipFill>
            <a:blip r:embed="rId5"/>
            <a:stretch>
              <a:fillRect/>
            </a:stretch>
          </p:blipFill>
          <p:spPr>
            <a:xfrm>
              <a:off x="1715239" y="5978474"/>
              <a:ext cx="2162175" cy="361950"/>
            </a:xfrm>
            <a:prstGeom prst="rect">
              <a:avLst/>
            </a:prstGeom>
          </p:spPr>
        </p:pic>
      </p:grpSp>
      <p:grpSp>
        <p:nvGrpSpPr>
          <p:cNvPr id="24" name="组合 23">
            <a:extLst>
              <a:ext uri="{FF2B5EF4-FFF2-40B4-BE49-F238E27FC236}">
                <a16:creationId xmlns:a16="http://schemas.microsoft.com/office/drawing/2014/main" id="{FA810D50-52AB-49AC-AD94-EAF8562892D9}"/>
              </a:ext>
            </a:extLst>
          </p:cNvPr>
          <p:cNvGrpSpPr/>
          <p:nvPr/>
        </p:nvGrpSpPr>
        <p:grpSpPr>
          <a:xfrm>
            <a:off x="2956186" y="1558452"/>
            <a:ext cx="1054126" cy="526487"/>
            <a:chOff x="2894794" y="4372781"/>
            <a:chExt cx="1054126" cy="526487"/>
          </a:xfrm>
        </p:grpSpPr>
        <p:pic>
          <p:nvPicPr>
            <p:cNvPr id="25" name="图片 24">
              <a:extLst>
                <a:ext uri="{FF2B5EF4-FFF2-40B4-BE49-F238E27FC236}">
                  <a16:creationId xmlns:a16="http://schemas.microsoft.com/office/drawing/2014/main" id="{615CBD3A-EA6B-4644-B77D-8013BC471D4B}"/>
                </a:ext>
              </a:extLst>
            </p:cNvPr>
            <p:cNvPicPr>
              <a:picLocks noChangeAspect="1"/>
            </p:cNvPicPr>
            <p:nvPr/>
          </p:nvPicPr>
          <p:blipFill>
            <a:blip r:embed="rId6"/>
            <a:stretch>
              <a:fillRect/>
            </a:stretch>
          </p:blipFill>
          <p:spPr>
            <a:xfrm>
              <a:off x="2894794" y="4372781"/>
              <a:ext cx="409575" cy="447675"/>
            </a:xfrm>
            <a:prstGeom prst="rect">
              <a:avLst/>
            </a:prstGeom>
          </p:spPr>
        </p:pic>
        <p:pic>
          <p:nvPicPr>
            <p:cNvPr id="26" name="图片 25">
              <a:extLst>
                <a:ext uri="{FF2B5EF4-FFF2-40B4-BE49-F238E27FC236}">
                  <a16:creationId xmlns:a16="http://schemas.microsoft.com/office/drawing/2014/main" id="{1A065A58-AE87-436C-92B4-67DDE75A3189}"/>
                </a:ext>
              </a:extLst>
            </p:cNvPr>
            <p:cNvPicPr>
              <a:picLocks noChangeAspect="1"/>
            </p:cNvPicPr>
            <p:nvPr/>
          </p:nvPicPr>
          <p:blipFill>
            <a:blip r:embed="rId7"/>
            <a:stretch>
              <a:fillRect/>
            </a:stretch>
          </p:blipFill>
          <p:spPr>
            <a:xfrm>
              <a:off x="3625070" y="4432543"/>
              <a:ext cx="323850" cy="466725"/>
            </a:xfrm>
            <a:prstGeom prst="rect">
              <a:avLst/>
            </a:prstGeom>
          </p:spPr>
        </p:pic>
      </p:grpSp>
      <p:grpSp>
        <p:nvGrpSpPr>
          <p:cNvPr id="27" name="组合 26">
            <a:extLst>
              <a:ext uri="{FF2B5EF4-FFF2-40B4-BE49-F238E27FC236}">
                <a16:creationId xmlns:a16="http://schemas.microsoft.com/office/drawing/2014/main" id="{9D94ED1C-F018-4AB3-A320-AB03C5188DFA}"/>
              </a:ext>
            </a:extLst>
          </p:cNvPr>
          <p:cNvGrpSpPr/>
          <p:nvPr/>
        </p:nvGrpSpPr>
        <p:grpSpPr>
          <a:xfrm>
            <a:off x="2935154" y="2486539"/>
            <a:ext cx="1003652" cy="534925"/>
            <a:chOff x="2873762" y="5300868"/>
            <a:chExt cx="1003652" cy="534925"/>
          </a:xfrm>
        </p:grpSpPr>
        <p:pic>
          <p:nvPicPr>
            <p:cNvPr id="28" name="图片 27">
              <a:extLst>
                <a:ext uri="{FF2B5EF4-FFF2-40B4-BE49-F238E27FC236}">
                  <a16:creationId xmlns:a16="http://schemas.microsoft.com/office/drawing/2014/main" id="{B0A4FD51-31FC-495C-B80D-0DFAF7BC859A}"/>
                </a:ext>
              </a:extLst>
            </p:cNvPr>
            <p:cNvPicPr>
              <a:picLocks noChangeAspect="1"/>
            </p:cNvPicPr>
            <p:nvPr/>
          </p:nvPicPr>
          <p:blipFill>
            <a:blip r:embed="rId7"/>
            <a:stretch>
              <a:fillRect/>
            </a:stretch>
          </p:blipFill>
          <p:spPr>
            <a:xfrm>
              <a:off x="3553564" y="5369068"/>
              <a:ext cx="323850" cy="466725"/>
            </a:xfrm>
            <a:prstGeom prst="rect">
              <a:avLst/>
            </a:prstGeom>
          </p:spPr>
        </p:pic>
        <p:pic>
          <p:nvPicPr>
            <p:cNvPr id="29" name="图片 28">
              <a:extLst>
                <a:ext uri="{FF2B5EF4-FFF2-40B4-BE49-F238E27FC236}">
                  <a16:creationId xmlns:a16="http://schemas.microsoft.com/office/drawing/2014/main" id="{AB92066A-E6C6-48DC-B19D-80D75D2D52C7}"/>
                </a:ext>
              </a:extLst>
            </p:cNvPr>
            <p:cNvPicPr>
              <a:picLocks noChangeAspect="1"/>
            </p:cNvPicPr>
            <p:nvPr/>
          </p:nvPicPr>
          <p:blipFill>
            <a:blip r:embed="rId6"/>
            <a:stretch>
              <a:fillRect/>
            </a:stretch>
          </p:blipFill>
          <p:spPr>
            <a:xfrm>
              <a:off x="2873762" y="5300868"/>
              <a:ext cx="409575" cy="447675"/>
            </a:xfrm>
            <a:prstGeom prst="rect">
              <a:avLst/>
            </a:prstGeom>
          </p:spPr>
        </p:pic>
      </p:grpSp>
      <p:pic>
        <p:nvPicPr>
          <p:cNvPr id="30" name="图片 29">
            <a:extLst>
              <a:ext uri="{FF2B5EF4-FFF2-40B4-BE49-F238E27FC236}">
                <a16:creationId xmlns:a16="http://schemas.microsoft.com/office/drawing/2014/main" id="{AF15A74C-C86F-46B4-B491-AFEA2DFB613E}"/>
              </a:ext>
            </a:extLst>
          </p:cNvPr>
          <p:cNvPicPr>
            <a:picLocks noChangeAspect="1"/>
          </p:cNvPicPr>
          <p:nvPr/>
        </p:nvPicPr>
        <p:blipFill>
          <a:blip r:embed="rId8"/>
          <a:stretch>
            <a:fillRect/>
          </a:stretch>
        </p:blipFill>
        <p:spPr>
          <a:xfrm>
            <a:off x="5583437" y="1101077"/>
            <a:ext cx="2143125" cy="838200"/>
          </a:xfrm>
          <a:prstGeom prst="rect">
            <a:avLst/>
          </a:prstGeom>
        </p:spPr>
      </p:pic>
      <p:pic>
        <p:nvPicPr>
          <p:cNvPr id="31" name="图片 30">
            <a:extLst>
              <a:ext uri="{FF2B5EF4-FFF2-40B4-BE49-F238E27FC236}">
                <a16:creationId xmlns:a16="http://schemas.microsoft.com/office/drawing/2014/main" id="{79E857FF-7FD3-4635-88C5-343B8251B514}"/>
              </a:ext>
            </a:extLst>
          </p:cNvPr>
          <p:cNvPicPr>
            <a:picLocks noChangeAspect="1"/>
          </p:cNvPicPr>
          <p:nvPr/>
        </p:nvPicPr>
        <p:blipFill>
          <a:blip r:embed="rId9"/>
          <a:stretch>
            <a:fillRect/>
          </a:stretch>
        </p:blipFill>
        <p:spPr>
          <a:xfrm>
            <a:off x="5589994" y="2137074"/>
            <a:ext cx="2305050" cy="895350"/>
          </a:xfrm>
          <a:prstGeom prst="rect">
            <a:avLst/>
          </a:prstGeom>
        </p:spPr>
      </p:pic>
      <p:pic>
        <p:nvPicPr>
          <p:cNvPr id="32" name="图片 31">
            <a:extLst>
              <a:ext uri="{FF2B5EF4-FFF2-40B4-BE49-F238E27FC236}">
                <a16:creationId xmlns:a16="http://schemas.microsoft.com/office/drawing/2014/main" id="{D25611E6-5336-4C17-A9E6-ED28103E8593}"/>
              </a:ext>
            </a:extLst>
          </p:cNvPr>
          <p:cNvPicPr>
            <a:picLocks noChangeAspect="1"/>
          </p:cNvPicPr>
          <p:nvPr/>
        </p:nvPicPr>
        <p:blipFill>
          <a:blip r:embed="rId10"/>
          <a:stretch>
            <a:fillRect/>
          </a:stretch>
        </p:blipFill>
        <p:spPr>
          <a:xfrm>
            <a:off x="5589994" y="3131582"/>
            <a:ext cx="2047875" cy="447675"/>
          </a:xfrm>
          <a:prstGeom prst="rect">
            <a:avLst/>
          </a:prstGeom>
        </p:spPr>
      </p:pic>
      <p:sp>
        <p:nvSpPr>
          <p:cNvPr id="2" name="矩形 1">
            <a:extLst>
              <a:ext uri="{FF2B5EF4-FFF2-40B4-BE49-F238E27FC236}">
                <a16:creationId xmlns:a16="http://schemas.microsoft.com/office/drawing/2014/main" id="{5F1AC385-B1D3-457B-B1C1-53BA8A945425}"/>
              </a:ext>
            </a:extLst>
          </p:cNvPr>
          <p:cNvSpPr/>
          <p:nvPr/>
        </p:nvSpPr>
        <p:spPr>
          <a:xfrm>
            <a:off x="899592" y="1159763"/>
            <a:ext cx="720080"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34350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34</a:t>
            </a:fld>
            <a:endParaRPr lang="en-US"/>
          </a:p>
        </p:txBody>
      </p:sp>
      <p:sp>
        <p:nvSpPr>
          <p:cNvPr id="12" name="object 2">
            <a:extLst>
              <a:ext uri="{FF2B5EF4-FFF2-40B4-BE49-F238E27FC236}">
                <a16:creationId xmlns:a16="http://schemas.microsoft.com/office/drawing/2014/main" id="{98BC74EA-4D3F-F7DE-12C6-90D42CC4902F}"/>
              </a:ext>
            </a:extLst>
          </p:cNvPr>
          <p:cNvSpPr txBox="1">
            <a:spLocks/>
          </p:cNvSpPr>
          <p:nvPr/>
        </p:nvSpPr>
        <p:spPr>
          <a:xfrm>
            <a:off x="707390" y="524763"/>
            <a:ext cx="63131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dirty="0">
                <a:ln>
                  <a:noFill/>
                </a:ln>
                <a:effectLst/>
                <a:uLnTx/>
                <a:uFillTx/>
                <a:latin typeface="Palatino Linotype"/>
                <a:ea typeface="+mj-ea"/>
              </a:rPr>
              <a:t>Eliminating</a:t>
            </a:r>
            <a:r>
              <a:rPr kumimoji="0" lang="en-US" sz="4000" b="1" i="0" u="none" strike="noStrike" kern="0" cap="none" spc="-30" normalizeH="0" baseline="0" noProof="0" dirty="0">
                <a:ln>
                  <a:noFill/>
                </a:ln>
                <a:effectLst/>
                <a:uLnTx/>
                <a:uFillTx/>
                <a:latin typeface="Palatino Linotype"/>
                <a:ea typeface="+mj-ea"/>
              </a:rPr>
              <a:t> </a:t>
            </a:r>
            <a:r>
              <a:rPr kumimoji="0" lang="en-US" sz="4000" b="1" i="0" u="none" strike="noStrike" kern="0" cap="none" spc="0" normalizeH="0" baseline="0" noProof="0" dirty="0">
                <a:ln>
                  <a:noFill/>
                </a:ln>
                <a:effectLst/>
                <a:uLnTx/>
                <a:uFillTx/>
                <a:latin typeface="Palatino Linotype"/>
                <a:ea typeface="+mj-ea"/>
              </a:rPr>
              <a:t>Left</a:t>
            </a:r>
            <a:r>
              <a:rPr kumimoji="0" lang="en-US" sz="4000" b="1" i="0" u="none" strike="noStrike" kern="0" cap="none" spc="-25" normalizeH="0" baseline="0" noProof="0" dirty="0">
                <a:ln>
                  <a:noFill/>
                </a:ln>
                <a:effectLst/>
                <a:uLnTx/>
                <a:uFillTx/>
                <a:latin typeface="Palatino Linotype"/>
                <a:ea typeface="+mj-ea"/>
              </a:rPr>
              <a:t> </a:t>
            </a:r>
            <a:r>
              <a:rPr kumimoji="0" lang="en-US" sz="4000" b="1" i="0" u="none" strike="noStrike" kern="0" cap="none" spc="-5" normalizeH="0" baseline="0" noProof="0" dirty="0">
                <a:ln>
                  <a:noFill/>
                </a:ln>
                <a:effectLst/>
                <a:uLnTx/>
                <a:uFillTx/>
                <a:latin typeface="Palatino Linotype"/>
                <a:ea typeface="+mj-ea"/>
              </a:rPr>
              <a:t>Recursion</a:t>
            </a:r>
          </a:p>
        </p:txBody>
      </p:sp>
      <p:sp>
        <p:nvSpPr>
          <p:cNvPr id="13" name="object 3">
            <a:extLst>
              <a:ext uri="{FF2B5EF4-FFF2-40B4-BE49-F238E27FC236}">
                <a16:creationId xmlns:a16="http://schemas.microsoft.com/office/drawing/2014/main" id="{4994F777-5A80-8CF4-B2A4-6844B8BFD973}"/>
              </a:ext>
            </a:extLst>
          </p:cNvPr>
          <p:cNvSpPr txBox="1"/>
          <p:nvPr/>
        </p:nvSpPr>
        <p:spPr>
          <a:xfrm>
            <a:off x="707390" y="1610867"/>
            <a:ext cx="7425690" cy="1998980"/>
          </a:xfrm>
          <a:prstGeom prst="rect">
            <a:avLst/>
          </a:prstGeom>
        </p:spPr>
        <p:txBody>
          <a:bodyPr vert="horz" wrap="square" lIns="0" tIns="12700" rIns="0" bIns="0" rtlCol="0">
            <a:spAutoFit/>
          </a:bodyPr>
          <a:lstStyle/>
          <a:p>
            <a:pPr marL="242570" marR="5080" indent="-230504" rtl="0">
              <a:lnSpc>
                <a:spcPct val="115999"/>
              </a:lnSpc>
              <a:spcBef>
                <a:spcPts val="100"/>
              </a:spcBef>
              <a:buFont typeface="Arial MT"/>
              <a:buChar char="•"/>
              <a:tabLst>
                <a:tab pos="242570" algn="l"/>
                <a:tab pos="243204" algn="l"/>
              </a:tabLst>
            </a:pP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technique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for </a:t>
            </a:r>
            <a:r>
              <a:rPr sz="2000" kern="1200" dirty="0">
                <a:solidFill>
                  <a:prstClr val="black"/>
                </a:solidFill>
                <a:latin typeface="Palatino Linotype"/>
                <a:cs typeface="Palatino Linotype"/>
              </a:rPr>
              <a:t>eliminating </a:t>
            </a:r>
            <a:r>
              <a:rPr sz="2000" kern="1200" spc="-5" dirty="0">
                <a:solidFill>
                  <a:prstClr val="black"/>
                </a:solidFill>
                <a:latin typeface="Palatino Linotype"/>
                <a:cs typeface="Palatino Linotype"/>
              </a:rPr>
              <a:t>immediate</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left</a:t>
            </a:r>
            <a:r>
              <a:rPr sz="2000" kern="1200" spc="-5" dirty="0">
                <a:solidFill>
                  <a:prstClr val="black"/>
                </a:solidFill>
                <a:latin typeface="Palatino Linotype"/>
                <a:cs typeface="Palatino Linotype"/>
              </a:rPr>
              <a:t> recursion does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not </a:t>
            </a:r>
            <a:r>
              <a:rPr sz="2000" kern="1200" spc="-484" dirty="0">
                <a:solidFill>
                  <a:prstClr val="black"/>
                </a:solidFill>
                <a:latin typeface="Palatino Linotype"/>
                <a:cs typeface="Palatino Linotype"/>
              </a:rPr>
              <a:t> </a:t>
            </a:r>
            <a:r>
              <a:rPr sz="2000" kern="1200" spc="-15" dirty="0">
                <a:solidFill>
                  <a:prstClr val="black"/>
                </a:solidFill>
                <a:latin typeface="Palatino Linotype"/>
                <a:cs typeface="Palatino Linotype"/>
              </a:rPr>
              <a:t>work</a:t>
            </a:r>
            <a:r>
              <a:rPr sz="2000" kern="1200" spc="-5" dirty="0">
                <a:solidFill>
                  <a:prstClr val="black"/>
                </a:solidFill>
                <a:latin typeface="Palatino Linotype"/>
                <a:cs typeface="Palatino Linotype"/>
              </a:rPr>
              <a:t> for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non-immediate</a:t>
            </a:r>
            <a:r>
              <a:rPr sz="2000" kern="1200" dirty="0">
                <a:solidFill>
                  <a:prstClr val="black"/>
                </a:solidFill>
                <a:latin typeface="Palatino Linotype"/>
                <a:cs typeface="Palatino Linotype"/>
              </a:rPr>
              <a:t> left</a:t>
            </a:r>
            <a:r>
              <a:rPr sz="2000" kern="1200" spc="-5" dirty="0">
                <a:solidFill>
                  <a:prstClr val="black"/>
                </a:solidFill>
                <a:latin typeface="Palatino Linotype"/>
                <a:cs typeface="Palatino Linotype"/>
              </a:rPr>
              <a:t> recursions</a:t>
            </a:r>
            <a:endParaRPr sz="2000" kern="1200" dirty="0">
              <a:solidFill>
                <a:prstClr val="black"/>
              </a:solidFill>
              <a:latin typeface="Palatino Linotype"/>
              <a:cs typeface="Palatino Linotype"/>
            </a:endParaRPr>
          </a:p>
          <a:p>
            <a:pPr marL="243204" indent="-230504" rtl="0">
              <a:spcBef>
                <a:spcPts val="1105"/>
              </a:spcBef>
              <a:buFont typeface="Arial MT"/>
              <a:buChar char="•"/>
              <a:tabLst>
                <a:tab pos="242570" algn="l"/>
                <a:tab pos="243204" algn="l"/>
              </a:tabLst>
            </a:pPr>
            <a:r>
              <a:rPr sz="2000" kern="1200" spc="-5" dirty="0">
                <a:solidFill>
                  <a:prstClr val="black"/>
                </a:solidFill>
                <a:latin typeface="Palatino Linotype"/>
                <a:cs typeface="Palatino Linotype"/>
              </a:rPr>
              <a:t>The general</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left</a:t>
            </a:r>
            <a:r>
              <a:rPr sz="2000" kern="1200" spc="-5" dirty="0">
                <a:solidFill>
                  <a:prstClr val="black"/>
                </a:solidFill>
                <a:latin typeface="Palatino Linotype"/>
                <a:cs typeface="Palatino Linotype"/>
              </a:rPr>
              <a:t> recursion</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eliminating </a:t>
            </a:r>
            <a:r>
              <a:rPr sz="2000" kern="1200" spc="-5" dirty="0">
                <a:solidFill>
                  <a:prstClr val="black"/>
                </a:solidFill>
                <a:latin typeface="Palatino Linotype"/>
                <a:cs typeface="Palatino Linotype"/>
              </a:rPr>
              <a:t>algorithm (</a:t>
            </a:r>
            <a:r>
              <a:rPr sz="2000" kern="1200" spc="-5" dirty="0">
                <a:solidFill>
                  <a:srgbClr val="FF0000"/>
                </a:solidFill>
                <a:latin typeface="Palatino Linotype"/>
                <a:cs typeface="Palatino Linotype"/>
              </a:rPr>
              <a:t>iterative</a:t>
            </a:r>
            <a:r>
              <a:rPr sz="2000" kern="1200" spc="-5" dirty="0">
                <a:solidFill>
                  <a:prstClr val="black"/>
                </a:solidFill>
                <a:latin typeface="Palatino Linotype"/>
                <a:cs typeface="Palatino Linotype"/>
              </a:rPr>
              <a:t>)</a:t>
            </a:r>
            <a:endParaRPr sz="2000" kern="1200" dirty="0">
              <a:solidFill>
                <a:prstClr val="black"/>
              </a:solidFill>
              <a:latin typeface="Palatino Linotype"/>
              <a:cs typeface="Palatino Linotype"/>
            </a:endParaRPr>
          </a:p>
          <a:p>
            <a:pPr marL="698500" lvl="1" indent="-228600" rtl="0">
              <a:spcBef>
                <a:spcPts val="1110"/>
              </a:spcBef>
              <a:buClr>
                <a:srgbClr val="000000"/>
              </a:buClr>
              <a:buFont typeface="Wingdings"/>
              <a:buChar char=""/>
              <a:tabLst>
                <a:tab pos="698500" algn="l"/>
              </a:tabLst>
            </a:pPr>
            <a:r>
              <a:rPr b="1" kern="1200" spc="-5" dirty="0">
                <a:solidFill>
                  <a:srgbClr val="0432FF"/>
                </a:solidFill>
                <a:latin typeface="Palatino Linotype"/>
                <a:cs typeface="Palatino Linotype"/>
              </a:rPr>
              <a:t>Input:</a:t>
            </a:r>
            <a:r>
              <a:rPr b="1" kern="1200" dirty="0">
                <a:solidFill>
                  <a:srgbClr val="0432FF"/>
                </a:solidFill>
                <a:latin typeface="Palatino Linotype"/>
                <a:cs typeface="Palatino Linotype"/>
              </a:rPr>
              <a:t> </a:t>
            </a:r>
            <a:r>
              <a:rPr kern="1200" spc="-5" dirty="0">
                <a:solidFill>
                  <a:prstClr val="black"/>
                </a:solidFill>
                <a:latin typeface="Palatino Linotype"/>
                <a:cs typeface="Palatino Linotype"/>
              </a:rPr>
              <a:t>Grammar</a:t>
            </a:r>
            <a:r>
              <a:rPr kern="1200" spc="5" dirty="0">
                <a:solidFill>
                  <a:prstClr val="black"/>
                </a:solidFill>
                <a:latin typeface="Palatino Linotype"/>
                <a:cs typeface="Palatino Linotype"/>
              </a:rPr>
              <a:t> </a:t>
            </a:r>
            <a:r>
              <a:rPr i="1" kern="1200" dirty="0">
                <a:solidFill>
                  <a:prstClr val="black"/>
                </a:solidFill>
                <a:latin typeface="Palatino Linotype"/>
                <a:cs typeface="Palatino Linotype"/>
              </a:rPr>
              <a:t>G</a:t>
            </a:r>
            <a:r>
              <a:rPr i="1" kern="1200" spc="5" dirty="0">
                <a:solidFill>
                  <a:prstClr val="black"/>
                </a:solidFill>
                <a:latin typeface="Palatino Linotype"/>
                <a:cs typeface="Palatino Linotype"/>
              </a:rPr>
              <a:t> </a:t>
            </a:r>
            <a:r>
              <a:rPr kern="1200" spc="-5" dirty="0">
                <a:solidFill>
                  <a:prstClr val="black"/>
                </a:solidFill>
                <a:latin typeface="Palatino Linotype"/>
                <a:cs typeface="Palatino Linotype"/>
              </a:rPr>
              <a:t>with</a:t>
            </a:r>
            <a:r>
              <a:rPr kern="1200" dirty="0">
                <a:solidFill>
                  <a:prstClr val="black"/>
                </a:solidFill>
                <a:latin typeface="Palatino Linotype"/>
                <a:cs typeface="Palatino Linotype"/>
              </a:rPr>
              <a:t> no</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cycles</a:t>
            </a:r>
            <a:r>
              <a:rPr kern="1200" dirty="0">
                <a:solidFill>
                  <a:prstClr val="black"/>
                </a:solidFill>
                <a:latin typeface="Palatino Linotype"/>
                <a:cs typeface="Palatino Linotype"/>
              </a:rPr>
              <a:t> or</a:t>
            </a:r>
            <a:r>
              <a:rPr kern="1200" spc="5" dirty="0">
                <a:solidFill>
                  <a:prstClr val="black"/>
                </a:solidFill>
                <a:latin typeface="Palatino Linotype"/>
                <a:cs typeface="Palatino Linotype"/>
              </a:rPr>
              <a:t> </a:t>
            </a:r>
            <a:r>
              <a:rPr kern="1200" dirty="0">
                <a:solidFill>
                  <a:prstClr val="black"/>
                </a:solidFill>
                <a:latin typeface="Cambria Math"/>
                <a:cs typeface="Cambria Math"/>
              </a:rPr>
              <a:t>𝜖</a:t>
            </a:r>
            <a:r>
              <a:rPr kern="1200" dirty="0">
                <a:solidFill>
                  <a:prstClr val="black"/>
                </a:solidFill>
                <a:latin typeface="Palatino Linotype"/>
                <a:cs typeface="Palatino Linotype"/>
              </a:rPr>
              <a:t>-productions</a:t>
            </a:r>
          </a:p>
          <a:p>
            <a:pPr marL="698500" lvl="1" indent="-228600" rtl="0">
              <a:spcBef>
                <a:spcPts val="1030"/>
              </a:spcBef>
              <a:buClr>
                <a:srgbClr val="000000"/>
              </a:buClr>
              <a:buFont typeface="Wingdings"/>
              <a:buChar char=""/>
              <a:tabLst>
                <a:tab pos="698500" algn="l"/>
              </a:tabLst>
            </a:pPr>
            <a:r>
              <a:rPr b="1" kern="1200" dirty="0">
                <a:solidFill>
                  <a:srgbClr val="0432FF"/>
                </a:solidFill>
                <a:latin typeface="Palatino Linotype"/>
                <a:cs typeface="Palatino Linotype"/>
              </a:rPr>
              <a:t>Output:</a:t>
            </a:r>
            <a:r>
              <a:rPr b="1" kern="1200" spc="-65" dirty="0">
                <a:solidFill>
                  <a:srgbClr val="0432FF"/>
                </a:solidFill>
                <a:latin typeface="Palatino Linotype"/>
                <a:cs typeface="Palatino Linotype"/>
              </a:rPr>
              <a:t> </a:t>
            </a:r>
            <a:r>
              <a:rPr kern="1200" spc="-5" dirty="0">
                <a:solidFill>
                  <a:prstClr val="black"/>
                </a:solidFill>
                <a:latin typeface="Palatino Linotype"/>
                <a:cs typeface="Palatino Linotype"/>
              </a:rPr>
              <a:t>An</a:t>
            </a:r>
            <a:r>
              <a:rPr kern="1200" spc="5" dirty="0">
                <a:solidFill>
                  <a:prstClr val="black"/>
                </a:solidFill>
                <a:latin typeface="Palatino Linotype"/>
                <a:cs typeface="Palatino Linotype"/>
              </a:rPr>
              <a:t> </a:t>
            </a:r>
            <a:r>
              <a:rPr kern="1200" spc="-10" dirty="0">
                <a:solidFill>
                  <a:prstClr val="black"/>
                </a:solidFill>
                <a:latin typeface="Palatino Linotype"/>
                <a:cs typeface="Palatino Linotype"/>
              </a:rPr>
              <a:t>equivalent</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grammar</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with</a:t>
            </a:r>
            <a:r>
              <a:rPr kern="1200" dirty="0">
                <a:solidFill>
                  <a:prstClr val="black"/>
                </a:solidFill>
                <a:latin typeface="Palatino Linotype"/>
                <a:cs typeface="Palatino Linotype"/>
              </a:rPr>
              <a:t> no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left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recursion</a:t>
            </a:r>
            <a:endParaRPr kern="1200" dirty="0">
              <a:solidFill>
                <a:prstClr val="black"/>
              </a:solidFill>
              <a:latin typeface="Palatino Linotype"/>
              <a:cs typeface="Palatino Linotype"/>
            </a:endParaRPr>
          </a:p>
        </p:txBody>
      </p:sp>
      <p:pic>
        <p:nvPicPr>
          <p:cNvPr id="14" name="object 4">
            <a:extLst>
              <a:ext uri="{FF2B5EF4-FFF2-40B4-BE49-F238E27FC236}">
                <a16:creationId xmlns:a16="http://schemas.microsoft.com/office/drawing/2014/main" id="{B3057CEE-BCC9-675C-3AAB-7B37C6E95F50}"/>
              </a:ext>
            </a:extLst>
          </p:cNvPr>
          <p:cNvPicPr/>
          <p:nvPr/>
        </p:nvPicPr>
        <p:blipFill>
          <a:blip r:embed="rId3" cstate="print"/>
          <a:stretch>
            <a:fillRect/>
          </a:stretch>
        </p:blipFill>
        <p:spPr>
          <a:xfrm>
            <a:off x="1201810" y="3863114"/>
            <a:ext cx="6633651" cy="2262533"/>
          </a:xfrm>
          <a:prstGeom prst="rect">
            <a:avLst/>
          </a:prstGeom>
        </p:spPr>
      </p:pic>
    </p:spTree>
    <p:extLst>
      <p:ext uri="{BB962C8B-B14F-4D97-AF65-F5344CB8AC3E}">
        <p14:creationId xmlns:p14="http://schemas.microsoft.com/office/powerpoint/2010/main" val="38067597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35</a:t>
            </a:fld>
            <a:endParaRPr lang="en-US"/>
          </a:p>
        </p:txBody>
      </p:sp>
      <p:sp>
        <p:nvSpPr>
          <p:cNvPr id="15" name="object 2">
            <a:extLst>
              <a:ext uri="{FF2B5EF4-FFF2-40B4-BE49-F238E27FC236}">
                <a16:creationId xmlns:a16="http://schemas.microsoft.com/office/drawing/2014/main" id="{858CFEAC-9CCE-E8BE-B0A4-3B0725A4ED16}"/>
              </a:ext>
            </a:extLst>
          </p:cNvPr>
          <p:cNvSpPr txBox="1">
            <a:spLocks/>
          </p:cNvSpPr>
          <p:nvPr/>
        </p:nvSpPr>
        <p:spPr>
          <a:xfrm>
            <a:off x="707390" y="524763"/>
            <a:ext cx="20275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dirty="0">
                <a:ln>
                  <a:noFill/>
                </a:ln>
                <a:effectLst/>
                <a:uLnTx/>
                <a:uFillTx/>
                <a:latin typeface="Palatino Linotype"/>
                <a:ea typeface="+mj-ea"/>
              </a:rPr>
              <a:t>Exa</a:t>
            </a:r>
            <a:r>
              <a:rPr kumimoji="0" lang="en-US" sz="4000" b="1" i="0" u="none" strike="noStrike" kern="0" cap="none" spc="5" normalizeH="0" baseline="0" noProof="0" dirty="0">
                <a:ln>
                  <a:noFill/>
                </a:ln>
                <a:effectLst/>
                <a:uLnTx/>
                <a:uFillTx/>
                <a:latin typeface="Palatino Linotype"/>
                <a:ea typeface="+mj-ea"/>
              </a:rPr>
              <a:t>m</a:t>
            </a:r>
            <a:r>
              <a:rPr kumimoji="0" lang="en-US" sz="4000" b="1" i="0" u="none" strike="noStrike" kern="0" cap="none" spc="-10" normalizeH="0" baseline="0" noProof="0" dirty="0">
                <a:ln>
                  <a:noFill/>
                </a:ln>
                <a:effectLst/>
                <a:uLnTx/>
                <a:uFillTx/>
                <a:latin typeface="Palatino Linotype"/>
                <a:ea typeface="+mj-ea"/>
              </a:rPr>
              <a:t>p</a:t>
            </a:r>
            <a:r>
              <a:rPr kumimoji="0" lang="en-US" sz="4000" b="1" i="0" u="none" strike="noStrike" kern="0" cap="none" spc="5" normalizeH="0" baseline="0" noProof="0" dirty="0">
                <a:ln>
                  <a:noFill/>
                </a:ln>
                <a:effectLst/>
                <a:uLnTx/>
                <a:uFillTx/>
                <a:latin typeface="Palatino Linotype"/>
                <a:ea typeface="+mj-ea"/>
              </a:rPr>
              <a:t>l</a:t>
            </a:r>
            <a:r>
              <a:rPr kumimoji="0" lang="en-US" sz="4000" b="1" i="0" u="none" strike="noStrike" kern="0" cap="none" spc="0" normalizeH="0" baseline="0" noProof="0" dirty="0">
                <a:ln>
                  <a:noFill/>
                </a:ln>
                <a:effectLst/>
                <a:uLnTx/>
                <a:uFillTx/>
                <a:latin typeface="Palatino Linotype"/>
                <a:ea typeface="+mj-ea"/>
              </a:rPr>
              <a:t>e</a:t>
            </a:r>
          </a:p>
        </p:txBody>
      </p:sp>
      <p:sp>
        <p:nvSpPr>
          <p:cNvPr id="16" name="object 3">
            <a:extLst>
              <a:ext uri="{FF2B5EF4-FFF2-40B4-BE49-F238E27FC236}">
                <a16:creationId xmlns:a16="http://schemas.microsoft.com/office/drawing/2014/main" id="{A342AEEE-04B7-5564-1681-7D93D2DD2DEE}"/>
              </a:ext>
            </a:extLst>
          </p:cNvPr>
          <p:cNvSpPr txBox="1"/>
          <p:nvPr/>
        </p:nvSpPr>
        <p:spPr>
          <a:xfrm>
            <a:off x="707390" y="1658620"/>
            <a:ext cx="7239000" cy="2725420"/>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sz="2200" kern="1200" spc="-5" dirty="0">
                <a:solidFill>
                  <a:prstClr val="black"/>
                </a:solidFill>
                <a:latin typeface="Palatino Linotype"/>
                <a:cs typeface="Palatino Linotype"/>
              </a:rPr>
              <a:t>O</a:t>
            </a:r>
            <a:r>
              <a:rPr sz="2200" kern="1200" spc="5" dirty="0">
                <a:solidFill>
                  <a:prstClr val="black"/>
                </a:solidFill>
                <a:latin typeface="Palatino Linotype"/>
                <a:cs typeface="Palatino Linotype"/>
              </a:rPr>
              <a:t>rd</a:t>
            </a:r>
            <a:r>
              <a:rPr sz="2200" kern="1200" spc="-5" dirty="0">
                <a:solidFill>
                  <a:prstClr val="black"/>
                </a:solidFill>
                <a:latin typeface="Palatino Linotype"/>
                <a:cs typeface="Palatino Linotype"/>
              </a:rPr>
              <a:t>e</a:t>
            </a:r>
            <a:r>
              <a:rPr sz="2200" kern="1200" dirty="0">
                <a:solidFill>
                  <a:prstClr val="black"/>
                </a:solidFill>
                <a:latin typeface="Palatino Linotype"/>
                <a:cs typeface="Palatino Linotype"/>
              </a:rPr>
              <a:t>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t</a:t>
            </a:r>
            <a:r>
              <a:rPr sz="2200" kern="1200" spc="-10" dirty="0">
                <a:solidFill>
                  <a:prstClr val="black"/>
                </a:solidFill>
                <a:latin typeface="Palatino Linotype"/>
                <a:cs typeface="Palatino Linotype"/>
              </a:rPr>
              <a:t>h</a:t>
            </a:r>
            <a:r>
              <a:rPr sz="2200" kern="1200" dirty="0">
                <a:solidFill>
                  <a:prstClr val="black"/>
                </a:solidFill>
                <a:latin typeface="Palatino Linotype"/>
                <a:cs typeface="Palatino Linotype"/>
              </a:rPr>
              <a:t>e</a:t>
            </a:r>
            <a:r>
              <a:rPr sz="2200" kern="1200" spc="-5" dirty="0">
                <a:solidFill>
                  <a:prstClr val="black"/>
                </a:solidFill>
                <a:latin typeface="Palatino Linotype"/>
                <a:cs typeface="Palatino Linotype"/>
              </a:rPr>
              <a:t> </a:t>
            </a:r>
            <a:r>
              <a:rPr sz="2200" kern="1200" spc="-10" dirty="0">
                <a:solidFill>
                  <a:prstClr val="black"/>
                </a:solidFill>
                <a:latin typeface="Palatino Linotype"/>
                <a:cs typeface="Palatino Linotype"/>
              </a:rPr>
              <a:t>n</a:t>
            </a:r>
            <a:r>
              <a:rPr sz="2200" kern="1200" spc="-5" dirty="0">
                <a:solidFill>
                  <a:prstClr val="black"/>
                </a:solidFill>
                <a:latin typeface="Palatino Linotype"/>
                <a:cs typeface="Palatino Linotype"/>
              </a:rPr>
              <a:t>o</a:t>
            </a:r>
            <a:r>
              <a:rPr sz="2200" kern="1200" spc="-10" dirty="0">
                <a:solidFill>
                  <a:prstClr val="black"/>
                </a:solidFill>
                <a:latin typeface="Palatino Linotype"/>
                <a:cs typeface="Palatino Linotype"/>
              </a:rPr>
              <a:t>n</a:t>
            </a:r>
            <a:r>
              <a:rPr sz="2200" kern="1200" spc="-5" dirty="0">
                <a:solidFill>
                  <a:prstClr val="black"/>
                </a:solidFill>
                <a:latin typeface="Palatino Linotype"/>
                <a:cs typeface="Palatino Linotype"/>
              </a:rPr>
              <a:t>te</a:t>
            </a:r>
            <a:r>
              <a:rPr sz="2200" kern="1200" spc="5" dirty="0">
                <a:solidFill>
                  <a:prstClr val="black"/>
                </a:solidFill>
                <a:latin typeface="Palatino Linotype"/>
                <a:cs typeface="Palatino Linotype"/>
              </a:rPr>
              <a:t>r</a:t>
            </a:r>
            <a:r>
              <a:rPr sz="2200" kern="1200" spc="-5" dirty="0">
                <a:solidFill>
                  <a:prstClr val="black"/>
                </a:solidFill>
                <a:latin typeface="Palatino Linotype"/>
                <a:cs typeface="Palatino Linotype"/>
              </a:rPr>
              <a:t>mi</a:t>
            </a:r>
            <a:r>
              <a:rPr sz="2200" kern="1200" spc="-10" dirty="0">
                <a:solidFill>
                  <a:prstClr val="black"/>
                </a:solidFill>
                <a:latin typeface="Palatino Linotype"/>
                <a:cs typeface="Palatino Linotype"/>
              </a:rPr>
              <a:t>n</a:t>
            </a:r>
            <a:r>
              <a:rPr sz="2200" kern="1200" dirty="0">
                <a:solidFill>
                  <a:prstClr val="black"/>
                </a:solidFill>
                <a:latin typeface="Palatino Linotype"/>
                <a:cs typeface="Palatino Linotype"/>
              </a:rPr>
              <a:t>a</a:t>
            </a:r>
            <a:r>
              <a:rPr sz="2200" kern="1200" spc="-5" dirty="0">
                <a:solidFill>
                  <a:prstClr val="black"/>
                </a:solidFill>
                <a:latin typeface="Palatino Linotype"/>
                <a:cs typeface="Palatino Linotype"/>
              </a:rPr>
              <a:t>l</a:t>
            </a:r>
            <a:r>
              <a:rPr sz="2200" kern="1200" spc="5" dirty="0">
                <a:solidFill>
                  <a:prstClr val="black"/>
                </a:solidFill>
                <a:latin typeface="Palatino Linotype"/>
                <a:cs typeface="Palatino Linotype"/>
              </a:rPr>
              <a:t>s</a:t>
            </a:r>
            <a:r>
              <a:rPr sz="2200" kern="1200" dirty="0">
                <a:solidFill>
                  <a:prstClr val="black"/>
                </a:solidFill>
                <a:latin typeface="Palatino Linotype"/>
                <a:cs typeface="Palatino Linotype"/>
              </a:rPr>
              <a:t>: </a:t>
            </a:r>
            <a:r>
              <a:rPr sz="2200" kern="1200" spc="40" dirty="0">
                <a:solidFill>
                  <a:srgbClr val="0432FF"/>
                </a:solidFill>
                <a:latin typeface="Cambria Math"/>
                <a:cs typeface="Cambria Math"/>
              </a:rPr>
              <a:t>𝑆</a:t>
            </a:r>
            <a:r>
              <a:rPr sz="2200" kern="1200" dirty="0">
                <a:solidFill>
                  <a:srgbClr val="0432FF"/>
                </a:solidFill>
                <a:latin typeface="Cambria Math"/>
                <a:cs typeface="Cambria Math"/>
              </a:rPr>
              <a:t>,</a:t>
            </a:r>
            <a:r>
              <a:rPr sz="2200" kern="1200" spc="-120" dirty="0">
                <a:solidFill>
                  <a:srgbClr val="0432FF"/>
                </a:solidFill>
                <a:latin typeface="Cambria Math"/>
                <a:cs typeface="Cambria Math"/>
              </a:rPr>
              <a:t> </a:t>
            </a:r>
            <a:r>
              <a:rPr sz="2200" kern="1200" dirty="0">
                <a:solidFill>
                  <a:srgbClr val="0432FF"/>
                </a:solidFill>
                <a:latin typeface="Cambria Math"/>
                <a:cs typeface="Cambria Math"/>
              </a:rPr>
              <a:t>𝐴</a:t>
            </a:r>
            <a:endParaRPr sz="2200" kern="1200" dirty="0">
              <a:solidFill>
                <a:prstClr val="black"/>
              </a:solidFill>
              <a:latin typeface="Cambria Math"/>
              <a:cs typeface="Cambria Math"/>
            </a:endParaRPr>
          </a:p>
          <a:p>
            <a:pPr marL="243204" indent="-230504" rtl="0">
              <a:spcBef>
                <a:spcPts val="1964"/>
              </a:spcBef>
              <a:buFont typeface="Arial MT"/>
              <a:buChar char="•"/>
              <a:tabLst>
                <a:tab pos="242570" algn="l"/>
                <a:tab pos="243204" algn="l"/>
              </a:tabLst>
            </a:pPr>
            <a:r>
              <a:rPr sz="2200" kern="1200" dirty="0">
                <a:solidFill>
                  <a:prstClr val="black"/>
                </a:solidFill>
                <a:latin typeface="Cambria Math"/>
                <a:cs typeface="Cambria Math"/>
              </a:rPr>
              <a:t>𝑖</a:t>
            </a:r>
            <a:r>
              <a:rPr sz="2200" kern="1200" spc="160" dirty="0">
                <a:solidFill>
                  <a:prstClr val="black"/>
                </a:solidFill>
                <a:latin typeface="Cambria Math"/>
                <a:cs typeface="Cambria Math"/>
              </a:rPr>
              <a:t> </a:t>
            </a:r>
            <a:r>
              <a:rPr sz="2200" kern="1200" dirty="0">
                <a:solidFill>
                  <a:prstClr val="black"/>
                </a:solidFill>
                <a:latin typeface="Cambria Math"/>
                <a:cs typeface="Cambria Math"/>
              </a:rPr>
              <a:t>=</a:t>
            </a:r>
            <a:r>
              <a:rPr sz="2200" kern="1200" spc="90" dirty="0">
                <a:solidFill>
                  <a:prstClr val="black"/>
                </a:solidFill>
                <a:latin typeface="Cambria Math"/>
                <a:cs typeface="Cambria Math"/>
              </a:rPr>
              <a:t> </a:t>
            </a:r>
            <a:r>
              <a:rPr sz="2200" kern="1200" spc="-5" dirty="0">
                <a:solidFill>
                  <a:prstClr val="black"/>
                </a:solidFill>
                <a:latin typeface="Cambria Math"/>
                <a:cs typeface="Cambria Math"/>
              </a:rPr>
              <a:t>1</a:t>
            </a:r>
            <a:r>
              <a:rPr sz="2200" kern="1200" spc="-5" dirty="0">
                <a:solidFill>
                  <a:prstClr val="black"/>
                </a:solidFill>
                <a:latin typeface="Palatino Linotype"/>
                <a:cs typeface="Palatino Linotype"/>
              </a:rPr>
              <a:t>:</a:t>
            </a:r>
            <a:endParaRPr sz="2200" kern="1200" dirty="0">
              <a:solidFill>
                <a:prstClr val="black"/>
              </a:solidFill>
              <a:latin typeface="Palatino Linotype"/>
              <a:cs typeface="Palatino Linotype"/>
            </a:endParaRPr>
          </a:p>
          <a:p>
            <a:pPr marL="698500" marR="5080" lvl="1" indent="-228600" rtl="0">
              <a:lnSpc>
                <a:spcPct val="121100"/>
              </a:lnSpc>
              <a:spcBef>
                <a:spcPts val="1290"/>
              </a:spcBef>
              <a:buFont typeface="Wingdings"/>
              <a:buChar char=""/>
              <a:tabLst>
                <a:tab pos="698500" algn="l"/>
              </a:tabLst>
            </a:pPr>
            <a:r>
              <a:rPr kern="1200" spc="-5" dirty="0">
                <a:solidFill>
                  <a:prstClr val="black"/>
                </a:solidFill>
                <a:latin typeface="Palatino Linotype"/>
                <a:cs typeface="Palatino Linotype"/>
              </a:rPr>
              <a:t>The </a:t>
            </a:r>
            <a:r>
              <a:rPr kern="1200" dirty="0">
                <a:solidFill>
                  <a:prstClr val="black"/>
                </a:solidFill>
                <a:latin typeface="Palatino Linotype"/>
                <a:cs typeface="Palatino Linotype"/>
              </a:rPr>
              <a:t>inner loop does not run; there is no </a:t>
            </a:r>
            <a:r>
              <a:rPr kern="1200" spc="-5" dirty="0">
                <a:solidFill>
                  <a:prstClr val="black"/>
                </a:solidFill>
                <a:latin typeface="Palatino Linotype"/>
                <a:cs typeface="Palatino Linotype"/>
              </a:rPr>
              <a:t>immediate </a:t>
            </a:r>
            <a:r>
              <a:rPr kern="1200" dirty="0">
                <a:solidFill>
                  <a:prstClr val="black"/>
                </a:solidFill>
                <a:latin typeface="Palatino Linotype"/>
                <a:cs typeface="Palatino Linotype"/>
              </a:rPr>
              <a:t>left </a:t>
            </a:r>
            <a:r>
              <a:rPr kern="1200" spc="-5" dirty="0">
                <a:solidFill>
                  <a:prstClr val="black"/>
                </a:solidFill>
                <a:latin typeface="Palatino Linotype"/>
                <a:cs typeface="Palatino Linotype"/>
              </a:rPr>
              <a:t>recursion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among</a:t>
            </a:r>
            <a:r>
              <a:rPr kern="1200" spc="-10" dirty="0">
                <a:solidFill>
                  <a:prstClr val="black"/>
                </a:solidFill>
                <a:latin typeface="Palatino Linotype"/>
                <a:cs typeface="Palatino Linotype"/>
              </a:rPr>
              <a:t> </a:t>
            </a:r>
            <a:r>
              <a:rPr kern="1200" dirty="0">
                <a:solidFill>
                  <a:prstClr val="black"/>
                </a:solidFill>
                <a:latin typeface="Cambria Math"/>
                <a:cs typeface="Cambria Math"/>
              </a:rPr>
              <a:t>𝑆</a:t>
            </a:r>
            <a:r>
              <a:rPr kern="1200" dirty="0">
                <a:solidFill>
                  <a:prstClr val="black"/>
                </a:solidFill>
                <a:latin typeface="Palatino Linotype"/>
                <a:cs typeface="Palatino Linotype"/>
              </a:rPr>
              <a:t>-productions</a:t>
            </a:r>
          </a:p>
          <a:p>
            <a:pPr marL="243204" indent="-230504" rtl="0">
              <a:spcBef>
                <a:spcPts val="1639"/>
              </a:spcBef>
              <a:buFont typeface="Arial MT"/>
              <a:buChar char="•"/>
              <a:tabLst>
                <a:tab pos="242570" algn="l"/>
                <a:tab pos="243204" algn="l"/>
              </a:tabLst>
            </a:pPr>
            <a:r>
              <a:rPr sz="2200" kern="1200" dirty="0">
                <a:solidFill>
                  <a:prstClr val="black"/>
                </a:solidFill>
                <a:latin typeface="Cambria Math"/>
                <a:cs typeface="Cambria Math"/>
              </a:rPr>
              <a:t>𝑖</a:t>
            </a:r>
            <a:r>
              <a:rPr sz="2200" kern="1200" spc="160" dirty="0">
                <a:solidFill>
                  <a:prstClr val="black"/>
                </a:solidFill>
                <a:latin typeface="Cambria Math"/>
                <a:cs typeface="Cambria Math"/>
              </a:rPr>
              <a:t> </a:t>
            </a:r>
            <a:r>
              <a:rPr sz="2200" kern="1200" dirty="0">
                <a:solidFill>
                  <a:prstClr val="black"/>
                </a:solidFill>
                <a:latin typeface="Cambria Math"/>
                <a:cs typeface="Cambria Math"/>
              </a:rPr>
              <a:t>=</a:t>
            </a:r>
            <a:r>
              <a:rPr sz="2200" kern="1200" spc="90" dirty="0">
                <a:solidFill>
                  <a:prstClr val="black"/>
                </a:solidFill>
                <a:latin typeface="Cambria Math"/>
                <a:cs typeface="Cambria Math"/>
              </a:rPr>
              <a:t> </a:t>
            </a:r>
            <a:r>
              <a:rPr sz="2200" kern="1200" spc="-5" dirty="0">
                <a:solidFill>
                  <a:prstClr val="black"/>
                </a:solidFill>
                <a:latin typeface="Cambria Math"/>
                <a:cs typeface="Cambria Math"/>
              </a:rPr>
              <a:t>2</a:t>
            </a:r>
            <a:r>
              <a:rPr sz="2200" kern="1200" spc="-5" dirty="0">
                <a:solidFill>
                  <a:prstClr val="black"/>
                </a:solidFill>
                <a:latin typeface="Palatino Linotype"/>
                <a:cs typeface="Palatino Linotype"/>
              </a:rPr>
              <a:t>:</a:t>
            </a:r>
            <a:endParaRPr sz="2200" kern="1200" dirty="0">
              <a:solidFill>
                <a:prstClr val="black"/>
              </a:solidFill>
              <a:latin typeface="Palatino Linotype"/>
              <a:cs typeface="Palatino Linotype"/>
            </a:endParaRPr>
          </a:p>
          <a:p>
            <a:pPr marL="698500" lvl="1" indent="-228600" rtl="0">
              <a:spcBef>
                <a:spcPts val="1050"/>
              </a:spcBef>
              <a:buFont typeface="Wingdings"/>
              <a:buChar char=""/>
              <a:tabLst>
                <a:tab pos="698500" algn="l"/>
              </a:tabLst>
            </a:pPr>
            <a:r>
              <a:rPr kern="1200" dirty="0">
                <a:solidFill>
                  <a:prstClr val="black"/>
                </a:solidFill>
                <a:latin typeface="Cambria Math"/>
                <a:cs typeface="Cambria Math"/>
              </a:rPr>
              <a:t>𝑗</a:t>
            </a:r>
            <a:r>
              <a:rPr kern="1200" spc="125" dirty="0">
                <a:solidFill>
                  <a:prstClr val="black"/>
                </a:solidFill>
                <a:latin typeface="Cambria Math"/>
                <a:cs typeface="Cambria Math"/>
              </a:rPr>
              <a:t> </a:t>
            </a:r>
            <a:r>
              <a:rPr kern="1200" dirty="0">
                <a:solidFill>
                  <a:prstClr val="black"/>
                </a:solidFill>
                <a:latin typeface="Cambria Math"/>
                <a:cs typeface="Cambria Math"/>
              </a:rPr>
              <a:t>=</a:t>
            </a:r>
            <a:r>
              <a:rPr kern="1200" spc="100" dirty="0">
                <a:solidFill>
                  <a:prstClr val="black"/>
                </a:solidFill>
                <a:latin typeface="Cambria Math"/>
                <a:cs typeface="Cambria Math"/>
              </a:rPr>
              <a:t> </a:t>
            </a:r>
            <a:r>
              <a:rPr kern="1200" dirty="0">
                <a:solidFill>
                  <a:prstClr val="black"/>
                </a:solidFill>
                <a:latin typeface="Cambria Math"/>
                <a:cs typeface="Cambria Math"/>
              </a:rPr>
              <a:t>1</a:t>
            </a:r>
            <a:r>
              <a:rPr kern="1200"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replace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production</a:t>
            </a:r>
            <a:r>
              <a:rPr kern="1200" spc="-5" dirty="0">
                <a:solidFill>
                  <a:prstClr val="black"/>
                </a:solidFill>
                <a:latin typeface="Palatino Linotype"/>
                <a:cs typeface="Palatino Linotype"/>
              </a:rPr>
              <a:t> </a:t>
            </a:r>
            <a:r>
              <a:rPr kern="1200" dirty="0">
                <a:solidFill>
                  <a:prstClr val="black"/>
                </a:solidFill>
                <a:latin typeface="Cambria Math"/>
                <a:cs typeface="Cambria Math"/>
              </a:rPr>
              <a:t>𝐴</a:t>
            </a:r>
            <a:r>
              <a:rPr kern="1200" spc="110" dirty="0">
                <a:solidFill>
                  <a:prstClr val="black"/>
                </a:solidFill>
                <a:latin typeface="Cambria Math"/>
                <a:cs typeface="Cambria Math"/>
              </a:rPr>
              <a:t> </a:t>
            </a:r>
            <a:r>
              <a:rPr kern="1200" dirty="0">
                <a:solidFill>
                  <a:prstClr val="black"/>
                </a:solidFill>
                <a:latin typeface="Cambria Math"/>
                <a:cs typeface="Cambria Math"/>
              </a:rPr>
              <a:t>→</a:t>
            </a:r>
            <a:r>
              <a:rPr kern="1200" spc="100" dirty="0">
                <a:solidFill>
                  <a:prstClr val="black"/>
                </a:solidFill>
                <a:latin typeface="Cambria Math"/>
                <a:cs typeface="Cambria Math"/>
              </a:rPr>
              <a:t> </a:t>
            </a:r>
            <a:r>
              <a:rPr kern="1200" spc="-5" dirty="0">
                <a:solidFill>
                  <a:prstClr val="black"/>
                </a:solidFill>
                <a:latin typeface="Cambria Math"/>
                <a:cs typeface="Cambria Math"/>
              </a:rPr>
              <a:t>𝑆𝑑</a:t>
            </a:r>
            <a:r>
              <a:rPr kern="1200" spc="95" dirty="0">
                <a:solidFill>
                  <a:prstClr val="black"/>
                </a:solidFill>
                <a:latin typeface="Cambria Math"/>
                <a:cs typeface="Cambria Math"/>
              </a:rPr>
              <a:t> </a:t>
            </a:r>
            <a:r>
              <a:rPr kern="1200" dirty="0">
                <a:solidFill>
                  <a:prstClr val="black"/>
                </a:solidFill>
                <a:latin typeface="Palatino Linotype"/>
                <a:cs typeface="Palatino Linotype"/>
              </a:rPr>
              <a:t>by</a:t>
            </a:r>
            <a:r>
              <a:rPr kern="1200" spc="-10" dirty="0">
                <a:solidFill>
                  <a:prstClr val="black"/>
                </a:solidFill>
                <a:latin typeface="Palatino Linotype"/>
                <a:cs typeface="Palatino Linotype"/>
              </a:rPr>
              <a:t> </a:t>
            </a:r>
            <a:r>
              <a:rPr kern="1200" dirty="0">
                <a:solidFill>
                  <a:prstClr val="black"/>
                </a:solidFill>
                <a:latin typeface="Cambria Math"/>
                <a:cs typeface="Cambria Math"/>
              </a:rPr>
              <a:t>𝐴</a:t>
            </a:r>
            <a:r>
              <a:rPr kern="1200" spc="110" dirty="0">
                <a:solidFill>
                  <a:prstClr val="black"/>
                </a:solidFill>
                <a:latin typeface="Cambria Math"/>
                <a:cs typeface="Cambria Math"/>
              </a:rPr>
              <a:t> </a:t>
            </a:r>
            <a:r>
              <a:rPr kern="1200" dirty="0">
                <a:solidFill>
                  <a:prstClr val="black"/>
                </a:solidFill>
                <a:latin typeface="Cambria Math"/>
                <a:cs typeface="Cambria Math"/>
              </a:rPr>
              <a:t>→</a:t>
            </a:r>
            <a:r>
              <a:rPr kern="1200" spc="100" dirty="0">
                <a:solidFill>
                  <a:prstClr val="black"/>
                </a:solidFill>
                <a:latin typeface="Cambria Math"/>
                <a:cs typeface="Cambria Math"/>
              </a:rPr>
              <a:t> </a:t>
            </a:r>
            <a:r>
              <a:rPr kern="1200" spc="-5" dirty="0">
                <a:solidFill>
                  <a:srgbClr val="FF0000"/>
                </a:solidFill>
                <a:latin typeface="Cambria Math"/>
                <a:cs typeface="Cambria Math"/>
              </a:rPr>
              <a:t>𝐴𝑎</a:t>
            </a:r>
            <a:r>
              <a:rPr kern="1200" spc="-5" dirty="0">
                <a:solidFill>
                  <a:prstClr val="black"/>
                </a:solidFill>
                <a:latin typeface="Cambria Math"/>
                <a:cs typeface="Cambria Math"/>
              </a:rPr>
              <a:t>𝑑</a:t>
            </a:r>
            <a:r>
              <a:rPr kern="1200" spc="45" dirty="0">
                <a:solidFill>
                  <a:prstClr val="black"/>
                </a:solidFill>
                <a:latin typeface="Cambria Math"/>
                <a:cs typeface="Cambria Math"/>
              </a:rPr>
              <a:t> </a:t>
            </a:r>
            <a:r>
              <a:rPr kern="1200" dirty="0">
                <a:solidFill>
                  <a:prstClr val="black"/>
                </a:solidFill>
                <a:latin typeface="Cambria Math"/>
                <a:cs typeface="Cambria Math"/>
              </a:rPr>
              <a:t>| </a:t>
            </a:r>
            <a:r>
              <a:rPr kern="1200" dirty="0">
                <a:solidFill>
                  <a:srgbClr val="FF0000"/>
                </a:solidFill>
                <a:latin typeface="Cambria Math"/>
                <a:cs typeface="Cambria Math"/>
              </a:rPr>
              <a:t>𝑏</a:t>
            </a:r>
            <a:r>
              <a:rPr kern="1200" dirty="0">
                <a:solidFill>
                  <a:prstClr val="black"/>
                </a:solidFill>
                <a:latin typeface="Cambria Math"/>
                <a:cs typeface="Cambria Math"/>
              </a:rPr>
              <a:t>𝑑</a:t>
            </a:r>
          </a:p>
        </p:txBody>
      </p:sp>
      <p:sp>
        <p:nvSpPr>
          <p:cNvPr id="17" name="object 4">
            <a:extLst>
              <a:ext uri="{FF2B5EF4-FFF2-40B4-BE49-F238E27FC236}">
                <a16:creationId xmlns:a16="http://schemas.microsoft.com/office/drawing/2014/main" id="{AA9BDB43-DBE3-443D-DA11-D7999C9961BD}"/>
              </a:ext>
            </a:extLst>
          </p:cNvPr>
          <p:cNvSpPr/>
          <p:nvPr/>
        </p:nvSpPr>
        <p:spPr>
          <a:xfrm>
            <a:off x="2946381" y="4549619"/>
            <a:ext cx="13970" cy="161925"/>
          </a:xfrm>
          <a:custGeom>
            <a:avLst/>
            <a:gdLst/>
            <a:ahLst/>
            <a:cxnLst/>
            <a:rect l="l" t="t" r="r" b="b"/>
            <a:pathLst>
              <a:path w="13969" h="161925">
                <a:moveTo>
                  <a:pt x="13369" y="0"/>
                </a:moveTo>
                <a:lnTo>
                  <a:pt x="0" y="0"/>
                </a:lnTo>
                <a:lnTo>
                  <a:pt x="0" y="161565"/>
                </a:lnTo>
                <a:lnTo>
                  <a:pt x="13369" y="161565"/>
                </a:lnTo>
                <a:lnTo>
                  <a:pt x="1336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5">
            <a:extLst>
              <a:ext uri="{FF2B5EF4-FFF2-40B4-BE49-F238E27FC236}">
                <a16:creationId xmlns:a16="http://schemas.microsoft.com/office/drawing/2014/main" id="{F044F353-7EC9-6422-5960-AA0F1E8834DC}"/>
              </a:ext>
            </a:extLst>
          </p:cNvPr>
          <p:cNvSpPr/>
          <p:nvPr/>
        </p:nvSpPr>
        <p:spPr>
          <a:xfrm>
            <a:off x="2606656" y="4549619"/>
            <a:ext cx="13970" cy="161925"/>
          </a:xfrm>
          <a:custGeom>
            <a:avLst/>
            <a:gdLst/>
            <a:ahLst/>
            <a:cxnLst/>
            <a:rect l="l" t="t" r="r" b="b"/>
            <a:pathLst>
              <a:path w="13969" h="161925">
                <a:moveTo>
                  <a:pt x="13369" y="0"/>
                </a:moveTo>
                <a:lnTo>
                  <a:pt x="0" y="0"/>
                </a:lnTo>
                <a:lnTo>
                  <a:pt x="0" y="161565"/>
                </a:lnTo>
                <a:lnTo>
                  <a:pt x="13369" y="161565"/>
                </a:lnTo>
                <a:lnTo>
                  <a:pt x="1336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6">
            <a:extLst>
              <a:ext uri="{FF2B5EF4-FFF2-40B4-BE49-F238E27FC236}">
                <a16:creationId xmlns:a16="http://schemas.microsoft.com/office/drawing/2014/main" id="{F8DDD2C4-37B5-E0AE-E66D-8D4B687B6C2F}"/>
              </a:ext>
            </a:extLst>
          </p:cNvPr>
          <p:cNvSpPr txBox="1"/>
          <p:nvPr/>
        </p:nvSpPr>
        <p:spPr>
          <a:xfrm>
            <a:off x="1164589" y="4400352"/>
            <a:ext cx="3762375" cy="721360"/>
          </a:xfrm>
          <a:prstGeom prst="rect">
            <a:avLst/>
          </a:prstGeom>
        </p:spPr>
        <p:txBody>
          <a:bodyPr vert="horz" wrap="square" lIns="0" tIns="103505" rIns="0" bIns="0" rtlCol="0">
            <a:spAutoFit/>
          </a:bodyPr>
          <a:lstStyle/>
          <a:p>
            <a:pPr marL="469265" rtl="0">
              <a:spcBef>
                <a:spcPts val="815"/>
              </a:spcBef>
              <a:tabLst>
                <a:tab pos="1516380" algn="l"/>
                <a:tab pos="1856105" algn="l"/>
              </a:tabLst>
            </a:pPr>
            <a:r>
              <a:rPr sz="1400" kern="1200" dirty="0">
                <a:solidFill>
                  <a:prstClr val="black"/>
                </a:solidFill>
                <a:latin typeface="Courier New"/>
                <a:cs typeface="Courier New"/>
              </a:rPr>
              <a:t>o</a:t>
            </a:r>
            <a:r>
              <a:rPr sz="1400" kern="1200" spc="114" dirty="0">
                <a:solidFill>
                  <a:prstClr val="black"/>
                </a:solidFill>
                <a:latin typeface="Courier New"/>
                <a:cs typeface="Courier New"/>
              </a:rPr>
              <a:t> </a:t>
            </a:r>
            <a:r>
              <a:rPr sz="1400" kern="1200" dirty="0">
                <a:solidFill>
                  <a:prstClr val="black"/>
                </a:solidFill>
                <a:latin typeface="Cambria Math"/>
                <a:cs typeface="Cambria Math"/>
              </a:rPr>
              <a:t>𝐴</a:t>
            </a:r>
            <a:r>
              <a:rPr sz="1400" kern="1200" spc="100" dirty="0">
                <a:solidFill>
                  <a:prstClr val="black"/>
                </a:solidFill>
                <a:latin typeface="Cambria Math"/>
                <a:cs typeface="Cambria Math"/>
              </a:rPr>
              <a:t> </a:t>
            </a:r>
            <a:r>
              <a:rPr sz="1400" kern="1200" dirty="0">
                <a:solidFill>
                  <a:prstClr val="black"/>
                </a:solidFill>
                <a:latin typeface="Cambria Math"/>
                <a:cs typeface="Cambria Math"/>
              </a:rPr>
              <a:t>→</a:t>
            </a:r>
            <a:r>
              <a:rPr sz="1400" kern="1200" spc="80" dirty="0">
                <a:solidFill>
                  <a:prstClr val="black"/>
                </a:solidFill>
                <a:latin typeface="Cambria Math"/>
                <a:cs typeface="Cambria Math"/>
              </a:rPr>
              <a:t> </a:t>
            </a:r>
            <a:r>
              <a:rPr sz="1400" kern="1200" spc="-5" dirty="0">
                <a:solidFill>
                  <a:srgbClr val="0432FF"/>
                </a:solidFill>
                <a:latin typeface="Cambria Math"/>
                <a:cs typeface="Cambria Math"/>
              </a:rPr>
              <a:t>𝐴𝑎𝑑	</a:t>
            </a:r>
            <a:r>
              <a:rPr sz="1400" kern="1200" spc="-5" dirty="0">
                <a:solidFill>
                  <a:prstClr val="black"/>
                </a:solidFill>
                <a:latin typeface="Cambria Math"/>
                <a:cs typeface="Cambria Math"/>
              </a:rPr>
              <a:t>𝑏𝑑	</a:t>
            </a:r>
            <a:r>
              <a:rPr sz="1400" kern="1200" dirty="0">
                <a:solidFill>
                  <a:srgbClr val="0432FF"/>
                </a:solidFill>
                <a:latin typeface="Cambria Math"/>
                <a:cs typeface="Cambria Math"/>
              </a:rPr>
              <a:t>𝐴𝑐</a:t>
            </a:r>
            <a:r>
              <a:rPr sz="1400" kern="1200" spc="20" dirty="0">
                <a:solidFill>
                  <a:srgbClr val="0432FF"/>
                </a:solidFill>
                <a:latin typeface="Cambria Math"/>
                <a:cs typeface="Cambria Math"/>
              </a:rPr>
              <a:t> </a:t>
            </a:r>
            <a:r>
              <a:rPr sz="1400" kern="1200" dirty="0">
                <a:solidFill>
                  <a:prstClr val="black"/>
                </a:solidFill>
                <a:latin typeface="Cambria Math"/>
                <a:cs typeface="Cambria Math"/>
              </a:rPr>
              <a:t>|</a:t>
            </a:r>
            <a:r>
              <a:rPr sz="1400" kern="1200" spc="-35" dirty="0">
                <a:solidFill>
                  <a:prstClr val="black"/>
                </a:solidFill>
                <a:latin typeface="Cambria Math"/>
                <a:cs typeface="Cambria Math"/>
              </a:rPr>
              <a:t> </a:t>
            </a:r>
            <a:r>
              <a:rPr sz="1400" kern="1200" dirty="0">
                <a:solidFill>
                  <a:prstClr val="black"/>
                </a:solidFill>
                <a:latin typeface="Cambria Math"/>
                <a:cs typeface="Cambria Math"/>
              </a:rPr>
              <a:t>𝜖</a:t>
            </a:r>
            <a:endParaRPr sz="1400" kern="1200">
              <a:solidFill>
                <a:prstClr val="black"/>
              </a:solidFill>
              <a:latin typeface="Cambria Math"/>
              <a:cs typeface="Cambria Math"/>
            </a:endParaRPr>
          </a:p>
          <a:p>
            <a:pPr marL="241300" indent="-228600" rtl="0">
              <a:spcBef>
                <a:spcPts val="919"/>
              </a:spcBef>
              <a:buFont typeface="Wingdings"/>
              <a:buChar char=""/>
              <a:tabLst>
                <a:tab pos="241300" algn="l"/>
              </a:tabLst>
            </a:pPr>
            <a:r>
              <a:rPr kern="1200" spc="-5" dirty="0">
                <a:solidFill>
                  <a:prstClr val="black"/>
                </a:solidFill>
                <a:latin typeface="Palatino Linotype"/>
                <a:cs typeface="Palatino Linotype"/>
              </a:rPr>
              <a:t>Eliminate</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immediate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left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recursion</a:t>
            </a:r>
            <a:endParaRPr kern="1200">
              <a:solidFill>
                <a:prstClr val="black"/>
              </a:solidFill>
              <a:latin typeface="Palatino Linotype"/>
              <a:cs typeface="Palatino Linotype"/>
            </a:endParaRPr>
          </a:p>
        </p:txBody>
      </p:sp>
      <p:sp>
        <p:nvSpPr>
          <p:cNvPr id="20" name="object 7">
            <a:extLst>
              <a:ext uri="{FF2B5EF4-FFF2-40B4-BE49-F238E27FC236}">
                <a16:creationId xmlns:a16="http://schemas.microsoft.com/office/drawing/2014/main" id="{CAFE8E35-A25D-FFAB-D6EB-B9A6C5DEB928}"/>
              </a:ext>
            </a:extLst>
          </p:cNvPr>
          <p:cNvSpPr txBox="1"/>
          <p:nvPr/>
        </p:nvSpPr>
        <p:spPr>
          <a:xfrm>
            <a:off x="707390" y="5978652"/>
            <a:ext cx="5253355" cy="238760"/>
          </a:xfrm>
          <a:prstGeom prst="rect">
            <a:avLst/>
          </a:prstGeom>
        </p:spPr>
        <p:txBody>
          <a:bodyPr vert="horz" wrap="square" lIns="0" tIns="12700" rIns="0" bIns="0" rtlCol="0">
            <a:spAutoFit/>
          </a:bodyPr>
          <a:lstStyle/>
          <a:p>
            <a:pPr marL="12700" rtl="0">
              <a:spcBef>
                <a:spcPts val="100"/>
              </a:spcBef>
            </a:pPr>
            <a:r>
              <a:rPr sz="1400" kern="1200" spc="-5" dirty="0">
                <a:solidFill>
                  <a:srgbClr val="A6A6A6"/>
                </a:solidFill>
                <a:latin typeface="Palatino Linotype"/>
                <a:cs typeface="Palatino Linotype"/>
              </a:rPr>
              <a:t>The</a:t>
            </a:r>
            <a:r>
              <a:rPr sz="1400" kern="1200" dirty="0">
                <a:solidFill>
                  <a:srgbClr val="A6A6A6"/>
                </a:solidFill>
                <a:latin typeface="Palatino Linotype"/>
                <a:cs typeface="Palatino Linotype"/>
              </a:rPr>
              <a:t> example</a:t>
            </a:r>
            <a:r>
              <a:rPr sz="1400" kern="1200" spc="5" dirty="0">
                <a:solidFill>
                  <a:srgbClr val="A6A6A6"/>
                </a:solidFill>
                <a:latin typeface="Palatino Linotype"/>
                <a:cs typeface="Palatino Linotype"/>
              </a:rPr>
              <a:t> </a:t>
            </a:r>
            <a:r>
              <a:rPr sz="1400" kern="1200" spc="-5" dirty="0">
                <a:solidFill>
                  <a:srgbClr val="A6A6A6"/>
                </a:solidFill>
                <a:latin typeface="Palatino Linotype"/>
                <a:cs typeface="Palatino Linotype"/>
              </a:rPr>
              <a:t>grammar contains </a:t>
            </a:r>
            <a:r>
              <a:rPr sz="1400" kern="1200" dirty="0">
                <a:solidFill>
                  <a:srgbClr val="A6A6A6"/>
                </a:solidFill>
                <a:latin typeface="Palatino Linotype"/>
                <a:cs typeface="Palatino Linotype"/>
              </a:rPr>
              <a:t>an</a:t>
            </a:r>
            <a:r>
              <a:rPr sz="1400" kern="1200" spc="-5" dirty="0">
                <a:solidFill>
                  <a:srgbClr val="A6A6A6"/>
                </a:solidFill>
                <a:latin typeface="Palatino Linotype"/>
                <a:cs typeface="Palatino Linotype"/>
              </a:rPr>
              <a:t> </a:t>
            </a:r>
            <a:r>
              <a:rPr sz="1400" kern="1200" dirty="0">
                <a:solidFill>
                  <a:srgbClr val="A6A6A6"/>
                </a:solidFill>
                <a:latin typeface="Cambria Math"/>
                <a:cs typeface="Cambria Math"/>
              </a:rPr>
              <a:t>𝜖</a:t>
            </a:r>
            <a:r>
              <a:rPr sz="1400" kern="1200" dirty="0">
                <a:solidFill>
                  <a:srgbClr val="A6A6A6"/>
                </a:solidFill>
                <a:latin typeface="Palatino Linotype"/>
                <a:cs typeface="Palatino Linotype"/>
              </a:rPr>
              <a:t>-production,</a:t>
            </a:r>
            <a:r>
              <a:rPr sz="1400" kern="1200" spc="5" dirty="0">
                <a:solidFill>
                  <a:srgbClr val="A6A6A6"/>
                </a:solidFill>
                <a:latin typeface="Palatino Linotype"/>
                <a:cs typeface="Palatino Linotype"/>
              </a:rPr>
              <a:t> </a:t>
            </a:r>
            <a:r>
              <a:rPr sz="1400" kern="1200" dirty="0">
                <a:solidFill>
                  <a:srgbClr val="A6A6A6"/>
                </a:solidFill>
                <a:latin typeface="Palatino Linotype"/>
                <a:cs typeface="Palatino Linotype"/>
              </a:rPr>
              <a:t>but</a:t>
            </a:r>
            <a:r>
              <a:rPr sz="1400" kern="1200" spc="5" dirty="0">
                <a:solidFill>
                  <a:srgbClr val="A6A6A6"/>
                </a:solidFill>
                <a:latin typeface="Palatino Linotype"/>
                <a:cs typeface="Palatino Linotype"/>
              </a:rPr>
              <a:t> </a:t>
            </a:r>
            <a:r>
              <a:rPr sz="1400" kern="1200" dirty="0">
                <a:solidFill>
                  <a:srgbClr val="A6A6A6"/>
                </a:solidFill>
                <a:latin typeface="Palatino Linotype"/>
                <a:cs typeface="Palatino Linotype"/>
              </a:rPr>
              <a:t>it</a:t>
            </a:r>
            <a:r>
              <a:rPr sz="1400" kern="1200" spc="10" dirty="0">
                <a:solidFill>
                  <a:srgbClr val="A6A6A6"/>
                </a:solidFill>
                <a:latin typeface="Palatino Linotype"/>
                <a:cs typeface="Palatino Linotype"/>
              </a:rPr>
              <a:t> </a:t>
            </a:r>
            <a:r>
              <a:rPr sz="1400" kern="1200" dirty="0">
                <a:solidFill>
                  <a:srgbClr val="A6A6A6"/>
                </a:solidFill>
                <a:latin typeface="Palatino Linotype"/>
                <a:cs typeface="Palatino Linotype"/>
              </a:rPr>
              <a:t>is</a:t>
            </a:r>
            <a:r>
              <a:rPr sz="1400" kern="1200" spc="-10" dirty="0">
                <a:solidFill>
                  <a:srgbClr val="A6A6A6"/>
                </a:solidFill>
                <a:latin typeface="Palatino Linotype"/>
                <a:cs typeface="Palatino Linotype"/>
              </a:rPr>
              <a:t> </a:t>
            </a:r>
            <a:r>
              <a:rPr sz="1400" kern="1200" spc="-5" dirty="0">
                <a:solidFill>
                  <a:srgbClr val="A6A6A6"/>
                </a:solidFill>
                <a:latin typeface="Palatino Linotype"/>
                <a:cs typeface="Palatino Linotype"/>
              </a:rPr>
              <a:t>harmless</a:t>
            </a:r>
            <a:endParaRPr sz="1400" kern="1200">
              <a:solidFill>
                <a:prstClr val="black"/>
              </a:solidFill>
              <a:latin typeface="Palatino Linotype"/>
              <a:cs typeface="Palatino Linotype"/>
            </a:endParaRPr>
          </a:p>
        </p:txBody>
      </p:sp>
      <p:sp>
        <p:nvSpPr>
          <p:cNvPr id="21" name="object 8">
            <a:extLst>
              <a:ext uri="{FF2B5EF4-FFF2-40B4-BE49-F238E27FC236}">
                <a16:creationId xmlns:a16="http://schemas.microsoft.com/office/drawing/2014/main" id="{9F2161CC-28EC-92B9-A1DD-6FB4B36BE0F4}"/>
              </a:ext>
            </a:extLst>
          </p:cNvPr>
          <p:cNvSpPr txBox="1"/>
          <p:nvPr/>
        </p:nvSpPr>
        <p:spPr>
          <a:xfrm>
            <a:off x="5861155" y="4634552"/>
            <a:ext cx="2279015" cy="1240083"/>
          </a:xfrm>
          <a:prstGeom prst="rect">
            <a:avLst/>
          </a:prstGeom>
          <a:ln w="9525">
            <a:solidFill>
              <a:srgbClr val="000000"/>
            </a:solidFill>
          </a:ln>
        </p:spPr>
        <p:txBody>
          <a:bodyPr vert="horz" wrap="square" lIns="0" tIns="77470" rIns="0" bIns="0" rtlCol="0">
            <a:spAutoFit/>
          </a:bodyPr>
          <a:lstStyle/>
          <a:p>
            <a:pPr marL="429895" rtl="0">
              <a:spcBef>
                <a:spcPts val="610"/>
              </a:spcBef>
            </a:pPr>
            <a:r>
              <a:rPr kern="1200" dirty="0">
                <a:solidFill>
                  <a:prstClr val="black"/>
                </a:solidFill>
                <a:latin typeface="Cambria Math"/>
                <a:cs typeface="Cambria Math"/>
              </a:rPr>
              <a:t>𝑆</a:t>
            </a:r>
            <a:r>
              <a:rPr kern="1200" spc="110" dirty="0">
                <a:solidFill>
                  <a:prstClr val="black"/>
                </a:solidFill>
                <a:latin typeface="Cambria Math"/>
                <a:cs typeface="Cambria Math"/>
              </a:rPr>
              <a:t> </a:t>
            </a:r>
            <a:r>
              <a:rPr kern="1200" dirty="0">
                <a:solidFill>
                  <a:prstClr val="black"/>
                </a:solidFill>
                <a:latin typeface="Cambria Math"/>
                <a:cs typeface="Cambria Math"/>
              </a:rPr>
              <a:t>→</a:t>
            </a:r>
            <a:r>
              <a:rPr kern="1200" spc="90" dirty="0">
                <a:solidFill>
                  <a:prstClr val="black"/>
                </a:solidFill>
                <a:latin typeface="Cambria Math"/>
                <a:cs typeface="Cambria Math"/>
              </a:rPr>
              <a:t> </a:t>
            </a:r>
            <a:r>
              <a:rPr kern="1200" spc="-5" dirty="0">
                <a:solidFill>
                  <a:prstClr val="black"/>
                </a:solidFill>
                <a:latin typeface="Cambria Math"/>
                <a:cs typeface="Cambria Math"/>
              </a:rPr>
              <a:t>𝐴𝑎</a:t>
            </a:r>
            <a:r>
              <a:rPr kern="1200" spc="20"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𝑏</a:t>
            </a:r>
          </a:p>
          <a:p>
            <a:pPr marL="408305" rtl="0">
              <a:spcBef>
                <a:spcPts val="1130"/>
              </a:spcBef>
            </a:pPr>
            <a:r>
              <a:rPr kern="1200" dirty="0">
                <a:solidFill>
                  <a:prstClr val="black"/>
                </a:solidFill>
                <a:latin typeface="Cambria Math"/>
                <a:cs typeface="Cambria Math"/>
              </a:rPr>
              <a:t>𝐴</a:t>
            </a:r>
            <a:r>
              <a:rPr kern="1200" spc="90" dirty="0">
                <a:solidFill>
                  <a:prstClr val="black"/>
                </a:solidFill>
                <a:latin typeface="Cambria Math"/>
                <a:cs typeface="Cambria Math"/>
              </a:rPr>
              <a:t> </a:t>
            </a:r>
            <a:r>
              <a:rPr kern="1200" dirty="0">
                <a:solidFill>
                  <a:prstClr val="black"/>
                </a:solidFill>
                <a:latin typeface="Cambria Math"/>
                <a:cs typeface="Cambria Math"/>
              </a:rPr>
              <a:t>→</a:t>
            </a:r>
            <a:r>
              <a:rPr kern="1200" spc="85" dirty="0">
                <a:solidFill>
                  <a:prstClr val="black"/>
                </a:solidFill>
                <a:latin typeface="Cambria Math"/>
                <a:cs typeface="Cambria Math"/>
              </a:rPr>
              <a:t> </a:t>
            </a:r>
            <a:r>
              <a:rPr kern="1200" spc="-50" dirty="0">
                <a:solidFill>
                  <a:prstClr val="black"/>
                </a:solidFill>
                <a:latin typeface="Cambria Math"/>
                <a:cs typeface="Cambria Math"/>
              </a:rPr>
              <a:t>𝑏𝑑</a:t>
            </a:r>
            <a:r>
              <a:rPr lang="en-US" kern="1200" spc="-50" dirty="0">
                <a:solidFill>
                  <a:prstClr val="black"/>
                </a:solidFill>
                <a:latin typeface="Cambria Math"/>
                <a:cs typeface="Cambria Math"/>
              </a:rPr>
              <a:t>A'</a:t>
            </a:r>
            <a:r>
              <a:rPr lang="en-US" altLang="zh-CN" kern="1200" spc="-50" dirty="0">
                <a:solidFill>
                  <a:prstClr val="black"/>
                </a:solidFill>
                <a:latin typeface="Cambria Math"/>
                <a:cs typeface="Cambria Math"/>
              </a:rPr>
              <a:t> </a:t>
            </a:r>
            <a:r>
              <a:rPr kern="1200" spc="-50" dirty="0">
                <a:solidFill>
                  <a:prstClr val="black"/>
                </a:solidFill>
                <a:latin typeface="Cambria Math"/>
                <a:cs typeface="Cambria Math"/>
              </a:rPr>
              <a:t>|</a:t>
            </a:r>
            <a:r>
              <a:rPr lang="en-US" kern="1200" spc="-50" dirty="0">
                <a:solidFill>
                  <a:prstClr val="black"/>
                </a:solidFill>
                <a:latin typeface="Cambria Math"/>
                <a:cs typeface="Cambria Math"/>
              </a:rPr>
              <a:t> A</a:t>
            </a:r>
            <a:r>
              <a:rPr lang="en-US" altLang="zh-CN" sz="2000" kern="1200" spc="-50" dirty="0">
                <a:solidFill>
                  <a:prstClr val="black"/>
                </a:solidFill>
                <a:latin typeface="Cambria Math"/>
                <a:cs typeface="Cambria Math"/>
              </a:rPr>
              <a:t>'</a:t>
            </a:r>
            <a:endParaRPr lang="zh-CN" altLang="en-US" sz="1950" kern="1200" baseline="27777" dirty="0">
              <a:solidFill>
                <a:prstClr val="black"/>
              </a:solidFill>
              <a:latin typeface="Cambria Math"/>
              <a:cs typeface="Cambria Math"/>
            </a:endParaRPr>
          </a:p>
          <a:p>
            <a:pPr marL="344805" rtl="0">
              <a:spcBef>
                <a:spcPts val="1030"/>
              </a:spcBef>
            </a:pPr>
            <a:r>
              <a:rPr lang="zh-CN" altLang="en-US" kern="1200" spc="-185" dirty="0">
                <a:solidFill>
                  <a:prstClr val="black"/>
                </a:solidFill>
                <a:latin typeface="Cambria Math"/>
                <a:cs typeface="Cambria Math"/>
              </a:rPr>
              <a:t>𝐴</a:t>
            </a:r>
            <a:r>
              <a:rPr lang="en-US" altLang="zh-CN" kern="1200" spc="-50" dirty="0">
                <a:solidFill>
                  <a:prstClr val="black"/>
                </a:solidFill>
                <a:latin typeface="Cambria Math"/>
                <a:cs typeface="Cambria Math"/>
              </a:rPr>
              <a:t>' </a:t>
            </a:r>
            <a:r>
              <a:rPr lang="zh-CN" altLang="en-US" kern="1200" dirty="0">
                <a:solidFill>
                  <a:prstClr val="black"/>
                </a:solidFill>
                <a:latin typeface="Cambria Math"/>
                <a:cs typeface="Cambria Math"/>
              </a:rPr>
              <a:t>→</a:t>
            </a:r>
            <a:r>
              <a:rPr lang="zh-CN" altLang="en-US" kern="1200" spc="80" dirty="0">
                <a:solidFill>
                  <a:prstClr val="black"/>
                </a:solidFill>
                <a:latin typeface="Cambria Math"/>
                <a:cs typeface="Cambria Math"/>
              </a:rPr>
              <a:t> </a:t>
            </a:r>
            <a:r>
              <a:rPr lang="zh-CN" altLang="en-US" kern="1200" spc="-50" dirty="0">
                <a:solidFill>
                  <a:prstClr val="black"/>
                </a:solidFill>
                <a:latin typeface="Cambria Math"/>
                <a:cs typeface="Cambria Math"/>
              </a:rPr>
              <a:t>𝑐𝐴</a:t>
            </a:r>
            <a:r>
              <a:rPr lang="en-US" altLang="zh-CN" sz="2000" kern="1200" spc="-50" dirty="0">
                <a:solidFill>
                  <a:prstClr val="black"/>
                </a:solidFill>
                <a:latin typeface="Cambria Math"/>
                <a:cs typeface="Cambria Math"/>
              </a:rPr>
              <a:t>' </a:t>
            </a:r>
            <a:r>
              <a:rPr lang="en-US" altLang="zh-CN" kern="1200" spc="-50" dirty="0">
                <a:solidFill>
                  <a:prstClr val="black"/>
                </a:solidFill>
                <a:latin typeface="Cambria Math"/>
                <a:cs typeface="Cambria Math"/>
              </a:rPr>
              <a:t>|</a:t>
            </a:r>
            <a:r>
              <a:rPr lang="zh-CN" altLang="en-US" kern="1200" spc="-50" dirty="0">
                <a:solidFill>
                  <a:prstClr val="black"/>
                </a:solidFill>
                <a:latin typeface="Cambria Math"/>
                <a:cs typeface="Cambria Math"/>
              </a:rPr>
              <a:t>𝑎𝑑𝐴</a:t>
            </a:r>
            <a:r>
              <a:rPr lang="en-US" altLang="zh-CN" sz="2000" kern="1200" spc="-50" dirty="0">
                <a:solidFill>
                  <a:prstClr val="black"/>
                </a:solidFill>
                <a:latin typeface="Cambria Math"/>
                <a:cs typeface="Cambria Math"/>
              </a:rPr>
              <a:t>' </a:t>
            </a:r>
            <a:r>
              <a:rPr lang="en-US" altLang="zh-CN" kern="1200" spc="-50" dirty="0">
                <a:solidFill>
                  <a:prstClr val="black"/>
                </a:solidFill>
                <a:latin typeface="Cambria Math"/>
                <a:cs typeface="Cambria Math"/>
              </a:rPr>
              <a:t>|</a:t>
            </a:r>
            <a:r>
              <a:rPr lang="zh-CN" altLang="en-US" kern="1200" spc="-50" dirty="0">
                <a:solidFill>
                  <a:prstClr val="black"/>
                </a:solidFill>
                <a:latin typeface="Cambria Math"/>
                <a:cs typeface="Cambria Math"/>
              </a:rPr>
              <a:t>𝜖</a:t>
            </a:r>
            <a:endParaRPr lang="zh-CN" altLang="en-US" kern="1200" dirty="0">
              <a:solidFill>
                <a:prstClr val="black"/>
              </a:solidFill>
              <a:latin typeface="Cambria Math"/>
              <a:cs typeface="Cambria Math"/>
            </a:endParaRPr>
          </a:p>
        </p:txBody>
      </p:sp>
      <p:sp>
        <p:nvSpPr>
          <p:cNvPr id="22" name="object 9">
            <a:extLst>
              <a:ext uri="{FF2B5EF4-FFF2-40B4-BE49-F238E27FC236}">
                <a16:creationId xmlns:a16="http://schemas.microsoft.com/office/drawing/2014/main" id="{B7EB0CFD-2A6F-F6C5-9A7A-571B5BE862C0}"/>
              </a:ext>
            </a:extLst>
          </p:cNvPr>
          <p:cNvSpPr/>
          <p:nvPr/>
        </p:nvSpPr>
        <p:spPr>
          <a:xfrm>
            <a:off x="7376477" y="780558"/>
            <a:ext cx="23495" cy="277495"/>
          </a:xfrm>
          <a:custGeom>
            <a:avLst/>
            <a:gdLst/>
            <a:ahLst/>
            <a:cxnLst/>
            <a:rect l="l" t="t" r="r" b="b"/>
            <a:pathLst>
              <a:path w="23495" h="277494">
                <a:moveTo>
                  <a:pt x="22919" y="0"/>
                </a:moveTo>
                <a:lnTo>
                  <a:pt x="0" y="0"/>
                </a:lnTo>
                <a:lnTo>
                  <a:pt x="0" y="276969"/>
                </a:lnTo>
                <a:lnTo>
                  <a:pt x="22919" y="276969"/>
                </a:lnTo>
                <a:lnTo>
                  <a:pt x="2291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10">
            <a:extLst>
              <a:ext uri="{FF2B5EF4-FFF2-40B4-BE49-F238E27FC236}">
                <a16:creationId xmlns:a16="http://schemas.microsoft.com/office/drawing/2014/main" id="{C3E31AFF-3845-2B85-107F-000242887E7F}"/>
              </a:ext>
            </a:extLst>
          </p:cNvPr>
          <p:cNvSpPr/>
          <p:nvPr/>
        </p:nvSpPr>
        <p:spPr>
          <a:xfrm>
            <a:off x="6798881" y="780558"/>
            <a:ext cx="23495" cy="277495"/>
          </a:xfrm>
          <a:custGeom>
            <a:avLst/>
            <a:gdLst/>
            <a:ahLst/>
            <a:cxnLst/>
            <a:rect l="l" t="t" r="r" b="b"/>
            <a:pathLst>
              <a:path w="23495" h="277494">
                <a:moveTo>
                  <a:pt x="22919" y="0"/>
                </a:moveTo>
                <a:lnTo>
                  <a:pt x="0" y="0"/>
                </a:lnTo>
                <a:lnTo>
                  <a:pt x="0" y="276969"/>
                </a:lnTo>
                <a:lnTo>
                  <a:pt x="22919" y="276969"/>
                </a:lnTo>
                <a:lnTo>
                  <a:pt x="2291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11">
            <a:extLst>
              <a:ext uri="{FF2B5EF4-FFF2-40B4-BE49-F238E27FC236}">
                <a16:creationId xmlns:a16="http://schemas.microsoft.com/office/drawing/2014/main" id="{045A733B-F7C5-B785-8E2F-2B637547CD3C}"/>
              </a:ext>
            </a:extLst>
          </p:cNvPr>
          <p:cNvSpPr txBox="1"/>
          <p:nvPr/>
        </p:nvSpPr>
        <p:spPr>
          <a:xfrm>
            <a:off x="3932434" y="668285"/>
            <a:ext cx="3850640" cy="462280"/>
          </a:xfrm>
          <a:prstGeom prst="rect">
            <a:avLst/>
          </a:prstGeom>
          <a:ln w="9525">
            <a:solidFill>
              <a:srgbClr val="000000"/>
            </a:solidFill>
          </a:ln>
        </p:spPr>
        <p:txBody>
          <a:bodyPr vert="horz" wrap="square" lIns="0" tIns="32384" rIns="0" bIns="0" rtlCol="0">
            <a:spAutoFit/>
          </a:bodyPr>
          <a:lstStyle/>
          <a:p>
            <a:pPr marL="91440" rtl="0">
              <a:spcBef>
                <a:spcPts val="254"/>
              </a:spcBef>
              <a:tabLst>
                <a:tab pos="1798320" algn="l"/>
                <a:tab pos="2992755" algn="l"/>
                <a:tab pos="3569970" algn="l"/>
              </a:tabLst>
            </a:pPr>
            <a:r>
              <a:rPr sz="2400" kern="1200" dirty="0">
                <a:solidFill>
                  <a:srgbClr val="0432FF"/>
                </a:solidFill>
                <a:latin typeface="Cambria Math"/>
                <a:cs typeface="Cambria Math"/>
              </a:rPr>
              <a:t>𝑆</a:t>
            </a:r>
            <a:r>
              <a:rPr sz="2400" kern="1200" spc="185" dirty="0">
                <a:solidFill>
                  <a:srgbClr val="0432FF"/>
                </a:solidFill>
                <a:latin typeface="Cambria Math"/>
                <a:cs typeface="Cambria Math"/>
              </a:rPr>
              <a:t> </a:t>
            </a:r>
            <a:r>
              <a:rPr sz="2400" kern="1200" dirty="0">
                <a:solidFill>
                  <a:srgbClr val="0432FF"/>
                </a:solidFill>
                <a:latin typeface="Cambria Math"/>
                <a:cs typeface="Cambria Math"/>
              </a:rPr>
              <a:t>→</a:t>
            </a:r>
            <a:r>
              <a:rPr sz="2400" kern="1200" spc="135" dirty="0">
                <a:solidFill>
                  <a:srgbClr val="0432FF"/>
                </a:solidFill>
                <a:latin typeface="Cambria Math"/>
                <a:cs typeface="Cambria Math"/>
              </a:rPr>
              <a:t> </a:t>
            </a:r>
            <a:r>
              <a:rPr sz="2400" kern="1200" dirty="0">
                <a:solidFill>
                  <a:srgbClr val="0432FF"/>
                </a:solidFill>
                <a:latin typeface="Cambria Math"/>
                <a:cs typeface="Cambria Math"/>
              </a:rPr>
              <a:t>𝐴𝑎</a:t>
            </a:r>
            <a:r>
              <a:rPr sz="2400" kern="1200" spc="55" dirty="0">
                <a:solidFill>
                  <a:srgbClr val="0432FF"/>
                </a:solidFill>
                <a:latin typeface="Cambria Math"/>
                <a:cs typeface="Cambria Math"/>
              </a:rPr>
              <a:t> </a:t>
            </a:r>
            <a:r>
              <a:rPr sz="2400" kern="1200" dirty="0">
                <a:solidFill>
                  <a:srgbClr val="0432FF"/>
                </a:solidFill>
                <a:latin typeface="Cambria Math"/>
                <a:cs typeface="Cambria Math"/>
              </a:rPr>
              <a:t>|</a:t>
            </a:r>
            <a:r>
              <a:rPr sz="2400" kern="1200" spc="-5" dirty="0">
                <a:solidFill>
                  <a:srgbClr val="0432FF"/>
                </a:solidFill>
                <a:latin typeface="Cambria Math"/>
                <a:cs typeface="Cambria Math"/>
              </a:rPr>
              <a:t> </a:t>
            </a:r>
            <a:r>
              <a:rPr sz="2400" kern="1200" dirty="0">
                <a:solidFill>
                  <a:srgbClr val="0432FF"/>
                </a:solidFill>
                <a:latin typeface="Cambria Math"/>
                <a:cs typeface="Cambria Math"/>
              </a:rPr>
              <a:t>𝑏	𝐴</a:t>
            </a:r>
            <a:r>
              <a:rPr sz="2400" kern="1200" spc="165" dirty="0">
                <a:solidFill>
                  <a:srgbClr val="0432FF"/>
                </a:solidFill>
                <a:latin typeface="Cambria Math"/>
                <a:cs typeface="Cambria Math"/>
              </a:rPr>
              <a:t> </a:t>
            </a:r>
            <a:r>
              <a:rPr sz="2400" kern="1200" dirty="0">
                <a:solidFill>
                  <a:srgbClr val="0432FF"/>
                </a:solidFill>
                <a:latin typeface="Cambria Math"/>
                <a:cs typeface="Cambria Math"/>
              </a:rPr>
              <a:t>→</a:t>
            </a:r>
            <a:r>
              <a:rPr sz="2400" kern="1200" spc="140" dirty="0">
                <a:solidFill>
                  <a:srgbClr val="0432FF"/>
                </a:solidFill>
                <a:latin typeface="Cambria Math"/>
                <a:cs typeface="Cambria Math"/>
              </a:rPr>
              <a:t> </a:t>
            </a:r>
            <a:r>
              <a:rPr sz="2400" kern="1200" dirty="0">
                <a:solidFill>
                  <a:srgbClr val="0432FF"/>
                </a:solidFill>
                <a:latin typeface="Cambria Math"/>
                <a:cs typeface="Cambria Math"/>
              </a:rPr>
              <a:t>𝐴𝑐	𝑆𝑑	𝜖</a:t>
            </a:r>
            <a:endParaRPr sz="2400" kern="1200">
              <a:solidFill>
                <a:prstClr val="black"/>
              </a:solidFill>
              <a:latin typeface="Cambria Math"/>
              <a:cs typeface="Cambria Math"/>
            </a:endParaRPr>
          </a:p>
        </p:txBody>
      </p:sp>
    </p:spTree>
    <p:extLst>
      <p:ext uri="{BB962C8B-B14F-4D97-AF65-F5344CB8AC3E}">
        <p14:creationId xmlns:p14="http://schemas.microsoft.com/office/powerpoint/2010/main" val="12117760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36</a:t>
            </a:fld>
            <a:endParaRPr lang="en-US"/>
          </a:p>
        </p:txBody>
      </p:sp>
      <p:sp>
        <p:nvSpPr>
          <p:cNvPr id="8" name="object 2">
            <a:extLst>
              <a:ext uri="{FF2B5EF4-FFF2-40B4-BE49-F238E27FC236}">
                <a16:creationId xmlns:a16="http://schemas.microsoft.com/office/drawing/2014/main" id="{C831471D-E85B-C430-CC3D-D4E64197C8A4}"/>
              </a:ext>
            </a:extLst>
          </p:cNvPr>
          <p:cNvSpPr txBox="1">
            <a:spLocks/>
          </p:cNvSpPr>
          <p:nvPr/>
        </p:nvSpPr>
        <p:spPr>
          <a:xfrm>
            <a:off x="707390" y="524763"/>
            <a:ext cx="678116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Left</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Factoring</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en-US" sz="3900" b="0" i="0" u="none" strike="noStrike" kern="0" cap="none" spc="110" normalizeH="0" baseline="0" noProof="0">
                <a:ln>
                  <a:noFill/>
                </a:ln>
                <a:solidFill>
                  <a:sysClr val="windowText" lastClr="000000"/>
                </a:solidFill>
                <a:effectLst/>
                <a:uLnTx/>
                <a:uFillTx/>
                <a:latin typeface="SimSun"/>
                <a:ea typeface="+mj-ea"/>
                <a:cs typeface="SimSun"/>
              </a:rPr>
              <a:t>提取左公因子</a:t>
            </a:r>
            <a:r>
              <a:rPr kumimoji="0" lang="en-US" sz="4000" b="1" i="0" u="none" strike="noStrike" kern="0" cap="none" spc="0" normalizeH="0" baseline="0" noProof="0">
                <a:ln>
                  <a:noFill/>
                </a:ln>
                <a:solidFill>
                  <a:sysClr val="windowText" lastClr="000000"/>
                </a:solidFill>
                <a:effectLst/>
                <a:uLnTx/>
                <a:uFillTx/>
                <a:latin typeface="Palatino Linotype"/>
                <a:ea typeface="+mj-ea"/>
              </a:rPr>
              <a:t>)</a:t>
            </a:r>
            <a:endParaRPr kumimoji="0" lang="en-US" sz="4000" b="1" i="0" u="none" strike="noStrike" kern="0" cap="none" spc="0" normalizeH="0" baseline="0" noProof="0">
              <a:ln>
                <a:noFill/>
              </a:ln>
              <a:solidFill>
                <a:sysClr val="windowText" lastClr="000000"/>
              </a:solidFill>
              <a:effectLst/>
              <a:uLnTx/>
              <a:uFillTx/>
              <a:latin typeface="SimSun"/>
              <a:ea typeface="+mj-ea"/>
              <a:cs typeface="SimSun"/>
            </a:endParaRPr>
          </a:p>
        </p:txBody>
      </p:sp>
      <p:sp>
        <p:nvSpPr>
          <p:cNvPr id="9" name="object 3">
            <a:extLst>
              <a:ext uri="{FF2B5EF4-FFF2-40B4-BE49-F238E27FC236}">
                <a16:creationId xmlns:a16="http://schemas.microsoft.com/office/drawing/2014/main" id="{7AF8D616-2C1E-0A60-A8EC-290533EDD52D}"/>
              </a:ext>
            </a:extLst>
          </p:cNvPr>
          <p:cNvSpPr txBox="1"/>
          <p:nvPr/>
        </p:nvSpPr>
        <p:spPr>
          <a:xfrm>
            <a:off x="694690" y="1598676"/>
            <a:ext cx="7274559" cy="3384550"/>
          </a:xfrm>
          <a:prstGeom prst="rect">
            <a:avLst/>
          </a:prstGeom>
        </p:spPr>
        <p:txBody>
          <a:bodyPr vert="horz" wrap="square" lIns="0" tIns="12700" rIns="0" bIns="0" rtlCol="0">
            <a:spAutoFit/>
          </a:bodyPr>
          <a:lstStyle/>
          <a:p>
            <a:pPr marL="255904" indent="-230504" rtl="0">
              <a:spcBef>
                <a:spcPts val="100"/>
              </a:spcBef>
              <a:buFont typeface="Arial MT"/>
              <a:buChar char="•"/>
              <a:tabLst>
                <a:tab pos="255270" algn="l"/>
                <a:tab pos="255904" algn="l"/>
              </a:tabLst>
            </a:pPr>
            <a:r>
              <a:rPr sz="2000" kern="1200" dirty="0">
                <a:solidFill>
                  <a:prstClr val="black"/>
                </a:solidFill>
                <a:latin typeface="Palatino Linotype"/>
                <a:cs typeface="Palatino Linotype"/>
              </a:rPr>
              <a:t>If</a:t>
            </a:r>
            <a:r>
              <a:rPr sz="2000" kern="1200" spc="-10" dirty="0">
                <a:solidFill>
                  <a:prstClr val="black"/>
                </a:solidFill>
                <a:latin typeface="Palatino Linotype"/>
                <a:cs typeface="Palatino Linotype"/>
              </a:rPr>
              <a:t> </a:t>
            </a:r>
            <a:r>
              <a:rPr sz="2000" kern="1200" spc="-20" dirty="0">
                <a:solidFill>
                  <a:prstClr val="black"/>
                </a:solidFill>
                <a:latin typeface="Palatino Linotype"/>
                <a:cs typeface="Palatino Linotype"/>
              </a:rPr>
              <a:t>we</a:t>
            </a:r>
            <a:r>
              <a:rPr sz="2000" kern="1200" spc="-5" dirty="0">
                <a:solidFill>
                  <a:prstClr val="black"/>
                </a:solidFill>
                <a:latin typeface="Palatino Linotype"/>
                <a:cs typeface="Palatino Linotype"/>
              </a:rPr>
              <a:t> </a:t>
            </a:r>
            <a:r>
              <a:rPr sz="2000" kern="1200" spc="-15" dirty="0">
                <a:solidFill>
                  <a:prstClr val="black"/>
                </a:solidFill>
                <a:latin typeface="Palatino Linotype"/>
                <a:cs typeface="Palatino Linotype"/>
              </a:rPr>
              <a:t>have</a:t>
            </a:r>
            <a:r>
              <a:rPr sz="2000" kern="1200" spc="-5" dirty="0">
                <a:solidFill>
                  <a:prstClr val="black"/>
                </a:solidFill>
                <a:latin typeface="Palatino Linotype"/>
                <a:cs typeface="Palatino Linotype"/>
              </a:rPr>
              <a:t> the following </a:t>
            </a:r>
            <a:r>
              <a:rPr sz="2000" kern="1200" spc="-15" dirty="0">
                <a:solidFill>
                  <a:prstClr val="black"/>
                </a:solidFill>
                <a:latin typeface="Palatino Linotype"/>
                <a:cs typeface="Palatino Linotype"/>
              </a:rPr>
              <a:t>two</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productions</a:t>
            </a:r>
            <a:endParaRPr sz="2000" kern="1200" dirty="0">
              <a:solidFill>
                <a:prstClr val="black"/>
              </a:solidFill>
              <a:latin typeface="Palatino Linotype"/>
              <a:cs typeface="Palatino Linotype"/>
            </a:endParaRPr>
          </a:p>
          <a:p>
            <a:pPr marL="637540" rtl="0">
              <a:spcBef>
                <a:spcPts val="1560"/>
              </a:spcBef>
            </a:pPr>
            <a:r>
              <a:rPr sz="2000" kern="1200" spc="-5" dirty="0">
                <a:solidFill>
                  <a:srgbClr val="0432FF"/>
                </a:solidFill>
                <a:latin typeface="Cambria Math"/>
                <a:cs typeface="Cambria Math"/>
              </a:rPr>
              <a:t>𝑠𝑡𝑚𝑡</a:t>
            </a:r>
            <a:r>
              <a:rPr sz="2000" kern="1200" spc="150"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10" dirty="0">
                <a:solidFill>
                  <a:srgbClr val="0432FF"/>
                </a:solidFill>
                <a:latin typeface="Cambria Math"/>
                <a:cs typeface="Cambria Math"/>
              </a:rPr>
              <a:t> </a:t>
            </a:r>
            <a:r>
              <a:rPr sz="2000" kern="1200" dirty="0">
                <a:solidFill>
                  <a:srgbClr val="0432FF"/>
                </a:solidFill>
                <a:latin typeface="Cambria Math"/>
                <a:cs typeface="Cambria Math"/>
              </a:rPr>
              <a:t>𝐢𝐟</a:t>
            </a:r>
            <a:r>
              <a:rPr sz="2000" kern="1200" spc="-5" dirty="0">
                <a:solidFill>
                  <a:srgbClr val="0432FF"/>
                </a:solidFill>
                <a:latin typeface="Cambria Math"/>
                <a:cs typeface="Cambria Math"/>
              </a:rPr>
              <a:t> 𝑒𝑥𝑝𝑟</a:t>
            </a:r>
            <a:r>
              <a:rPr sz="2000" kern="1200" spc="30" dirty="0">
                <a:solidFill>
                  <a:srgbClr val="0432FF"/>
                </a:solidFill>
                <a:latin typeface="Cambria Math"/>
                <a:cs typeface="Cambria Math"/>
              </a:rPr>
              <a:t> </a:t>
            </a:r>
            <a:r>
              <a:rPr sz="2000" kern="1200" spc="-5" dirty="0">
                <a:solidFill>
                  <a:srgbClr val="0432FF"/>
                </a:solidFill>
                <a:latin typeface="Cambria Math"/>
                <a:cs typeface="Cambria Math"/>
              </a:rPr>
              <a:t>𝐭𝐡𝐞𝐧</a:t>
            </a:r>
            <a:r>
              <a:rPr sz="2000" kern="1200" spc="-10" dirty="0">
                <a:solidFill>
                  <a:srgbClr val="0432FF"/>
                </a:solidFill>
                <a:latin typeface="Cambria Math"/>
                <a:cs typeface="Cambria Math"/>
              </a:rPr>
              <a:t> </a:t>
            </a:r>
            <a:r>
              <a:rPr sz="2000" kern="1200" spc="-5" dirty="0">
                <a:solidFill>
                  <a:srgbClr val="0432FF"/>
                </a:solidFill>
                <a:latin typeface="Cambria Math"/>
                <a:cs typeface="Cambria Math"/>
              </a:rPr>
              <a:t>𝑠𝑡𝑚𝑡</a:t>
            </a:r>
            <a:r>
              <a:rPr sz="2000" kern="1200" spc="40" dirty="0">
                <a:solidFill>
                  <a:srgbClr val="0432FF"/>
                </a:solidFill>
                <a:latin typeface="Cambria Math"/>
                <a:cs typeface="Cambria Math"/>
              </a:rPr>
              <a:t> </a:t>
            </a:r>
            <a:r>
              <a:rPr sz="2000" kern="1200" spc="-5" dirty="0">
                <a:solidFill>
                  <a:srgbClr val="0432FF"/>
                </a:solidFill>
                <a:latin typeface="Cambria Math"/>
                <a:cs typeface="Cambria Math"/>
              </a:rPr>
              <a:t>𝐞𝐥𝐬𝐞 𝑠𝑡𝑚𝑡</a:t>
            </a:r>
            <a:endParaRPr sz="2000" kern="1200" dirty="0">
              <a:solidFill>
                <a:prstClr val="black"/>
              </a:solidFill>
              <a:latin typeface="Cambria Math"/>
              <a:cs typeface="Cambria Math"/>
            </a:endParaRPr>
          </a:p>
          <a:p>
            <a:pPr marL="1248410" rtl="0">
              <a:spcBef>
                <a:spcPts val="1200"/>
              </a:spcBef>
              <a:tabLst>
                <a:tab pos="1551305" algn="l"/>
              </a:tabLst>
            </a:pPr>
            <a:r>
              <a:rPr sz="2000" kern="1200" dirty="0">
                <a:solidFill>
                  <a:srgbClr val="0432FF"/>
                </a:solidFill>
                <a:latin typeface="Cambria Math"/>
                <a:cs typeface="Cambria Math"/>
              </a:rPr>
              <a:t>|	𝐢𝐟</a:t>
            </a:r>
            <a:r>
              <a:rPr sz="2000" kern="1200" spc="-20" dirty="0">
                <a:solidFill>
                  <a:srgbClr val="0432FF"/>
                </a:solidFill>
                <a:latin typeface="Cambria Math"/>
                <a:cs typeface="Cambria Math"/>
              </a:rPr>
              <a:t> </a:t>
            </a:r>
            <a:r>
              <a:rPr sz="2000" kern="1200" spc="-5" dirty="0">
                <a:solidFill>
                  <a:srgbClr val="0432FF"/>
                </a:solidFill>
                <a:latin typeface="Cambria Math"/>
                <a:cs typeface="Cambria Math"/>
              </a:rPr>
              <a:t>𝑒𝑥𝑝𝑟</a:t>
            </a:r>
            <a:r>
              <a:rPr sz="2000" kern="1200" spc="20" dirty="0">
                <a:solidFill>
                  <a:srgbClr val="0432FF"/>
                </a:solidFill>
                <a:latin typeface="Cambria Math"/>
                <a:cs typeface="Cambria Math"/>
              </a:rPr>
              <a:t> </a:t>
            </a:r>
            <a:r>
              <a:rPr sz="2000" kern="1200" spc="-5" dirty="0">
                <a:solidFill>
                  <a:srgbClr val="0432FF"/>
                </a:solidFill>
                <a:latin typeface="Cambria Math"/>
                <a:cs typeface="Cambria Math"/>
              </a:rPr>
              <a:t>𝐭𝐡𝐞𝐧</a:t>
            </a:r>
            <a:r>
              <a:rPr sz="2000" kern="1200" spc="-20" dirty="0">
                <a:solidFill>
                  <a:srgbClr val="0432FF"/>
                </a:solidFill>
                <a:latin typeface="Cambria Math"/>
                <a:cs typeface="Cambria Math"/>
              </a:rPr>
              <a:t> </a:t>
            </a:r>
            <a:r>
              <a:rPr sz="2000" kern="1200" spc="-5" dirty="0">
                <a:solidFill>
                  <a:srgbClr val="0432FF"/>
                </a:solidFill>
                <a:latin typeface="Cambria Math"/>
                <a:cs typeface="Cambria Math"/>
              </a:rPr>
              <a:t>𝑠𝑡𝑚𝑡</a:t>
            </a:r>
            <a:endParaRPr sz="2000" kern="1200" dirty="0">
              <a:solidFill>
                <a:prstClr val="black"/>
              </a:solidFill>
              <a:latin typeface="Cambria Math"/>
              <a:cs typeface="Cambria Math"/>
            </a:endParaRPr>
          </a:p>
          <a:p>
            <a:pPr marL="255270" marR="630555" indent="-230504" rtl="0">
              <a:lnSpc>
                <a:spcPct val="115999"/>
              </a:lnSpc>
              <a:spcBef>
                <a:spcPts val="1605"/>
              </a:spcBef>
              <a:buFont typeface="Arial MT"/>
              <a:buChar char="•"/>
              <a:tabLst>
                <a:tab pos="255270" algn="l"/>
                <a:tab pos="255904" algn="l"/>
              </a:tabLst>
            </a:pPr>
            <a:r>
              <a:rPr sz="2000" kern="1200" dirty="0">
                <a:solidFill>
                  <a:prstClr val="black"/>
                </a:solidFill>
                <a:latin typeface="Palatino Linotype"/>
                <a:cs typeface="Palatino Linotype"/>
              </a:rPr>
              <a:t>On seeing </a:t>
            </a:r>
            <a:r>
              <a:rPr sz="2000" kern="1200" spc="-5" dirty="0">
                <a:solidFill>
                  <a:prstClr val="black"/>
                </a:solidFill>
                <a:latin typeface="Palatino Linotype"/>
                <a:cs typeface="Palatino Linotype"/>
              </a:rPr>
              <a:t>input </a:t>
            </a:r>
            <a:r>
              <a:rPr sz="2000" kern="1200" dirty="0">
                <a:solidFill>
                  <a:prstClr val="black"/>
                </a:solidFill>
                <a:latin typeface="Cambria Math"/>
                <a:cs typeface="Cambria Math"/>
              </a:rPr>
              <a:t>𝐢𝐟</a:t>
            </a:r>
            <a:r>
              <a:rPr sz="2000" kern="1200" dirty="0">
                <a:solidFill>
                  <a:prstClr val="black"/>
                </a:solidFill>
                <a:latin typeface="Palatino Linotype"/>
                <a:cs typeface="Palatino Linotype"/>
              </a:rPr>
              <a:t>, </a:t>
            </a:r>
            <a:r>
              <a:rPr sz="2000" kern="1200" spc="-20" dirty="0">
                <a:solidFill>
                  <a:prstClr val="black"/>
                </a:solidFill>
                <a:latin typeface="Palatino Linotype"/>
                <a:cs typeface="Palatino Linotype"/>
              </a:rPr>
              <a:t>we </a:t>
            </a:r>
            <a:r>
              <a:rPr sz="2000" kern="1200" spc="-5" dirty="0">
                <a:solidFill>
                  <a:prstClr val="black"/>
                </a:solidFill>
                <a:latin typeface="Palatino Linotype"/>
                <a:cs typeface="Palatino Linotype"/>
              </a:rPr>
              <a:t>cannot </a:t>
            </a:r>
            <a:r>
              <a:rPr sz="2000" kern="1200" dirty="0">
                <a:solidFill>
                  <a:prstClr val="black"/>
                </a:solidFill>
                <a:latin typeface="Palatino Linotype"/>
                <a:cs typeface="Palatino Linotype"/>
              </a:rPr>
              <a:t>immediately decide </a:t>
            </a:r>
            <a:r>
              <a:rPr sz="2000" kern="1200" spc="-5" dirty="0">
                <a:solidFill>
                  <a:prstClr val="black"/>
                </a:solidFill>
                <a:latin typeface="Palatino Linotype"/>
                <a:cs typeface="Palatino Linotype"/>
              </a:rPr>
              <a:t>which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to choose</a:t>
            </a:r>
            <a:endParaRPr sz="2000" kern="1200" dirty="0">
              <a:solidFill>
                <a:prstClr val="black"/>
              </a:solidFill>
              <a:latin typeface="Palatino Linotype"/>
              <a:cs typeface="Palatino Linotype"/>
            </a:endParaRPr>
          </a:p>
          <a:p>
            <a:pPr marL="255270" marR="17780" indent="-230504" rtl="0">
              <a:lnSpc>
                <a:spcPct val="121000"/>
              </a:lnSpc>
              <a:spcBef>
                <a:spcPts val="600"/>
              </a:spcBef>
              <a:buFont typeface="Arial MT"/>
              <a:buChar char="•"/>
              <a:tabLst>
                <a:tab pos="255270" algn="l"/>
                <a:tab pos="255904" algn="l"/>
              </a:tabLst>
            </a:pPr>
            <a:r>
              <a:rPr sz="2000" kern="1200" dirty="0">
                <a:solidFill>
                  <a:prstClr val="black"/>
                </a:solidFill>
                <a:latin typeface="Palatino Linotype"/>
                <a:cs typeface="Palatino Linotype"/>
              </a:rPr>
              <a:t>In</a:t>
            </a:r>
            <a:r>
              <a:rPr sz="2000" kern="1200" spc="-5" dirty="0">
                <a:solidFill>
                  <a:prstClr val="black"/>
                </a:solidFill>
                <a:latin typeface="Palatino Linotype"/>
                <a:cs typeface="Palatino Linotype"/>
              </a:rPr>
              <a:t> general,</a:t>
            </a:r>
            <a:r>
              <a:rPr sz="2000" kern="1200" dirty="0">
                <a:solidFill>
                  <a:prstClr val="black"/>
                </a:solidFill>
                <a:latin typeface="Palatino Linotype"/>
                <a:cs typeface="Palatino Linotype"/>
              </a:rPr>
              <a:t> if</a:t>
            </a:r>
            <a:r>
              <a:rPr sz="2000" kern="1200" spc="-5" dirty="0">
                <a:solidFill>
                  <a:prstClr val="black"/>
                </a:solidFill>
                <a:latin typeface="Palatino Linotype"/>
                <a:cs typeface="Palatino Linotype"/>
              </a:rPr>
              <a:t> </a:t>
            </a:r>
            <a:r>
              <a:rPr sz="2000" kern="1200" dirty="0">
                <a:solidFill>
                  <a:srgbClr val="0432FF"/>
                </a:solidFill>
                <a:latin typeface="Cambria Math"/>
                <a:cs typeface="Cambria Math"/>
              </a:rPr>
              <a:t>𝐴</a:t>
            </a:r>
            <a:r>
              <a:rPr sz="2000" kern="1200" spc="130"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14" dirty="0">
                <a:solidFill>
                  <a:srgbClr val="0432FF"/>
                </a:solidFill>
                <a:latin typeface="Cambria Math"/>
                <a:cs typeface="Cambria Math"/>
              </a:rPr>
              <a:t> </a:t>
            </a:r>
            <a:r>
              <a:rPr sz="2000" kern="1200" spc="-30" dirty="0">
                <a:solidFill>
                  <a:srgbClr val="0432FF"/>
                </a:solidFill>
                <a:latin typeface="Cambria Math"/>
                <a:cs typeface="Cambria Math"/>
              </a:rPr>
              <a:t>𝛼𝛽</a:t>
            </a:r>
            <a:r>
              <a:rPr sz="2250" kern="1200" spc="-44" baseline="-14814" dirty="0">
                <a:solidFill>
                  <a:srgbClr val="0432FF"/>
                </a:solidFill>
                <a:latin typeface="Cambria Math"/>
                <a:cs typeface="Cambria Math"/>
              </a:rPr>
              <a:t>1</a:t>
            </a:r>
            <a:r>
              <a:rPr sz="2250" kern="1200" spc="254" baseline="-14814" dirty="0">
                <a:solidFill>
                  <a:srgbClr val="0432FF"/>
                </a:solidFill>
                <a:latin typeface="Cambria Math"/>
                <a:cs typeface="Cambria Math"/>
              </a:rPr>
              <a:t> </a:t>
            </a:r>
            <a:r>
              <a:rPr sz="2000" kern="1200" dirty="0">
                <a:solidFill>
                  <a:srgbClr val="0432FF"/>
                </a:solidFill>
                <a:latin typeface="Cambria Math"/>
                <a:cs typeface="Cambria Math"/>
              </a:rPr>
              <a:t>| </a:t>
            </a:r>
            <a:r>
              <a:rPr sz="2000" kern="1200" spc="-80" dirty="0">
                <a:solidFill>
                  <a:srgbClr val="0432FF"/>
                </a:solidFill>
                <a:latin typeface="Cambria Math"/>
                <a:cs typeface="Cambria Math"/>
              </a:rPr>
              <a:t>𝛼𝛽</a:t>
            </a:r>
            <a:r>
              <a:rPr lang="en-US" altLang="zh-CN" sz="2250" kern="1200" spc="-120" baseline="-14814" dirty="0">
                <a:solidFill>
                  <a:srgbClr val="0432FF"/>
                </a:solidFill>
                <a:latin typeface="Cambria Math"/>
                <a:cs typeface="Cambria Math"/>
              </a:rPr>
              <a:t>2</a:t>
            </a:r>
            <a:r>
              <a:rPr sz="2250" kern="1200" spc="-22" baseline="-14814" dirty="0">
                <a:solidFill>
                  <a:srgbClr val="0432FF"/>
                </a:solidFill>
                <a:latin typeface="Cambria Math"/>
                <a:cs typeface="Cambria Math"/>
              </a:rPr>
              <a:t> </a:t>
            </a:r>
            <a:r>
              <a:rPr sz="2000" kern="1200" spc="-5" dirty="0">
                <a:solidFill>
                  <a:prstClr val="black"/>
                </a:solidFill>
                <a:latin typeface="Palatino Linotype"/>
                <a:cs typeface="Palatino Linotype"/>
              </a:rPr>
              <a:t>are</a:t>
            </a:r>
            <a:r>
              <a:rPr sz="2000" kern="1200" dirty="0">
                <a:solidFill>
                  <a:prstClr val="black"/>
                </a:solidFill>
                <a:latin typeface="Palatino Linotype"/>
                <a:cs typeface="Palatino Linotype"/>
              </a:rPr>
              <a:t> </a:t>
            </a:r>
            <a:r>
              <a:rPr sz="2000" kern="1200" spc="-15" dirty="0">
                <a:solidFill>
                  <a:prstClr val="black"/>
                </a:solidFill>
                <a:latin typeface="Palatino Linotype"/>
                <a:cs typeface="Palatino Linotype"/>
              </a:rPr>
              <a:t>two</a:t>
            </a:r>
            <a:r>
              <a:rPr sz="2000" kern="1200" spc="-5" dirty="0">
                <a:solidFill>
                  <a:prstClr val="black"/>
                </a:solidFill>
                <a:latin typeface="Palatino Linotype"/>
                <a:cs typeface="Palatino Linotype"/>
              </a:rPr>
              <a:t> productions,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input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begins </a:t>
            </a:r>
            <a:r>
              <a:rPr sz="2000" kern="1200" spc="-5" dirty="0">
                <a:solidFill>
                  <a:prstClr val="black"/>
                </a:solidFill>
                <a:latin typeface="Palatino Linotype"/>
                <a:cs typeface="Palatino Linotype"/>
              </a:rPr>
              <a:t>with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nonempty</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string</a:t>
            </a:r>
            <a:r>
              <a:rPr sz="2000" kern="1200" dirty="0">
                <a:solidFill>
                  <a:prstClr val="black"/>
                </a:solidFill>
                <a:latin typeface="Palatino Linotype"/>
                <a:cs typeface="Palatino Linotype"/>
              </a:rPr>
              <a:t> </a:t>
            </a:r>
            <a:r>
              <a:rPr sz="2000" kern="1200" spc="-10" dirty="0">
                <a:solidFill>
                  <a:prstClr val="black"/>
                </a:solidFill>
                <a:latin typeface="Palatino Linotype"/>
                <a:cs typeface="Palatino Linotype"/>
              </a:rPr>
              <a:t>derived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from </a:t>
            </a:r>
            <a:r>
              <a:rPr sz="2000" kern="1200" spc="30" dirty="0">
                <a:solidFill>
                  <a:prstClr val="black"/>
                </a:solidFill>
                <a:latin typeface="Cambria Math"/>
                <a:cs typeface="Cambria Math"/>
              </a:rPr>
              <a:t>𝛼</a:t>
            </a:r>
            <a:r>
              <a:rPr sz="2000" kern="1200" spc="30" dirty="0">
                <a:solidFill>
                  <a:prstClr val="black"/>
                </a:solidFill>
                <a:latin typeface="Palatino Linotype"/>
                <a:cs typeface="Palatino Linotype"/>
              </a:rPr>
              <a:t>.</a:t>
            </a:r>
            <a:r>
              <a:rPr sz="2000" kern="1200" spc="5" dirty="0">
                <a:solidFill>
                  <a:prstClr val="black"/>
                </a:solidFill>
                <a:latin typeface="Palatino Linotype"/>
                <a:cs typeface="Palatino Linotype"/>
              </a:rPr>
              <a:t> </a:t>
            </a:r>
            <a:r>
              <a:rPr sz="2000" kern="1200" spc="-70" dirty="0">
                <a:solidFill>
                  <a:prstClr val="black"/>
                </a:solidFill>
                <a:latin typeface="Palatino Linotype"/>
                <a:cs typeface="Palatino Linotype"/>
              </a:rPr>
              <a:t>We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may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defer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choosing</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productions</a:t>
            </a:r>
            <a:r>
              <a:rPr sz="2000" kern="1200" dirty="0">
                <a:solidFill>
                  <a:prstClr val="black"/>
                </a:solidFill>
                <a:latin typeface="Palatino Linotype"/>
                <a:cs typeface="Palatino Linotype"/>
              </a:rPr>
              <a:t> by </a:t>
            </a:r>
            <a:r>
              <a:rPr sz="2000" kern="1200" spc="-5" dirty="0">
                <a:solidFill>
                  <a:prstClr val="black"/>
                </a:solidFill>
                <a:latin typeface="Palatino Linotype"/>
                <a:cs typeface="Palatino Linotype"/>
              </a:rPr>
              <a:t>expanding </a:t>
            </a:r>
            <a:r>
              <a:rPr sz="2000" kern="1200" dirty="0">
                <a:solidFill>
                  <a:prstClr val="black"/>
                </a:solidFill>
                <a:latin typeface="Cambria Math"/>
                <a:cs typeface="Cambria Math"/>
              </a:rPr>
              <a:t>𝐴</a:t>
            </a:r>
            <a:r>
              <a:rPr sz="2000" kern="1200" spc="75" dirty="0">
                <a:solidFill>
                  <a:prstClr val="black"/>
                </a:solidFill>
                <a:latin typeface="Cambria Math"/>
                <a:cs typeface="Cambria Math"/>
              </a:rPr>
              <a:t> </a:t>
            </a:r>
            <a:r>
              <a:rPr sz="2000" kern="1200" spc="-5" dirty="0">
                <a:solidFill>
                  <a:prstClr val="black"/>
                </a:solidFill>
                <a:latin typeface="Palatino Linotype"/>
                <a:cs typeface="Palatino Linotype"/>
              </a:rPr>
              <a:t>to </a:t>
            </a:r>
            <a:r>
              <a:rPr sz="2000" kern="1200" spc="50" dirty="0">
                <a:solidFill>
                  <a:prstClr val="black"/>
                </a:solidFill>
                <a:latin typeface="Cambria Math"/>
                <a:cs typeface="Cambria Math"/>
              </a:rPr>
              <a:t>𝛼𝐴</a:t>
            </a:r>
            <a:r>
              <a:rPr sz="2250" kern="1200" spc="75" baseline="27777" dirty="0">
                <a:solidFill>
                  <a:prstClr val="black"/>
                </a:solidFill>
                <a:latin typeface="Cambria Math"/>
                <a:cs typeface="Cambria Math"/>
              </a:rPr>
              <a:t>'</a:t>
            </a:r>
            <a:r>
              <a:rPr sz="2250" kern="1200" spc="359" baseline="27777" dirty="0">
                <a:solidFill>
                  <a:prstClr val="black"/>
                </a:solidFill>
                <a:latin typeface="Cambria Math"/>
                <a:cs typeface="Cambria Math"/>
              </a:rPr>
              <a:t> </a:t>
            </a:r>
            <a:r>
              <a:rPr sz="2000" kern="1200" spc="-5" dirty="0">
                <a:solidFill>
                  <a:prstClr val="black"/>
                </a:solidFill>
                <a:latin typeface="Palatino Linotype"/>
                <a:cs typeface="Palatino Linotype"/>
              </a:rPr>
              <a:t>first</a:t>
            </a:r>
            <a:endParaRPr sz="2000" kern="1200" dirty="0">
              <a:solidFill>
                <a:prstClr val="black"/>
              </a:solidFill>
              <a:latin typeface="Palatino Linotype"/>
              <a:cs typeface="Palatino Linotype"/>
            </a:endParaRPr>
          </a:p>
        </p:txBody>
      </p:sp>
      <p:sp>
        <p:nvSpPr>
          <p:cNvPr id="10" name="object 4">
            <a:extLst>
              <a:ext uri="{FF2B5EF4-FFF2-40B4-BE49-F238E27FC236}">
                <a16:creationId xmlns:a16="http://schemas.microsoft.com/office/drawing/2014/main" id="{2AFCC546-175F-080E-F4A3-06732B673DF9}"/>
              </a:ext>
            </a:extLst>
          </p:cNvPr>
          <p:cNvSpPr txBox="1"/>
          <p:nvPr/>
        </p:nvSpPr>
        <p:spPr>
          <a:xfrm>
            <a:off x="3055962" y="5205450"/>
            <a:ext cx="1678305" cy="1088390"/>
          </a:xfrm>
          <a:prstGeom prst="rect">
            <a:avLst/>
          </a:prstGeom>
          <a:ln w="9525">
            <a:solidFill>
              <a:srgbClr val="000000"/>
            </a:solidFill>
          </a:ln>
        </p:spPr>
        <p:txBody>
          <a:bodyPr vert="horz" wrap="square" lIns="0" tIns="124460" rIns="0" bIns="0" rtlCol="0">
            <a:spAutoFit/>
          </a:bodyPr>
          <a:lstStyle/>
          <a:p>
            <a:pPr marL="144145" rtl="0">
              <a:spcBef>
                <a:spcPts val="980"/>
              </a:spcBef>
            </a:pPr>
            <a:r>
              <a:rPr sz="2000" kern="1200" dirty="0">
                <a:solidFill>
                  <a:srgbClr val="0432FF"/>
                </a:solidFill>
                <a:latin typeface="Cambria Math"/>
                <a:cs typeface="Cambria Math"/>
              </a:rPr>
              <a:t>𝐴</a:t>
            </a:r>
            <a:r>
              <a:rPr sz="2000" kern="1200" spc="95"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85" dirty="0">
                <a:solidFill>
                  <a:srgbClr val="0432FF"/>
                </a:solidFill>
                <a:latin typeface="Cambria Math"/>
                <a:cs typeface="Cambria Math"/>
              </a:rPr>
              <a:t> </a:t>
            </a:r>
            <a:r>
              <a:rPr sz="2000" kern="1200" spc="70" dirty="0">
                <a:solidFill>
                  <a:srgbClr val="0432FF"/>
                </a:solidFill>
                <a:latin typeface="Cambria Math"/>
                <a:cs typeface="Cambria Math"/>
              </a:rPr>
              <a:t>𝛼𝐴</a:t>
            </a:r>
            <a:r>
              <a:rPr sz="2250" kern="1200" spc="104" baseline="25925" dirty="0">
                <a:solidFill>
                  <a:srgbClr val="0432FF"/>
                </a:solidFill>
                <a:latin typeface="Cambria Math"/>
                <a:cs typeface="Cambria Math"/>
              </a:rPr>
              <a:t>'</a:t>
            </a:r>
            <a:endParaRPr sz="2250" kern="1200" baseline="25925">
              <a:solidFill>
                <a:prstClr val="black"/>
              </a:solidFill>
              <a:latin typeface="Cambria Math"/>
              <a:cs typeface="Cambria Math"/>
            </a:endParaRPr>
          </a:p>
          <a:p>
            <a:pPr marL="71755" rtl="0">
              <a:spcBef>
                <a:spcPts val="1200"/>
              </a:spcBef>
            </a:pPr>
            <a:r>
              <a:rPr sz="2000" kern="1200" spc="75" dirty="0">
                <a:solidFill>
                  <a:srgbClr val="0432FF"/>
                </a:solidFill>
                <a:latin typeface="Cambria Math"/>
                <a:cs typeface="Cambria Math"/>
              </a:rPr>
              <a:t>𝐴</a:t>
            </a:r>
            <a:r>
              <a:rPr sz="2250" kern="1200" spc="112" baseline="25925" dirty="0">
                <a:solidFill>
                  <a:srgbClr val="0432FF"/>
                </a:solidFill>
                <a:latin typeface="Cambria Math"/>
                <a:cs typeface="Cambria Math"/>
              </a:rPr>
              <a:t>'</a:t>
            </a:r>
            <a:r>
              <a:rPr sz="2250" kern="1200" spc="412" baseline="25925"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90" dirty="0">
                <a:solidFill>
                  <a:srgbClr val="0432FF"/>
                </a:solidFill>
                <a:latin typeface="Cambria Math"/>
                <a:cs typeface="Cambria Math"/>
              </a:rPr>
              <a:t> </a:t>
            </a:r>
            <a:r>
              <a:rPr sz="2000" kern="1200" spc="-70" dirty="0">
                <a:solidFill>
                  <a:srgbClr val="0432FF"/>
                </a:solidFill>
                <a:latin typeface="Cambria Math"/>
                <a:cs typeface="Cambria Math"/>
              </a:rPr>
              <a:t>𝛽</a:t>
            </a:r>
            <a:r>
              <a:rPr sz="2250" kern="1200" spc="-104" baseline="-14814" dirty="0">
                <a:solidFill>
                  <a:srgbClr val="0432FF"/>
                </a:solidFill>
                <a:latin typeface="Cambria Math"/>
                <a:cs typeface="Cambria Math"/>
              </a:rPr>
              <a:t>1</a:t>
            </a:r>
            <a:r>
              <a:rPr sz="2250" kern="1200" spc="232" baseline="-14814"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5" dirty="0">
                <a:solidFill>
                  <a:srgbClr val="0432FF"/>
                </a:solidFill>
                <a:latin typeface="Cambria Math"/>
                <a:cs typeface="Cambria Math"/>
              </a:rPr>
              <a:t> </a:t>
            </a:r>
            <a:r>
              <a:rPr sz="2000" kern="1200" spc="-150" dirty="0">
                <a:solidFill>
                  <a:srgbClr val="0432FF"/>
                </a:solidFill>
                <a:latin typeface="Cambria Math"/>
                <a:cs typeface="Cambria Math"/>
              </a:rPr>
              <a:t>𝛽</a:t>
            </a:r>
            <a:r>
              <a:rPr sz="2250" kern="1200" spc="-225" baseline="-14814" dirty="0">
                <a:solidFill>
                  <a:srgbClr val="0432FF"/>
                </a:solidFill>
                <a:latin typeface="Cambria Math"/>
                <a:cs typeface="Cambria Math"/>
              </a:rPr>
              <a:t>&amp;</a:t>
            </a:r>
            <a:endParaRPr sz="2250" kern="1200" baseline="-14814">
              <a:solidFill>
                <a:prstClr val="black"/>
              </a:solidFill>
              <a:latin typeface="Cambria Math"/>
              <a:cs typeface="Cambria Math"/>
            </a:endParaRPr>
          </a:p>
        </p:txBody>
      </p:sp>
    </p:spTree>
    <p:extLst>
      <p:ext uri="{BB962C8B-B14F-4D97-AF65-F5344CB8AC3E}">
        <p14:creationId xmlns:p14="http://schemas.microsoft.com/office/powerpoint/2010/main" val="35628187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37</a:t>
            </a:fld>
            <a:endParaRPr lang="en-US"/>
          </a:p>
        </p:txBody>
      </p:sp>
      <p:sp>
        <p:nvSpPr>
          <p:cNvPr id="13" name="object 2">
            <a:extLst>
              <a:ext uri="{FF2B5EF4-FFF2-40B4-BE49-F238E27FC236}">
                <a16:creationId xmlns:a16="http://schemas.microsoft.com/office/drawing/2014/main" id="{52CDC993-39F8-2F0D-1CE0-92CE0B84DB02}"/>
              </a:ext>
            </a:extLst>
          </p:cNvPr>
          <p:cNvSpPr txBox="1">
            <a:spLocks/>
          </p:cNvSpPr>
          <p:nvPr/>
        </p:nvSpPr>
        <p:spPr>
          <a:xfrm>
            <a:off x="707390" y="560832"/>
            <a:ext cx="7593330" cy="5588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500" b="1" i="0" u="none" strike="noStrike" kern="0" cap="none" spc="-5" normalizeH="0" baseline="0" noProof="0" dirty="0">
                <a:ln>
                  <a:noFill/>
                </a:ln>
                <a:effectLst/>
                <a:uLnTx/>
                <a:uFillTx/>
                <a:latin typeface="Palatino Linotype"/>
                <a:ea typeface="+mj-ea"/>
              </a:rPr>
              <a:t>Algorithm: </a:t>
            </a:r>
            <a:r>
              <a:rPr kumimoji="0" lang="en-US" sz="3500" b="1" i="0" u="none" strike="noStrike" kern="0" cap="none" spc="0" normalizeH="0" baseline="0" noProof="0" dirty="0">
                <a:ln>
                  <a:noFill/>
                </a:ln>
                <a:effectLst/>
                <a:uLnTx/>
                <a:uFillTx/>
                <a:latin typeface="Palatino Linotype"/>
                <a:ea typeface="+mj-ea"/>
              </a:rPr>
              <a:t>Left</a:t>
            </a:r>
            <a:r>
              <a:rPr kumimoji="0" lang="en-US" sz="3500" b="1" i="0" u="none" strike="noStrike" kern="0" cap="none" spc="-10" normalizeH="0" baseline="0" noProof="0" dirty="0">
                <a:ln>
                  <a:noFill/>
                </a:ln>
                <a:effectLst/>
                <a:uLnTx/>
                <a:uFillTx/>
                <a:latin typeface="Palatino Linotype"/>
                <a:ea typeface="+mj-ea"/>
              </a:rPr>
              <a:t> </a:t>
            </a:r>
            <a:r>
              <a:rPr kumimoji="0" lang="en-US" sz="3500" b="1" i="0" u="none" strike="noStrike" kern="0" cap="none" spc="-5" normalizeH="0" baseline="0" noProof="0" dirty="0">
                <a:ln>
                  <a:noFill/>
                </a:ln>
                <a:effectLst/>
                <a:uLnTx/>
                <a:uFillTx/>
                <a:latin typeface="Palatino Linotype"/>
                <a:ea typeface="+mj-ea"/>
              </a:rPr>
              <a:t>Factoring</a:t>
            </a:r>
            <a:r>
              <a:rPr kumimoji="0" lang="en-US" sz="3500" b="1" i="0" u="none" strike="noStrike" kern="0" cap="none" spc="0" normalizeH="0" baseline="0" noProof="0" dirty="0">
                <a:ln>
                  <a:noFill/>
                </a:ln>
                <a:effectLst/>
                <a:uLnTx/>
                <a:uFillTx/>
                <a:latin typeface="Palatino Linotype"/>
                <a:ea typeface="+mj-ea"/>
              </a:rPr>
              <a:t> a </a:t>
            </a:r>
            <a:r>
              <a:rPr kumimoji="0" lang="en-US" sz="3500" b="1" i="0" u="none" strike="noStrike" kern="0" cap="none" spc="-5" normalizeH="0" baseline="0" noProof="0" dirty="0">
                <a:ln>
                  <a:noFill/>
                </a:ln>
                <a:effectLst/>
                <a:uLnTx/>
                <a:uFillTx/>
                <a:latin typeface="Palatino Linotype"/>
                <a:ea typeface="+mj-ea"/>
              </a:rPr>
              <a:t>Grammar</a:t>
            </a:r>
            <a:endParaRPr kumimoji="0" lang="en-US" sz="3500" b="1" i="0" u="none" strike="noStrike" kern="0" cap="none" spc="0" normalizeH="0" baseline="0" noProof="0" dirty="0">
              <a:ln>
                <a:noFill/>
              </a:ln>
              <a:effectLst/>
              <a:uLnTx/>
              <a:uFillTx/>
              <a:latin typeface="Palatino Linotype"/>
              <a:ea typeface="+mj-ea"/>
            </a:endParaRPr>
          </a:p>
        </p:txBody>
      </p:sp>
      <p:sp>
        <p:nvSpPr>
          <p:cNvPr id="14" name="object 3">
            <a:extLst>
              <a:ext uri="{FF2B5EF4-FFF2-40B4-BE49-F238E27FC236}">
                <a16:creationId xmlns:a16="http://schemas.microsoft.com/office/drawing/2014/main" id="{A5AF18EB-065F-5625-4A58-C6BC28C6E01D}"/>
              </a:ext>
            </a:extLst>
          </p:cNvPr>
          <p:cNvSpPr/>
          <p:nvPr/>
        </p:nvSpPr>
        <p:spPr>
          <a:xfrm>
            <a:off x="6436450" y="3582177"/>
            <a:ext cx="19685" cy="231140"/>
          </a:xfrm>
          <a:custGeom>
            <a:avLst/>
            <a:gdLst/>
            <a:ahLst/>
            <a:cxnLst/>
            <a:rect l="l" t="t" r="r" b="b"/>
            <a:pathLst>
              <a:path w="19685" h="231139">
                <a:moveTo>
                  <a:pt x="19099" y="0"/>
                </a:moveTo>
                <a:lnTo>
                  <a:pt x="0" y="0"/>
                </a:lnTo>
                <a:lnTo>
                  <a:pt x="0" y="230807"/>
                </a:lnTo>
                <a:lnTo>
                  <a:pt x="19099" y="230807"/>
                </a:lnTo>
                <a:lnTo>
                  <a:pt x="1909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4">
            <a:extLst>
              <a:ext uri="{FF2B5EF4-FFF2-40B4-BE49-F238E27FC236}">
                <a16:creationId xmlns:a16="http://schemas.microsoft.com/office/drawing/2014/main" id="{119302D6-81FA-537E-C689-07903DDD94D2}"/>
              </a:ext>
            </a:extLst>
          </p:cNvPr>
          <p:cNvSpPr/>
          <p:nvPr/>
        </p:nvSpPr>
        <p:spPr>
          <a:xfrm>
            <a:off x="5828501" y="3582177"/>
            <a:ext cx="19685" cy="231140"/>
          </a:xfrm>
          <a:custGeom>
            <a:avLst/>
            <a:gdLst/>
            <a:ahLst/>
            <a:cxnLst/>
            <a:rect l="l" t="t" r="r" b="b"/>
            <a:pathLst>
              <a:path w="19685" h="231139">
                <a:moveTo>
                  <a:pt x="19099" y="0"/>
                </a:moveTo>
                <a:lnTo>
                  <a:pt x="0" y="0"/>
                </a:lnTo>
                <a:lnTo>
                  <a:pt x="0" y="230807"/>
                </a:lnTo>
                <a:lnTo>
                  <a:pt x="19099" y="230807"/>
                </a:lnTo>
                <a:lnTo>
                  <a:pt x="1909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5">
            <a:extLst>
              <a:ext uri="{FF2B5EF4-FFF2-40B4-BE49-F238E27FC236}">
                <a16:creationId xmlns:a16="http://schemas.microsoft.com/office/drawing/2014/main" id="{F6D978AC-8E4E-64A9-B161-D93DD2B20740}"/>
              </a:ext>
            </a:extLst>
          </p:cNvPr>
          <p:cNvSpPr/>
          <p:nvPr/>
        </p:nvSpPr>
        <p:spPr>
          <a:xfrm>
            <a:off x="7415874" y="3582177"/>
            <a:ext cx="19685" cy="231140"/>
          </a:xfrm>
          <a:custGeom>
            <a:avLst/>
            <a:gdLst/>
            <a:ahLst/>
            <a:cxnLst/>
            <a:rect l="l" t="t" r="r" b="b"/>
            <a:pathLst>
              <a:path w="19684" h="231139">
                <a:moveTo>
                  <a:pt x="19099" y="0"/>
                </a:moveTo>
                <a:lnTo>
                  <a:pt x="0" y="0"/>
                </a:lnTo>
                <a:lnTo>
                  <a:pt x="0" y="230807"/>
                </a:lnTo>
                <a:lnTo>
                  <a:pt x="19099" y="230807"/>
                </a:lnTo>
                <a:lnTo>
                  <a:pt x="1909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7" name="object 6">
            <a:extLst>
              <a:ext uri="{FF2B5EF4-FFF2-40B4-BE49-F238E27FC236}">
                <a16:creationId xmlns:a16="http://schemas.microsoft.com/office/drawing/2014/main" id="{200B729F-6A8C-819D-4C4B-BB98A858E3E8}"/>
              </a:ext>
            </a:extLst>
          </p:cNvPr>
          <p:cNvSpPr/>
          <p:nvPr/>
        </p:nvSpPr>
        <p:spPr>
          <a:xfrm>
            <a:off x="6792050" y="3582177"/>
            <a:ext cx="19685" cy="231140"/>
          </a:xfrm>
          <a:custGeom>
            <a:avLst/>
            <a:gdLst/>
            <a:ahLst/>
            <a:cxnLst/>
            <a:rect l="l" t="t" r="r" b="b"/>
            <a:pathLst>
              <a:path w="19684" h="231139">
                <a:moveTo>
                  <a:pt x="19099" y="0"/>
                </a:moveTo>
                <a:lnTo>
                  <a:pt x="0" y="0"/>
                </a:lnTo>
                <a:lnTo>
                  <a:pt x="0" y="230807"/>
                </a:lnTo>
                <a:lnTo>
                  <a:pt x="19099" y="230807"/>
                </a:lnTo>
                <a:lnTo>
                  <a:pt x="1909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7">
            <a:extLst>
              <a:ext uri="{FF2B5EF4-FFF2-40B4-BE49-F238E27FC236}">
                <a16:creationId xmlns:a16="http://schemas.microsoft.com/office/drawing/2014/main" id="{6A55E9AA-EA45-47A1-449C-44EDB0D76F38}"/>
              </a:ext>
            </a:extLst>
          </p:cNvPr>
          <p:cNvSpPr/>
          <p:nvPr/>
        </p:nvSpPr>
        <p:spPr>
          <a:xfrm>
            <a:off x="4891177" y="4750577"/>
            <a:ext cx="19685" cy="231140"/>
          </a:xfrm>
          <a:custGeom>
            <a:avLst/>
            <a:gdLst/>
            <a:ahLst/>
            <a:cxnLst/>
            <a:rect l="l" t="t" r="r" b="b"/>
            <a:pathLst>
              <a:path w="19685" h="231139">
                <a:moveTo>
                  <a:pt x="19099" y="0"/>
                </a:moveTo>
                <a:lnTo>
                  <a:pt x="0" y="0"/>
                </a:lnTo>
                <a:lnTo>
                  <a:pt x="0" y="230807"/>
                </a:lnTo>
                <a:lnTo>
                  <a:pt x="19099" y="230807"/>
                </a:lnTo>
                <a:lnTo>
                  <a:pt x="1909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8">
            <a:extLst>
              <a:ext uri="{FF2B5EF4-FFF2-40B4-BE49-F238E27FC236}">
                <a16:creationId xmlns:a16="http://schemas.microsoft.com/office/drawing/2014/main" id="{518AEC12-35A6-C47D-A91E-475B32D6E613}"/>
              </a:ext>
            </a:extLst>
          </p:cNvPr>
          <p:cNvSpPr/>
          <p:nvPr/>
        </p:nvSpPr>
        <p:spPr>
          <a:xfrm>
            <a:off x="4443312" y="4750577"/>
            <a:ext cx="19685" cy="231140"/>
          </a:xfrm>
          <a:custGeom>
            <a:avLst/>
            <a:gdLst/>
            <a:ahLst/>
            <a:cxnLst/>
            <a:rect l="l" t="t" r="r" b="b"/>
            <a:pathLst>
              <a:path w="19685" h="231139">
                <a:moveTo>
                  <a:pt x="19099" y="0"/>
                </a:moveTo>
                <a:lnTo>
                  <a:pt x="0" y="0"/>
                </a:lnTo>
                <a:lnTo>
                  <a:pt x="0" y="230807"/>
                </a:lnTo>
                <a:lnTo>
                  <a:pt x="19099" y="230807"/>
                </a:lnTo>
                <a:lnTo>
                  <a:pt x="1909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9">
            <a:extLst>
              <a:ext uri="{FF2B5EF4-FFF2-40B4-BE49-F238E27FC236}">
                <a16:creationId xmlns:a16="http://schemas.microsoft.com/office/drawing/2014/main" id="{6E0C3DA8-F101-A0B0-7964-0AC4EF54E18B}"/>
              </a:ext>
            </a:extLst>
          </p:cNvPr>
          <p:cNvSpPr txBox="1"/>
          <p:nvPr/>
        </p:nvSpPr>
        <p:spPr>
          <a:xfrm>
            <a:off x="580390" y="1385316"/>
            <a:ext cx="7682865" cy="4582160"/>
          </a:xfrm>
          <a:prstGeom prst="rect">
            <a:avLst/>
          </a:prstGeom>
        </p:spPr>
        <p:txBody>
          <a:bodyPr vert="horz" wrap="square" lIns="0" tIns="137160" rIns="0" bIns="0" rtlCol="0">
            <a:spAutoFit/>
          </a:bodyPr>
          <a:lstStyle/>
          <a:p>
            <a:pPr marL="370205" indent="-230504" rtl="0">
              <a:spcBef>
                <a:spcPts val="1080"/>
              </a:spcBef>
              <a:buClr>
                <a:srgbClr val="000000"/>
              </a:buClr>
              <a:buFont typeface="Arial MT"/>
              <a:buChar char="•"/>
              <a:tabLst>
                <a:tab pos="369570" algn="l"/>
                <a:tab pos="370205" algn="l"/>
              </a:tabLst>
            </a:pPr>
            <a:r>
              <a:rPr sz="2000" b="1" kern="1200" spc="-5" dirty="0">
                <a:solidFill>
                  <a:srgbClr val="0432FF"/>
                </a:solidFill>
                <a:latin typeface="Palatino Linotype"/>
                <a:cs typeface="Palatino Linotype"/>
              </a:rPr>
              <a:t>Input:</a:t>
            </a:r>
            <a:r>
              <a:rPr sz="2000" b="1" kern="1200" spc="-25" dirty="0">
                <a:solidFill>
                  <a:srgbClr val="0432FF"/>
                </a:solidFill>
                <a:latin typeface="Palatino Linotype"/>
                <a:cs typeface="Palatino Linotype"/>
              </a:rPr>
              <a:t> </a:t>
            </a:r>
            <a:r>
              <a:rPr sz="2000" kern="1200" spc="-5" dirty="0">
                <a:solidFill>
                  <a:prstClr val="black"/>
                </a:solidFill>
                <a:latin typeface="Palatino Linotype"/>
                <a:cs typeface="Palatino Linotype"/>
              </a:rPr>
              <a:t>Grammar</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G</a:t>
            </a:r>
          </a:p>
          <a:p>
            <a:pPr marL="370205" indent="-230504" rtl="0">
              <a:spcBef>
                <a:spcPts val="985"/>
              </a:spcBef>
              <a:buClr>
                <a:srgbClr val="000000"/>
              </a:buClr>
              <a:buFont typeface="Arial MT"/>
              <a:buChar char="•"/>
              <a:tabLst>
                <a:tab pos="369570" algn="l"/>
                <a:tab pos="370205" algn="l"/>
              </a:tabLst>
            </a:pPr>
            <a:r>
              <a:rPr sz="2000" b="1" kern="1200" spc="-5" dirty="0">
                <a:solidFill>
                  <a:srgbClr val="0432FF"/>
                </a:solidFill>
                <a:latin typeface="Palatino Linotype"/>
                <a:cs typeface="Palatino Linotype"/>
              </a:rPr>
              <a:t>Output:</a:t>
            </a:r>
            <a:r>
              <a:rPr sz="2000" b="1" kern="1200" dirty="0">
                <a:solidFill>
                  <a:srgbClr val="0432FF"/>
                </a:solidFill>
                <a:latin typeface="Palatino Linotype"/>
                <a:cs typeface="Palatino Linotype"/>
              </a:rPr>
              <a:t> </a:t>
            </a:r>
            <a:r>
              <a:rPr sz="2000" kern="1200" spc="-5" dirty="0">
                <a:solidFill>
                  <a:prstClr val="black"/>
                </a:solidFill>
                <a:latin typeface="Palatino Linotype"/>
                <a:cs typeface="Palatino Linotype"/>
              </a:rPr>
              <a:t>An </a:t>
            </a:r>
            <a:r>
              <a:rPr sz="2000" kern="1200" spc="-10" dirty="0">
                <a:solidFill>
                  <a:prstClr val="black"/>
                </a:solidFill>
                <a:latin typeface="Palatino Linotype"/>
                <a:cs typeface="Palatino Linotype"/>
              </a:rPr>
              <a:t>equivalent</a:t>
            </a:r>
            <a:r>
              <a:rPr sz="2000" kern="1200" spc="-5" dirty="0">
                <a:solidFill>
                  <a:prstClr val="black"/>
                </a:solidFill>
                <a:latin typeface="Palatino Linotype"/>
                <a:cs typeface="Palatino Linotype"/>
              </a:rPr>
              <a:t> left-factored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grammar</a:t>
            </a:r>
            <a:endParaRPr sz="2000" kern="1200" dirty="0">
              <a:solidFill>
                <a:prstClr val="black"/>
              </a:solidFill>
              <a:latin typeface="Palatino Linotype"/>
              <a:cs typeface="Palatino Linotype"/>
            </a:endParaRPr>
          </a:p>
          <a:p>
            <a:pPr marL="369570" marR="17780" indent="-230504" rtl="0">
              <a:lnSpc>
                <a:spcPct val="121000"/>
              </a:lnSpc>
              <a:spcBef>
                <a:spcPts val="1800"/>
              </a:spcBef>
              <a:buFont typeface="Arial MT"/>
              <a:buChar char="•"/>
              <a:tabLst>
                <a:tab pos="369570" algn="l"/>
                <a:tab pos="370205" algn="l"/>
              </a:tabLst>
            </a:pPr>
            <a:r>
              <a:rPr sz="2000" kern="1200" spc="-5" dirty="0">
                <a:solidFill>
                  <a:prstClr val="black"/>
                </a:solidFill>
                <a:latin typeface="Palatino Linotype"/>
                <a:cs typeface="Palatino Linotype"/>
              </a:rPr>
              <a:t>For each</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nonterminal</a:t>
            </a:r>
            <a:r>
              <a:rPr sz="2000" kern="1200" spc="5" dirty="0">
                <a:solidFill>
                  <a:prstClr val="black"/>
                </a:solidFill>
                <a:latin typeface="Palatino Linotype"/>
                <a:cs typeface="Palatino Linotype"/>
              </a:rPr>
              <a:t> </a:t>
            </a:r>
            <a:r>
              <a:rPr sz="2000" kern="1200" spc="5" dirty="0">
                <a:solidFill>
                  <a:prstClr val="black"/>
                </a:solidFill>
                <a:latin typeface="Cambria Math"/>
                <a:cs typeface="Cambria Math"/>
              </a:rPr>
              <a:t>𝐴</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find</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longest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prefix</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𝛼</a:t>
            </a:r>
            <a:r>
              <a:rPr sz="2000" kern="1200" spc="125" dirty="0">
                <a:solidFill>
                  <a:prstClr val="black"/>
                </a:solidFill>
                <a:latin typeface="Cambria Math"/>
                <a:cs typeface="Cambria Math"/>
              </a:rPr>
              <a:t> </a:t>
            </a:r>
            <a:r>
              <a:rPr sz="2000" kern="1200" spc="-5" dirty="0">
                <a:solidFill>
                  <a:prstClr val="black"/>
                </a:solidFill>
                <a:latin typeface="Palatino Linotype"/>
                <a:cs typeface="Palatino Linotype"/>
              </a:rPr>
              <a:t>common</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to </a:t>
            </a:r>
            <a:r>
              <a:rPr sz="2000" kern="1200" spc="-15" dirty="0">
                <a:solidFill>
                  <a:prstClr val="black"/>
                </a:solidFill>
                <a:latin typeface="Palatino Linotype"/>
                <a:cs typeface="Palatino Linotype"/>
              </a:rPr>
              <a:t>two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or</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more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a:t>
            </a:r>
            <a:r>
              <a:rPr sz="2000" kern="1200" dirty="0">
                <a:solidFill>
                  <a:prstClr val="black"/>
                </a:solidFill>
                <a:latin typeface="Palatino Linotype"/>
                <a:cs typeface="Palatino Linotype"/>
              </a:rPr>
              <a:t>its </a:t>
            </a:r>
            <a:r>
              <a:rPr sz="2000" kern="1200" spc="-5" dirty="0">
                <a:solidFill>
                  <a:prstClr val="black"/>
                </a:solidFill>
                <a:latin typeface="Palatino Linotype"/>
                <a:cs typeface="Palatino Linotype"/>
              </a:rPr>
              <a:t>alternatives.</a:t>
            </a:r>
            <a:endParaRPr sz="2000" kern="1200" dirty="0">
              <a:solidFill>
                <a:prstClr val="black"/>
              </a:solidFill>
              <a:latin typeface="Palatino Linotype"/>
              <a:cs typeface="Palatino Linotype"/>
            </a:endParaRPr>
          </a:p>
          <a:p>
            <a:pPr marL="369570" marR="262890" indent="-230504" rtl="0">
              <a:lnSpc>
                <a:spcPct val="121000"/>
              </a:lnSpc>
              <a:spcBef>
                <a:spcPts val="1800"/>
              </a:spcBef>
              <a:buFont typeface="Arial MT"/>
              <a:buChar char="•"/>
              <a:tabLst>
                <a:tab pos="369570" algn="l"/>
                <a:tab pos="370205" algn="l"/>
                <a:tab pos="5353050" algn="l"/>
                <a:tab pos="5948045" algn="l"/>
                <a:tab pos="6316345" algn="l"/>
                <a:tab pos="6940550" algn="l"/>
              </a:tabLst>
            </a:pPr>
            <a:r>
              <a:rPr sz="2000" kern="1200" dirty="0">
                <a:solidFill>
                  <a:prstClr val="black"/>
                </a:solidFill>
                <a:latin typeface="Palatino Linotype"/>
                <a:cs typeface="Palatino Linotype"/>
              </a:rPr>
              <a:t>If </a:t>
            </a:r>
            <a:r>
              <a:rPr sz="2000" kern="1200" dirty="0">
                <a:solidFill>
                  <a:prstClr val="black"/>
                </a:solidFill>
                <a:latin typeface="Cambria Math"/>
                <a:cs typeface="Cambria Math"/>
              </a:rPr>
              <a:t>𝛼</a:t>
            </a:r>
            <a:r>
              <a:rPr sz="2000" kern="1200" spc="18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25" dirty="0">
                <a:solidFill>
                  <a:prstClr val="black"/>
                </a:solidFill>
                <a:latin typeface="Cambria Math"/>
                <a:cs typeface="Cambria Math"/>
              </a:rPr>
              <a:t> </a:t>
            </a:r>
            <a:r>
              <a:rPr sz="2000" kern="1200" spc="25" dirty="0">
                <a:solidFill>
                  <a:prstClr val="black"/>
                </a:solidFill>
                <a:latin typeface="Cambria Math"/>
                <a:cs typeface="Cambria Math"/>
              </a:rPr>
              <a:t>𝜖</a:t>
            </a:r>
            <a:r>
              <a:rPr sz="2000" kern="1200" spc="25" dirty="0">
                <a:solidFill>
                  <a:prstClr val="black"/>
                </a:solidFill>
                <a:latin typeface="Palatino Linotype"/>
                <a:cs typeface="Palatino Linotype"/>
              </a:rPr>
              <a:t>,</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replace</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all</a:t>
            </a:r>
            <a:r>
              <a:rPr sz="2000" kern="1200" spc="10" dirty="0">
                <a:solidFill>
                  <a:prstClr val="black"/>
                </a:solidFill>
                <a:latin typeface="Palatino Linotype"/>
                <a:cs typeface="Palatino Linotype"/>
              </a:rPr>
              <a:t> </a:t>
            </a:r>
            <a:r>
              <a:rPr sz="2000" kern="1200" spc="-5" dirty="0">
                <a:solidFill>
                  <a:prstClr val="black"/>
                </a:solidFill>
                <a:latin typeface="Cambria Math"/>
                <a:cs typeface="Cambria Math"/>
              </a:rPr>
              <a:t>𝐴</a:t>
            </a:r>
            <a:r>
              <a:rPr sz="2000" kern="1200" spc="-5" dirty="0">
                <a:solidFill>
                  <a:prstClr val="black"/>
                </a:solidFill>
                <a:latin typeface="Palatino Linotype"/>
                <a:cs typeface="Palatino Linotype"/>
              </a:rPr>
              <a:t>-productions</a:t>
            </a:r>
            <a:r>
              <a:rPr sz="2000" kern="1200" spc="10" dirty="0">
                <a:solidFill>
                  <a:prstClr val="black"/>
                </a:solidFill>
                <a:latin typeface="Palatino Linotype"/>
                <a:cs typeface="Palatino Linotype"/>
              </a:rPr>
              <a:t> </a:t>
            </a:r>
            <a:r>
              <a:rPr sz="2000" kern="1200" dirty="0">
                <a:solidFill>
                  <a:prstClr val="black"/>
                </a:solidFill>
                <a:latin typeface="Cambria Math"/>
                <a:cs typeface="Cambria Math"/>
              </a:rPr>
              <a:t>𝐴</a:t>
            </a:r>
            <a:r>
              <a:rPr sz="2000" kern="1200" spc="13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spc="-30" dirty="0">
                <a:solidFill>
                  <a:prstClr val="black"/>
                </a:solidFill>
                <a:latin typeface="Cambria Math"/>
                <a:cs typeface="Cambria Math"/>
              </a:rPr>
              <a:t>𝛼𝛽</a:t>
            </a:r>
            <a:r>
              <a:rPr sz="2250" kern="1200" spc="-44" baseline="-14814" dirty="0">
                <a:solidFill>
                  <a:prstClr val="black"/>
                </a:solidFill>
                <a:latin typeface="Cambria Math"/>
                <a:cs typeface="Cambria Math"/>
              </a:rPr>
              <a:t>1	</a:t>
            </a:r>
            <a:r>
              <a:rPr sz="2000" kern="1200" spc="-80" dirty="0">
                <a:solidFill>
                  <a:prstClr val="black"/>
                </a:solidFill>
                <a:latin typeface="Cambria Math"/>
                <a:cs typeface="Cambria Math"/>
              </a:rPr>
              <a:t>𝛼𝛽</a:t>
            </a:r>
            <a:r>
              <a:rPr sz="2250" kern="1200" spc="-120" baseline="-14814" dirty="0">
                <a:solidFill>
                  <a:prstClr val="black"/>
                </a:solidFill>
                <a:latin typeface="Cambria Math"/>
                <a:cs typeface="Cambria Math"/>
              </a:rPr>
              <a:t>&amp;	</a:t>
            </a:r>
            <a:r>
              <a:rPr sz="2000" kern="1200" dirty="0">
                <a:solidFill>
                  <a:prstClr val="black"/>
                </a:solidFill>
                <a:latin typeface="Cambria Math"/>
                <a:cs typeface="Cambria Math"/>
              </a:rPr>
              <a:t>…	</a:t>
            </a:r>
            <a:r>
              <a:rPr sz="2000" kern="1200" spc="10" dirty="0">
                <a:solidFill>
                  <a:prstClr val="black"/>
                </a:solidFill>
                <a:latin typeface="Cambria Math"/>
                <a:cs typeface="Cambria Math"/>
              </a:rPr>
              <a:t>𝛼𝛽</a:t>
            </a:r>
            <a:r>
              <a:rPr sz="2250" kern="1200" spc="15" baseline="-14814" dirty="0">
                <a:solidFill>
                  <a:prstClr val="black"/>
                </a:solidFill>
                <a:latin typeface="Cambria Math"/>
                <a:cs typeface="Cambria Math"/>
              </a:rPr>
              <a:t>𝑛	</a:t>
            </a:r>
            <a:r>
              <a:rPr sz="2000" kern="1200" spc="25" dirty="0">
                <a:solidFill>
                  <a:prstClr val="black"/>
                </a:solidFill>
                <a:latin typeface="Cambria Math"/>
                <a:cs typeface="Cambria Math"/>
              </a:rPr>
              <a:t>𝛾</a:t>
            </a:r>
            <a:r>
              <a:rPr sz="2000" kern="1200" spc="25" dirty="0">
                <a:solidFill>
                  <a:prstClr val="black"/>
                </a:solidFill>
                <a:latin typeface="Palatino Linotype"/>
                <a:cs typeface="Palatino Linotype"/>
              </a:rPr>
              <a:t>, </a:t>
            </a:r>
            <a:r>
              <a:rPr sz="2000" kern="1200" spc="30" dirty="0">
                <a:solidFill>
                  <a:prstClr val="black"/>
                </a:solidFill>
                <a:latin typeface="Palatino Linotype"/>
                <a:cs typeface="Palatino Linotype"/>
              </a:rPr>
              <a:t> </a:t>
            </a:r>
            <a:r>
              <a:rPr sz="2000" kern="1200" spc="-5" dirty="0">
                <a:solidFill>
                  <a:prstClr val="black"/>
                </a:solidFill>
                <a:latin typeface="Palatino Linotype"/>
                <a:cs typeface="Palatino Linotype"/>
              </a:rPr>
              <a:t>where </a:t>
            </a:r>
            <a:r>
              <a:rPr sz="2000" kern="1200" dirty="0">
                <a:solidFill>
                  <a:prstClr val="black"/>
                </a:solidFill>
                <a:latin typeface="Cambria Math"/>
                <a:cs typeface="Cambria Math"/>
              </a:rPr>
              <a:t>𝛾</a:t>
            </a:r>
            <a:r>
              <a:rPr sz="2000" kern="1200" spc="110" dirty="0">
                <a:solidFill>
                  <a:prstClr val="black"/>
                </a:solidFill>
                <a:latin typeface="Cambria Math"/>
                <a:cs typeface="Cambria Math"/>
              </a:rPr>
              <a:t> </a:t>
            </a:r>
            <a:r>
              <a:rPr sz="2000" kern="1200" spc="-5" dirty="0">
                <a:solidFill>
                  <a:prstClr val="black"/>
                </a:solidFill>
                <a:latin typeface="Palatino Linotype"/>
                <a:cs typeface="Palatino Linotype"/>
              </a:rPr>
              <a:t>represents</a:t>
            </a:r>
            <a:r>
              <a:rPr sz="2000" kern="1200" dirty="0">
                <a:solidFill>
                  <a:prstClr val="black"/>
                </a:solidFill>
                <a:latin typeface="Palatino Linotype"/>
                <a:cs typeface="Palatino Linotype"/>
              </a:rPr>
              <a:t> all </a:t>
            </a:r>
            <a:r>
              <a:rPr sz="2000" kern="1200" spc="-5" dirty="0">
                <a:solidFill>
                  <a:prstClr val="black"/>
                </a:solidFill>
                <a:latin typeface="Palatino Linotype"/>
                <a:cs typeface="Palatino Linotype"/>
              </a:rPr>
              <a:t>alternatives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that </a:t>
            </a:r>
            <a:r>
              <a:rPr sz="2000" kern="1200" dirty="0">
                <a:solidFill>
                  <a:prstClr val="black"/>
                </a:solidFill>
                <a:latin typeface="Palatino Linotype"/>
                <a:cs typeface="Palatino Linotype"/>
              </a:rPr>
              <a:t>do</a:t>
            </a:r>
            <a:r>
              <a:rPr sz="2000" kern="1200" spc="-5" dirty="0">
                <a:solidFill>
                  <a:prstClr val="black"/>
                </a:solidFill>
                <a:latin typeface="Palatino Linotype"/>
                <a:cs typeface="Palatino Linotype"/>
              </a:rPr>
              <a:t> not</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begin</a:t>
            </a:r>
            <a:r>
              <a:rPr sz="2000" kern="1200" spc="-5" dirty="0">
                <a:solidFill>
                  <a:prstClr val="black"/>
                </a:solidFill>
                <a:latin typeface="Palatino Linotype"/>
                <a:cs typeface="Palatino Linotype"/>
              </a:rPr>
              <a:t> with </a:t>
            </a:r>
            <a:r>
              <a:rPr sz="2000" kern="1200" spc="30" dirty="0">
                <a:solidFill>
                  <a:prstClr val="black"/>
                </a:solidFill>
                <a:latin typeface="Cambria Math"/>
                <a:cs typeface="Cambria Math"/>
              </a:rPr>
              <a:t>𝛼</a:t>
            </a:r>
            <a:r>
              <a:rPr sz="2000" kern="1200" spc="30" dirty="0">
                <a:solidFill>
                  <a:prstClr val="black"/>
                </a:solidFill>
                <a:latin typeface="Palatino Linotype"/>
                <a:cs typeface="Palatino Linotype"/>
              </a:rPr>
              <a:t>,</a:t>
            </a:r>
            <a:r>
              <a:rPr sz="2000" kern="1200" dirty="0">
                <a:solidFill>
                  <a:prstClr val="black"/>
                </a:solidFill>
                <a:latin typeface="Palatino Linotype"/>
                <a:cs typeface="Palatino Linotype"/>
              </a:rPr>
              <a:t> by</a:t>
            </a:r>
          </a:p>
          <a:p>
            <a:pPr marL="2936875" rtl="0">
              <a:spcBef>
                <a:spcPts val="985"/>
              </a:spcBef>
            </a:pPr>
            <a:r>
              <a:rPr sz="2000" kern="1200" dirty="0">
                <a:solidFill>
                  <a:srgbClr val="0432FF"/>
                </a:solidFill>
                <a:latin typeface="Cambria Math"/>
                <a:cs typeface="Cambria Math"/>
              </a:rPr>
              <a:t>𝐴</a:t>
            </a:r>
            <a:r>
              <a:rPr sz="2000" kern="1200" spc="110"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90" dirty="0">
                <a:solidFill>
                  <a:srgbClr val="0432FF"/>
                </a:solidFill>
                <a:latin typeface="Cambria Math"/>
                <a:cs typeface="Cambria Math"/>
              </a:rPr>
              <a:t> </a:t>
            </a:r>
            <a:r>
              <a:rPr sz="2000" kern="1200" spc="70" dirty="0">
                <a:solidFill>
                  <a:srgbClr val="0432FF"/>
                </a:solidFill>
                <a:latin typeface="Cambria Math"/>
                <a:cs typeface="Cambria Math"/>
              </a:rPr>
              <a:t>𝛼𝐴</a:t>
            </a:r>
            <a:r>
              <a:rPr sz="2250" kern="1200" spc="104" baseline="25925" dirty="0">
                <a:solidFill>
                  <a:srgbClr val="0432FF"/>
                </a:solidFill>
                <a:latin typeface="Cambria Math"/>
                <a:cs typeface="Cambria Math"/>
              </a:rPr>
              <a:t>'</a:t>
            </a:r>
            <a:r>
              <a:rPr sz="2250" kern="1200" spc="240" baseline="25925"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5" dirty="0">
                <a:solidFill>
                  <a:srgbClr val="0432FF"/>
                </a:solidFill>
                <a:latin typeface="Cambria Math"/>
                <a:cs typeface="Cambria Math"/>
              </a:rPr>
              <a:t> </a:t>
            </a:r>
            <a:r>
              <a:rPr sz="2000" kern="1200" dirty="0">
                <a:solidFill>
                  <a:srgbClr val="0432FF"/>
                </a:solidFill>
                <a:latin typeface="Cambria Math"/>
                <a:cs typeface="Cambria Math"/>
              </a:rPr>
              <a:t>𝛾</a:t>
            </a:r>
            <a:endParaRPr sz="2000" kern="1200" dirty="0">
              <a:solidFill>
                <a:prstClr val="black"/>
              </a:solidFill>
              <a:latin typeface="Cambria Math"/>
              <a:cs typeface="Cambria Math"/>
            </a:endParaRPr>
          </a:p>
          <a:p>
            <a:pPr marL="2936875" rtl="0">
              <a:spcBef>
                <a:spcPts val="505"/>
              </a:spcBef>
              <a:tabLst>
                <a:tab pos="3968115" algn="l"/>
                <a:tab pos="4402455" algn="l"/>
              </a:tabLst>
            </a:pPr>
            <a:r>
              <a:rPr sz="2000" kern="1200" spc="-25" dirty="0">
                <a:solidFill>
                  <a:srgbClr val="0432FF"/>
                </a:solidFill>
                <a:latin typeface="Cambria Math"/>
                <a:cs typeface="Cambria Math"/>
              </a:rPr>
              <a:t>𝐴</a:t>
            </a:r>
            <a:r>
              <a:rPr sz="2250" kern="1200" spc="262" baseline="25925" dirty="0">
                <a:solidFill>
                  <a:srgbClr val="0432FF"/>
                </a:solidFill>
                <a:latin typeface="Cambria Math"/>
                <a:cs typeface="Cambria Math"/>
              </a:rPr>
              <a:t>'</a:t>
            </a:r>
            <a:r>
              <a:rPr sz="2250" kern="1200" baseline="25925" dirty="0">
                <a:solidFill>
                  <a:srgbClr val="0432FF"/>
                </a:solidFill>
                <a:latin typeface="Cambria Math"/>
                <a:cs typeface="Cambria Math"/>
              </a:rPr>
              <a:t> </a:t>
            </a:r>
            <a:r>
              <a:rPr sz="2250" kern="1200" spc="-52" baseline="25925"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10" dirty="0">
                <a:solidFill>
                  <a:srgbClr val="0432FF"/>
                </a:solidFill>
                <a:latin typeface="Cambria Math"/>
                <a:cs typeface="Cambria Math"/>
              </a:rPr>
              <a:t> </a:t>
            </a:r>
            <a:r>
              <a:rPr sz="2000" kern="1200" spc="-175" dirty="0">
                <a:solidFill>
                  <a:srgbClr val="0432FF"/>
                </a:solidFill>
                <a:latin typeface="Cambria Math"/>
                <a:cs typeface="Cambria Math"/>
              </a:rPr>
              <a:t>𝛽</a:t>
            </a:r>
            <a:r>
              <a:rPr sz="2250" kern="1200" spc="52" baseline="-14814" dirty="0">
                <a:solidFill>
                  <a:srgbClr val="0432FF"/>
                </a:solidFill>
                <a:latin typeface="Cambria Math"/>
                <a:cs typeface="Cambria Math"/>
              </a:rPr>
              <a:t>1</a:t>
            </a:r>
            <a:r>
              <a:rPr sz="2250" kern="1200" baseline="-14814" dirty="0">
                <a:solidFill>
                  <a:srgbClr val="0432FF"/>
                </a:solidFill>
                <a:latin typeface="Cambria Math"/>
                <a:cs typeface="Cambria Math"/>
              </a:rPr>
              <a:t>	</a:t>
            </a:r>
            <a:r>
              <a:rPr sz="2000" kern="1200" spc="-130" dirty="0">
                <a:solidFill>
                  <a:srgbClr val="0432FF"/>
                </a:solidFill>
                <a:latin typeface="Cambria Math"/>
                <a:cs typeface="Cambria Math"/>
              </a:rPr>
              <a:t>𝛽</a:t>
            </a:r>
            <a:r>
              <a:rPr lang="en-US" altLang="zh-CN" sz="2250" kern="1200" spc="-247" baseline="-14814" dirty="0">
                <a:solidFill>
                  <a:srgbClr val="0432FF"/>
                </a:solidFill>
                <a:latin typeface="Cambria Math"/>
                <a:cs typeface="Cambria Math"/>
              </a:rPr>
              <a:t>2</a:t>
            </a:r>
            <a:r>
              <a:rPr sz="2250" kern="1200" baseline="-14814"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14" dirty="0">
                <a:solidFill>
                  <a:srgbClr val="0432FF"/>
                </a:solidFill>
                <a:latin typeface="Cambria Math"/>
                <a:cs typeface="Cambria Math"/>
              </a:rPr>
              <a:t> </a:t>
            </a:r>
            <a:r>
              <a:rPr sz="2000" kern="1200" dirty="0">
                <a:solidFill>
                  <a:srgbClr val="0432FF"/>
                </a:solidFill>
                <a:latin typeface="Cambria Math"/>
                <a:cs typeface="Cambria Math"/>
              </a:rPr>
              <a:t>| </a:t>
            </a:r>
            <a:r>
              <a:rPr sz="2000" kern="1200" spc="-130" dirty="0">
                <a:solidFill>
                  <a:srgbClr val="0432FF"/>
                </a:solidFill>
                <a:latin typeface="Cambria Math"/>
                <a:cs typeface="Cambria Math"/>
              </a:rPr>
              <a:t>𝛽</a:t>
            </a:r>
            <a:r>
              <a:rPr sz="2250" kern="1200" spc="292" baseline="-14814" dirty="0">
                <a:solidFill>
                  <a:srgbClr val="0432FF"/>
                </a:solidFill>
                <a:latin typeface="Cambria Math"/>
                <a:cs typeface="Cambria Math"/>
              </a:rPr>
              <a:t>𝑛</a:t>
            </a:r>
            <a:endParaRPr sz="2250" kern="1200" baseline="-14814" dirty="0">
              <a:solidFill>
                <a:prstClr val="black"/>
              </a:solidFill>
              <a:latin typeface="Cambria Math"/>
              <a:cs typeface="Cambria Math"/>
            </a:endParaRPr>
          </a:p>
          <a:p>
            <a:pPr marL="369570" marR="995044" indent="-230504" rtl="0">
              <a:lnSpc>
                <a:spcPct val="121000"/>
              </a:lnSpc>
              <a:spcBef>
                <a:spcPts val="1800"/>
              </a:spcBef>
              <a:buFont typeface="Arial MT"/>
              <a:buChar char="•"/>
              <a:tabLst>
                <a:tab pos="369570" algn="l"/>
                <a:tab pos="370205" algn="l"/>
              </a:tabLst>
            </a:pPr>
            <a:r>
              <a:rPr sz="2000" kern="1200" spc="-5" dirty="0">
                <a:solidFill>
                  <a:prstClr val="black"/>
                </a:solidFill>
                <a:latin typeface="Palatino Linotype"/>
                <a:cs typeface="Palatino Linotype"/>
              </a:rPr>
              <a:t>Repeatedly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apply</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10" dirty="0">
                <a:solidFill>
                  <a:prstClr val="black"/>
                </a:solidFill>
                <a:latin typeface="Palatino Linotype"/>
                <a:cs typeface="Palatino Linotype"/>
              </a:rPr>
              <a:t>above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transformation</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until</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no </a:t>
            </a:r>
            <a:r>
              <a:rPr sz="2000" kern="1200" spc="-15" dirty="0">
                <a:solidFill>
                  <a:prstClr val="black"/>
                </a:solidFill>
                <a:latin typeface="Palatino Linotype"/>
                <a:cs typeface="Palatino Linotype"/>
              </a:rPr>
              <a:t>two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alternatives for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nonterminal</a:t>
            </a:r>
            <a:r>
              <a:rPr sz="2000" kern="1200" dirty="0">
                <a:solidFill>
                  <a:prstClr val="black"/>
                </a:solidFill>
                <a:latin typeface="Palatino Linotype"/>
                <a:cs typeface="Palatino Linotype"/>
              </a:rPr>
              <a:t> </a:t>
            </a:r>
            <a:r>
              <a:rPr sz="2000" kern="1200" spc="-15" dirty="0">
                <a:solidFill>
                  <a:prstClr val="black"/>
                </a:solidFill>
                <a:latin typeface="Palatino Linotype"/>
                <a:cs typeface="Palatino Linotype"/>
              </a:rPr>
              <a:t>have</a:t>
            </a:r>
            <a:r>
              <a:rPr sz="2000" kern="1200" dirty="0">
                <a:solidFill>
                  <a:prstClr val="black"/>
                </a:solidFill>
                <a:latin typeface="Palatino Linotype"/>
                <a:cs typeface="Palatino Linotype"/>
              </a:rPr>
              <a:t> a </a:t>
            </a:r>
            <a:r>
              <a:rPr sz="2000" kern="1200" spc="-5" dirty="0">
                <a:solidFill>
                  <a:prstClr val="black"/>
                </a:solidFill>
                <a:latin typeface="Palatino Linotype"/>
                <a:cs typeface="Palatino Linotype"/>
              </a:rPr>
              <a:t>common</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prefix</a:t>
            </a:r>
            <a:endParaRPr sz="2000" kern="1200" dirty="0">
              <a:solidFill>
                <a:prstClr val="black"/>
              </a:solidFill>
              <a:latin typeface="Palatino Linotype"/>
              <a:cs typeface="Palatino Linotype"/>
            </a:endParaRPr>
          </a:p>
        </p:txBody>
      </p:sp>
    </p:spTree>
    <p:extLst>
      <p:ext uri="{BB962C8B-B14F-4D97-AF65-F5344CB8AC3E}">
        <p14:creationId xmlns:p14="http://schemas.microsoft.com/office/powerpoint/2010/main" val="1851227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38</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Tree>
    <p:extLst>
      <p:ext uri="{BB962C8B-B14F-4D97-AF65-F5344CB8AC3E}">
        <p14:creationId xmlns:p14="http://schemas.microsoft.com/office/powerpoint/2010/main" val="908388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39</a:t>
            </a:fld>
            <a:endParaRPr lang="en-US"/>
          </a:p>
        </p:txBody>
      </p:sp>
      <p:sp>
        <p:nvSpPr>
          <p:cNvPr id="7" name="object 2">
            <a:extLst>
              <a:ext uri="{FF2B5EF4-FFF2-40B4-BE49-F238E27FC236}">
                <a16:creationId xmlns:a16="http://schemas.microsoft.com/office/drawing/2014/main" id="{BD58DDF5-63E2-7FCB-A497-5B0475C47FB2}"/>
              </a:ext>
            </a:extLst>
          </p:cNvPr>
          <p:cNvSpPr txBox="1">
            <a:spLocks/>
          </p:cNvSpPr>
          <p:nvPr/>
        </p:nvSpPr>
        <p:spPr>
          <a:xfrm>
            <a:off x="707390" y="524763"/>
            <a:ext cx="439356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0" normalizeH="0" baseline="0" noProof="0">
                <a:ln>
                  <a:noFill/>
                </a:ln>
                <a:solidFill>
                  <a:sysClr val="windowText" lastClr="000000"/>
                </a:solidFill>
                <a:effectLst/>
                <a:uLnTx/>
                <a:uFillTx/>
                <a:latin typeface="Palatino Linotype"/>
                <a:ea typeface="+mj-ea"/>
              </a:rPr>
              <a:t>Top-Down</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7CE418C0-B5AD-B538-2BD6-5783FA0AC1B6}"/>
              </a:ext>
            </a:extLst>
          </p:cNvPr>
          <p:cNvSpPr txBox="1"/>
          <p:nvPr/>
        </p:nvSpPr>
        <p:spPr>
          <a:xfrm>
            <a:off x="707390" y="1600708"/>
            <a:ext cx="7700645" cy="4194175"/>
          </a:xfrm>
          <a:prstGeom prst="rect">
            <a:avLst/>
          </a:prstGeom>
        </p:spPr>
        <p:txBody>
          <a:bodyPr vert="horz" wrap="square" lIns="0" tIns="6350" rIns="0" bIns="0" rtlCol="0">
            <a:spAutoFit/>
          </a:bodyPr>
          <a:lstStyle/>
          <a:p>
            <a:pPr marL="242570" marR="134620" indent="-230504" rtl="0">
              <a:lnSpc>
                <a:spcPct val="119100"/>
              </a:lnSpc>
              <a:spcBef>
                <a:spcPts val="50"/>
              </a:spcBef>
              <a:buClr>
                <a:srgbClr val="000000"/>
              </a:buClr>
              <a:buFont typeface="Arial MT"/>
              <a:buChar char="•"/>
              <a:tabLst>
                <a:tab pos="242570" algn="l"/>
                <a:tab pos="243204" algn="l"/>
              </a:tabLst>
            </a:pPr>
            <a:r>
              <a:rPr sz="2200" b="1" kern="1200" spc="-5" dirty="0">
                <a:solidFill>
                  <a:srgbClr val="FF0000"/>
                </a:solidFill>
                <a:latin typeface="Palatino Linotype"/>
                <a:cs typeface="Palatino Linotype"/>
              </a:rPr>
              <a:t>Problem </a:t>
            </a:r>
            <a:r>
              <a:rPr sz="2200" b="1" kern="1200" dirty="0">
                <a:solidFill>
                  <a:srgbClr val="FF0000"/>
                </a:solidFill>
                <a:latin typeface="Palatino Linotype"/>
                <a:cs typeface="Palatino Linotype"/>
              </a:rPr>
              <a:t>definition: </a:t>
            </a:r>
            <a:r>
              <a:rPr sz="2200" kern="1200" spc="-5" dirty="0">
                <a:solidFill>
                  <a:prstClr val="black"/>
                </a:solidFill>
                <a:latin typeface="Palatino Linotype"/>
                <a:cs typeface="Palatino Linotype"/>
              </a:rPr>
              <a:t>Constructing </a:t>
            </a:r>
            <a:r>
              <a:rPr sz="2200" kern="1200" dirty="0">
                <a:solidFill>
                  <a:prstClr val="black"/>
                </a:solidFill>
                <a:latin typeface="Palatino Linotype"/>
                <a:cs typeface="Palatino Linotype"/>
              </a:rPr>
              <a:t>a parse </a:t>
            </a:r>
            <a:r>
              <a:rPr sz="2200" kern="1200" spc="-5" dirty="0">
                <a:solidFill>
                  <a:prstClr val="black"/>
                </a:solidFill>
                <a:latin typeface="Palatino Linotype"/>
                <a:cs typeface="Palatino Linotype"/>
              </a:rPr>
              <a:t>tree for the input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string,</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starting</a:t>
            </a:r>
            <a:r>
              <a:rPr sz="2200" kern="1200" dirty="0">
                <a:solidFill>
                  <a:prstClr val="black"/>
                </a:solidFill>
                <a:latin typeface="Palatino Linotype"/>
                <a:cs typeface="Palatino Linotype"/>
              </a:rPr>
              <a:t> from</a:t>
            </a:r>
            <a:r>
              <a:rPr sz="2200" kern="1200" spc="-5" dirty="0">
                <a:solidFill>
                  <a:prstClr val="black"/>
                </a:solidFill>
                <a:latin typeface="Palatino Linotype"/>
                <a:cs typeface="Palatino Linotype"/>
              </a:rPr>
              <a:t> the root and</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creating</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the nodes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of</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the </a:t>
            </a:r>
            <a:r>
              <a:rPr sz="2200" kern="1200" dirty="0">
                <a:solidFill>
                  <a:prstClr val="black"/>
                </a:solidFill>
                <a:latin typeface="Palatino Linotype"/>
                <a:cs typeface="Palatino Linotype"/>
              </a:rPr>
              <a:t> parse</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tree in</a:t>
            </a:r>
            <a:r>
              <a:rPr sz="2200" kern="1200" spc="-10" dirty="0">
                <a:solidFill>
                  <a:prstClr val="black"/>
                </a:solidFill>
                <a:latin typeface="Palatino Linotype"/>
                <a:cs typeface="Palatino Linotype"/>
              </a:rPr>
              <a:t> </a:t>
            </a:r>
            <a:r>
              <a:rPr sz="2200" kern="1200" dirty="0">
                <a:solidFill>
                  <a:prstClr val="black"/>
                </a:solidFill>
                <a:latin typeface="Palatino Linotype"/>
                <a:cs typeface="Palatino Linotype"/>
              </a:rPr>
              <a:t>preorder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(depth-first)</a:t>
            </a:r>
            <a:endParaRPr sz="2200" kern="1200" dirty="0">
              <a:solidFill>
                <a:prstClr val="black"/>
              </a:solidFill>
              <a:latin typeface="Palatino Linotype"/>
              <a:cs typeface="Palatino Linotype"/>
            </a:endParaRPr>
          </a:p>
          <a:p>
            <a:pPr marL="698500" lvl="1" indent="-228600" rtl="0">
              <a:spcBef>
                <a:spcPts val="1670"/>
              </a:spcBef>
              <a:buFont typeface="Wingdings"/>
              <a:buChar char=""/>
              <a:tabLst>
                <a:tab pos="698500" algn="l"/>
              </a:tabLst>
            </a:pPr>
            <a:r>
              <a:rPr kern="1200" spc="-10" dirty="0">
                <a:solidFill>
                  <a:prstClr val="black"/>
                </a:solidFill>
                <a:latin typeface="Palatino Linotype"/>
                <a:cs typeface="Palatino Linotype"/>
              </a:rPr>
              <a:t>Equivalent</a:t>
            </a:r>
            <a:r>
              <a:rPr kern="1200" dirty="0">
                <a:solidFill>
                  <a:prstClr val="black"/>
                </a:solidFill>
                <a:latin typeface="Palatino Linotype"/>
                <a:cs typeface="Palatino Linotype"/>
              </a:rPr>
              <a:t> to</a:t>
            </a:r>
            <a:r>
              <a:rPr kern="1200" spc="5" dirty="0">
                <a:solidFill>
                  <a:prstClr val="black"/>
                </a:solidFill>
                <a:latin typeface="Palatino Linotype"/>
                <a:cs typeface="Palatino Linotype"/>
              </a:rPr>
              <a:t> </a:t>
            </a:r>
            <a:r>
              <a:rPr kern="1200" dirty="0">
                <a:solidFill>
                  <a:srgbClr val="FF0000"/>
                </a:solidFill>
                <a:latin typeface="Palatino Linotype"/>
                <a:cs typeface="Palatino Linotype"/>
              </a:rPr>
              <a:t>finding a</a:t>
            </a:r>
            <a:r>
              <a:rPr kern="1200" spc="5" dirty="0">
                <a:solidFill>
                  <a:srgbClr val="FF0000"/>
                </a:solidFill>
                <a:latin typeface="Palatino Linotype"/>
                <a:cs typeface="Palatino Linotype"/>
              </a:rPr>
              <a:t> </a:t>
            </a:r>
            <a:r>
              <a:rPr kern="1200" spc="-5" dirty="0">
                <a:solidFill>
                  <a:srgbClr val="FF0000"/>
                </a:solidFill>
                <a:latin typeface="Palatino Linotype"/>
                <a:cs typeface="Palatino Linotype"/>
              </a:rPr>
              <a:t>leftmost</a:t>
            </a:r>
            <a:r>
              <a:rPr kern="1200" spc="5" dirty="0">
                <a:solidFill>
                  <a:srgbClr val="FF0000"/>
                </a:solidFill>
                <a:latin typeface="Palatino Linotype"/>
                <a:cs typeface="Palatino Linotype"/>
              </a:rPr>
              <a:t> </a:t>
            </a:r>
            <a:r>
              <a:rPr kern="1200" spc="-10" dirty="0">
                <a:solidFill>
                  <a:srgbClr val="FF0000"/>
                </a:solidFill>
                <a:latin typeface="Palatino Linotype"/>
                <a:cs typeface="Palatino Linotype"/>
              </a:rPr>
              <a:t>derivation</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for</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an</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input</a:t>
            </a:r>
            <a:r>
              <a:rPr kern="1200" spc="5" dirty="0">
                <a:solidFill>
                  <a:srgbClr val="FF0000"/>
                </a:solidFill>
                <a:latin typeface="Palatino Linotype"/>
                <a:cs typeface="Palatino Linotype"/>
              </a:rPr>
              <a:t> </a:t>
            </a:r>
            <a:r>
              <a:rPr kern="1200" spc="-5" dirty="0">
                <a:solidFill>
                  <a:srgbClr val="FF0000"/>
                </a:solidFill>
                <a:latin typeface="Palatino Linotype"/>
                <a:cs typeface="Palatino Linotype"/>
              </a:rPr>
              <a:t>string</a:t>
            </a:r>
            <a:endParaRPr kern="1200" dirty="0">
              <a:solidFill>
                <a:prstClr val="black"/>
              </a:solidFill>
              <a:latin typeface="Palatino Linotype"/>
              <a:cs typeface="Palatino Linotype"/>
            </a:endParaRPr>
          </a:p>
          <a:p>
            <a:pPr lvl="1" rtl="0">
              <a:spcBef>
                <a:spcPts val="20"/>
              </a:spcBef>
              <a:buFont typeface="Wingdings"/>
              <a:buChar char=""/>
            </a:pPr>
            <a:endParaRPr sz="3050" kern="1200" dirty="0">
              <a:solidFill>
                <a:prstClr val="black"/>
              </a:solidFill>
              <a:latin typeface="Palatino Linotype"/>
              <a:cs typeface="Palatino Linotype"/>
            </a:endParaRPr>
          </a:p>
          <a:p>
            <a:pPr marL="357505" indent="-343535" rtl="0">
              <a:spcBef>
                <a:spcPts val="5"/>
              </a:spcBef>
              <a:buClr>
                <a:srgbClr val="000000"/>
              </a:buClr>
              <a:buFont typeface="Arial MT"/>
              <a:buChar char="•"/>
              <a:tabLst>
                <a:tab pos="356870" algn="l"/>
                <a:tab pos="357505" algn="l"/>
              </a:tabLst>
            </a:pPr>
            <a:r>
              <a:rPr sz="2200" b="1" kern="1200" spc="-5" dirty="0">
                <a:solidFill>
                  <a:srgbClr val="FF0000"/>
                </a:solidFill>
                <a:latin typeface="Palatino Linotype"/>
                <a:cs typeface="Palatino Linotype"/>
              </a:rPr>
              <a:t>Basic</a:t>
            </a:r>
            <a:r>
              <a:rPr sz="2200" b="1" kern="1200" spc="-25" dirty="0">
                <a:solidFill>
                  <a:srgbClr val="FF0000"/>
                </a:solidFill>
                <a:latin typeface="Palatino Linotype"/>
                <a:cs typeface="Palatino Linotype"/>
              </a:rPr>
              <a:t> </a:t>
            </a:r>
            <a:r>
              <a:rPr sz="2200" b="1" kern="1200" dirty="0">
                <a:solidFill>
                  <a:srgbClr val="FF0000"/>
                </a:solidFill>
                <a:latin typeface="Palatino Linotype"/>
                <a:cs typeface="Palatino Linotype"/>
              </a:rPr>
              <a:t>idea</a:t>
            </a:r>
            <a:r>
              <a:rPr sz="2200" b="1" kern="1200" spc="-20" dirty="0">
                <a:solidFill>
                  <a:srgbClr val="FF0000"/>
                </a:solidFill>
                <a:latin typeface="Palatino Linotype"/>
                <a:cs typeface="Palatino Linotype"/>
              </a:rPr>
              <a:t> </a:t>
            </a:r>
            <a:r>
              <a:rPr sz="2200" b="1" kern="1200" dirty="0">
                <a:solidFill>
                  <a:srgbClr val="0432FF"/>
                </a:solidFill>
                <a:latin typeface="Palatino Linotype"/>
                <a:cs typeface="Palatino Linotype"/>
              </a:rPr>
              <a:t>(two</a:t>
            </a:r>
            <a:r>
              <a:rPr sz="2200" b="1" kern="1200" spc="-20" dirty="0">
                <a:solidFill>
                  <a:srgbClr val="0432FF"/>
                </a:solidFill>
                <a:latin typeface="Palatino Linotype"/>
                <a:cs typeface="Palatino Linotype"/>
              </a:rPr>
              <a:t> </a:t>
            </a:r>
            <a:r>
              <a:rPr sz="2200" b="1" kern="1200" dirty="0">
                <a:solidFill>
                  <a:srgbClr val="0432FF"/>
                </a:solidFill>
                <a:latin typeface="Palatino Linotype"/>
                <a:cs typeface="Palatino Linotype"/>
              </a:rPr>
              <a:t>actions)</a:t>
            </a:r>
            <a:r>
              <a:rPr sz="2200" b="1" kern="1200" dirty="0">
                <a:solidFill>
                  <a:srgbClr val="FF0000"/>
                </a:solidFill>
                <a:latin typeface="Palatino Linotype"/>
                <a:cs typeface="Palatino Linotype"/>
              </a:rPr>
              <a:t>:</a:t>
            </a:r>
            <a:endParaRPr sz="2200" kern="1200" dirty="0">
              <a:solidFill>
                <a:prstClr val="black"/>
              </a:solidFill>
              <a:latin typeface="Palatino Linotype"/>
              <a:cs typeface="Palatino Linotype"/>
            </a:endParaRPr>
          </a:p>
          <a:p>
            <a:pPr marL="698500" marR="558165" lvl="1" indent="-228600" rtl="0">
              <a:lnSpc>
                <a:spcPct val="120000"/>
              </a:lnSpc>
              <a:spcBef>
                <a:spcPts val="1240"/>
              </a:spcBef>
              <a:buClr>
                <a:srgbClr val="000000"/>
              </a:buClr>
              <a:buFont typeface="Wingdings"/>
              <a:buChar char=""/>
              <a:tabLst>
                <a:tab pos="698500" algn="l"/>
              </a:tabLst>
            </a:pPr>
            <a:r>
              <a:rPr b="1" kern="1200" spc="-5" dirty="0">
                <a:solidFill>
                  <a:srgbClr val="0432FF"/>
                </a:solidFill>
                <a:latin typeface="Palatino Linotype"/>
                <a:cs typeface="Palatino Linotype"/>
              </a:rPr>
              <a:t>Predict: </a:t>
            </a:r>
            <a:r>
              <a:rPr kern="1200" spc="-5" dirty="0">
                <a:solidFill>
                  <a:prstClr val="black"/>
                </a:solidFill>
                <a:latin typeface="Palatino Linotype"/>
                <a:cs typeface="Palatino Linotype"/>
              </a:rPr>
              <a:t>At </a:t>
            </a:r>
            <a:r>
              <a:rPr kern="1200" dirty="0">
                <a:solidFill>
                  <a:prstClr val="black"/>
                </a:solidFill>
                <a:latin typeface="Palatino Linotype"/>
                <a:cs typeface="Palatino Linotype"/>
              </a:rPr>
              <a:t>each </a:t>
            </a:r>
            <a:r>
              <a:rPr kern="1200" spc="-5" dirty="0">
                <a:solidFill>
                  <a:prstClr val="black"/>
                </a:solidFill>
                <a:latin typeface="Palatino Linotype"/>
                <a:cs typeface="Palatino Linotype"/>
              </a:rPr>
              <a:t>step </a:t>
            </a:r>
            <a:r>
              <a:rPr kern="1200" dirty="0">
                <a:solidFill>
                  <a:prstClr val="black"/>
                </a:solidFill>
                <a:latin typeface="Palatino Linotype"/>
                <a:cs typeface="Palatino Linotype"/>
              </a:rPr>
              <a:t>of </a:t>
            </a:r>
            <a:r>
              <a:rPr kern="1200" spc="-5" dirty="0">
                <a:solidFill>
                  <a:prstClr val="black"/>
                </a:solidFill>
                <a:latin typeface="Palatino Linotype"/>
                <a:cs typeface="Palatino Linotype"/>
              </a:rPr>
              <a:t>parsing, determine </a:t>
            </a:r>
            <a:r>
              <a:rPr kern="1200" dirty="0">
                <a:solidFill>
                  <a:prstClr val="black"/>
                </a:solidFill>
                <a:latin typeface="Palatino Linotype"/>
                <a:cs typeface="Palatino Linotype"/>
              </a:rPr>
              <a:t>the production to be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applied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for the </a:t>
            </a:r>
            <a:r>
              <a:rPr kern="1200" spc="-5" dirty="0">
                <a:solidFill>
                  <a:prstClr val="black"/>
                </a:solidFill>
                <a:latin typeface="Palatino Linotype"/>
                <a:cs typeface="Palatino Linotype"/>
              </a:rPr>
              <a:t>leftmost</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nonterminal</a:t>
            </a:r>
            <a:endParaRPr kern="1200" dirty="0">
              <a:solidFill>
                <a:prstClr val="black"/>
              </a:solidFill>
              <a:latin typeface="Palatino Linotype"/>
              <a:cs typeface="Palatino Linotype"/>
            </a:endParaRPr>
          </a:p>
          <a:p>
            <a:pPr marL="698500" marR="5080" lvl="1" indent="-228600" rtl="0">
              <a:lnSpc>
                <a:spcPct val="121100"/>
              </a:lnSpc>
              <a:spcBef>
                <a:spcPts val="1175"/>
              </a:spcBef>
              <a:buClr>
                <a:srgbClr val="000000"/>
              </a:buClr>
              <a:buFont typeface="Wingdings"/>
              <a:buChar char=""/>
              <a:tabLst>
                <a:tab pos="698500" algn="l"/>
              </a:tabLst>
            </a:pPr>
            <a:r>
              <a:rPr b="1" kern="1200" dirty="0">
                <a:solidFill>
                  <a:srgbClr val="0432FF"/>
                </a:solidFill>
                <a:latin typeface="Palatino Linotype"/>
                <a:cs typeface="Palatino Linotype"/>
              </a:rPr>
              <a:t>Match: </a:t>
            </a:r>
            <a:r>
              <a:rPr kern="1200" spc="-5" dirty="0">
                <a:solidFill>
                  <a:prstClr val="black"/>
                </a:solidFill>
                <a:latin typeface="Palatino Linotype"/>
                <a:cs typeface="Palatino Linotype"/>
              </a:rPr>
              <a:t>Match</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terminals</a:t>
            </a:r>
            <a:r>
              <a:rPr kern="1200" dirty="0">
                <a:solidFill>
                  <a:prstClr val="black"/>
                </a:solidFill>
                <a:latin typeface="Palatino Linotype"/>
                <a:cs typeface="Palatino Linotype"/>
              </a:rPr>
              <a:t> 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chosen</a:t>
            </a:r>
            <a:r>
              <a:rPr kern="1200" spc="5" dirty="0">
                <a:solidFill>
                  <a:prstClr val="black"/>
                </a:solidFill>
                <a:latin typeface="Palatino Linotype"/>
                <a:cs typeface="Palatino Linotype"/>
              </a:rPr>
              <a:t> </a:t>
            </a:r>
            <a:r>
              <a:rPr kern="1200" spc="-20" dirty="0">
                <a:solidFill>
                  <a:prstClr val="black"/>
                </a:solidFill>
                <a:latin typeface="Palatino Linotype"/>
                <a:cs typeface="Palatino Linotype"/>
              </a:rPr>
              <a:t>production’s</a:t>
            </a:r>
            <a:r>
              <a:rPr kern="1200" dirty="0">
                <a:solidFill>
                  <a:prstClr val="black"/>
                </a:solidFill>
                <a:latin typeface="Palatino Linotype"/>
                <a:cs typeface="Palatino Linotype"/>
              </a:rPr>
              <a:t> body </a:t>
            </a:r>
            <a:r>
              <a:rPr kern="1200" spc="-5" dirty="0">
                <a:solidFill>
                  <a:prstClr val="black"/>
                </a:solidFill>
                <a:latin typeface="Palatino Linotype"/>
                <a:cs typeface="Palatino Linotype"/>
              </a:rPr>
              <a:t>with</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input</a:t>
            </a:r>
            <a:r>
              <a:rPr kern="1200" spc="-5" dirty="0">
                <a:solidFill>
                  <a:prstClr val="black"/>
                </a:solidFill>
                <a:latin typeface="Palatino Linotype"/>
                <a:cs typeface="Palatino Linotype"/>
              </a:rPr>
              <a:t> string</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19031502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 name="object 4">
            <a:extLst>
              <a:ext uri="{FF2B5EF4-FFF2-40B4-BE49-F238E27FC236}">
                <a16:creationId xmlns:a16="http://schemas.microsoft.com/office/drawing/2014/main" id="{DCD6E065-E9DA-7A86-7C64-820F8B4064A5}"/>
              </a:ext>
            </a:extLst>
          </p:cNvPr>
          <p:cNvSpPr txBox="1"/>
          <p:nvPr/>
        </p:nvSpPr>
        <p:spPr>
          <a:xfrm>
            <a:off x="681990" y="2021701"/>
            <a:ext cx="2006600" cy="2758447"/>
          </a:xfrm>
          <a:prstGeom prst="rect">
            <a:avLst/>
          </a:prstGeom>
        </p:spPr>
        <p:txBody>
          <a:bodyPr vert="horz" wrap="square" lIns="0" tIns="166370" rIns="0" bIns="0" rtlCol="0">
            <a:spAutoFit/>
          </a:bodyPr>
          <a:lstStyle/>
          <a:p>
            <a:pPr marL="268605" indent="-230504" rtl="0">
              <a:spcBef>
                <a:spcPts val="1310"/>
              </a:spcBef>
              <a:buClr>
                <a:srgbClr val="000000"/>
              </a:buClr>
              <a:buFont typeface="Arial MT"/>
              <a:buChar char="•"/>
              <a:tabLst>
                <a:tab pos="268605" algn="l"/>
              </a:tabLst>
            </a:pPr>
            <a:r>
              <a:rPr sz="2400" b="1" kern="1200" dirty="0">
                <a:solidFill>
                  <a:srgbClr val="FF0000"/>
                </a:solidFill>
                <a:latin typeface="Palatino Linotype"/>
                <a:cs typeface="Palatino Linotype"/>
              </a:rPr>
              <a:t>Grammar</a:t>
            </a:r>
            <a:endParaRPr sz="2400" kern="1200" dirty="0">
              <a:solidFill>
                <a:prstClr val="black"/>
              </a:solidFill>
              <a:latin typeface="Palatino Linotype"/>
              <a:cs typeface="Palatino Linotype"/>
            </a:endParaRPr>
          </a:p>
          <a:p>
            <a:pPr marL="314960" rtl="0">
              <a:spcBef>
                <a:spcPts val="1115"/>
              </a:spcBef>
            </a:pPr>
            <a:r>
              <a:rPr sz="2200" kern="1200" dirty="0">
                <a:solidFill>
                  <a:prstClr val="black"/>
                </a:solidFill>
                <a:latin typeface="Cambria Math"/>
                <a:cs typeface="Cambria Math"/>
              </a:rPr>
              <a:t>𝐸</a:t>
            </a:r>
            <a:r>
              <a:rPr sz="2200" kern="1200" spc="17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95" dirty="0">
                <a:solidFill>
                  <a:prstClr val="black"/>
                </a:solidFill>
                <a:latin typeface="Cambria Math"/>
                <a:cs typeface="Cambria Math"/>
              </a:rPr>
              <a:t> </a:t>
            </a:r>
            <a:r>
              <a:rPr sz="2200" kern="1200" spc="10" dirty="0">
                <a:solidFill>
                  <a:prstClr val="black"/>
                </a:solidFill>
                <a:latin typeface="Cambria Math"/>
                <a:cs typeface="Cambria Math"/>
              </a:rPr>
              <a:t>𝑇𝐸</a:t>
            </a:r>
            <a:r>
              <a:rPr lang="en-US" sz="2200" kern="1200" spc="10" dirty="0">
                <a:solidFill>
                  <a:prstClr val="black"/>
                </a:solidFill>
                <a:latin typeface="Cambria Math"/>
                <a:cs typeface="Cambria Math"/>
              </a:rPr>
              <a:t>'</a:t>
            </a:r>
            <a:endParaRPr sz="2400" kern="1200" baseline="27777" dirty="0">
              <a:solidFill>
                <a:prstClr val="black"/>
              </a:solidFill>
              <a:latin typeface="Cambria Math"/>
              <a:cs typeface="Cambria Math"/>
            </a:endParaRPr>
          </a:p>
          <a:p>
            <a:pPr marL="314960" rtl="0">
              <a:spcBef>
                <a:spcPts val="550"/>
              </a:spcBef>
            </a:pPr>
            <a:r>
              <a:rPr sz="2200" kern="1200" spc="-5" dirty="0">
                <a:solidFill>
                  <a:prstClr val="black"/>
                </a:solidFill>
                <a:latin typeface="Cambria Math"/>
                <a:cs typeface="Cambria Math"/>
              </a:rPr>
              <a:t>𝐸</a:t>
            </a:r>
            <a:r>
              <a:rPr lang="en-US" altLang="zh-CN" sz="2400" kern="1200" spc="10" dirty="0">
                <a:solidFill>
                  <a:prstClr val="black"/>
                </a:solidFill>
                <a:latin typeface="Cambria Math"/>
                <a:cs typeface="Cambria Math"/>
              </a:rPr>
              <a:t>'</a:t>
            </a:r>
            <a:r>
              <a:rPr sz="2400" kern="1200" spc="487" baseline="27777"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05" dirty="0">
                <a:solidFill>
                  <a:prstClr val="black"/>
                </a:solidFill>
                <a:latin typeface="Cambria Math"/>
                <a:cs typeface="Cambria Math"/>
              </a:rPr>
              <a:t> </a:t>
            </a:r>
            <a:r>
              <a:rPr sz="2200" kern="1200" spc="5" dirty="0">
                <a:solidFill>
                  <a:prstClr val="black"/>
                </a:solidFill>
                <a:latin typeface="Cambria Math"/>
                <a:cs typeface="Cambria Math"/>
              </a:rPr>
              <a:t>+𝑇</a:t>
            </a:r>
            <a:r>
              <a:rPr lang="en-US" sz="2200" kern="1200" spc="5" dirty="0">
                <a:solidFill>
                  <a:prstClr val="black"/>
                </a:solidFill>
                <a:latin typeface="Cambria Math"/>
                <a:cs typeface="Cambria Math"/>
              </a:rPr>
              <a:t>E</a:t>
            </a:r>
            <a:r>
              <a:rPr lang="en-US" altLang="zh-CN" sz="2400" kern="1200" spc="10" dirty="0">
                <a:solidFill>
                  <a:prstClr val="black"/>
                </a:solidFill>
                <a:latin typeface="Cambria Math"/>
                <a:cs typeface="Cambria Math"/>
              </a:rPr>
              <a:t>'</a:t>
            </a:r>
            <a:r>
              <a:rPr sz="2400" kern="1200" spc="307" baseline="27777"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0" dirty="0">
                <a:solidFill>
                  <a:prstClr val="black"/>
                </a:solidFill>
                <a:latin typeface="Cambria Math"/>
                <a:cs typeface="Cambria Math"/>
              </a:rPr>
              <a:t> </a:t>
            </a:r>
            <a:r>
              <a:rPr sz="2200" kern="1200" dirty="0">
                <a:solidFill>
                  <a:prstClr val="black"/>
                </a:solidFill>
                <a:latin typeface="Cambria Math"/>
                <a:cs typeface="Cambria Math"/>
              </a:rPr>
              <a:t>𝜖</a:t>
            </a:r>
          </a:p>
          <a:p>
            <a:pPr marL="314960" rtl="0">
              <a:spcBef>
                <a:spcPts val="575"/>
              </a:spcBef>
            </a:pPr>
            <a:r>
              <a:rPr sz="2200" kern="1200" dirty="0">
                <a:solidFill>
                  <a:prstClr val="black"/>
                </a:solidFill>
                <a:latin typeface="Cambria Math"/>
                <a:cs typeface="Cambria Math"/>
              </a:rPr>
              <a:t>𝑇</a:t>
            </a:r>
            <a:r>
              <a:rPr sz="2200" kern="1200" spc="14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90" dirty="0">
                <a:solidFill>
                  <a:prstClr val="black"/>
                </a:solidFill>
                <a:latin typeface="Cambria Math"/>
                <a:cs typeface="Cambria Math"/>
              </a:rPr>
              <a:t> </a:t>
            </a:r>
            <a:r>
              <a:rPr sz="2200" kern="1200" spc="35" dirty="0">
                <a:solidFill>
                  <a:prstClr val="black"/>
                </a:solidFill>
                <a:latin typeface="Cambria Math"/>
                <a:cs typeface="Cambria Math"/>
              </a:rPr>
              <a:t>𝐹</a:t>
            </a:r>
            <a:r>
              <a:rPr lang="zh-CN" altLang="en-US" sz="2200" kern="1200" spc="35" dirty="0">
                <a:solidFill>
                  <a:prstClr val="black"/>
                </a:solidFill>
                <a:latin typeface="Cambria Math"/>
                <a:cs typeface="Cambria Math"/>
              </a:rPr>
              <a:t>𝑇</a:t>
            </a:r>
            <a:r>
              <a:rPr lang="en-US" altLang="zh-CN" sz="2400" kern="1200" spc="10" dirty="0">
                <a:solidFill>
                  <a:prstClr val="black"/>
                </a:solidFill>
                <a:latin typeface="Cambria Math"/>
                <a:cs typeface="Cambria Math"/>
              </a:rPr>
              <a:t>'</a:t>
            </a:r>
            <a:endParaRPr sz="2400" kern="1200" baseline="27777" dirty="0">
              <a:solidFill>
                <a:prstClr val="black"/>
              </a:solidFill>
              <a:latin typeface="Cambria Math"/>
              <a:cs typeface="Cambria Math"/>
            </a:endParaRPr>
          </a:p>
          <a:p>
            <a:pPr marL="314960" rtl="0">
              <a:spcBef>
                <a:spcPts val="459"/>
              </a:spcBef>
            </a:pPr>
            <a:r>
              <a:rPr sz="2200" kern="1200" spc="10" dirty="0">
                <a:solidFill>
                  <a:prstClr val="black"/>
                </a:solidFill>
                <a:latin typeface="Cambria Math"/>
                <a:cs typeface="Cambria Math"/>
              </a:rPr>
              <a:t>𝑇</a:t>
            </a:r>
            <a:r>
              <a:rPr lang="en-US" altLang="zh-CN" sz="2400" kern="1200" spc="10" dirty="0">
                <a:solidFill>
                  <a:prstClr val="black"/>
                </a:solidFill>
                <a:latin typeface="Cambria Math"/>
                <a:cs typeface="Cambria Math"/>
              </a:rPr>
              <a:t>'</a:t>
            </a:r>
            <a:r>
              <a:rPr sz="2400" kern="1200" spc="494" baseline="27777" dirty="0">
                <a:solidFill>
                  <a:prstClr val="black"/>
                </a:solidFill>
                <a:latin typeface="Cambria Math"/>
                <a:cs typeface="Cambria Math"/>
              </a:rPr>
              <a:t> </a:t>
            </a:r>
            <a:r>
              <a:rPr sz="2200" kern="1200" spc="-5" dirty="0">
                <a:solidFill>
                  <a:prstClr val="black"/>
                </a:solidFill>
                <a:latin typeface="Cambria Math"/>
                <a:cs typeface="Cambria Math"/>
              </a:rPr>
              <a:t>→∗</a:t>
            </a:r>
            <a:r>
              <a:rPr sz="2200" kern="1200" spc="-15" dirty="0">
                <a:solidFill>
                  <a:prstClr val="black"/>
                </a:solidFill>
                <a:latin typeface="Cambria Math"/>
                <a:cs typeface="Cambria Math"/>
              </a:rPr>
              <a:t> </a:t>
            </a:r>
            <a:r>
              <a:rPr sz="2200" kern="1200" spc="35" dirty="0">
                <a:solidFill>
                  <a:prstClr val="black"/>
                </a:solidFill>
                <a:latin typeface="Cambria Math"/>
                <a:cs typeface="Cambria Math"/>
              </a:rPr>
              <a:t>𝐹𝑇</a:t>
            </a:r>
            <a:r>
              <a:rPr lang="en-US" altLang="zh-CN" sz="2400" kern="1200" spc="10" dirty="0">
                <a:solidFill>
                  <a:prstClr val="black"/>
                </a:solidFill>
                <a:latin typeface="Cambria Math"/>
                <a:cs typeface="Cambria Math"/>
              </a:rPr>
              <a:t>'</a:t>
            </a:r>
            <a:r>
              <a:rPr sz="2400" kern="1200" spc="322" baseline="27777"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0" dirty="0">
                <a:solidFill>
                  <a:prstClr val="black"/>
                </a:solidFill>
                <a:latin typeface="Cambria Math"/>
                <a:cs typeface="Cambria Math"/>
              </a:rPr>
              <a:t> </a:t>
            </a:r>
            <a:r>
              <a:rPr sz="2200" kern="1200" dirty="0">
                <a:solidFill>
                  <a:prstClr val="black"/>
                </a:solidFill>
                <a:latin typeface="Cambria Math"/>
                <a:cs typeface="Cambria Math"/>
              </a:rPr>
              <a:t>𝜖</a:t>
            </a:r>
          </a:p>
          <a:p>
            <a:pPr marL="314960" rtl="0">
              <a:spcBef>
                <a:spcPts val="550"/>
              </a:spcBef>
              <a:tabLst>
                <a:tab pos="1002030" algn="l"/>
                <a:tab pos="1365250" algn="l"/>
              </a:tabLst>
            </a:pPr>
            <a:r>
              <a:rPr sz="2200" kern="1200" dirty="0">
                <a:solidFill>
                  <a:prstClr val="black"/>
                </a:solidFill>
                <a:latin typeface="Cambria Math"/>
                <a:cs typeface="Cambria Math"/>
              </a:rPr>
              <a:t>𝐹</a:t>
            </a:r>
            <a:r>
              <a:rPr sz="2200" kern="1200" spc="215" dirty="0">
                <a:solidFill>
                  <a:prstClr val="black"/>
                </a:solidFill>
                <a:latin typeface="Cambria Math"/>
                <a:cs typeface="Cambria Math"/>
              </a:rPr>
              <a:t> </a:t>
            </a:r>
            <a:r>
              <a:rPr sz="2200" kern="1200" dirty="0">
                <a:solidFill>
                  <a:prstClr val="black"/>
                </a:solidFill>
                <a:latin typeface="Cambria Math"/>
                <a:cs typeface="Cambria Math"/>
              </a:rPr>
              <a:t>→</a:t>
            </a:r>
            <a:r>
              <a:rPr lang="zh-CN" altLang="en-US" sz="2200" kern="1200" dirty="0">
                <a:solidFill>
                  <a:prstClr val="black"/>
                </a:solidFill>
                <a:latin typeface="Cambria Math"/>
                <a:cs typeface="Cambria Math"/>
              </a:rPr>
              <a:t> </a:t>
            </a:r>
            <a:r>
              <a:rPr lang="en-US" altLang="zh-CN" sz="2200" kern="1200" dirty="0">
                <a:solidFill>
                  <a:prstClr val="black"/>
                </a:solidFill>
                <a:latin typeface="Cambria Math"/>
                <a:cs typeface="Cambria Math"/>
              </a:rPr>
              <a:t>(</a:t>
            </a:r>
            <a:r>
              <a:rPr sz="2200" kern="1200" dirty="0">
                <a:solidFill>
                  <a:prstClr val="black"/>
                </a:solidFill>
                <a:latin typeface="Cambria Math"/>
                <a:cs typeface="Cambria Math"/>
              </a:rPr>
              <a:t>𝐸</a:t>
            </a:r>
            <a:r>
              <a:rPr lang="en-US" sz="2200" kern="1200" dirty="0">
                <a:solidFill>
                  <a:prstClr val="black"/>
                </a:solidFill>
                <a:latin typeface="Cambria Math"/>
                <a:cs typeface="Cambria Math"/>
              </a:rPr>
              <a:t>)</a:t>
            </a:r>
            <a:r>
              <a:rPr sz="2200" kern="1200" dirty="0">
                <a:solidFill>
                  <a:prstClr val="black"/>
                </a:solidFill>
                <a:latin typeface="Cambria Math"/>
                <a:cs typeface="Cambria Math"/>
              </a:rPr>
              <a:t>|</a:t>
            </a:r>
            <a:r>
              <a:rPr sz="2200" kern="1200" spc="-35" dirty="0">
                <a:solidFill>
                  <a:prstClr val="black"/>
                </a:solidFill>
                <a:latin typeface="Cambria Math"/>
                <a:cs typeface="Cambria Math"/>
              </a:rPr>
              <a:t> </a:t>
            </a:r>
            <a:r>
              <a:rPr sz="2200" kern="1200" dirty="0">
                <a:solidFill>
                  <a:prstClr val="black"/>
                </a:solidFill>
                <a:latin typeface="Cambria Math"/>
                <a:cs typeface="Cambria Math"/>
              </a:rPr>
              <a:t>𝑖𝑑</a:t>
            </a:r>
          </a:p>
        </p:txBody>
      </p:sp>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40</a:t>
            </a:fld>
            <a:endParaRPr lang="en-US"/>
          </a:p>
        </p:txBody>
      </p:sp>
      <p:sp>
        <p:nvSpPr>
          <p:cNvPr id="11" name="object 2">
            <a:extLst>
              <a:ext uri="{FF2B5EF4-FFF2-40B4-BE49-F238E27FC236}">
                <a16:creationId xmlns:a16="http://schemas.microsoft.com/office/drawing/2014/main" id="{BC670501-F859-676F-0C63-B6E34BDB89B1}"/>
              </a:ext>
            </a:extLst>
          </p:cNvPr>
          <p:cNvSpPr txBox="1">
            <a:spLocks/>
          </p:cNvSpPr>
          <p:nvPr/>
        </p:nvSpPr>
        <p:spPr>
          <a:xfrm>
            <a:off x="707390" y="524763"/>
            <a:ext cx="652272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0" normalizeH="0" baseline="0" noProof="0">
                <a:ln>
                  <a:noFill/>
                </a:ln>
                <a:solidFill>
                  <a:sysClr val="windowText" lastClr="000000"/>
                </a:solidFill>
                <a:effectLst/>
                <a:uLnTx/>
                <a:uFillTx/>
                <a:latin typeface="Palatino Linotype"/>
                <a:ea typeface="+mj-ea"/>
              </a:rPr>
              <a:t>Top-Down</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4" name="object 5">
            <a:extLst>
              <a:ext uri="{FF2B5EF4-FFF2-40B4-BE49-F238E27FC236}">
                <a16:creationId xmlns:a16="http://schemas.microsoft.com/office/drawing/2014/main" id="{CFA6C532-88A3-D9F8-0B97-0B0AA48D9673}"/>
              </a:ext>
            </a:extLst>
          </p:cNvPr>
          <p:cNvSpPr txBox="1"/>
          <p:nvPr/>
        </p:nvSpPr>
        <p:spPr>
          <a:xfrm>
            <a:off x="4240300" y="2109723"/>
            <a:ext cx="1787525" cy="964565"/>
          </a:xfrm>
          <a:prstGeom prst="rect">
            <a:avLst/>
          </a:prstGeom>
        </p:spPr>
        <p:txBody>
          <a:bodyPr vert="horz" wrap="square" lIns="0" tIns="146685" rIns="0" bIns="0" rtlCol="0">
            <a:spAutoFit/>
          </a:bodyPr>
          <a:lstStyle/>
          <a:p>
            <a:pPr marL="243204" indent="-230504" rtl="0">
              <a:spcBef>
                <a:spcPts val="1155"/>
              </a:spcBef>
              <a:buClr>
                <a:srgbClr val="000000"/>
              </a:buClr>
              <a:buFont typeface="Arial MT"/>
              <a:buChar char="•"/>
              <a:tabLst>
                <a:tab pos="242570" algn="l"/>
                <a:tab pos="243204" algn="l"/>
              </a:tabLst>
            </a:pPr>
            <a:r>
              <a:rPr sz="2200" b="1" kern="1200" dirty="0">
                <a:solidFill>
                  <a:srgbClr val="FF0000"/>
                </a:solidFill>
                <a:latin typeface="Palatino Linotype"/>
                <a:cs typeface="Palatino Linotype"/>
              </a:rPr>
              <a:t>Input</a:t>
            </a:r>
            <a:r>
              <a:rPr sz="2200" b="1" kern="1200" spc="-65" dirty="0">
                <a:solidFill>
                  <a:srgbClr val="FF0000"/>
                </a:solidFill>
                <a:latin typeface="Palatino Linotype"/>
                <a:cs typeface="Palatino Linotype"/>
              </a:rPr>
              <a:t> </a:t>
            </a:r>
            <a:r>
              <a:rPr sz="2200" b="1" kern="1200" spc="-5" dirty="0">
                <a:solidFill>
                  <a:srgbClr val="FF0000"/>
                </a:solidFill>
                <a:latin typeface="Palatino Linotype"/>
                <a:cs typeface="Palatino Linotype"/>
              </a:rPr>
              <a:t>string</a:t>
            </a:r>
            <a:endParaRPr sz="2200" kern="1200">
              <a:solidFill>
                <a:prstClr val="black"/>
              </a:solidFill>
              <a:latin typeface="Palatino Linotype"/>
              <a:cs typeface="Palatino Linotype"/>
            </a:endParaRPr>
          </a:p>
          <a:p>
            <a:pPr marL="222250" rtl="0">
              <a:spcBef>
                <a:spcPts val="1055"/>
              </a:spcBef>
            </a:pPr>
            <a:r>
              <a:rPr sz="2200" kern="1200" dirty="0">
                <a:solidFill>
                  <a:prstClr val="black"/>
                </a:solidFill>
                <a:latin typeface="Cambria Math"/>
                <a:cs typeface="Cambria Math"/>
              </a:rPr>
              <a:t>𝐢𝐝</a:t>
            </a:r>
            <a:r>
              <a:rPr sz="2200" kern="1200" spc="-1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25" dirty="0">
                <a:solidFill>
                  <a:prstClr val="black"/>
                </a:solidFill>
                <a:latin typeface="Cambria Math"/>
                <a:cs typeface="Cambria Math"/>
              </a:rPr>
              <a:t> </a:t>
            </a:r>
            <a:r>
              <a:rPr sz="2200" kern="1200" dirty="0">
                <a:solidFill>
                  <a:prstClr val="black"/>
                </a:solidFill>
                <a:latin typeface="Cambria Math"/>
                <a:cs typeface="Cambria Math"/>
              </a:rPr>
              <a:t>𝐢𝐝</a:t>
            </a:r>
            <a:r>
              <a:rPr sz="2200" kern="1200" spc="-10" dirty="0">
                <a:solidFill>
                  <a:prstClr val="black"/>
                </a:solidFill>
                <a:latin typeface="Cambria Math"/>
                <a:cs typeface="Cambria Math"/>
              </a:rPr>
              <a:t> </a:t>
            </a:r>
            <a:r>
              <a:rPr sz="2200" kern="1200" dirty="0">
                <a:solidFill>
                  <a:prstClr val="black"/>
                </a:solidFill>
                <a:latin typeface="Cambria Math"/>
                <a:cs typeface="Cambria Math"/>
              </a:rPr>
              <a:t>∗</a:t>
            </a:r>
            <a:r>
              <a:rPr sz="2200" kern="1200" spc="-20" dirty="0">
                <a:solidFill>
                  <a:prstClr val="black"/>
                </a:solidFill>
                <a:latin typeface="Cambria Math"/>
                <a:cs typeface="Cambria Math"/>
              </a:rPr>
              <a:t> </a:t>
            </a:r>
            <a:r>
              <a:rPr sz="2200" kern="1200" dirty="0">
                <a:solidFill>
                  <a:prstClr val="black"/>
                </a:solidFill>
                <a:latin typeface="Cambria Math"/>
                <a:cs typeface="Cambria Math"/>
              </a:rPr>
              <a:t>𝐢𝐝</a:t>
            </a:r>
            <a:endParaRPr sz="2200" kern="1200">
              <a:solidFill>
                <a:prstClr val="black"/>
              </a:solidFill>
              <a:latin typeface="Cambria Math"/>
              <a:cs typeface="Cambria Math"/>
            </a:endParaRPr>
          </a:p>
        </p:txBody>
      </p:sp>
      <p:sp>
        <p:nvSpPr>
          <p:cNvPr id="15" name="object 6">
            <a:extLst>
              <a:ext uri="{FF2B5EF4-FFF2-40B4-BE49-F238E27FC236}">
                <a16:creationId xmlns:a16="http://schemas.microsoft.com/office/drawing/2014/main" id="{735C4DC7-8095-667D-E728-32BDBA4BC51C}"/>
              </a:ext>
            </a:extLst>
          </p:cNvPr>
          <p:cNvSpPr txBox="1"/>
          <p:nvPr/>
        </p:nvSpPr>
        <p:spPr>
          <a:xfrm>
            <a:off x="3255817" y="3947704"/>
            <a:ext cx="3652520" cy="708025"/>
          </a:xfrm>
          <a:prstGeom prst="rect">
            <a:avLst/>
          </a:prstGeom>
          <a:solidFill>
            <a:srgbClr val="FFF2CC"/>
          </a:solidFill>
          <a:ln w="9525">
            <a:solidFill>
              <a:srgbClr val="000000"/>
            </a:solidFill>
          </a:ln>
        </p:spPr>
        <p:txBody>
          <a:bodyPr vert="horz" wrap="square" lIns="0" tIns="31750" rIns="0" bIns="0" rtlCol="0">
            <a:spAutoFit/>
          </a:bodyPr>
          <a:lstStyle/>
          <a:p>
            <a:pPr marL="897255" marR="208915" indent="-681355" rtl="0">
              <a:spcBef>
                <a:spcPts val="250"/>
              </a:spcBef>
            </a:pPr>
            <a:r>
              <a:rPr sz="2000" kern="1200" dirty="0">
                <a:solidFill>
                  <a:srgbClr val="FF0000"/>
                </a:solidFill>
                <a:latin typeface="Palatino Linotype"/>
                <a:cs typeface="Palatino Linotype"/>
              </a:rPr>
              <a:t>Is </a:t>
            </a:r>
            <a:r>
              <a:rPr sz="2000" kern="1200" spc="-5" dirty="0">
                <a:solidFill>
                  <a:srgbClr val="FF0000"/>
                </a:solidFill>
                <a:latin typeface="Palatino Linotype"/>
                <a:cs typeface="Palatino Linotype"/>
              </a:rPr>
              <a:t>the input string </a:t>
            </a:r>
            <a:r>
              <a:rPr sz="2000" kern="1200" dirty="0">
                <a:solidFill>
                  <a:srgbClr val="FF0000"/>
                </a:solidFill>
                <a:latin typeface="Palatino Linotype"/>
                <a:cs typeface="Palatino Linotype"/>
              </a:rPr>
              <a:t>a </a:t>
            </a:r>
            <a:r>
              <a:rPr sz="2000" kern="1200" spc="-5" dirty="0">
                <a:solidFill>
                  <a:srgbClr val="FF0000"/>
                </a:solidFill>
                <a:latin typeface="Palatino Linotype"/>
                <a:cs typeface="Palatino Linotype"/>
              </a:rPr>
              <a:t>sentence </a:t>
            </a:r>
            <a:r>
              <a:rPr sz="2000" kern="1200" spc="-484" dirty="0">
                <a:solidFill>
                  <a:srgbClr val="FF0000"/>
                </a:solidFill>
                <a:latin typeface="Palatino Linotype"/>
                <a:cs typeface="Palatino Linotype"/>
              </a:rPr>
              <a:t> </a:t>
            </a:r>
            <a:r>
              <a:rPr sz="2000" kern="1200" spc="-5" dirty="0">
                <a:solidFill>
                  <a:srgbClr val="FF0000"/>
                </a:solidFill>
                <a:latin typeface="Palatino Linotype"/>
                <a:cs typeface="Palatino Linotype"/>
              </a:rPr>
              <a:t>of</a:t>
            </a:r>
            <a:r>
              <a:rPr sz="2000" kern="1200" spc="-15" dirty="0">
                <a:solidFill>
                  <a:srgbClr val="FF0000"/>
                </a:solidFill>
                <a:latin typeface="Palatino Linotype"/>
                <a:cs typeface="Palatino Linotype"/>
              </a:rPr>
              <a:t> </a:t>
            </a:r>
            <a:r>
              <a:rPr sz="2000" kern="1200" spc="-5" dirty="0">
                <a:solidFill>
                  <a:srgbClr val="FF0000"/>
                </a:solidFill>
                <a:latin typeface="Palatino Linotype"/>
                <a:cs typeface="Palatino Linotype"/>
              </a:rPr>
              <a:t>the grammar?</a:t>
            </a:r>
            <a:endParaRPr sz="2000" kern="1200">
              <a:solidFill>
                <a:prstClr val="black"/>
              </a:solidFill>
              <a:latin typeface="Palatino Linotype"/>
              <a:cs typeface="Palatino Linotype"/>
            </a:endParaRPr>
          </a:p>
        </p:txBody>
      </p:sp>
      <p:pic>
        <p:nvPicPr>
          <p:cNvPr id="16" name="object 7">
            <a:extLst>
              <a:ext uri="{FF2B5EF4-FFF2-40B4-BE49-F238E27FC236}">
                <a16:creationId xmlns:a16="http://schemas.microsoft.com/office/drawing/2014/main" id="{4814B920-13F8-2494-E3ED-2F355CAF4388}"/>
              </a:ext>
            </a:extLst>
          </p:cNvPr>
          <p:cNvPicPr/>
          <p:nvPr/>
        </p:nvPicPr>
        <p:blipFill>
          <a:blip r:embed="rId3" cstate="print"/>
          <a:stretch>
            <a:fillRect/>
          </a:stretch>
        </p:blipFill>
        <p:spPr>
          <a:xfrm>
            <a:off x="7282926" y="3512582"/>
            <a:ext cx="1077255" cy="1344725"/>
          </a:xfrm>
          <a:prstGeom prst="rect">
            <a:avLst/>
          </a:prstGeom>
        </p:spPr>
      </p:pic>
    </p:spTree>
    <p:extLst>
      <p:ext uri="{BB962C8B-B14F-4D97-AF65-F5344CB8AC3E}">
        <p14:creationId xmlns:p14="http://schemas.microsoft.com/office/powerpoint/2010/main" val="708737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41</a:t>
            </a:fld>
            <a:endParaRPr lang="en-US"/>
          </a:p>
        </p:txBody>
      </p:sp>
      <p:pic>
        <p:nvPicPr>
          <p:cNvPr id="13" name="object 2">
            <a:extLst>
              <a:ext uri="{FF2B5EF4-FFF2-40B4-BE49-F238E27FC236}">
                <a16:creationId xmlns:a16="http://schemas.microsoft.com/office/drawing/2014/main" id="{86384C1F-7600-7F80-59BF-30B38099CBFD}"/>
              </a:ext>
            </a:extLst>
          </p:cNvPr>
          <p:cNvPicPr/>
          <p:nvPr/>
        </p:nvPicPr>
        <p:blipFill>
          <a:blip r:embed="rId2" cstate="print"/>
          <a:stretch>
            <a:fillRect/>
          </a:stretch>
        </p:blipFill>
        <p:spPr>
          <a:xfrm>
            <a:off x="1091797" y="1318871"/>
            <a:ext cx="7077754" cy="5119147"/>
          </a:xfrm>
          <a:prstGeom prst="rect">
            <a:avLst/>
          </a:prstGeom>
        </p:spPr>
      </p:pic>
      <p:sp>
        <p:nvSpPr>
          <p:cNvPr id="14" name="object 3">
            <a:extLst>
              <a:ext uri="{FF2B5EF4-FFF2-40B4-BE49-F238E27FC236}">
                <a16:creationId xmlns:a16="http://schemas.microsoft.com/office/drawing/2014/main" id="{5A5B6E58-073B-C8DF-743C-891024B55E9D}"/>
              </a:ext>
            </a:extLst>
          </p:cNvPr>
          <p:cNvSpPr txBox="1"/>
          <p:nvPr/>
        </p:nvSpPr>
        <p:spPr>
          <a:xfrm>
            <a:off x="370601" y="121411"/>
            <a:ext cx="3732529" cy="732893"/>
          </a:xfrm>
          <a:prstGeom prst="rect">
            <a:avLst/>
          </a:prstGeom>
        </p:spPr>
        <p:txBody>
          <a:bodyPr vert="horz" wrap="square" lIns="0" tIns="146685" rIns="0" bIns="0" rtlCol="0">
            <a:spAutoFit/>
          </a:bodyPr>
          <a:lstStyle/>
          <a:p>
            <a:pPr marL="294005" indent="-230504" rtl="0">
              <a:spcBef>
                <a:spcPts val="1155"/>
              </a:spcBef>
              <a:buClr>
                <a:srgbClr val="000000"/>
              </a:buClr>
              <a:buFont typeface="Arial MT"/>
              <a:buChar char="•"/>
              <a:tabLst>
                <a:tab pos="293370" algn="l"/>
                <a:tab pos="294005" algn="l"/>
                <a:tab pos="2637155" algn="l"/>
              </a:tabLst>
            </a:pPr>
            <a:r>
              <a:rPr b="1" kern="1200" dirty="0">
                <a:solidFill>
                  <a:srgbClr val="FF0000"/>
                </a:solidFill>
                <a:latin typeface="Palatino Linotype"/>
                <a:cs typeface="Palatino Linotype"/>
              </a:rPr>
              <a:t>G</a:t>
            </a:r>
            <a:r>
              <a:rPr b="1" kern="1200" spc="-5" dirty="0">
                <a:solidFill>
                  <a:srgbClr val="FF0000"/>
                </a:solidFill>
                <a:latin typeface="Palatino Linotype"/>
                <a:cs typeface="Palatino Linotype"/>
              </a:rPr>
              <a:t>r</a:t>
            </a:r>
            <a:r>
              <a:rPr b="1" kern="1200" dirty="0">
                <a:solidFill>
                  <a:srgbClr val="FF0000"/>
                </a:solidFill>
                <a:latin typeface="Palatino Linotype"/>
                <a:cs typeface="Palatino Linotype"/>
              </a:rPr>
              <a:t>a</a:t>
            </a:r>
            <a:r>
              <a:rPr b="1" kern="1200" spc="-5" dirty="0">
                <a:solidFill>
                  <a:srgbClr val="FF0000"/>
                </a:solidFill>
                <a:latin typeface="Palatino Linotype"/>
                <a:cs typeface="Palatino Linotype"/>
              </a:rPr>
              <a:t>mm</a:t>
            </a:r>
            <a:r>
              <a:rPr b="1" kern="1200" dirty="0">
                <a:solidFill>
                  <a:srgbClr val="FF0000"/>
                </a:solidFill>
                <a:latin typeface="Palatino Linotype"/>
                <a:cs typeface="Palatino Linotype"/>
              </a:rPr>
              <a:t>a</a:t>
            </a:r>
            <a:r>
              <a:rPr b="1" kern="1200" spc="-5" dirty="0">
                <a:solidFill>
                  <a:srgbClr val="FF0000"/>
                </a:solidFill>
                <a:latin typeface="Palatino Linotype"/>
                <a:cs typeface="Palatino Linotype"/>
              </a:rPr>
              <a:t>r</a:t>
            </a:r>
            <a:r>
              <a:rPr b="1" kern="1200" dirty="0">
                <a:solidFill>
                  <a:srgbClr val="FF0000"/>
                </a:solidFill>
                <a:latin typeface="Palatino Linotype"/>
                <a:cs typeface="Palatino Linotype"/>
              </a:rPr>
              <a:t>: </a:t>
            </a:r>
            <a:r>
              <a:rPr b="1" kern="1200" spc="-5" dirty="0">
                <a:solidFill>
                  <a:srgbClr val="FF0000"/>
                </a:solidFill>
                <a:latin typeface="Palatino Linotype"/>
                <a:cs typeface="Palatino Linotype"/>
              </a:rPr>
              <a:t> </a:t>
            </a:r>
            <a:r>
              <a:rPr kern="1200" dirty="0">
                <a:solidFill>
                  <a:prstClr val="black"/>
                </a:solidFill>
                <a:latin typeface="Cambria Math"/>
                <a:cs typeface="Cambria Math"/>
              </a:rPr>
              <a:t>𝐸</a:t>
            </a:r>
            <a:r>
              <a:rPr kern="1200" spc="175" dirty="0">
                <a:solidFill>
                  <a:prstClr val="black"/>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spc="40" dirty="0">
                <a:solidFill>
                  <a:prstClr val="black"/>
                </a:solidFill>
                <a:latin typeface="Cambria Math"/>
                <a:cs typeface="Cambria Math"/>
              </a:rPr>
              <a:t>𝑇</a:t>
            </a:r>
            <a:r>
              <a:rPr kern="1200" spc="70" dirty="0">
                <a:solidFill>
                  <a:prstClr val="black"/>
                </a:solidFill>
                <a:latin typeface="Cambria Math"/>
                <a:cs typeface="Cambria Math"/>
              </a:rPr>
              <a:t>𝐸</a:t>
            </a:r>
            <a:r>
              <a:rPr lang="en-US" altLang="zh-CN" sz="2000" kern="1200" spc="10" dirty="0">
                <a:solidFill>
                  <a:prstClr val="black"/>
                </a:solidFill>
                <a:latin typeface="Cambria Math"/>
                <a:cs typeface="Cambria Math"/>
              </a:rPr>
              <a:t>' </a:t>
            </a:r>
            <a:r>
              <a:rPr sz="1950" kern="1200" baseline="27777" dirty="0">
                <a:solidFill>
                  <a:prstClr val="black"/>
                </a:solidFill>
                <a:latin typeface="Cambria Math"/>
                <a:cs typeface="Cambria Math"/>
              </a:rPr>
              <a:t>	</a:t>
            </a:r>
            <a:r>
              <a:rPr kern="1200" spc="70" dirty="0">
                <a:solidFill>
                  <a:prstClr val="black"/>
                </a:solidFill>
                <a:latin typeface="Cambria Math"/>
                <a:cs typeface="Cambria Math"/>
              </a:rPr>
              <a:t>𝐸</a:t>
            </a:r>
            <a:r>
              <a:rPr lang="en-US" altLang="zh-CN" sz="2000" kern="1200" spc="10" dirty="0">
                <a:solidFill>
                  <a:prstClr val="black"/>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spc="5" dirty="0">
                <a:solidFill>
                  <a:prstClr val="black"/>
                </a:solidFill>
                <a:latin typeface="Cambria Math"/>
                <a:cs typeface="Cambria Math"/>
              </a:rPr>
              <a:t>+</a:t>
            </a:r>
            <a:r>
              <a:rPr kern="1200" spc="40" dirty="0">
                <a:solidFill>
                  <a:prstClr val="black"/>
                </a:solidFill>
                <a:latin typeface="Cambria Math"/>
                <a:cs typeface="Cambria Math"/>
              </a:rPr>
              <a:t>𝑇</a:t>
            </a:r>
            <a:r>
              <a:rPr kern="1200" spc="70" dirty="0">
                <a:solidFill>
                  <a:prstClr val="black"/>
                </a:solidFill>
                <a:latin typeface="Cambria Math"/>
                <a:cs typeface="Cambria Math"/>
              </a:rPr>
              <a:t>𝐸</a:t>
            </a:r>
            <a:r>
              <a:rPr lang="en-US" altLang="zh-CN" sz="2000" kern="1200" spc="10" dirty="0">
                <a:solidFill>
                  <a:prstClr val="black"/>
                </a:solidFill>
                <a:latin typeface="Cambria Math"/>
                <a:cs typeface="Cambria Math"/>
              </a:rPr>
              <a:t>' </a:t>
            </a:r>
            <a:r>
              <a:rPr b="1" kern="1200" spc="-5" dirty="0">
                <a:solidFill>
                  <a:srgbClr val="FF0000"/>
                </a:solidFill>
                <a:latin typeface="Palatino Linotype"/>
                <a:cs typeface="Palatino Linotype"/>
              </a:rPr>
              <a:t>Input</a:t>
            </a:r>
            <a:r>
              <a:rPr b="1" kern="1200" spc="-10" dirty="0">
                <a:solidFill>
                  <a:srgbClr val="FF0000"/>
                </a:solidFill>
                <a:latin typeface="Palatino Linotype"/>
                <a:cs typeface="Palatino Linotype"/>
              </a:rPr>
              <a:t> </a:t>
            </a:r>
            <a:r>
              <a:rPr b="1" kern="1200" spc="-5" dirty="0">
                <a:solidFill>
                  <a:srgbClr val="FF0000"/>
                </a:solidFill>
                <a:latin typeface="Palatino Linotype"/>
                <a:cs typeface="Palatino Linotype"/>
              </a:rPr>
              <a:t>string: </a:t>
            </a:r>
            <a:r>
              <a:rPr kern="1200" spc="-5" dirty="0">
                <a:solidFill>
                  <a:prstClr val="black"/>
                </a:solidFill>
                <a:latin typeface="Cambria Math"/>
                <a:cs typeface="Cambria Math"/>
              </a:rPr>
              <a:t>𝐢𝐝 </a:t>
            </a:r>
            <a:r>
              <a:rPr kern="1200" dirty="0">
                <a:solidFill>
                  <a:prstClr val="black"/>
                </a:solidFill>
                <a:latin typeface="Cambria Math"/>
                <a:cs typeface="Cambria Math"/>
              </a:rPr>
              <a:t>+ </a:t>
            </a:r>
            <a:r>
              <a:rPr kern="1200" spc="-5" dirty="0">
                <a:solidFill>
                  <a:prstClr val="black"/>
                </a:solidFill>
                <a:latin typeface="Cambria Math"/>
                <a:cs typeface="Cambria Math"/>
              </a:rPr>
              <a:t>𝐢𝐝</a:t>
            </a:r>
            <a:r>
              <a:rPr kern="1200" spc="-10" dirty="0">
                <a:solidFill>
                  <a:prstClr val="black"/>
                </a:solidFill>
                <a:latin typeface="Cambria Math"/>
                <a:cs typeface="Cambria Math"/>
              </a:rPr>
              <a:t> </a:t>
            </a:r>
            <a:r>
              <a:rPr kern="1200" dirty="0">
                <a:solidFill>
                  <a:prstClr val="black"/>
                </a:solidFill>
                <a:latin typeface="Cambria Math"/>
                <a:cs typeface="Cambria Math"/>
              </a:rPr>
              <a:t>∗ </a:t>
            </a:r>
            <a:r>
              <a:rPr kern="1200" spc="-5" dirty="0">
                <a:solidFill>
                  <a:prstClr val="black"/>
                </a:solidFill>
                <a:latin typeface="Cambria Math"/>
                <a:cs typeface="Cambria Math"/>
              </a:rPr>
              <a:t>𝐢𝐝</a:t>
            </a:r>
            <a:endParaRPr kern="1200" dirty="0">
              <a:solidFill>
                <a:prstClr val="black"/>
              </a:solidFill>
              <a:latin typeface="Cambria Math"/>
              <a:cs typeface="Cambria Math"/>
            </a:endParaRPr>
          </a:p>
        </p:txBody>
      </p:sp>
      <p:sp>
        <p:nvSpPr>
          <p:cNvPr id="15" name="object 4">
            <a:extLst>
              <a:ext uri="{FF2B5EF4-FFF2-40B4-BE49-F238E27FC236}">
                <a16:creationId xmlns:a16="http://schemas.microsoft.com/office/drawing/2014/main" id="{1CE72272-30EF-4A75-3676-CE1CB385DED9}"/>
              </a:ext>
            </a:extLst>
          </p:cNvPr>
          <p:cNvSpPr/>
          <p:nvPr/>
        </p:nvSpPr>
        <p:spPr>
          <a:xfrm>
            <a:off x="6901460" y="328588"/>
            <a:ext cx="17780" cy="208279"/>
          </a:xfrm>
          <a:custGeom>
            <a:avLst/>
            <a:gdLst/>
            <a:ahLst/>
            <a:cxnLst/>
            <a:rect l="l" t="t" r="r" b="b"/>
            <a:pathLst>
              <a:path w="17779" h="208279">
                <a:moveTo>
                  <a:pt x="17189" y="0"/>
                </a:moveTo>
                <a:lnTo>
                  <a:pt x="0" y="0"/>
                </a:lnTo>
                <a:lnTo>
                  <a:pt x="0" y="207726"/>
                </a:lnTo>
                <a:lnTo>
                  <a:pt x="17189" y="207726"/>
                </a:lnTo>
                <a:lnTo>
                  <a:pt x="1718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5">
            <a:extLst>
              <a:ext uri="{FF2B5EF4-FFF2-40B4-BE49-F238E27FC236}">
                <a16:creationId xmlns:a16="http://schemas.microsoft.com/office/drawing/2014/main" id="{0F499A0A-8752-1400-D1B6-850F65B2C9E8}"/>
              </a:ext>
            </a:extLst>
          </p:cNvPr>
          <p:cNvSpPr/>
          <p:nvPr/>
        </p:nvSpPr>
        <p:spPr>
          <a:xfrm>
            <a:off x="4127145" y="328588"/>
            <a:ext cx="17780" cy="208279"/>
          </a:xfrm>
          <a:custGeom>
            <a:avLst/>
            <a:gdLst/>
            <a:ahLst/>
            <a:cxnLst/>
            <a:rect l="l" t="t" r="r" b="b"/>
            <a:pathLst>
              <a:path w="17779" h="208279">
                <a:moveTo>
                  <a:pt x="17190" y="0"/>
                </a:moveTo>
                <a:lnTo>
                  <a:pt x="0" y="0"/>
                </a:lnTo>
                <a:lnTo>
                  <a:pt x="0" y="207726"/>
                </a:lnTo>
                <a:lnTo>
                  <a:pt x="17190" y="207726"/>
                </a:lnTo>
                <a:lnTo>
                  <a:pt x="1719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7" name="object 6">
            <a:extLst>
              <a:ext uri="{FF2B5EF4-FFF2-40B4-BE49-F238E27FC236}">
                <a16:creationId xmlns:a16="http://schemas.microsoft.com/office/drawing/2014/main" id="{D3CDD5D8-7825-6723-709B-4A3E687A18D7}"/>
              </a:ext>
            </a:extLst>
          </p:cNvPr>
          <p:cNvSpPr txBox="1"/>
          <p:nvPr/>
        </p:nvSpPr>
        <p:spPr>
          <a:xfrm>
            <a:off x="4184601" y="255523"/>
            <a:ext cx="1311910" cy="320601"/>
          </a:xfrm>
          <a:prstGeom prst="rect">
            <a:avLst/>
          </a:prstGeom>
        </p:spPr>
        <p:txBody>
          <a:bodyPr vert="horz" wrap="square" lIns="0" tIns="12700" rIns="0" bIns="0" rtlCol="0">
            <a:spAutoFit/>
          </a:bodyPr>
          <a:lstStyle/>
          <a:p>
            <a:pPr marL="38100" rtl="0">
              <a:spcBef>
                <a:spcPts val="100"/>
              </a:spcBef>
              <a:tabLst>
                <a:tab pos="455930" algn="l"/>
              </a:tabLst>
            </a:pPr>
            <a:r>
              <a:rPr kern="1200" dirty="0">
                <a:solidFill>
                  <a:prstClr val="black"/>
                </a:solidFill>
                <a:latin typeface="Cambria Math"/>
                <a:cs typeface="Cambria Math"/>
              </a:rPr>
              <a:t>𝜖	𝑇</a:t>
            </a:r>
            <a:r>
              <a:rPr kern="1200" spc="105" dirty="0">
                <a:solidFill>
                  <a:prstClr val="black"/>
                </a:solidFill>
                <a:latin typeface="Cambria Math"/>
                <a:cs typeface="Cambria Math"/>
              </a:rPr>
              <a:t> </a:t>
            </a:r>
            <a:r>
              <a:rPr kern="1200" dirty="0">
                <a:solidFill>
                  <a:prstClr val="black"/>
                </a:solidFill>
                <a:latin typeface="Cambria Math"/>
                <a:cs typeface="Cambria Math"/>
              </a:rPr>
              <a:t>→</a:t>
            </a:r>
            <a:r>
              <a:rPr kern="1200" spc="70" dirty="0">
                <a:solidFill>
                  <a:prstClr val="black"/>
                </a:solidFill>
                <a:latin typeface="Cambria Math"/>
                <a:cs typeface="Cambria Math"/>
              </a:rPr>
              <a:t> </a:t>
            </a:r>
            <a:r>
              <a:rPr kern="1200" spc="-60" dirty="0">
                <a:solidFill>
                  <a:prstClr val="black"/>
                </a:solidFill>
                <a:latin typeface="Cambria Math"/>
                <a:cs typeface="Cambria Math"/>
              </a:rPr>
              <a:t>𝐹𝑇</a:t>
            </a:r>
            <a:r>
              <a:rPr lang="en-US" altLang="zh-CN" sz="2000" kern="1200" spc="10" dirty="0">
                <a:solidFill>
                  <a:prstClr val="black"/>
                </a:solidFill>
                <a:latin typeface="Cambria Math"/>
                <a:cs typeface="Cambria Math"/>
              </a:rPr>
              <a:t>'</a:t>
            </a:r>
            <a:endParaRPr sz="1950" kern="1200" baseline="27777" dirty="0">
              <a:solidFill>
                <a:prstClr val="black"/>
              </a:solidFill>
              <a:latin typeface="Cambria Math"/>
              <a:cs typeface="Cambria Math"/>
            </a:endParaRPr>
          </a:p>
        </p:txBody>
      </p:sp>
      <p:sp>
        <p:nvSpPr>
          <p:cNvPr id="18" name="object 7">
            <a:extLst>
              <a:ext uri="{FF2B5EF4-FFF2-40B4-BE49-F238E27FC236}">
                <a16:creationId xmlns:a16="http://schemas.microsoft.com/office/drawing/2014/main" id="{51C44D2B-1A70-192B-1C33-DFF540FD8526}"/>
              </a:ext>
            </a:extLst>
          </p:cNvPr>
          <p:cNvSpPr txBox="1"/>
          <p:nvPr/>
        </p:nvSpPr>
        <p:spPr>
          <a:xfrm>
            <a:off x="5784865" y="255523"/>
            <a:ext cx="1067435" cy="320601"/>
          </a:xfrm>
          <a:prstGeom prst="rect">
            <a:avLst/>
          </a:prstGeom>
        </p:spPr>
        <p:txBody>
          <a:bodyPr vert="horz" wrap="square" lIns="0" tIns="12700" rIns="0" bIns="0" rtlCol="0">
            <a:spAutoFit/>
          </a:bodyPr>
          <a:lstStyle/>
          <a:p>
            <a:pPr marL="38100" rtl="0">
              <a:spcBef>
                <a:spcPts val="100"/>
              </a:spcBef>
            </a:pPr>
            <a:r>
              <a:rPr kern="1200" spc="-125" dirty="0">
                <a:solidFill>
                  <a:prstClr val="black"/>
                </a:solidFill>
                <a:latin typeface="Cambria Math"/>
                <a:cs typeface="Cambria Math"/>
              </a:rPr>
              <a:t>𝑇</a:t>
            </a:r>
            <a:r>
              <a:rPr lang="en-US" altLang="zh-CN" sz="2000" kern="1200" spc="10" dirty="0">
                <a:solidFill>
                  <a:prstClr val="black"/>
                </a:solidFill>
                <a:latin typeface="Cambria Math"/>
                <a:cs typeface="Cambria Math"/>
              </a:rPr>
              <a:t>'</a:t>
            </a:r>
            <a:r>
              <a:rPr sz="1950" kern="1200" spc="142" baseline="27777" dirty="0">
                <a:solidFill>
                  <a:prstClr val="black"/>
                </a:solidFill>
                <a:latin typeface="Cambria Math"/>
                <a:cs typeface="Cambria Math"/>
              </a:rPr>
              <a:t> </a:t>
            </a:r>
            <a:r>
              <a:rPr kern="1200" dirty="0">
                <a:solidFill>
                  <a:prstClr val="black"/>
                </a:solidFill>
                <a:latin typeface="Cambria Math"/>
                <a:cs typeface="Cambria Math"/>
              </a:rPr>
              <a:t>→∗</a:t>
            </a:r>
            <a:r>
              <a:rPr kern="1200" spc="-25" dirty="0">
                <a:solidFill>
                  <a:prstClr val="black"/>
                </a:solidFill>
                <a:latin typeface="Cambria Math"/>
                <a:cs typeface="Cambria Math"/>
              </a:rPr>
              <a:t> </a:t>
            </a:r>
            <a:r>
              <a:rPr kern="1200" spc="-60" dirty="0">
                <a:solidFill>
                  <a:prstClr val="black"/>
                </a:solidFill>
                <a:latin typeface="Cambria Math"/>
                <a:cs typeface="Cambria Math"/>
              </a:rPr>
              <a:t>𝐹𝑇</a:t>
            </a:r>
            <a:r>
              <a:rPr lang="en-US" altLang="zh-CN" sz="2000" kern="1200" spc="10" dirty="0">
                <a:solidFill>
                  <a:prstClr val="black"/>
                </a:solidFill>
                <a:latin typeface="Cambria Math"/>
                <a:cs typeface="Cambria Math"/>
              </a:rPr>
              <a:t>'</a:t>
            </a:r>
            <a:endParaRPr sz="1950" kern="1200" baseline="27777" dirty="0">
              <a:solidFill>
                <a:prstClr val="black"/>
              </a:solidFill>
              <a:latin typeface="Cambria Math"/>
              <a:cs typeface="Cambria Math"/>
            </a:endParaRPr>
          </a:p>
        </p:txBody>
      </p:sp>
      <p:sp>
        <p:nvSpPr>
          <p:cNvPr id="19" name="object 8">
            <a:extLst>
              <a:ext uri="{FF2B5EF4-FFF2-40B4-BE49-F238E27FC236}">
                <a16:creationId xmlns:a16="http://schemas.microsoft.com/office/drawing/2014/main" id="{A6EAFEC1-030A-FE60-9264-1EE495344243}"/>
              </a:ext>
            </a:extLst>
          </p:cNvPr>
          <p:cNvSpPr/>
          <p:nvPr/>
        </p:nvSpPr>
        <p:spPr>
          <a:xfrm>
            <a:off x="7852450" y="326580"/>
            <a:ext cx="301625" cy="212090"/>
          </a:xfrm>
          <a:custGeom>
            <a:avLst/>
            <a:gdLst/>
            <a:ahLst/>
            <a:cxnLst/>
            <a:rect l="l" t="t" r="r" b="b"/>
            <a:pathLst>
              <a:path w="301625" h="212090">
                <a:moveTo>
                  <a:pt x="233861" y="0"/>
                </a:moveTo>
                <a:lnTo>
                  <a:pt x="230847" y="8595"/>
                </a:lnTo>
                <a:lnTo>
                  <a:pt x="243104" y="13914"/>
                </a:lnTo>
                <a:lnTo>
                  <a:pt x="253645" y="21278"/>
                </a:lnTo>
                <a:lnTo>
                  <a:pt x="275049" y="55409"/>
                </a:lnTo>
                <a:lnTo>
                  <a:pt x="282082" y="104813"/>
                </a:lnTo>
                <a:lnTo>
                  <a:pt x="281297" y="123488"/>
                </a:lnTo>
                <a:lnTo>
                  <a:pt x="269524" y="169218"/>
                </a:lnTo>
                <a:lnTo>
                  <a:pt x="243247" y="197807"/>
                </a:lnTo>
                <a:lnTo>
                  <a:pt x="231181" y="203150"/>
                </a:lnTo>
                <a:lnTo>
                  <a:pt x="233861" y="211745"/>
                </a:lnTo>
                <a:lnTo>
                  <a:pt x="274317" y="187708"/>
                </a:lnTo>
                <a:lnTo>
                  <a:pt x="297039" y="143336"/>
                </a:lnTo>
                <a:lnTo>
                  <a:pt x="301392" y="105929"/>
                </a:lnTo>
                <a:lnTo>
                  <a:pt x="300300" y="86517"/>
                </a:lnTo>
                <a:lnTo>
                  <a:pt x="283923" y="37114"/>
                </a:lnTo>
                <a:lnTo>
                  <a:pt x="249212" y="5542"/>
                </a:lnTo>
                <a:lnTo>
                  <a:pt x="233861" y="0"/>
                </a:lnTo>
                <a:close/>
              </a:path>
              <a:path w="301625" h="212090">
                <a:moveTo>
                  <a:pt x="67530" y="0"/>
                </a:moveTo>
                <a:lnTo>
                  <a:pt x="27148" y="24099"/>
                </a:lnTo>
                <a:lnTo>
                  <a:pt x="4367" y="68577"/>
                </a:lnTo>
                <a:lnTo>
                  <a:pt x="0" y="105929"/>
                </a:lnTo>
                <a:lnTo>
                  <a:pt x="1088" y="125382"/>
                </a:lnTo>
                <a:lnTo>
                  <a:pt x="17412" y="174743"/>
                </a:lnTo>
                <a:lnTo>
                  <a:pt x="52134" y="206209"/>
                </a:lnTo>
                <a:lnTo>
                  <a:pt x="67530" y="211745"/>
                </a:lnTo>
                <a:lnTo>
                  <a:pt x="70210" y="203150"/>
                </a:lnTo>
                <a:lnTo>
                  <a:pt x="58144" y="197807"/>
                </a:lnTo>
                <a:lnTo>
                  <a:pt x="47732" y="190370"/>
                </a:lnTo>
                <a:lnTo>
                  <a:pt x="26374" y="155691"/>
                </a:lnTo>
                <a:lnTo>
                  <a:pt x="19310" y="104813"/>
                </a:lnTo>
                <a:lnTo>
                  <a:pt x="20095" y="86747"/>
                </a:lnTo>
                <a:lnTo>
                  <a:pt x="31868" y="42137"/>
                </a:lnTo>
                <a:lnTo>
                  <a:pt x="58332" y="13914"/>
                </a:lnTo>
                <a:lnTo>
                  <a:pt x="70544" y="8595"/>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9">
            <a:extLst>
              <a:ext uri="{FF2B5EF4-FFF2-40B4-BE49-F238E27FC236}">
                <a16:creationId xmlns:a16="http://schemas.microsoft.com/office/drawing/2014/main" id="{EE97DFFE-1426-8E8E-57EB-5DD351B17342}"/>
              </a:ext>
            </a:extLst>
          </p:cNvPr>
          <p:cNvSpPr txBox="1">
            <a:spLocks/>
          </p:cNvSpPr>
          <p:nvPr/>
        </p:nvSpPr>
        <p:spPr>
          <a:xfrm>
            <a:off x="6933517" y="255523"/>
            <a:ext cx="1633855" cy="29972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a:spcBef>
                <a:spcPts val="100"/>
              </a:spcBef>
              <a:tabLst>
                <a:tab pos="430530" algn="l"/>
                <a:tab pos="993140" algn="l"/>
                <a:tab pos="1290955" algn="l"/>
              </a:tabLst>
            </a:pPr>
            <a:r>
              <a:rPr lang="zh-CN" altLang="en-US" sz="1800" b="0">
                <a:latin typeface="Cambria Math"/>
                <a:cs typeface="Cambria Math"/>
              </a:rPr>
              <a:t>𝜖	𝐹</a:t>
            </a:r>
            <a:r>
              <a:rPr lang="zh-CN" altLang="en-US" sz="1800" b="0" spc="170">
                <a:latin typeface="Cambria Math"/>
                <a:cs typeface="Cambria Math"/>
              </a:rPr>
              <a:t> </a:t>
            </a:r>
            <a:r>
              <a:rPr lang="zh-CN" altLang="en-US" sz="1800" b="0">
                <a:latin typeface="Cambria Math"/>
                <a:cs typeface="Cambria Math"/>
              </a:rPr>
              <a:t>→	𝐸	</a:t>
            </a:r>
            <a:r>
              <a:rPr lang="en-US" altLang="zh-CN" sz="1800" b="0">
                <a:latin typeface="Cambria Math"/>
                <a:cs typeface="Cambria Math"/>
              </a:rPr>
              <a:t>|</a:t>
            </a:r>
            <a:r>
              <a:rPr lang="zh-CN" altLang="en-US" sz="1800" b="0" spc="-75">
                <a:latin typeface="Cambria Math"/>
                <a:cs typeface="Cambria Math"/>
              </a:rPr>
              <a:t> </a:t>
            </a:r>
            <a:r>
              <a:rPr lang="zh-CN" altLang="en-US" sz="1800" b="0">
                <a:latin typeface="Cambria Math"/>
                <a:cs typeface="Cambria Math"/>
              </a:rPr>
              <a:t>𝑖𝑑</a:t>
            </a:r>
            <a:endParaRPr lang="zh-CN" altLang="en-US" sz="1800">
              <a:latin typeface="Cambria Math"/>
              <a:cs typeface="Cambria Math"/>
            </a:endParaRPr>
          </a:p>
        </p:txBody>
      </p:sp>
    </p:spTree>
    <p:extLst>
      <p:ext uri="{BB962C8B-B14F-4D97-AF65-F5344CB8AC3E}">
        <p14:creationId xmlns:p14="http://schemas.microsoft.com/office/powerpoint/2010/main" val="42162360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42</a:t>
            </a:fld>
            <a:endParaRPr lang="en-US"/>
          </a:p>
        </p:txBody>
      </p:sp>
      <p:pic>
        <p:nvPicPr>
          <p:cNvPr id="7" name="object 2">
            <a:extLst>
              <a:ext uri="{FF2B5EF4-FFF2-40B4-BE49-F238E27FC236}">
                <a16:creationId xmlns:a16="http://schemas.microsoft.com/office/drawing/2014/main" id="{B72CD61E-E9F0-6004-8576-D11983514906}"/>
              </a:ext>
            </a:extLst>
          </p:cNvPr>
          <p:cNvPicPr/>
          <p:nvPr/>
        </p:nvPicPr>
        <p:blipFill>
          <a:blip r:embed="rId3" cstate="print"/>
          <a:stretch>
            <a:fillRect/>
          </a:stretch>
        </p:blipFill>
        <p:spPr>
          <a:xfrm>
            <a:off x="1091797" y="1318871"/>
            <a:ext cx="7077754" cy="5119147"/>
          </a:xfrm>
          <a:prstGeom prst="rect">
            <a:avLst/>
          </a:prstGeom>
        </p:spPr>
      </p:pic>
      <p:sp>
        <p:nvSpPr>
          <p:cNvPr id="8" name="object 3">
            <a:extLst>
              <a:ext uri="{FF2B5EF4-FFF2-40B4-BE49-F238E27FC236}">
                <a16:creationId xmlns:a16="http://schemas.microsoft.com/office/drawing/2014/main" id="{7E02E18D-6187-66D8-E76C-86533421A462}"/>
              </a:ext>
            </a:extLst>
          </p:cNvPr>
          <p:cNvSpPr txBox="1"/>
          <p:nvPr/>
        </p:nvSpPr>
        <p:spPr>
          <a:xfrm>
            <a:off x="467999" y="294627"/>
            <a:ext cx="8208009" cy="576580"/>
          </a:xfrm>
          <a:prstGeom prst="rect">
            <a:avLst/>
          </a:prstGeom>
          <a:solidFill>
            <a:srgbClr val="FFF2CC"/>
          </a:solidFill>
          <a:ln w="9525">
            <a:solidFill>
              <a:srgbClr val="000000"/>
            </a:solidFill>
          </a:ln>
        </p:spPr>
        <p:txBody>
          <a:bodyPr vert="horz" wrap="square" lIns="0" tIns="137795" rIns="0" bIns="0" rtlCol="0">
            <a:spAutoFit/>
          </a:bodyPr>
          <a:lstStyle/>
          <a:p>
            <a:pPr marL="229235" rtl="0">
              <a:spcBef>
                <a:spcPts val="1085"/>
              </a:spcBef>
            </a:pPr>
            <a:r>
              <a:rPr b="1" kern="1200" dirty="0">
                <a:solidFill>
                  <a:srgbClr val="0432FF"/>
                </a:solidFill>
                <a:latin typeface="Palatino Linotype"/>
                <a:cs typeface="Palatino Linotype"/>
              </a:rPr>
              <a:t>Key</a:t>
            </a:r>
            <a:r>
              <a:rPr b="1" kern="1200" spc="-5" dirty="0">
                <a:solidFill>
                  <a:srgbClr val="0432FF"/>
                </a:solidFill>
                <a:latin typeface="Palatino Linotype"/>
                <a:cs typeface="Palatino Linotype"/>
              </a:rPr>
              <a:t> decision</a:t>
            </a:r>
            <a:r>
              <a:rPr b="1" kern="1200" dirty="0">
                <a:solidFill>
                  <a:srgbClr val="0432FF"/>
                </a:solidFill>
                <a:latin typeface="Palatino Linotype"/>
                <a:cs typeface="Palatino Linotype"/>
              </a:rPr>
              <a:t> in </a:t>
            </a:r>
            <a:r>
              <a:rPr b="1" kern="1200" spc="-5" dirty="0">
                <a:solidFill>
                  <a:srgbClr val="0432FF"/>
                </a:solidFill>
                <a:latin typeface="Palatino Linotype"/>
                <a:cs typeface="Palatino Linotype"/>
              </a:rPr>
              <a:t>top-down</a:t>
            </a:r>
            <a:r>
              <a:rPr b="1" kern="1200" dirty="0">
                <a:solidFill>
                  <a:srgbClr val="0432FF"/>
                </a:solidFill>
                <a:latin typeface="Palatino Linotype"/>
                <a:cs typeface="Palatino Linotype"/>
              </a:rPr>
              <a:t> </a:t>
            </a:r>
            <a:r>
              <a:rPr b="1" kern="1200" spc="-5" dirty="0">
                <a:solidFill>
                  <a:srgbClr val="0432FF"/>
                </a:solidFill>
                <a:latin typeface="Palatino Linotype"/>
                <a:cs typeface="Palatino Linotype"/>
              </a:rPr>
              <a:t>parsing: </a:t>
            </a:r>
            <a:r>
              <a:rPr kern="1200" dirty="0">
                <a:solidFill>
                  <a:srgbClr val="FF0000"/>
                </a:solidFill>
                <a:latin typeface="Palatino Linotype"/>
                <a:cs typeface="Palatino Linotype"/>
              </a:rPr>
              <a:t>Which production</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to apply</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at each step?</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22804691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43</a:t>
            </a:fld>
            <a:endParaRPr lang="en-US"/>
          </a:p>
        </p:txBody>
      </p:sp>
      <p:sp>
        <p:nvSpPr>
          <p:cNvPr id="11" name="object 2">
            <a:extLst>
              <a:ext uri="{FF2B5EF4-FFF2-40B4-BE49-F238E27FC236}">
                <a16:creationId xmlns:a16="http://schemas.microsoft.com/office/drawing/2014/main" id="{8F272BCE-ED65-F770-610C-B1D3645D0351}"/>
              </a:ext>
            </a:extLst>
          </p:cNvPr>
          <p:cNvSpPr txBox="1">
            <a:spLocks/>
          </p:cNvSpPr>
          <p:nvPr/>
        </p:nvSpPr>
        <p:spPr>
          <a:xfrm>
            <a:off x="707390" y="524763"/>
            <a:ext cx="446913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Bottom-Up</a:t>
            </a:r>
            <a:r>
              <a:rPr kumimoji="0" lang="en-US" sz="4000" b="1" i="0" u="none" strike="noStrike" kern="0" cap="none" spc="-7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3479EFBB-5E47-511C-B395-0ECA67CE453C}"/>
              </a:ext>
            </a:extLst>
          </p:cNvPr>
          <p:cNvSpPr txBox="1"/>
          <p:nvPr/>
        </p:nvSpPr>
        <p:spPr>
          <a:xfrm>
            <a:off x="707390" y="1610867"/>
            <a:ext cx="7539990" cy="2616200"/>
          </a:xfrm>
          <a:prstGeom prst="rect">
            <a:avLst/>
          </a:prstGeom>
        </p:spPr>
        <p:txBody>
          <a:bodyPr vert="horz" wrap="square" lIns="0" tIns="5080" rIns="0" bIns="0" rtlCol="0">
            <a:spAutoFit/>
          </a:bodyPr>
          <a:lstStyle/>
          <a:p>
            <a:pPr marL="242570" marR="5080" indent="-230504" rtl="0">
              <a:lnSpc>
                <a:spcPct val="118500"/>
              </a:lnSpc>
              <a:spcBef>
                <a:spcPts val="40"/>
              </a:spcBef>
              <a:buClr>
                <a:srgbClr val="000000"/>
              </a:buClr>
              <a:buFont typeface="Arial MT"/>
              <a:buChar char="•"/>
              <a:tabLst>
                <a:tab pos="242570" algn="l"/>
                <a:tab pos="243204" algn="l"/>
              </a:tabLst>
            </a:pPr>
            <a:r>
              <a:rPr sz="2000" b="1" kern="1200" spc="-5" dirty="0">
                <a:solidFill>
                  <a:srgbClr val="FF0000"/>
                </a:solidFill>
                <a:latin typeface="Palatino Linotype"/>
                <a:cs typeface="Palatino Linotype"/>
              </a:rPr>
              <a:t>Problem definition:</a:t>
            </a:r>
            <a:r>
              <a:rPr sz="2000" b="1" kern="1200" dirty="0">
                <a:solidFill>
                  <a:srgbClr val="FF0000"/>
                </a:solidFill>
                <a:latin typeface="Palatino Linotype"/>
                <a:cs typeface="Palatino Linotype"/>
              </a:rPr>
              <a:t> </a:t>
            </a:r>
            <a:r>
              <a:rPr sz="2000" kern="1200" spc="-5" dirty="0">
                <a:solidFill>
                  <a:prstClr val="black"/>
                </a:solidFill>
                <a:latin typeface="Palatino Linotype"/>
                <a:cs typeface="Palatino Linotype"/>
              </a:rPr>
              <a:t>Constructing</a:t>
            </a:r>
            <a:r>
              <a:rPr sz="2000" kern="1200" dirty="0">
                <a:solidFill>
                  <a:prstClr val="black"/>
                </a:solidFill>
                <a:latin typeface="Palatino Linotype"/>
                <a:cs typeface="Palatino Linotype"/>
              </a:rPr>
              <a:t> a</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parse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tree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for </a:t>
            </a:r>
            <a:r>
              <a:rPr sz="2000" kern="1200" dirty="0">
                <a:solidFill>
                  <a:prstClr val="black"/>
                </a:solidFill>
                <a:latin typeface="Palatino Linotype"/>
                <a:cs typeface="Palatino Linotype"/>
              </a:rPr>
              <a:t>an </a:t>
            </a:r>
            <a:r>
              <a:rPr sz="2000" kern="1200" spc="-5" dirty="0">
                <a:solidFill>
                  <a:prstClr val="black"/>
                </a:solidFill>
                <a:latin typeface="Palatino Linotype"/>
                <a:cs typeface="Palatino Linotype"/>
              </a:rPr>
              <a:t>input string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beginning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10" dirty="0">
                <a:solidFill>
                  <a:prstClr val="black"/>
                </a:solidFill>
                <a:latin typeface="Palatino Linotype"/>
                <a:cs typeface="Palatino Linotype"/>
              </a:rPr>
              <a:t>leaves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t>
            </a:r>
            <a:r>
              <a:rPr sz="2000" kern="1200" spc="-5" dirty="0">
                <a:solidFill>
                  <a:srgbClr val="FF0000"/>
                </a:solidFill>
                <a:latin typeface="Palatino Linotype"/>
                <a:cs typeface="Palatino Linotype"/>
              </a:rPr>
              <a:t>terminals</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10" dirty="0">
                <a:solidFill>
                  <a:prstClr val="black"/>
                </a:solidFill>
                <a:latin typeface="Palatino Linotype"/>
                <a:cs typeface="Palatino Linotype"/>
              </a:rPr>
              <a:t>working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up </a:t>
            </a:r>
            <a:r>
              <a:rPr sz="2000" kern="1200" spc="-15" dirty="0">
                <a:solidFill>
                  <a:prstClr val="black"/>
                </a:solidFill>
                <a:latin typeface="Palatino Linotype"/>
                <a:cs typeface="Palatino Linotype"/>
              </a:rPr>
              <a:t>towards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root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a:t>
            </a:r>
            <a:r>
              <a:rPr sz="2000" kern="1200" spc="-5" dirty="0">
                <a:solidFill>
                  <a:srgbClr val="FF0000"/>
                </a:solidFill>
                <a:latin typeface="Palatino Linotype"/>
                <a:cs typeface="Palatino Linotype"/>
              </a:rPr>
              <a:t>start symbol</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of the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grammar</a:t>
            </a:r>
            <a:r>
              <a:rPr sz="2000" kern="1200" spc="-5" dirty="0">
                <a:solidFill>
                  <a:prstClr val="black"/>
                </a:solidFill>
                <a:latin typeface="Palatino Linotype"/>
                <a:cs typeface="Palatino Linotype"/>
              </a:rPr>
              <a:t>)</a:t>
            </a:r>
            <a:endParaRPr sz="2000" kern="1200" dirty="0">
              <a:solidFill>
                <a:prstClr val="black"/>
              </a:solidFill>
              <a:latin typeface="Palatino Linotype"/>
              <a:cs typeface="Palatino Linotype"/>
            </a:endParaRPr>
          </a:p>
          <a:p>
            <a:pPr marL="698500" lvl="1" indent="-228600" rtl="0">
              <a:spcBef>
                <a:spcPts val="1695"/>
              </a:spcBef>
              <a:buFont typeface="Wingdings"/>
              <a:buChar char=""/>
              <a:tabLst>
                <a:tab pos="697865" algn="l"/>
                <a:tab pos="698500" algn="l"/>
              </a:tabLst>
            </a:pPr>
            <a:r>
              <a:rPr sz="1600" kern="1200" spc="-10" dirty="0">
                <a:solidFill>
                  <a:prstClr val="black"/>
                </a:solidFill>
                <a:latin typeface="Palatino Linotype"/>
                <a:cs typeface="Palatino Linotype"/>
              </a:rPr>
              <a:t>Equivalent</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to</a:t>
            </a:r>
            <a:r>
              <a:rPr sz="1600" kern="1200" spc="10" dirty="0">
                <a:solidFill>
                  <a:prstClr val="black"/>
                </a:solidFill>
                <a:latin typeface="Palatino Linotype"/>
                <a:cs typeface="Palatino Linotype"/>
              </a:rPr>
              <a:t> </a:t>
            </a:r>
            <a:r>
              <a:rPr sz="1600" kern="1200" spc="-5" dirty="0">
                <a:solidFill>
                  <a:srgbClr val="FF0000"/>
                </a:solidFill>
                <a:latin typeface="Palatino Linotype"/>
                <a:cs typeface="Palatino Linotype"/>
              </a:rPr>
              <a:t>finding</a:t>
            </a:r>
            <a:r>
              <a:rPr sz="1600" kern="1200" dirty="0">
                <a:solidFill>
                  <a:srgbClr val="FF0000"/>
                </a:solidFill>
                <a:latin typeface="Palatino Linotype"/>
                <a:cs typeface="Palatino Linotype"/>
              </a:rPr>
              <a:t> a</a:t>
            </a:r>
            <a:r>
              <a:rPr sz="1600" kern="1200" spc="10" dirty="0">
                <a:solidFill>
                  <a:srgbClr val="FF0000"/>
                </a:solidFill>
                <a:latin typeface="Palatino Linotype"/>
                <a:cs typeface="Palatino Linotype"/>
              </a:rPr>
              <a:t> </a:t>
            </a:r>
            <a:r>
              <a:rPr sz="1600" kern="1200" spc="-5" dirty="0">
                <a:solidFill>
                  <a:srgbClr val="FF0000"/>
                </a:solidFill>
                <a:latin typeface="Palatino Linotype"/>
                <a:cs typeface="Palatino Linotype"/>
              </a:rPr>
              <a:t>rightmost</a:t>
            </a:r>
            <a:r>
              <a:rPr sz="1600" kern="1200" spc="10" dirty="0">
                <a:solidFill>
                  <a:srgbClr val="FF0000"/>
                </a:solidFill>
                <a:latin typeface="Palatino Linotype"/>
                <a:cs typeface="Palatino Linotype"/>
              </a:rPr>
              <a:t> </a:t>
            </a:r>
            <a:r>
              <a:rPr sz="1600" kern="1200" spc="-10" dirty="0">
                <a:solidFill>
                  <a:srgbClr val="FF0000"/>
                </a:solidFill>
                <a:latin typeface="Palatino Linotype"/>
                <a:cs typeface="Palatino Linotype"/>
              </a:rPr>
              <a:t>derivation</a:t>
            </a:r>
            <a:r>
              <a:rPr sz="1600" kern="1200" spc="10" dirty="0">
                <a:solidFill>
                  <a:srgbClr val="FF0000"/>
                </a:solidFill>
                <a:latin typeface="Palatino Linotype"/>
                <a:cs typeface="Palatino Linotype"/>
              </a:rPr>
              <a:t> </a:t>
            </a:r>
            <a:r>
              <a:rPr sz="1600" kern="1200" spc="-5" dirty="0">
                <a:solidFill>
                  <a:srgbClr val="FF0000"/>
                </a:solidFill>
                <a:latin typeface="Palatino Linotype"/>
                <a:cs typeface="Palatino Linotype"/>
              </a:rPr>
              <a:t>(in</a:t>
            </a:r>
            <a:r>
              <a:rPr sz="1600" kern="1200" spc="15" dirty="0">
                <a:solidFill>
                  <a:srgbClr val="FF0000"/>
                </a:solidFill>
                <a:latin typeface="Palatino Linotype"/>
                <a:cs typeface="Palatino Linotype"/>
              </a:rPr>
              <a:t> </a:t>
            </a:r>
            <a:r>
              <a:rPr sz="1600" kern="1200" spc="-10" dirty="0">
                <a:solidFill>
                  <a:srgbClr val="FF0000"/>
                </a:solidFill>
                <a:latin typeface="Palatino Linotype"/>
                <a:cs typeface="Palatino Linotype"/>
              </a:rPr>
              <a:t>reverse)</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for</a:t>
            </a:r>
            <a:r>
              <a:rPr sz="1600" kern="1200" spc="15" dirty="0">
                <a:solidFill>
                  <a:srgbClr val="FF0000"/>
                </a:solidFill>
                <a:latin typeface="Palatino Linotype"/>
                <a:cs typeface="Palatino Linotype"/>
              </a:rPr>
              <a:t> </a:t>
            </a:r>
            <a:r>
              <a:rPr sz="1600" kern="1200" dirty="0">
                <a:solidFill>
                  <a:srgbClr val="FF0000"/>
                </a:solidFill>
                <a:latin typeface="Palatino Linotype"/>
                <a:cs typeface="Palatino Linotype"/>
              </a:rPr>
              <a:t>an</a:t>
            </a:r>
            <a:r>
              <a:rPr sz="1600" kern="1200" spc="15" dirty="0">
                <a:solidFill>
                  <a:srgbClr val="FF0000"/>
                </a:solidFill>
                <a:latin typeface="Palatino Linotype"/>
                <a:cs typeface="Palatino Linotype"/>
              </a:rPr>
              <a:t> </a:t>
            </a:r>
            <a:r>
              <a:rPr sz="1600" kern="1200" spc="-5" dirty="0">
                <a:solidFill>
                  <a:srgbClr val="FF0000"/>
                </a:solidFill>
                <a:latin typeface="Palatino Linotype"/>
                <a:cs typeface="Palatino Linotype"/>
              </a:rPr>
              <a:t>input</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string</a:t>
            </a:r>
            <a:endParaRPr sz="1600" kern="1200" dirty="0">
              <a:solidFill>
                <a:prstClr val="black"/>
              </a:solidFill>
              <a:latin typeface="Palatino Linotype"/>
              <a:cs typeface="Palatino Linotype"/>
            </a:endParaRPr>
          </a:p>
          <a:p>
            <a:pPr lvl="1" rtl="0">
              <a:spcBef>
                <a:spcPts val="15"/>
              </a:spcBef>
              <a:buFont typeface="Wingdings"/>
              <a:buChar char=""/>
            </a:pPr>
            <a:endParaRPr sz="1700" kern="1200" dirty="0">
              <a:solidFill>
                <a:prstClr val="black"/>
              </a:solidFill>
              <a:latin typeface="Palatino Linotype"/>
              <a:cs typeface="Palatino Linotype"/>
            </a:endParaRPr>
          </a:p>
          <a:p>
            <a:pPr marL="242570" marR="60325" indent="-230504" rtl="0">
              <a:lnSpc>
                <a:spcPct val="119000"/>
              </a:lnSpc>
              <a:buClr>
                <a:srgbClr val="000000"/>
              </a:buClr>
              <a:buFont typeface="Arial MT"/>
              <a:buChar char="•"/>
              <a:tabLst>
                <a:tab pos="242570" algn="l"/>
                <a:tab pos="243204" algn="l"/>
              </a:tabLst>
            </a:pPr>
            <a:r>
              <a:rPr sz="2100" kern="1200" spc="-5" dirty="0">
                <a:solidFill>
                  <a:srgbClr val="0432FF"/>
                </a:solidFill>
                <a:latin typeface="Palatino Linotype"/>
                <a:cs typeface="Palatino Linotype"/>
              </a:rPr>
              <a:t>Shift-reduce</a:t>
            </a:r>
            <a:r>
              <a:rPr sz="2100" kern="1200" spc="-15" dirty="0">
                <a:solidFill>
                  <a:srgbClr val="0432FF"/>
                </a:solidFill>
                <a:latin typeface="Palatino Linotype"/>
                <a:cs typeface="Palatino Linotype"/>
              </a:rPr>
              <a:t> </a:t>
            </a:r>
            <a:r>
              <a:rPr sz="2100" kern="1200" spc="-5" dirty="0">
                <a:solidFill>
                  <a:srgbClr val="0432FF"/>
                </a:solidFill>
                <a:latin typeface="Palatino Linotype"/>
                <a:cs typeface="Palatino Linotype"/>
              </a:rPr>
              <a:t>parsing</a:t>
            </a:r>
            <a:r>
              <a:rPr sz="2100" kern="1200" spc="-15" dirty="0">
                <a:solidFill>
                  <a:srgbClr val="0432FF"/>
                </a:solidFill>
                <a:latin typeface="Palatino Linotype"/>
                <a:cs typeface="Palatino Linotype"/>
              </a:rPr>
              <a:t> </a:t>
            </a:r>
            <a:r>
              <a:rPr sz="2100" kern="1200" dirty="0">
                <a:solidFill>
                  <a:srgbClr val="0432FF"/>
                </a:solidFill>
                <a:latin typeface="Palatino Linotype"/>
                <a:cs typeface="Palatino Linotype"/>
              </a:rPr>
              <a:t>(</a:t>
            </a:r>
            <a:r>
              <a:rPr sz="2100" kern="1200" dirty="0">
                <a:solidFill>
                  <a:srgbClr val="0432FF"/>
                </a:solidFill>
                <a:latin typeface="SimSun"/>
                <a:cs typeface="SimSun"/>
              </a:rPr>
              <a:t>移入-归约分析技术</a:t>
            </a:r>
            <a:r>
              <a:rPr sz="2100" kern="1200" dirty="0">
                <a:solidFill>
                  <a:srgbClr val="0432FF"/>
                </a:solidFill>
                <a:latin typeface="Palatino Linotype"/>
                <a:cs typeface="Palatino Linotype"/>
              </a:rPr>
              <a:t>) </a:t>
            </a:r>
            <a:r>
              <a:rPr sz="2100" kern="1200" dirty="0">
                <a:solidFill>
                  <a:prstClr val="black"/>
                </a:solidFill>
                <a:latin typeface="Palatino Linotype"/>
                <a:cs typeface="Palatino Linotype"/>
              </a:rPr>
              <a:t>is a </a:t>
            </a:r>
            <a:r>
              <a:rPr sz="2100" kern="1200" spc="-5" dirty="0">
                <a:solidFill>
                  <a:srgbClr val="FF0000"/>
                </a:solidFill>
                <a:latin typeface="Palatino Linotype"/>
                <a:cs typeface="Palatino Linotype"/>
              </a:rPr>
              <a:t>general style </a:t>
            </a:r>
            <a:r>
              <a:rPr sz="2100" kern="1200" dirty="0">
                <a:solidFill>
                  <a:prstClr val="black"/>
                </a:solidFill>
                <a:latin typeface="Palatino Linotype"/>
                <a:cs typeface="Palatino Linotype"/>
              </a:rPr>
              <a:t>of </a:t>
            </a:r>
            <a:r>
              <a:rPr sz="2100" kern="1200" spc="-509" dirty="0">
                <a:solidFill>
                  <a:prstClr val="black"/>
                </a:solidFill>
                <a:latin typeface="Palatino Linotype"/>
                <a:cs typeface="Palatino Linotype"/>
              </a:rPr>
              <a:t> </a:t>
            </a:r>
            <a:r>
              <a:rPr sz="2100" kern="1200" spc="-5" dirty="0">
                <a:solidFill>
                  <a:prstClr val="black"/>
                </a:solidFill>
                <a:latin typeface="Palatino Linotype"/>
                <a:cs typeface="Palatino Linotype"/>
              </a:rPr>
              <a:t>bottom-up</a:t>
            </a:r>
            <a:r>
              <a:rPr sz="2100" kern="1200" dirty="0">
                <a:solidFill>
                  <a:prstClr val="black"/>
                </a:solidFill>
                <a:latin typeface="Palatino Linotype"/>
                <a:cs typeface="Palatino Linotype"/>
              </a:rPr>
              <a:t> </a:t>
            </a:r>
            <a:r>
              <a:rPr sz="2100" kern="1200" spc="-5" dirty="0">
                <a:solidFill>
                  <a:prstClr val="black"/>
                </a:solidFill>
                <a:latin typeface="Palatino Linotype"/>
                <a:cs typeface="Palatino Linotype"/>
              </a:rPr>
              <a:t>parsing</a:t>
            </a:r>
            <a:r>
              <a:rPr sz="2100" kern="1200" spc="-10" dirty="0">
                <a:solidFill>
                  <a:prstClr val="black"/>
                </a:solidFill>
                <a:latin typeface="Palatino Linotype"/>
                <a:cs typeface="Palatino Linotype"/>
              </a:rPr>
              <a:t> </a:t>
            </a:r>
            <a:r>
              <a:rPr sz="2100" kern="1200" spc="-5" dirty="0">
                <a:solidFill>
                  <a:prstClr val="black"/>
                </a:solidFill>
                <a:latin typeface="Palatino Linotype"/>
                <a:cs typeface="Palatino Linotype"/>
              </a:rPr>
              <a:t>(using</a:t>
            </a:r>
            <a:r>
              <a:rPr sz="2100" kern="1200" spc="-10" dirty="0">
                <a:solidFill>
                  <a:prstClr val="black"/>
                </a:solidFill>
                <a:latin typeface="Palatino Linotype"/>
                <a:cs typeface="Palatino Linotype"/>
              </a:rPr>
              <a:t> </a:t>
            </a:r>
            <a:r>
              <a:rPr sz="2100" kern="1200" dirty="0">
                <a:solidFill>
                  <a:prstClr val="black"/>
                </a:solidFill>
                <a:latin typeface="Palatino Linotype"/>
                <a:cs typeface="Palatino Linotype"/>
              </a:rPr>
              <a:t>a</a:t>
            </a:r>
            <a:r>
              <a:rPr sz="2100" kern="1200" spc="-5" dirty="0">
                <a:solidFill>
                  <a:prstClr val="black"/>
                </a:solidFill>
                <a:latin typeface="Palatino Linotype"/>
                <a:cs typeface="Palatino Linotype"/>
              </a:rPr>
              <a:t> </a:t>
            </a:r>
            <a:r>
              <a:rPr sz="2100" kern="1200" dirty="0">
                <a:solidFill>
                  <a:srgbClr val="FF0000"/>
                </a:solidFill>
                <a:latin typeface="Palatino Linotype"/>
                <a:cs typeface="Palatino Linotype"/>
              </a:rPr>
              <a:t>stack</a:t>
            </a:r>
            <a:r>
              <a:rPr sz="2100" kern="1200" spc="-5" dirty="0">
                <a:solidFill>
                  <a:srgbClr val="FF0000"/>
                </a:solidFill>
                <a:latin typeface="Palatino Linotype"/>
                <a:cs typeface="Palatino Linotype"/>
              </a:rPr>
              <a:t> </a:t>
            </a:r>
            <a:r>
              <a:rPr sz="2100" kern="1200" dirty="0">
                <a:solidFill>
                  <a:prstClr val="black"/>
                </a:solidFill>
                <a:latin typeface="Palatino Linotype"/>
                <a:cs typeface="Palatino Linotype"/>
              </a:rPr>
              <a:t>to hold </a:t>
            </a:r>
            <a:r>
              <a:rPr sz="2100" kern="1200" spc="-5" dirty="0">
                <a:solidFill>
                  <a:prstClr val="black"/>
                </a:solidFill>
                <a:latin typeface="Palatino Linotype"/>
                <a:cs typeface="Palatino Linotype"/>
              </a:rPr>
              <a:t>grammar symbols)</a:t>
            </a:r>
            <a:endParaRPr sz="2100" kern="1200" dirty="0">
              <a:solidFill>
                <a:prstClr val="black"/>
              </a:solidFill>
              <a:latin typeface="Palatino Linotype"/>
              <a:cs typeface="Palatino Linotype"/>
            </a:endParaRPr>
          </a:p>
        </p:txBody>
      </p:sp>
      <p:pic>
        <p:nvPicPr>
          <p:cNvPr id="13" name="object 4">
            <a:extLst>
              <a:ext uri="{FF2B5EF4-FFF2-40B4-BE49-F238E27FC236}">
                <a16:creationId xmlns:a16="http://schemas.microsoft.com/office/drawing/2014/main" id="{0BE03A2E-8AEE-D557-5700-B6DF1253981F}"/>
              </a:ext>
            </a:extLst>
          </p:cNvPr>
          <p:cNvPicPr/>
          <p:nvPr/>
        </p:nvPicPr>
        <p:blipFill>
          <a:blip r:embed="rId3" cstate="print"/>
          <a:stretch>
            <a:fillRect/>
          </a:stretch>
        </p:blipFill>
        <p:spPr>
          <a:xfrm>
            <a:off x="944756" y="4626823"/>
            <a:ext cx="7254487" cy="1910364"/>
          </a:xfrm>
          <a:prstGeom prst="rect">
            <a:avLst/>
          </a:prstGeom>
        </p:spPr>
      </p:pic>
      <p:grpSp>
        <p:nvGrpSpPr>
          <p:cNvPr id="14" name="object 5">
            <a:extLst>
              <a:ext uri="{FF2B5EF4-FFF2-40B4-BE49-F238E27FC236}">
                <a16:creationId xmlns:a16="http://schemas.microsoft.com/office/drawing/2014/main" id="{992E81A1-AC82-9BF9-7282-A4A6AEC62974}"/>
              </a:ext>
            </a:extLst>
          </p:cNvPr>
          <p:cNvGrpSpPr/>
          <p:nvPr/>
        </p:nvGrpSpPr>
        <p:grpSpPr>
          <a:xfrm>
            <a:off x="6250682" y="327027"/>
            <a:ext cx="1572260" cy="1149985"/>
            <a:chOff x="6250682" y="327027"/>
            <a:chExt cx="1572260" cy="1149985"/>
          </a:xfrm>
        </p:grpSpPr>
        <p:pic>
          <p:nvPicPr>
            <p:cNvPr id="15" name="object 6">
              <a:extLst>
                <a:ext uri="{FF2B5EF4-FFF2-40B4-BE49-F238E27FC236}">
                  <a16:creationId xmlns:a16="http://schemas.microsoft.com/office/drawing/2014/main" id="{5C0E3E5B-722E-063B-CEC5-751626AA820F}"/>
                </a:ext>
              </a:extLst>
            </p:cNvPr>
            <p:cNvPicPr/>
            <p:nvPr/>
          </p:nvPicPr>
          <p:blipFill>
            <a:blip r:embed="rId4" cstate="print"/>
            <a:stretch>
              <a:fillRect/>
            </a:stretch>
          </p:blipFill>
          <p:spPr>
            <a:xfrm>
              <a:off x="6331180" y="449876"/>
              <a:ext cx="1314430" cy="920758"/>
            </a:xfrm>
            <a:prstGeom prst="rect">
              <a:avLst/>
            </a:prstGeom>
          </p:spPr>
        </p:pic>
        <p:sp>
          <p:nvSpPr>
            <p:cNvPr id="16" name="object 7">
              <a:extLst>
                <a:ext uri="{FF2B5EF4-FFF2-40B4-BE49-F238E27FC236}">
                  <a16:creationId xmlns:a16="http://schemas.microsoft.com/office/drawing/2014/main" id="{113E2DD7-65E5-857C-8669-4A6AACD139D0}"/>
                </a:ext>
              </a:extLst>
            </p:cNvPr>
            <p:cNvSpPr/>
            <p:nvPr/>
          </p:nvSpPr>
          <p:spPr>
            <a:xfrm>
              <a:off x="6255444" y="331790"/>
              <a:ext cx="1562735" cy="1140460"/>
            </a:xfrm>
            <a:custGeom>
              <a:avLst/>
              <a:gdLst/>
              <a:ahLst/>
              <a:cxnLst/>
              <a:rect l="l" t="t" r="r" b="b"/>
              <a:pathLst>
                <a:path w="1562734" h="1140460">
                  <a:moveTo>
                    <a:pt x="0" y="0"/>
                  </a:moveTo>
                  <a:lnTo>
                    <a:pt x="1562426" y="0"/>
                  </a:lnTo>
                  <a:lnTo>
                    <a:pt x="1562426" y="1139933"/>
                  </a:lnTo>
                  <a:lnTo>
                    <a:pt x="0" y="1139933"/>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27912336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44</a:t>
            </a:fld>
            <a:endParaRPr lang="en-US"/>
          </a:p>
        </p:txBody>
      </p:sp>
      <p:sp>
        <p:nvSpPr>
          <p:cNvPr id="8" name="object 2">
            <a:extLst>
              <a:ext uri="{FF2B5EF4-FFF2-40B4-BE49-F238E27FC236}">
                <a16:creationId xmlns:a16="http://schemas.microsoft.com/office/drawing/2014/main" id="{0A07FCDD-4108-63B7-3B0E-C7FE22017FD7}"/>
              </a:ext>
            </a:extLst>
          </p:cNvPr>
          <p:cNvSpPr txBox="1">
            <a:spLocks/>
          </p:cNvSpPr>
          <p:nvPr/>
        </p:nvSpPr>
        <p:spPr>
          <a:xfrm>
            <a:off x="707390" y="524763"/>
            <a:ext cx="41287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Reductions</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归约</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9" name="object 3">
            <a:extLst>
              <a:ext uri="{FF2B5EF4-FFF2-40B4-BE49-F238E27FC236}">
                <a16:creationId xmlns:a16="http://schemas.microsoft.com/office/drawing/2014/main" id="{0380DD8B-8D1A-3FE4-CF1A-2551BBF487B3}"/>
              </a:ext>
            </a:extLst>
          </p:cNvPr>
          <p:cNvSpPr txBox="1"/>
          <p:nvPr/>
        </p:nvSpPr>
        <p:spPr>
          <a:xfrm>
            <a:off x="707390" y="1430019"/>
            <a:ext cx="7582534" cy="2250440"/>
          </a:xfrm>
          <a:prstGeom prst="rect">
            <a:avLst/>
          </a:prstGeom>
        </p:spPr>
        <p:txBody>
          <a:bodyPr vert="horz" wrap="square" lIns="0" tIns="12700" rIns="0" bIns="0" rtlCol="0">
            <a:spAutoFit/>
          </a:bodyPr>
          <a:lstStyle/>
          <a:p>
            <a:pPr marL="242570" marR="5080" indent="-230504" algn="just" rtl="0">
              <a:lnSpc>
                <a:spcPct val="118200"/>
              </a:lnSpc>
              <a:spcBef>
                <a:spcPts val="100"/>
              </a:spcBef>
              <a:buFont typeface="Arial MT"/>
              <a:buChar char="•"/>
              <a:tabLst>
                <a:tab pos="243204" algn="l"/>
              </a:tabLst>
            </a:pPr>
            <a:r>
              <a:rPr sz="2200" kern="1200" spc="-5" dirty="0">
                <a:solidFill>
                  <a:prstClr val="black"/>
                </a:solidFill>
                <a:latin typeface="Palatino Linotype"/>
                <a:cs typeface="Palatino Linotype"/>
              </a:rPr>
              <a:t>Bottom-up parsing can be seen </a:t>
            </a:r>
            <a:r>
              <a:rPr sz="2200" kern="1200" dirty="0">
                <a:solidFill>
                  <a:prstClr val="black"/>
                </a:solidFill>
                <a:latin typeface="Palatino Linotype"/>
                <a:cs typeface="Palatino Linotype"/>
              </a:rPr>
              <a:t>as a </a:t>
            </a:r>
            <a:r>
              <a:rPr sz="2200" kern="1200" spc="-5" dirty="0">
                <a:solidFill>
                  <a:prstClr val="black"/>
                </a:solidFill>
                <a:latin typeface="Palatino Linotype"/>
                <a:cs typeface="Palatino Linotype"/>
              </a:rPr>
              <a:t>process of </a:t>
            </a:r>
            <a:r>
              <a:rPr sz="2200" kern="1200" spc="-5" dirty="0">
                <a:solidFill>
                  <a:srgbClr val="0432FF"/>
                </a:solidFill>
                <a:latin typeface="Palatino Linotype"/>
                <a:cs typeface="Palatino Linotype"/>
              </a:rPr>
              <a:t>“reducing” </a:t>
            </a:r>
            <a:r>
              <a:rPr sz="2200" kern="1200" dirty="0">
                <a:solidFill>
                  <a:srgbClr val="0432FF"/>
                </a:solidFill>
                <a:latin typeface="Palatino Linotype"/>
                <a:cs typeface="Palatino Linotype"/>
              </a:rPr>
              <a:t>a </a:t>
            </a:r>
            <a:r>
              <a:rPr sz="2200" kern="1200" spc="-535" dirty="0">
                <a:solidFill>
                  <a:srgbClr val="0432FF"/>
                </a:solidFill>
                <a:latin typeface="Palatino Linotype"/>
                <a:cs typeface="Palatino Linotype"/>
              </a:rPr>
              <a:t> </a:t>
            </a:r>
            <a:r>
              <a:rPr sz="2200" kern="1200" spc="-5" dirty="0">
                <a:solidFill>
                  <a:srgbClr val="0432FF"/>
                </a:solidFill>
                <a:latin typeface="Palatino Linotype"/>
                <a:cs typeface="Palatino Linotype"/>
              </a:rPr>
              <a:t>string</a:t>
            </a:r>
            <a:r>
              <a:rPr sz="2200" kern="1200" spc="-10" dirty="0">
                <a:solidFill>
                  <a:srgbClr val="0432FF"/>
                </a:solidFill>
                <a:latin typeface="Palatino Linotype"/>
                <a:cs typeface="Palatino Linotype"/>
              </a:rPr>
              <a:t> </a:t>
            </a:r>
            <a:r>
              <a:rPr sz="2200" kern="1200" dirty="0">
                <a:solidFill>
                  <a:srgbClr val="0432FF"/>
                </a:solidFill>
                <a:latin typeface="Cambria Math"/>
                <a:cs typeface="Cambria Math"/>
              </a:rPr>
              <a:t>𝜔</a:t>
            </a:r>
            <a:r>
              <a:rPr sz="2200" kern="1200" spc="114" dirty="0">
                <a:solidFill>
                  <a:srgbClr val="0432FF"/>
                </a:solidFill>
                <a:latin typeface="Cambria Math"/>
                <a:cs typeface="Cambria Math"/>
              </a:rPr>
              <a:t> </a:t>
            </a:r>
            <a:r>
              <a:rPr sz="2200" kern="1200" spc="-5" dirty="0">
                <a:solidFill>
                  <a:srgbClr val="0432FF"/>
                </a:solidFill>
                <a:latin typeface="Palatino Linotype"/>
                <a:cs typeface="Palatino Linotype"/>
              </a:rPr>
              <a:t>to the </a:t>
            </a:r>
            <a:r>
              <a:rPr sz="2200" kern="1200" dirty="0">
                <a:solidFill>
                  <a:srgbClr val="0432FF"/>
                </a:solidFill>
                <a:latin typeface="Palatino Linotype"/>
                <a:cs typeface="Palatino Linotype"/>
              </a:rPr>
              <a:t>start</a:t>
            </a:r>
            <a:r>
              <a:rPr sz="2200" kern="1200" spc="-5" dirty="0">
                <a:solidFill>
                  <a:srgbClr val="0432FF"/>
                </a:solidFill>
                <a:latin typeface="Palatino Linotype"/>
                <a:cs typeface="Palatino Linotype"/>
              </a:rPr>
              <a:t> symbol of</a:t>
            </a:r>
            <a:r>
              <a:rPr sz="2200" kern="1200" dirty="0">
                <a:solidFill>
                  <a:srgbClr val="0432FF"/>
                </a:solidFill>
                <a:latin typeface="Palatino Linotype"/>
                <a:cs typeface="Palatino Linotype"/>
              </a:rPr>
              <a:t> </a:t>
            </a:r>
            <a:r>
              <a:rPr sz="2200" kern="1200" spc="-5" dirty="0">
                <a:solidFill>
                  <a:srgbClr val="0432FF"/>
                </a:solidFill>
                <a:latin typeface="Palatino Linotype"/>
                <a:cs typeface="Palatino Linotype"/>
              </a:rPr>
              <a:t>the grammar</a:t>
            </a:r>
            <a:endParaRPr sz="2200" kern="1200" dirty="0">
              <a:solidFill>
                <a:prstClr val="black"/>
              </a:solidFill>
              <a:latin typeface="Palatino Linotype"/>
              <a:cs typeface="Palatino Linotype"/>
            </a:endParaRPr>
          </a:p>
          <a:p>
            <a:pPr marL="242570" marR="5715" indent="-230504" algn="just" rtl="0">
              <a:lnSpc>
                <a:spcPct val="119100"/>
              </a:lnSpc>
              <a:spcBef>
                <a:spcPts val="1845"/>
              </a:spcBef>
              <a:buFont typeface="Arial MT"/>
              <a:buChar char="•"/>
              <a:tabLst>
                <a:tab pos="243204" algn="l"/>
              </a:tabLst>
            </a:pPr>
            <a:r>
              <a:rPr sz="2200" kern="1200" dirty="0">
                <a:solidFill>
                  <a:prstClr val="black"/>
                </a:solidFill>
                <a:latin typeface="Palatino Linotype"/>
                <a:cs typeface="Palatino Linotype"/>
              </a:rPr>
              <a:t>At </a:t>
            </a:r>
            <a:r>
              <a:rPr sz="2200" kern="1200" spc="-5" dirty="0">
                <a:solidFill>
                  <a:prstClr val="black"/>
                </a:solidFill>
                <a:latin typeface="Palatino Linotype"/>
                <a:cs typeface="Palatino Linotype"/>
              </a:rPr>
              <a:t>each </a:t>
            </a:r>
            <a:r>
              <a:rPr sz="2200" i="1" kern="1200" spc="-10" dirty="0">
                <a:solidFill>
                  <a:srgbClr val="FF0000"/>
                </a:solidFill>
                <a:latin typeface="Palatino Linotype"/>
                <a:cs typeface="Palatino Linotype"/>
              </a:rPr>
              <a:t>reduction </a:t>
            </a:r>
            <a:r>
              <a:rPr sz="2200" kern="1200" spc="-5" dirty="0">
                <a:solidFill>
                  <a:srgbClr val="FF0000"/>
                </a:solidFill>
                <a:latin typeface="Palatino Linotype"/>
                <a:cs typeface="Palatino Linotype"/>
              </a:rPr>
              <a:t>step</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a </a:t>
            </a:r>
            <a:r>
              <a:rPr sz="2200" kern="1200" spc="-5" dirty="0">
                <a:solidFill>
                  <a:prstClr val="black"/>
                </a:solidFill>
                <a:latin typeface="Palatino Linotype"/>
                <a:cs typeface="Palatino Linotype"/>
              </a:rPr>
              <a:t>specific substring </a:t>
            </a:r>
            <a:r>
              <a:rPr sz="2200" kern="1200" dirty="0">
                <a:solidFill>
                  <a:prstClr val="black"/>
                </a:solidFill>
                <a:latin typeface="Palatino Linotype"/>
                <a:cs typeface="Palatino Linotype"/>
              </a:rPr>
              <a:t>(</a:t>
            </a:r>
            <a:r>
              <a:rPr sz="2200" kern="1200" dirty="0">
                <a:solidFill>
                  <a:srgbClr val="FF0000"/>
                </a:solidFill>
                <a:latin typeface="Palatino Linotype"/>
                <a:cs typeface="Palatino Linotype"/>
              </a:rPr>
              <a:t>at </a:t>
            </a:r>
            <a:r>
              <a:rPr sz="2200" kern="1200" spc="-5" dirty="0">
                <a:solidFill>
                  <a:srgbClr val="FF0000"/>
                </a:solidFill>
                <a:latin typeface="Palatino Linotype"/>
                <a:cs typeface="Palatino Linotype"/>
              </a:rPr>
              <a:t>the top of the </a:t>
            </a:r>
            <a:r>
              <a:rPr sz="2200" kern="1200" dirty="0">
                <a:solidFill>
                  <a:srgbClr val="FF0000"/>
                </a:solidFill>
                <a:latin typeface="Palatino Linotype"/>
                <a:cs typeface="Palatino Linotype"/>
              </a:rPr>
              <a:t> </a:t>
            </a:r>
            <a:r>
              <a:rPr sz="2200" kern="1200" spc="-5" dirty="0">
                <a:solidFill>
                  <a:srgbClr val="FF0000"/>
                </a:solidFill>
                <a:latin typeface="Palatino Linotype"/>
                <a:cs typeface="Palatino Linotype"/>
              </a:rPr>
              <a:t>stack</a:t>
            </a:r>
            <a:r>
              <a:rPr sz="2200" kern="1200" spc="-5" dirty="0">
                <a:solidFill>
                  <a:prstClr val="black"/>
                </a:solidFill>
                <a:latin typeface="Palatino Linotype"/>
                <a:cs typeface="Palatino Linotype"/>
              </a:rPr>
              <a:t>) matching the body of </a:t>
            </a:r>
            <a:r>
              <a:rPr sz="2200" kern="1200" dirty="0">
                <a:solidFill>
                  <a:prstClr val="black"/>
                </a:solidFill>
                <a:latin typeface="Palatino Linotype"/>
                <a:cs typeface="Palatino Linotype"/>
              </a:rPr>
              <a:t>a </a:t>
            </a:r>
            <a:r>
              <a:rPr sz="2200" kern="1200" spc="-5" dirty="0">
                <a:solidFill>
                  <a:prstClr val="black"/>
                </a:solidFill>
                <a:latin typeface="Palatino Linotype"/>
                <a:cs typeface="Palatino Linotype"/>
              </a:rPr>
              <a:t>production is replaced by the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head</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of</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the</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production</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a:t>
            </a:r>
            <a:r>
              <a:rPr sz="2200" kern="1200" spc="-5" dirty="0">
                <a:solidFill>
                  <a:srgbClr val="FF0000"/>
                </a:solidFill>
                <a:latin typeface="Palatino Linotype"/>
                <a:cs typeface="Palatino Linotype"/>
              </a:rPr>
              <a:t>the</a:t>
            </a:r>
            <a:r>
              <a:rPr sz="2200" kern="1200" dirty="0">
                <a:solidFill>
                  <a:srgbClr val="FF0000"/>
                </a:solidFill>
                <a:latin typeface="Palatino Linotype"/>
                <a:cs typeface="Palatino Linotype"/>
              </a:rPr>
              <a:t> </a:t>
            </a:r>
            <a:r>
              <a:rPr sz="2200" kern="1200" spc="-10" dirty="0">
                <a:solidFill>
                  <a:srgbClr val="FF0000"/>
                </a:solidFill>
                <a:latin typeface="Palatino Linotype"/>
                <a:cs typeface="Palatino Linotype"/>
              </a:rPr>
              <a:t>reverse</a:t>
            </a:r>
            <a:r>
              <a:rPr sz="2200" kern="1200" spc="-5" dirty="0">
                <a:solidFill>
                  <a:srgbClr val="FF0000"/>
                </a:solidFill>
                <a:latin typeface="Palatino Linotype"/>
                <a:cs typeface="Palatino Linotype"/>
              </a:rPr>
              <a:t> of</a:t>
            </a:r>
            <a:r>
              <a:rPr sz="2200" kern="1200" dirty="0">
                <a:solidFill>
                  <a:srgbClr val="FF0000"/>
                </a:solidFill>
                <a:latin typeface="Palatino Linotype"/>
                <a:cs typeface="Palatino Linotype"/>
              </a:rPr>
              <a:t> a</a:t>
            </a:r>
            <a:r>
              <a:rPr sz="2200" kern="1200" spc="5" dirty="0">
                <a:solidFill>
                  <a:srgbClr val="FF0000"/>
                </a:solidFill>
                <a:latin typeface="Palatino Linotype"/>
                <a:cs typeface="Palatino Linotype"/>
              </a:rPr>
              <a:t> </a:t>
            </a:r>
            <a:r>
              <a:rPr sz="2200" kern="1200" spc="-5" dirty="0">
                <a:solidFill>
                  <a:srgbClr val="FF0000"/>
                </a:solidFill>
                <a:latin typeface="Palatino Linotype"/>
                <a:cs typeface="Palatino Linotype"/>
              </a:rPr>
              <a:t>step</a:t>
            </a:r>
            <a:r>
              <a:rPr sz="2200" kern="1200" dirty="0">
                <a:solidFill>
                  <a:srgbClr val="FF0000"/>
                </a:solidFill>
                <a:latin typeface="Palatino Linotype"/>
                <a:cs typeface="Palatino Linotype"/>
              </a:rPr>
              <a:t> </a:t>
            </a:r>
            <a:r>
              <a:rPr sz="2200" kern="1200" spc="-5" dirty="0">
                <a:solidFill>
                  <a:srgbClr val="FF0000"/>
                </a:solidFill>
                <a:latin typeface="Palatino Linotype"/>
                <a:cs typeface="Palatino Linotype"/>
              </a:rPr>
              <a:t>in </a:t>
            </a:r>
            <a:r>
              <a:rPr sz="2200" kern="1200" spc="-10" dirty="0">
                <a:solidFill>
                  <a:srgbClr val="FF0000"/>
                </a:solidFill>
                <a:latin typeface="Palatino Linotype"/>
                <a:cs typeface="Palatino Linotype"/>
              </a:rPr>
              <a:t>derivation</a:t>
            </a:r>
            <a:r>
              <a:rPr sz="2200" kern="1200" spc="-10" dirty="0">
                <a:solidFill>
                  <a:prstClr val="black"/>
                </a:solidFill>
                <a:latin typeface="Palatino Linotype"/>
                <a:cs typeface="Palatino Linotype"/>
              </a:rPr>
              <a:t>)</a:t>
            </a:r>
            <a:endParaRPr sz="2200" kern="1200" dirty="0">
              <a:solidFill>
                <a:prstClr val="black"/>
              </a:solidFill>
              <a:latin typeface="Palatino Linotype"/>
              <a:cs typeface="Palatino Linotype"/>
            </a:endParaRPr>
          </a:p>
        </p:txBody>
      </p:sp>
      <p:pic>
        <p:nvPicPr>
          <p:cNvPr id="10" name="object 4">
            <a:extLst>
              <a:ext uri="{FF2B5EF4-FFF2-40B4-BE49-F238E27FC236}">
                <a16:creationId xmlns:a16="http://schemas.microsoft.com/office/drawing/2014/main" id="{AD598879-343E-7E7E-2580-96EC835EF4DD}"/>
              </a:ext>
            </a:extLst>
          </p:cNvPr>
          <p:cNvPicPr/>
          <p:nvPr/>
        </p:nvPicPr>
        <p:blipFill>
          <a:blip r:embed="rId3" cstate="print"/>
          <a:stretch>
            <a:fillRect/>
          </a:stretch>
        </p:blipFill>
        <p:spPr>
          <a:xfrm>
            <a:off x="988841" y="4361334"/>
            <a:ext cx="7141825" cy="1748718"/>
          </a:xfrm>
          <a:prstGeom prst="rect">
            <a:avLst/>
          </a:prstGeom>
        </p:spPr>
      </p:pic>
    </p:spTree>
    <p:extLst>
      <p:ext uri="{BB962C8B-B14F-4D97-AF65-F5344CB8AC3E}">
        <p14:creationId xmlns:p14="http://schemas.microsoft.com/office/powerpoint/2010/main" val="3396285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45</a:t>
            </a:fld>
            <a:endParaRPr lang="en-US"/>
          </a:p>
        </p:txBody>
      </p:sp>
      <p:sp>
        <p:nvSpPr>
          <p:cNvPr id="12" name="object 2">
            <a:extLst>
              <a:ext uri="{FF2B5EF4-FFF2-40B4-BE49-F238E27FC236}">
                <a16:creationId xmlns:a16="http://schemas.microsoft.com/office/drawing/2014/main" id="{23E68170-D676-DCCD-204A-EEA1816EB6F6}"/>
              </a:ext>
            </a:extLst>
          </p:cNvPr>
          <p:cNvSpPr txBox="1">
            <a:spLocks/>
          </p:cNvSpPr>
          <p:nvPr/>
        </p:nvSpPr>
        <p:spPr>
          <a:xfrm>
            <a:off x="707390" y="524763"/>
            <a:ext cx="707263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Shift-Reduce</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pic>
        <p:nvPicPr>
          <p:cNvPr id="13" name="object 3">
            <a:extLst>
              <a:ext uri="{FF2B5EF4-FFF2-40B4-BE49-F238E27FC236}">
                <a16:creationId xmlns:a16="http://schemas.microsoft.com/office/drawing/2014/main" id="{B49EBB92-F56B-A408-8AF7-7ABF394FF65B}"/>
              </a:ext>
            </a:extLst>
          </p:cNvPr>
          <p:cNvPicPr/>
          <p:nvPr/>
        </p:nvPicPr>
        <p:blipFill>
          <a:blip r:embed="rId3" cstate="print"/>
          <a:stretch>
            <a:fillRect/>
          </a:stretch>
        </p:blipFill>
        <p:spPr>
          <a:xfrm>
            <a:off x="481101" y="2675125"/>
            <a:ext cx="5095696" cy="2597979"/>
          </a:xfrm>
          <a:prstGeom prst="rect">
            <a:avLst/>
          </a:prstGeom>
        </p:spPr>
      </p:pic>
      <p:grpSp>
        <p:nvGrpSpPr>
          <p:cNvPr id="14" name="object 4">
            <a:extLst>
              <a:ext uri="{FF2B5EF4-FFF2-40B4-BE49-F238E27FC236}">
                <a16:creationId xmlns:a16="http://schemas.microsoft.com/office/drawing/2014/main" id="{8EA4D72A-7A21-346D-222E-ADD602F2D574}"/>
              </a:ext>
            </a:extLst>
          </p:cNvPr>
          <p:cNvGrpSpPr/>
          <p:nvPr/>
        </p:nvGrpSpPr>
        <p:grpSpPr>
          <a:xfrm>
            <a:off x="6333170" y="2337352"/>
            <a:ext cx="1572260" cy="1149985"/>
            <a:chOff x="6333170" y="2337352"/>
            <a:chExt cx="1572260" cy="1149985"/>
          </a:xfrm>
        </p:grpSpPr>
        <p:pic>
          <p:nvPicPr>
            <p:cNvPr id="15" name="object 5">
              <a:extLst>
                <a:ext uri="{FF2B5EF4-FFF2-40B4-BE49-F238E27FC236}">
                  <a16:creationId xmlns:a16="http://schemas.microsoft.com/office/drawing/2014/main" id="{126DCCAF-2F17-437B-8D39-65F8741B7021}"/>
                </a:ext>
              </a:extLst>
            </p:cNvPr>
            <p:cNvPicPr/>
            <p:nvPr/>
          </p:nvPicPr>
          <p:blipFill>
            <a:blip r:embed="rId4" cstate="print"/>
            <a:stretch>
              <a:fillRect/>
            </a:stretch>
          </p:blipFill>
          <p:spPr>
            <a:xfrm>
              <a:off x="6413668" y="2460201"/>
              <a:ext cx="1314430" cy="920758"/>
            </a:xfrm>
            <a:prstGeom prst="rect">
              <a:avLst/>
            </a:prstGeom>
          </p:spPr>
        </p:pic>
        <p:sp>
          <p:nvSpPr>
            <p:cNvPr id="16" name="object 6">
              <a:extLst>
                <a:ext uri="{FF2B5EF4-FFF2-40B4-BE49-F238E27FC236}">
                  <a16:creationId xmlns:a16="http://schemas.microsoft.com/office/drawing/2014/main" id="{556CBADE-3BB7-9E32-CEF9-F18EED1872BD}"/>
                </a:ext>
              </a:extLst>
            </p:cNvPr>
            <p:cNvSpPr/>
            <p:nvPr/>
          </p:nvSpPr>
          <p:spPr>
            <a:xfrm>
              <a:off x="6337932" y="2342114"/>
              <a:ext cx="1562735" cy="1140460"/>
            </a:xfrm>
            <a:custGeom>
              <a:avLst/>
              <a:gdLst/>
              <a:ahLst/>
              <a:cxnLst/>
              <a:rect l="l" t="t" r="r" b="b"/>
              <a:pathLst>
                <a:path w="1562734" h="1140460">
                  <a:moveTo>
                    <a:pt x="0" y="0"/>
                  </a:moveTo>
                  <a:lnTo>
                    <a:pt x="1562426" y="0"/>
                  </a:lnTo>
                  <a:lnTo>
                    <a:pt x="1562426" y="1139933"/>
                  </a:lnTo>
                  <a:lnTo>
                    <a:pt x="0" y="1139933"/>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7" name="object 7">
            <a:extLst>
              <a:ext uri="{FF2B5EF4-FFF2-40B4-BE49-F238E27FC236}">
                <a16:creationId xmlns:a16="http://schemas.microsoft.com/office/drawing/2014/main" id="{A9E9EFFC-AD5C-EA91-3161-AE9BE73E1FAB}"/>
              </a:ext>
            </a:extLst>
          </p:cNvPr>
          <p:cNvSpPr txBox="1"/>
          <p:nvPr/>
        </p:nvSpPr>
        <p:spPr>
          <a:xfrm>
            <a:off x="681990" y="1821179"/>
            <a:ext cx="3654425" cy="330200"/>
          </a:xfrm>
          <a:prstGeom prst="rect">
            <a:avLst/>
          </a:prstGeom>
        </p:spPr>
        <p:txBody>
          <a:bodyPr vert="horz" wrap="square" lIns="0" tIns="12700" rIns="0" bIns="0" rtlCol="0">
            <a:spAutoFit/>
          </a:bodyPr>
          <a:lstStyle/>
          <a:p>
            <a:pPr marL="38100" rtl="0">
              <a:spcBef>
                <a:spcPts val="100"/>
              </a:spcBef>
            </a:pPr>
            <a:r>
              <a:rPr sz="2000" kern="1200" spc="-10" dirty="0">
                <a:solidFill>
                  <a:srgbClr val="FF0000"/>
                </a:solidFill>
                <a:latin typeface="Palatino Linotype"/>
                <a:cs typeface="Palatino Linotype"/>
              </a:rPr>
              <a:t>Parsing </a:t>
            </a:r>
            <a:r>
              <a:rPr sz="2000" kern="1200" spc="-5" dirty="0">
                <a:solidFill>
                  <a:srgbClr val="FF0000"/>
                </a:solidFill>
                <a:latin typeface="Palatino Linotype"/>
                <a:cs typeface="Palatino Linotype"/>
              </a:rPr>
              <a:t>steps</a:t>
            </a:r>
            <a:r>
              <a:rPr sz="2000" kern="1200" spc="-10" dirty="0">
                <a:solidFill>
                  <a:srgbClr val="FF0000"/>
                </a:solidFill>
                <a:latin typeface="Palatino Linotype"/>
                <a:cs typeface="Palatino Linotype"/>
              </a:rPr>
              <a:t> </a:t>
            </a:r>
            <a:r>
              <a:rPr sz="2000" kern="1200" spc="-5" dirty="0">
                <a:solidFill>
                  <a:srgbClr val="FF0000"/>
                </a:solidFill>
                <a:latin typeface="Palatino Linotype"/>
                <a:cs typeface="Palatino Linotype"/>
              </a:rPr>
              <a:t>on</a:t>
            </a:r>
            <a:r>
              <a:rPr sz="2000" kern="1200" spc="-10" dirty="0">
                <a:solidFill>
                  <a:srgbClr val="FF0000"/>
                </a:solidFill>
                <a:latin typeface="Palatino Linotype"/>
                <a:cs typeface="Palatino Linotype"/>
              </a:rPr>
              <a:t> </a:t>
            </a:r>
            <a:r>
              <a:rPr sz="2000" kern="1200" spc="-5" dirty="0">
                <a:solidFill>
                  <a:srgbClr val="FF0000"/>
                </a:solidFill>
                <a:latin typeface="Palatino Linotype"/>
                <a:cs typeface="Palatino Linotype"/>
              </a:rPr>
              <a:t>input</a:t>
            </a:r>
            <a:r>
              <a:rPr sz="2000" kern="1200" spc="-15" dirty="0">
                <a:solidFill>
                  <a:srgbClr val="FF0000"/>
                </a:solidFill>
                <a:latin typeface="Palatino Linotype"/>
                <a:cs typeface="Palatino Linotype"/>
              </a:rPr>
              <a:t> </a:t>
            </a:r>
            <a:r>
              <a:rPr sz="2000" kern="1200" dirty="0">
                <a:solidFill>
                  <a:srgbClr val="0432FF"/>
                </a:solidFill>
                <a:latin typeface="Cambria Math"/>
                <a:cs typeface="Cambria Math"/>
              </a:rPr>
              <a:t>𝐢𝐝</a:t>
            </a:r>
            <a:r>
              <a:rPr sz="1950" kern="1200" baseline="-17094" dirty="0">
                <a:solidFill>
                  <a:srgbClr val="0432FF"/>
                </a:solidFill>
                <a:latin typeface="Cambria Math"/>
                <a:cs typeface="Cambria Math"/>
              </a:rPr>
              <a:t>1  </a:t>
            </a:r>
            <a:r>
              <a:rPr sz="1950" kern="1200" spc="37" baseline="-17094"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425" dirty="0">
                <a:solidFill>
                  <a:srgbClr val="0432FF"/>
                </a:solidFill>
                <a:latin typeface="Cambria Math"/>
                <a:cs typeface="Cambria Math"/>
              </a:rPr>
              <a:t> </a:t>
            </a:r>
            <a:r>
              <a:rPr sz="2000" kern="1200" dirty="0">
                <a:solidFill>
                  <a:srgbClr val="0432FF"/>
                </a:solidFill>
                <a:latin typeface="Cambria Math"/>
                <a:cs typeface="Cambria Math"/>
              </a:rPr>
              <a:t>𝐢𝐝</a:t>
            </a:r>
            <a:r>
              <a:rPr sz="1950" kern="1200" baseline="-17094" dirty="0">
                <a:solidFill>
                  <a:srgbClr val="0432FF"/>
                </a:solidFill>
                <a:latin typeface="Cambria Math"/>
                <a:cs typeface="Cambria Math"/>
              </a:rPr>
              <a:t>2</a:t>
            </a:r>
            <a:endParaRPr sz="1950" kern="1200" baseline="-17094">
              <a:solidFill>
                <a:prstClr val="black"/>
              </a:solidFill>
              <a:latin typeface="Cambria Math"/>
              <a:cs typeface="Cambria Math"/>
            </a:endParaRPr>
          </a:p>
        </p:txBody>
      </p:sp>
      <p:sp>
        <p:nvSpPr>
          <p:cNvPr id="18" name="object 8">
            <a:extLst>
              <a:ext uri="{FF2B5EF4-FFF2-40B4-BE49-F238E27FC236}">
                <a16:creationId xmlns:a16="http://schemas.microsoft.com/office/drawing/2014/main" id="{08D86F5C-A0B3-1930-66F6-E6558F3554C7}"/>
              </a:ext>
            </a:extLst>
          </p:cNvPr>
          <p:cNvSpPr txBox="1"/>
          <p:nvPr/>
        </p:nvSpPr>
        <p:spPr>
          <a:xfrm>
            <a:off x="5820134" y="4059101"/>
            <a:ext cx="3091180" cy="939165"/>
          </a:xfrm>
          <a:prstGeom prst="rect">
            <a:avLst/>
          </a:prstGeom>
          <a:solidFill>
            <a:srgbClr val="FFF2CC"/>
          </a:solidFill>
          <a:ln w="9525">
            <a:solidFill>
              <a:srgbClr val="000000"/>
            </a:solidFill>
          </a:ln>
        </p:spPr>
        <p:txBody>
          <a:bodyPr vert="horz" wrap="square" lIns="0" tIns="34290" rIns="0" bIns="0" rtlCol="0">
            <a:spAutoFit/>
          </a:bodyPr>
          <a:lstStyle/>
          <a:p>
            <a:pPr marL="90805" rtl="0">
              <a:spcBef>
                <a:spcPts val="270"/>
              </a:spcBef>
            </a:pPr>
            <a:r>
              <a:rPr b="1" kern="1200" dirty="0">
                <a:solidFill>
                  <a:srgbClr val="0432FF"/>
                </a:solidFill>
                <a:latin typeface="Palatino Linotype"/>
                <a:cs typeface="Palatino Linotype"/>
              </a:rPr>
              <a:t>Key</a:t>
            </a:r>
            <a:r>
              <a:rPr b="1" kern="1200" spc="-30" dirty="0">
                <a:solidFill>
                  <a:srgbClr val="0432FF"/>
                </a:solidFill>
                <a:latin typeface="Palatino Linotype"/>
                <a:cs typeface="Palatino Linotype"/>
              </a:rPr>
              <a:t> </a:t>
            </a:r>
            <a:r>
              <a:rPr b="1" kern="1200" spc="-5" dirty="0">
                <a:solidFill>
                  <a:srgbClr val="0432FF"/>
                </a:solidFill>
                <a:latin typeface="Palatino Linotype"/>
                <a:cs typeface="Palatino Linotype"/>
              </a:rPr>
              <a:t>decisions:</a:t>
            </a:r>
            <a:endParaRPr kern="1200">
              <a:solidFill>
                <a:prstClr val="black"/>
              </a:solidFill>
              <a:latin typeface="Palatino Linotype"/>
              <a:cs typeface="Palatino Linotype"/>
            </a:endParaRPr>
          </a:p>
          <a:p>
            <a:pPr marL="434340" indent="-343535" rtl="0">
              <a:lnSpc>
                <a:spcPts val="1910"/>
              </a:lnSpc>
              <a:spcBef>
                <a:spcPts val="630"/>
              </a:spcBef>
              <a:buFontTx/>
              <a:buAutoNum type="arabicPeriod"/>
              <a:tabLst>
                <a:tab pos="433705" algn="l"/>
                <a:tab pos="434340" algn="l"/>
              </a:tabLst>
            </a:pPr>
            <a:r>
              <a:rPr sz="1600" kern="1200" dirty="0">
                <a:solidFill>
                  <a:srgbClr val="FF0000"/>
                </a:solidFill>
                <a:latin typeface="Palatino Linotype"/>
                <a:cs typeface="Palatino Linotype"/>
              </a:rPr>
              <a:t>When</a:t>
            </a:r>
            <a:r>
              <a:rPr sz="1600" kern="1200" spc="-20" dirty="0">
                <a:solidFill>
                  <a:srgbClr val="FF0000"/>
                </a:solidFill>
                <a:latin typeface="Palatino Linotype"/>
                <a:cs typeface="Palatino Linotype"/>
              </a:rPr>
              <a:t> </a:t>
            </a:r>
            <a:r>
              <a:rPr sz="1600" kern="1200" dirty="0">
                <a:solidFill>
                  <a:srgbClr val="FF0000"/>
                </a:solidFill>
                <a:latin typeface="Palatino Linotype"/>
                <a:cs typeface="Palatino Linotype"/>
              </a:rPr>
              <a:t>to</a:t>
            </a:r>
            <a:r>
              <a:rPr sz="1600" kern="1200" spc="-25" dirty="0">
                <a:solidFill>
                  <a:srgbClr val="FF0000"/>
                </a:solidFill>
                <a:latin typeface="Palatino Linotype"/>
                <a:cs typeface="Palatino Linotype"/>
              </a:rPr>
              <a:t> </a:t>
            </a:r>
            <a:r>
              <a:rPr sz="1600" kern="1200" spc="-5" dirty="0">
                <a:solidFill>
                  <a:srgbClr val="FF0000"/>
                </a:solidFill>
                <a:latin typeface="Palatino Linotype"/>
                <a:cs typeface="Palatino Linotype"/>
              </a:rPr>
              <a:t>reduce?</a:t>
            </a:r>
            <a:endParaRPr sz="1600" kern="1200">
              <a:solidFill>
                <a:prstClr val="black"/>
              </a:solidFill>
              <a:latin typeface="Palatino Linotype"/>
              <a:cs typeface="Palatino Linotype"/>
            </a:endParaRPr>
          </a:p>
          <a:p>
            <a:pPr marL="434340" indent="-343535" rtl="0">
              <a:lnSpc>
                <a:spcPts val="1910"/>
              </a:lnSpc>
              <a:buFontTx/>
              <a:buAutoNum type="arabicPeriod"/>
              <a:tabLst>
                <a:tab pos="433705" algn="l"/>
                <a:tab pos="434340" algn="l"/>
              </a:tabLst>
            </a:pPr>
            <a:r>
              <a:rPr sz="1600" kern="1200" dirty="0">
                <a:solidFill>
                  <a:srgbClr val="FF0000"/>
                </a:solidFill>
                <a:latin typeface="Palatino Linotype"/>
                <a:cs typeface="Palatino Linotype"/>
              </a:rPr>
              <a:t>Which</a:t>
            </a:r>
            <a:r>
              <a:rPr sz="1600" kern="1200" spc="-5" dirty="0">
                <a:solidFill>
                  <a:srgbClr val="FF0000"/>
                </a:solidFill>
                <a:latin typeface="Palatino Linotype"/>
                <a:cs typeface="Palatino Linotype"/>
              </a:rPr>
              <a:t> production </a:t>
            </a:r>
            <a:r>
              <a:rPr sz="1600" kern="1200" dirty="0">
                <a:solidFill>
                  <a:srgbClr val="FF0000"/>
                </a:solidFill>
                <a:latin typeface="Palatino Linotype"/>
                <a:cs typeface="Palatino Linotype"/>
              </a:rPr>
              <a:t>to</a:t>
            </a:r>
            <a:r>
              <a:rPr sz="1600" kern="1200" spc="-10" dirty="0">
                <a:solidFill>
                  <a:srgbClr val="FF0000"/>
                </a:solidFill>
                <a:latin typeface="Palatino Linotype"/>
                <a:cs typeface="Palatino Linotype"/>
              </a:rPr>
              <a:t> </a:t>
            </a:r>
            <a:r>
              <a:rPr sz="1600" kern="1200" spc="-5" dirty="0">
                <a:solidFill>
                  <a:srgbClr val="FF0000"/>
                </a:solidFill>
                <a:latin typeface="Palatino Linotype"/>
                <a:cs typeface="Palatino Linotype"/>
              </a:rPr>
              <a:t>apply?</a:t>
            </a:r>
            <a:endParaRPr sz="1600" kern="1200">
              <a:solidFill>
                <a:prstClr val="black"/>
              </a:solidFill>
              <a:latin typeface="Palatino Linotype"/>
              <a:cs typeface="Palatino Linotype"/>
            </a:endParaRPr>
          </a:p>
        </p:txBody>
      </p:sp>
    </p:spTree>
    <p:extLst>
      <p:ext uri="{BB962C8B-B14F-4D97-AF65-F5344CB8AC3E}">
        <p14:creationId xmlns:p14="http://schemas.microsoft.com/office/powerpoint/2010/main" val="1024719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46</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6">
            <a:extLst>
              <a:ext uri="{FF2B5EF4-FFF2-40B4-BE49-F238E27FC236}">
                <a16:creationId xmlns:a16="http://schemas.microsoft.com/office/drawing/2014/main" id="{B357E768-5A8B-717E-C513-1622196C44BC}"/>
              </a:ext>
            </a:extLst>
          </p:cNvPr>
          <p:cNvSpPr txBox="1"/>
          <p:nvPr/>
        </p:nvSpPr>
        <p:spPr>
          <a:xfrm>
            <a:off x="4932040" y="3573016"/>
            <a:ext cx="3989070" cy="925894"/>
          </a:xfrm>
          <a:prstGeom prst="rect">
            <a:avLst/>
          </a:prstGeom>
          <a:ln w="12700">
            <a:solidFill>
              <a:srgbClr val="7F7F7F"/>
            </a:solidFill>
          </a:ln>
        </p:spPr>
        <p:txBody>
          <a:bodyPr vert="horz" wrap="square" lIns="0" tIns="152400" rIns="0" bIns="0" rtlCol="0">
            <a:spAutoFit/>
          </a:bodyPr>
          <a:lstStyle/>
          <a:p>
            <a:pPr marL="440055" indent="-286385">
              <a:lnSpc>
                <a:spcPct val="100000"/>
              </a:lnSpc>
              <a:spcBef>
                <a:spcPts val="1200"/>
              </a:spcBef>
              <a:buFont typeface="Arial MT"/>
              <a:buChar char="•"/>
              <a:tabLst>
                <a:tab pos="440055" algn="l"/>
                <a:tab pos="440690" algn="l"/>
              </a:tabLst>
            </a:pPr>
            <a:r>
              <a:rPr sz="1800" spc="-5" dirty="0">
                <a:latin typeface="Palatino Linotype"/>
                <a:cs typeface="Palatino Linotype"/>
              </a:rPr>
              <a:t>Recursive-descent</a:t>
            </a:r>
            <a:r>
              <a:rPr sz="1800" spc="-30" dirty="0">
                <a:latin typeface="Palatino Linotype"/>
                <a:cs typeface="Palatino Linotype"/>
              </a:rPr>
              <a:t> </a:t>
            </a:r>
            <a:r>
              <a:rPr sz="1800" dirty="0">
                <a:latin typeface="Palatino Linotype"/>
                <a:cs typeface="Palatino Linotype"/>
              </a:rPr>
              <a:t>parsing</a:t>
            </a:r>
          </a:p>
          <a:p>
            <a:pPr marL="440055" indent="-286385">
              <a:lnSpc>
                <a:spcPct val="100000"/>
              </a:lnSpc>
              <a:spcBef>
                <a:spcPts val="1730"/>
              </a:spcBef>
              <a:buFont typeface="Arial MT"/>
              <a:buChar char="•"/>
              <a:tabLst>
                <a:tab pos="440055" algn="l"/>
                <a:tab pos="440690" algn="l"/>
              </a:tabLst>
            </a:pPr>
            <a:r>
              <a:rPr sz="1800" spc="-5" dirty="0">
                <a:solidFill>
                  <a:schemeClr val="bg2">
                    <a:lumMod val="50000"/>
                  </a:schemeClr>
                </a:solidFill>
                <a:latin typeface="Palatino Linotype"/>
                <a:cs typeface="Palatino Linotype"/>
              </a:rPr>
              <a:t>Non-recursive</a:t>
            </a:r>
            <a:r>
              <a:rPr sz="1800" spc="-20"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predictive</a:t>
            </a:r>
            <a:r>
              <a:rPr sz="1800" spc="-20"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parsing</a:t>
            </a:r>
          </a:p>
        </p:txBody>
      </p:sp>
      <p:sp>
        <p:nvSpPr>
          <p:cNvPr id="6" name="object 7">
            <a:extLst>
              <a:ext uri="{FF2B5EF4-FFF2-40B4-BE49-F238E27FC236}">
                <a16:creationId xmlns:a16="http://schemas.microsoft.com/office/drawing/2014/main" id="{538EDAB8-F560-0BF3-AE0F-451C23EBB874}"/>
              </a:ext>
            </a:extLst>
          </p:cNvPr>
          <p:cNvSpPr/>
          <p:nvPr/>
        </p:nvSpPr>
        <p:spPr>
          <a:xfrm>
            <a:off x="3571245" y="4103589"/>
            <a:ext cx="1368425" cy="137160"/>
          </a:xfrm>
          <a:custGeom>
            <a:avLst/>
            <a:gdLst/>
            <a:ahLst/>
            <a:cxnLst/>
            <a:rect l="l" t="t" r="r" b="b"/>
            <a:pathLst>
              <a:path w="1368425" h="137160">
                <a:moveTo>
                  <a:pt x="1368254" y="136692"/>
                </a:moveTo>
                <a:lnTo>
                  <a:pt x="0" y="0"/>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21563352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3" name="object 7">
            <a:extLst>
              <a:ext uri="{FF2B5EF4-FFF2-40B4-BE49-F238E27FC236}">
                <a16:creationId xmlns:a16="http://schemas.microsoft.com/office/drawing/2014/main" id="{40D85622-F91E-92C6-4404-A80AC474438C}"/>
              </a:ext>
            </a:extLst>
          </p:cNvPr>
          <p:cNvPicPr/>
          <p:nvPr/>
        </p:nvPicPr>
        <p:blipFill>
          <a:blip r:embed="rId3" cstate="print"/>
          <a:stretch>
            <a:fillRect/>
          </a:stretch>
        </p:blipFill>
        <p:spPr>
          <a:xfrm>
            <a:off x="1961379" y="4496115"/>
            <a:ext cx="5310487" cy="2216763"/>
          </a:xfrm>
          <a:prstGeom prst="rect">
            <a:avLst/>
          </a:prstGeom>
        </p:spPr>
      </p:pic>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47</a:t>
            </a:fld>
            <a:endParaRPr lang="en-US"/>
          </a:p>
        </p:txBody>
      </p:sp>
      <p:sp>
        <p:nvSpPr>
          <p:cNvPr id="10" name="object 2">
            <a:extLst>
              <a:ext uri="{FF2B5EF4-FFF2-40B4-BE49-F238E27FC236}">
                <a16:creationId xmlns:a16="http://schemas.microsoft.com/office/drawing/2014/main" id="{8FDF9D68-2CD1-4D7F-8A3E-5F372F0C7442}"/>
              </a:ext>
            </a:extLst>
          </p:cNvPr>
          <p:cNvSpPr txBox="1">
            <a:spLocks/>
          </p:cNvSpPr>
          <p:nvPr/>
        </p:nvSpPr>
        <p:spPr>
          <a:xfrm>
            <a:off x="1465262" y="393699"/>
            <a:ext cx="6213475" cy="1193165"/>
          </a:xfrm>
          <a:prstGeom prst="rect">
            <a:avLst/>
          </a:prstGeom>
        </p:spPr>
        <p:txBody>
          <a:bodyPr vert="horz" wrap="square" lIns="0" tIns="74295" rIns="0" bIns="0" rtlCol="0">
            <a:spAutoFit/>
          </a:bodyPr>
          <a:lstStyle>
            <a:lvl1pPr>
              <a:defRPr sz="4000" b="1" i="0">
                <a:solidFill>
                  <a:schemeClr val="tx1"/>
                </a:solidFill>
                <a:latin typeface="Palatino Linotype"/>
                <a:ea typeface="+mj-ea"/>
                <a:cs typeface="Palatino Linotype"/>
              </a:defRPr>
            </a:lvl1pPr>
          </a:lstStyle>
          <a:p>
            <a:pPr marL="643255" marR="5080" lvl="0" indent="-631190" defTabSz="914400" eaLnBrk="1" fontAlgn="auto" latinLnBrk="0" hangingPunct="1">
              <a:lnSpc>
                <a:spcPts val="4390"/>
              </a:lnSpc>
              <a:spcBef>
                <a:spcPts val="58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Recursive-Descent Parsing </a:t>
            </a:r>
            <a:r>
              <a:rPr kumimoji="0" lang="en-US" sz="4000" b="1" i="0" u="none" strike="noStrike" kern="0" cap="none" spc="-98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dirty="0">
                <a:ln>
                  <a:noFill/>
                </a:ln>
                <a:solidFill>
                  <a:sysClr val="windowText" lastClr="000000"/>
                </a:solidFill>
                <a:effectLst/>
                <a:uLnTx/>
                <a:uFillTx/>
                <a:latin typeface="SimSun"/>
                <a:ea typeface="宋体" panose="02010600030101010101" pitchFamily="2" charset="-122"/>
                <a:cs typeface="SimSun"/>
              </a:rPr>
              <a:t>递归下降的语法分析</a:t>
            </a:r>
            <a:r>
              <a:rPr kumimoji="0" lang="en-US" altLang="zh-CN" sz="4000" b="1" i="0" u="none" strike="noStrike" kern="0" cap="none" spc="0" normalizeH="0" baseline="0" noProof="0" dirty="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dirty="0">
              <a:ln>
                <a:noFill/>
              </a:ln>
              <a:solidFill>
                <a:sysClr val="windowText" lastClr="000000"/>
              </a:solidFill>
              <a:effectLst/>
              <a:uLnTx/>
              <a:uFillTx/>
              <a:latin typeface="SimSun"/>
              <a:ea typeface="宋体" panose="02010600030101010101" pitchFamily="2" charset="-122"/>
              <a:cs typeface="SimSun"/>
            </a:endParaRPr>
          </a:p>
        </p:txBody>
      </p:sp>
      <p:sp>
        <p:nvSpPr>
          <p:cNvPr id="11" name="object 3">
            <a:extLst>
              <a:ext uri="{FF2B5EF4-FFF2-40B4-BE49-F238E27FC236}">
                <a16:creationId xmlns:a16="http://schemas.microsoft.com/office/drawing/2014/main" id="{4A41E564-9C2D-2D29-C128-D91FD95752BC}"/>
              </a:ext>
            </a:extLst>
          </p:cNvPr>
          <p:cNvSpPr txBox="1"/>
          <p:nvPr/>
        </p:nvSpPr>
        <p:spPr>
          <a:xfrm>
            <a:off x="707390" y="1722628"/>
            <a:ext cx="7809865" cy="2517775"/>
          </a:xfrm>
          <a:prstGeom prst="rect">
            <a:avLst/>
          </a:prstGeom>
        </p:spPr>
        <p:txBody>
          <a:bodyPr vert="horz" wrap="square" lIns="0" tIns="12700" rIns="0" bIns="0" rtlCol="0">
            <a:spAutoFit/>
          </a:bodyPr>
          <a:lstStyle/>
          <a:p>
            <a:pPr marL="242570" marR="5080" indent="-230504" rtl="0">
              <a:lnSpc>
                <a:spcPct val="117300"/>
              </a:lnSpc>
              <a:spcBef>
                <a:spcPts val="100"/>
              </a:spcBef>
              <a:buFont typeface="Arial MT"/>
              <a:buChar char="•"/>
              <a:tabLst>
                <a:tab pos="242570" algn="l"/>
                <a:tab pos="243204" algn="l"/>
              </a:tabLst>
            </a:pPr>
            <a:r>
              <a:rPr sz="2200" kern="1200" dirty="0">
                <a:solidFill>
                  <a:prstClr val="black"/>
                </a:solidFill>
                <a:latin typeface="Palatino Linotype"/>
                <a:cs typeface="Palatino Linotype"/>
              </a:rPr>
              <a:t>A</a:t>
            </a:r>
            <a:r>
              <a:rPr sz="2200" kern="1200" spc="-125" dirty="0">
                <a:solidFill>
                  <a:prstClr val="black"/>
                </a:solidFill>
                <a:latin typeface="Palatino Linotype"/>
                <a:cs typeface="Palatino Linotype"/>
              </a:rPr>
              <a:t> </a:t>
            </a:r>
            <a:r>
              <a:rPr sz="2200" kern="1200" spc="-5" dirty="0">
                <a:solidFill>
                  <a:prstClr val="black"/>
                </a:solidFill>
                <a:latin typeface="Palatino Linotype"/>
                <a:cs typeface="Palatino Linotype"/>
              </a:rPr>
              <a:t>recursive-descent parsing</a:t>
            </a:r>
            <a:r>
              <a:rPr sz="2200" kern="1200" dirty="0">
                <a:solidFill>
                  <a:prstClr val="black"/>
                </a:solidFill>
                <a:latin typeface="Palatino Linotype"/>
                <a:cs typeface="Palatino Linotype"/>
              </a:rPr>
              <a:t> program</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has</a:t>
            </a:r>
            <a:r>
              <a:rPr sz="2200" kern="1200" spc="5" dirty="0">
                <a:solidFill>
                  <a:prstClr val="black"/>
                </a:solidFill>
                <a:latin typeface="Palatino Linotype"/>
                <a:cs typeface="Palatino Linotype"/>
              </a:rPr>
              <a:t> </a:t>
            </a:r>
            <a:r>
              <a:rPr sz="2200" kern="1200" dirty="0">
                <a:solidFill>
                  <a:srgbClr val="FF0000"/>
                </a:solidFill>
                <a:latin typeface="Palatino Linotype"/>
                <a:cs typeface="Palatino Linotype"/>
              </a:rPr>
              <a:t>a set</a:t>
            </a:r>
            <a:r>
              <a:rPr sz="2200" kern="1200" spc="-5" dirty="0">
                <a:solidFill>
                  <a:srgbClr val="FF0000"/>
                </a:solidFill>
                <a:latin typeface="Palatino Linotype"/>
                <a:cs typeface="Palatino Linotype"/>
              </a:rPr>
              <a:t> of</a:t>
            </a:r>
            <a:r>
              <a:rPr sz="2200" kern="1200" dirty="0">
                <a:solidFill>
                  <a:srgbClr val="FF0000"/>
                </a:solidFill>
                <a:latin typeface="Palatino Linotype"/>
                <a:cs typeface="Palatino Linotype"/>
              </a:rPr>
              <a:t> </a:t>
            </a:r>
            <a:r>
              <a:rPr sz="2200" kern="1200" spc="-5" dirty="0">
                <a:solidFill>
                  <a:srgbClr val="FF0000"/>
                </a:solidFill>
                <a:latin typeface="Palatino Linotype"/>
                <a:cs typeface="Palatino Linotype"/>
              </a:rPr>
              <a:t>procedures</a:t>
            </a:r>
            <a:r>
              <a:rPr sz="2200" kern="1200" spc="-5" dirty="0">
                <a:solidFill>
                  <a:prstClr val="black"/>
                </a:solidFill>
                <a:latin typeface="Palatino Linotype"/>
                <a:cs typeface="Palatino Linotype"/>
              </a:rPr>
              <a:t>,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one</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for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each</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nonterminal</a:t>
            </a:r>
            <a:endParaRPr sz="2200" kern="1200" dirty="0">
              <a:solidFill>
                <a:prstClr val="black"/>
              </a:solidFill>
              <a:latin typeface="Palatino Linotype"/>
              <a:cs typeface="Palatino Linotype"/>
            </a:endParaRPr>
          </a:p>
          <a:p>
            <a:pPr marL="698500" marR="332105" lvl="1" indent="-228600" rtl="0">
              <a:lnSpc>
                <a:spcPct val="120000"/>
              </a:lnSpc>
              <a:spcBef>
                <a:spcPts val="735"/>
              </a:spcBef>
              <a:buFont typeface="Wingdings"/>
              <a:buChar char=""/>
              <a:tabLst>
                <a:tab pos="698500" algn="l"/>
              </a:tabLst>
            </a:pPr>
            <a:r>
              <a:rPr kern="1200" spc="-5"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procedure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for</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nonterminal</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scans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structure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substring</a:t>
            </a:r>
            <a:r>
              <a:rPr kern="1200" dirty="0">
                <a:solidFill>
                  <a:prstClr val="black"/>
                </a:solidFill>
                <a:latin typeface="Palatino Linotype"/>
                <a:cs typeface="Palatino Linotype"/>
              </a:rPr>
              <a:t> of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input) corresponding</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to the </a:t>
            </a:r>
            <a:r>
              <a:rPr kern="1200" spc="-5" dirty="0">
                <a:solidFill>
                  <a:prstClr val="black"/>
                </a:solidFill>
                <a:latin typeface="Palatino Linotype"/>
                <a:cs typeface="Palatino Linotype"/>
              </a:rPr>
              <a:t>nonterminal</a:t>
            </a:r>
            <a:endParaRPr kern="1200" dirty="0">
              <a:solidFill>
                <a:prstClr val="black"/>
              </a:solidFill>
              <a:latin typeface="Palatino Linotype"/>
              <a:cs typeface="Palatino Linotype"/>
            </a:endParaRPr>
          </a:p>
          <a:p>
            <a:pPr marL="243204" indent="-230504" rtl="0">
              <a:spcBef>
                <a:spcPts val="1639"/>
              </a:spcBef>
              <a:buFont typeface="Arial MT"/>
              <a:buChar char="•"/>
              <a:tabLst>
                <a:tab pos="242570" algn="l"/>
                <a:tab pos="243204" algn="l"/>
              </a:tabLst>
            </a:pPr>
            <a:r>
              <a:rPr sz="2200" kern="1200" spc="-5" dirty="0">
                <a:solidFill>
                  <a:prstClr val="black"/>
                </a:solidFill>
                <a:latin typeface="Palatino Linotype"/>
                <a:cs typeface="Palatino Linotype"/>
              </a:rPr>
              <a:t>Execution</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begins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with</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the procedure</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for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the </a:t>
            </a:r>
            <a:r>
              <a:rPr sz="2200" kern="1200" dirty="0">
                <a:solidFill>
                  <a:prstClr val="black"/>
                </a:solidFill>
                <a:latin typeface="Palatino Linotype"/>
                <a:cs typeface="Palatino Linotype"/>
              </a:rPr>
              <a:t>start</a:t>
            </a:r>
            <a:r>
              <a:rPr sz="2200" kern="1200" spc="-5" dirty="0">
                <a:solidFill>
                  <a:prstClr val="black"/>
                </a:solidFill>
                <a:latin typeface="Palatino Linotype"/>
                <a:cs typeface="Palatino Linotype"/>
              </a:rPr>
              <a:t> symbol</a:t>
            </a:r>
            <a:endParaRPr sz="2200" kern="1200" dirty="0">
              <a:solidFill>
                <a:prstClr val="black"/>
              </a:solidFill>
              <a:latin typeface="Palatino Linotype"/>
              <a:cs typeface="Palatino Linotype"/>
            </a:endParaRPr>
          </a:p>
          <a:p>
            <a:pPr marL="698500" lvl="1" indent="-228600" rtl="0">
              <a:spcBef>
                <a:spcPts val="1070"/>
              </a:spcBef>
              <a:buFont typeface="Wingdings"/>
              <a:buChar char=""/>
              <a:tabLst>
                <a:tab pos="698500" algn="l"/>
              </a:tabLst>
            </a:pPr>
            <a:r>
              <a:rPr kern="1200" spc="-5" dirty="0">
                <a:solidFill>
                  <a:prstClr val="black"/>
                </a:solidFill>
                <a:latin typeface="Palatino Linotype"/>
                <a:cs typeface="Palatino Linotype"/>
              </a:rPr>
              <a:t>Announce</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success </a:t>
            </a:r>
            <a:r>
              <a:rPr kern="1200" dirty="0">
                <a:solidFill>
                  <a:prstClr val="black"/>
                </a:solidFill>
                <a:latin typeface="Palatino Linotype"/>
                <a:cs typeface="Palatino Linotype"/>
              </a:rPr>
              <a:t>if 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procedure </a:t>
            </a:r>
            <a:r>
              <a:rPr kern="1200" spc="-5" dirty="0">
                <a:solidFill>
                  <a:prstClr val="black"/>
                </a:solidFill>
                <a:latin typeface="Palatino Linotype"/>
                <a:cs typeface="Palatino Linotype"/>
              </a:rPr>
              <a:t>scans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entire input </a:t>
            </a:r>
            <a:r>
              <a:rPr kern="1200" spc="-5" dirty="0">
                <a:solidFill>
                  <a:prstClr val="black"/>
                </a:solidFill>
                <a:latin typeface="Palatino Linotype"/>
                <a:cs typeface="Palatino Linotype"/>
              </a:rPr>
              <a:t>string</a:t>
            </a:r>
            <a:endParaRPr kern="1200" dirty="0">
              <a:solidFill>
                <a:prstClr val="black"/>
              </a:solidFill>
              <a:latin typeface="Palatino Linotype"/>
              <a:cs typeface="Palatino Linotype"/>
            </a:endParaRPr>
          </a:p>
        </p:txBody>
      </p:sp>
      <p:sp>
        <p:nvSpPr>
          <p:cNvPr id="14" name="object 8">
            <a:extLst>
              <a:ext uri="{FF2B5EF4-FFF2-40B4-BE49-F238E27FC236}">
                <a16:creationId xmlns:a16="http://schemas.microsoft.com/office/drawing/2014/main" id="{BDA7E98B-7969-C520-ACDD-5464FAF92490}"/>
              </a:ext>
            </a:extLst>
          </p:cNvPr>
          <p:cNvSpPr txBox="1"/>
          <p:nvPr/>
        </p:nvSpPr>
        <p:spPr>
          <a:xfrm>
            <a:off x="1859177" y="4418272"/>
            <a:ext cx="5527675" cy="2360295"/>
          </a:xfrm>
          <a:prstGeom prst="rect">
            <a:avLst/>
          </a:prstGeom>
          <a:ln w="9525">
            <a:solidFill>
              <a:srgbClr val="000000"/>
            </a:solidFill>
          </a:ln>
        </p:spPr>
        <p:txBody>
          <a:bodyPr vert="horz" wrap="square" lIns="0" tIns="8255" rIns="0" bIns="0" rtlCol="0">
            <a:spAutoFit/>
          </a:bodyPr>
          <a:lstStyle/>
          <a:p>
            <a:pPr marL="1550035" rtl="0">
              <a:spcBef>
                <a:spcPts val="65"/>
              </a:spcBef>
            </a:pPr>
            <a:r>
              <a:rPr sz="1600" kern="1200" dirty="0">
                <a:solidFill>
                  <a:srgbClr val="FF0000"/>
                </a:solidFill>
                <a:latin typeface="Palatino Linotype"/>
                <a:cs typeface="Palatino Linotype"/>
              </a:rPr>
              <a:t>//</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a</a:t>
            </a:r>
            <a:r>
              <a:rPr sz="1600" kern="1200" spc="-5" dirty="0">
                <a:solidFill>
                  <a:srgbClr val="FF0000"/>
                </a:solidFill>
                <a:latin typeface="Palatino Linotype"/>
                <a:cs typeface="Palatino Linotype"/>
              </a:rPr>
              <a:t> typical</a:t>
            </a:r>
            <a:r>
              <a:rPr sz="1600" kern="1200" spc="-10" dirty="0">
                <a:solidFill>
                  <a:srgbClr val="FF0000"/>
                </a:solidFill>
                <a:latin typeface="Palatino Linotype"/>
                <a:cs typeface="Palatino Linotype"/>
              </a:rPr>
              <a:t> </a:t>
            </a:r>
            <a:r>
              <a:rPr sz="1600" kern="1200" spc="-5" dirty="0">
                <a:solidFill>
                  <a:srgbClr val="FF0000"/>
                </a:solidFill>
                <a:latin typeface="Palatino Linotype"/>
                <a:cs typeface="Palatino Linotype"/>
              </a:rPr>
              <a:t>procedure </a:t>
            </a:r>
            <a:r>
              <a:rPr sz="1600" kern="1200" dirty="0">
                <a:solidFill>
                  <a:srgbClr val="FF0000"/>
                </a:solidFill>
                <a:latin typeface="Palatino Linotype"/>
                <a:cs typeface="Palatino Linotype"/>
              </a:rPr>
              <a:t>for a</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nonterminal</a:t>
            </a:r>
            <a:endParaRPr sz="1600" kern="1200">
              <a:solidFill>
                <a:prstClr val="black"/>
              </a:solidFill>
              <a:latin typeface="Palatino Linotype"/>
              <a:cs typeface="Palatino Linotype"/>
            </a:endParaRPr>
          </a:p>
        </p:txBody>
      </p:sp>
    </p:spTree>
    <p:extLst>
      <p:ext uri="{BB962C8B-B14F-4D97-AF65-F5344CB8AC3E}">
        <p14:creationId xmlns:p14="http://schemas.microsoft.com/office/powerpoint/2010/main" val="38634905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48</a:t>
            </a:fld>
            <a:endParaRPr lang="en-US"/>
          </a:p>
        </p:txBody>
      </p:sp>
      <p:sp>
        <p:nvSpPr>
          <p:cNvPr id="11" name="object 2">
            <a:extLst>
              <a:ext uri="{FF2B5EF4-FFF2-40B4-BE49-F238E27FC236}">
                <a16:creationId xmlns:a16="http://schemas.microsoft.com/office/drawing/2014/main" id="{04ACACDB-9762-6DFD-C19E-520120504E11}"/>
              </a:ext>
            </a:extLst>
          </p:cNvPr>
          <p:cNvSpPr txBox="1">
            <a:spLocks/>
          </p:cNvSpPr>
          <p:nvPr/>
        </p:nvSpPr>
        <p:spPr>
          <a:xfrm>
            <a:off x="707390" y="524763"/>
            <a:ext cx="455422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回溯</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grpSp>
        <p:nvGrpSpPr>
          <p:cNvPr id="12" name="object 3">
            <a:extLst>
              <a:ext uri="{FF2B5EF4-FFF2-40B4-BE49-F238E27FC236}">
                <a16:creationId xmlns:a16="http://schemas.microsoft.com/office/drawing/2014/main" id="{322D94D3-34D2-C6EE-7062-F94D804E0D26}"/>
              </a:ext>
            </a:extLst>
          </p:cNvPr>
          <p:cNvGrpSpPr/>
          <p:nvPr/>
        </p:nvGrpSpPr>
        <p:grpSpPr>
          <a:xfrm>
            <a:off x="1152141" y="1753783"/>
            <a:ext cx="6697980" cy="2743200"/>
            <a:chOff x="1152141" y="1753783"/>
            <a:chExt cx="6697980" cy="2743200"/>
          </a:xfrm>
        </p:grpSpPr>
        <p:pic>
          <p:nvPicPr>
            <p:cNvPr id="13" name="object 4">
              <a:extLst>
                <a:ext uri="{FF2B5EF4-FFF2-40B4-BE49-F238E27FC236}">
                  <a16:creationId xmlns:a16="http://schemas.microsoft.com/office/drawing/2014/main" id="{323FA17E-5FA4-50F3-3629-41C6484EB315}"/>
                </a:ext>
              </a:extLst>
            </p:cNvPr>
            <p:cNvPicPr/>
            <p:nvPr/>
          </p:nvPicPr>
          <p:blipFill>
            <a:blip r:embed="rId3" cstate="print"/>
            <a:stretch>
              <a:fillRect/>
            </a:stretch>
          </p:blipFill>
          <p:spPr>
            <a:xfrm>
              <a:off x="1279057" y="1753783"/>
              <a:ext cx="6570813" cy="2742862"/>
            </a:xfrm>
            <a:prstGeom prst="rect">
              <a:avLst/>
            </a:prstGeom>
          </p:spPr>
        </p:pic>
        <p:sp>
          <p:nvSpPr>
            <p:cNvPr id="14" name="object 5">
              <a:extLst>
                <a:ext uri="{FF2B5EF4-FFF2-40B4-BE49-F238E27FC236}">
                  <a16:creationId xmlns:a16="http://schemas.microsoft.com/office/drawing/2014/main" id="{5416C10E-EEAC-9648-F8D3-A5C73EF1216F}"/>
                </a:ext>
              </a:extLst>
            </p:cNvPr>
            <p:cNvSpPr/>
            <p:nvPr/>
          </p:nvSpPr>
          <p:spPr>
            <a:xfrm>
              <a:off x="1158491" y="3624648"/>
              <a:ext cx="5687695" cy="329565"/>
            </a:xfrm>
            <a:custGeom>
              <a:avLst/>
              <a:gdLst/>
              <a:ahLst/>
              <a:cxnLst/>
              <a:rect l="l" t="t" r="r" b="b"/>
              <a:pathLst>
                <a:path w="5687695" h="329564">
                  <a:moveTo>
                    <a:pt x="0" y="0"/>
                  </a:moveTo>
                  <a:lnTo>
                    <a:pt x="5687151" y="0"/>
                  </a:lnTo>
                  <a:lnTo>
                    <a:pt x="5687151" y="329513"/>
                  </a:lnTo>
                  <a:lnTo>
                    <a:pt x="0" y="329513"/>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5" name="object 6">
            <a:extLst>
              <a:ext uri="{FF2B5EF4-FFF2-40B4-BE49-F238E27FC236}">
                <a16:creationId xmlns:a16="http://schemas.microsoft.com/office/drawing/2014/main" id="{1E1AABBF-6595-8159-BDB1-25C76E9E2160}"/>
              </a:ext>
            </a:extLst>
          </p:cNvPr>
          <p:cNvSpPr txBox="1"/>
          <p:nvPr/>
        </p:nvSpPr>
        <p:spPr>
          <a:xfrm>
            <a:off x="2848380" y="5070347"/>
            <a:ext cx="4826635" cy="739140"/>
          </a:xfrm>
          <a:prstGeom prst="rect">
            <a:avLst/>
          </a:prstGeom>
        </p:spPr>
        <p:txBody>
          <a:bodyPr vert="horz" wrap="square" lIns="0" tIns="12700" rIns="0" bIns="0" rtlCol="0">
            <a:spAutoFit/>
          </a:bodyPr>
          <a:lstStyle/>
          <a:p>
            <a:pPr marL="572135" marR="5080" indent="-560070" rtl="0">
              <a:lnSpc>
                <a:spcPct val="117000"/>
              </a:lnSpc>
              <a:spcBef>
                <a:spcPts val="100"/>
              </a:spcBef>
            </a:pPr>
            <a:r>
              <a:rPr sz="2000" kern="1200" dirty="0">
                <a:solidFill>
                  <a:srgbClr val="FF0000"/>
                </a:solidFill>
                <a:latin typeface="Palatino Linotype"/>
                <a:cs typeface="Palatino Linotype"/>
              </a:rPr>
              <a:t>If</a:t>
            </a:r>
            <a:r>
              <a:rPr sz="2000" kern="1200" spc="-10" dirty="0">
                <a:solidFill>
                  <a:srgbClr val="FF0000"/>
                </a:solidFill>
                <a:latin typeface="Palatino Linotype"/>
                <a:cs typeface="Palatino Linotype"/>
              </a:rPr>
              <a:t> </a:t>
            </a:r>
            <a:r>
              <a:rPr sz="2000" kern="1200" spc="-5" dirty="0">
                <a:solidFill>
                  <a:srgbClr val="FF0000"/>
                </a:solidFill>
                <a:latin typeface="Palatino Linotype"/>
                <a:cs typeface="Palatino Linotype"/>
              </a:rPr>
              <a:t>there</a:t>
            </a:r>
            <a:r>
              <a:rPr sz="2000" kern="1200" dirty="0">
                <a:solidFill>
                  <a:srgbClr val="FF0000"/>
                </a:solidFill>
                <a:latin typeface="Palatino Linotype"/>
                <a:cs typeface="Palatino Linotype"/>
              </a:rPr>
              <a:t> is a </a:t>
            </a:r>
            <a:r>
              <a:rPr sz="2000" kern="1200" spc="-5" dirty="0">
                <a:solidFill>
                  <a:srgbClr val="FF0000"/>
                </a:solidFill>
                <a:latin typeface="Palatino Linotype"/>
                <a:cs typeface="Palatino Linotype"/>
              </a:rPr>
              <a:t>failure</a:t>
            </a:r>
            <a:r>
              <a:rPr sz="2000" kern="1200" dirty="0">
                <a:solidFill>
                  <a:srgbClr val="FF0000"/>
                </a:solidFill>
                <a:latin typeface="Palatino Linotype"/>
                <a:cs typeface="Palatino Linotype"/>
              </a:rPr>
              <a:t> at</a:t>
            </a:r>
            <a:r>
              <a:rPr sz="2000" kern="1200" spc="-10" dirty="0">
                <a:solidFill>
                  <a:srgbClr val="FF0000"/>
                </a:solidFill>
                <a:latin typeface="Palatino Linotype"/>
                <a:cs typeface="Palatino Linotype"/>
              </a:rPr>
              <a:t> </a:t>
            </a:r>
            <a:r>
              <a:rPr sz="2000" kern="1200" dirty="0">
                <a:solidFill>
                  <a:srgbClr val="FF0000"/>
                </a:solidFill>
                <a:latin typeface="Palatino Linotype"/>
                <a:cs typeface="Palatino Linotype"/>
              </a:rPr>
              <a:t>line 7, </a:t>
            </a:r>
            <a:r>
              <a:rPr sz="2000" kern="1200" spc="-5" dirty="0">
                <a:solidFill>
                  <a:srgbClr val="FF0000"/>
                </a:solidFill>
                <a:latin typeface="Palatino Linotype"/>
                <a:cs typeface="Palatino Linotype"/>
              </a:rPr>
              <a:t>does</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this</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mean </a:t>
            </a:r>
            <a:r>
              <a:rPr sz="2000" kern="1200" spc="-484" dirty="0">
                <a:solidFill>
                  <a:srgbClr val="FF0000"/>
                </a:solidFill>
                <a:latin typeface="Palatino Linotype"/>
                <a:cs typeface="Palatino Linotype"/>
              </a:rPr>
              <a:t> </a:t>
            </a:r>
            <a:r>
              <a:rPr sz="2000" kern="1200" spc="-5" dirty="0">
                <a:solidFill>
                  <a:srgbClr val="FF0000"/>
                </a:solidFill>
                <a:latin typeface="Palatino Linotype"/>
                <a:cs typeface="Palatino Linotype"/>
              </a:rPr>
              <a:t>that</a:t>
            </a:r>
            <a:r>
              <a:rPr sz="2000" kern="1200" spc="-10" dirty="0">
                <a:solidFill>
                  <a:srgbClr val="FF0000"/>
                </a:solidFill>
                <a:latin typeface="Palatino Linotype"/>
                <a:cs typeface="Palatino Linotype"/>
              </a:rPr>
              <a:t> </a:t>
            </a:r>
            <a:r>
              <a:rPr sz="2000" kern="1200" spc="-5" dirty="0">
                <a:solidFill>
                  <a:srgbClr val="FF0000"/>
                </a:solidFill>
                <a:latin typeface="Palatino Linotype"/>
                <a:cs typeface="Palatino Linotype"/>
              </a:rPr>
              <a:t>there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must</a:t>
            </a:r>
            <a:r>
              <a:rPr sz="2000" kern="1200" spc="-10" dirty="0">
                <a:solidFill>
                  <a:srgbClr val="FF0000"/>
                </a:solidFill>
                <a:latin typeface="Palatino Linotype"/>
                <a:cs typeface="Palatino Linotype"/>
              </a:rPr>
              <a:t> </a:t>
            </a:r>
            <a:r>
              <a:rPr sz="2000" kern="1200" dirty="0">
                <a:solidFill>
                  <a:srgbClr val="FF0000"/>
                </a:solidFill>
                <a:latin typeface="Palatino Linotype"/>
                <a:cs typeface="Palatino Linotype"/>
              </a:rPr>
              <a:t>be </a:t>
            </a:r>
            <a:r>
              <a:rPr sz="2000" kern="1200" spc="-5" dirty="0">
                <a:solidFill>
                  <a:srgbClr val="FF0000"/>
                </a:solidFill>
                <a:latin typeface="Palatino Linotype"/>
                <a:cs typeface="Palatino Linotype"/>
              </a:rPr>
              <a:t>syntax</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errors?</a:t>
            </a:r>
            <a:endParaRPr sz="2000" kern="1200" dirty="0">
              <a:solidFill>
                <a:prstClr val="black"/>
              </a:solidFill>
              <a:latin typeface="Palatino Linotype"/>
              <a:cs typeface="Palatino Linotype"/>
            </a:endParaRPr>
          </a:p>
        </p:txBody>
      </p:sp>
      <p:pic>
        <p:nvPicPr>
          <p:cNvPr id="16" name="object 7">
            <a:extLst>
              <a:ext uri="{FF2B5EF4-FFF2-40B4-BE49-F238E27FC236}">
                <a16:creationId xmlns:a16="http://schemas.microsoft.com/office/drawing/2014/main" id="{2A453E65-5E1E-4000-D8C1-749B08CBFB5A}"/>
              </a:ext>
            </a:extLst>
          </p:cNvPr>
          <p:cNvPicPr/>
          <p:nvPr/>
        </p:nvPicPr>
        <p:blipFill>
          <a:blip r:embed="rId4" cstate="print"/>
          <a:stretch>
            <a:fillRect/>
          </a:stretch>
        </p:blipFill>
        <p:spPr>
          <a:xfrm>
            <a:off x="1219022" y="4934043"/>
            <a:ext cx="1060264" cy="1060265"/>
          </a:xfrm>
          <a:prstGeom prst="rect">
            <a:avLst/>
          </a:prstGeom>
        </p:spPr>
      </p:pic>
    </p:spTree>
    <p:extLst>
      <p:ext uri="{BB962C8B-B14F-4D97-AF65-F5344CB8AC3E}">
        <p14:creationId xmlns:p14="http://schemas.microsoft.com/office/powerpoint/2010/main" val="37036784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49</a:t>
            </a:fld>
            <a:endParaRPr lang="en-US"/>
          </a:p>
        </p:txBody>
      </p:sp>
      <p:sp>
        <p:nvSpPr>
          <p:cNvPr id="11" name="object 2">
            <a:extLst>
              <a:ext uri="{FF2B5EF4-FFF2-40B4-BE49-F238E27FC236}">
                <a16:creationId xmlns:a16="http://schemas.microsoft.com/office/drawing/2014/main" id="{0AD055E8-401A-55C6-31B4-C45962B0D27A}"/>
              </a:ext>
            </a:extLst>
          </p:cNvPr>
          <p:cNvSpPr txBox="1">
            <a:spLocks/>
          </p:cNvSpPr>
          <p:nvPr/>
        </p:nvSpPr>
        <p:spPr>
          <a:xfrm>
            <a:off x="707390" y="524763"/>
            <a:ext cx="455422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回溯</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grpSp>
        <p:nvGrpSpPr>
          <p:cNvPr id="12" name="object 3">
            <a:extLst>
              <a:ext uri="{FF2B5EF4-FFF2-40B4-BE49-F238E27FC236}">
                <a16:creationId xmlns:a16="http://schemas.microsoft.com/office/drawing/2014/main" id="{84778F80-96AB-8B24-552A-2EB7251AE812}"/>
              </a:ext>
            </a:extLst>
          </p:cNvPr>
          <p:cNvGrpSpPr/>
          <p:nvPr/>
        </p:nvGrpSpPr>
        <p:grpSpPr>
          <a:xfrm>
            <a:off x="1152141" y="1753783"/>
            <a:ext cx="6697980" cy="2743200"/>
            <a:chOff x="1152141" y="1753783"/>
            <a:chExt cx="6697980" cy="2743200"/>
          </a:xfrm>
        </p:grpSpPr>
        <p:pic>
          <p:nvPicPr>
            <p:cNvPr id="13" name="object 4">
              <a:extLst>
                <a:ext uri="{FF2B5EF4-FFF2-40B4-BE49-F238E27FC236}">
                  <a16:creationId xmlns:a16="http://schemas.microsoft.com/office/drawing/2014/main" id="{08157C1D-24C8-8CC8-86D4-088F90E2410D}"/>
                </a:ext>
              </a:extLst>
            </p:cNvPr>
            <p:cNvPicPr/>
            <p:nvPr/>
          </p:nvPicPr>
          <p:blipFill>
            <a:blip r:embed="rId3" cstate="print"/>
            <a:stretch>
              <a:fillRect/>
            </a:stretch>
          </p:blipFill>
          <p:spPr>
            <a:xfrm>
              <a:off x="1279057" y="1753783"/>
              <a:ext cx="6570813" cy="2742862"/>
            </a:xfrm>
            <a:prstGeom prst="rect">
              <a:avLst/>
            </a:prstGeom>
          </p:spPr>
        </p:pic>
        <p:sp>
          <p:nvSpPr>
            <p:cNvPr id="14" name="object 5">
              <a:extLst>
                <a:ext uri="{FF2B5EF4-FFF2-40B4-BE49-F238E27FC236}">
                  <a16:creationId xmlns:a16="http://schemas.microsoft.com/office/drawing/2014/main" id="{A2E54FCB-EE17-922C-69EB-50E852E625D1}"/>
                </a:ext>
              </a:extLst>
            </p:cNvPr>
            <p:cNvSpPr/>
            <p:nvPr/>
          </p:nvSpPr>
          <p:spPr>
            <a:xfrm>
              <a:off x="1158491" y="3624648"/>
              <a:ext cx="5687695" cy="329565"/>
            </a:xfrm>
            <a:custGeom>
              <a:avLst/>
              <a:gdLst/>
              <a:ahLst/>
              <a:cxnLst/>
              <a:rect l="l" t="t" r="r" b="b"/>
              <a:pathLst>
                <a:path w="5687695" h="329564">
                  <a:moveTo>
                    <a:pt x="0" y="0"/>
                  </a:moveTo>
                  <a:lnTo>
                    <a:pt x="5687151" y="0"/>
                  </a:lnTo>
                  <a:lnTo>
                    <a:pt x="5687151" y="329513"/>
                  </a:lnTo>
                  <a:lnTo>
                    <a:pt x="0" y="329513"/>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5" name="object 6">
            <a:extLst>
              <a:ext uri="{FF2B5EF4-FFF2-40B4-BE49-F238E27FC236}">
                <a16:creationId xmlns:a16="http://schemas.microsoft.com/office/drawing/2014/main" id="{E3655BCB-48BF-C6C3-FD5E-B841DBE4AD6A}"/>
              </a:ext>
            </a:extLst>
          </p:cNvPr>
          <p:cNvSpPr txBox="1"/>
          <p:nvPr/>
        </p:nvSpPr>
        <p:spPr>
          <a:xfrm>
            <a:off x="2630891" y="5070347"/>
            <a:ext cx="5260975" cy="739140"/>
          </a:xfrm>
          <a:prstGeom prst="rect">
            <a:avLst/>
          </a:prstGeom>
        </p:spPr>
        <p:txBody>
          <a:bodyPr vert="horz" wrap="square" lIns="0" tIns="12700" rIns="0" bIns="0" rtlCol="0">
            <a:spAutoFit/>
          </a:bodyPr>
          <a:lstStyle/>
          <a:p>
            <a:pPr marL="1127125" marR="5080" indent="-1115060" rtl="0">
              <a:lnSpc>
                <a:spcPct val="117000"/>
              </a:lnSpc>
              <a:spcBef>
                <a:spcPts val="100"/>
              </a:spcBef>
            </a:pPr>
            <a:r>
              <a:rPr sz="2000" kern="1200" spc="-5" dirty="0">
                <a:solidFill>
                  <a:srgbClr val="0432FF"/>
                </a:solidFill>
                <a:latin typeface="Palatino Linotype"/>
                <a:cs typeface="Palatino Linotype"/>
              </a:rPr>
              <a:t>The failure</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might </a:t>
            </a:r>
            <a:r>
              <a:rPr sz="2000" kern="1200" dirty="0">
                <a:solidFill>
                  <a:srgbClr val="0432FF"/>
                </a:solidFill>
                <a:latin typeface="Palatino Linotype"/>
                <a:cs typeface="Palatino Linotype"/>
              </a:rPr>
              <a:t>be </a:t>
            </a:r>
            <a:r>
              <a:rPr sz="2000" kern="1200" spc="-5" dirty="0">
                <a:solidFill>
                  <a:srgbClr val="0432FF"/>
                </a:solidFill>
                <a:latin typeface="Palatino Linotype"/>
                <a:cs typeface="Palatino Linotype"/>
              </a:rPr>
              <a:t>caused </a:t>
            </a:r>
            <a:r>
              <a:rPr sz="2000" kern="1200" dirty="0">
                <a:solidFill>
                  <a:srgbClr val="0432FF"/>
                </a:solidFill>
                <a:latin typeface="Palatino Linotype"/>
                <a:cs typeface="Palatino Linotype"/>
              </a:rPr>
              <a:t>by a </a:t>
            </a:r>
            <a:r>
              <a:rPr sz="2000" kern="1200" spc="-5" dirty="0">
                <a:solidFill>
                  <a:srgbClr val="0432FF"/>
                </a:solidFill>
                <a:latin typeface="Palatino Linotype"/>
                <a:cs typeface="Palatino Linotype"/>
              </a:rPr>
              <a:t>wrong</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choice </a:t>
            </a:r>
            <a:r>
              <a:rPr sz="2000" kern="1200" spc="-484" dirty="0">
                <a:solidFill>
                  <a:srgbClr val="0432FF"/>
                </a:solidFill>
                <a:latin typeface="Palatino Linotype"/>
                <a:cs typeface="Palatino Linotype"/>
              </a:rPr>
              <a:t> </a:t>
            </a:r>
            <a:r>
              <a:rPr sz="2000" kern="1200" spc="-5" dirty="0">
                <a:solidFill>
                  <a:srgbClr val="0432FF"/>
                </a:solidFill>
                <a:latin typeface="Palatino Linotype"/>
                <a:cs typeface="Palatino Linotype"/>
              </a:rPr>
              <a:t>of</a:t>
            </a:r>
            <a:r>
              <a:rPr sz="2000" kern="1200" spc="-10" dirty="0">
                <a:solidFill>
                  <a:srgbClr val="0432FF"/>
                </a:solidFill>
                <a:latin typeface="Palatino Linotype"/>
                <a:cs typeface="Palatino Linotype"/>
              </a:rPr>
              <a:t> </a:t>
            </a:r>
            <a:r>
              <a:rPr sz="2000" kern="1200" spc="-5" dirty="0">
                <a:solidFill>
                  <a:srgbClr val="0432FF"/>
                </a:solidFill>
                <a:latin typeface="Cambria Math"/>
                <a:cs typeface="Cambria Math"/>
              </a:rPr>
              <a:t>𝐴</a:t>
            </a:r>
            <a:r>
              <a:rPr sz="2000" kern="1200" spc="-5" dirty="0">
                <a:solidFill>
                  <a:srgbClr val="0432FF"/>
                </a:solidFill>
                <a:latin typeface="Palatino Linotype"/>
                <a:cs typeface="Palatino Linotype"/>
              </a:rPr>
              <a:t>-production </a:t>
            </a:r>
            <a:r>
              <a:rPr sz="2000" kern="1200" dirty="0">
                <a:solidFill>
                  <a:srgbClr val="0432FF"/>
                </a:solidFill>
                <a:latin typeface="Palatino Linotype"/>
                <a:cs typeface="Palatino Linotype"/>
              </a:rPr>
              <a:t>at</a:t>
            </a:r>
            <a:r>
              <a:rPr sz="2000" kern="1200" spc="-10" dirty="0">
                <a:solidFill>
                  <a:srgbClr val="0432FF"/>
                </a:solidFill>
                <a:latin typeface="Palatino Linotype"/>
                <a:cs typeface="Palatino Linotype"/>
              </a:rPr>
              <a:t> </a:t>
            </a:r>
            <a:r>
              <a:rPr sz="2000" kern="1200" dirty="0">
                <a:solidFill>
                  <a:srgbClr val="0432FF"/>
                </a:solidFill>
                <a:latin typeface="Palatino Linotype"/>
                <a:cs typeface="Palatino Linotype"/>
              </a:rPr>
              <a:t>line 1 </a:t>
            </a:r>
            <a:r>
              <a:rPr sz="2000" kern="1200" spc="-10" dirty="0">
                <a:solidFill>
                  <a:srgbClr val="0432FF"/>
                </a:solidFill>
                <a:latin typeface="Palatino Linotype"/>
                <a:cs typeface="Palatino Linotype"/>
              </a:rPr>
              <a:t>!!!</a:t>
            </a:r>
            <a:endParaRPr sz="2000" kern="1200" dirty="0">
              <a:solidFill>
                <a:prstClr val="black"/>
              </a:solidFill>
              <a:latin typeface="Palatino Linotype"/>
              <a:cs typeface="Palatino Linotype"/>
            </a:endParaRPr>
          </a:p>
        </p:txBody>
      </p:sp>
      <p:pic>
        <p:nvPicPr>
          <p:cNvPr id="16" name="object 7">
            <a:extLst>
              <a:ext uri="{FF2B5EF4-FFF2-40B4-BE49-F238E27FC236}">
                <a16:creationId xmlns:a16="http://schemas.microsoft.com/office/drawing/2014/main" id="{A882D7A0-8A4C-4272-9B0F-7F09A41B07B3}"/>
              </a:ext>
            </a:extLst>
          </p:cNvPr>
          <p:cNvPicPr/>
          <p:nvPr/>
        </p:nvPicPr>
        <p:blipFill>
          <a:blip r:embed="rId4" cstate="print"/>
          <a:stretch>
            <a:fillRect/>
          </a:stretch>
        </p:blipFill>
        <p:spPr>
          <a:xfrm>
            <a:off x="1169001" y="4761261"/>
            <a:ext cx="1228724" cy="1405831"/>
          </a:xfrm>
          <a:prstGeom prst="rect">
            <a:avLst/>
          </a:prstGeom>
        </p:spPr>
      </p:pic>
    </p:spTree>
    <p:extLst>
      <p:ext uri="{BB962C8B-B14F-4D97-AF65-F5344CB8AC3E}">
        <p14:creationId xmlns:p14="http://schemas.microsoft.com/office/powerpoint/2010/main" val="32234418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50</a:t>
            </a:fld>
            <a:endParaRPr lang="en-US"/>
          </a:p>
        </p:txBody>
      </p:sp>
      <p:sp>
        <p:nvSpPr>
          <p:cNvPr id="11" name="object 2">
            <a:extLst>
              <a:ext uri="{FF2B5EF4-FFF2-40B4-BE49-F238E27FC236}">
                <a16:creationId xmlns:a16="http://schemas.microsoft.com/office/drawing/2014/main" id="{B3F6358D-B403-C813-2D27-05D9A1272414}"/>
              </a:ext>
            </a:extLst>
          </p:cNvPr>
          <p:cNvSpPr txBox="1">
            <a:spLocks/>
          </p:cNvSpPr>
          <p:nvPr/>
        </p:nvSpPr>
        <p:spPr>
          <a:xfrm>
            <a:off x="707390" y="524763"/>
            <a:ext cx="455422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回溯</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2" name="object 3">
            <a:extLst>
              <a:ext uri="{FF2B5EF4-FFF2-40B4-BE49-F238E27FC236}">
                <a16:creationId xmlns:a16="http://schemas.microsoft.com/office/drawing/2014/main" id="{88065EA8-AF40-A7F8-EDF8-0C91F2CE150A}"/>
              </a:ext>
            </a:extLst>
          </p:cNvPr>
          <p:cNvSpPr txBox="1"/>
          <p:nvPr/>
        </p:nvSpPr>
        <p:spPr>
          <a:xfrm>
            <a:off x="707390" y="1600708"/>
            <a:ext cx="7192645" cy="1293495"/>
          </a:xfrm>
          <a:prstGeom prst="rect">
            <a:avLst/>
          </a:prstGeom>
        </p:spPr>
        <p:txBody>
          <a:bodyPr vert="horz" wrap="square" lIns="0" tIns="12700" rIns="0" bIns="0" rtlCol="0">
            <a:spAutoFit/>
          </a:bodyPr>
          <a:lstStyle/>
          <a:p>
            <a:pPr marL="242570" marR="5080" indent="-230504" rtl="0">
              <a:lnSpc>
                <a:spcPct val="117300"/>
              </a:lnSpc>
              <a:spcBef>
                <a:spcPts val="100"/>
              </a:spcBef>
              <a:buFont typeface="Arial MT"/>
              <a:buChar char="•"/>
              <a:tabLst>
                <a:tab pos="242570" algn="l"/>
                <a:tab pos="243204" algn="l"/>
              </a:tabLst>
            </a:pPr>
            <a:r>
              <a:rPr sz="2200" kern="1200" spc="-5" dirty="0">
                <a:solidFill>
                  <a:prstClr val="black"/>
                </a:solidFill>
                <a:latin typeface="Palatino Linotype"/>
                <a:cs typeface="Palatino Linotype"/>
              </a:rPr>
              <a:t>General</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recursive-descent parsing</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may</a:t>
            </a:r>
            <a:r>
              <a:rPr sz="2200" kern="1200" dirty="0">
                <a:solidFill>
                  <a:prstClr val="black"/>
                </a:solidFill>
                <a:latin typeface="Palatino Linotype"/>
                <a:cs typeface="Palatino Linotype"/>
              </a:rPr>
              <a:t> require</a:t>
            </a:r>
            <a:r>
              <a:rPr sz="2200" kern="1200" spc="-5" dirty="0">
                <a:solidFill>
                  <a:prstClr val="black"/>
                </a:solidFill>
                <a:latin typeface="Palatino Linotype"/>
                <a:cs typeface="Palatino Linotype"/>
              </a:rPr>
              <a:t> </a:t>
            </a:r>
            <a:r>
              <a:rPr sz="2200" kern="1200" spc="-5" dirty="0">
                <a:solidFill>
                  <a:srgbClr val="FF0000"/>
                </a:solidFill>
                <a:latin typeface="Palatino Linotype"/>
                <a:cs typeface="Palatino Linotype"/>
              </a:rPr>
              <a:t>repeated </a:t>
            </a:r>
            <a:r>
              <a:rPr sz="2200" kern="1200" spc="-535" dirty="0">
                <a:solidFill>
                  <a:srgbClr val="FF0000"/>
                </a:solidFill>
                <a:latin typeface="Palatino Linotype"/>
                <a:cs typeface="Palatino Linotype"/>
              </a:rPr>
              <a:t> </a:t>
            </a:r>
            <a:r>
              <a:rPr sz="2200" kern="1200" spc="-5" dirty="0">
                <a:solidFill>
                  <a:srgbClr val="FF0000"/>
                </a:solidFill>
                <a:latin typeface="Palatino Linotype"/>
                <a:cs typeface="Palatino Linotype"/>
              </a:rPr>
              <a:t>scans</a:t>
            </a:r>
            <a:r>
              <a:rPr sz="2200" kern="1200" dirty="0">
                <a:solidFill>
                  <a:srgbClr val="FF0000"/>
                </a:solidFill>
                <a:latin typeface="Palatino Linotype"/>
                <a:cs typeface="Palatino Linotype"/>
              </a:rPr>
              <a:t> </a:t>
            </a:r>
            <a:r>
              <a:rPr sz="2200" kern="1200" spc="-15" dirty="0">
                <a:solidFill>
                  <a:prstClr val="black"/>
                </a:solidFill>
                <a:latin typeface="Palatino Linotype"/>
                <a:cs typeface="Palatino Linotype"/>
              </a:rPr>
              <a:t>over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the input (</a:t>
            </a:r>
            <a:r>
              <a:rPr sz="2200" kern="1200" spc="-5" dirty="0">
                <a:solidFill>
                  <a:srgbClr val="FF0000"/>
                </a:solidFill>
                <a:latin typeface="Palatino Linotype"/>
                <a:cs typeface="Palatino Linotype"/>
              </a:rPr>
              <a:t>backtracking</a:t>
            </a:r>
            <a:r>
              <a:rPr sz="2200" kern="1200" spc="-5" dirty="0">
                <a:solidFill>
                  <a:prstClr val="black"/>
                </a:solidFill>
                <a:latin typeface="Palatino Linotype"/>
                <a:cs typeface="Palatino Linotype"/>
              </a:rPr>
              <a:t>)</a:t>
            </a:r>
            <a:endParaRPr sz="2200" kern="1200">
              <a:solidFill>
                <a:prstClr val="black"/>
              </a:solidFill>
              <a:latin typeface="Palatino Linotype"/>
              <a:cs typeface="Palatino Linotype"/>
            </a:endParaRPr>
          </a:p>
          <a:p>
            <a:pPr marL="243204" indent="-230504" rtl="0">
              <a:spcBef>
                <a:spcPts val="1150"/>
              </a:spcBef>
              <a:buFont typeface="Arial MT"/>
              <a:buChar char="•"/>
              <a:tabLst>
                <a:tab pos="242570" algn="l"/>
                <a:tab pos="243204" algn="l"/>
              </a:tabLst>
            </a:pPr>
            <a:r>
              <a:rPr sz="2200" kern="1200" spc="-80" dirty="0">
                <a:solidFill>
                  <a:prstClr val="black"/>
                </a:solidFill>
                <a:latin typeface="Palatino Linotype"/>
                <a:cs typeface="Palatino Linotype"/>
              </a:rPr>
              <a:t>To</a:t>
            </a:r>
            <a:r>
              <a:rPr sz="2200" kern="1200" spc="-5" dirty="0">
                <a:solidFill>
                  <a:prstClr val="black"/>
                </a:solidFill>
                <a:latin typeface="Palatino Linotype"/>
                <a:cs typeface="Palatino Linotype"/>
              </a:rPr>
              <a:t> allow</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backtracking,</a:t>
            </a:r>
            <a:r>
              <a:rPr sz="2200" kern="1200" dirty="0">
                <a:solidFill>
                  <a:prstClr val="black"/>
                </a:solidFill>
                <a:latin typeface="Palatino Linotype"/>
                <a:cs typeface="Palatino Linotype"/>
              </a:rPr>
              <a:t> </a:t>
            </a:r>
            <a:r>
              <a:rPr sz="2200" kern="1200" spc="-20" dirty="0">
                <a:solidFill>
                  <a:prstClr val="black"/>
                </a:solidFill>
                <a:latin typeface="Palatino Linotype"/>
                <a:cs typeface="Palatino Linotype"/>
              </a:rPr>
              <a:t>we</a:t>
            </a:r>
            <a:r>
              <a:rPr sz="2200" kern="1200" spc="-5" dirty="0">
                <a:solidFill>
                  <a:prstClr val="black"/>
                </a:solidFill>
                <a:latin typeface="Palatino Linotype"/>
                <a:cs typeface="Palatino Linotype"/>
              </a:rPr>
              <a:t> need</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to modify</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the algorithm</a:t>
            </a:r>
            <a:endParaRPr sz="2200" kern="1200">
              <a:solidFill>
                <a:prstClr val="black"/>
              </a:solidFill>
              <a:latin typeface="Palatino Linotype"/>
              <a:cs typeface="Palatino Linotype"/>
            </a:endParaRPr>
          </a:p>
        </p:txBody>
      </p:sp>
      <p:grpSp>
        <p:nvGrpSpPr>
          <p:cNvPr id="13" name="object 4">
            <a:extLst>
              <a:ext uri="{FF2B5EF4-FFF2-40B4-BE49-F238E27FC236}">
                <a16:creationId xmlns:a16="http://schemas.microsoft.com/office/drawing/2014/main" id="{D70E422E-C10F-1381-2721-C08D2CF1CB8A}"/>
              </a:ext>
            </a:extLst>
          </p:cNvPr>
          <p:cNvGrpSpPr/>
          <p:nvPr/>
        </p:nvGrpSpPr>
        <p:grpSpPr>
          <a:xfrm>
            <a:off x="1587191" y="3085368"/>
            <a:ext cx="5845175" cy="2393315"/>
            <a:chOff x="1587191" y="3085368"/>
            <a:chExt cx="5845175" cy="2393315"/>
          </a:xfrm>
        </p:grpSpPr>
        <p:pic>
          <p:nvPicPr>
            <p:cNvPr id="14" name="object 5">
              <a:extLst>
                <a:ext uri="{FF2B5EF4-FFF2-40B4-BE49-F238E27FC236}">
                  <a16:creationId xmlns:a16="http://schemas.microsoft.com/office/drawing/2014/main" id="{2FA238DD-C3E8-CEAE-476A-9C2993B009C7}"/>
                </a:ext>
              </a:extLst>
            </p:cNvPr>
            <p:cNvPicPr/>
            <p:nvPr/>
          </p:nvPicPr>
          <p:blipFill>
            <a:blip r:embed="rId3" cstate="print"/>
            <a:stretch>
              <a:fillRect/>
            </a:stretch>
          </p:blipFill>
          <p:spPr>
            <a:xfrm>
              <a:off x="1698740" y="3085368"/>
              <a:ext cx="5733366" cy="2393285"/>
            </a:xfrm>
            <a:prstGeom prst="rect">
              <a:avLst/>
            </a:prstGeom>
          </p:spPr>
        </p:pic>
        <p:sp>
          <p:nvSpPr>
            <p:cNvPr id="15" name="object 6">
              <a:extLst>
                <a:ext uri="{FF2B5EF4-FFF2-40B4-BE49-F238E27FC236}">
                  <a16:creationId xmlns:a16="http://schemas.microsoft.com/office/drawing/2014/main" id="{62E0065E-C2A8-3AA4-0CF1-16CD7EE6F0E7}"/>
                </a:ext>
              </a:extLst>
            </p:cNvPr>
            <p:cNvSpPr/>
            <p:nvPr/>
          </p:nvSpPr>
          <p:spPr>
            <a:xfrm>
              <a:off x="1593541" y="3314010"/>
              <a:ext cx="5619750" cy="212725"/>
            </a:xfrm>
            <a:custGeom>
              <a:avLst/>
              <a:gdLst/>
              <a:ahLst/>
              <a:cxnLst/>
              <a:rect l="l" t="t" r="r" b="b"/>
              <a:pathLst>
                <a:path w="5619750" h="212725">
                  <a:moveTo>
                    <a:pt x="0" y="0"/>
                  </a:moveTo>
                  <a:lnTo>
                    <a:pt x="5619470" y="0"/>
                  </a:lnTo>
                  <a:lnTo>
                    <a:pt x="5619470" y="212123"/>
                  </a:lnTo>
                  <a:lnTo>
                    <a:pt x="0" y="212123"/>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6" name="object 7">
            <a:extLst>
              <a:ext uri="{FF2B5EF4-FFF2-40B4-BE49-F238E27FC236}">
                <a16:creationId xmlns:a16="http://schemas.microsoft.com/office/drawing/2014/main" id="{0AC10930-3A10-9316-E13B-DAB62463C8B4}"/>
              </a:ext>
            </a:extLst>
          </p:cNvPr>
          <p:cNvSpPr txBox="1"/>
          <p:nvPr/>
        </p:nvSpPr>
        <p:spPr>
          <a:xfrm>
            <a:off x="1153775" y="5623052"/>
            <a:ext cx="6629400" cy="565150"/>
          </a:xfrm>
          <a:prstGeom prst="rect">
            <a:avLst/>
          </a:prstGeom>
        </p:spPr>
        <p:txBody>
          <a:bodyPr vert="horz" wrap="square" lIns="0" tIns="28575" rIns="0" bIns="0" rtlCol="0">
            <a:spAutoFit/>
          </a:bodyPr>
          <a:lstStyle/>
          <a:p>
            <a:pPr marL="12700" marR="5080" rtl="0">
              <a:lnSpc>
                <a:spcPts val="2090"/>
              </a:lnSpc>
              <a:spcBef>
                <a:spcPts val="225"/>
              </a:spcBef>
            </a:pPr>
            <a:r>
              <a:rPr kern="1200" dirty="0">
                <a:solidFill>
                  <a:srgbClr val="0432FF"/>
                </a:solidFill>
                <a:latin typeface="Palatino Linotype"/>
                <a:cs typeface="Palatino Linotype"/>
              </a:rPr>
              <a:t>Instead of exploring one </a:t>
            </a:r>
            <a:r>
              <a:rPr kern="1200" dirty="0">
                <a:solidFill>
                  <a:srgbClr val="0432FF"/>
                </a:solidFill>
                <a:latin typeface="Cambria Math"/>
                <a:cs typeface="Cambria Math"/>
              </a:rPr>
              <a:t>𝐴</a:t>
            </a:r>
            <a:r>
              <a:rPr kern="1200" dirty="0">
                <a:solidFill>
                  <a:srgbClr val="0432FF"/>
                </a:solidFill>
                <a:latin typeface="Palatino Linotype"/>
                <a:cs typeface="Palatino Linotype"/>
              </a:rPr>
              <a:t>-production, </a:t>
            </a:r>
            <a:r>
              <a:rPr kern="1200" spc="-20" dirty="0">
                <a:solidFill>
                  <a:srgbClr val="0432FF"/>
                </a:solidFill>
                <a:latin typeface="Palatino Linotype"/>
                <a:cs typeface="Palatino Linotype"/>
              </a:rPr>
              <a:t>we </a:t>
            </a:r>
            <a:r>
              <a:rPr kern="1200" spc="-5" dirty="0">
                <a:solidFill>
                  <a:srgbClr val="0432FF"/>
                </a:solidFill>
                <a:latin typeface="Palatino Linotype"/>
                <a:cs typeface="Palatino Linotype"/>
              </a:rPr>
              <a:t>must </a:t>
            </a:r>
            <a:r>
              <a:rPr kern="1200" dirty="0">
                <a:solidFill>
                  <a:srgbClr val="0432FF"/>
                </a:solidFill>
                <a:latin typeface="Palatino Linotype"/>
                <a:cs typeface="Palatino Linotype"/>
              </a:rPr>
              <a:t>try each </a:t>
            </a:r>
            <a:r>
              <a:rPr kern="1200" spc="-5" dirty="0">
                <a:solidFill>
                  <a:srgbClr val="0432FF"/>
                </a:solidFill>
                <a:latin typeface="Palatino Linotype"/>
                <a:cs typeface="Palatino Linotype"/>
              </a:rPr>
              <a:t>possible </a:t>
            </a:r>
            <a:r>
              <a:rPr kern="1200" spc="-434" dirty="0">
                <a:solidFill>
                  <a:srgbClr val="0432FF"/>
                </a:solidFill>
                <a:latin typeface="Palatino Linotype"/>
                <a:cs typeface="Palatino Linotype"/>
              </a:rPr>
              <a:t> </a:t>
            </a:r>
            <a:r>
              <a:rPr kern="1200" dirty="0">
                <a:solidFill>
                  <a:srgbClr val="0432FF"/>
                </a:solidFill>
                <a:latin typeface="Palatino Linotype"/>
                <a:cs typeface="Palatino Linotype"/>
              </a:rPr>
              <a:t>production</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in </a:t>
            </a:r>
            <a:r>
              <a:rPr kern="1200" spc="-5" dirty="0">
                <a:solidFill>
                  <a:srgbClr val="0432FF"/>
                </a:solidFill>
                <a:latin typeface="Palatino Linotype"/>
                <a:cs typeface="Palatino Linotype"/>
              </a:rPr>
              <a:t>some</a:t>
            </a:r>
            <a:r>
              <a:rPr kern="1200" dirty="0">
                <a:solidFill>
                  <a:srgbClr val="0432FF"/>
                </a:solidFill>
                <a:latin typeface="Palatino Linotype"/>
                <a:cs typeface="Palatino Linotype"/>
              </a:rPr>
              <a:t> </a:t>
            </a:r>
            <a:r>
              <a:rPr kern="1200" spc="-20" dirty="0">
                <a:solidFill>
                  <a:srgbClr val="0432FF"/>
                </a:solidFill>
                <a:latin typeface="Palatino Linotype"/>
                <a:cs typeface="Palatino Linotype"/>
              </a:rPr>
              <a:t>order.</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3277248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51</a:t>
            </a:fld>
            <a:endParaRPr lang="en-US"/>
          </a:p>
        </p:txBody>
      </p:sp>
      <p:sp>
        <p:nvSpPr>
          <p:cNvPr id="9" name="object 2">
            <a:extLst>
              <a:ext uri="{FF2B5EF4-FFF2-40B4-BE49-F238E27FC236}">
                <a16:creationId xmlns:a16="http://schemas.microsoft.com/office/drawing/2014/main" id="{7D733C6D-72F5-E664-7108-D2061639DF01}"/>
              </a:ext>
            </a:extLst>
          </p:cNvPr>
          <p:cNvSpPr txBox="1">
            <a:spLocks/>
          </p:cNvSpPr>
          <p:nvPr/>
        </p:nvSpPr>
        <p:spPr>
          <a:xfrm>
            <a:off x="707390" y="524763"/>
            <a:ext cx="455422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回溯</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0" name="object 3">
            <a:extLst>
              <a:ext uri="{FF2B5EF4-FFF2-40B4-BE49-F238E27FC236}">
                <a16:creationId xmlns:a16="http://schemas.microsoft.com/office/drawing/2014/main" id="{F347225C-2BFC-6D86-C62D-35CD140A94D0}"/>
              </a:ext>
            </a:extLst>
          </p:cNvPr>
          <p:cNvSpPr txBox="1"/>
          <p:nvPr/>
        </p:nvSpPr>
        <p:spPr>
          <a:xfrm>
            <a:off x="707390" y="1600708"/>
            <a:ext cx="7192645" cy="1293495"/>
          </a:xfrm>
          <a:prstGeom prst="rect">
            <a:avLst/>
          </a:prstGeom>
        </p:spPr>
        <p:txBody>
          <a:bodyPr vert="horz" wrap="square" lIns="0" tIns="12700" rIns="0" bIns="0" rtlCol="0">
            <a:spAutoFit/>
          </a:bodyPr>
          <a:lstStyle/>
          <a:p>
            <a:pPr marL="242570" marR="5080" indent="-230504" rtl="0">
              <a:lnSpc>
                <a:spcPct val="117300"/>
              </a:lnSpc>
              <a:spcBef>
                <a:spcPts val="100"/>
              </a:spcBef>
              <a:buFont typeface="Arial MT"/>
              <a:buChar char="•"/>
              <a:tabLst>
                <a:tab pos="242570" algn="l"/>
                <a:tab pos="243204" algn="l"/>
              </a:tabLst>
            </a:pPr>
            <a:r>
              <a:rPr sz="2200" kern="1200" spc="-5" dirty="0">
                <a:solidFill>
                  <a:prstClr val="black"/>
                </a:solidFill>
                <a:latin typeface="Palatino Linotype"/>
                <a:cs typeface="Palatino Linotype"/>
              </a:rPr>
              <a:t>General</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recursive-descent parsing</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may</a:t>
            </a:r>
            <a:r>
              <a:rPr sz="2200" kern="1200" dirty="0">
                <a:solidFill>
                  <a:prstClr val="black"/>
                </a:solidFill>
                <a:latin typeface="Palatino Linotype"/>
                <a:cs typeface="Palatino Linotype"/>
              </a:rPr>
              <a:t> require</a:t>
            </a:r>
            <a:r>
              <a:rPr sz="2200" kern="1200" spc="-5" dirty="0">
                <a:solidFill>
                  <a:prstClr val="black"/>
                </a:solidFill>
                <a:latin typeface="Palatino Linotype"/>
                <a:cs typeface="Palatino Linotype"/>
              </a:rPr>
              <a:t> </a:t>
            </a:r>
            <a:r>
              <a:rPr sz="2200" kern="1200" spc="-5" dirty="0">
                <a:solidFill>
                  <a:srgbClr val="FF0000"/>
                </a:solidFill>
                <a:latin typeface="Palatino Linotype"/>
                <a:cs typeface="Palatino Linotype"/>
              </a:rPr>
              <a:t>repeated </a:t>
            </a:r>
            <a:r>
              <a:rPr sz="2200" kern="1200" spc="-535" dirty="0">
                <a:solidFill>
                  <a:srgbClr val="FF0000"/>
                </a:solidFill>
                <a:latin typeface="Palatino Linotype"/>
                <a:cs typeface="Palatino Linotype"/>
              </a:rPr>
              <a:t> </a:t>
            </a:r>
            <a:r>
              <a:rPr sz="2200" kern="1200" spc="-5" dirty="0">
                <a:solidFill>
                  <a:srgbClr val="FF0000"/>
                </a:solidFill>
                <a:latin typeface="Palatino Linotype"/>
                <a:cs typeface="Palatino Linotype"/>
              </a:rPr>
              <a:t>scans</a:t>
            </a:r>
            <a:r>
              <a:rPr sz="2200" kern="1200" dirty="0">
                <a:solidFill>
                  <a:srgbClr val="FF0000"/>
                </a:solidFill>
                <a:latin typeface="Palatino Linotype"/>
                <a:cs typeface="Palatino Linotype"/>
              </a:rPr>
              <a:t> </a:t>
            </a:r>
            <a:r>
              <a:rPr sz="2200" kern="1200" spc="-15" dirty="0">
                <a:solidFill>
                  <a:prstClr val="black"/>
                </a:solidFill>
                <a:latin typeface="Palatino Linotype"/>
                <a:cs typeface="Palatino Linotype"/>
              </a:rPr>
              <a:t>over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the input (</a:t>
            </a:r>
            <a:r>
              <a:rPr sz="2200" kern="1200" spc="-5" dirty="0">
                <a:solidFill>
                  <a:srgbClr val="FF0000"/>
                </a:solidFill>
                <a:latin typeface="Palatino Linotype"/>
                <a:cs typeface="Palatino Linotype"/>
              </a:rPr>
              <a:t>backtracking</a:t>
            </a:r>
            <a:r>
              <a:rPr sz="2200" kern="1200" spc="-5" dirty="0">
                <a:solidFill>
                  <a:prstClr val="black"/>
                </a:solidFill>
                <a:latin typeface="Palatino Linotype"/>
                <a:cs typeface="Palatino Linotype"/>
              </a:rPr>
              <a:t>)</a:t>
            </a:r>
            <a:endParaRPr sz="2200" kern="1200">
              <a:solidFill>
                <a:prstClr val="black"/>
              </a:solidFill>
              <a:latin typeface="Palatino Linotype"/>
              <a:cs typeface="Palatino Linotype"/>
            </a:endParaRPr>
          </a:p>
          <a:p>
            <a:pPr marL="243204" indent="-230504" rtl="0">
              <a:spcBef>
                <a:spcPts val="1150"/>
              </a:spcBef>
              <a:buFont typeface="Arial MT"/>
              <a:buChar char="•"/>
              <a:tabLst>
                <a:tab pos="242570" algn="l"/>
                <a:tab pos="243204" algn="l"/>
              </a:tabLst>
            </a:pPr>
            <a:r>
              <a:rPr sz="2200" kern="1200" spc="-80" dirty="0">
                <a:solidFill>
                  <a:prstClr val="black"/>
                </a:solidFill>
                <a:latin typeface="Palatino Linotype"/>
                <a:cs typeface="Palatino Linotype"/>
              </a:rPr>
              <a:t>To</a:t>
            </a:r>
            <a:r>
              <a:rPr sz="2200" kern="1200" spc="-5" dirty="0">
                <a:solidFill>
                  <a:prstClr val="black"/>
                </a:solidFill>
                <a:latin typeface="Palatino Linotype"/>
                <a:cs typeface="Palatino Linotype"/>
              </a:rPr>
              <a:t> allow</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backtracking,</a:t>
            </a:r>
            <a:r>
              <a:rPr sz="2200" kern="1200" dirty="0">
                <a:solidFill>
                  <a:prstClr val="black"/>
                </a:solidFill>
                <a:latin typeface="Palatino Linotype"/>
                <a:cs typeface="Palatino Linotype"/>
              </a:rPr>
              <a:t> </a:t>
            </a:r>
            <a:r>
              <a:rPr sz="2200" kern="1200" spc="-20" dirty="0">
                <a:solidFill>
                  <a:prstClr val="black"/>
                </a:solidFill>
                <a:latin typeface="Palatino Linotype"/>
                <a:cs typeface="Palatino Linotype"/>
              </a:rPr>
              <a:t>we</a:t>
            </a:r>
            <a:r>
              <a:rPr sz="2200" kern="1200" spc="-5" dirty="0">
                <a:solidFill>
                  <a:prstClr val="black"/>
                </a:solidFill>
                <a:latin typeface="Palatino Linotype"/>
                <a:cs typeface="Palatino Linotype"/>
              </a:rPr>
              <a:t> need</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to modify</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the algorithm</a:t>
            </a:r>
            <a:endParaRPr sz="2200" kern="1200">
              <a:solidFill>
                <a:prstClr val="black"/>
              </a:solidFill>
              <a:latin typeface="Palatino Linotype"/>
              <a:cs typeface="Palatino Linotype"/>
            </a:endParaRPr>
          </a:p>
        </p:txBody>
      </p:sp>
      <p:pic>
        <p:nvPicPr>
          <p:cNvPr id="11" name="object 4">
            <a:extLst>
              <a:ext uri="{FF2B5EF4-FFF2-40B4-BE49-F238E27FC236}">
                <a16:creationId xmlns:a16="http://schemas.microsoft.com/office/drawing/2014/main" id="{ABF06D62-5508-2D39-13D8-09DF0A06EA1E}"/>
              </a:ext>
            </a:extLst>
          </p:cNvPr>
          <p:cNvPicPr/>
          <p:nvPr/>
        </p:nvPicPr>
        <p:blipFill>
          <a:blip r:embed="rId3" cstate="print"/>
          <a:stretch>
            <a:fillRect/>
          </a:stretch>
        </p:blipFill>
        <p:spPr>
          <a:xfrm>
            <a:off x="1698740" y="3085368"/>
            <a:ext cx="5733366" cy="2393285"/>
          </a:xfrm>
          <a:prstGeom prst="rect">
            <a:avLst/>
          </a:prstGeom>
        </p:spPr>
      </p:pic>
      <p:sp>
        <p:nvSpPr>
          <p:cNvPr id="12" name="object 5">
            <a:extLst>
              <a:ext uri="{FF2B5EF4-FFF2-40B4-BE49-F238E27FC236}">
                <a16:creationId xmlns:a16="http://schemas.microsoft.com/office/drawing/2014/main" id="{C4675FBE-75BB-3C2D-CBE8-3B7C6A4B049F}"/>
              </a:ext>
            </a:extLst>
          </p:cNvPr>
          <p:cNvSpPr txBox="1"/>
          <p:nvPr/>
        </p:nvSpPr>
        <p:spPr>
          <a:xfrm>
            <a:off x="1153775" y="5623052"/>
            <a:ext cx="6692265" cy="565150"/>
          </a:xfrm>
          <a:prstGeom prst="rect">
            <a:avLst/>
          </a:prstGeom>
        </p:spPr>
        <p:txBody>
          <a:bodyPr vert="horz" wrap="square" lIns="0" tIns="28575" rIns="0" bIns="0" rtlCol="0">
            <a:spAutoFit/>
          </a:bodyPr>
          <a:lstStyle/>
          <a:p>
            <a:pPr marL="12700" marR="5080" rtl="0">
              <a:lnSpc>
                <a:spcPts val="2090"/>
              </a:lnSpc>
              <a:spcBef>
                <a:spcPts val="225"/>
              </a:spcBef>
            </a:pPr>
            <a:r>
              <a:rPr kern="1200" dirty="0">
                <a:solidFill>
                  <a:srgbClr val="0432FF"/>
                </a:solidFill>
                <a:latin typeface="Palatino Linotype"/>
                <a:cs typeface="Palatino Linotype"/>
              </a:rPr>
              <a:t>When</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there</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is</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a</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failure</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at</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line</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7,</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return</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to</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line</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1</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and</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try</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another</a:t>
            </a:r>
            <a:r>
              <a:rPr kern="1200" spc="-5" dirty="0">
                <a:solidFill>
                  <a:srgbClr val="0432FF"/>
                </a:solidFill>
                <a:latin typeface="Palatino Linotype"/>
                <a:cs typeface="Palatino Linotype"/>
              </a:rPr>
              <a:t> </a:t>
            </a:r>
            <a:r>
              <a:rPr kern="1200" spc="5" dirty="0">
                <a:solidFill>
                  <a:srgbClr val="0432FF"/>
                </a:solidFill>
                <a:latin typeface="Cambria Math"/>
                <a:cs typeface="Cambria Math"/>
              </a:rPr>
              <a:t>𝐴</a:t>
            </a:r>
            <a:r>
              <a:rPr kern="1200" spc="5" dirty="0">
                <a:solidFill>
                  <a:srgbClr val="0432FF"/>
                </a:solidFill>
                <a:latin typeface="Palatino Linotype"/>
                <a:cs typeface="Palatino Linotype"/>
              </a:rPr>
              <a:t>- </a:t>
            </a:r>
            <a:r>
              <a:rPr kern="1200" spc="-434" dirty="0">
                <a:solidFill>
                  <a:srgbClr val="0432FF"/>
                </a:solidFill>
                <a:latin typeface="Palatino Linotype"/>
                <a:cs typeface="Palatino Linotype"/>
              </a:rPr>
              <a:t> </a:t>
            </a:r>
            <a:r>
              <a:rPr kern="1200" dirty="0">
                <a:solidFill>
                  <a:srgbClr val="0432FF"/>
                </a:solidFill>
                <a:latin typeface="Palatino Linotype"/>
                <a:cs typeface="Palatino Linotype"/>
              </a:rPr>
              <a:t>production.</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37472888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52</a:t>
            </a:fld>
            <a:endParaRPr lang="en-US"/>
          </a:p>
        </p:txBody>
      </p:sp>
      <p:sp>
        <p:nvSpPr>
          <p:cNvPr id="9" name="object 2">
            <a:extLst>
              <a:ext uri="{FF2B5EF4-FFF2-40B4-BE49-F238E27FC236}">
                <a16:creationId xmlns:a16="http://schemas.microsoft.com/office/drawing/2014/main" id="{5614BCB0-DA5B-EB1C-7C18-FDF8420FDB9A}"/>
              </a:ext>
            </a:extLst>
          </p:cNvPr>
          <p:cNvSpPr txBox="1">
            <a:spLocks/>
          </p:cNvSpPr>
          <p:nvPr/>
        </p:nvSpPr>
        <p:spPr>
          <a:xfrm>
            <a:off x="707390" y="524763"/>
            <a:ext cx="455422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回溯</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0" name="object 3">
            <a:extLst>
              <a:ext uri="{FF2B5EF4-FFF2-40B4-BE49-F238E27FC236}">
                <a16:creationId xmlns:a16="http://schemas.microsoft.com/office/drawing/2014/main" id="{9902E7EE-6C2C-C77B-2E09-5194FE42403A}"/>
              </a:ext>
            </a:extLst>
          </p:cNvPr>
          <p:cNvSpPr txBox="1"/>
          <p:nvPr/>
        </p:nvSpPr>
        <p:spPr>
          <a:xfrm>
            <a:off x="707390" y="1600708"/>
            <a:ext cx="7192645" cy="1293495"/>
          </a:xfrm>
          <a:prstGeom prst="rect">
            <a:avLst/>
          </a:prstGeom>
        </p:spPr>
        <p:txBody>
          <a:bodyPr vert="horz" wrap="square" lIns="0" tIns="12700" rIns="0" bIns="0" rtlCol="0">
            <a:spAutoFit/>
          </a:bodyPr>
          <a:lstStyle/>
          <a:p>
            <a:pPr marL="242570" marR="5080" indent="-230504" rtl="0">
              <a:lnSpc>
                <a:spcPct val="117300"/>
              </a:lnSpc>
              <a:spcBef>
                <a:spcPts val="100"/>
              </a:spcBef>
              <a:buFont typeface="Arial MT"/>
              <a:buChar char="•"/>
              <a:tabLst>
                <a:tab pos="242570" algn="l"/>
                <a:tab pos="243204" algn="l"/>
              </a:tabLst>
            </a:pPr>
            <a:r>
              <a:rPr sz="2200" kern="1200" spc="-5" dirty="0">
                <a:solidFill>
                  <a:prstClr val="black"/>
                </a:solidFill>
                <a:latin typeface="Palatino Linotype"/>
                <a:cs typeface="Palatino Linotype"/>
              </a:rPr>
              <a:t>General</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recursive-descent parsing</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may</a:t>
            </a:r>
            <a:r>
              <a:rPr sz="2200" kern="1200" dirty="0">
                <a:solidFill>
                  <a:prstClr val="black"/>
                </a:solidFill>
                <a:latin typeface="Palatino Linotype"/>
                <a:cs typeface="Palatino Linotype"/>
              </a:rPr>
              <a:t> require</a:t>
            </a:r>
            <a:r>
              <a:rPr sz="2200" kern="1200" spc="-5" dirty="0">
                <a:solidFill>
                  <a:prstClr val="black"/>
                </a:solidFill>
                <a:latin typeface="Palatino Linotype"/>
                <a:cs typeface="Palatino Linotype"/>
              </a:rPr>
              <a:t> </a:t>
            </a:r>
            <a:r>
              <a:rPr sz="2200" kern="1200" spc="-5" dirty="0">
                <a:solidFill>
                  <a:srgbClr val="FF0000"/>
                </a:solidFill>
                <a:latin typeface="Palatino Linotype"/>
                <a:cs typeface="Palatino Linotype"/>
              </a:rPr>
              <a:t>repeated </a:t>
            </a:r>
            <a:r>
              <a:rPr sz="2200" kern="1200" spc="-535" dirty="0">
                <a:solidFill>
                  <a:srgbClr val="FF0000"/>
                </a:solidFill>
                <a:latin typeface="Palatino Linotype"/>
                <a:cs typeface="Palatino Linotype"/>
              </a:rPr>
              <a:t> </a:t>
            </a:r>
            <a:r>
              <a:rPr sz="2200" kern="1200" spc="-5" dirty="0">
                <a:solidFill>
                  <a:srgbClr val="FF0000"/>
                </a:solidFill>
                <a:latin typeface="Palatino Linotype"/>
                <a:cs typeface="Palatino Linotype"/>
              </a:rPr>
              <a:t>scans</a:t>
            </a:r>
            <a:r>
              <a:rPr sz="2200" kern="1200" dirty="0">
                <a:solidFill>
                  <a:srgbClr val="FF0000"/>
                </a:solidFill>
                <a:latin typeface="Palatino Linotype"/>
                <a:cs typeface="Palatino Linotype"/>
              </a:rPr>
              <a:t> </a:t>
            </a:r>
            <a:r>
              <a:rPr sz="2200" kern="1200" spc="-15" dirty="0">
                <a:solidFill>
                  <a:prstClr val="black"/>
                </a:solidFill>
                <a:latin typeface="Palatino Linotype"/>
                <a:cs typeface="Palatino Linotype"/>
              </a:rPr>
              <a:t>over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the input (</a:t>
            </a:r>
            <a:r>
              <a:rPr sz="2200" kern="1200" spc="-5" dirty="0">
                <a:solidFill>
                  <a:srgbClr val="FF0000"/>
                </a:solidFill>
                <a:latin typeface="Palatino Linotype"/>
                <a:cs typeface="Palatino Linotype"/>
              </a:rPr>
              <a:t>backtracking</a:t>
            </a:r>
            <a:r>
              <a:rPr sz="2200" kern="1200" spc="-5" dirty="0">
                <a:solidFill>
                  <a:prstClr val="black"/>
                </a:solidFill>
                <a:latin typeface="Palatino Linotype"/>
                <a:cs typeface="Palatino Linotype"/>
              </a:rPr>
              <a:t>)</a:t>
            </a:r>
            <a:endParaRPr sz="2200" kern="1200">
              <a:solidFill>
                <a:prstClr val="black"/>
              </a:solidFill>
              <a:latin typeface="Palatino Linotype"/>
              <a:cs typeface="Palatino Linotype"/>
            </a:endParaRPr>
          </a:p>
          <a:p>
            <a:pPr marL="243204" indent="-230504" rtl="0">
              <a:spcBef>
                <a:spcPts val="1150"/>
              </a:spcBef>
              <a:buFont typeface="Arial MT"/>
              <a:buChar char="•"/>
              <a:tabLst>
                <a:tab pos="242570" algn="l"/>
                <a:tab pos="243204" algn="l"/>
              </a:tabLst>
            </a:pPr>
            <a:r>
              <a:rPr sz="2200" kern="1200" spc="-80" dirty="0">
                <a:solidFill>
                  <a:prstClr val="black"/>
                </a:solidFill>
                <a:latin typeface="Palatino Linotype"/>
                <a:cs typeface="Palatino Linotype"/>
              </a:rPr>
              <a:t>To</a:t>
            </a:r>
            <a:r>
              <a:rPr sz="2200" kern="1200" spc="-5" dirty="0">
                <a:solidFill>
                  <a:prstClr val="black"/>
                </a:solidFill>
                <a:latin typeface="Palatino Linotype"/>
                <a:cs typeface="Palatino Linotype"/>
              </a:rPr>
              <a:t> allow</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backtracking,</a:t>
            </a:r>
            <a:r>
              <a:rPr sz="2200" kern="1200" dirty="0">
                <a:solidFill>
                  <a:prstClr val="black"/>
                </a:solidFill>
                <a:latin typeface="Palatino Linotype"/>
                <a:cs typeface="Palatino Linotype"/>
              </a:rPr>
              <a:t> </a:t>
            </a:r>
            <a:r>
              <a:rPr sz="2200" kern="1200" spc="-20" dirty="0">
                <a:solidFill>
                  <a:prstClr val="black"/>
                </a:solidFill>
                <a:latin typeface="Palatino Linotype"/>
                <a:cs typeface="Palatino Linotype"/>
              </a:rPr>
              <a:t>we</a:t>
            </a:r>
            <a:r>
              <a:rPr sz="2200" kern="1200" spc="-5" dirty="0">
                <a:solidFill>
                  <a:prstClr val="black"/>
                </a:solidFill>
                <a:latin typeface="Palatino Linotype"/>
                <a:cs typeface="Palatino Linotype"/>
              </a:rPr>
              <a:t> need</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to modify</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the algorithm</a:t>
            </a:r>
            <a:endParaRPr sz="2200" kern="1200">
              <a:solidFill>
                <a:prstClr val="black"/>
              </a:solidFill>
              <a:latin typeface="Palatino Linotype"/>
              <a:cs typeface="Palatino Linotype"/>
            </a:endParaRPr>
          </a:p>
        </p:txBody>
      </p:sp>
      <p:pic>
        <p:nvPicPr>
          <p:cNvPr id="11" name="object 4">
            <a:extLst>
              <a:ext uri="{FF2B5EF4-FFF2-40B4-BE49-F238E27FC236}">
                <a16:creationId xmlns:a16="http://schemas.microsoft.com/office/drawing/2014/main" id="{10A2079D-F452-4D41-CEAB-FCCE25D45CA6}"/>
              </a:ext>
            </a:extLst>
          </p:cNvPr>
          <p:cNvPicPr/>
          <p:nvPr/>
        </p:nvPicPr>
        <p:blipFill>
          <a:blip r:embed="rId3" cstate="print"/>
          <a:stretch>
            <a:fillRect/>
          </a:stretch>
        </p:blipFill>
        <p:spPr>
          <a:xfrm>
            <a:off x="1698740" y="3085368"/>
            <a:ext cx="5733366" cy="2393285"/>
          </a:xfrm>
          <a:prstGeom prst="rect">
            <a:avLst/>
          </a:prstGeom>
        </p:spPr>
      </p:pic>
      <p:sp>
        <p:nvSpPr>
          <p:cNvPr id="12" name="object 5">
            <a:extLst>
              <a:ext uri="{FF2B5EF4-FFF2-40B4-BE49-F238E27FC236}">
                <a16:creationId xmlns:a16="http://schemas.microsoft.com/office/drawing/2014/main" id="{55D15458-10D5-6DA6-47C8-71A0030E04C1}"/>
              </a:ext>
            </a:extLst>
          </p:cNvPr>
          <p:cNvSpPr txBox="1"/>
          <p:nvPr/>
        </p:nvSpPr>
        <p:spPr>
          <a:xfrm>
            <a:off x="1153775" y="5623052"/>
            <a:ext cx="7012305" cy="565150"/>
          </a:xfrm>
          <a:prstGeom prst="rect">
            <a:avLst/>
          </a:prstGeom>
        </p:spPr>
        <p:txBody>
          <a:bodyPr vert="horz" wrap="square" lIns="0" tIns="28575" rIns="0" bIns="0" rtlCol="0">
            <a:spAutoFit/>
          </a:bodyPr>
          <a:lstStyle/>
          <a:p>
            <a:pPr marL="12700" marR="5080" rtl="0">
              <a:lnSpc>
                <a:spcPts val="2090"/>
              </a:lnSpc>
              <a:spcBef>
                <a:spcPts val="225"/>
              </a:spcBef>
            </a:pPr>
            <a:r>
              <a:rPr kern="1200" dirty="0">
                <a:solidFill>
                  <a:srgbClr val="0432FF"/>
                </a:solidFill>
                <a:latin typeface="Palatino Linotype"/>
                <a:cs typeface="Palatino Linotype"/>
              </a:rPr>
              <a:t>In order to try another </a:t>
            </a:r>
            <a:r>
              <a:rPr kern="1200" dirty="0">
                <a:solidFill>
                  <a:srgbClr val="0432FF"/>
                </a:solidFill>
                <a:latin typeface="Cambria Math"/>
                <a:cs typeface="Cambria Math"/>
              </a:rPr>
              <a:t>𝐴</a:t>
            </a:r>
            <a:r>
              <a:rPr kern="1200" dirty="0">
                <a:solidFill>
                  <a:srgbClr val="0432FF"/>
                </a:solidFill>
                <a:latin typeface="Palatino Linotype"/>
                <a:cs typeface="Palatino Linotype"/>
              </a:rPr>
              <a:t>-production, </a:t>
            </a:r>
            <a:r>
              <a:rPr kern="1200" spc="-20" dirty="0">
                <a:solidFill>
                  <a:srgbClr val="0432FF"/>
                </a:solidFill>
                <a:latin typeface="Palatino Linotype"/>
                <a:cs typeface="Palatino Linotype"/>
              </a:rPr>
              <a:t>we </a:t>
            </a:r>
            <a:r>
              <a:rPr kern="1200" spc="-5" dirty="0">
                <a:solidFill>
                  <a:srgbClr val="0432FF"/>
                </a:solidFill>
                <a:latin typeface="Palatino Linotype"/>
                <a:cs typeface="Palatino Linotype"/>
              </a:rPr>
              <a:t>must reset </a:t>
            </a:r>
            <a:r>
              <a:rPr kern="1200" dirty="0">
                <a:solidFill>
                  <a:srgbClr val="0432FF"/>
                </a:solidFill>
                <a:latin typeface="Palatino Linotype"/>
                <a:cs typeface="Palatino Linotype"/>
              </a:rPr>
              <a:t>the input pointer </a:t>
            </a:r>
            <a:r>
              <a:rPr kern="1200" spc="-434" dirty="0">
                <a:solidFill>
                  <a:srgbClr val="0432FF"/>
                </a:solidFill>
                <a:latin typeface="Palatino Linotype"/>
                <a:cs typeface="Palatino Linotype"/>
              </a:rPr>
              <a:t> </a:t>
            </a:r>
            <a:r>
              <a:rPr kern="1200" dirty="0">
                <a:solidFill>
                  <a:srgbClr val="0432FF"/>
                </a:solidFill>
                <a:latin typeface="Palatino Linotype"/>
                <a:cs typeface="Palatino Linotype"/>
              </a:rPr>
              <a:t>that</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points</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to the </a:t>
            </a:r>
            <a:r>
              <a:rPr kern="1200" spc="-5" dirty="0">
                <a:solidFill>
                  <a:srgbClr val="0432FF"/>
                </a:solidFill>
                <a:latin typeface="Palatino Linotype"/>
                <a:cs typeface="Palatino Linotype"/>
              </a:rPr>
              <a:t>next</a:t>
            </a:r>
            <a:r>
              <a:rPr kern="1200" dirty="0">
                <a:solidFill>
                  <a:srgbClr val="0432FF"/>
                </a:solidFill>
                <a:latin typeface="Palatino Linotype"/>
                <a:cs typeface="Palatino Linotype"/>
              </a:rPr>
              <a:t> </a:t>
            </a:r>
            <a:r>
              <a:rPr kern="1200" spc="-5" dirty="0">
                <a:solidFill>
                  <a:srgbClr val="0432FF"/>
                </a:solidFill>
                <a:latin typeface="Palatino Linotype"/>
                <a:cs typeface="Palatino Linotype"/>
              </a:rPr>
              <a:t>symbol</a:t>
            </a:r>
            <a:r>
              <a:rPr kern="1200" dirty="0">
                <a:solidFill>
                  <a:srgbClr val="0432FF"/>
                </a:solidFill>
                <a:latin typeface="Palatino Linotype"/>
                <a:cs typeface="Palatino Linotype"/>
              </a:rPr>
              <a:t> to </a:t>
            </a:r>
            <a:r>
              <a:rPr kern="1200" spc="-5" dirty="0">
                <a:solidFill>
                  <a:srgbClr val="0432FF"/>
                </a:solidFill>
                <a:latin typeface="Palatino Linotype"/>
                <a:cs typeface="Palatino Linotype"/>
              </a:rPr>
              <a:t>scan</a:t>
            </a:r>
            <a:r>
              <a:rPr kern="1200" dirty="0">
                <a:solidFill>
                  <a:srgbClr val="0432FF"/>
                </a:solidFill>
                <a:latin typeface="Palatino Linotype"/>
                <a:cs typeface="Palatino Linotype"/>
              </a:rPr>
              <a:t> (</a:t>
            </a:r>
            <a:r>
              <a:rPr kern="1200" dirty="0">
                <a:solidFill>
                  <a:srgbClr val="FF0000"/>
                </a:solidFill>
                <a:latin typeface="Palatino Linotype"/>
                <a:cs typeface="Palatino Linotype"/>
              </a:rPr>
              <a:t>failed trials</a:t>
            </a:r>
            <a:r>
              <a:rPr kern="1200" spc="-5" dirty="0">
                <a:solidFill>
                  <a:srgbClr val="FF0000"/>
                </a:solidFill>
                <a:latin typeface="Palatino Linotype"/>
                <a:cs typeface="Palatino Linotype"/>
              </a:rPr>
              <a:t> consume</a:t>
            </a:r>
            <a:r>
              <a:rPr kern="1200" dirty="0">
                <a:solidFill>
                  <a:srgbClr val="FF0000"/>
                </a:solidFill>
                <a:latin typeface="Palatino Linotype"/>
                <a:cs typeface="Palatino Linotype"/>
              </a:rPr>
              <a:t> </a:t>
            </a:r>
            <a:r>
              <a:rPr kern="1200" spc="-5" dirty="0">
                <a:solidFill>
                  <a:srgbClr val="FF0000"/>
                </a:solidFill>
                <a:latin typeface="Palatino Linotype"/>
                <a:cs typeface="Palatino Linotype"/>
              </a:rPr>
              <a:t>symbols</a:t>
            </a:r>
            <a:r>
              <a:rPr kern="1200" spc="-5" dirty="0">
                <a:solidFill>
                  <a:srgbClr val="0432FF"/>
                </a:solidFill>
                <a:latin typeface="Palatino Linotype"/>
                <a:cs typeface="Palatino Linotype"/>
              </a:rPr>
              <a:t>)</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19844559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53</a:t>
            </a:fld>
            <a:endParaRPr lang="en-US"/>
          </a:p>
        </p:txBody>
      </p:sp>
      <p:sp>
        <p:nvSpPr>
          <p:cNvPr id="21" name="object 2">
            <a:extLst>
              <a:ext uri="{FF2B5EF4-FFF2-40B4-BE49-F238E27FC236}">
                <a16:creationId xmlns:a16="http://schemas.microsoft.com/office/drawing/2014/main" id="{684235F7-F1AB-0587-9B40-497DBBD311C8}"/>
              </a:ext>
            </a:extLst>
          </p:cNvPr>
          <p:cNvSpPr txBox="1">
            <a:spLocks/>
          </p:cNvSpPr>
          <p:nvPr/>
        </p:nvSpPr>
        <p:spPr>
          <a:xfrm>
            <a:off x="707390" y="524763"/>
            <a:ext cx="51974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2" name="object 3">
            <a:extLst>
              <a:ext uri="{FF2B5EF4-FFF2-40B4-BE49-F238E27FC236}">
                <a16:creationId xmlns:a16="http://schemas.microsoft.com/office/drawing/2014/main" id="{CC4FD36C-CB61-CDBE-477F-33AE15D25E92}"/>
              </a:ext>
            </a:extLst>
          </p:cNvPr>
          <p:cNvSpPr txBox="1"/>
          <p:nvPr/>
        </p:nvSpPr>
        <p:spPr>
          <a:xfrm>
            <a:off x="707390" y="1498091"/>
            <a:ext cx="4777740" cy="1141095"/>
          </a:xfrm>
          <a:prstGeom prst="rect">
            <a:avLst/>
          </a:prstGeom>
        </p:spPr>
        <p:txBody>
          <a:bodyPr vert="horz" wrap="square" lIns="0" tIns="173990" rIns="0" bIns="0" rtlCol="0">
            <a:spAutoFit/>
          </a:bodyPr>
          <a:lstStyle/>
          <a:p>
            <a:pPr marL="243204" indent="-230504" rtl="0">
              <a:spcBef>
                <a:spcPts val="1370"/>
              </a:spcBef>
              <a:buClr>
                <a:srgbClr val="000000"/>
              </a:buClr>
              <a:buFont typeface="Arial MT"/>
              <a:buChar char="•"/>
              <a:tabLst>
                <a:tab pos="243204" algn="l"/>
                <a:tab pos="3288029" algn="l"/>
              </a:tabLst>
            </a:pPr>
            <a:r>
              <a:rPr sz="2600" kern="1200" spc="-5" dirty="0">
                <a:solidFill>
                  <a:srgbClr val="0432FF"/>
                </a:solidFill>
                <a:latin typeface="Palatino Linotype"/>
                <a:cs typeface="Palatino Linotype"/>
              </a:rPr>
              <a:t>Grammar:</a:t>
            </a:r>
            <a:r>
              <a:rPr sz="2600" kern="1200" dirty="0">
                <a:solidFill>
                  <a:srgbClr val="0432FF"/>
                </a:solidFill>
                <a:latin typeface="Palatino Linotype"/>
                <a:cs typeface="Palatino Linotype"/>
              </a:rPr>
              <a:t> </a:t>
            </a:r>
            <a:r>
              <a:rPr sz="2600" kern="1200" dirty="0">
                <a:solidFill>
                  <a:prstClr val="black"/>
                </a:solidFill>
                <a:latin typeface="Cambria Math"/>
                <a:cs typeface="Cambria Math"/>
              </a:rPr>
              <a:t>𝑆</a:t>
            </a:r>
            <a:r>
              <a:rPr sz="2600" kern="1200" spc="204"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50" dirty="0">
                <a:solidFill>
                  <a:prstClr val="black"/>
                </a:solidFill>
                <a:latin typeface="Cambria Math"/>
                <a:cs typeface="Cambria Math"/>
              </a:rPr>
              <a:t> </a:t>
            </a:r>
            <a:r>
              <a:rPr sz="2600" kern="1200" dirty="0">
                <a:solidFill>
                  <a:prstClr val="black"/>
                </a:solidFill>
                <a:latin typeface="Cambria Math"/>
                <a:cs typeface="Cambria Math"/>
              </a:rPr>
              <a:t>𝑐𝐴𝑑	𝐴</a:t>
            </a:r>
            <a:r>
              <a:rPr sz="2600" kern="1200" spc="14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20" dirty="0">
                <a:solidFill>
                  <a:prstClr val="black"/>
                </a:solidFill>
                <a:latin typeface="Cambria Math"/>
                <a:cs typeface="Cambria Math"/>
              </a:rPr>
              <a:t> </a:t>
            </a:r>
            <a:r>
              <a:rPr sz="2600" kern="1200" dirty="0">
                <a:solidFill>
                  <a:prstClr val="black"/>
                </a:solidFill>
                <a:latin typeface="Cambria Math"/>
                <a:cs typeface="Cambria Math"/>
              </a:rPr>
              <a:t>𝑎𝑏</a:t>
            </a:r>
            <a:r>
              <a:rPr sz="2600" kern="1200" spc="3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25" dirty="0">
                <a:solidFill>
                  <a:prstClr val="black"/>
                </a:solidFill>
                <a:latin typeface="Cambria Math"/>
                <a:cs typeface="Cambria Math"/>
              </a:rPr>
              <a:t> </a:t>
            </a:r>
            <a:r>
              <a:rPr sz="2600" kern="1200" dirty="0">
                <a:solidFill>
                  <a:prstClr val="black"/>
                </a:solidFill>
                <a:latin typeface="Cambria Math"/>
                <a:cs typeface="Cambria Math"/>
              </a:rPr>
              <a:t>𝑎</a:t>
            </a:r>
            <a:endParaRPr sz="2600" kern="1200">
              <a:solidFill>
                <a:prstClr val="black"/>
              </a:solidFill>
              <a:latin typeface="Cambria Math"/>
              <a:cs typeface="Cambria Math"/>
            </a:endParaRPr>
          </a:p>
          <a:p>
            <a:pPr marL="243204" indent="-230504" rtl="0">
              <a:spcBef>
                <a:spcPts val="1275"/>
              </a:spcBef>
              <a:buClr>
                <a:srgbClr val="000000"/>
              </a:buClr>
              <a:buFont typeface="Arial MT"/>
              <a:buChar char="•"/>
              <a:tabLst>
                <a:tab pos="243204" algn="l"/>
              </a:tabLst>
            </a:pPr>
            <a:r>
              <a:rPr sz="2600" kern="1200" spc="-5" dirty="0">
                <a:solidFill>
                  <a:srgbClr val="0432FF"/>
                </a:solidFill>
                <a:latin typeface="Palatino Linotype"/>
                <a:cs typeface="Palatino Linotype"/>
              </a:rPr>
              <a:t>Input</a:t>
            </a:r>
            <a:r>
              <a:rPr sz="2600" kern="1200" spc="-25" dirty="0">
                <a:solidFill>
                  <a:srgbClr val="0432FF"/>
                </a:solidFill>
                <a:latin typeface="Palatino Linotype"/>
                <a:cs typeface="Palatino Linotype"/>
              </a:rPr>
              <a:t> </a:t>
            </a:r>
            <a:r>
              <a:rPr sz="2600" kern="1200" spc="-5" dirty="0">
                <a:solidFill>
                  <a:srgbClr val="0432FF"/>
                </a:solidFill>
                <a:latin typeface="Palatino Linotype"/>
                <a:cs typeface="Palatino Linotype"/>
              </a:rPr>
              <a:t>string:</a:t>
            </a:r>
            <a:r>
              <a:rPr sz="2600" kern="1200" spc="-20" dirty="0">
                <a:solidFill>
                  <a:srgbClr val="0432FF"/>
                </a:solidFill>
                <a:latin typeface="Palatino Linotype"/>
                <a:cs typeface="Palatino Linotype"/>
              </a:rPr>
              <a:t> </a:t>
            </a:r>
            <a:r>
              <a:rPr sz="2600" kern="1200" dirty="0">
                <a:solidFill>
                  <a:prstClr val="black"/>
                </a:solidFill>
                <a:latin typeface="Cambria Math"/>
                <a:cs typeface="Cambria Math"/>
              </a:rPr>
              <a:t>𝑐𝑎𝑑</a:t>
            </a:r>
            <a:endParaRPr sz="2600" kern="1200">
              <a:solidFill>
                <a:prstClr val="black"/>
              </a:solidFill>
              <a:latin typeface="Cambria Math"/>
              <a:cs typeface="Cambria Math"/>
            </a:endParaRPr>
          </a:p>
        </p:txBody>
      </p:sp>
      <p:grpSp>
        <p:nvGrpSpPr>
          <p:cNvPr id="23" name="object 4">
            <a:extLst>
              <a:ext uri="{FF2B5EF4-FFF2-40B4-BE49-F238E27FC236}">
                <a16:creationId xmlns:a16="http://schemas.microsoft.com/office/drawing/2014/main" id="{47A33C66-70A4-CE2D-82B4-491609D39584}"/>
              </a:ext>
            </a:extLst>
          </p:cNvPr>
          <p:cNvGrpSpPr/>
          <p:nvPr/>
        </p:nvGrpSpPr>
        <p:grpSpPr>
          <a:xfrm>
            <a:off x="724243" y="3534558"/>
            <a:ext cx="3230245" cy="408940"/>
            <a:chOff x="724243" y="3534558"/>
            <a:chExt cx="3230245" cy="408940"/>
          </a:xfrm>
        </p:grpSpPr>
        <p:sp>
          <p:nvSpPr>
            <p:cNvPr id="24" name="object 5">
              <a:extLst>
                <a:ext uri="{FF2B5EF4-FFF2-40B4-BE49-F238E27FC236}">
                  <a16:creationId xmlns:a16="http://schemas.microsoft.com/office/drawing/2014/main" id="{739642DC-9815-3B68-EC12-93BA1B210F1B}"/>
                </a:ext>
              </a:extLst>
            </p:cNvPr>
            <p:cNvSpPr/>
            <p:nvPr/>
          </p:nvSpPr>
          <p:spPr>
            <a:xfrm>
              <a:off x="749643" y="3547258"/>
              <a:ext cx="1059815" cy="370840"/>
            </a:xfrm>
            <a:custGeom>
              <a:avLst/>
              <a:gdLst/>
              <a:ahLst/>
              <a:cxnLst/>
              <a:rect l="l" t="t" r="r" b="b"/>
              <a:pathLst>
                <a:path w="1059814" h="370839">
                  <a:moveTo>
                    <a:pt x="1059762" y="0"/>
                  </a:moveTo>
                  <a:lnTo>
                    <a:pt x="0" y="0"/>
                  </a:lnTo>
                  <a:lnTo>
                    <a:pt x="0" y="370840"/>
                  </a:lnTo>
                  <a:lnTo>
                    <a:pt x="1059762" y="370840"/>
                  </a:lnTo>
                  <a:lnTo>
                    <a:pt x="1059762" y="0"/>
                  </a:lnTo>
                  <a:close/>
                </a:path>
              </a:pathLst>
            </a:custGeom>
            <a:solidFill>
              <a:srgbClr val="4472C4"/>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6">
              <a:extLst>
                <a:ext uri="{FF2B5EF4-FFF2-40B4-BE49-F238E27FC236}">
                  <a16:creationId xmlns:a16="http://schemas.microsoft.com/office/drawing/2014/main" id="{60738E24-FBA3-8852-557F-F20119B5EE75}"/>
                </a:ext>
              </a:extLst>
            </p:cNvPr>
            <p:cNvSpPr/>
            <p:nvPr/>
          </p:nvSpPr>
          <p:spPr>
            <a:xfrm>
              <a:off x="743293" y="3540908"/>
              <a:ext cx="3192145" cy="396240"/>
            </a:xfrm>
            <a:custGeom>
              <a:avLst/>
              <a:gdLst/>
              <a:ahLst/>
              <a:cxnLst/>
              <a:rect l="l" t="t" r="r" b="b"/>
              <a:pathLst>
                <a:path w="3192145" h="396239">
                  <a:moveTo>
                    <a:pt x="1066113" y="0"/>
                  </a:moveTo>
                  <a:lnTo>
                    <a:pt x="1066113" y="396240"/>
                  </a:lnTo>
                </a:path>
                <a:path w="3192145" h="396239">
                  <a:moveTo>
                    <a:pt x="6350" y="0"/>
                  </a:moveTo>
                  <a:lnTo>
                    <a:pt x="6350" y="396240"/>
                  </a:lnTo>
                </a:path>
                <a:path w="3192145" h="396239">
                  <a:moveTo>
                    <a:pt x="2125876" y="0"/>
                  </a:moveTo>
                  <a:lnTo>
                    <a:pt x="2125876" y="396240"/>
                  </a:lnTo>
                </a:path>
                <a:path w="3192145" h="396239">
                  <a:moveTo>
                    <a:pt x="3185639" y="0"/>
                  </a:moveTo>
                  <a:lnTo>
                    <a:pt x="3185639" y="396240"/>
                  </a:lnTo>
                </a:path>
                <a:path w="3192145" h="396239">
                  <a:moveTo>
                    <a:pt x="0" y="6350"/>
                  </a:moveTo>
                  <a:lnTo>
                    <a:pt x="3191989" y="6350"/>
                  </a:lnTo>
                </a:path>
              </a:pathLst>
            </a:custGeom>
            <a:ln w="127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7">
              <a:extLst>
                <a:ext uri="{FF2B5EF4-FFF2-40B4-BE49-F238E27FC236}">
                  <a16:creationId xmlns:a16="http://schemas.microsoft.com/office/drawing/2014/main" id="{735A08B6-C785-74AE-4132-14F0092C1621}"/>
                </a:ext>
              </a:extLst>
            </p:cNvPr>
            <p:cNvSpPr/>
            <p:nvPr/>
          </p:nvSpPr>
          <p:spPr>
            <a:xfrm>
              <a:off x="743293" y="3918098"/>
              <a:ext cx="3192145" cy="0"/>
            </a:xfrm>
            <a:custGeom>
              <a:avLst/>
              <a:gdLst/>
              <a:ahLst/>
              <a:cxnLst/>
              <a:rect l="l" t="t" r="r" b="b"/>
              <a:pathLst>
                <a:path w="3192145">
                  <a:moveTo>
                    <a:pt x="0" y="0"/>
                  </a:moveTo>
                  <a:lnTo>
                    <a:pt x="3191989" y="0"/>
                  </a:lnTo>
                </a:path>
              </a:pathLst>
            </a:custGeom>
            <a:ln w="381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7" name="object 8">
            <a:extLst>
              <a:ext uri="{FF2B5EF4-FFF2-40B4-BE49-F238E27FC236}">
                <a16:creationId xmlns:a16="http://schemas.microsoft.com/office/drawing/2014/main" id="{EBFB99A9-2AC6-D99C-A577-FAC13043349B}"/>
              </a:ext>
            </a:extLst>
          </p:cNvPr>
          <p:cNvSpPr txBox="1"/>
          <p:nvPr/>
        </p:nvSpPr>
        <p:spPr>
          <a:xfrm>
            <a:off x="755993" y="3568700"/>
            <a:ext cx="1047115" cy="299720"/>
          </a:xfrm>
          <a:prstGeom prst="rect">
            <a:avLst/>
          </a:prstGeom>
        </p:spPr>
        <p:txBody>
          <a:bodyPr vert="horz" wrap="square" lIns="0" tIns="12700" rIns="0" bIns="0" rtlCol="0">
            <a:spAutoFit/>
          </a:bodyPr>
          <a:lstStyle/>
          <a:p>
            <a:pPr algn="ctr" rtl="0">
              <a:spcBef>
                <a:spcPts val="100"/>
              </a:spcBef>
            </a:pPr>
            <a:r>
              <a:rPr kern="1200" dirty="0">
                <a:solidFill>
                  <a:srgbClr val="FFFFFF"/>
                </a:solidFill>
                <a:latin typeface="Cambria Math"/>
                <a:cs typeface="Cambria Math"/>
              </a:rPr>
              <a:t>𝑐</a:t>
            </a:r>
            <a:endParaRPr kern="1200">
              <a:solidFill>
                <a:prstClr val="black"/>
              </a:solidFill>
              <a:latin typeface="Cambria Math"/>
              <a:cs typeface="Cambria Math"/>
            </a:endParaRPr>
          </a:p>
        </p:txBody>
      </p:sp>
      <p:sp>
        <p:nvSpPr>
          <p:cNvPr id="28" name="object 9">
            <a:extLst>
              <a:ext uri="{FF2B5EF4-FFF2-40B4-BE49-F238E27FC236}">
                <a16:creationId xmlns:a16="http://schemas.microsoft.com/office/drawing/2014/main" id="{C8061DB1-F5CC-FEA8-ABEC-D4B7E3815244}"/>
              </a:ext>
            </a:extLst>
          </p:cNvPr>
          <p:cNvSpPr txBox="1"/>
          <p:nvPr/>
        </p:nvSpPr>
        <p:spPr>
          <a:xfrm>
            <a:off x="1815756"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𝑎</a:t>
            </a:r>
            <a:endParaRPr kern="1200">
              <a:solidFill>
                <a:prstClr val="black"/>
              </a:solidFill>
              <a:latin typeface="Cambria Math"/>
              <a:cs typeface="Cambria Math"/>
            </a:endParaRPr>
          </a:p>
        </p:txBody>
      </p:sp>
      <p:sp>
        <p:nvSpPr>
          <p:cNvPr id="29" name="object 10">
            <a:extLst>
              <a:ext uri="{FF2B5EF4-FFF2-40B4-BE49-F238E27FC236}">
                <a16:creationId xmlns:a16="http://schemas.microsoft.com/office/drawing/2014/main" id="{9795ADB6-4E07-00F8-7062-FF84B61A958C}"/>
              </a:ext>
            </a:extLst>
          </p:cNvPr>
          <p:cNvSpPr txBox="1"/>
          <p:nvPr/>
        </p:nvSpPr>
        <p:spPr>
          <a:xfrm>
            <a:off x="2875519"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𝑑</a:t>
            </a:r>
            <a:endParaRPr kern="1200">
              <a:solidFill>
                <a:prstClr val="black"/>
              </a:solidFill>
              <a:latin typeface="Cambria Math"/>
              <a:cs typeface="Cambria Math"/>
            </a:endParaRPr>
          </a:p>
        </p:txBody>
      </p:sp>
      <p:sp>
        <p:nvSpPr>
          <p:cNvPr id="30" name="object 11">
            <a:extLst>
              <a:ext uri="{FF2B5EF4-FFF2-40B4-BE49-F238E27FC236}">
                <a16:creationId xmlns:a16="http://schemas.microsoft.com/office/drawing/2014/main" id="{DAB8CBC8-DC71-9260-B14F-48D3B2FECA65}"/>
              </a:ext>
            </a:extLst>
          </p:cNvPr>
          <p:cNvSpPr/>
          <p:nvPr/>
        </p:nvSpPr>
        <p:spPr>
          <a:xfrm>
            <a:off x="2304326" y="3995320"/>
            <a:ext cx="103505" cy="511175"/>
          </a:xfrm>
          <a:custGeom>
            <a:avLst/>
            <a:gdLst/>
            <a:ahLst/>
            <a:cxnLst/>
            <a:rect l="l" t="t" r="r" b="b"/>
            <a:pathLst>
              <a:path w="103505" h="511175">
                <a:moveTo>
                  <a:pt x="51701" y="25205"/>
                </a:moveTo>
                <a:lnTo>
                  <a:pt x="45351" y="36091"/>
                </a:lnTo>
                <a:lnTo>
                  <a:pt x="45352" y="510776"/>
                </a:lnTo>
                <a:lnTo>
                  <a:pt x="58052" y="510776"/>
                </a:lnTo>
                <a:lnTo>
                  <a:pt x="58051" y="36091"/>
                </a:lnTo>
                <a:lnTo>
                  <a:pt x="51701" y="25205"/>
                </a:lnTo>
                <a:close/>
              </a:path>
              <a:path w="103505" h="511175">
                <a:moveTo>
                  <a:pt x="51701" y="0"/>
                </a:moveTo>
                <a:lnTo>
                  <a:pt x="0" y="88633"/>
                </a:lnTo>
                <a:lnTo>
                  <a:pt x="1023" y="92520"/>
                </a:lnTo>
                <a:lnTo>
                  <a:pt x="7081" y="96055"/>
                </a:lnTo>
                <a:lnTo>
                  <a:pt x="10970" y="95031"/>
                </a:lnTo>
                <a:lnTo>
                  <a:pt x="45351" y="36091"/>
                </a:lnTo>
                <a:lnTo>
                  <a:pt x="45351" y="12602"/>
                </a:lnTo>
                <a:lnTo>
                  <a:pt x="59052" y="12602"/>
                </a:lnTo>
                <a:lnTo>
                  <a:pt x="51701" y="0"/>
                </a:lnTo>
                <a:close/>
              </a:path>
              <a:path w="103505" h="511175">
                <a:moveTo>
                  <a:pt x="59052" y="12602"/>
                </a:moveTo>
                <a:lnTo>
                  <a:pt x="58051" y="12602"/>
                </a:lnTo>
                <a:lnTo>
                  <a:pt x="58051" y="36091"/>
                </a:lnTo>
                <a:lnTo>
                  <a:pt x="92434" y="95031"/>
                </a:lnTo>
                <a:lnTo>
                  <a:pt x="96321" y="96055"/>
                </a:lnTo>
                <a:lnTo>
                  <a:pt x="102381" y="92520"/>
                </a:lnTo>
                <a:lnTo>
                  <a:pt x="103403" y="88632"/>
                </a:lnTo>
                <a:lnTo>
                  <a:pt x="59052" y="12602"/>
                </a:lnTo>
                <a:close/>
              </a:path>
              <a:path w="103505" h="511175">
                <a:moveTo>
                  <a:pt x="58051" y="12602"/>
                </a:moveTo>
                <a:lnTo>
                  <a:pt x="45351" y="12602"/>
                </a:lnTo>
                <a:lnTo>
                  <a:pt x="45351" y="36091"/>
                </a:lnTo>
                <a:lnTo>
                  <a:pt x="51701" y="25205"/>
                </a:lnTo>
                <a:lnTo>
                  <a:pt x="46216" y="15802"/>
                </a:lnTo>
                <a:lnTo>
                  <a:pt x="58051" y="15802"/>
                </a:lnTo>
                <a:lnTo>
                  <a:pt x="58051" y="12602"/>
                </a:lnTo>
                <a:close/>
              </a:path>
              <a:path w="103505" h="511175">
                <a:moveTo>
                  <a:pt x="58051" y="15802"/>
                </a:moveTo>
                <a:lnTo>
                  <a:pt x="57186" y="15802"/>
                </a:lnTo>
                <a:lnTo>
                  <a:pt x="51701" y="25205"/>
                </a:lnTo>
                <a:lnTo>
                  <a:pt x="58051" y="36091"/>
                </a:lnTo>
                <a:lnTo>
                  <a:pt x="58051" y="15802"/>
                </a:lnTo>
                <a:close/>
              </a:path>
              <a:path w="103505" h="511175">
                <a:moveTo>
                  <a:pt x="57186" y="15802"/>
                </a:moveTo>
                <a:lnTo>
                  <a:pt x="46216" y="15802"/>
                </a:lnTo>
                <a:lnTo>
                  <a:pt x="51701" y="25205"/>
                </a:lnTo>
                <a:lnTo>
                  <a:pt x="57186" y="15802"/>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12">
            <a:extLst>
              <a:ext uri="{FF2B5EF4-FFF2-40B4-BE49-F238E27FC236}">
                <a16:creationId xmlns:a16="http://schemas.microsoft.com/office/drawing/2014/main" id="{9B441880-AF9C-713C-6627-13865D7C168C}"/>
              </a:ext>
            </a:extLst>
          </p:cNvPr>
          <p:cNvSpPr txBox="1"/>
          <p:nvPr/>
        </p:nvSpPr>
        <p:spPr>
          <a:xfrm>
            <a:off x="2434767" y="4260595"/>
            <a:ext cx="1371600"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Palatino Linotype"/>
                <a:cs typeface="Palatino Linotype"/>
              </a:rPr>
              <a:t>input</a:t>
            </a:r>
            <a:r>
              <a:rPr kern="1200" spc="-75" dirty="0">
                <a:solidFill>
                  <a:srgbClr val="FF0000"/>
                </a:solidFill>
                <a:latin typeface="Palatino Linotype"/>
                <a:cs typeface="Palatino Linotype"/>
              </a:rPr>
              <a:t> </a:t>
            </a:r>
            <a:r>
              <a:rPr kern="1200" dirty="0">
                <a:solidFill>
                  <a:srgbClr val="FF0000"/>
                </a:solidFill>
                <a:latin typeface="Palatino Linotype"/>
                <a:cs typeface="Palatino Linotype"/>
              </a:rPr>
              <a:t>pointer</a:t>
            </a:r>
            <a:endParaRPr kern="1200">
              <a:solidFill>
                <a:prstClr val="black"/>
              </a:solidFill>
              <a:latin typeface="Palatino Linotype"/>
              <a:cs typeface="Palatino Linotype"/>
            </a:endParaRPr>
          </a:p>
        </p:txBody>
      </p:sp>
      <p:sp>
        <p:nvSpPr>
          <p:cNvPr id="32" name="object 13">
            <a:extLst>
              <a:ext uri="{FF2B5EF4-FFF2-40B4-BE49-F238E27FC236}">
                <a16:creationId xmlns:a16="http://schemas.microsoft.com/office/drawing/2014/main" id="{7E86299D-A2F9-23D6-EFD6-C19485EF3224}"/>
              </a:ext>
            </a:extLst>
          </p:cNvPr>
          <p:cNvSpPr txBox="1"/>
          <p:nvPr/>
        </p:nvSpPr>
        <p:spPr>
          <a:xfrm>
            <a:off x="4238848" y="3092196"/>
            <a:ext cx="4380865" cy="635000"/>
          </a:xfrm>
          <a:prstGeom prst="rect">
            <a:avLst/>
          </a:prstGeom>
        </p:spPr>
        <p:txBody>
          <a:bodyPr vert="horz" wrap="square" lIns="0" tIns="12700" rIns="0" bIns="0" rtlCol="0">
            <a:spAutoFit/>
          </a:bodyPr>
          <a:lstStyle/>
          <a:p>
            <a:pPr marL="355600" indent="-342900" rtl="0">
              <a:spcBef>
                <a:spcPts val="100"/>
              </a:spcBef>
              <a:buFont typeface="Cambria Math"/>
              <a:buChar char="⎯"/>
              <a:tabLst>
                <a:tab pos="354965" algn="l"/>
                <a:tab pos="355600" algn="l"/>
              </a:tabLst>
            </a:pPr>
            <a:r>
              <a:rPr sz="2000" kern="1200" spc="-5" dirty="0">
                <a:solidFill>
                  <a:srgbClr val="0432FF"/>
                </a:solidFill>
                <a:latin typeface="Palatino Linotype"/>
                <a:cs typeface="Palatino Linotype"/>
              </a:rPr>
              <a:t>The</a:t>
            </a:r>
            <a:r>
              <a:rPr sz="2000" kern="1200" spc="-10" dirty="0">
                <a:solidFill>
                  <a:srgbClr val="0432FF"/>
                </a:solidFill>
                <a:latin typeface="Palatino Linotype"/>
                <a:cs typeface="Palatino Linotype"/>
              </a:rPr>
              <a:t> </a:t>
            </a:r>
            <a:r>
              <a:rPr sz="2000" kern="1200" spc="-5" dirty="0">
                <a:solidFill>
                  <a:srgbClr val="0432FF"/>
                </a:solidFill>
                <a:latin typeface="Palatino Linotype"/>
                <a:cs typeface="Palatino Linotype"/>
              </a:rPr>
              <a:t>leftmost</a:t>
            </a:r>
            <a:r>
              <a:rPr sz="2000" kern="1200" spc="-10" dirty="0">
                <a:solidFill>
                  <a:srgbClr val="0432FF"/>
                </a:solidFill>
                <a:latin typeface="Palatino Linotype"/>
                <a:cs typeface="Palatino Linotype"/>
              </a:rPr>
              <a:t> </a:t>
            </a:r>
            <a:r>
              <a:rPr sz="2000" kern="1200" dirty="0">
                <a:solidFill>
                  <a:srgbClr val="0432FF"/>
                </a:solidFill>
                <a:latin typeface="Palatino Linotype"/>
                <a:cs typeface="Palatino Linotype"/>
              </a:rPr>
              <a:t>leaf</a:t>
            </a:r>
            <a:r>
              <a:rPr sz="2000" kern="1200" spc="-10" dirty="0">
                <a:solidFill>
                  <a:srgbClr val="0432FF"/>
                </a:solidFill>
                <a:latin typeface="Palatino Linotype"/>
                <a:cs typeface="Palatino Linotype"/>
              </a:rPr>
              <a:t> </a:t>
            </a:r>
            <a:r>
              <a:rPr sz="2000" kern="1200" spc="-5" dirty="0">
                <a:solidFill>
                  <a:srgbClr val="0432FF"/>
                </a:solidFill>
                <a:latin typeface="Palatino Linotype"/>
                <a:cs typeface="Palatino Linotype"/>
              </a:rPr>
              <a:t>matches </a:t>
            </a:r>
            <a:r>
              <a:rPr sz="2000" kern="1200" dirty="0">
                <a:solidFill>
                  <a:srgbClr val="0432FF"/>
                </a:solidFill>
                <a:latin typeface="Cambria Math"/>
                <a:cs typeface="Cambria Math"/>
              </a:rPr>
              <a:t>𝑐</a:t>
            </a:r>
            <a:r>
              <a:rPr sz="2000" kern="1200" spc="120" dirty="0">
                <a:solidFill>
                  <a:srgbClr val="0432FF"/>
                </a:solidFill>
                <a:latin typeface="Cambria Math"/>
                <a:cs typeface="Cambria Math"/>
              </a:rPr>
              <a:t> </a:t>
            </a:r>
            <a:r>
              <a:rPr sz="2000" kern="1200" dirty="0">
                <a:solidFill>
                  <a:srgbClr val="0432FF"/>
                </a:solidFill>
                <a:latin typeface="Palatino Linotype"/>
                <a:cs typeface="Palatino Linotype"/>
              </a:rPr>
              <a:t>in</a:t>
            </a:r>
            <a:r>
              <a:rPr sz="2000" kern="1200" spc="-10" dirty="0">
                <a:solidFill>
                  <a:srgbClr val="0432FF"/>
                </a:solidFill>
                <a:latin typeface="Palatino Linotype"/>
                <a:cs typeface="Palatino Linotype"/>
              </a:rPr>
              <a:t> </a:t>
            </a:r>
            <a:r>
              <a:rPr sz="2000" kern="1200" spc="-5" dirty="0">
                <a:solidFill>
                  <a:srgbClr val="0432FF"/>
                </a:solidFill>
                <a:latin typeface="Palatino Linotype"/>
                <a:cs typeface="Palatino Linotype"/>
              </a:rPr>
              <a:t>input</a:t>
            </a:r>
            <a:endParaRPr sz="2000" kern="1200" dirty="0">
              <a:solidFill>
                <a:prstClr val="black"/>
              </a:solidFill>
              <a:latin typeface="Palatino Linotype"/>
              <a:cs typeface="Palatino Linotype"/>
            </a:endParaRPr>
          </a:p>
          <a:p>
            <a:pPr marL="355600" indent="-342900" rtl="0">
              <a:buFont typeface="Cambria Math"/>
              <a:buChar char="⎯"/>
              <a:tabLst>
                <a:tab pos="354965" algn="l"/>
                <a:tab pos="355600" algn="l"/>
              </a:tabLst>
            </a:pPr>
            <a:r>
              <a:rPr sz="2000" kern="1200" spc="-15" dirty="0">
                <a:solidFill>
                  <a:srgbClr val="0432FF"/>
                </a:solidFill>
                <a:latin typeface="Palatino Linotype"/>
                <a:cs typeface="Palatino Linotype"/>
              </a:rPr>
              <a:t>Advance </a:t>
            </a:r>
            <a:r>
              <a:rPr sz="2000" kern="1200" spc="-5" dirty="0">
                <a:solidFill>
                  <a:srgbClr val="0432FF"/>
                </a:solidFill>
                <a:latin typeface="Palatino Linotype"/>
                <a:cs typeface="Palatino Linotype"/>
              </a:rPr>
              <a:t>input</a:t>
            </a:r>
            <a:r>
              <a:rPr sz="2000" kern="1200" spc="-20" dirty="0">
                <a:solidFill>
                  <a:srgbClr val="0432FF"/>
                </a:solidFill>
                <a:latin typeface="Palatino Linotype"/>
                <a:cs typeface="Palatino Linotype"/>
              </a:rPr>
              <a:t> </a:t>
            </a:r>
            <a:r>
              <a:rPr sz="2000" kern="1200" spc="-5" dirty="0">
                <a:solidFill>
                  <a:srgbClr val="0432FF"/>
                </a:solidFill>
                <a:latin typeface="Palatino Linotype"/>
                <a:cs typeface="Palatino Linotype"/>
              </a:rPr>
              <a:t>pointer</a:t>
            </a:r>
            <a:endParaRPr sz="2000" kern="1200" dirty="0">
              <a:solidFill>
                <a:prstClr val="black"/>
              </a:solidFill>
              <a:latin typeface="Palatino Linotype"/>
              <a:cs typeface="Palatino Linotype"/>
            </a:endParaRPr>
          </a:p>
        </p:txBody>
      </p:sp>
      <p:grpSp>
        <p:nvGrpSpPr>
          <p:cNvPr id="33" name="object 14">
            <a:extLst>
              <a:ext uri="{FF2B5EF4-FFF2-40B4-BE49-F238E27FC236}">
                <a16:creationId xmlns:a16="http://schemas.microsoft.com/office/drawing/2014/main" id="{FB1BFD55-CE3E-6A98-081D-F113320A5C39}"/>
              </a:ext>
            </a:extLst>
          </p:cNvPr>
          <p:cNvGrpSpPr/>
          <p:nvPr/>
        </p:nvGrpSpPr>
        <p:grpSpPr>
          <a:xfrm>
            <a:off x="4565650" y="3932096"/>
            <a:ext cx="2512695" cy="1170305"/>
            <a:chOff x="4565650" y="3932096"/>
            <a:chExt cx="2512695" cy="1170305"/>
          </a:xfrm>
        </p:grpSpPr>
        <p:pic>
          <p:nvPicPr>
            <p:cNvPr id="34" name="object 15">
              <a:extLst>
                <a:ext uri="{FF2B5EF4-FFF2-40B4-BE49-F238E27FC236}">
                  <a16:creationId xmlns:a16="http://schemas.microsoft.com/office/drawing/2014/main" id="{D6ED2C99-0780-6AD4-9A64-1336CE00F5EE}"/>
                </a:ext>
              </a:extLst>
            </p:cNvPr>
            <p:cNvPicPr/>
            <p:nvPr/>
          </p:nvPicPr>
          <p:blipFill>
            <a:blip r:embed="rId3" cstate="print"/>
            <a:stretch>
              <a:fillRect/>
            </a:stretch>
          </p:blipFill>
          <p:spPr>
            <a:xfrm>
              <a:off x="4952801" y="3932096"/>
              <a:ext cx="2125295" cy="1047247"/>
            </a:xfrm>
            <a:prstGeom prst="rect">
              <a:avLst/>
            </a:prstGeom>
          </p:spPr>
        </p:pic>
        <p:sp>
          <p:nvSpPr>
            <p:cNvPr id="35" name="object 16">
              <a:extLst>
                <a:ext uri="{FF2B5EF4-FFF2-40B4-BE49-F238E27FC236}">
                  <a16:creationId xmlns:a16="http://schemas.microsoft.com/office/drawing/2014/main" id="{B353092C-4AC2-EE4E-01FF-9121CB917120}"/>
                </a:ext>
              </a:extLst>
            </p:cNvPr>
            <p:cNvSpPr/>
            <p:nvPr/>
          </p:nvSpPr>
          <p:spPr>
            <a:xfrm>
              <a:off x="4572000" y="4695567"/>
              <a:ext cx="882015" cy="400685"/>
            </a:xfrm>
            <a:custGeom>
              <a:avLst/>
              <a:gdLst/>
              <a:ahLst/>
              <a:cxnLst/>
              <a:rect l="l" t="t" r="r" b="b"/>
              <a:pathLst>
                <a:path w="882014"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6" name="object 17">
            <a:extLst>
              <a:ext uri="{FF2B5EF4-FFF2-40B4-BE49-F238E27FC236}">
                <a16:creationId xmlns:a16="http://schemas.microsoft.com/office/drawing/2014/main" id="{54D4C0C0-56CA-91F4-A46A-E0CA548E8A5F}"/>
              </a:ext>
            </a:extLst>
          </p:cNvPr>
          <p:cNvSpPr/>
          <p:nvPr/>
        </p:nvSpPr>
        <p:spPr>
          <a:xfrm>
            <a:off x="786712" y="3532623"/>
            <a:ext cx="882015" cy="400685"/>
          </a:xfrm>
          <a:custGeom>
            <a:avLst/>
            <a:gdLst/>
            <a:ahLst/>
            <a:cxnLst/>
            <a:rect l="l" t="t" r="r" b="b"/>
            <a:pathLst>
              <a:path w="882014"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5574636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54</a:t>
            </a:fld>
            <a:endParaRPr lang="en-US"/>
          </a:p>
        </p:txBody>
      </p:sp>
      <p:sp>
        <p:nvSpPr>
          <p:cNvPr id="21" name="object 2">
            <a:extLst>
              <a:ext uri="{FF2B5EF4-FFF2-40B4-BE49-F238E27FC236}">
                <a16:creationId xmlns:a16="http://schemas.microsoft.com/office/drawing/2014/main" id="{37416C53-9004-8038-91C0-88DCE9BA4DB2}"/>
              </a:ext>
            </a:extLst>
          </p:cNvPr>
          <p:cNvSpPr txBox="1">
            <a:spLocks/>
          </p:cNvSpPr>
          <p:nvPr/>
        </p:nvSpPr>
        <p:spPr>
          <a:xfrm>
            <a:off x="707390" y="524763"/>
            <a:ext cx="51974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2" name="object 3">
            <a:extLst>
              <a:ext uri="{FF2B5EF4-FFF2-40B4-BE49-F238E27FC236}">
                <a16:creationId xmlns:a16="http://schemas.microsoft.com/office/drawing/2014/main" id="{6AED920E-5AF7-D925-8427-D46A6832728E}"/>
              </a:ext>
            </a:extLst>
          </p:cNvPr>
          <p:cNvSpPr txBox="1"/>
          <p:nvPr/>
        </p:nvSpPr>
        <p:spPr>
          <a:xfrm>
            <a:off x="707390" y="1498091"/>
            <a:ext cx="4777740" cy="1141095"/>
          </a:xfrm>
          <a:prstGeom prst="rect">
            <a:avLst/>
          </a:prstGeom>
        </p:spPr>
        <p:txBody>
          <a:bodyPr vert="horz" wrap="square" lIns="0" tIns="173990" rIns="0" bIns="0" rtlCol="0">
            <a:spAutoFit/>
          </a:bodyPr>
          <a:lstStyle/>
          <a:p>
            <a:pPr marL="243204" indent="-230504" rtl="0">
              <a:spcBef>
                <a:spcPts val="1370"/>
              </a:spcBef>
              <a:buClr>
                <a:srgbClr val="000000"/>
              </a:buClr>
              <a:buFont typeface="Arial MT"/>
              <a:buChar char="•"/>
              <a:tabLst>
                <a:tab pos="243204" algn="l"/>
                <a:tab pos="3288029" algn="l"/>
              </a:tabLst>
            </a:pPr>
            <a:r>
              <a:rPr sz="2600" kern="1200" spc="-5" dirty="0">
                <a:solidFill>
                  <a:srgbClr val="0432FF"/>
                </a:solidFill>
                <a:latin typeface="Palatino Linotype"/>
                <a:cs typeface="Palatino Linotype"/>
              </a:rPr>
              <a:t>Grammar:</a:t>
            </a:r>
            <a:r>
              <a:rPr sz="2600" kern="1200" dirty="0">
                <a:solidFill>
                  <a:srgbClr val="0432FF"/>
                </a:solidFill>
                <a:latin typeface="Palatino Linotype"/>
                <a:cs typeface="Palatino Linotype"/>
              </a:rPr>
              <a:t> </a:t>
            </a:r>
            <a:r>
              <a:rPr sz="2600" kern="1200" dirty="0">
                <a:solidFill>
                  <a:prstClr val="black"/>
                </a:solidFill>
                <a:latin typeface="Cambria Math"/>
                <a:cs typeface="Cambria Math"/>
              </a:rPr>
              <a:t>𝑆</a:t>
            </a:r>
            <a:r>
              <a:rPr sz="2600" kern="1200" spc="204"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50" dirty="0">
                <a:solidFill>
                  <a:prstClr val="black"/>
                </a:solidFill>
                <a:latin typeface="Cambria Math"/>
                <a:cs typeface="Cambria Math"/>
              </a:rPr>
              <a:t> </a:t>
            </a:r>
            <a:r>
              <a:rPr sz="2600" kern="1200" dirty="0">
                <a:solidFill>
                  <a:prstClr val="black"/>
                </a:solidFill>
                <a:latin typeface="Cambria Math"/>
                <a:cs typeface="Cambria Math"/>
              </a:rPr>
              <a:t>𝑐𝐴𝑑	𝐴</a:t>
            </a:r>
            <a:r>
              <a:rPr sz="2600" kern="1200" spc="14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20" dirty="0">
                <a:solidFill>
                  <a:prstClr val="black"/>
                </a:solidFill>
                <a:latin typeface="Cambria Math"/>
                <a:cs typeface="Cambria Math"/>
              </a:rPr>
              <a:t> </a:t>
            </a:r>
            <a:r>
              <a:rPr sz="2600" kern="1200" dirty="0">
                <a:solidFill>
                  <a:prstClr val="black"/>
                </a:solidFill>
                <a:latin typeface="Cambria Math"/>
                <a:cs typeface="Cambria Math"/>
              </a:rPr>
              <a:t>𝑎𝑏</a:t>
            </a:r>
            <a:r>
              <a:rPr sz="2600" kern="1200" spc="3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25" dirty="0">
                <a:solidFill>
                  <a:prstClr val="black"/>
                </a:solidFill>
                <a:latin typeface="Cambria Math"/>
                <a:cs typeface="Cambria Math"/>
              </a:rPr>
              <a:t> </a:t>
            </a:r>
            <a:r>
              <a:rPr sz="2600" kern="1200" dirty="0">
                <a:solidFill>
                  <a:prstClr val="black"/>
                </a:solidFill>
                <a:latin typeface="Cambria Math"/>
                <a:cs typeface="Cambria Math"/>
              </a:rPr>
              <a:t>𝑎</a:t>
            </a:r>
            <a:endParaRPr sz="2600" kern="1200">
              <a:solidFill>
                <a:prstClr val="black"/>
              </a:solidFill>
              <a:latin typeface="Cambria Math"/>
              <a:cs typeface="Cambria Math"/>
            </a:endParaRPr>
          </a:p>
          <a:p>
            <a:pPr marL="243204" indent="-230504" rtl="0">
              <a:spcBef>
                <a:spcPts val="1275"/>
              </a:spcBef>
              <a:buClr>
                <a:srgbClr val="000000"/>
              </a:buClr>
              <a:buFont typeface="Arial MT"/>
              <a:buChar char="•"/>
              <a:tabLst>
                <a:tab pos="243204" algn="l"/>
              </a:tabLst>
            </a:pPr>
            <a:r>
              <a:rPr sz="2600" kern="1200" spc="-5" dirty="0">
                <a:solidFill>
                  <a:srgbClr val="0432FF"/>
                </a:solidFill>
                <a:latin typeface="Palatino Linotype"/>
                <a:cs typeface="Palatino Linotype"/>
              </a:rPr>
              <a:t>Input</a:t>
            </a:r>
            <a:r>
              <a:rPr sz="2600" kern="1200" spc="-25" dirty="0">
                <a:solidFill>
                  <a:srgbClr val="0432FF"/>
                </a:solidFill>
                <a:latin typeface="Palatino Linotype"/>
                <a:cs typeface="Palatino Linotype"/>
              </a:rPr>
              <a:t> </a:t>
            </a:r>
            <a:r>
              <a:rPr sz="2600" kern="1200" spc="-5" dirty="0">
                <a:solidFill>
                  <a:srgbClr val="0432FF"/>
                </a:solidFill>
                <a:latin typeface="Palatino Linotype"/>
                <a:cs typeface="Palatino Linotype"/>
              </a:rPr>
              <a:t>string:</a:t>
            </a:r>
            <a:r>
              <a:rPr sz="2600" kern="1200" spc="-20" dirty="0">
                <a:solidFill>
                  <a:srgbClr val="0432FF"/>
                </a:solidFill>
                <a:latin typeface="Palatino Linotype"/>
                <a:cs typeface="Palatino Linotype"/>
              </a:rPr>
              <a:t> </a:t>
            </a:r>
            <a:r>
              <a:rPr sz="2600" kern="1200" dirty="0">
                <a:solidFill>
                  <a:prstClr val="black"/>
                </a:solidFill>
                <a:latin typeface="Cambria Math"/>
                <a:cs typeface="Cambria Math"/>
              </a:rPr>
              <a:t>𝑐𝑎𝑑</a:t>
            </a:r>
            <a:endParaRPr sz="2600" kern="1200">
              <a:solidFill>
                <a:prstClr val="black"/>
              </a:solidFill>
              <a:latin typeface="Cambria Math"/>
              <a:cs typeface="Cambria Math"/>
            </a:endParaRPr>
          </a:p>
        </p:txBody>
      </p:sp>
      <p:grpSp>
        <p:nvGrpSpPr>
          <p:cNvPr id="23" name="object 4">
            <a:extLst>
              <a:ext uri="{FF2B5EF4-FFF2-40B4-BE49-F238E27FC236}">
                <a16:creationId xmlns:a16="http://schemas.microsoft.com/office/drawing/2014/main" id="{0D037A86-A26D-8E6A-4FE1-0C13501FEFE0}"/>
              </a:ext>
            </a:extLst>
          </p:cNvPr>
          <p:cNvGrpSpPr/>
          <p:nvPr/>
        </p:nvGrpSpPr>
        <p:grpSpPr>
          <a:xfrm>
            <a:off x="724243" y="3534558"/>
            <a:ext cx="3230245" cy="408940"/>
            <a:chOff x="724243" y="3534558"/>
            <a:chExt cx="3230245" cy="408940"/>
          </a:xfrm>
        </p:grpSpPr>
        <p:sp>
          <p:nvSpPr>
            <p:cNvPr id="24" name="object 5">
              <a:extLst>
                <a:ext uri="{FF2B5EF4-FFF2-40B4-BE49-F238E27FC236}">
                  <a16:creationId xmlns:a16="http://schemas.microsoft.com/office/drawing/2014/main" id="{FC490444-E0DF-7340-4AB7-401B3327290D}"/>
                </a:ext>
              </a:extLst>
            </p:cNvPr>
            <p:cNvSpPr/>
            <p:nvPr/>
          </p:nvSpPr>
          <p:spPr>
            <a:xfrm>
              <a:off x="1809405" y="3547258"/>
              <a:ext cx="1059815" cy="370840"/>
            </a:xfrm>
            <a:custGeom>
              <a:avLst/>
              <a:gdLst/>
              <a:ahLst/>
              <a:cxnLst/>
              <a:rect l="l" t="t" r="r" b="b"/>
              <a:pathLst>
                <a:path w="1059814" h="370839">
                  <a:moveTo>
                    <a:pt x="1059762" y="0"/>
                  </a:moveTo>
                  <a:lnTo>
                    <a:pt x="0" y="0"/>
                  </a:lnTo>
                  <a:lnTo>
                    <a:pt x="0" y="370840"/>
                  </a:lnTo>
                  <a:lnTo>
                    <a:pt x="1059762" y="370840"/>
                  </a:lnTo>
                  <a:lnTo>
                    <a:pt x="1059762" y="0"/>
                  </a:lnTo>
                  <a:close/>
                </a:path>
              </a:pathLst>
            </a:custGeom>
            <a:solidFill>
              <a:srgbClr val="4472C4"/>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6">
              <a:extLst>
                <a:ext uri="{FF2B5EF4-FFF2-40B4-BE49-F238E27FC236}">
                  <a16:creationId xmlns:a16="http://schemas.microsoft.com/office/drawing/2014/main" id="{C5BFE08A-F158-CB31-4D5D-1B4E0922C2E5}"/>
                </a:ext>
              </a:extLst>
            </p:cNvPr>
            <p:cNvSpPr/>
            <p:nvPr/>
          </p:nvSpPr>
          <p:spPr>
            <a:xfrm>
              <a:off x="743293" y="3540908"/>
              <a:ext cx="3192145" cy="396240"/>
            </a:xfrm>
            <a:custGeom>
              <a:avLst/>
              <a:gdLst/>
              <a:ahLst/>
              <a:cxnLst/>
              <a:rect l="l" t="t" r="r" b="b"/>
              <a:pathLst>
                <a:path w="3192145" h="396239">
                  <a:moveTo>
                    <a:pt x="1066113" y="0"/>
                  </a:moveTo>
                  <a:lnTo>
                    <a:pt x="1066113" y="396240"/>
                  </a:lnTo>
                </a:path>
                <a:path w="3192145" h="396239">
                  <a:moveTo>
                    <a:pt x="2125876" y="0"/>
                  </a:moveTo>
                  <a:lnTo>
                    <a:pt x="2125876" y="396240"/>
                  </a:lnTo>
                </a:path>
                <a:path w="3192145" h="396239">
                  <a:moveTo>
                    <a:pt x="6350" y="0"/>
                  </a:moveTo>
                  <a:lnTo>
                    <a:pt x="6350" y="396240"/>
                  </a:lnTo>
                </a:path>
                <a:path w="3192145" h="396239">
                  <a:moveTo>
                    <a:pt x="3185639" y="0"/>
                  </a:moveTo>
                  <a:lnTo>
                    <a:pt x="3185639" y="396240"/>
                  </a:lnTo>
                </a:path>
                <a:path w="3192145" h="396239">
                  <a:moveTo>
                    <a:pt x="0" y="6350"/>
                  </a:moveTo>
                  <a:lnTo>
                    <a:pt x="3191989" y="6350"/>
                  </a:lnTo>
                </a:path>
              </a:pathLst>
            </a:custGeom>
            <a:ln w="127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7">
              <a:extLst>
                <a:ext uri="{FF2B5EF4-FFF2-40B4-BE49-F238E27FC236}">
                  <a16:creationId xmlns:a16="http://schemas.microsoft.com/office/drawing/2014/main" id="{A3F8A2EC-CD4C-A6CB-6F3E-83A9D8668EC8}"/>
                </a:ext>
              </a:extLst>
            </p:cNvPr>
            <p:cNvSpPr/>
            <p:nvPr/>
          </p:nvSpPr>
          <p:spPr>
            <a:xfrm>
              <a:off x="743293" y="3918098"/>
              <a:ext cx="3192145" cy="0"/>
            </a:xfrm>
            <a:custGeom>
              <a:avLst/>
              <a:gdLst/>
              <a:ahLst/>
              <a:cxnLst/>
              <a:rect l="l" t="t" r="r" b="b"/>
              <a:pathLst>
                <a:path w="3192145">
                  <a:moveTo>
                    <a:pt x="0" y="0"/>
                  </a:moveTo>
                  <a:lnTo>
                    <a:pt x="3191989" y="0"/>
                  </a:lnTo>
                </a:path>
              </a:pathLst>
            </a:custGeom>
            <a:ln w="381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7" name="object 8">
            <a:extLst>
              <a:ext uri="{FF2B5EF4-FFF2-40B4-BE49-F238E27FC236}">
                <a16:creationId xmlns:a16="http://schemas.microsoft.com/office/drawing/2014/main" id="{3D65539C-9473-6663-8EB2-D07C3612ADAF}"/>
              </a:ext>
            </a:extLst>
          </p:cNvPr>
          <p:cNvSpPr txBox="1"/>
          <p:nvPr/>
        </p:nvSpPr>
        <p:spPr>
          <a:xfrm>
            <a:off x="755993"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𝑐</a:t>
            </a:r>
            <a:endParaRPr kern="1200">
              <a:solidFill>
                <a:prstClr val="black"/>
              </a:solidFill>
              <a:latin typeface="Cambria Math"/>
              <a:cs typeface="Cambria Math"/>
            </a:endParaRPr>
          </a:p>
        </p:txBody>
      </p:sp>
      <p:sp>
        <p:nvSpPr>
          <p:cNvPr id="28" name="object 9">
            <a:extLst>
              <a:ext uri="{FF2B5EF4-FFF2-40B4-BE49-F238E27FC236}">
                <a16:creationId xmlns:a16="http://schemas.microsoft.com/office/drawing/2014/main" id="{C1061721-6B5F-1203-2C65-0506162F48C4}"/>
              </a:ext>
            </a:extLst>
          </p:cNvPr>
          <p:cNvSpPr txBox="1"/>
          <p:nvPr/>
        </p:nvSpPr>
        <p:spPr>
          <a:xfrm>
            <a:off x="1815756" y="3568700"/>
            <a:ext cx="1047115" cy="299720"/>
          </a:xfrm>
          <a:prstGeom prst="rect">
            <a:avLst/>
          </a:prstGeom>
        </p:spPr>
        <p:txBody>
          <a:bodyPr vert="horz" wrap="square" lIns="0" tIns="12700" rIns="0" bIns="0" rtlCol="0">
            <a:spAutoFit/>
          </a:bodyPr>
          <a:lstStyle/>
          <a:p>
            <a:pPr algn="ctr" rtl="0">
              <a:spcBef>
                <a:spcPts val="100"/>
              </a:spcBef>
            </a:pPr>
            <a:r>
              <a:rPr kern="1200" dirty="0">
                <a:solidFill>
                  <a:srgbClr val="FFFFFF"/>
                </a:solidFill>
                <a:latin typeface="Cambria Math"/>
                <a:cs typeface="Cambria Math"/>
              </a:rPr>
              <a:t>𝑎</a:t>
            </a:r>
            <a:endParaRPr kern="1200">
              <a:solidFill>
                <a:prstClr val="black"/>
              </a:solidFill>
              <a:latin typeface="Cambria Math"/>
              <a:cs typeface="Cambria Math"/>
            </a:endParaRPr>
          </a:p>
        </p:txBody>
      </p:sp>
      <p:sp>
        <p:nvSpPr>
          <p:cNvPr id="29" name="object 10">
            <a:extLst>
              <a:ext uri="{FF2B5EF4-FFF2-40B4-BE49-F238E27FC236}">
                <a16:creationId xmlns:a16="http://schemas.microsoft.com/office/drawing/2014/main" id="{21A0A12F-763B-FEB0-0722-B3C0E4D9D16D}"/>
              </a:ext>
            </a:extLst>
          </p:cNvPr>
          <p:cNvSpPr txBox="1"/>
          <p:nvPr/>
        </p:nvSpPr>
        <p:spPr>
          <a:xfrm>
            <a:off x="2875519"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𝑑</a:t>
            </a:r>
            <a:endParaRPr kern="1200">
              <a:solidFill>
                <a:prstClr val="black"/>
              </a:solidFill>
              <a:latin typeface="Cambria Math"/>
              <a:cs typeface="Cambria Math"/>
            </a:endParaRPr>
          </a:p>
        </p:txBody>
      </p:sp>
      <p:sp>
        <p:nvSpPr>
          <p:cNvPr id="30" name="object 11">
            <a:extLst>
              <a:ext uri="{FF2B5EF4-FFF2-40B4-BE49-F238E27FC236}">
                <a16:creationId xmlns:a16="http://schemas.microsoft.com/office/drawing/2014/main" id="{7BF4F410-5A72-5E99-E890-4A4693414D82}"/>
              </a:ext>
            </a:extLst>
          </p:cNvPr>
          <p:cNvSpPr/>
          <p:nvPr/>
        </p:nvSpPr>
        <p:spPr>
          <a:xfrm>
            <a:off x="3342298" y="3995320"/>
            <a:ext cx="103505" cy="511175"/>
          </a:xfrm>
          <a:custGeom>
            <a:avLst/>
            <a:gdLst/>
            <a:ahLst/>
            <a:cxnLst/>
            <a:rect l="l" t="t" r="r" b="b"/>
            <a:pathLst>
              <a:path w="103504" h="511175">
                <a:moveTo>
                  <a:pt x="51702" y="25204"/>
                </a:moveTo>
                <a:lnTo>
                  <a:pt x="45352" y="36089"/>
                </a:lnTo>
                <a:lnTo>
                  <a:pt x="45352" y="510776"/>
                </a:lnTo>
                <a:lnTo>
                  <a:pt x="58052" y="510776"/>
                </a:lnTo>
                <a:lnTo>
                  <a:pt x="58051" y="36089"/>
                </a:lnTo>
                <a:lnTo>
                  <a:pt x="51702" y="25204"/>
                </a:lnTo>
                <a:close/>
              </a:path>
              <a:path w="103504" h="511175">
                <a:moveTo>
                  <a:pt x="51702" y="0"/>
                </a:moveTo>
                <a:lnTo>
                  <a:pt x="0" y="88633"/>
                </a:lnTo>
                <a:lnTo>
                  <a:pt x="1023" y="92520"/>
                </a:lnTo>
                <a:lnTo>
                  <a:pt x="7082" y="96055"/>
                </a:lnTo>
                <a:lnTo>
                  <a:pt x="10970" y="95031"/>
                </a:lnTo>
                <a:lnTo>
                  <a:pt x="45351" y="36091"/>
                </a:lnTo>
                <a:lnTo>
                  <a:pt x="45352" y="12602"/>
                </a:lnTo>
                <a:lnTo>
                  <a:pt x="59054" y="12602"/>
                </a:lnTo>
                <a:lnTo>
                  <a:pt x="51702" y="0"/>
                </a:lnTo>
                <a:close/>
              </a:path>
              <a:path w="103504" h="511175">
                <a:moveTo>
                  <a:pt x="59054" y="12602"/>
                </a:moveTo>
                <a:lnTo>
                  <a:pt x="58052" y="12602"/>
                </a:lnTo>
                <a:lnTo>
                  <a:pt x="58052" y="36091"/>
                </a:lnTo>
                <a:lnTo>
                  <a:pt x="92434" y="95031"/>
                </a:lnTo>
                <a:lnTo>
                  <a:pt x="96323" y="96055"/>
                </a:lnTo>
                <a:lnTo>
                  <a:pt x="102381" y="92520"/>
                </a:lnTo>
                <a:lnTo>
                  <a:pt x="103404" y="88632"/>
                </a:lnTo>
                <a:lnTo>
                  <a:pt x="59054" y="12602"/>
                </a:lnTo>
                <a:close/>
              </a:path>
              <a:path w="103504" h="511175">
                <a:moveTo>
                  <a:pt x="58052" y="15802"/>
                </a:moveTo>
                <a:lnTo>
                  <a:pt x="57186" y="15802"/>
                </a:lnTo>
                <a:lnTo>
                  <a:pt x="51702" y="25204"/>
                </a:lnTo>
                <a:lnTo>
                  <a:pt x="58052" y="36091"/>
                </a:lnTo>
                <a:lnTo>
                  <a:pt x="58052" y="15802"/>
                </a:lnTo>
                <a:close/>
              </a:path>
              <a:path w="103504" h="511175">
                <a:moveTo>
                  <a:pt x="58052" y="12602"/>
                </a:moveTo>
                <a:lnTo>
                  <a:pt x="45352" y="12602"/>
                </a:lnTo>
                <a:lnTo>
                  <a:pt x="45352" y="36089"/>
                </a:lnTo>
                <a:lnTo>
                  <a:pt x="51702" y="25204"/>
                </a:lnTo>
                <a:lnTo>
                  <a:pt x="46217" y="15802"/>
                </a:lnTo>
                <a:lnTo>
                  <a:pt x="58052" y="15802"/>
                </a:lnTo>
                <a:lnTo>
                  <a:pt x="58052" y="12602"/>
                </a:lnTo>
                <a:close/>
              </a:path>
              <a:path w="103504" h="511175">
                <a:moveTo>
                  <a:pt x="57186" y="15802"/>
                </a:moveTo>
                <a:lnTo>
                  <a:pt x="46217" y="15802"/>
                </a:lnTo>
                <a:lnTo>
                  <a:pt x="51702" y="25204"/>
                </a:lnTo>
                <a:lnTo>
                  <a:pt x="57186" y="15802"/>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12">
            <a:extLst>
              <a:ext uri="{FF2B5EF4-FFF2-40B4-BE49-F238E27FC236}">
                <a16:creationId xmlns:a16="http://schemas.microsoft.com/office/drawing/2014/main" id="{86F55A8A-DDEC-BCBA-5ECA-14E82B339295}"/>
              </a:ext>
            </a:extLst>
          </p:cNvPr>
          <p:cNvSpPr txBox="1"/>
          <p:nvPr/>
        </p:nvSpPr>
        <p:spPr>
          <a:xfrm>
            <a:off x="3472741" y="4260595"/>
            <a:ext cx="1371600"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Palatino Linotype"/>
                <a:cs typeface="Palatino Linotype"/>
              </a:rPr>
              <a:t>input</a:t>
            </a:r>
            <a:r>
              <a:rPr kern="1200" spc="-75" dirty="0">
                <a:solidFill>
                  <a:srgbClr val="FF0000"/>
                </a:solidFill>
                <a:latin typeface="Palatino Linotype"/>
                <a:cs typeface="Palatino Linotype"/>
              </a:rPr>
              <a:t> </a:t>
            </a:r>
            <a:r>
              <a:rPr kern="1200" dirty="0">
                <a:solidFill>
                  <a:srgbClr val="FF0000"/>
                </a:solidFill>
                <a:latin typeface="Palatino Linotype"/>
                <a:cs typeface="Palatino Linotype"/>
              </a:rPr>
              <a:t>pointer</a:t>
            </a:r>
            <a:endParaRPr kern="1200">
              <a:solidFill>
                <a:prstClr val="black"/>
              </a:solidFill>
              <a:latin typeface="Palatino Linotype"/>
              <a:cs typeface="Palatino Linotype"/>
            </a:endParaRPr>
          </a:p>
        </p:txBody>
      </p:sp>
      <p:sp>
        <p:nvSpPr>
          <p:cNvPr id="32" name="object 13">
            <a:extLst>
              <a:ext uri="{FF2B5EF4-FFF2-40B4-BE49-F238E27FC236}">
                <a16:creationId xmlns:a16="http://schemas.microsoft.com/office/drawing/2014/main" id="{74C5A2A1-90D6-DF11-85BD-8064BCBD9486}"/>
              </a:ext>
            </a:extLst>
          </p:cNvPr>
          <p:cNvSpPr txBox="1"/>
          <p:nvPr/>
        </p:nvSpPr>
        <p:spPr>
          <a:xfrm>
            <a:off x="4238848" y="3092196"/>
            <a:ext cx="3994785" cy="1256754"/>
          </a:xfrm>
          <a:prstGeom prst="rect">
            <a:avLst/>
          </a:prstGeom>
        </p:spPr>
        <p:txBody>
          <a:bodyPr vert="horz" wrap="square" lIns="0" tIns="12700" rIns="0" bIns="0" rtlCol="0">
            <a:spAutoFit/>
          </a:bodyPr>
          <a:lstStyle/>
          <a:p>
            <a:pPr marL="355600" indent="-342900" rtl="0">
              <a:spcBef>
                <a:spcPts val="100"/>
              </a:spcBef>
              <a:buFont typeface="Cambria Math"/>
              <a:buChar char="⎯"/>
              <a:tabLst>
                <a:tab pos="354965" algn="l"/>
                <a:tab pos="355600" algn="l"/>
              </a:tabLst>
            </a:pPr>
            <a:r>
              <a:rPr lang="en-US" altLang="zh-CN" sz="2000" kern="1200" spc="-5" dirty="0">
                <a:solidFill>
                  <a:srgbClr val="0432FF"/>
                </a:solidFill>
                <a:latin typeface="Palatino Linotype"/>
                <a:cs typeface="Palatino Linotype"/>
              </a:rPr>
              <a:t>Expand </a:t>
            </a:r>
            <a:r>
              <a:rPr lang="zh-CN" altLang="en-US" sz="2000" kern="1200" dirty="0">
                <a:solidFill>
                  <a:srgbClr val="0432FF"/>
                </a:solidFill>
                <a:latin typeface="Cambria Math"/>
                <a:cs typeface="Cambria Math"/>
              </a:rPr>
              <a:t>𝐴</a:t>
            </a:r>
            <a:r>
              <a:rPr lang="en-US" altLang="zh-CN" sz="2000" kern="1200" spc="70" dirty="0">
                <a:solidFill>
                  <a:srgbClr val="0432FF"/>
                </a:solidFill>
                <a:latin typeface="Cambria Math"/>
                <a:cs typeface="Cambria Math"/>
              </a:rPr>
              <a:t> </a:t>
            </a:r>
            <a:r>
              <a:rPr lang="en-US" altLang="zh-CN" sz="2000" kern="1200" spc="-5" dirty="0">
                <a:solidFill>
                  <a:srgbClr val="0432FF"/>
                </a:solidFill>
                <a:latin typeface="Palatino Linotype"/>
                <a:cs typeface="Palatino Linotype"/>
              </a:rPr>
              <a:t>using the</a:t>
            </a:r>
            <a:r>
              <a:rPr lang="en-US" altLang="zh-CN" sz="2000" kern="1200" dirty="0">
                <a:solidFill>
                  <a:srgbClr val="0432FF"/>
                </a:solidFill>
                <a:latin typeface="Palatino Linotype"/>
                <a:cs typeface="Palatino Linotype"/>
              </a:rPr>
              <a:t> </a:t>
            </a:r>
            <a:r>
              <a:rPr lang="en-US" altLang="zh-CN" sz="2000" kern="1200" spc="-5" dirty="0">
                <a:solidFill>
                  <a:srgbClr val="0432FF"/>
                </a:solidFill>
                <a:latin typeface="Palatino Linotype"/>
                <a:cs typeface="Palatino Linotype"/>
              </a:rPr>
              <a:t>first</a:t>
            </a:r>
            <a:r>
              <a:rPr lang="en-US" altLang="zh-CN" sz="2000" kern="1200" spc="-10" dirty="0">
                <a:solidFill>
                  <a:srgbClr val="0432FF"/>
                </a:solidFill>
                <a:latin typeface="Palatino Linotype"/>
                <a:cs typeface="Palatino Linotype"/>
              </a:rPr>
              <a:t> </a:t>
            </a:r>
            <a:r>
              <a:rPr lang="en-US" altLang="zh-CN" sz="2000" kern="1200" spc="-5" dirty="0">
                <a:solidFill>
                  <a:srgbClr val="0432FF"/>
                </a:solidFill>
                <a:latin typeface="Palatino Linotype"/>
                <a:cs typeface="Palatino Linotype"/>
              </a:rPr>
              <a:t>production</a:t>
            </a:r>
            <a:endParaRPr lang="en-US" sz="2000" kern="1200" spc="-5" dirty="0">
              <a:solidFill>
                <a:srgbClr val="0432FF"/>
              </a:solidFill>
              <a:latin typeface="Palatino Linotype"/>
              <a:cs typeface="Palatino Linotype"/>
            </a:endParaRPr>
          </a:p>
          <a:p>
            <a:pPr marL="355600" indent="-342900" rtl="0">
              <a:spcBef>
                <a:spcPts val="100"/>
              </a:spcBef>
              <a:buFont typeface="Cambria Math"/>
              <a:buChar char="⎯"/>
              <a:tabLst>
                <a:tab pos="354965" algn="l"/>
                <a:tab pos="355600" algn="l"/>
              </a:tabLst>
            </a:pPr>
            <a:r>
              <a:rPr sz="2000" kern="1200" spc="-5" dirty="0">
                <a:solidFill>
                  <a:srgbClr val="0432FF"/>
                </a:solidFill>
                <a:latin typeface="Palatino Linotype"/>
                <a:cs typeface="Palatino Linotype"/>
              </a:rPr>
              <a:t>Leftmost</a:t>
            </a:r>
            <a:r>
              <a:rPr sz="2000" kern="1200" spc="-15" dirty="0">
                <a:solidFill>
                  <a:srgbClr val="0432FF"/>
                </a:solidFill>
                <a:latin typeface="Palatino Linotype"/>
                <a:cs typeface="Palatino Linotype"/>
              </a:rPr>
              <a:t> </a:t>
            </a:r>
            <a:r>
              <a:rPr sz="2000" kern="1200" dirty="0">
                <a:solidFill>
                  <a:srgbClr val="0432FF"/>
                </a:solidFill>
                <a:latin typeface="Palatino Linotype"/>
                <a:cs typeface="Palatino Linotype"/>
              </a:rPr>
              <a:t>leaf</a:t>
            </a:r>
            <a:r>
              <a:rPr sz="2000" kern="1200" spc="-15" dirty="0">
                <a:solidFill>
                  <a:srgbClr val="0432FF"/>
                </a:solidFill>
                <a:latin typeface="Palatino Linotype"/>
                <a:cs typeface="Palatino Linotype"/>
              </a:rPr>
              <a:t> </a:t>
            </a:r>
            <a:r>
              <a:rPr sz="2000" kern="1200" spc="-5" dirty="0">
                <a:solidFill>
                  <a:srgbClr val="0432FF"/>
                </a:solidFill>
                <a:latin typeface="Palatino Linotype"/>
                <a:cs typeface="Palatino Linotype"/>
              </a:rPr>
              <a:t>matches </a:t>
            </a:r>
            <a:r>
              <a:rPr sz="2000" kern="1200" dirty="0">
                <a:solidFill>
                  <a:srgbClr val="0432FF"/>
                </a:solidFill>
                <a:latin typeface="Cambria Math"/>
                <a:cs typeface="Cambria Math"/>
              </a:rPr>
              <a:t>𝑎</a:t>
            </a:r>
            <a:r>
              <a:rPr sz="2000" kern="1200" spc="95" dirty="0">
                <a:solidFill>
                  <a:srgbClr val="0432FF"/>
                </a:solidFill>
                <a:latin typeface="Cambria Math"/>
                <a:cs typeface="Cambria Math"/>
              </a:rPr>
              <a:t> </a:t>
            </a:r>
            <a:r>
              <a:rPr sz="2000" kern="1200" dirty="0">
                <a:solidFill>
                  <a:srgbClr val="0432FF"/>
                </a:solidFill>
                <a:latin typeface="Palatino Linotype"/>
                <a:cs typeface="Palatino Linotype"/>
              </a:rPr>
              <a:t>in</a:t>
            </a:r>
            <a:r>
              <a:rPr sz="2000" kern="1200" spc="-15" dirty="0">
                <a:solidFill>
                  <a:srgbClr val="0432FF"/>
                </a:solidFill>
                <a:latin typeface="Palatino Linotype"/>
                <a:cs typeface="Palatino Linotype"/>
              </a:rPr>
              <a:t> </a:t>
            </a:r>
            <a:r>
              <a:rPr sz="2000" kern="1200" spc="-5" dirty="0">
                <a:solidFill>
                  <a:srgbClr val="0432FF"/>
                </a:solidFill>
                <a:latin typeface="Palatino Linotype"/>
                <a:cs typeface="Palatino Linotype"/>
              </a:rPr>
              <a:t>input</a:t>
            </a:r>
            <a:endParaRPr sz="2000" kern="1200" dirty="0">
              <a:solidFill>
                <a:prstClr val="black"/>
              </a:solidFill>
              <a:latin typeface="Palatino Linotype"/>
              <a:cs typeface="Palatino Linotype"/>
            </a:endParaRPr>
          </a:p>
          <a:p>
            <a:pPr marL="355600" indent="-342900" rtl="0">
              <a:buFont typeface="Cambria Math"/>
              <a:buChar char="⎯"/>
              <a:tabLst>
                <a:tab pos="354965" algn="l"/>
                <a:tab pos="355600" algn="l"/>
              </a:tabLst>
            </a:pPr>
            <a:r>
              <a:rPr sz="2000" kern="1200" spc="-15" dirty="0">
                <a:solidFill>
                  <a:srgbClr val="0432FF"/>
                </a:solidFill>
                <a:latin typeface="Palatino Linotype"/>
                <a:cs typeface="Palatino Linotype"/>
              </a:rPr>
              <a:t>Advance </a:t>
            </a:r>
            <a:r>
              <a:rPr sz="2000" kern="1200" spc="-5" dirty="0">
                <a:solidFill>
                  <a:srgbClr val="0432FF"/>
                </a:solidFill>
                <a:latin typeface="Palatino Linotype"/>
                <a:cs typeface="Palatino Linotype"/>
              </a:rPr>
              <a:t>input</a:t>
            </a:r>
            <a:r>
              <a:rPr sz="2000" kern="1200" spc="-20" dirty="0">
                <a:solidFill>
                  <a:srgbClr val="0432FF"/>
                </a:solidFill>
                <a:latin typeface="Palatino Linotype"/>
                <a:cs typeface="Palatino Linotype"/>
              </a:rPr>
              <a:t> </a:t>
            </a:r>
            <a:r>
              <a:rPr sz="2000" kern="1200" spc="-5" dirty="0">
                <a:solidFill>
                  <a:srgbClr val="0432FF"/>
                </a:solidFill>
                <a:latin typeface="Palatino Linotype"/>
                <a:cs typeface="Palatino Linotype"/>
              </a:rPr>
              <a:t>pointer</a:t>
            </a:r>
            <a:endParaRPr sz="2000" kern="1200" dirty="0">
              <a:solidFill>
                <a:prstClr val="black"/>
              </a:solidFill>
              <a:latin typeface="Palatino Linotype"/>
              <a:cs typeface="Palatino Linotype"/>
            </a:endParaRPr>
          </a:p>
        </p:txBody>
      </p:sp>
      <p:grpSp>
        <p:nvGrpSpPr>
          <p:cNvPr id="33" name="object 14">
            <a:extLst>
              <a:ext uri="{FF2B5EF4-FFF2-40B4-BE49-F238E27FC236}">
                <a16:creationId xmlns:a16="http://schemas.microsoft.com/office/drawing/2014/main" id="{48D37128-D7D4-6D11-60A1-A99FE534F75F}"/>
              </a:ext>
            </a:extLst>
          </p:cNvPr>
          <p:cNvGrpSpPr/>
          <p:nvPr/>
        </p:nvGrpSpPr>
        <p:grpSpPr>
          <a:xfrm>
            <a:off x="5185632" y="4506495"/>
            <a:ext cx="2101215" cy="1977389"/>
            <a:chOff x="5022194" y="3920984"/>
            <a:chExt cx="2101215" cy="1977389"/>
          </a:xfrm>
        </p:grpSpPr>
        <p:pic>
          <p:nvPicPr>
            <p:cNvPr id="34" name="object 15">
              <a:extLst>
                <a:ext uri="{FF2B5EF4-FFF2-40B4-BE49-F238E27FC236}">
                  <a16:creationId xmlns:a16="http://schemas.microsoft.com/office/drawing/2014/main" id="{59CF87BB-FACA-F0BC-7CA5-2A4E0E08D70C}"/>
                </a:ext>
              </a:extLst>
            </p:cNvPr>
            <p:cNvPicPr/>
            <p:nvPr/>
          </p:nvPicPr>
          <p:blipFill>
            <a:blip r:embed="rId3" cstate="print"/>
            <a:stretch>
              <a:fillRect/>
            </a:stretch>
          </p:blipFill>
          <p:spPr>
            <a:xfrm>
              <a:off x="5022194" y="3920984"/>
              <a:ext cx="2100754" cy="1838160"/>
            </a:xfrm>
            <a:prstGeom prst="rect">
              <a:avLst/>
            </a:prstGeom>
          </p:spPr>
        </p:pic>
        <p:sp>
          <p:nvSpPr>
            <p:cNvPr id="35" name="object 16">
              <a:extLst>
                <a:ext uri="{FF2B5EF4-FFF2-40B4-BE49-F238E27FC236}">
                  <a16:creationId xmlns:a16="http://schemas.microsoft.com/office/drawing/2014/main" id="{E809D53E-6DBB-2B4B-BC56-A728CABE4722}"/>
                </a:ext>
              </a:extLst>
            </p:cNvPr>
            <p:cNvSpPr/>
            <p:nvPr/>
          </p:nvSpPr>
          <p:spPr>
            <a:xfrm>
              <a:off x="5132172" y="5491463"/>
              <a:ext cx="882015" cy="400685"/>
            </a:xfrm>
            <a:custGeom>
              <a:avLst/>
              <a:gdLst/>
              <a:ahLst/>
              <a:cxnLst/>
              <a:rect l="l" t="t" r="r" b="b"/>
              <a:pathLst>
                <a:path w="882014"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6" name="object 17">
            <a:extLst>
              <a:ext uri="{FF2B5EF4-FFF2-40B4-BE49-F238E27FC236}">
                <a16:creationId xmlns:a16="http://schemas.microsoft.com/office/drawing/2014/main" id="{ECB34225-BD8F-D408-B99D-A60BB5C7F72B}"/>
              </a:ext>
            </a:extLst>
          </p:cNvPr>
          <p:cNvSpPr/>
          <p:nvPr/>
        </p:nvSpPr>
        <p:spPr>
          <a:xfrm>
            <a:off x="1915303" y="3558923"/>
            <a:ext cx="882015" cy="400685"/>
          </a:xfrm>
          <a:custGeom>
            <a:avLst/>
            <a:gdLst/>
            <a:ahLst/>
            <a:cxnLst/>
            <a:rect l="l" t="t" r="r" b="b"/>
            <a:pathLst>
              <a:path w="882014"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10467065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55</a:t>
            </a:fld>
            <a:endParaRPr lang="en-US"/>
          </a:p>
        </p:txBody>
      </p:sp>
      <p:grpSp>
        <p:nvGrpSpPr>
          <p:cNvPr id="21" name="object 2">
            <a:extLst>
              <a:ext uri="{FF2B5EF4-FFF2-40B4-BE49-F238E27FC236}">
                <a16:creationId xmlns:a16="http://schemas.microsoft.com/office/drawing/2014/main" id="{7A9D15A7-B9DB-8D8C-957F-AC9E5C994B85}"/>
              </a:ext>
            </a:extLst>
          </p:cNvPr>
          <p:cNvGrpSpPr/>
          <p:nvPr/>
        </p:nvGrpSpPr>
        <p:grpSpPr>
          <a:xfrm>
            <a:off x="5022194" y="3920984"/>
            <a:ext cx="2101215" cy="1939289"/>
            <a:chOff x="5022194" y="3920984"/>
            <a:chExt cx="2101215" cy="1939289"/>
          </a:xfrm>
        </p:grpSpPr>
        <p:pic>
          <p:nvPicPr>
            <p:cNvPr id="22" name="object 3">
              <a:extLst>
                <a:ext uri="{FF2B5EF4-FFF2-40B4-BE49-F238E27FC236}">
                  <a16:creationId xmlns:a16="http://schemas.microsoft.com/office/drawing/2014/main" id="{34A86C8E-511C-8B46-59FE-5DCE6C8657CB}"/>
                </a:ext>
              </a:extLst>
            </p:cNvPr>
            <p:cNvPicPr/>
            <p:nvPr/>
          </p:nvPicPr>
          <p:blipFill>
            <a:blip r:embed="rId3" cstate="print"/>
            <a:stretch>
              <a:fillRect/>
            </a:stretch>
          </p:blipFill>
          <p:spPr>
            <a:xfrm>
              <a:off x="5022194" y="3920984"/>
              <a:ext cx="2100754" cy="1838160"/>
            </a:xfrm>
            <a:prstGeom prst="rect">
              <a:avLst/>
            </a:prstGeom>
          </p:spPr>
        </p:pic>
        <p:sp>
          <p:nvSpPr>
            <p:cNvPr id="23" name="object 4">
              <a:extLst>
                <a:ext uri="{FF2B5EF4-FFF2-40B4-BE49-F238E27FC236}">
                  <a16:creationId xmlns:a16="http://schemas.microsoft.com/office/drawing/2014/main" id="{52CD9AB8-28D4-42F5-DC64-5A83B3F4BEA8}"/>
                </a:ext>
              </a:extLst>
            </p:cNvPr>
            <p:cNvSpPr/>
            <p:nvPr/>
          </p:nvSpPr>
          <p:spPr>
            <a:xfrm>
              <a:off x="6108365" y="5453627"/>
              <a:ext cx="882015" cy="400685"/>
            </a:xfrm>
            <a:custGeom>
              <a:avLst/>
              <a:gdLst/>
              <a:ahLst/>
              <a:cxnLst/>
              <a:rect l="l" t="t" r="r" b="b"/>
              <a:pathLst>
                <a:path w="882015"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4" name="object 5">
            <a:extLst>
              <a:ext uri="{FF2B5EF4-FFF2-40B4-BE49-F238E27FC236}">
                <a16:creationId xmlns:a16="http://schemas.microsoft.com/office/drawing/2014/main" id="{C30ABF07-473B-197C-4D35-110B932FB8D9}"/>
              </a:ext>
            </a:extLst>
          </p:cNvPr>
          <p:cNvSpPr txBox="1">
            <a:spLocks/>
          </p:cNvSpPr>
          <p:nvPr/>
        </p:nvSpPr>
        <p:spPr>
          <a:xfrm>
            <a:off x="707390" y="524763"/>
            <a:ext cx="51974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5" name="object 6">
            <a:extLst>
              <a:ext uri="{FF2B5EF4-FFF2-40B4-BE49-F238E27FC236}">
                <a16:creationId xmlns:a16="http://schemas.microsoft.com/office/drawing/2014/main" id="{C8EFF4CC-1539-8F36-28DA-25149A2EE4F8}"/>
              </a:ext>
            </a:extLst>
          </p:cNvPr>
          <p:cNvSpPr txBox="1"/>
          <p:nvPr/>
        </p:nvSpPr>
        <p:spPr>
          <a:xfrm>
            <a:off x="707390" y="1498091"/>
            <a:ext cx="4777740" cy="1141095"/>
          </a:xfrm>
          <a:prstGeom prst="rect">
            <a:avLst/>
          </a:prstGeom>
        </p:spPr>
        <p:txBody>
          <a:bodyPr vert="horz" wrap="square" lIns="0" tIns="173990" rIns="0" bIns="0" rtlCol="0">
            <a:spAutoFit/>
          </a:bodyPr>
          <a:lstStyle/>
          <a:p>
            <a:pPr marL="243204" indent="-230504" rtl="0">
              <a:spcBef>
                <a:spcPts val="1370"/>
              </a:spcBef>
              <a:buClr>
                <a:srgbClr val="000000"/>
              </a:buClr>
              <a:buFont typeface="Arial MT"/>
              <a:buChar char="•"/>
              <a:tabLst>
                <a:tab pos="243204" algn="l"/>
                <a:tab pos="3288029" algn="l"/>
              </a:tabLst>
            </a:pPr>
            <a:r>
              <a:rPr sz="2600" kern="1200" spc="-5" dirty="0">
                <a:solidFill>
                  <a:srgbClr val="0432FF"/>
                </a:solidFill>
                <a:latin typeface="Palatino Linotype"/>
                <a:cs typeface="Palatino Linotype"/>
              </a:rPr>
              <a:t>Grammar:</a:t>
            </a:r>
            <a:r>
              <a:rPr sz="2600" kern="1200" dirty="0">
                <a:solidFill>
                  <a:srgbClr val="0432FF"/>
                </a:solidFill>
                <a:latin typeface="Palatino Linotype"/>
                <a:cs typeface="Palatino Linotype"/>
              </a:rPr>
              <a:t> </a:t>
            </a:r>
            <a:r>
              <a:rPr sz="2600" kern="1200" dirty="0">
                <a:solidFill>
                  <a:prstClr val="black"/>
                </a:solidFill>
                <a:latin typeface="Cambria Math"/>
                <a:cs typeface="Cambria Math"/>
              </a:rPr>
              <a:t>𝑆</a:t>
            </a:r>
            <a:r>
              <a:rPr sz="2600" kern="1200" spc="204"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50" dirty="0">
                <a:solidFill>
                  <a:prstClr val="black"/>
                </a:solidFill>
                <a:latin typeface="Cambria Math"/>
                <a:cs typeface="Cambria Math"/>
              </a:rPr>
              <a:t> </a:t>
            </a:r>
            <a:r>
              <a:rPr sz="2600" kern="1200" dirty="0">
                <a:solidFill>
                  <a:prstClr val="black"/>
                </a:solidFill>
                <a:latin typeface="Cambria Math"/>
                <a:cs typeface="Cambria Math"/>
              </a:rPr>
              <a:t>𝑐𝐴𝑑	𝐴</a:t>
            </a:r>
            <a:r>
              <a:rPr sz="2600" kern="1200" spc="14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20" dirty="0">
                <a:solidFill>
                  <a:prstClr val="black"/>
                </a:solidFill>
                <a:latin typeface="Cambria Math"/>
                <a:cs typeface="Cambria Math"/>
              </a:rPr>
              <a:t> </a:t>
            </a:r>
            <a:r>
              <a:rPr sz="2600" kern="1200" dirty="0">
                <a:solidFill>
                  <a:prstClr val="black"/>
                </a:solidFill>
                <a:latin typeface="Cambria Math"/>
                <a:cs typeface="Cambria Math"/>
              </a:rPr>
              <a:t>𝑎𝑏</a:t>
            </a:r>
            <a:r>
              <a:rPr sz="2600" kern="1200" spc="3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25" dirty="0">
                <a:solidFill>
                  <a:prstClr val="black"/>
                </a:solidFill>
                <a:latin typeface="Cambria Math"/>
                <a:cs typeface="Cambria Math"/>
              </a:rPr>
              <a:t> </a:t>
            </a:r>
            <a:r>
              <a:rPr sz="2600" kern="1200" dirty="0">
                <a:solidFill>
                  <a:prstClr val="black"/>
                </a:solidFill>
                <a:latin typeface="Cambria Math"/>
                <a:cs typeface="Cambria Math"/>
              </a:rPr>
              <a:t>𝑎</a:t>
            </a:r>
            <a:endParaRPr sz="2600" kern="1200">
              <a:solidFill>
                <a:prstClr val="black"/>
              </a:solidFill>
              <a:latin typeface="Cambria Math"/>
              <a:cs typeface="Cambria Math"/>
            </a:endParaRPr>
          </a:p>
          <a:p>
            <a:pPr marL="243204" indent="-230504" rtl="0">
              <a:spcBef>
                <a:spcPts val="1275"/>
              </a:spcBef>
              <a:buClr>
                <a:srgbClr val="000000"/>
              </a:buClr>
              <a:buFont typeface="Arial MT"/>
              <a:buChar char="•"/>
              <a:tabLst>
                <a:tab pos="243204" algn="l"/>
              </a:tabLst>
            </a:pPr>
            <a:r>
              <a:rPr sz="2600" kern="1200" spc="-5" dirty="0">
                <a:solidFill>
                  <a:srgbClr val="0432FF"/>
                </a:solidFill>
                <a:latin typeface="Palatino Linotype"/>
                <a:cs typeface="Palatino Linotype"/>
              </a:rPr>
              <a:t>Input</a:t>
            </a:r>
            <a:r>
              <a:rPr sz="2600" kern="1200" spc="-25" dirty="0">
                <a:solidFill>
                  <a:srgbClr val="0432FF"/>
                </a:solidFill>
                <a:latin typeface="Palatino Linotype"/>
                <a:cs typeface="Palatino Linotype"/>
              </a:rPr>
              <a:t> </a:t>
            </a:r>
            <a:r>
              <a:rPr sz="2600" kern="1200" spc="-5" dirty="0">
                <a:solidFill>
                  <a:srgbClr val="0432FF"/>
                </a:solidFill>
                <a:latin typeface="Palatino Linotype"/>
                <a:cs typeface="Palatino Linotype"/>
              </a:rPr>
              <a:t>string:</a:t>
            </a:r>
            <a:r>
              <a:rPr sz="2600" kern="1200" spc="-20" dirty="0">
                <a:solidFill>
                  <a:srgbClr val="0432FF"/>
                </a:solidFill>
                <a:latin typeface="Palatino Linotype"/>
                <a:cs typeface="Palatino Linotype"/>
              </a:rPr>
              <a:t> </a:t>
            </a:r>
            <a:r>
              <a:rPr sz="2600" kern="1200" dirty="0">
                <a:solidFill>
                  <a:prstClr val="black"/>
                </a:solidFill>
                <a:latin typeface="Cambria Math"/>
                <a:cs typeface="Cambria Math"/>
              </a:rPr>
              <a:t>𝑐𝑎𝑑</a:t>
            </a:r>
            <a:endParaRPr sz="2600" kern="1200">
              <a:solidFill>
                <a:prstClr val="black"/>
              </a:solidFill>
              <a:latin typeface="Cambria Math"/>
              <a:cs typeface="Cambria Math"/>
            </a:endParaRPr>
          </a:p>
        </p:txBody>
      </p:sp>
      <p:grpSp>
        <p:nvGrpSpPr>
          <p:cNvPr id="26" name="object 7">
            <a:extLst>
              <a:ext uri="{FF2B5EF4-FFF2-40B4-BE49-F238E27FC236}">
                <a16:creationId xmlns:a16="http://schemas.microsoft.com/office/drawing/2014/main" id="{9FA85EAE-5BCE-C63C-F2AD-DF36294079DD}"/>
              </a:ext>
            </a:extLst>
          </p:cNvPr>
          <p:cNvGrpSpPr/>
          <p:nvPr/>
        </p:nvGrpSpPr>
        <p:grpSpPr>
          <a:xfrm>
            <a:off x="724243" y="3534558"/>
            <a:ext cx="3230245" cy="408940"/>
            <a:chOff x="724243" y="3534558"/>
            <a:chExt cx="3230245" cy="408940"/>
          </a:xfrm>
        </p:grpSpPr>
        <p:sp>
          <p:nvSpPr>
            <p:cNvPr id="27" name="object 8">
              <a:extLst>
                <a:ext uri="{FF2B5EF4-FFF2-40B4-BE49-F238E27FC236}">
                  <a16:creationId xmlns:a16="http://schemas.microsoft.com/office/drawing/2014/main" id="{ACB5D3E9-4CE8-4B3B-D67E-710B0DAAF6A2}"/>
                </a:ext>
              </a:extLst>
            </p:cNvPr>
            <p:cNvSpPr/>
            <p:nvPr/>
          </p:nvSpPr>
          <p:spPr>
            <a:xfrm>
              <a:off x="2869168" y="3547258"/>
              <a:ext cx="1059815" cy="370840"/>
            </a:xfrm>
            <a:custGeom>
              <a:avLst/>
              <a:gdLst/>
              <a:ahLst/>
              <a:cxnLst/>
              <a:rect l="l" t="t" r="r" b="b"/>
              <a:pathLst>
                <a:path w="1059814" h="370839">
                  <a:moveTo>
                    <a:pt x="1059762" y="0"/>
                  </a:moveTo>
                  <a:lnTo>
                    <a:pt x="0" y="0"/>
                  </a:lnTo>
                  <a:lnTo>
                    <a:pt x="0" y="370840"/>
                  </a:lnTo>
                  <a:lnTo>
                    <a:pt x="1059762" y="370840"/>
                  </a:lnTo>
                  <a:lnTo>
                    <a:pt x="1059762" y="0"/>
                  </a:lnTo>
                  <a:close/>
                </a:path>
              </a:pathLst>
            </a:custGeom>
            <a:solidFill>
              <a:srgbClr val="4472C4"/>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9">
              <a:extLst>
                <a:ext uri="{FF2B5EF4-FFF2-40B4-BE49-F238E27FC236}">
                  <a16:creationId xmlns:a16="http://schemas.microsoft.com/office/drawing/2014/main" id="{EBEEDB7F-79AB-8B72-C586-96B187E39CCB}"/>
                </a:ext>
              </a:extLst>
            </p:cNvPr>
            <p:cNvSpPr/>
            <p:nvPr/>
          </p:nvSpPr>
          <p:spPr>
            <a:xfrm>
              <a:off x="743293" y="3540908"/>
              <a:ext cx="3192145" cy="396240"/>
            </a:xfrm>
            <a:custGeom>
              <a:avLst/>
              <a:gdLst/>
              <a:ahLst/>
              <a:cxnLst/>
              <a:rect l="l" t="t" r="r" b="b"/>
              <a:pathLst>
                <a:path w="3192145" h="396239">
                  <a:moveTo>
                    <a:pt x="2125876" y="0"/>
                  </a:moveTo>
                  <a:lnTo>
                    <a:pt x="2125876" y="396240"/>
                  </a:lnTo>
                </a:path>
                <a:path w="3192145" h="396239">
                  <a:moveTo>
                    <a:pt x="3185639" y="0"/>
                  </a:moveTo>
                  <a:lnTo>
                    <a:pt x="3185639" y="396240"/>
                  </a:lnTo>
                </a:path>
                <a:path w="3192145" h="396239">
                  <a:moveTo>
                    <a:pt x="1066113" y="0"/>
                  </a:moveTo>
                  <a:lnTo>
                    <a:pt x="1066113" y="396240"/>
                  </a:lnTo>
                </a:path>
                <a:path w="3192145" h="396239">
                  <a:moveTo>
                    <a:pt x="6350" y="0"/>
                  </a:moveTo>
                  <a:lnTo>
                    <a:pt x="6350" y="396240"/>
                  </a:lnTo>
                </a:path>
                <a:path w="3192145" h="396239">
                  <a:moveTo>
                    <a:pt x="0" y="6350"/>
                  </a:moveTo>
                  <a:lnTo>
                    <a:pt x="3191989" y="6350"/>
                  </a:lnTo>
                </a:path>
              </a:pathLst>
            </a:custGeom>
            <a:ln w="127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9" name="object 10">
              <a:extLst>
                <a:ext uri="{FF2B5EF4-FFF2-40B4-BE49-F238E27FC236}">
                  <a16:creationId xmlns:a16="http://schemas.microsoft.com/office/drawing/2014/main" id="{7F63A0CF-9B88-C515-E114-0C7C99A54AFB}"/>
                </a:ext>
              </a:extLst>
            </p:cNvPr>
            <p:cNvSpPr/>
            <p:nvPr/>
          </p:nvSpPr>
          <p:spPr>
            <a:xfrm>
              <a:off x="743293" y="3918098"/>
              <a:ext cx="3192145" cy="0"/>
            </a:xfrm>
            <a:custGeom>
              <a:avLst/>
              <a:gdLst/>
              <a:ahLst/>
              <a:cxnLst/>
              <a:rect l="l" t="t" r="r" b="b"/>
              <a:pathLst>
                <a:path w="3192145">
                  <a:moveTo>
                    <a:pt x="0" y="0"/>
                  </a:moveTo>
                  <a:lnTo>
                    <a:pt x="3191989" y="0"/>
                  </a:lnTo>
                </a:path>
              </a:pathLst>
            </a:custGeom>
            <a:ln w="381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0" name="object 11">
            <a:extLst>
              <a:ext uri="{FF2B5EF4-FFF2-40B4-BE49-F238E27FC236}">
                <a16:creationId xmlns:a16="http://schemas.microsoft.com/office/drawing/2014/main" id="{F08B7A65-39BC-CDB5-F58A-CBC5012E7496}"/>
              </a:ext>
            </a:extLst>
          </p:cNvPr>
          <p:cNvSpPr txBox="1"/>
          <p:nvPr/>
        </p:nvSpPr>
        <p:spPr>
          <a:xfrm>
            <a:off x="755993"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𝑐</a:t>
            </a:r>
            <a:endParaRPr kern="1200">
              <a:solidFill>
                <a:prstClr val="black"/>
              </a:solidFill>
              <a:latin typeface="Cambria Math"/>
              <a:cs typeface="Cambria Math"/>
            </a:endParaRPr>
          </a:p>
        </p:txBody>
      </p:sp>
      <p:sp>
        <p:nvSpPr>
          <p:cNvPr id="31" name="object 12">
            <a:extLst>
              <a:ext uri="{FF2B5EF4-FFF2-40B4-BE49-F238E27FC236}">
                <a16:creationId xmlns:a16="http://schemas.microsoft.com/office/drawing/2014/main" id="{1DC572AA-92C5-EB2B-407A-32309D9E08E1}"/>
              </a:ext>
            </a:extLst>
          </p:cNvPr>
          <p:cNvSpPr txBox="1"/>
          <p:nvPr/>
        </p:nvSpPr>
        <p:spPr>
          <a:xfrm>
            <a:off x="1815756"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𝑎</a:t>
            </a:r>
            <a:endParaRPr kern="1200">
              <a:solidFill>
                <a:prstClr val="black"/>
              </a:solidFill>
              <a:latin typeface="Cambria Math"/>
              <a:cs typeface="Cambria Math"/>
            </a:endParaRPr>
          </a:p>
        </p:txBody>
      </p:sp>
      <p:sp>
        <p:nvSpPr>
          <p:cNvPr id="32" name="object 13">
            <a:extLst>
              <a:ext uri="{FF2B5EF4-FFF2-40B4-BE49-F238E27FC236}">
                <a16:creationId xmlns:a16="http://schemas.microsoft.com/office/drawing/2014/main" id="{C7D93E76-3D5A-79A2-7180-277AFFF9A0D2}"/>
              </a:ext>
            </a:extLst>
          </p:cNvPr>
          <p:cNvSpPr txBox="1"/>
          <p:nvPr/>
        </p:nvSpPr>
        <p:spPr>
          <a:xfrm>
            <a:off x="2875519" y="3568700"/>
            <a:ext cx="1047115" cy="299720"/>
          </a:xfrm>
          <a:prstGeom prst="rect">
            <a:avLst/>
          </a:prstGeom>
        </p:spPr>
        <p:txBody>
          <a:bodyPr vert="horz" wrap="square" lIns="0" tIns="12700" rIns="0" bIns="0" rtlCol="0">
            <a:spAutoFit/>
          </a:bodyPr>
          <a:lstStyle/>
          <a:p>
            <a:pPr algn="ctr" rtl="0">
              <a:spcBef>
                <a:spcPts val="100"/>
              </a:spcBef>
            </a:pPr>
            <a:r>
              <a:rPr kern="1200" dirty="0">
                <a:solidFill>
                  <a:srgbClr val="FFFFFF"/>
                </a:solidFill>
                <a:latin typeface="Cambria Math"/>
                <a:cs typeface="Cambria Math"/>
              </a:rPr>
              <a:t>𝑑</a:t>
            </a:r>
            <a:endParaRPr kern="1200">
              <a:solidFill>
                <a:prstClr val="black"/>
              </a:solidFill>
              <a:latin typeface="Cambria Math"/>
              <a:cs typeface="Cambria Math"/>
            </a:endParaRPr>
          </a:p>
        </p:txBody>
      </p:sp>
      <p:sp>
        <p:nvSpPr>
          <p:cNvPr id="33" name="object 14">
            <a:extLst>
              <a:ext uri="{FF2B5EF4-FFF2-40B4-BE49-F238E27FC236}">
                <a16:creationId xmlns:a16="http://schemas.microsoft.com/office/drawing/2014/main" id="{44CA77ED-19CD-F36B-82B7-E240FB3683A4}"/>
              </a:ext>
            </a:extLst>
          </p:cNvPr>
          <p:cNvSpPr/>
          <p:nvPr/>
        </p:nvSpPr>
        <p:spPr>
          <a:xfrm>
            <a:off x="3342298" y="3995320"/>
            <a:ext cx="103505" cy="511175"/>
          </a:xfrm>
          <a:custGeom>
            <a:avLst/>
            <a:gdLst/>
            <a:ahLst/>
            <a:cxnLst/>
            <a:rect l="l" t="t" r="r" b="b"/>
            <a:pathLst>
              <a:path w="103504" h="511175">
                <a:moveTo>
                  <a:pt x="51702" y="25204"/>
                </a:moveTo>
                <a:lnTo>
                  <a:pt x="45352" y="36089"/>
                </a:lnTo>
                <a:lnTo>
                  <a:pt x="45352" y="510776"/>
                </a:lnTo>
                <a:lnTo>
                  <a:pt x="58052" y="510776"/>
                </a:lnTo>
                <a:lnTo>
                  <a:pt x="58051" y="36089"/>
                </a:lnTo>
                <a:lnTo>
                  <a:pt x="51702" y="25204"/>
                </a:lnTo>
                <a:close/>
              </a:path>
              <a:path w="103504" h="511175">
                <a:moveTo>
                  <a:pt x="51702" y="0"/>
                </a:moveTo>
                <a:lnTo>
                  <a:pt x="0" y="88633"/>
                </a:lnTo>
                <a:lnTo>
                  <a:pt x="1023" y="92520"/>
                </a:lnTo>
                <a:lnTo>
                  <a:pt x="7082" y="96055"/>
                </a:lnTo>
                <a:lnTo>
                  <a:pt x="10970" y="95031"/>
                </a:lnTo>
                <a:lnTo>
                  <a:pt x="45351" y="36091"/>
                </a:lnTo>
                <a:lnTo>
                  <a:pt x="45352" y="12602"/>
                </a:lnTo>
                <a:lnTo>
                  <a:pt x="59054" y="12602"/>
                </a:lnTo>
                <a:lnTo>
                  <a:pt x="51702" y="0"/>
                </a:lnTo>
                <a:close/>
              </a:path>
              <a:path w="103504" h="511175">
                <a:moveTo>
                  <a:pt x="59054" y="12602"/>
                </a:moveTo>
                <a:lnTo>
                  <a:pt x="58052" y="12602"/>
                </a:lnTo>
                <a:lnTo>
                  <a:pt x="58052" y="36091"/>
                </a:lnTo>
                <a:lnTo>
                  <a:pt x="92434" y="95031"/>
                </a:lnTo>
                <a:lnTo>
                  <a:pt x="96323" y="96055"/>
                </a:lnTo>
                <a:lnTo>
                  <a:pt x="102381" y="92520"/>
                </a:lnTo>
                <a:lnTo>
                  <a:pt x="103404" y="88632"/>
                </a:lnTo>
                <a:lnTo>
                  <a:pt x="59054" y="12602"/>
                </a:lnTo>
                <a:close/>
              </a:path>
              <a:path w="103504" h="511175">
                <a:moveTo>
                  <a:pt x="58052" y="15802"/>
                </a:moveTo>
                <a:lnTo>
                  <a:pt x="57186" y="15802"/>
                </a:lnTo>
                <a:lnTo>
                  <a:pt x="51702" y="25204"/>
                </a:lnTo>
                <a:lnTo>
                  <a:pt x="58052" y="36091"/>
                </a:lnTo>
                <a:lnTo>
                  <a:pt x="58052" y="15802"/>
                </a:lnTo>
                <a:close/>
              </a:path>
              <a:path w="103504" h="511175">
                <a:moveTo>
                  <a:pt x="58052" y="12602"/>
                </a:moveTo>
                <a:lnTo>
                  <a:pt x="45352" y="12602"/>
                </a:lnTo>
                <a:lnTo>
                  <a:pt x="45352" y="36089"/>
                </a:lnTo>
                <a:lnTo>
                  <a:pt x="51702" y="25204"/>
                </a:lnTo>
                <a:lnTo>
                  <a:pt x="46217" y="15802"/>
                </a:lnTo>
                <a:lnTo>
                  <a:pt x="58052" y="15802"/>
                </a:lnTo>
                <a:lnTo>
                  <a:pt x="58052" y="12602"/>
                </a:lnTo>
                <a:close/>
              </a:path>
              <a:path w="103504" h="511175">
                <a:moveTo>
                  <a:pt x="57186" y="15802"/>
                </a:moveTo>
                <a:lnTo>
                  <a:pt x="46217" y="15802"/>
                </a:lnTo>
                <a:lnTo>
                  <a:pt x="51702" y="25204"/>
                </a:lnTo>
                <a:lnTo>
                  <a:pt x="57186" y="15802"/>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15">
            <a:extLst>
              <a:ext uri="{FF2B5EF4-FFF2-40B4-BE49-F238E27FC236}">
                <a16:creationId xmlns:a16="http://schemas.microsoft.com/office/drawing/2014/main" id="{9C73DB1C-D5A1-EED3-04DE-537D728AA53B}"/>
              </a:ext>
            </a:extLst>
          </p:cNvPr>
          <p:cNvSpPr txBox="1"/>
          <p:nvPr/>
        </p:nvSpPr>
        <p:spPr>
          <a:xfrm>
            <a:off x="3472741" y="4260595"/>
            <a:ext cx="1371600"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Palatino Linotype"/>
                <a:cs typeface="Palatino Linotype"/>
              </a:rPr>
              <a:t>input</a:t>
            </a:r>
            <a:r>
              <a:rPr kern="1200" spc="-75" dirty="0">
                <a:solidFill>
                  <a:srgbClr val="FF0000"/>
                </a:solidFill>
                <a:latin typeface="Palatino Linotype"/>
                <a:cs typeface="Palatino Linotype"/>
              </a:rPr>
              <a:t> </a:t>
            </a:r>
            <a:r>
              <a:rPr kern="1200" dirty="0">
                <a:solidFill>
                  <a:srgbClr val="FF0000"/>
                </a:solidFill>
                <a:latin typeface="Palatino Linotype"/>
                <a:cs typeface="Palatino Linotype"/>
              </a:rPr>
              <a:t>pointer</a:t>
            </a:r>
            <a:endParaRPr kern="1200">
              <a:solidFill>
                <a:prstClr val="black"/>
              </a:solidFill>
              <a:latin typeface="Palatino Linotype"/>
              <a:cs typeface="Palatino Linotype"/>
            </a:endParaRPr>
          </a:p>
        </p:txBody>
      </p:sp>
      <p:sp>
        <p:nvSpPr>
          <p:cNvPr id="35" name="object 16">
            <a:extLst>
              <a:ext uri="{FF2B5EF4-FFF2-40B4-BE49-F238E27FC236}">
                <a16:creationId xmlns:a16="http://schemas.microsoft.com/office/drawing/2014/main" id="{B164CA54-C48E-14A8-4F8E-6050B7EEA2FE}"/>
              </a:ext>
            </a:extLst>
          </p:cNvPr>
          <p:cNvSpPr txBox="1"/>
          <p:nvPr/>
        </p:nvSpPr>
        <p:spPr>
          <a:xfrm>
            <a:off x="4238848" y="3092196"/>
            <a:ext cx="4451350" cy="635000"/>
          </a:xfrm>
          <a:prstGeom prst="rect">
            <a:avLst/>
          </a:prstGeom>
        </p:spPr>
        <p:txBody>
          <a:bodyPr vert="horz" wrap="square" lIns="0" tIns="12700" rIns="0" bIns="0" rtlCol="0">
            <a:spAutoFit/>
          </a:bodyPr>
          <a:lstStyle/>
          <a:p>
            <a:pPr marL="355600" indent="-342900" rtl="0">
              <a:spcBef>
                <a:spcPts val="100"/>
              </a:spcBef>
              <a:buFont typeface="Cambria Math"/>
              <a:buChar char="⎯"/>
              <a:tabLst>
                <a:tab pos="354965" algn="l"/>
                <a:tab pos="355600" algn="l"/>
              </a:tabLst>
            </a:pPr>
            <a:r>
              <a:rPr sz="2000" kern="1200" spc="-5" dirty="0">
                <a:solidFill>
                  <a:srgbClr val="0432FF"/>
                </a:solidFill>
                <a:latin typeface="Palatino Linotype"/>
                <a:cs typeface="Palatino Linotype"/>
              </a:rPr>
              <a:t>Symbol</a:t>
            </a:r>
            <a:r>
              <a:rPr sz="2000" kern="1200" spc="-20" dirty="0">
                <a:solidFill>
                  <a:srgbClr val="0432FF"/>
                </a:solidFill>
                <a:latin typeface="Palatino Linotype"/>
                <a:cs typeface="Palatino Linotype"/>
              </a:rPr>
              <a:t> </a:t>
            </a:r>
            <a:r>
              <a:rPr sz="2000" kern="1200" spc="-5" dirty="0">
                <a:solidFill>
                  <a:srgbClr val="0432FF"/>
                </a:solidFill>
                <a:latin typeface="Palatino Linotype"/>
                <a:cs typeface="Palatino Linotype"/>
              </a:rPr>
              <a:t>mismatch</a:t>
            </a:r>
            <a:endParaRPr sz="2000" kern="1200">
              <a:solidFill>
                <a:prstClr val="black"/>
              </a:solidFill>
              <a:latin typeface="Palatino Linotype"/>
              <a:cs typeface="Palatino Linotype"/>
            </a:endParaRPr>
          </a:p>
          <a:p>
            <a:pPr marL="355600" indent="-342900" rtl="0">
              <a:buFont typeface="Cambria Math"/>
              <a:buChar char="⎯"/>
              <a:tabLst>
                <a:tab pos="354965" algn="l"/>
                <a:tab pos="355600" algn="l"/>
              </a:tabLst>
            </a:pPr>
            <a:r>
              <a:rPr sz="2000" kern="1200" spc="-5" dirty="0">
                <a:solidFill>
                  <a:srgbClr val="FF0000"/>
                </a:solidFill>
                <a:latin typeface="Palatino Linotype"/>
                <a:cs typeface="Palatino Linotype"/>
              </a:rPr>
              <a:t>Go</a:t>
            </a:r>
            <a:r>
              <a:rPr sz="2000" kern="1200" spc="-15" dirty="0">
                <a:solidFill>
                  <a:srgbClr val="FF0000"/>
                </a:solidFill>
                <a:latin typeface="Palatino Linotype"/>
                <a:cs typeface="Palatino Linotype"/>
              </a:rPr>
              <a:t> </a:t>
            </a:r>
            <a:r>
              <a:rPr sz="2000" kern="1200" dirty="0">
                <a:solidFill>
                  <a:srgbClr val="FF0000"/>
                </a:solidFill>
                <a:latin typeface="Palatino Linotype"/>
                <a:cs typeface="Palatino Linotype"/>
              </a:rPr>
              <a:t>back</a:t>
            </a:r>
            <a:r>
              <a:rPr sz="2000" kern="1200" spc="-5" dirty="0">
                <a:solidFill>
                  <a:srgbClr val="FF0000"/>
                </a:solidFill>
                <a:latin typeface="Palatino Linotype"/>
                <a:cs typeface="Palatino Linotype"/>
              </a:rPr>
              <a:t> to</a:t>
            </a:r>
            <a:r>
              <a:rPr sz="2000" kern="1200" spc="-10" dirty="0">
                <a:solidFill>
                  <a:srgbClr val="FF0000"/>
                </a:solidFill>
                <a:latin typeface="Palatino Linotype"/>
                <a:cs typeface="Palatino Linotype"/>
              </a:rPr>
              <a:t> </a:t>
            </a:r>
            <a:r>
              <a:rPr sz="2000" kern="1200" spc="-5" dirty="0">
                <a:solidFill>
                  <a:srgbClr val="FF0000"/>
                </a:solidFill>
                <a:latin typeface="Palatino Linotype"/>
                <a:cs typeface="Palatino Linotype"/>
              </a:rPr>
              <a:t>try another</a:t>
            </a:r>
            <a:r>
              <a:rPr sz="2000" kern="1200" spc="-10" dirty="0">
                <a:solidFill>
                  <a:srgbClr val="FF0000"/>
                </a:solidFill>
                <a:latin typeface="Palatino Linotype"/>
                <a:cs typeface="Palatino Linotype"/>
              </a:rPr>
              <a:t> </a:t>
            </a:r>
            <a:r>
              <a:rPr sz="2000" kern="1200" spc="-5" dirty="0">
                <a:solidFill>
                  <a:srgbClr val="FF0000"/>
                </a:solidFill>
                <a:latin typeface="Cambria Math"/>
                <a:cs typeface="Cambria Math"/>
              </a:rPr>
              <a:t>𝐴</a:t>
            </a:r>
            <a:r>
              <a:rPr sz="2000" kern="1200" spc="-5" dirty="0">
                <a:solidFill>
                  <a:srgbClr val="FF0000"/>
                </a:solidFill>
                <a:latin typeface="Palatino Linotype"/>
                <a:cs typeface="Palatino Linotype"/>
              </a:rPr>
              <a:t>-production</a:t>
            </a:r>
            <a:endParaRPr sz="2000" kern="1200">
              <a:solidFill>
                <a:prstClr val="black"/>
              </a:solidFill>
              <a:latin typeface="Palatino Linotype"/>
              <a:cs typeface="Palatino Linotype"/>
            </a:endParaRPr>
          </a:p>
        </p:txBody>
      </p:sp>
      <p:sp>
        <p:nvSpPr>
          <p:cNvPr id="36" name="object 17">
            <a:extLst>
              <a:ext uri="{FF2B5EF4-FFF2-40B4-BE49-F238E27FC236}">
                <a16:creationId xmlns:a16="http://schemas.microsoft.com/office/drawing/2014/main" id="{E421E424-0BE8-5150-B7EE-21AE2D2EA5A0}"/>
              </a:ext>
            </a:extLst>
          </p:cNvPr>
          <p:cNvSpPr/>
          <p:nvPr/>
        </p:nvSpPr>
        <p:spPr>
          <a:xfrm>
            <a:off x="2961511" y="3558923"/>
            <a:ext cx="882015" cy="400685"/>
          </a:xfrm>
          <a:custGeom>
            <a:avLst/>
            <a:gdLst/>
            <a:ahLst/>
            <a:cxnLst/>
            <a:rect l="l" t="t" r="r" b="b"/>
            <a:pathLst>
              <a:path w="882014"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0566189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56</a:t>
            </a:fld>
            <a:endParaRPr lang="en-US"/>
          </a:p>
        </p:txBody>
      </p:sp>
      <p:sp>
        <p:nvSpPr>
          <p:cNvPr id="11" name="object 2">
            <a:extLst>
              <a:ext uri="{FF2B5EF4-FFF2-40B4-BE49-F238E27FC236}">
                <a16:creationId xmlns:a16="http://schemas.microsoft.com/office/drawing/2014/main" id="{B3575E2C-83F2-0BA8-538F-1E48CEB29A3B}"/>
              </a:ext>
            </a:extLst>
          </p:cNvPr>
          <p:cNvSpPr txBox="1">
            <a:spLocks/>
          </p:cNvSpPr>
          <p:nvPr/>
        </p:nvSpPr>
        <p:spPr>
          <a:xfrm>
            <a:off x="707390" y="524763"/>
            <a:ext cx="51974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graphicFrame>
        <p:nvGraphicFramePr>
          <p:cNvPr id="12" name="object 3">
            <a:extLst>
              <a:ext uri="{FF2B5EF4-FFF2-40B4-BE49-F238E27FC236}">
                <a16:creationId xmlns:a16="http://schemas.microsoft.com/office/drawing/2014/main" id="{C02FA1D7-786B-92E1-86B7-D650D91559C9}"/>
              </a:ext>
            </a:extLst>
          </p:cNvPr>
          <p:cNvGraphicFramePr>
            <a:graphicFrameLocks noGrp="1"/>
          </p:cNvGraphicFramePr>
          <p:nvPr/>
        </p:nvGraphicFramePr>
        <p:xfrm>
          <a:off x="743293" y="3540908"/>
          <a:ext cx="3179445" cy="370840"/>
        </p:xfrm>
        <a:graphic>
          <a:graphicData uri="http://schemas.openxmlformats.org/drawingml/2006/table">
            <a:tbl>
              <a:tblPr firstRow="1" bandRow="1"/>
              <a:tblGrid>
                <a:gridCol w="1059815">
                  <a:extLst>
                    <a:ext uri="{9D8B030D-6E8A-4147-A177-3AD203B41FA5}">
                      <a16:colId xmlns:a16="http://schemas.microsoft.com/office/drawing/2014/main" val="20000"/>
                    </a:ext>
                  </a:extLst>
                </a:gridCol>
                <a:gridCol w="1059815">
                  <a:extLst>
                    <a:ext uri="{9D8B030D-6E8A-4147-A177-3AD203B41FA5}">
                      <a16:colId xmlns:a16="http://schemas.microsoft.com/office/drawing/2014/main" val="20001"/>
                    </a:ext>
                  </a:extLst>
                </a:gridCol>
                <a:gridCol w="1059815">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800" dirty="0">
                          <a:solidFill>
                            <a:srgbClr val="FFFFFF"/>
                          </a:solidFill>
                          <a:latin typeface="Cambria Math"/>
                          <a:cs typeface="Cambria Math"/>
                        </a:rPr>
                        <a:t>𝑐</a:t>
                      </a:r>
                      <a:endParaRPr sz="1800">
                        <a:latin typeface="Cambria Math"/>
                        <a:cs typeface="Cambria Math"/>
                      </a:endParaRPr>
                    </a:p>
                  </a:txBody>
                  <a:tcPr marL="0" marR="0" marT="33655"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800" dirty="0">
                          <a:solidFill>
                            <a:srgbClr val="FFFFFF"/>
                          </a:solidFill>
                          <a:latin typeface="Cambria Math"/>
                          <a:cs typeface="Cambria Math"/>
                        </a:rPr>
                        <a:t>𝑎</a:t>
                      </a:r>
                      <a:endParaRPr sz="1800">
                        <a:latin typeface="Cambria Math"/>
                        <a:cs typeface="Cambria Math"/>
                      </a:endParaRPr>
                    </a:p>
                  </a:txBody>
                  <a:tcPr marL="0" marR="0" marT="33655"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800" dirty="0">
                          <a:solidFill>
                            <a:srgbClr val="FFFFFF"/>
                          </a:solidFill>
                          <a:latin typeface="Cambria Math"/>
                          <a:cs typeface="Cambria Math"/>
                        </a:rPr>
                        <a:t>𝑑</a:t>
                      </a:r>
                      <a:endParaRPr sz="1800">
                        <a:latin typeface="Cambria Math"/>
                        <a:cs typeface="Cambria Math"/>
                      </a:endParaRPr>
                    </a:p>
                  </a:txBody>
                  <a:tcPr marL="0" marR="0" marT="33655"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10000"/>
                  </a:ext>
                </a:extLst>
              </a:tr>
            </a:tbl>
          </a:graphicData>
        </a:graphic>
      </p:graphicFrame>
      <p:sp>
        <p:nvSpPr>
          <p:cNvPr id="13" name="object 4">
            <a:extLst>
              <a:ext uri="{FF2B5EF4-FFF2-40B4-BE49-F238E27FC236}">
                <a16:creationId xmlns:a16="http://schemas.microsoft.com/office/drawing/2014/main" id="{D9AA69F8-1A38-ECAD-BCB5-66D0C874F771}"/>
              </a:ext>
            </a:extLst>
          </p:cNvPr>
          <p:cNvSpPr txBox="1"/>
          <p:nvPr/>
        </p:nvSpPr>
        <p:spPr>
          <a:xfrm>
            <a:off x="707390" y="1498091"/>
            <a:ext cx="8178165" cy="2229485"/>
          </a:xfrm>
          <a:prstGeom prst="rect">
            <a:avLst/>
          </a:prstGeom>
        </p:spPr>
        <p:txBody>
          <a:bodyPr vert="horz" wrap="square" lIns="0" tIns="173990" rIns="0" bIns="0" rtlCol="0">
            <a:spAutoFit/>
          </a:bodyPr>
          <a:lstStyle/>
          <a:p>
            <a:pPr marL="243204" indent="-230504" rtl="0">
              <a:spcBef>
                <a:spcPts val="1370"/>
              </a:spcBef>
              <a:buClr>
                <a:srgbClr val="000000"/>
              </a:buClr>
              <a:buFont typeface="Arial MT"/>
              <a:buChar char="•"/>
              <a:tabLst>
                <a:tab pos="243204" algn="l"/>
                <a:tab pos="3288029" algn="l"/>
              </a:tabLst>
            </a:pPr>
            <a:r>
              <a:rPr sz="2600" kern="1200" spc="-5" dirty="0">
                <a:solidFill>
                  <a:srgbClr val="0432FF"/>
                </a:solidFill>
                <a:latin typeface="Palatino Linotype"/>
                <a:cs typeface="Palatino Linotype"/>
              </a:rPr>
              <a:t>Grammar:</a:t>
            </a:r>
            <a:r>
              <a:rPr sz="2600" kern="1200" dirty="0">
                <a:solidFill>
                  <a:srgbClr val="0432FF"/>
                </a:solidFill>
                <a:latin typeface="Palatino Linotype"/>
                <a:cs typeface="Palatino Linotype"/>
              </a:rPr>
              <a:t> </a:t>
            </a:r>
            <a:r>
              <a:rPr sz="2600" kern="1200" dirty="0">
                <a:solidFill>
                  <a:prstClr val="black"/>
                </a:solidFill>
                <a:latin typeface="Cambria Math"/>
                <a:cs typeface="Cambria Math"/>
              </a:rPr>
              <a:t>𝑆</a:t>
            </a:r>
            <a:r>
              <a:rPr sz="2600" kern="1200" spc="204"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50" dirty="0">
                <a:solidFill>
                  <a:prstClr val="black"/>
                </a:solidFill>
                <a:latin typeface="Cambria Math"/>
                <a:cs typeface="Cambria Math"/>
              </a:rPr>
              <a:t> </a:t>
            </a:r>
            <a:r>
              <a:rPr sz="2600" kern="1200" dirty="0">
                <a:solidFill>
                  <a:prstClr val="black"/>
                </a:solidFill>
                <a:latin typeface="Cambria Math"/>
                <a:cs typeface="Cambria Math"/>
              </a:rPr>
              <a:t>𝑐𝐴𝑑	𝐴</a:t>
            </a:r>
            <a:r>
              <a:rPr sz="2600" kern="1200" spc="150"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25" dirty="0">
                <a:solidFill>
                  <a:prstClr val="black"/>
                </a:solidFill>
                <a:latin typeface="Cambria Math"/>
                <a:cs typeface="Cambria Math"/>
              </a:rPr>
              <a:t> </a:t>
            </a:r>
            <a:r>
              <a:rPr sz="2600" kern="1200" dirty="0">
                <a:solidFill>
                  <a:prstClr val="black"/>
                </a:solidFill>
                <a:latin typeface="Cambria Math"/>
                <a:cs typeface="Cambria Math"/>
              </a:rPr>
              <a:t>𝑎𝑏</a:t>
            </a:r>
            <a:r>
              <a:rPr sz="2600" kern="1200" spc="40" dirty="0">
                <a:solidFill>
                  <a:prstClr val="black"/>
                </a:solidFill>
                <a:latin typeface="Cambria Math"/>
                <a:cs typeface="Cambria Math"/>
              </a:rPr>
              <a:t> </a:t>
            </a:r>
            <a:r>
              <a:rPr sz="2600" kern="1200" dirty="0">
                <a:solidFill>
                  <a:prstClr val="black"/>
                </a:solidFill>
                <a:latin typeface="Cambria Math"/>
                <a:cs typeface="Cambria Math"/>
              </a:rPr>
              <a:t>|</a:t>
            </a:r>
            <a:r>
              <a:rPr sz="2600" kern="1200" spc="-20" dirty="0">
                <a:solidFill>
                  <a:prstClr val="black"/>
                </a:solidFill>
                <a:latin typeface="Cambria Math"/>
                <a:cs typeface="Cambria Math"/>
              </a:rPr>
              <a:t> </a:t>
            </a:r>
            <a:r>
              <a:rPr sz="2600" kern="1200" dirty="0">
                <a:solidFill>
                  <a:prstClr val="black"/>
                </a:solidFill>
                <a:latin typeface="Cambria Math"/>
                <a:cs typeface="Cambria Math"/>
              </a:rPr>
              <a:t>𝑎</a:t>
            </a:r>
            <a:endParaRPr sz="2600" kern="1200">
              <a:solidFill>
                <a:prstClr val="black"/>
              </a:solidFill>
              <a:latin typeface="Cambria Math"/>
              <a:cs typeface="Cambria Math"/>
            </a:endParaRPr>
          </a:p>
          <a:p>
            <a:pPr marL="243204" indent="-230504" rtl="0">
              <a:spcBef>
                <a:spcPts val="1275"/>
              </a:spcBef>
              <a:buClr>
                <a:srgbClr val="000000"/>
              </a:buClr>
              <a:buFont typeface="Arial MT"/>
              <a:buChar char="•"/>
              <a:tabLst>
                <a:tab pos="243204" algn="l"/>
              </a:tabLst>
            </a:pPr>
            <a:r>
              <a:rPr sz="2600" kern="1200" spc="-5" dirty="0">
                <a:solidFill>
                  <a:srgbClr val="0432FF"/>
                </a:solidFill>
                <a:latin typeface="Palatino Linotype"/>
                <a:cs typeface="Palatino Linotype"/>
              </a:rPr>
              <a:t>Input</a:t>
            </a:r>
            <a:r>
              <a:rPr sz="2600" kern="1200" spc="-25" dirty="0">
                <a:solidFill>
                  <a:srgbClr val="0432FF"/>
                </a:solidFill>
                <a:latin typeface="Palatino Linotype"/>
                <a:cs typeface="Palatino Linotype"/>
              </a:rPr>
              <a:t> </a:t>
            </a:r>
            <a:r>
              <a:rPr sz="2600" kern="1200" spc="-5" dirty="0">
                <a:solidFill>
                  <a:srgbClr val="0432FF"/>
                </a:solidFill>
                <a:latin typeface="Palatino Linotype"/>
                <a:cs typeface="Palatino Linotype"/>
              </a:rPr>
              <a:t>string:</a:t>
            </a:r>
            <a:r>
              <a:rPr sz="2600" kern="1200" spc="-20" dirty="0">
                <a:solidFill>
                  <a:srgbClr val="0432FF"/>
                </a:solidFill>
                <a:latin typeface="Palatino Linotype"/>
                <a:cs typeface="Palatino Linotype"/>
              </a:rPr>
              <a:t> </a:t>
            </a:r>
            <a:r>
              <a:rPr sz="2600" kern="1200" dirty="0">
                <a:solidFill>
                  <a:prstClr val="black"/>
                </a:solidFill>
                <a:latin typeface="Cambria Math"/>
                <a:cs typeface="Cambria Math"/>
              </a:rPr>
              <a:t>𝑐𝑎𝑑</a:t>
            </a:r>
            <a:endParaRPr sz="2600" kern="1200">
              <a:solidFill>
                <a:prstClr val="black"/>
              </a:solidFill>
              <a:latin typeface="Cambria Math"/>
              <a:cs typeface="Cambria Math"/>
            </a:endParaRPr>
          </a:p>
          <a:p>
            <a:pPr rtl="0">
              <a:spcBef>
                <a:spcPts val="15"/>
              </a:spcBef>
              <a:buFont typeface="Arial MT"/>
              <a:buChar char="•"/>
            </a:pPr>
            <a:endParaRPr sz="3200" kern="1200">
              <a:solidFill>
                <a:prstClr val="black"/>
              </a:solidFill>
              <a:latin typeface="Cambria Math"/>
              <a:cs typeface="Cambria Math"/>
            </a:endParaRPr>
          </a:p>
          <a:p>
            <a:pPr marL="3886835" lvl="1" indent="-343535" rtl="0">
              <a:buFont typeface="Cambria Math"/>
              <a:buChar char="⎯"/>
              <a:tabLst>
                <a:tab pos="3886835" algn="l"/>
                <a:tab pos="3887470" algn="l"/>
              </a:tabLst>
            </a:pPr>
            <a:r>
              <a:rPr sz="2000" kern="1200" dirty="0">
                <a:solidFill>
                  <a:srgbClr val="FF0000"/>
                </a:solidFill>
                <a:latin typeface="Palatino Linotype"/>
                <a:cs typeface="Palatino Linotype"/>
              </a:rPr>
              <a:t>Reset</a:t>
            </a:r>
            <a:r>
              <a:rPr sz="2000" kern="1200" spc="-30" dirty="0">
                <a:solidFill>
                  <a:srgbClr val="FF0000"/>
                </a:solidFill>
                <a:latin typeface="Palatino Linotype"/>
                <a:cs typeface="Palatino Linotype"/>
              </a:rPr>
              <a:t> </a:t>
            </a:r>
            <a:r>
              <a:rPr sz="2000" kern="1200" spc="-5" dirty="0">
                <a:solidFill>
                  <a:srgbClr val="FF0000"/>
                </a:solidFill>
                <a:latin typeface="Palatino Linotype"/>
                <a:cs typeface="Palatino Linotype"/>
              </a:rPr>
              <a:t>input</a:t>
            </a:r>
            <a:r>
              <a:rPr sz="2000" kern="1200" spc="-25" dirty="0">
                <a:solidFill>
                  <a:srgbClr val="FF0000"/>
                </a:solidFill>
                <a:latin typeface="Palatino Linotype"/>
                <a:cs typeface="Palatino Linotype"/>
              </a:rPr>
              <a:t> </a:t>
            </a:r>
            <a:r>
              <a:rPr sz="2000" kern="1200" spc="-5" dirty="0">
                <a:solidFill>
                  <a:srgbClr val="FF0000"/>
                </a:solidFill>
                <a:latin typeface="Palatino Linotype"/>
                <a:cs typeface="Palatino Linotype"/>
              </a:rPr>
              <a:t>pointer</a:t>
            </a:r>
            <a:endParaRPr sz="2000" kern="1200">
              <a:solidFill>
                <a:prstClr val="black"/>
              </a:solidFill>
              <a:latin typeface="Palatino Linotype"/>
              <a:cs typeface="Palatino Linotype"/>
            </a:endParaRPr>
          </a:p>
          <a:p>
            <a:pPr marL="3886835" lvl="1" indent="-343535" rtl="0">
              <a:buFont typeface="Cambria Math"/>
              <a:buChar char="⎯"/>
              <a:tabLst>
                <a:tab pos="3886835" algn="l"/>
                <a:tab pos="3887470" algn="l"/>
              </a:tabLst>
            </a:pPr>
            <a:r>
              <a:rPr sz="2000" kern="1200" spc="-5" dirty="0">
                <a:solidFill>
                  <a:srgbClr val="0432FF"/>
                </a:solidFill>
                <a:latin typeface="Palatino Linotype"/>
                <a:cs typeface="Palatino Linotype"/>
              </a:rPr>
              <a:t>Expand</a:t>
            </a:r>
            <a:r>
              <a:rPr sz="2000" kern="1200" spc="-10" dirty="0">
                <a:solidFill>
                  <a:srgbClr val="0432FF"/>
                </a:solidFill>
                <a:latin typeface="Palatino Linotype"/>
                <a:cs typeface="Palatino Linotype"/>
              </a:rPr>
              <a:t> </a:t>
            </a:r>
            <a:r>
              <a:rPr sz="2000" kern="1200" dirty="0">
                <a:solidFill>
                  <a:srgbClr val="0432FF"/>
                </a:solidFill>
                <a:latin typeface="Cambria Math"/>
                <a:cs typeface="Cambria Math"/>
              </a:rPr>
              <a:t>𝐴</a:t>
            </a:r>
            <a:r>
              <a:rPr sz="2000" kern="1200" spc="70" dirty="0">
                <a:solidFill>
                  <a:srgbClr val="0432FF"/>
                </a:solidFill>
                <a:latin typeface="Cambria Math"/>
                <a:cs typeface="Cambria Math"/>
              </a:rPr>
              <a:t> </a:t>
            </a:r>
            <a:r>
              <a:rPr sz="2000" kern="1200" spc="-5" dirty="0">
                <a:solidFill>
                  <a:srgbClr val="0432FF"/>
                </a:solidFill>
                <a:latin typeface="Palatino Linotype"/>
                <a:cs typeface="Palatino Linotype"/>
              </a:rPr>
              <a:t>using </a:t>
            </a:r>
            <a:r>
              <a:rPr sz="2000" kern="1200" dirty="0">
                <a:solidFill>
                  <a:srgbClr val="0432FF"/>
                </a:solidFill>
                <a:latin typeface="Palatino Linotype"/>
                <a:cs typeface="Palatino Linotype"/>
              </a:rPr>
              <a:t>its</a:t>
            </a:r>
            <a:r>
              <a:rPr sz="2000" kern="1200" spc="-5" dirty="0">
                <a:solidFill>
                  <a:srgbClr val="0432FF"/>
                </a:solidFill>
                <a:latin typeface="Palatino Linotype"/>
                <a:cs typeface="Palatino Linotype"/>
              </a:rPr>
              <a:t> second production</a:t>
            </a:r>
            <a:endParaRPr sz="2000" kern="1200">
              <a:solidFill>
                <a:prstClr val="black"/>
              </a:solidFill>
              <a:latin typeface="Palatino Linotype"/>
              <a:cs typeface="Palatino Linotype"/>
            </a:endParaRPr>
          </a:p>
        </p:txBody>
      </p:sp>
      <p:sp>
        <p:nvSpPr>
          <p:cNvPr id="14" name="object 5">
            <a:extLst>
              <a:ext uri="{FF2B5EF4-FFF2-40B4-BE49-F238E27FC236}">
                <a16:creationId xmlns:a16="http://schemas.microsoft.com/office/drawing/2014/main" id="{F079F63B-9C2A-8FCF-67AF-7EB2B2DEB557}"/>
              </a:ext>
            </a:extLst>
          </p:cNvPr>
          <p:cNvSpPr/>
          <p:nvPr/>
        </p:nvSpPr>
        <p:spPr>
          <a:xfrm>
            <a:off x="2296085" y="3995320"/>
            <a:ext cx="103505" cy="511175"/>
          </a:xfrm>
          <a:custGeom>
            <a:avLst/>
            <a:gdLst/>
            <a:ahLst/>
            <a:cxnLst/>
            <a:rect l="l" t="t" r="r" b="b"/>
            <a:pathLst>
              <a:path w="103505" h="511175">
                <a:moveTo>
                  <a:pt x="51701" y="25205"/>
                </a:moveTo>
                <a:lnTo>
                  <a:pt x="45351" y="36091"/>
                </a:lnTo>
                <a:lnTo>
                  <a:pt x="45352" y="510776"/>
                </a:lnTo>
                <a:lnTo>
                  <a:pt x="58052" y="510776"/>
                </a:lnTo>
                <a:lnTo>
                  <a:pt x="58051" y="36091"/>
                </a:lnTo>
                <a:lnTo>
                  <a:pt x="51701" y="25205"/>
                </a:lnTo>
                <a:close/>
              </a:path>
              <a:path w="103505" h="511175">
                <a:moveTo>
                  <a:pt x="51701" y="0"/>
                </a:moveTo>
                <a:lnTo>
                  <a:pt x="0" y="88633"/>
                </a:lnTo>
                <a:lnTo>
                  <a:pt x="1023" y="92520"/>
                </a:lnTo>
                <a:lnTo>
                  <a:pt x="7081" y="96055"/>
                </a:lnTo>
                <a:lnTo>
                  <a:pt x="10970" y="95031"/>
                </a:lnTo>
                <a:lnTo>
                  <a:pt x="45351" y="36091"/>
                </a:lnTo>
                <a:lnTo>
                  <a:pt x="45351" y="12602"/>
                </a:lnTo>
                <a:lnTo>
                  <a:pt x="59053" y="12602"/>
                </a:lnTo>
                <a:lnTo>
                  <a:pt x="51701" y="0"/>
                </a:lnTo>
                <a:close/>
              </a:path>
              <a:path w="103505" h="511175">
                <a:moveTo>
                  <a:pt x="59053" y="12602"/>
                </a:moveTo>
                <a:lnTo>
                  <a:pt x="58051" y="12602"/>
                </a:lnTo>
                <a:lnTo>
                  <a:pt x="58051" y="36091"/>
                </a:lnTo>
                <a:lnTo>
                  <a:pt x="92434" y="95031"/>
                </a:lnTo>
                <a:lnTo>
                  <a:pt x="96321" y="96055"/>
                </a:lnTo>
                <a:lnTo>
                  <a:pt x="102381" y="92520"/>
                </a:lnTo>
                <a:lnTo>
                  <a:pt x="103404" y="88632"/>
                </a:lnTo>
                <a:lnTo>
                  <a:pt x="59053" y="12602"/>
                </a:lnTo>
                <a:close/>
              </a:path>
              <a:path w="103505" h="511175">
                <a:moveTo>
                  <a:pt x="58051" y="12602"/>
                </a:moveTo>
                <a:lnTo>
                  <a:pt x="45351" y="12602"/>
                </a:lnTo>
                <a:lnTo>
                  <a:pt x="45351" y="36091"/>
                </a:lnTo>
                <a:lnTo>
                  <a:pt x="51701" y="25205"/>
                </a:lnTo>
                <a:lnTo>
                  <a:pt x="46216" y="15802"/>
                </a:lnTo>
                <a:lnTo>
                  <a:pt x="58051" y="15802"/>
                </a:lnTo>
                <a:lnTo>
                  <a:pt x="58051" y="12602"/>
                </a:lnTo>
                <a:close/>
              </a:path>
              <a:path w="103505" h="511175">
                <a:moveTo>
                  <a:pt x="58051" y="15802"/>
                </a:moveTo>
                <a:lnTo>
                  <a:pt x="57186" y="15802"/>
                </a:lnTo>
                <a:lnTo>
                  <a:pt x="51701" y="25205"/>
                </a:lnTo>
                <a:lnTo>
                  <a:pt x="58051" y="36091"/>
                </a:lnTo>
                <a:lnTo>
                  <a:pt x="58051" y="15802"/>
                </a:lnTo>
                <a:close/>
              </a:path>
              <a:path w="103505" h="511175">
                <a:moveTo>
                  <a:pt x="57186" y="15802"/>
                </a:moveTo>
                <a:lnTo>
                  <a:pt x="46216" y="15802"/>
                </a:lnTo>
                <a:lnTo>
                  <a:pt x="51701" y="25205"/>
                </a:lnTo>
                <a:lnTo>
                  <a:pt x="57186" y="15802"/>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6">
            <a:extLst>
              <a:ext uri="{FF2B5EF4-FFF2-40B4-BE49-F238E27FC236}">
                <a16:creationId xmlns:a16="http://schemas.microsoft.com/office/drawing/2014/main" id="{2CF94AA7-A826-8384-166A-5CF6A0E87582}"/>
              </a:ext>
            </a:extLst>
          </p:cNvPr>
          <p:cNvSpPr txBox="1"/>
          <p:nvPr/>
        </p:nvSpPr>
        <p:spPr>
          <a:xfrm>
            <a:off x="2426526" y="4260595"/>
            <a:ext cx="1371600"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Palatino Linotype"/>
                <a:cs typeface="Palatino Linotype"/>
              </a:rPr>
              <a:t>input</a:t>
            </a:r>
            <a:r>
              <a:rPr kern="1200" spc="-75" dirty="0">
                <a:solidFill>
                  <a:srgbClr val="FF0000"/>
                </a:solidFill>
                <a:latin typeface="Palatino Linotype"/>
                <a:cs typeface="Palatino Linotype"/>
              </a:rPr>
              <a:t> </a:t>
            </a:r>
            <a:r>
              <a:rPr kern="1200" dirty="0">
                <a:solidFill>
                  <a:srgbClr val="FF0000"/>
                </a:solidFill>
                <a:latin typeface="Palatino Linotype"/>
                <a:cs typeface="Palatino Linotype"/>
              </a:rPr>
              <a:t>pointer</a:t>
            </a:r>
            <a:endParaRPr kern="1200">
              <a:solidFill>
                <a:prstClr val="black"/>
              </a:solidFill>
              <a:latin typeface="Palatino Linotype"/>
              <a:cs typeface="Palatino Linotype"/>
            </a:endParaRPr>
          </a:p>
        </p:txBody>
      </p:sp>
      <p:pic>
        <p:nvPicPr>
          <p:cNvPr id="16" name="object 7">
            <a:extLst>
              <a:ext uri="{FF2B5EF4-FFF2-40B4-BE49-F238E27FC236}">
                <a16:creationId xmlns:a16="http://schemas.microsoft.com/office/drawing/2014/main" id="{1098BF5B-EE22-CBB6-A84E-88C9F0372C54}"/>
              </a:ext>
            </a:extLst>
          </p:cNvPr>
          <p:cNvPicPr/>
          <p:nvPr/>
        </p:nvPicPr>
        <p:blipFill>
          <a:blip r:embed="rId3" cstate="print"/>
          <a:stretch>
            <a:fillRect/>
          </a:stretch>
        </p:blipFill>
        <p:spPr>
          <a:xfrm>
            <a:off x="5059071" y="4084275"/>
            <a:ext cx="2030442" cy="1763669"/>
          </a:xfrm>
          <a:prstGeom prst="rect">
            <a:avLst/>
          </a:prstGeom>
        </p:spPr>
      </p:pic>
    </p:spTree>
    <p:extLst>
      <p:ext uri="{BB962C8B-B14F-4D97-AF65-F5344CB8AC3E}">
        <p14:creationId xmlns:p14="http://schemas.microsoft.com/office/powerpoint/2010/main" val="11714228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57</a:t>
            </a:fld>
            <a:endParaRPr lang="en-US"/>
          </a:p>
        </p:txBody>
      </p:sp>
      <p:sp>
        <p:nvSpPr>
          <p:cNvPr id="21" name="object 2">
            <a:extLst>
              <a:ext uri="{FF2B5EF4-FFF2-40B4-BE49-F238E27FC236}">
                <a16:creationId xmlns:a16="http://schemas.microsoft.com/office/drawing/2014/main" id="{1B84BF74-8ACC-D4E2-ECEF-41948BD64984}"/>
              </a:ext>
            </a:extLst>
          </p:cNvPr>
          <p:cNvSpPr txBox="1">
            <a:spLocks/>
          </p:cNvSpPr>
          <p:nvPr/>
        </p:nvSpPr>
        <p:spPr>
          <a:xfrm>
            <a:off x="707390" y="524763"/>
            <a:ext cx="51974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2" name="object 3">
            <a:extLst>
              <a:ext uri="{FF2B5EF4-FFF2-40B4-BE49-F238E27FC236}">
                <a16:creationId xmlns:a16="http://schemas.microsoft.com/office/drawing/2014/main" id="{86614EC9-E9C4-537C-6399-2610910368FA}"/>
              </a:ext>
            </a:extLst>
          </p:cNvPr>
          <p:cNvSpPr txBox="1"/>
          <p:nvPr/>
        </p:nvSpPr>
        <p:spPr>
          <a:xfrm>
            <a:off x="707390" y="1498091"/>
            <a:ext cx="4777740" cy="1141095"/>
          </a:xfrm>
          <a:prstGeom prst="rect">
            <a:avLst/>
          </a:prstGeom>
        </p:spPr>
        <p:txBody>
          <a:bodyPr vert="horz" wrap="square" lIns="0" tIns="173990" rIns="0" bIns="0" rtlCol="0">
            <a:spAutoFit/>
          </a:bodyPr>
          <a:lstStyle/>
          <a:p>
            <a:pPr marL="243204" indent="-230504" rtl="0">
              <a:spcBef>
                <a:spcPts val="1370"/>
              </a:spcBef>
              <a:buClr>
                <a:srgbClr val="000000"/>
              </a:buClr>
              <a:buFont typeface="Arial MT"/>
              <a:buChar char="•"/>
              <a:tabLst>
                <a:tab pos="243204" algn="l"/>
                <a:tab pos="3288029" algn="l"/>
              </a:tabLst>
            </a:pPr>
            <a:r>
              <a:rPr sz="2600" kern="1200" spc="-5" dirty="0">
                <a:solidFill>
                  <a:srgbClr val="0432FF"/>
                </a:solidFill>
                <a:latin typeface="Palatino Linotype"/>
                <a:cs typeface="Palatino Linotype"/>
              </a:rPr>
              <a:t>Grammar:</a:t>
            </a:r>
            <a:r>
              <a:rPr sz="2600" kern="1200" dirty="0">
                <a:solidFill>
                  <a:srgbClr val="0432FF"/>
                </a:solidFill>
                <a:latin typeface="Palatino Linotype"/>
                <a:cs typeface="Palatino Linotype"/>
              </a:rPr>
              <a:t> </a:t>
            </a:r>
            <a:r>
              <a:rPr sz="2600" kern="1200" dirty="0">
                <a:solidFill>
                  <a:prstClr val="black"/>
                </a:solidFill>
                <a:latin typeface="Cambria Math"/>
                <a:cs typeface="Cambria Math"/>
              </a:rPr>
              <a:t>𝑆</a:t>
            </a:r>
            <a:r>
              <a:rPr sz="2600" kern="1200" spc="204"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50" dirty="0">
                <a:solidFill>
                  <a:prstClr val="black"/>
                </a:solidFill>
                <a:latin typeface="Cambria Math"/>
                <a:cs typeface="Cambria Math"/>
              </a:rPr>
              <a:t> </a:t>
            </a:r>
            <a:r>
              <a:rPr sz="2600" kern="1200" dirty="0">
                <a:solidFill>
                  <a:prstClr val="black"/>
                </a:solidFill>
                <a:latin typeface="Cambria Math"/>
                <a:cs typeface="Cambria Math"/>
              </a:rPr>
              <a:t>𝑐𝐴𝑑	𝐴</a:t>
            </a:r>
            <a:r>
              <a:rPr sz="2600" kern="1200" spc="14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20" dirty="0">
                <a:solidFill>
                  <a:prstClr val="black"/>
                </a:solidFill>
                <a:latin typeface="Cambria Math"/>
                <a:cs typeface="Cambria Math"/>
              </a:rPr>
              <a:t> </a:t>
            </a:r>
            <a:r>
              <a:rPr sz="2600" kern="1200" dirty="0">
                <a:solidFill>
                  <a:prstClr val="black"/>
                </a:solidFill>
                <a:latin typeface="Cambria Math"/>
                <a:cs typeface="Cambria Math"/>
              </a:rPr>
              <a:t>𝑎𝑏</a:t>
            </a:r>
            <a:r>
              <a:rPr sz="2600" kern="1200" spc="3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25" dirty="0">
                <a:solidFill>
                  <a:prstClr val="black"/>
                </a:solidFill>
                <a:latin typeface="Cambria Math"/>
                <a:cs typeface="Cambria Math"/>
              </a:rPr>
              <a:t> </a:t>
            </a:r>
            <a:r>
              <a:rPr sz="2600" kern="1200" dirty="0">
                <a:solidFill>
                  <a:prstClr val="black"/>
                </a:solidFill>
                <a:latin typeface="Cambria Math"/>
                <a:cs typeface="Cambria Math"/>
              </a:rPr>
              <a:t>𝑎</a:t>
            </a:r>
            <a:endParaRPr sz="2600" kern="1200">
              <a:solidFill>
                <a:prstClr val="black"/>
              </a:solidFill>
              <a:latin typeface="Cambria Math"/>
              <a:cs typeface="Cambria Math"/>
            </a:endParaRPr>
          </a:p>
          <a:p>
            <a:pPr marL="243204" indent="-230504" rtl="0">
              <a:spcBef>
                <a:spcPts val="1275"/>
              </a:spcBef>
              <a:buClr>
                <a:srgbClr val="000000"/>
              </a:buClr>
              <a:buFont typeface="Arial MT"/>
              <a:buChar char="•"/>
              <a:tabLst>
                <a:tab pos="243204" algn="l"/>
              </a:tabLst>
            </a:pPr>
            <a:r>
              <a:rPr sz="2600" kern="1200" spc="-5" dirty="0">
                <a:solidFill>
                  <a:srgbClr val="0432FF"/>
                </a:solidFill>
                <a:latin typeface="Palatino Linotype"/>
                <a:cs typeface="Palatino Linotype"/>
              </a:rPr>
              <a:t>Input</a:t>
            </a:r>
            <a:r>
              <a:rPr sz="2600" kern="1200" spc="-25" dirty="0">
                <a:solidFill>
                  <a:srgbClr val="0432FF"/>
                </a:solidFill>
                <a:latin typeface="Palatino Linotype"/>
                <a:cs typeface="Palatino Linotype"/>
              </a:rPr>
              <a:t> </a:t>
            </a:r>
            <a:r>
              <a:rPr sz="2600" kern="1200" spc="-5" dirty="0">
                <a:solidFill>
                  <a:srgbClr val="0432FF"/>
                </a:solidFill>
                <a:latin typeface="Palatino Linotype"/>
                <a:cs typeface="Palatino Linotype"/>
              </a:rPr>
              <a:t>string:</a:t>
            </a:r>
            <a:r>
              <a:rPr sz="2600" kern="1200" spc="-20" dirty="0">
                <a:solidFill>
                  <a:srgbClr val="0432FF"/>
                </a:solidFill>
                <a:latin typeface="Palatino Linotype"/>
                <a:cs typeface="Palatino Linotype"/>
              </a:rPr>
              <a:t> </a:t>
            </a:r>
            <a:r>
              <a:rPr sz="2600" kern="1200" dirty="0">
                <a:solidFill>
                  <a:prstClr val="black"/>
                </a:solidFill>
                <a:latin typeface="Cambria Math"/>
                <a:cs typeface="Cambria Math"/>
              </a:rPr>
              <a:t>𝑐𝑎𝑑</a:t>
            </a:r>
            <a:endParaRPr sz="2600" kern="1200">
              <a:solidFill>
                <a:prstClr val="black"/>
              </a:solidFill>
              <a:latin typeface="Cambria Math"/>
              <a:cs typeface="Cambria Math"/>
            </a:endParaRPr>
          </a:p>
        </p:txBody>
      </p:sp>
      <p:grpSp>
        <p:nvGrpSpPr>
          <p:cNvPr id="23" name="object 4">
            <a:extLst>
              <a:ext uri="{FF2B5EF4-FFF2-40B4-BE49-F238E27FC236}">
                <a16:creationId xmlns:a16="http://schemas.microsoft.com/office/drawing/2014/main" id="{B8369393-A033-567D-9369-9B5E6E2F2725}"/>
              </a:ext>
            </a:extLst>
          </p:cNvPr>
          <p:cNvGrpSpPr/>
          <p:nvPr/>
        </p:nvGrpSpPr>
        <p:grpSpPr>
          <a:xfrm>
            <a:off x="724243" y="3534558"/>
            <a:ext cx="3230245" cy="408940"/>
            <a:chOff x="724243" y="3534558"/>
            <a:chExt cx="3230245" cy="408940"/>
          </a:xfrm>
        </p:grpSpPr>
        <p:sp>
          <p:nvSpPr>
            <p:cNvPr id="24" name="object 5">
              <a:extLst>
                <a:ext uri="{FF2B5EF4-FFF2-40B4-BE49-F238E27FC236}">
                  <a16:creationId xmlns:a16="http://schemas.microsoft.com/office/drawing/2014/main" id="{DAF9FF37-1606-F9A7-0CE0-ED8D2DB4E210}"/>
                </a:ext>
              </a:extLst>
            </p:cNvPr>
            <p:cNvSpPr/>
            <p:nvPr/>
          </p:nvSpPr>
          <p:spPr>
            <a:xfrm>
              <a:off x="1809405" y="3547258"/>
              <a:ext cx="1059815" cy="370840"/>
            </a:xfrm>
            <a:custGeom>
              <a:avLst/>
              <a:gdLst/>
              <a:ahLst/>
              <a:cxnLst/>
              <a:rect l="l" t="t" r="r" b="b"/>
              <a:pathLst>
                <a:path w="1059814" h="370839">
                  <a:moveTo>
                    <a:pt x="1059762" y="0"/>
                  </a:moveTo>
                  <a:lnTo>
                    <a:pt x="0" y="0"/>
                  </a:lnTo>
                  <a:lnTo>
                    <a:pt x="0" y="370840"/>
                  </a:lnTo>
                  <a:lnTo>
                    <a:pt x="1059762" y="370840"/>
                  </a:lnTo>
                  <a:lnTo>
                    <a:pt x="1059762" y="0"/>
                  </a:lnTo>
                  <a:close/>
                </a:path>
              </a:pathLst>
            </a:custGeom>
            <a:solidFill>
              <a:srgbClr val="4472C4"/>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6">
              <a:extLst>
                <a:ext uri="{FF2B5EF4-FFF2-40B4-BE49-F238E27FC236}">
                  <a16:creationId xmlns:a16="http://schemas.microsoft.com/office/drawing/2014/main" id="{DFD10DA4-1988-D3E7-4F5E-00F9729A3B0B}"/>
                </a:ext>
              </a:extLst>
            </p:cNvPr>
            <p:cNvSpPr/>
            <p:nvPr/>
          </p:nvSpPr>
          <p:spPr>
            <a:xfrm>
              <a:off x="743293" y="3540908"/>
              <a:ext cx="3192145" cy="396240"/>
            </a:xfrm>
            <a:custGeom>
              <a:avLst/>
              <a:gdLst/>
              <a:ahLst/>
              <a:cxnLst/>
              <a:rect l="l" t="t" r="r" b="b"/>
              <a:pathLst>
                <a:path w="3192145" h="396239">
                  <a:moveTo>
                    <a:pt x="1066113" y="0"/>
                  </a:moveTo>
                  <a:lnTo>
                    <a:pt x="1066113" y="396240"/>
                  </a:lnTo>
                </a:path>
                <a:path w="3192145" h="396239">
                  <a:moveTo>
                    <a:pt x="2125876" y="0"/>
                  </a:moveTo>
                  <a:lnTo>
                    <a:pt x="2125876" y="396240"/>
                  </a:lnTo>
                </a:path>
                <a:path w="3192145" h="396239">
                  <a:moveTo>
                    <a:pt x="6350" y="0"/>
                  </a:moveTo>
                  <a:lnTo>
                    <a:pt x="6350" y="396240"/>
                  </a:lnTo>
                </a:path>
                <a:path w="3192145" h="396239">
                  <a:moveTo>
                    <a:pt x="3185639" y="0"/>
                  </a:moveTo>
                  <a:lnTo>
                    <a:pt x="3185639" y="396240"/>
                  </a:lnTo>
                </a:path>
                <a:path w="3192145" h="396239">
                  <a:moveTo>
                    <a:pt x="0" y="6350"/>
                  </a:moveTo>
                  <a:lnTo>
                    <a:pt x="3191989" y="6350"/>
                  </a:lnTo>
                </a:path>
              </a:pathLst>
            </a:custGeom>
            <a:ln w="127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7">
              <a:extLst>
                <a:ext uri="{FF2B5EF4-FFF2-40B4-BE49-F238E27FC236}">
                  <a16:creationId xmlns:a16="http://schemas.microsoft.com/office/drawing/2014/main" id="{F24B2EE9-2E13-FB5B-8A3B-4E109FAA22BF}"/>
                </a:ext>
              </a:extLst>
            </p:cNvPr>
            <p:cNvSpPr/>
            <p:nvPr/>
          </p:nvSpPr>
          <p:spPr>
            <a:xfrm>
              <a:off x="743293" y="3918098"/>
              <a:ext cx="3192145" cy="0"/>
            </a:xfrm>
            <a:custGeom>
              <a:avLst/>
              <a:gdLst/>
              <a:ahLst/>
              <a:cxnLst/>
              <a:rect l="l" t="t" r="r" b="b"/>
              <a:pathLst>
                <a:path w="3192145">
                  <a:moveTo>
                    <a:pt x="0" y="0"/>
                  </a:moveTo>
                  <a:lnTo>
                    <a:pt x="3191989" y="0"/>
                  </a:lnTo>
                </a:path>
              </a:pathLst>
            </a:custGeom>
            <a:ln w="381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7" name="object 8">
            <a:extLst>
              <a:ext uri="{FF2B5EF4-FFF2-40B4-BE49-F238E27FC236}">
                <a16:creationId xmlns:a16="http://schemas.microsoft.com/office/drawing/2014/main" id="{1228C8F3-2BCE-0696-2D05-B730FBF2BB94}"/>
              </a:ext>
            </a:extLst>
          </p:cNvPr>
          <p:cNvSpPr txBox="1"/>
          <p:nvPr/>
        </p:nvSpPr>
        <p:spPr>
          <a:xfrm>
            <a:off x="755993"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𝑐</a:t>
            </a:r>
            <a:endParaRPr kern="1200">
              <a:solidFill>
                <a:prstClr val="black"/>
              </a:solidFill>
              <a:latin typeface="Cambria Math"/>
              <a:cs typeface="Cambria Math"/>
            </a:endParaRPr>
          </a:p>
        </p:txBody>
      </p:sp>
      <p:sp>
        <p:nvSpPr>
          <p:cNvPr id="28" name="object 9">
            <a:extLst>
              <a:ext uri="{FF2B5EF4-FFF2-40B4-BE49-F238E27FC236}">
                <a16:creationId xmlns:a16="http://schemas.microsoft.com/office/drawing/2014/main" id="{0B38E885-67F0-BBEE-2500-628361EC0B66}"/>
              </a:ext>
            </a:extLst>
          </p:cNvPr>
          <p:cNvSpPr txBox="1"/>
          <p:nvPr/>
        </p:nvSpPr>
        <p:spPr>
          <a:xfrm>
            <a:off x="1815756" y="3568700"/>
            <a:ext cx="1047115" cy="299720"/>
          </a:xfrm>
          <a:prstGeom prst="rect">
            <a:avLst/>
          </a:prstGeom>
        </p:spPr>
        <p:txBody>
          <a:bodyPr vert="horz" wrap="square" lIns="0" tIns="12700" rIns="0" bIns="0" rtlCol="0">
            <a:spAutoFit/>
          </a:bodyPr>
          <a:lstStyle/>
          <a:p>
            <a:pPr algn="ctr" rtl="0">
              <a:spcBef>
                <a:spcPts val="100"/>
              </a:spcBef>
            </a:pPr>
            <a:r>
              <a:rPr kern="1200" dirty="0">
                <a:solidFill>
                  <a:srgbClr val="FFFFFF"/>
                </a:solidFill>
                <a:latin typeface="Cambria Math"/>
                <a:cs typeface="Cambria Math"/>
              </a:rPr>
              <a:t>𝑎</a:t>
            </a:r>
            <a:endParaRPr kern="1200">
              <a:solidFill>
                <a:prstClr val="black"/>
              </a:solidFill>
              <a:latin typeface="Cambria Math"/>
              <a:cs typeface="Cambria Math"/>
            </a:endParaRPr>
          </a:p>
        </p:txBody>
      </p:sp>
      <p:sp>
        <p:nvSpPr>
          <p:cNvPr id="29" name="object 10">
            <a:extLst>
              <a:ext uri="{FF2B5EF4-FFF2-40B4-BE49-F238E27FC236}">
                <a16:creationId xmlns:a16="http://schemas.microsoft.com/office/drawing/2014/main" id="{7C63E958-6CCE-EE82-330B-D9E7C9F366FB}"/>
              </a:ext>
            </a:extLst>
          </p:cNvPr>
          <p:cNvSpPr txBox="1"/>
          <p:nvPr/>
        </p:nvSpPr>
        <p:spPr>
          <a:xfrm>
            <a:off x="2875519"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𝑑</a:t>
            </a:r>
            <a:endParaRPr kern="1200">
              <a:solidFill>
                <a:prstClr val="black"/>
              </a:solidFill>
              <a:latin typeface="Cambria Math"/>
              <a:cs typeface="Cambria Math"/>
            </a:endParaRPr>
          </a:p>
        </p:txBody>
      </p:sp>
      <p:sp>
        <p:nvSpPr>
          <p:cNvPr id="30" name="object 11">
            <a:extLst>
              <a:ext uri="{FF2B5EF4-FFF2-40B4-BE49-F238E27FC236}">
                <a16:creationId xmlns:a16="http://schemas.microsoft.com/office/drawing/2014/main" id="{7E1FAD06-5234-3E57-DE66-9391780C90B1}"/>
              </a:ext>
            </a:extLst>
          </p:cNvPr>
          <p:cNvSpPr/>
          <p:nvPr/>
        </p:nvSpPr>
        <p:spPr>
          <a:xfrm>
            <a:off x="3325812" y="3995320"/>
            <a:ext cx="103505" cy="511175"/>
          </a:xfrm>
          <a:custGeom>
            <a:avLst/>
            <a:gdLst/>
            <a:ahLst/>
            <a:cxnLst/>
            <a:rect l="l" t="t" r="r" b="b"/>
            <a:pathLst>
              <a:path w="103504" h="511175">
                <a:moveTo>
                  <a:pt x="51701" y="25205"/>
                </a:moveTo>
                <a:lnTo>
                  <a:pt x="45351" y="36090"/>
                </a:lnTo>
                <a:lnTo>
                  <a:pt x="45352" y="510776"/>
                </a:lnTo>
                <a:lnTo>
                  <a:pt x="58052" y="510776"/>
                </a:lnTo>
                <a:lnTo>
                  <a:pt x="58051" y="36090"/>
                </a:lnTo>
                <a:lnTo>
                  <a:pt x="51701" y="25205"/>
                </a:lnTo>
                <a:close/>
              </a:path>
              <a:path w="103504" h="511175">
                <a:moveTo>
                  <a:pt x="51701" y="0"/>
                </a:moveTo>
                <a:lnTo>
                  <a:pt x="0" y="88633"/>
                </a:lnTo>
                <a:lnTo>
                  <a:pt x="1022" y="92520"/>
                </a:lnTo>
                <a:lnTo>
                  <a:pt x="7081" y="96055"/>
                </a:lnTo>
                <a:lnTo>
                  <a:pt x="10968" y="95031"/>
                </a:lnTo>
                <a:lnTo>
                  <a:pt x="45351" y="36091"/>
                </a:lnTo>
                <a:lnTo>
                  <a:pt x="45351" y="12602"/>
                </a:lnTo>
                <a:lnTo>
                  <a:pt x="59052" y="12602"/>
                </a:lnTo>
                <a:lnTo>
                  <a:pt x="51701" y="0"/>
                </a:lnTo>
                <a:close/>
              </a:path>
              <a:path w="103504" h="511175">
                <a:moveTo>
                  <a:pt x="59052" y="12602"/>
                </a:moveTo>
                <a:lnTo>
                  <a:pt x="58051" y="12602"/>
                </a:lnTo>
                <a:lnTo>
                  <a:pt x="58051" y="36091"/>
                </a:lnTo>
                <a:lnTo>
                  <a:pt x="92433" y="95031"/>
                </a:lnTo>
                <a:lnTo>
                  <a:pt x="96321" y="96055"/>
                </a:lnTo>
                <a:lnTo>
                  <a:pt x="102381" y="92520"/>
                </a:lnTo>
                <a:lnTo>
                  <a:pt x="103403" y="88632"/>
                </a:lnTo>
                <a:lnTo>
                  <a:pt x="59052" y="12602"/>
                </a:lnTo>
                <a:close/>
              </a:path>
              <a:path w="103504" h="511175">
                <a:moveTo>
                  <a:pt x="58051" y="15802"/>
                </a:moveTo>
                <a:lnTo>
                  <a:pt x="57186" y="15802"/>
                </a:lnTo>
                <a:lnTo>
                  <a:pt x="51701" y="25205"/>
                </a:lnTo>
                <a:lnTo>
                  <a:pt x="58051" y="36091"/>
                </a:lnTo>
                <a:lnTo>
                  <a:pt x="58051" y="15802"/>
                </a:lnTo>
                <a:close/>
              </a:path>
              <a:path w="103504" h="511175">
                <a:moveTo>
                  <a:pt x="58051" y="12602"/>
                </a:moveTo>
                <a:lnTo>
                  <a:pt x="45351" y="12602"/>
                </a:lnTo>
                <a:lnTo>
                  <a:pt x="45351" y="36090"/>
                </a:lnTo>
                <a:lnTo>
                  <a:pt x="51701" y="25205"/>
                </a:lnTo>
                <a:lnTo>
                  <a:pt x="46216" y="15802"/>
                </a:lnTo>
                <a:lnTo>
                  <a:pt x="58051" y="15802"/>
                </a:lnTo>
                <a:lnTo>
                  <a:pt x="58051" y="12602"/>
                </a:lnTo>
                <a:close/>
              </a:path>
              <a:path w="103504" h="511175">
                <a:moveTo>
                  <a:pt x="57186" y="15802"/>
                </a:moveTo>
                <a:lnTo>
                  <a:pt x="46216" y="15802"/>
                </a:lnTo>
                <a:lnTo>
                  <a:pt x="51701" y="25205"/>
                </a:lnTo>
                <a:lnTo>
                  <a:pt x="57186" y="15802"/>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12">
            <a:extLst>
              <a:ext uri="{FF2B5EF4-FFF2-40B4-BE49-F238E27FC236}">
                <a16:creationId xmlns:a16="http://schemas.microsoft.com/office/drawing/2014/main" id="{8C1FC512-2D16-13D1-8999-079AE137A6B7}"/>
              </a:ext>
            </a:extLst>
          </p:cNvPr>
          <p:cNvSpPr txBox="1"/>
          <p:nvPr/>
        </p:nvSpPr>
        <p:spPr>
          <a:xfrm>
            <a:off x="3456254" y="4260595"/>
            <a:ext cx="1371600"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Palatino Linotype"/>
                <a:cs typeface="Palatino Linotype"/>
              </a:rPr>
              <a:t>input</a:t>
            </a:r>
            <a:r>
              <a:rPr kern="1200" spc="-75" dirty="0">
                <a:solidFill>
                  <a:srgbClr val="FF0000"/>
                </a:solidFill>
                <a:latin typeface="Palatino Linotype"/>
                <a:cs typeface="Palatino Linotype"/>
              </a:rPr>
              <a:t> </a:t>
            </a:r>
            <a:r>
              <a:rPr kern="1200" dirty="0">
                <a:solidFill>
                  <a:srgbClr val="FF0000"/>
                </a:solidFill>
                <a:latin typeface="Palatino Linotype"/>
                <a:cs typeface="Palatino Linotype"/>
              </a:rPr>
              <a:t>pointer</a:t>
            </a:r>
            <a:endParaRPr kern="1200">
              <a:solidFill>
                <a:prstClr val="black"/>
              </a:solidFill>
              <a:latin typeface="Palatino Linotype"/>
              <a:cs typeface="Palatino Linotype"/>
            </a:endParaRPr>
          </a:p>
        </p:txBody>
      </p:sp>
      <p:sp>
        <p:nvSpPr>
          <p:cNvPr id="32" name="object 13">
            <a:extLst>
              <a:ext uri="{FF2B5EF4-FFF2-40B4-BE49-F238E27FC236}">
                <a16:creationId xmlns:a16="http://schemas.microsoft.com/office/drawing/2014/main" id="{6669CFDE-407F-EC56-6043-A1F2AB4BCF89}"/>
              </a:ext>
            </a:extLst>
          </p:cNvPr>
          <p:cNvSpPr txBox="1"/>
          <p:nvPr/>
        </p:nvSpPr>
        <p:spPr>
          <a:xfrm>
            <a:off x="4238848" y="3092196"/>
            <a:ext cx="3994785" cy="635000"/>
          </a:xfrm>
          <a:prstGeom prst="rect">
            <a:avLst/>
          </a:prstGeom>
        </p:spPr>
        <p:txBody>
          <a:bodyPr vert="horz" wrap="square" lIns="0" tIns="12700" rIns="0" bIns="0" rtlCol="0">
            <a:spAutoFit/>
          </a:bodyPr>
          <a:lstStyle/>
          <a:p>
            <a:pPr marL="355600" indent="-342900" rtl="0">
              <a:spcBef>
                <a:spcPts val="100"/>
              </a:spcBef>
              <a:buFont typeface="Cambria Math"/>
              <a:buChar char="⎯"/>
              <a:tabLst>
                <a:tab pos="354965" algn="l"/>
                <a:tab pos="355600" algn="l"/>
              </a:tabLst>
            </a:pPr>
            <a:r>
              <a:rPr sz="2000" kern="1200" spc="-5" dirty="0">
                <a:solidFill>
                  <a:srgbClr val="0432FF"/>
                </a:solidFill>
                <a:latin typeface="Palatino Linotype"/>
                <a:cs typeface="Palatino Linotype"/>
              </a:rPr>
              <a:t>Leftmost</a:t>
            </a:r>
            <a:r>
              <a:rPr sz="2000" kern="1200" spc="-15" dirty="0">
                <a:solidFill>
                  <a:srgbClr val="0432FF"/>
                </a:solidFill>
                <a:latin typeface="Palatino Linotype"/>
                <a:cs typeface="Palatino Linotype"/>
              </a:rPr>
              <a:t> </a:t>
            </a:r>
            <a:r>
              <a:rPr sz="2000" kern="1200" dirty="0">
                <a:solidFill>
                  <a:srgbClr val="0432FF"/>
                </a:solidFill>
                <a:latin typeface="Palatino Linotype"/>
                <a:cs typeface="Palatino Linotype"/>
              </a:rPr>
              <a:t>leaf</a:t>
            </a:r>
            <a:r>
              <a:rPr sz="2000" kern="1200" spc="-15" dirty="0">
                <a:solidFill>
                  <a:srgbClr val="0432FF"/>
                </a:solidFill>
                <a:latin typeface="Palatino Linotype"/>
                <a:cs typeface="Palatino Linotype"/>
              </a:rPr>
              <a:t> </a:t>
            </a:r>
            <a:r>
              <a:rPr sz="2000" kern="1200" spc="-5" dirty="0">
                <a:solidFill>
                  <a:srgbClr val="0432FF"/>
                </a:solidFill>
                <a:latin typeface="Palatino Linotype"/>
                <a:cs typeface="Palatino Linotype"/>
              </a:rPr>
              <a:t>matches </a:t>
            </a:r>
            <a:r>
              <a:rPr sz="2000" kern="1200" dirty="0">
                <a:solidFill>
                  <a:srgbClr val="0432FF"/>
                </a:solidFill>
                <a:latin typeface="Cambria Math"/>
                <a:cs typeface="Cambria Math"/>
              </a:rPr>
              <a:t>𝑎</a:t>
            </a:r>
            <a:r>
              <a:rPr sz="2000" kern="1200" spc="95" dirty="0">
                <a:solidFill>
                  <a:srgbClr val="0432FF"/>
                </a:solidFill>
                <a:latin typeface="Cambria Math"/>
                <a:cs typeface="Cambria Math"/>
              </a:rPr>
              <a:t> </a:t>
            </a:r>
            <a:r>
              <a:rPr sz="2000" kern="1200" dirty="0">
                <a:solidFill>
                  <a:srgbClr val="0432FF"/>
                </a:solidFill>
                <a:latin typeface="Palatino Linotype"/>
                <a:cs typeface="Palatino Linotype"/>
              </a:rPr>
              <a:t>in</a:t>
            </a:r>
            <a:r>
              <a:rPr sz="2000" kern="1200" spc="-15" dirty="0">
                <a:solidFill>
                  <a:srgbClr val="0432FF"/>
                </a:solidFill>
                <a:latin typeface="Palatino Linotype"/>
                <a:cs typeface="Palatino Linotype"/>
              </a:rPr>
              <a:t> </a:t>
            </a:r>
            <a:r>
              <a:rPr sz="2000" kern="1200" spc="-5" dirty="0">
                <a:solidFill>
                  <a:srgbClr val="0432FF"/>
                </a:solidFill>
                <a:latin typeface="Palatino Linotype"/>
                <a:cs typeface="Palatino Linotype"/>
              </a:rPr>
              <a:t>input</a:t>
            </a:r>
            <a:endParaRPr sz="2000" kern="1200">
              <a:solidFill>
                <a:prstClr val="black"/>
              </a:solidFill>
              <a:latin typeface="Palatino Linotype"/>
              <a:cs typeface="Palatino Linotype"/>
            </a:endParaRPr>
          </a:p>
          <a:p>
            <a:pPr marL="355600" indent="-342900" rtl="0">
              <a:buFont typeface="Cambria Math"/>
              <a:buChar char="⎯"/>
              <a:tabLst>
                <a:tab pos="354965" algn="l"/>
                <a:tab pos="355600" algn="l"/>
              </a:tabLst>
            </a:pPr>
            <a:r>
              <a:rPr sz="2000" kern="1200" spc="-15" dirty="0">
                <a:solidFill>
                  <a:srgbClr val="0432FF"/>
                </a:solidFill>
                <a:latin typeface="Palatino Linotype"/>
                <a:cs typeface="Palatino Linotype"/>
              </a:rPr>
              <a:t>Advance </a:t>
            </a:r>
            <a:r>
              <a:rPr sz="2000" kern="1200" spc="-5" dirty="0">
                <a:solidFill>
                  <a:srgbClr val="0432FF"/>
                </a:solidFill>
                <a:latin typeface="Palatino Linotype"/>
                <a:cs typeface="Palatino Linotype"/>
              </a:rPr>
              <a:t>input</a:t>
            </a:r>
            <a:r>
              <a:rPr sz="2000" kern="1200" spc="-20" dirty="0">
                <a:solidFill>
                  <a:srgbClr val="0432FF"/>
                </a:solidFill>
                <a:latin typeface="Palatino Linotype"/>
                <a:cs typeface="Palatino Linotype"/>
              </a:rPr>
              <a:t> </a:t>
            </a:r>
            <a:r>
              <a:rPr sz="2000" kern="1200" spc="-5" dirty="0">
                <a:solidFill>
                  <a:srgbClr val="0432FF"/>
                </a:solidFill>
                <a:latin typeface="Palatino Linotype"/>
                <a:cs typeface="Palatino Linotype"/>
              </a:rPr>
              <a:t>pointer</a:t>
            </a:r>
            <a:endParaRPr sz="2000" kern="1200">
              <a:solidFill>
                <a:prstClr val="black"/>
              </a:solidFill>
              <a:latin typeface="Palatino Linotype"/>
              <a:cs typeface="Palatino Linotype"/>
            </a:endParaRPr>
          </a:p>
        </p:txBody>
      </p:sp>
      <p:grpSp>
        <p:nvGrpSpPr>
          <p:cNvPr id="33" name="object 14">
            <a:extLst>
              <a:ext uri="{FF2B5EF4-FFF2-40B4-BE49-F238E27FC236}">
                <a16:creationId xmlns:a16="http://schemas.microsoft.com/office/drawing/2014/main" id="{F3CD6A8E-12B4-12A6-23BF-2424B1522C69}"/>
              </a:ext>
            </a:extLst>
          </p:cNvPr>
          <p:cNvGrpSpPr/>
          <p:nvPr/>
        </p:nvGrpSpPr>
        <p:grpSpPr>
          <a:xfrm>
            <a:off x="4799708" y="3995351"/>
            <a:ext cx="2630805" cy="2023110"/>
            <a:chOff x="4799708" y="3995351"/>
            <a:chExt cx="2630805" cy="2023110"/>
          </a:xfrm>
        </p:grpSpPr>
        <p:pic>
          <p:nvPicPr>
            <p:cNvPr id="34" name="object 15">
              <a:extLst>
                <a:ext uri="{FF2B5EF4-FFF2-40B4-BE49-F238E27FC236}">
                  <a16:creationId xmlns:a16="http://schemas.microsoft.com/office/drawing/2014/main" id="{3FA3504D-4E5D-C892-9356-83D9A17E6B33}"/>
                </a:ext>
              </a:extLst>
            </p:cNvPr>
            <p:cNvPicPr/>
            <p:nvPr/>
          </p:nvPicPr>
          <p:blipFill>
            <a:blip r:embed="rId3" cstate="print"/>
            <a:stretch>
              <a:fillRect/>
            </a:stretch>
          </p:blipFill>
          <p:spPr>
            <a:xfrm>
              <a:off x="4799708" y="3995351"/>
              <a:ext cx="2630683" cy="2023032"/>
            </a:xfrm>
            <a:prstGeom prst="rect">
              <a:avLst/>
            </a:prstGeom>
          </p:spPr>
        </p:pic>
        <p:sp>
          <p:nvSpPr>
            <p:cNvPr id="35" name="object 16">
              <a:extLst>
                <a:ext uri="{FF2B5EF4-FFF2-40B4-BE49-F238E27FC236}">
                  <a16:creationId xmlns:a16="http://schemas.microsoft.com/office/drawing/2014/main" id="{28681F65-3234-B453-6C92-6B70ECB63901}"/>
                </a:ext>
              </a:extLst>
            </p:cNvPr>
            <p:cNvSpPr/>
            <p:nvPr/>
          </p:nvSpPr>
          <p:spPr>
            <a:xfrm>
              <a:off x="5625928" y="5578690"/>
              <a:ext cx="882015" cy="400685"/>
            </a:xfrm>
            <a:custGeom>
              <a:avLst/>
              <a:gdLst/>
              <a:ahLst/>
              <a:cxnLst/>
              <a:rect l="l" t="t" r="r" b="b"/>
              <a:pathLst>
                <a:path w="882015"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6" name="object 17">
            <a:extLst>
              <a:ext uri="{FF2B5EF4-FFF2-40B4-BE49-F238E27FC236}">
                <a16:creationId xmlns:a16="http://schemas.microsoft.com/office/drawing/2014/main" id="{B2D38C99-5835-AF15-6F73-24D8396167B6}"/>
              </a:ext>
            </a:extLst>
          </p:cNvPr>
          <p:cNvSpPr/>
          <p:nvPr/>
        </p:nvSpPr>
        <p:spPr>
          <a:xfrm>
            <a:off x="1898562" y="3556734"/>
            <a:ext cx="882015" cy="400685"/>
          </a:xfrm>
          <a:custGeom>
            <a:avLst/>
            <a:gdLst/>
            <a:ahLst/>
            <a:cxnLst/>
            <a:rect l="l" t="t" r="r" b="b"/>
            <a:pathLst>
              <a:path w="882014"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444567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58</a:t>
            </a:fld>
            <a:endParaRPr lang="en-US"/>
          </a:p>
        </p:txBody>
      </p:sp>
      <p:sp>
        <p:nvSpPr>
          <p:cNvPr id="20" name="object 2">
            <a:extLst>
              <a:ext uri="{FF2B5EF4-FFF2-40B4-BE49-F238E27FC236}">
                <a16:creationId xmlns:a16="http://schemas.microsoft.com/office/drawing/2014/main" id="{9C2A4653-7946-4935-2C0C-EBF48493AF05}"/>
              </a:ext>
            </a:extLst>
          </p:cNvPr>
          <p:cNvSpPr txBox="1">
            <a:spLocks/>
          </p:cNvSpPr>
          <p:nvPr/>
        </p:nvSpPr>
        <p:spPr>
          <a:xfrm>
            <a:off x="707390" y="524763"/>
            <a:ext cx="51974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1" name="object 3">
            <a:extLst>
              <a:ext uri="{FF2B5EF4-FFF2-40B4-BE49-F238E27FC236}">
                <a16:creationId xmlns:a16="http://schemas.microsoft.com/office/drawing/2014/main" id="{BB2BEF00-EDCD-7A18-6EEB-969DC21F6C20}"/>
              </a:ext>
            </a:extLst>
          </p:cNvPr>
          <p:cNvSpPr txBox="1"/>
          <p:nvPr/>
        </p:nvSpPr>
        <p:spPr>
          <a:xfrm>
            <a:off x="707390" y="1498091"/>
            <a:ext cx="4777740" cy="1141095"/>
          </a:xfrm>
          <a:prstGeom prst="rect">
            <a:avLst/>
          </a:prstGeom>
        </p:spPr>
        <p:txBody>
          <a:bodyPr vert="horz" wrap="square" lIns="0" tIns="173990" rIns="0" bIns="0" rtlCol="0">
            <a:spAutoFit/>
          </a:bodyPr>
          <a:lstStyle/>
          <a:p>
            <a:pPr marL="243204" indent="-230504" rtl="0">
              <a:spcBef>
                <a:spcPts val="1370"/>
              </a:spcBef>
              <a:buClr>
                <a:srgbClr val="000000"/>
              </a:buClr>
              <a:buFont typeface="Arial MT"/>
              <a:buChar char="•"/>
              <a:tabLst>
                <a:tab pos="243204" algn="l"/>
                <a:tab pos="3288029" algn="l"/>
              </a:tabLst>
            </a:pPr>
            <a:r>
              <a:rPr sz="2600" kern="1200" spc="-5" dirty="0">
                <a:solidFill>
                  <a:srgbClr val="0432FF"/>
                </a:solidFill>
                <a:latin typeface="Palatino Linotype"/>
                <a:cs typeface="Palatino Linotype"/>
              </a:rPr>
              <a:t>Grammar:</a:t>
            </a:r>
            <a:r>
              <a:rPr sz="2600" kern="1200" dirty="0">
                <a:solidFill>
                  <a:srgbClr val="0432FF"/>
                </a:solidFill>
                <a:latin typeface="Palatino Linotype"/>
                <a:cs typeface="Palatino Linotype"/>
              </a:rPr>
              <a:t> </a:t>
            </a:r>
            <a:r>
              <a:rPr sz="2600" kern="1200" dirty="0">
                <a:solidFill>
                  <a:prstClr val="black"/>
                </a:solidFill>
                <a:latin typeface="Cambria Math"/>
                <a:cs typeface="Cambria Math"/>
              </a:rPr>
              <a:t>𝑆</a:t>
            </a:r>
            <a:r>
              <a:rPr sz="2600" kern="1200" spc="204"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50" dirty="0">
                <a:solidFill>
                  <a:prstClr val="black"/>
                </a:solidFill>
                <a:latin typeface="Cambria Math"/>
                <a:cs typeface="Cambria Math"/>
              </a:rPr>
              <a:t> </a:t>
            </a:r>
            <a:r>
              <a:rPr sz="2600" kern="1200" dirty="0">
                <a:solidFill>
                  <a:prstClr val="black"/>
                </a:solidFill>
                <a:latin typeface="Cambria Math"/>
                <a:cs typeface="Cambria Math"/>
              </a:rPr>
              <a:t>𝑐𝐴𝑑	𝐴</a:t>
            </a:r>
            <a:r>
              <a:rPr sz="2600" kern="1200" spc="14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20" dirty="0">
                <a:solidFill>
                  <a:prstClr val="black"/>
                </a:solidFill>
                <a:latin typeface="Cambria Math"/>
                <a:cs typeface="Cambria Math"/>
              </a:rPr>
              <a:t> </a:t>
            </a:r>
            <a:r>
              <a:rPr sz="2600" kern="1200" dirty="0">
                <a:solidFill>
                  <a:prstClr val="black"/>
                </a:solidFill>
                <a:latin typeface="Cambria Math"/>
                <a:cs typeface="Cambria Math"/>
              </a:rPr>
              <a:t>𝑎𝑏</a:t>
            </a:r>
            <a:r>
              <a:rPr sz="2600" kern="1200" spc="3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25" dirty="0">
                <a:solidFill>
                  <a:prstClr val="black"/>
                </a:solidFill>
                <a:latin typeface="Cambria Math"/>
                <a:cs typeface="Cambria Math"/>
              </a:rPr>
              <a:t> </a:t>
            </a:r>
            <a:r>
              <a:rPr sz="2600" kern="1200" dirty="0">
                <a:solidFill>
                  <a:prstClr val="black"/>
                </a:solidFill>
                <a:latin typeface="Cambria Math"/>
                <a:cs typeface="Cambria Math"/>
              </a:rPr>
              <a:t>𝑎</a:t>
            </a:r>
            <a:endParaRPr sz="2600" kern="1200">
              <a:solidFill>
                <a:prstClr val="black"/>
              </a:solidFill>
              <a:latin typeface="Cambria Math"/>
              <a:cs typeface="Cambria Math"/>
            </a:endParaRPr>
          </a:p>
          <a:p>
            <a:pPr marL="243204" indent="-230504" rtl="0">
              <a:spcBef>
                <a:spcPts val="1275"/>
              </a:spcBef>
              <a:buClr>
                <a:srgbClr val="000000"/>
              </a:buClr>
              <a:buFont typeface="Arial MT"/>
              <a:buChar char="•"/>
              <a:tabLst>
                <a:tab pos="243204" algn="l"/>
              </a:tabLst>
            </a:pPr>
            <a:r>
              <a:rPr sz="2600" kern="1200" spc="-5" dirty="0">
                <a:solidFill>
                  <a:srgbClr val="0432FF"/>
                </a:solidFill>
                <a:latin typeface="Palatino Linotype"/>
                <a:cs typeface="Palatino Linotype"/>
              </a:rPr>
              <a:t>Input</a:t>
            </a:r>
            <a:r>
              <a:rPr sz="2600" kern="1200" spc="-25" dirty="0">
                <a:solidFill>
                  <a:srgbClr val="0432FF"/>
                </a:solidFill>
                <a:latin typeface="Palatino Linotype"/>
                <a:cs typeface="Palatino Linotype"/>
              </a:rPr>
              <a:t> </a:t>
            </a:r>
            <a:r>
              <a:rPr sz="2600" kern="1200" spc="-5" dirty="0">
                <a:solidFill>
                  <a:srgbClr val="0432FF"/>
                </a:solidFill>
                <a:latin typeface="Palatino Linotype"/>
                <a:cs typeface="Palatino Linotype"/>
              </a:rPr>
              <a:t>string:</a:t>
            </a:r>
            <a:r>
              <a:rPr sz="2600" kern="1200" spc="-20" dirty="0">
                <a:solidFill>
                  <a:srgbClr val="0432FF"/>
                </a:solidFill>
                <a:latin typeface="Palatino Linotype"/>
                <a:cs typeface="Palatino Linotype"/>
              </a:rPr>
              <a:t> </a:t>
            </a:r>
            <a:r>
              <a:rPr sz="2600" kern="1200" dirty="0">
                <a:solidFill>
                  <a:prstClr val="black"/>
                </a:solidFill>
                <a:latin typeface="Cambria Math"/>
                <a:cs typeface="Cambria Math"/>
              </a:rPr>
              <a:t>𝑐𝑎𝑑</a:t>
            </a:r>
            <a:endParaRPr sz="2600" kern="1200">
              <a:solidFill>
                <a:prstClr val="black"/>
              </a:solidFill>
              <a:latin typeface="Cambria Math"/>
              <a:cs typeface="Cambria Math"/>
            </a:endParaRPr>
          </a:p>
        </p:txBody>
      </p:sp>
      <p:grpSp>
        <p:nvGrpSpPr>
          <p:cNvPr id="22" name="object 4">
            <a:extLst>
              <a:ext uri="{FF2B5EF4-FFF2-40B4-BE49-F238E27FC236}">
                <a16:creationId xmlns:a16="http://schemas.microsoft.com/office/drawing/2014/main" id="{8CD42C66-CC16-D4D2-3915-55C1180057C2}"/>
              </a:ext>
            </a:extLst>
          </p:cNvPr>
          <p:cNvGrpSpPr/>
          <p:nvPr/>
        </p:nvGrpSpPr>
        <p:grpSpPr>
          <a:xfrm>
            <a:off x="724243" y="3534558"/>
            <a:ext cx="3230245" cy="408940"/>
            <a:chOff x="724243" y="3534558"/>
            <a:chExt cx="3230245" cy="408940"/>
          </a:xfrm>
        </p:grpSpPr>
        <p:sp>
          <p:nvSpPr>
            <p:cNvPr id="23" name="object 5">
              <a:extLst>
                <a:ext uri="{FF2B5EF4-FFF2-40B4-BE49-F238E27FC236}">
                  <a16:creationId xmlns:a16="http://schemas.microsoft.com/office/drawing/2014/main" id="{AD5ABD04-E9EC-809E-6FEB-F4AA7D84C6BD}"/>
                </a:ext>
              </a:extLst>
            </p:cNvPr>
            <p:cNvSpPr/>
            <p:nvPr/>
          </p:nvSpPr>
          <p:spPr>
            <a:xfrm>
              <a:off x="2869168" y="3547258"/>
              <a:ext cx="1059815" cy="370840"/>
            </a:xfrm>
            <a:custGeom>
              <a:avLst/>
              <a:gdLst/>
              <a:ahLst/>
              <a:cxnLst/>
              <a:rect l="l" t="t" r="r" b="b"/>
              <a:pathLst>
                <a:path w="1059814" h="370839">
                  <a:moveTo>
                    <a:pt x="1059762" y="0"/>
                  </a:moveTo>
                  <a:lnTo>
                    <a:pt x="0" y="0"/>
                  </a:lnTo>
                  <a:lnTo>
                    <a:pt x="0" y="370840"/>
                  </a:lnTo>
                  <a:lnTo>
                    <a:pt x="1059762" y="370840"/>
                  </a:lnTo>
                  <a:lnTo>
                    <a:pt x="1059762" y="0"/>
                  </a:lnTo>
                  <a:close/>
                </a:path>
              </a:pathLst>
            </a:custGeom>
            <a:solidFill>
              <a:srgbClr val="4472C4"/>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6">
              <a:extLst>
                <a:ext uri="{FF2B5EF4-FFF2-40B4-BE49-F238E27FC236}">
                  <a16:creationId xmlns:a16="http://schemas.microsoft.com/office/drawing/2014/main" id="{5B042FC2-52DA-E012-313A-8D05B4C1D886}"/>
                </a:ext>
              </a:extLst>
            </p:cNvPr>
            <p:cNvSpPr/>
            <p:nvPr/>
          </p:nvSpPr>
          <p:spPr>
            <a:xfrm>
              <a:off x="743293" y="3540908"/>
              <a:ext cx="3192145" cy="396240"/>
            </a:xfrm>
            <a:custGeom>
              <a:avLst/>
              <a:gdLst/>
              <a:ahLst/>
              <a:cxnLst/>
              <a:rect l="l" t="t" r="r" b="b"/>
              <a:pathLst>
                <a:path w="3192145" h="396239">
                  <a:moveTo>
                    <a:pt x="2125876" y="0"/>
                  </a:moveTo>
                  <a:lnTo>
                    <a:pt x="2125876" y="396240"/>
                  </a:lnTo>
                </a:path>
                <a:path w="3192145" h="396239">
                  <a:moveTo>
                    <a:pt x="3185639" y="0"/>
                  </a:moveTo>
                  <a:lnTo>
                    <a:pt x="3185639" y="396240"/>
                  </a:lnTo>
                </a:path>
                <a:path w="3192145" h="396239">
                  <a:moveTo>
                    <a:pt x="1066113" y="0"/>
                  </a:moveTo>
                  <a:lnTo>
                    <a:pt x="1066113" y="396240"/>
                  </a:lnTo>
                </a:path>
                <a:path w="3192145" h="396239">
                  <a:moveTo>
                    <a:pt x="6350" y="0"/>
                  </a:moveTo>
                  <a:lnTo>
                    <a:pt x="6350" y="396240"/>
                  </a:lnTo>
                </a:path>
                <a:path w="3192145" h="396239">
                  <a:moveTo>
                    <a:pt x="0" y="6350"/>
                  </a:moveTo>
                  <a:lnTo>
                    <a:pt x="3191989" y="6350"/>
                  </a:lnTo>
                </a:path>
              </a:pathLst>
            </a:custGeom>
            <a:ln w="127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7">
              <a:extLst>
                <a:ext uri="{FF2B5EF4-FFF2-40B4-BE49-F238E27FC236}">
                  <a16:creationId xmlns:a16="http://schemas.microsoft.com/office/drawing/2014/main" id="{F0C5B3F5-4BEF-D9A3-7E0F-441ACEC89460}"/>
                </a:ext>
              </a:extLst>
            </p:cNvPr>
            <p:cNvSpPr/>
            <p:nvPr/>
          </p:nvSpPr>
          <p:spPr>
            <a:xfrm>
              <a:off x="743293" y="3918098"/>
              <a:ext cx="3192145" cy="0"/>
            </a:xfrm>
            <a:custGeom>
              <a:avLst/>
              <a:gdLst/>
              <a:ahLst/>
              <a:cxnLst/>
              <a:rect l="l" t="t" r="r" b="b"/>
              <a:pathLst>
                <a:path w="3192145">
                  <a:moveTo>
                    <a:pt x="0" y="0"/>
                  </a:moveTo>
                  <a:lnTo>
                    <a:pt x="3191989" y="0"/>
                  </a:lnTo>
                </a:path>
              </a:pathLst>
            </a:custGeom>
            <a:ln w="38100">
              <a:solidFill>
                <a:srgbClr val="FFFF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6" name="object 8">
            <a:extLst>
              <a:ext uri="{FF2B5EF4-FFF2-40B4-BE49-F238E27FC236}">
                <a16:creationId xmlns:a16="http://schemas.microsoft.com/office/drawing/2014/main" id="{007FBD36-4197-31DB-3136-37CD20A4230C}"/>
              </a:ext>
            </a:extLst>
          </p:cNvPr>
          <p:cNvSpPr txBox="1"/>
          <p:nvPr/>
        </p:nvSpPr>
        <p:spPr>
          <a:xfrm>
            <a:off x="755993"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𝑐</a:t>
            </a:r>
            <a:endParaRPr kern="1200">
              <a:solidFill>
                <a:prstClr val="black"/>
              </a:solidFill>
              <a:latin typeface="Cambria Math"/>
              <a:cs typeface="Cambria Math"/>
            </a:endParaRPr>
          </a:p>
        </p:txBody>
      </p:sp>
      <p:sp>
        <p:nvSpPr>
          <p:cNvPr id="27" name="object 9">
            <a:extLst>
              <a:ext uri="{FF2B5EF4-FFF2-40B4-BE49-F238E27FC236}">
                <a16:creationId xmlns:a16="http://schemas.microsoft.com/office/drawing/2014/main" id="{B1FA8423-604F-F58E-A129-AA5150F7F0E2}"/>
              </a:ext>
            </a:extLst>
          </p:cNvPr>
          <p:cNvSpPr txBox="1"/>
          <p:nvPr/>
        </p:nvSpPr>
        <p:spPr>
          <a:xfrm>
            <a:off x="1815756" y="3553608"/>
            <a:ext cx="1047115" cy="345440"/>
          </a:xfrm>
          <a:prstGeom prst="rect">
            <a:avLst/>
          </a:prstGeom>
          <a:solidFill>
            <a:srgbClr val="4472C4"/>
          </a:solidFill>
        </p:spPr>
        <p:txBody>
          <a:bodyPr vert="horz" wrap="square" lIns="0" tIns="27305" rIns="0" bIns="0" rtlCol="0">
            <a:spAutoFit/>
          </a:bodyPr>
          <a:lstStyle/>
          <a:p>
            <a:pPr algn="ctr" rtl="0">
              <a:spcBef>
                <a:spcPts val="215"/>
              </a:spcBef>
            </a:pPr>
            <a:r>
              <a:rPr kern="1200" dirty="0">
                <a:solidFill>
                  <a:srgbClr val="FFFFFF"/>
                </a:solidFill>
                <a:latin typeface="Cambria Math"/>
                <a:cs typeface="Cambria Math"/>
              </a:rPr>
              <a:t>𝑎</a:t>
            </a:r>
            <a:endParaRPr kern="1200">
              <a:solidFill>
                <a:prstClr val="black"/>
              </a:solidFill>
              <a:latin typeface="Cambria Math"/>
              <a:cs typeface="Cambria Math"/>
            </a:endParaRPr>
          </a:p>
        </p:txBody>
      </p:sp>
      <p:sp>
        <p:nvSpPr>
          <p:cNvPr id="28" name="object 10">
            <a:extLst>
              <a:ext uri="{FF2B5EF4-FFF2-40B4-BE49-F238E27FC236}">
                <a16:creationId xmlns:a16="http://schemas.microsoft.com/office/drawing/2014/main" id="{7661D35B-F09C-575D-BBC5-CDA178FF25C4}"/>
              </a:ext>
            </a:extLst>
          </p:cNvPr>
          <p:cNvSpPr txBox="1"/>
          <p:nvPr/>
        </p:nvSpPr>
        <p:spPr>
          <a:xfrm>
            <a:off x="2875519" y="3568700"/>
            <a:ext cx="1047115" cy="299720"/>
          </a:xfrm>
          <a:prstGeom prst="rect">
            <a:avLst/>
          </a:prstGeom>
        </p:spPr>
        <p:txBody>
          <a:bodyPr vert="horz" wrap="square" lIns="0" tIns="12700" rIns="0" bIns="0" rtlCol="0">
            <a:spAutoFit/>
          </a:bodyPr>
          <a:lstStyle/>
          <a:p>
            <a:pPr algn="ctr" rtl="0">
              <a:spcBef>
                <a:spcPts val="100"/>
              </a:spcBef>
            </a:pPr>
            <a:r>
              <a:rPr kern="1200" dirty="0">
                <a:solidFill>
                  <a:srgbClr val="FFFFFF"/>
                </a:solidFill>
                <a:latin typeface="Cambria Math"/>
                <a:cs typeface="Cambria Math"/>
              </a:rPr>
              <a:t>𝑑</a:t>
            </a:r>
            <a:endParaRPr kern="1200">
              <a:solidFill>
                <a:prstClr val="black"/>
              </a:solidFill>
              <a:latin typeface="Cambria Math"/>
              <a:cs typeface="Cambria Math"/>
            </a:endParaRPr>
          </a:p>
        </p:txBody>
      </p:sp>
      <p:sp>
        <p:nvSpPr>
          <p:cNvPr id="29" name="object 11">
            <a:extLst>
              <a:ext uri="{FF2B5EF4-FFF2-40B4-BE49-F238E27FC236}">
                <a16:creationId xmlns:a16="http://schemas.microsoft.com/office/drawing/2014/main" id="{2A7BFB3A-5AE3-73E5-2080-91C2079584EE}"/>
              </a:ext>
            </a:extLst>
          </p:cNvPr>
          <p:cNvSpPr txBox="1"/>
          <p:nvPr/>
        </p:nvSpPr>
        <p:spPr>
          <a:xfrm>
            <a:off x="2076858" y="4376420"/>
            <a:ext cx="2127250"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Palatino Linotype"/>
                <a:cs typeface="Palatino Linotype"/>
              </a:rPr>
              <a:t>Scanned</a:t>
            </a:r>
            <a:r>
              <a:rPr kern="1200" spc="-40" dirty="0">
                <a:solidFill>
                  <a:srgbClr val="FF0000"/>
                </a:solidFill>
                <a:latin typeface="Palatino Linotype"/>
                <a:cs typeface="Palatino Linotype"/>
              </a:rPr>
              <a:t> </a:t>
            </a:r>
            <a:r>
              <a:rPr kern="1200" dirty="0">
                <a:solidFill>
                  <a:srgbClr val="FF0000"/>
                </a:solidFill>
                <a:latin typeface="Palatino Linotype"/>
                <a:cs typeface="Palatino Linotype"/>
              </a:rPr>
              <a:t>entire</a:t>
            </a:r>
            <a:r>
              <a:rPr kern="1200" spc="-40" dirty="0">
                <a:solidFill>
                  <a:srgbClr val="FF0000"/>
                </a:solidFill>
                <a:latin typeface="Palatino Linotype"/>
                <a:cs typeface="Palatino Linotype"/>
              </a:rPr>
              <a:t> </a:t>
            </a:r>
            <a:r>
              <a:rPr kern="1200" dirty="0">
                <a:solidFill>
                  <a:srgbClr val="FF0000"/>
                </a:solidFill>
                <a:latin typeface="Palatino Linotype"/>
                <a:cs typeface="Palatino Linotype"/>
              </a:rPr>
              <a:t>input</a:t>
            </a:r>
            <a:endParaRPr kern="1200">
              <a:solidFill>
                <a:prstClr val="black"/>
              </a:solidFill>
              <a:latin typeface="Palatino Linotype"/>
              <a:cs typeface="Palatino Linotype"/>
            </a:endParaRPr>
          </a:p>
        </p:txBody>
      </p:sp>
      <p:sp>
        <p:nvSpPr>
          <p:cNvPr id="30" name="object 12">
            <a:extLst>
              <a:ext uri="{FF2B5EF4-FFF2-40B4-BE49-F238E27FC236}">
                <a16:creationId xmlns:a16="http://schemas.microsoft.com/office/drawing/2014/main" id="{2E778FD7-70C2-EA38-4B82-60CEA1425646}"/>
              </a:ext>
            </a:extLst>
          </p:cNvPr>
          <p:cNvSpPr txBox="1"/>
          <p:nvPr/>
        </p:nvSpPr>
        <p:spPr>
          <a:xfrm>
            <a:off x="4238848" y="3092196"/>
            <a:ext cx="4514215" cy="635000"/>
          </a:xfrm>
          <a:prstGeom prst="rect">
            <a:avLst/>
          </a:prstGeom>
        </p:spPr>
        <p:txBody>
          <a:bodyPr vert="horz" wrap="square" lIns="0" tIns="12700" rIns="0" bIns="0" rtlCol="0">
            <a:spAutoFit/>
          </a:bodyPr>
          <a:lstStyle/>
          <a:p>
            <a:pPr marL="355600" indent="-342900" rtl="0">
              <a:spcBef>
                <a:spcPts val="100"/>
              </a:spcBef>
              <a:buFont typeface="Cambria Math"/>
              <a:buChar char="⎯"/>
              <a:tabLst>
                <a:tab pos="354965" algn="l"/>
                <a:tab pos="355600" algn="l"/>
              </a:tabLst>
            </a:pPr>
            <a:r>
              <a:rPr sz="2000" kern="1200" spc="-5" dirty="0">
                <a:solidFill>
                  <a:srgbClr val="0432FF"/>
                </a:solidFill>
                <a:latin typeface="Palatino Linotype"/>
                <a:cs typeface="Palatino Linotype"/>
              </a:rPr>
              <a:t>The</a:t>
            </a:r>
            <a:r>
              <a:rPr sz="2000" kern="1200" spc="-10" dirty="0">
                <a:solidFill>
                  <a:srgbClr val="0432FF"/>
                </a:solidFill>
                <a:latin typeface="Palatino Linotype"/>
                <a:cs typeface="Palatino Linotype"/>
              </a:rPr>
              <a:t> </a:t>
            </a:r>
            <a:r>
              <a:rPr sz="2000" kern="1200" dirty="0">
                <a:solidFill>
                  <a:srgbClr val="0432FF"/>
                </a:solidFill>
                <a:latin typeface="Palatino Linotype"/>
                <a:cs typeface="Palatino Linotype"/>
              </a:rPr>
              <a:t>last</a:t>
            </a:r>
            <a:r>
              <a:rPr sz="2000" kern="1200" spc="-10" dirty="0">
                <a:solidFill>
                  <a:srgbClr val="0432FF"/>
                </a:solidFill>
                <a:latin typeface="Palatino Linotype"/>
                <a:cs typeface="Palatino Linotype"/>
              </a:rPr>
              <a:t> </a:t>
            </a:r>
            <a:r>
              <a:rPr sz="2000" kern="1200" dirty="0">
                <a:solidFill>
                  <a:srgbClr val="0432FF"/>
                </a:solidFill>
                <a:latin typeface="Palatino Linotype"/>
                <a:cs typeface="Palatino Linotype"/>
              </a:rPr>
              <a:t>leaf</a:t>
            </a:r>
            <a:r>
              <a:rPr sz="2000" kern="1200" spc="-10" dirty="0">
                <a:solidFill>
                  <a:srgbClr val="0432FF"/>
                </a:solidFill>
                <a:latin typeface="Palatino Linotype"/>
                <a:cs typeface="Palatino Linotype"/>
              </a:rPr>
              <a:t> </a:t>
            </a:r>
            <a:r>
              <a:rPr sz="2000" kern="1200" spc="-5" dirty="0">
                <a:solidFill>
                  <a:srgbClr val="0432FF"/>
                </a:solidFill>
                <a:latin typeface="Palatino Linotype"/>
                <a:cs typeface="Palatino Linotype"/>
              </a:rPr>
              <a:t>node matches</a:t>
            </a:r>
            <a:r>
              <a:rPr sz="2000" kern="1200" spc="-10" dirty="0">
                <a:solidFill>
                  <a:srgbClr val="0432FF"/>
                </a:solidFill>
                <a:latin typeface="Palatino Linotype"/>
                <a:cs typeface="Palatino Linotype"/>
              </a:rPr>
              <a:t> </a:t>
            </a:r>
            <a:r>
              <a:rPr sz="2000" kern="1200" dirty="0">
                <a:solidFill>
                  <a:srgbClr val="0432FF"/>
                </a:solidFill>
                <a:latin typeface="Cambria Math"/>
                <a:cs typeface="Cambria Math"/>
              </a:rPr>
              <a:t>𝑑</a:t>
            </a:r>
            <a:r>
              <a:rPr sz="2000" kern="1200" spc="120" dirty="0">
                <a:solidFill>
                  <a:srgbClr val="0432FF"/>
                </a:solidFill>
                <a:latin typeface="Cambria Math"/>
                <a:cs typeface="Cambria Math"/>
              </a:rPr>
              <a:t> </a:t>
            </a:r>
            <a:r>
              <a:rPr sz="2000" kern="1200" dirty="0">
                <a:solidFill>
                  <a:srgbClr val="0432FF"/>
                </a:solidFill>
                <a:latin typeface="Palatino Linotype"/>
                <a:cs typeface="Palatino Linotype"/>
              </a:rPr>
              <a:t>in</a:t>
            </a:r>
            <a:r>
              <a:rPr sz="2000" kern="1200" spc="-10" dirty="0">
                <a:solidFill>
                  <a:srgbClr val="0432FF"/>
                </a:solidFill>
                <a:latin typeface="Palatino Linotype"/>
                <a:cs typeface="Palatino Linotype"/>
              </a:rPr>
              <a:t> </a:t>
            </a:r>
            <a:r>
              <a:rPr sz="2000" kern="1200" spc="-5" dirty="0">
                <a:solidFill>
                  <a:srgbClr val="0432FF"/>
                </a:solidFill>
                <a:latin typeface="Palatino Linotype"/>
                <a:cs typeface="Palatino Linotype"/>
              </a:rPr>
              <a:t>input</a:t>
            </a:r>
            <a:endParaRPr sz="2000" kern="1200" dirty="0">
              <a:solidFill>
                <a:prstClr val="black"/>
              </a:solidFill>
              <a:latin typeface="Palatino Linotype"/>
              <a:cs typeface="Palatino Linotype"/>
            </a:endParaRPr>
          </a:p>
          <a:p>
            <a:pPr marL="355600" indent="-342900" rtl="0">
              <a:buFont typeface="Cambria Math"/>
              <a:buChar char="⎯"/>
              <a:tabLst>
                <a:tab pos="354965" algn="l"/>
                <a:tab pos="355600" algn="l"/>
              </a:tabLst>
            </a:pPr>
            <a:r>
              <a:rPr sz="2000" kern="1200" spc="-10" dirty="0">
                <a:solidFill>
                  <a:srgbClr val="FF0000"/>
                </a:solidFill>
                <a:latin typeface="Palatino Linotype"/>
                <a:cs typeface="Palatino Linotype"/>
              </a:rPr>
              <a:t>Announce</a:t>
            </a:r>
            <a:r>
              <a:rPr sz="2000" kern="1200" spc="-20" dirty="0">
                <a:solidFill>
                  <a:srgbClr val="FF0000"/>
                </a:solidFill>
                <a:latin typeface="Palatino Linotype"/>
                <a:cs typeface="Palatino Linotype"/>
              </a:rPr>
              <a:t> </a:t>
            </a:r>
            <a:r>
              <a:rPr sz="2000" kern="1200" spc="-5" dirty="0">
                <a:solidFill>
                  <a:srgbClr val="FF0000"/>
                </a:solidFill>
                <a:latin typeface="Palatino Linotype"/>
                <a:cs typeface="Palatino Linotype"/>
              </a:rPr>
              <a:t>success!</a:t>
            </a:r>
            <a:endParaRPr sz="2000" kern="1200" dirty="0">
              <a:solidFill>
                <a:prstClr val="black"/>
              </a:solidFill>
              <a:latin typeface="Palatino Linotype"/>
              <a:cs typeface="Palatino Linotype"/>
            </a:endParaRPr>
          </a:p>
        </p:txBody>
      </p:sp>
      <p:grpSp>
        <p:nvGrpSpPr>
          <p:cNvPr id="31" name="object 13">
            <a:extLst>
              <a:ext uri="{FF2B5EF4-FFF2-40B4-BE49-F238E27FC236}">
                <a16:creationId xmlns:a16="http://schemas.microsoft.com/office/drawing/2014/main" id="{9A835AC6-D17A-895D-6861-3DE4AE4F4AC6}"/>
              </a:ext>
            </a:extLst>
          </p:cNvPr>
          <p:cNvGrpSpPr/>
          <p:nvPr/>
        </p:nvGrpSpPr>
        <p:grpSpPr>
          <a:xfrm>
            <a:off x="5059071" y="4084275"/>
            <a:ext cx="2414270" cy="1764030"/>
            <a:chOff x="5059071" y="4084275"/>
            <a:chExt cx="2414270" cy="1764030"/>
          </a:xfrm>
        </p:grpSpPr>
        <p:pic>
          <p:nvPicPr>
            <p:cNvPr id="32" name="object 14">
              <a:extLst>
                <a:ext uri="{FF2B5EF4-FFF2-40B4-BE49-F238E27FC236}">
                  <a16:creationId xmlns:a16="http://schemas.microsoft.com/office/drawing/2014/main" id="{C102A38C-7F4C-B5BE-3DCF-F4CBCDF0709C}"/>
                </a:ext>
              </a:extLst>
            </p:cNvPr>
            <p:cNvPicPr/>
            <p:nvPr/>
          </p:nvPicPr>
          <p:blipFill>
            <a:blip r:embed="rId3" cstate="print"/>
            <a:stretch>
              <a:fillRect/>
            </a:stretch>
          </p:blipFill>
          <p:spPr>
            <a:xfrm>
              <a:off x="5059071" y="4084275"/>
              <a:ext cx="2030442" cy="1763669"/>
            </a:xfrm>
            <a:prstGeom prst="rect">
              <a:avLst/>
            </a:prstGeom>
          </p:spPr>
        </p:pic>
        <p:sp>
          <p:nvSpPr>
            <p:cNvPr id="33" name="object 15">
              <a:extLst>
                <a:ext uri="{FF2B5EF4-FFF2-40B4-BE49-F238E27FC236}">
                  <a16:creationId xmlns:a16="http://schemas.microsoft.com/office/drawing/2014/main" id="{DA666A9F-7416-DBB0-67F7-0E61FDBD56CA}"/>
                </a:ext>
              </a:extLst>
            </p:cNvPr>
            <p:cNvSpPr/>
            <p:nvPr/>
          </p:nvSpPr>
          <p:spPr>
            <a:xfrm>
              <a:off x="6585504" y="4806811"/>
              <a:ext cx="882015" cy="400685"/>
            </a:xfrm>
            <a:custGeom>
              <a:avLst/>
              <a:gdLst/>
              <a:ahLst/>
              <a:cxnLst/>
              <a:rect l="l" t="t" r="r" b="b"/>
              <a:pathLst>
                <a:path w="882015"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4" name="object 16">
            <a:extLst>
              <a:ext uri="{FF2B5EF4-FFF2-40B4-BE49-F238E27FC236}">
                <a16:creationId xmlns:a16="http://schemas.microsoft.com/office/drawing/2014/main" id="{BEE61E7A-29B6-F406-DA51-D6A047CAA989}"/>
              </a:ext>
            </a:extLst>
          </p:cNvPr>
          <p:cNvSpPr/>
          <p:nvPr/>
        </p:nvSpPr>
        <p:spPr>
          <a:xfrm>
            <a:off x="2936788" y="3530216"/>
            <a:ext cx="882015" cy="400685"/>
          </a:xfrm>
          <a:custGeom>
            <a:avLst/>
            <a:gdLst/>
            <a:ahLst/>
            <a:cxnLst/>
            <a:rect l="l" t="t" r="r" b="b"/>
            <a:pathLst>
              <a:path w="882014" h="400685">
                <a:moveTo>
                  <a:pt x="0" y="200055"/>
                </a:moveTo>
                <a:lnTo>
                  <a:pt x="18659" y="142276"/>
                </a:lnTo>
                <a:lnTo>
                  <a:pt x="71003" y="91122"/>
                </a:lnTo>
                <a:lnTo>
                  <a:pt x="108102" y="68804"/>
                </a:lnTo>
                <a:lnTo>
                  <a:pt x="151576" y="49070"/>
                </a:lnTo>
                <a:lnTo>
                  <a:pt x="200745" y="32230"/>
                </a:lnTo>
                <a:lnTo>
                  <a:pt x="254926" y="18593"/>
                </a:lnTo>
                <a:lnTo>
                  <a:pt x="313437" y="8470"/>
                </a:lnTo>
                <a:lnTo>
                  <a:pt x="375597" y="2169"/>
                </a:lnTo>
                <a:lnTo>
                  <a:pt x="440724" y="0"/>
                </a:lnTo>
                <a:lnTo>
                  <a:pt x="505851" y="2169"/>
                </a:lnTo>
                <a:lnTo>
                  <a:pt x="568011" y="8470"/>
                </a:lnTo>
                <a:lnTo>
                  <a:pt x="626522" y="18593"/>
                </a:lnTo>
                <a:lnTo>
                  <a:pt x="680703" y="32230"/>
                </a:lnTo>
                <a:lnTo>
                  <a:pt x="729872" y="49070"/>
                </a:lnTo>
                <a:lnTo>
                  <a:pt x="773346" y="68804"/>
                </a:lnTo>
                <a:lnTo>
                  <a:pt x="810445" y="91122"/>
                </a:lnTo>
                <a:lnTo>
                  <a:pt x="840486" y="115716"/>
                </a:lnTo>
                <a:lnTo>
                  <a:pt x="876670" y="170492"/>
                </a:lnTo>
                <a:lnTo>
                  <a:pt x="881449" y="200055"/>
                </a:lnTo>
                <a:lnTo>
                  <a:pt x="876670" y="229617"/>
                </a:lnTo>
                <a:lnTo>
                  <a:pt x="840486" y="284393"/>
                </a:lnTo>
                <a:lnTo>
                  <a:pt x="810445" y="308987"/>
                </a:lnTo>
                <a:lnTo>
                  <a:pt x="773346" y="331305"/>
                </a:lnTo>
                <a:lnTo>
                  <a:pt x="729872" y="351039"/>
                </a:lnTo>
                <a:lnTo>
                  <a:pt x="680703" y="367879"/>
                </a:lnTo>
                <a:lnTo>
                  <a:pt x="626522" y="381516"/>
                </a:lnTo>
                <a:lnTo>
                  <a:pt x="568011" y="391639"/>
                </a:lnTo>
                <a:lnTo>
                  <a:pt x="505851" y="397940"/>
                </a:lnTo>
                <a:lnTo>
                  <a:pt x="440724" y="400110"/>
                </a:lnTo>
                <a:lnTo>
                  <a:pt x="375597" y="397940"/>
                </a:lnTo>
                <a:lnTo>
                  <a:pt x="313437" y="391639"/>
                </a:lnTo>
                <a:lnTo>
                  <a:pt x="254926" y="381516"/>
                </a:lnTo>
                <a:lnTo>
                  <a:pt x="200745" y="367879"/>
                </a:lnTo>
                <a:lnTo>
                  <a:pt x="151576" y="351039"/>
                </a:lnTo>
                <a:lnTo>
                  <a:pt x="108102" y="331305"/>
                </a:lnTo>
                <a:lnTo>
                  <a:pt x="71003" y="308987"/>
                </a:lnTo>
                <a:lnTo>
                  <a:pt x="40962" y="284393"/>
                </a:lnTo>
                <a:lnTo>
                  <a:pt x="4778" y="229617"/>
                </a:lnTo>
                <a:lnTo>
                  <a:pt x="0" y="200055"/>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1114595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59</a:t>
            </a:fld>
            <a:endParaRPr lang="en-US"/>
          </a:p>
        </p:txBody>
      </p:sp>
      <p:sp>
        <p:nvSpPr>
          <p:cNvPr id="12" name="object 2">
            <a:extLst>
              <a:ext uri="{FF2B5EF4-FFF2-40B4-BE49-F238E27FC236}">
                <a16:creationId xmlns:a16="http://schemas.microsoft.com/office/drawing/2014/main" id="{9FA7037E-E8CA-1D3D-508C-01EF97535DEF}"/>
              </a:ext>
            </a:extLst>
          </p:cNvPr>
          <p:cNvSpPr txBox="1">
            <a:spLocks/>
          </p:cNvSpPr>
          <p:nvPr/>
        </p:nvSpPr>
        <p:spPr>
          <a:xfrm>
            <a:off x="707390" y="524763"/>
            <a:ext cx="716089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The </a:t>
            </a:r>
            <a:r>
              <a:rPr kumimoji="0" lang="en-US" sz="4000" b="1" i="0" u="none" strike="noStrike" kern="0" cap="none" spc="-5" normalizeH="0" baseline="0" noProof="0">
                <a:ln>
                  <a:noFill/>
                </a:ln>
                <a:solidFill>
                  <a:sysClr val="windowText" lastClr="000000"/>
                </a:solidFill>
                <a:effectLst/>
                <a:uLnTx/>
                <a:uFillTx/>
                <a:latin typeface="Palatino Linotype"/>
                <a:ea typeface="+mj-ea"/>
              </a:rPr>
              <a:t>Problem</a:t>
            </a:r>
            <a:r>
              <a:rPr kumimoji="0" lang="en-US" sz="4000" b="1" i="0" u="none" strike="noStrike" kern="0" cap="none" spc="0" normalizeH="0" baseline="0" noProof="0">
                <a:ln>
                  <a:noFill/>
                </a:ln>
                <a:solidFill>
                  <a:sysClr val="windowText" lastClr="000000"/>
                </a:solidFill>
                <a:effectLst/>
                <a:uLnTx/>
                <a:uFillTx/>
                <a:latin typeface="Palatino Linotype"/>
                <a:ea typeface="+mj-ea"/>
              </a:rPr>
              <a:t> of</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Left </a:t>
            </a:r>
            <a:r>
              <a:rPr kumimoji="0" lang="en-US" sz="4000" b="1" i="0" u="none" strike="noStrike" kern="0" cap="none" spc="-5" normalizeH="0" baseline="0" noProof="0">
                <a:ln>
                  <a:noFill/>
                </a:ln>
                <a:solidFill>
                  <a:sysClr val="windowText" lastClr="000000"/>
                </a:solidFill>
                <a:effectLst/>
                <a:uLnTx/>
                <a:uFillTx/>
                <a:latin typeface="Palatino Linotype"/>
                <a:ea typeface="+mj-ea"/>
              </a:rPr>
              <a:t>Recursion</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grpSp>
        <p:nvGrpSpPr>
          <p:cNvPr id="13" name="object 3">
            <a:extLst>
              <a:ext uri="{FF2B5EF4-FFF2-40B4-BE49-F238E27FC236}">
                <a16:creationId xmlns:a16="http://schemas.microsoft.com/office/drawing/2014/main" id="{69E12E9D-2B7C-B3FF-F93C-1AA92EF0D781}"/>
              </a:ext>
            </a:extLst>
          </p:cNvPr>
          <p:cNvGrpSpPr/>
          <p:nvPr/>
        </p:nvGrpSpPr>
        <p:grpSpPr>
          <a:xfrm>
            <a:off x="762345" y="1866438"/>
            <a:ext cx="7044055" cy="2898140"/>
            <a:chOff x="762345" y="1866438"/>
            <a:chExt cx="7044055" cy="2898140"/>
          </a:xfrm>
        </p:grpSpPr>
        <p:pic>
          <p:nvPicPr>
            <p:cNvPr id="14" name="object 4">
              <a:extLst>
                <a:ext uri="{FF2B5EF4-FFF2-40B4-BE49-F238E27FC236}">
                  <a16:creationId xmlns:a16="http://schemas.microsoft.com/office/drawing/2014/main" id="{EC158E0A-B2E7-BC33-9069-3CC770E06CC9}"/>
                </a:ext>
              </a:extLst>
            </p:cNvPr>
            <p:cNvPicPr/>
            <p:nvPr/>
          </p:nvPicPr>
          <p:blipFill>
            <a:blip r:embed="rId3" cstate="print"/>
            <a:stretch>
              <a:fillRect/>
            </a:stretch>
          </p:blipFill>
          <p:spPr>
            <a:xfrm>
              <a:off x="864181" y="1866438"/>
              <a:ext cx="6941982" cy="2897799"/>
            </a:xfrm>
            <a:prstGeom prst="rect">
              <a:avLst/>
            </a:prstGeom>
          </p:spPr>
        </p:pic>
        <p:sp>
          <p:nvSpPr>
            <p:cNvPr id="15" name="object 5">
              <a:extLst>
                <a:ext uri="{FF2B5EF4-FFF2-40B4-BE49-F238E27FC236}">
                  <a16:creationId xmlns:a16="http://schemas.microsoft.com/office/drawing/2014/main" id="{06A92C79-8F25-6686-C4CA-62769D6A61FE}"/>
                </a:ext>
              </a:extLst>
            </p:cNvPr>
            <p:cNvSpPr/>
            <p:nvPr/>
          </p:nvSpPr>
          <p:spPr>
            <a:xfrm>
              <a:off x="768695" y="3015048"/>
              <a:ext cx="5130165" cy="292735"/>
            </a:xfrm>
            <a:custGeom>
              <a:avLst/>
              <a:gdLst/>
              <a:ahLst/>
              <a:cxnLst/>
              <a:rect l="l" t="t" r="r" b="b"/>
              <a:pathLst>
                <a:path w="5130165" h="292735">
                  <a:moveTo>
                    <a:pt x="0" y="0"/>
                  </a:moveTo>
                  <a:lnTo>
                    <a:pt x="5129600" y="0"/>
                  </a:lnTo>
                  <a:lnTo>
                    <a:pt x="5129600" y="292330"/>
                  </a:lnTo>
                  <a:lnTo>
                    <a:pt x="0" y="29233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6">
              <a:extLst>
                <a:ext uri="{FF2B5EF4-FFF2-40B4-BE49-F238E27FC236}">
                  <a16:creationId xmlns:a16="http://schemas.microsoft.com/office/drawing/2014/main" id="{F2E39C12-F09D-9F17-B5BF-62D1B77EF5EC}"/>
                </a:ext>
              </a:extLst>
            </p:cNvPr>
            <p:cNvSpPr/>
            <p:nvPr/>
          </p:nvSpPr>
          <p:spPr>
            <a:xfrm>
              <a:off x="4784641" y="2123241"/>
              <a:ext cx="1838960" cy="292735"/>
            </a:xfrm>
            <a:custGeom>
              <a:avLst/>
              <a:gdLst/>
              <a:ahLst/>
              <a:cxnLst/>
              <a:rect l="l" t="t" r="r" b="b"/>
              <a:pathLst>
                <a:path w="1838959" h="292735">
                  <a:moveTo>
                    <a:pt x="0" y="0"/>
                  </a:moveTo>
                  <a:lnTo>
                    <a:pt x="1838580" y="0"/>
                  </a:lnTo>
                  <a:lnTo>
                    <a:pt x="1838580" y="292330"/>
                  </a:lnTo>
                  <a:lnTo>
                    <a:pt x="0" y="29233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7" name="object 7">
            <a:extLst>
              <a:ext uri="{FF2B5EF4-FFF2-40B4-BE49-F238E27FC236}">
                <a16:creationId xmlns:a16="http://schemas.microsoft.com/office/drawing/2014/main" id="{064BCB5B-7077-2BD6-336A-83249DCBB4B5}"/>
              </a:ext>
            </a:extLst>
          </p:cNvPr>
          <p:cNvSpPr txBox="1"/>
          <p:nvPr/>
        </p:nvSpPr>
        <p:spPr>
          <a:xfrm>
            <a:off x="847435" y="5222747"/>
            <a:ext cx="7292340" cy="732790"/>
          </a:xfrm>
          <a:prstGeom prst="rect">
            <a:avLst/>
          </a:prstGeom>
        </p:spPr>
        <p:txBody>
          <a:bodyPr vert="horz" wrap="square" lIns="0" tIns="12700" rIns="0" bIns="0" rtlCol="0">
            <a:spAutoFit/>
          </a:bodyPr>
          <a:lstStyle/>
          <a:p>
            <a:pPr marL="12700" marR="5080" rtl="0">
              <a:lnSpc>
                <a:spcPct val="115999"/>
              </a:lnSpc>
              <a:spcBef>
                <a:spcPts val="100"/>
              </a:spcBef>
            </a:pPr>
            <a:r>
              <a:rPr sz="2000" kern="1200" dirty="0">
                <a:solidFill>
                  <a:prstClr val="black"/>
                </a:solidFill>
                <a:latin typeface="Palatino Linotype"/>
                <a:cs typeface="Palatino Linotype"/>
              </a:rPr>
              <a:t>If </a:t>
            </a:r>
            <a:r>
              <a:rPr sz="2000" kern="1200" spc="-5" dirty="0">
                <a:solidFill>
                  <a:prstClr val="black"/>
                </a:solidFill>
                <a:latin typeface="Palatino Linotype"/>
                <a:cs typeface="Palatino Linotype"/>
              </a:rPr>
              <a:t>there </a:t>
            </a:r>
            <a:r>
              <a:rPr sz="2000" kern="1200" dirty="0">
                <a:solidFill>
                  <a:prstClr val="black"/>
                </a:solidFill>
                <a:latin typeface="Palatino Linotype"/>
                <a:cs typeface="Palatino Linotype"/>
              </a:rPr>
              <a:t>is </a:t>
            </a:r>
            <a:r>
              <a:rPr sz="2000" kern="1200" dirty="0">
                <a:solidFill>
                  <a:srgbClr val="0432FF"/>
                </a:solidFill>
                <a:latin typeface="Palatino Linotype"/>
                <a:cs typeface="Palatino Linotype"/>
              </a:rPr>
              <a:t>left </a:t>
            </a:r>
            <a:r>
              <a:rPr sz="2000" kern="1200" spc="-5" dirty="0">
                <a:solidFill>
                  <a:srgbClr val="0432FF"/>
                </a:solidFill>
                <a:latin typeface="Palatino Linotype"/>
                <a:cs typeface="Palatino Linotype"/>
              </a:rPr>
              <a:t>recursion </a:t>
            </a:r>
            <a:r>
              <a:rPr sz="2000" kern="1200" dirty="0">
                <a:solidFill>
                  <a:prstClr val="black"/>
                </a:solidFill>
                <a:latin typeface="Palatino Linotype"/>
                <a:cs typeface="Palatino Linotype"/>
              </a:rPr>
              <a:t>in a </a:t>
            </a:r>
            <a:r>
              <a:rPr sz="2000" kern="1200" spc="-5" dirty="0">
                <a:solidFill>
                  <a:prstClr val="black"/>
                </a:solidFill>
                <a:latin typeface="Palatino Linotype"/>
                <a:cs typeface="Palatino Linotype"/>
              </a:rPr>
              <a:t>CFG,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recursive-descent parser may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go</a:t>
            </a:r>
            <a:r>
              <a:rPr sz="2000" kern="1200" spc="-5" dirty="0">
                <a:solidFill>
                  <a:prstClr val="black"/>
                </a:solidFill>
                <a:latin typeface="Palatino Linotype"/>
                <a:cs typeface="Palatino Linotype"/>
              </a:rPr>
              <a:t> into </a:t>
            </a:r>
            <a:r>
              <a:rPr sz="2000" kern="1200" dirty="0">
                <a:solidFill>
                  <a:srgbClr val="FF0000"/>
                </a:solidFill>
                <a:latin typeface="Palatino Linotype"/>
                <a:cs typeface="Palatino Linotype"/>
              </a:rPr>
              <a:t>an</a:t>
            </a:r>
            <a:r>
              <a:rPr sz="2000" kern="1200" spc="-5" dirty="0">
                <a:solidFill>
                  <a:srgbClr val="FF0000"/>
                </a:solidFill>
                <a:latin typeface="Palatino Linotype"/>
                <a:cs typeface="Palatino Linotype"/>
              </a:rPr>
              <a:t> infinite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loop</a:t>
            </a:r>
            <a:r>
              <a:rPr sz="2000" kern="1200" spc="-5" dirty="0">
                <a:solidFill>
                  <a:prstClr val="black"/>
                </a:solidFill>
                <a:latin typeface="Palatino Linotype"/>
                <a:cs typeface="Palatino Linotype"/>
              </a:rPr>
              <a:t>!</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Revise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CFG</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before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parsing!!!</a:t>
            </a:r>
            <a:endParaRPr sz="2000" kern="1200">
              <a:solidFill>
                <a:prstClr val="black"/>
              </a:solidFill>
              <a:latin typeface="Palatino Linotype"/>
              <a:cs typeface="Palatino Linotype"/>
            </a:endParaRPr>
          </a:p>
        </p:txBody>
      </p:sp>
      <p:sp>
        <p:nvSpPr>
          <p:cNvPr id="18" name="object 8">
            <a:extLst>
              <a:ext uri="{FF2B5EF4-FFF2-40B4-BE49-F238E27FC236}">
                <a16:creationId xmlns:a16="http://schemas.microsoft.com/office/drawing/2014/main" id="{2BE5D8D4-9613-D0C1-C199-9EEB20217079}"/>
              </a:ext>
            </a:extLst>
          </p:cNvPr>
          <p:cNvSpPr txBox="1"/>
          <p:nvPr/>
        </p:nvSpPr>
        <p:spPr>
          <a:xfrm>
            <a:off x="5224947" y="1432052"/>
            <a:ext cx="2715260" cy="299720"/>
          </a:xfrm>
          <a:prstGeom prst="rect">
            <a:avLst/>
          </a:prstGeom>
        </p:spPr>
        <p:txBody>
          <a:bodyPr vert="horz" wrap="square" lIns="0" tIns="12700" rIns="0" bIns="0" rtlCol="0">
            <a:spAutoFit/>
          </a:bodyPr>
          <a:lstStyle/>
          <a:p>
            <a:pPr marL="12700" rtl="0">
              <a:spcBef>
                <a:spcPts val="100"/>
              </a:spcBef>
            </a:pPr>
            <a:r>
              <a:rPr kern="1200" dirty="0">
                <a:solidFill>
                  <a:srgbClr val="FF0000"/>
                </a:solidFill>
                <a:latin typeface="Palatino Linotype"/>
                <a:cs typeface="Palatino Linotype"/>
              </a:rPr>
              <a:t>Suppose</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there</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is</a:t>
            </a:r>
            <a:r>
              <a:rPr kern="1200" spc="-20" dirty="0">
                <a:solidFill>
                  <a:srgbClr val="FF0000"/>
                </a:solidFill>
                <a:latin typeface="Palatino Linotype"/>
                <a:cs typeface="Palatino Linotype"/>
              </a:rPr>
              <a:t> </a:t>
            </a:r>
            <a:r>
              <a:rPr kern="1200" dirty="0">
                <a:solidFill>
                  <a:srgbClr val="0432FF"/>
                </a:solidFill>
                <a:latin typeface="Cambria Math"/>
                <a:cs typeface="Cambria Math"/>
              </a:rPr>
              <a:t>𝐴</a:t>
            </a:r>
            <a:r>
              <a:rPr kern="1200" spc="100" dirty="0">
                <a:solidFill>
                  <a:srgbClr val="0432FF"/>
                </a:solidFill>
                <a:latin typeface="Cambria Math"/>
                <a:cs typeface="Cambria Math"/>
              </a:rPr>
              <a:t> </a:t>
            </a:r>
            <a:r>
              <a:rPr kern="1200" dirty="0">
                <a:solidFill>
                  <a:srgbClr val="FF0000"/>
                </a:solidFill>
                <a:latin typeface="Cambria Math"/>
                <a:cs typeface="Cambria Math"/>
              </a:rPr>
              <a:t>→</a:t>
            </a:r>
            <a:r>
              <a:rPr kern="1200" spc="90" dirty="0">
                <a:solidFill>
                  <a:srgbClr val="FF0000"/>
                </a:solidFill>
                <a:latin typeface="Cambria Math"/>
                <a:cs typeface="Cambria Math"/>
              </a:rPr>
              <a:t> </a:t>
            </a:r>
            <a:r>
              <a:rPr kern="1200" spc="-5" dirty="0">
                <a:solidFill>
                  <a:srgbClr val="0432FF"/>
                </a:solidFill>
                <a:latin typeface="Cambria Math"/>
                <a:cs typeface="Cambria Math"/>
              </a:rPr>
              <a:t>𝑨</a:t>
            </a:r>
            <a:r>
              <a:rPr kern="1200" spc="-5" dirty="0">
                <a:solidFill>
                  <a:srgbClr val="FF0000"/>
                </a:solidFill>
                <a:latin typeface="Cambria Math"/>
                <a:cs typeface="Cambria Math"/>
              </a:rPr>
              <a:t>𝛼</a:t>
            </a:r>
            <a:r>
              <a:rPr kern="1200" spc="-60" dirty="0">
                <a:solidFill>
                  <a:srgbClr val="FF0000"/>
                </a:solidFill>
                <a:latin typeface="Cambria Math"/>
                <a:cs typeface="Cambria Math"/>
              </a:rPr>
              <a:t> </a:t>
            </a:r>
            <a:r>
              <a:rPr kern="1200" dirty="0">
                <a:solidFill>
                  <a:srgbClr val="FF0000"/>
                </a:solidFill>
                <a:latin typeface="Cambria Math"/>
                <a:cs typeface="Cambria Math"/>
              </a:rPr>
              <a:t>…</a:t>
            </a:r>
            <a:endParaRPr kern="1200">
              <a:solidFill>
                <a:prstClr val="black"/>
              </a:solidFill>
              <a:latin typeface="Cambria Math"/>
              <a:cs typeface="Cambria Math"/>
            </a:endParaRPr>
          </a:p>
        </p:txBody>
      </p:sp>
    </p:spTree>
    <p:extLst>
      <p:ext uri="{BB962C8B-B14F-4D97-AF65-F5344CB8AC3E}">
        <p14:creationId xmlns:p14="http://schemas.microsoft.com/office/powerpoint/2010/main" val="27955366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60</a:t>
            </a:fld>
            <a:endParaRPr lang="en-US"/>
          </a:p>
        </p:txBody>
      </p:sp>
      <p:sp>
        <p:nvSpPr>
          <p:cNvPr id="10" name="object 2">
            <a:extLst>
              <a:ext uri="{FF2B5EF4-FFF2-40B4-BE49-F238E27FC236}">
                <a16:creationId xmlns:a16="http://schemas.microsoft.com/office/drawing/2014/main" id="{DA72F1C6-6272-5288-9393-9F3453483DF8}"/>
              </a:ext>
            </a:extLst>
          </p:cNvPr>
          <p:cNvSpPr txBox="1">
            <a:spLocks/>
          </p:cNvSpPr>
          <p:nvPr/>
        </p:nvSpPr>
        <p:spPr>
          <a:xfrm>
            <a:off x="707390" y="524763"/>
            <a:ext cx="67341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Can</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150" normalizeH="0" baseline="0" noProof="0">
                <a:ln>
                  <a:noFill/>
                </a:ln>
                <a:solidFill>
                  <a:sysClr val="windowText" lastClr="000000"/>
                </a:solidFill>
                <a:effectLst/>
                <a:uLnTx/>
                <a:uFillTx/>
                <a:latin typeface="Palatino Linotype"/>
                <a:ea typeface="+mj-ea"/>
              </a:rPr>
              <a:t>We</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5" normalizeH="0" baseline="0" noProof="0">
                <a:ln>
                  <a:noFill/>
                </a:ln>
                <a:solidFill>
                  <a:sysClr val="windowText" lastClr="000000"/>
                </a:solidFill>
                <a:effectLst/>
                <a:uLnTx/>
                <a:uFillTx/>
                <a:latin typeface="Palatino Linotype"/>
                <a:ea typeface="+mj-ea"/>
              </a:rPr>
              <a:t>Avoid</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grpSp>
        <p:nvGrpSpPr>
          <p:cNvPr id="11" name="object 3">
            <a:extLst>
              <a:ext uri="{FF2B5EF4-FFF2-40B4-BE49-F238E27FC236}">
                <a16:creationId xmlns:a16="http://schemas.microsoft.com/office/drawing/2014/main" id="{0CF0D64F-7066-03A3-0151-0EA7E7756F92}"/>
              </a:ext>
            </a:extLst>
          </p:cNvPr>
          <p:cNvGrpSpPr/>
          <p:nvPr/>
        </p:nvGrpSpPr>
        <p:grpSpPr>
          <a:xfrm>
            <a:off x="998405" y="1866438"/>
            <a:ext cx="6942455" cy="2898140"/>
            <a:chOff x="998405" y="1866438"/>
            <a:chExt cx="6942455" cy="2898140"/>
          </a:xfrm>
        </p:grpSpPr>
        <p:pic>
          <p:nvPicPr>
            <p:cNvPr id="12" name="object 4">
              <a:extLst>
                <a:ext uri="{FF2B5EF4-FFF2-40B4-BE49-F238E27FC236}">
                  <a16:creationId xmlns:a16="http://schemas.microsoft.com/office/drawing/2014/main" id="{95A1E94D-1A68-78BD-9A76-3E11115575CF}"/>
                </a:ext>
              </a:extLst>
            </p:cNvPr>
            <p:cNvPicPr/>
            <p:nvPr/>
          </p:nvPicPr>
          <p:blipFill>
            <a:blip r:embed="rId3" cstate="print"/>
            <a:stretch>
              <a:fillRect/>
            </a:stretch>
          </p:blipFill>
          <p:spPr>
            <a:xfrm>
              <a:off x="998405" y="1866438"/>
              <a:ext cx="6941982" cy="2897799"/>
            </a:xfrm>
            <a:prstGeom prst="rect">
              <a:avLst/>
            </a:prstGeom>
          </p:spPr>
        </p:pic>
        <p:sp>
          <p:nvSpPr>
            <p:cNvPr id="13" name="object 5">
              <a:extLst>
                <a:ext uri="{FF2B5EF4-FFF2-40B4-BE49-F238E27FC236}">
                  <a16:creationId xmlns:a16="http://schemas.microsoft.com/office/drawing/2014/main" id="{0805AF48-B80C-E86A-1A57-E4B2BC3C4A0F}"/>
                </a:ext>
              </a:extLst>
            </p:cNvPr>
            <p:cNvSpPr/>
            <p:nvPr/>
          </p:nvSpPr>
          <p:spPr>
            <a:xfrm>
              <a:off x="1912557" y="2139193"/>
              <a:ext cx="5130165" cy="294005"/>
            </a:xfrm>
            <a:custGeom>
              <a:avLst/>
              <a:gdLst/>
              <a:ahLst/>
              <a:cxnLst/>
              <a:rect l="l" t="t" r="r" b="b"/>
              <a:pathLst>
                <a:path w="5130165" h="294005">
                  <a:moveTo>
                    <a:pt x="0" y="0"/>
                  </a:moveTo>
                  <a:lnTo>
                    <a:pt x="5129600" y="0"/>
                  </a:lnTo>
                  <a:lnTo>
                    <a:pt x="5129600" y="293613"/>
                  </a:lnTo>
                  <a:lnTo>
                    <a:pt x="0" y="293613"/>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4" name="object 6">
            <a:extLst>
              <a:ext uri="{FF2B5EF4-FFF2-40B4-BE49-F238E27FC236}">
                <a16:creationId xmlns:a16="http://schemas.microsoft.com/office/drawing/2014/main" id="{C9998413-C994-8B4E-5E57-16C316EDB761}"/>
              </a:ext>
            </a:extLst>
          </p:cNvPr>
          <p:cNvSpPr txBox="1"/>
          <p:nvPr/>
        </p:nvSpPr>
        <p:spPr>
          <a:xfrm>
            <a:off x="586012" y="5192267"/>
            <a:ext cx="7795895" cy="330200"/>
          </a:xfrm>
          <a:prstGeom prst="rect">
            <a:avLst/>
          </a:prstGeom>
        </p:spPr>
        <p:txBody>
          <a:bodyPr vert="horz" wrap="square" lIns="0" tIns="12700" rIns="0" bIns="0" rtlCol="0">
            <a:spAutoFit/>
          </a:bodyPr>
          <a:lstStyle/>
          <a:p>
            <a:pPr marL="12700" rtl="0">
              <a:spcBef>
                <a:spcPts val="100"/>
              </a:spcBef>
            </a:pPr>
            <a:r>
              <a:rPr sz="2000" b="1" kern="1200" spc="-5" dirty="0">
                <a:solidFill>
                  <a:srgbClr val="FF0000"/>
                </a:solidFill>
                <a:latin typeface="Palatino Linotype"/>
                <a:cs typeface="Palatino Linotype"/>
              </a:rPr>
              <a:t>Key</a:t>
            </a:r>
            <a:r>
              <a:rPr sz="2000" b="1" kern="1200" dirty="0">
                <a:solidFill>
                  <a:srgbClr val="FF0000"/>
                </a:solidFill>
                <a:latin typeface="Palatino Linotype"/>
                <a:cs typeface="Palatino Linotype"/>
              </a:rPr>
              <a:t> </a:t>
            </a:r>
            <a:r>
              <a:rPr sz="2000" b="1" kern="1200" spc="-5" dirty="0">
                <a:solidFill>
                  <a:srgbClr val="FF0000"/>
                </a:solidFill>
                <a:latin typeface="Palatino Linotype"/>
                <a:cs typeface="Palatino Linotype"/>
              </a:rPr>
              <a:t>problem:</a:t>
            </a:r>
            <a:r>
              <a:rPr sz="2000" b="1" kern="1200" spc="-75" dirty="0">
                <a:solidFill>
                  <a:srgbClr val="FF0000"/>
                </a:solidFill>
                <a:latin typeface="Palatino Linotype"/>
                <a:cs typeface="Palatino Linotype"/>
              </a:rPr>
              <a:t> </a:t>
            </a:r>
            <a:r>
              <a:rPr sz="2000" kern="1200" spc="-5" dirty="0">
                <a:solidFill>
                  <a:prstClr val="black"/>
                </a:solidFill>
                <a:latin typeface="Palatino Linotype"/>
                <a:cs typeface="Palatino Linotype"/>
              </a:rPr>
              <a:t>At</a:t>
            </a:r>
            <a:r>
              <a:rPr sz="2000" kern="1200" dirty="0">
                <a:solidFill>
                  <a:prstClr val="black"/>
                </a:solidFill>
                <a:latin typeface="Palatino Linotype"/>
                <a:cs typeface="Palatino Linotype"/>
              </a:rPr>
              <a:t> line</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1, </a:t>
            </a:r>
            <a:r>
              <a:rPr sz="2000" kern="1200" spc="-20" dirty="0">
                <a:solidFill>
                  <a:prstClr val="black"/>
                </a:solidFill>
                <a:latin typeface="Palatino Linotype"/>
                <a:cs typeface="Palatino Linotype"/>
              </a:rPr>
              <a:t>we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make</a:t>
            </a:r>
            <a:r>
              <a:rPr sz="2000" kern="1200" dirty="0">
                <a:solidFill>
                  <a:prstClr val="black"/>
                </a:solidFill>
                <a:latin typeface="Palatino Linotype"/>
                <a:cs typeface="Palatino Linotype"/>
              </a:rPr>
              <a:t> </a:t>
            </a:r>
            <a:r>
              <a:rPr sz="2000" b="1" i="1" kern="1200" spc="-5" dirty="0">
                <a:solidFill>
                  <a:srgbClr val="0432FF"/>
                </a:solidFill>
                <a:latin typeface="Palatino Linotype"/>
                <a:cs typeface="Palatino Linotype"/>
              </a:rPr>
              <a:t>random</a:t>
            </a:r>
            <a:r>
              <a:rPr sz="2000" b="1" i="1" kern="1200" dirty="0">
                <a:solidFill>
                  <a:srgbClr val="0432FF"/>
                </a:solidFill>
                <a:latin typeface="Palatino Linotype"/>
                <a:cs typeface="Palatino Linotype"/>
              </a:rPr>
              <a:t> </a:t>
            </a:r>
            <a:r>
              <a:rPr sz="2000" b="1" i="1" kern="1200" spc="-5" dirty="0">
                <a:solidFill>
                  <a:srgbClr val="0432FF"/>
                </a:solidFill>
                <a:latin typeface="Palatino Linotype"/>
                <a:cs typeface="Palatino Linotype"/>
              </a:rPr>
              <a:t>choices</a:t>
            </a:r>
            <a:r>
              <a:rPr sz="2000" b="1" i="1" kern="1200" dirty="0">
                <a:solidFill>
                  <a:srgbClr val="0432FF"/>
                </a:solidFill>
                <a:latin typeface="Palatino Linotype"/>
                <a:cs typeface="Palatino Linotype"/>
              </a:rPr>
              <a:t> </a:t>
            </a:r>
            <a:r>
              <a:rPr sz="2000" kern="1200" spc="-5" dirty="0">
                <a:solidFill>
                  <a:prstClr val="black"/>
                </a:solidFill>
                <a:latin typeface="Palatino Linotype"/>
                <a:cs typeface="Palatino Linotype"/>
              </a:rPr>
              <a:t>(</a:t>
            </a:r>
            <a:r>
              <a:rPr sz="2000" kern="1200" spc="-5" dirty="0">
                <a:solidFill>
                  <a:srgbClr val="FF0000"/>
                </a:solidFill>
                <a:latin typeface="Palatino Linotype"/>
                <a:cs typeface="Palatino Linotype"/>
              </a:rPr>
              <a:t>brute</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force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search</a:t>
            </a:r>
            <a:r>
              <a:rPr sz="2000" kern="1200" spc="-5" dirty="0">
                <a:solidFill>
                  <a:prstClr val="black"/>
                </a:solidFill>
                <a:latin typeface="Palatino Linotype"/>
                <a:cs typeface="Palatino Linotype"/>
              </a:rPr>
              <a:t>)</a:t>
            </a:r>
            <a:endParaRPr sz="20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263277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61</a:t>
            </a:fld>
            <a:endParaRPr lang="en-US"/>
          </a:p>
        </p:txBody>
      </p:sp>
      <p:sp>
        <p:nvSpPr>
          <p:cNvPr id="12" name="object 2">
            <a:extLst>
              <a:ext uri="{FF2B5EF4-FFF2-40B4-BE49-F238E27FC236}">
                <a16:creationId xmlns:a16="http://schemas.microsoft.com/office/drawing/2014/main" id="{248EFDA0-194B-1A7C-80CE-87183B1A967E}"/>
              </a:ext>
            </a:extLst>
          </p:cNvPr>
          <p:cNvSpPr txBox="1">
            <a:spLocks/>
          </p:cNvSpPr>
          <p:nvPr/>
        </p:nvSpPr>
        <p:spPr>
          <a:xfrm>
            <a:off x="707390" y="524763"/>
            <a:ext cx="67341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Can</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150" normalizeH="0" baseline="0" noProof="0">
                <a:ln>
                  <a:noFill/>
                </a:ln>
                <a:solidFill>
                  <a:sysClr val="windowText" lastClr="000000"/>
                </a:solidFill>
                <a:effectLst/>
                <a:uLnTx/>
                <a:uFillTx/>
                <a:latin typeface="Palatino Linotype"/>
                <a:ea typeface="+mj-ea"/>
              </a:rPr>
              <a:t>We</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5" normalizeH="0" baseline="0" noProof="0">
                <a:ln>
                  <a:noFill/>
                </a:ln>
                <a:solidFill>
                  <a:sysClr val="windowText" lastClr="000000"/>
                </a:solidFill>
                <a:effectLst/>
                <a:uLnTx/>
                <a:uFillTx/>
                <a:latin typeface="Palatino Linotype"/>
                <a:ea typeface="+mj-ea"/>
              </a:rPr>
              <a:t>Avoid</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Backtracking?</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3" name="object 3">
            <a:extLst>
              <a:ext uri="{FF2B5EF4-FFF2-40B4-BE49-F238E27FC236}">
                <a16:creationId xmlns:a16="http://schemas.microsoft.com/office/drawing/2014/main" id="{B886D690-05FA-2D3F-3018-B66D42D565DE}"/>
              </a:ext>
            </a:extLst>
          </p:cNvPr>
          <p:cNvSpPr txBox="1"/>
          <p:nvPr/>
        </p:nvSpPr>
        <p:spPr>
          <a:xfrm>
            <a:off x="707390" y="1498091"/>
            <a:ext cx="4571365" cy="1141095"/>
          </a:xfrm>
          <a:prstGeom prst="rect">
            <a:avLst/>
          </a:prstGeom>
        </p:spPr>
        <p:txBody>
          <a:bodyPr vert="horz" wrap="square" lIns="0" tIns="173990" rIns="0" bIns="0" rtlCol="0">
            <a:spAutoFit/>
          </a:bodyPr>
          <a:lstStyle/>
          <a:p>
            <a:pPr marL="243204" indent="-230504" rtl="0">
              <a:spcBef>
                <a:spcPts val="1370"/>
              </a:spcBef>
              <a:buClr>
                <a:srgbClr val="000000"/>
              </a:buClr>
              <a:buFont typeface="Arial MT"/>
              <a:buChar char="•"/>
              <a:tabLst>
                <a:tab pos="243204" algn="l"/>
                <a:tab pos="3288029" algn="l"/>
              </a:tabLst>
            </a:pPr>
            <a:r>
              <a:rPr sz="2600" kern="1200" spc="-5" dirty="0">
                <a:solidFill>
                  <a:srgbClr val="0432FF"/>
                </a:solidFill>
                <a:latin typeface="Palatino Linotype"/>
                <a:cs typeface="Palatino Linotype"/>
              </a:rPr>
              <a:t>Grammar:</a:t>
            </a:r>
            <a:r>
              <a:rPr sz="2600" kern="1200" dirty="0">
                <a:solidFill>
                  <a:srgbClr val="0432FF"/>
                </a:solidFill>
                <a:latin typeface="Palatino Linotype"/>
                <a:cs typeface="Palatino Linotype"/>
              </a:rPr>
              <a:t> </a:t>
            </a:r>
            <a:r>
              <a:rPr sz="2600" kern="1200" dirty="0">
                <a:solidFill>
                  <a:prstClr val="black"/>
                </a:solidFill>
                <a:latin typeface="Cambria Math"/>
                <a:cs typeface="Cambria Math"/>
              </a:rPr>
              <a:t>𝑆</a:t>
            </a:r>
            <a:r>
              <a:rPr sz="2600" kern="1200" spc="204"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50" dirty="0">
                <a:solidFill>
                  <a:prstClr val="black"/>
                </a:solidFill>
                <a:latin typeface="Cambria Math"/>
                <a:cs typeface="Cambria Math"/>
              </a:rPr>
              <a:t> </a:t>
            </a:r>
            <a:r>
              <a:rPr sz="2600" kern="1200" dirty="0">
                <a:solidFill>
                  <a:prstClr val="black"/>
                </a:solidFill>
                <a:latin typeface="Cambria Math"/>
                <a:cs typeface="Cambria Math"/>
              </a:rPr>
              <a:t>𝑐𝐴𝑑	𝐴</a:t>
            </a:r>
            <a:r>
              <a:rPr sz="2600" kern="1200" spc="145" dirty="0">
                <a:solidFill>
                  <a:prstClr val="black"/>
                </a:solidFill>
                <a:latin typeface="Cambria Math"/>
                <a:cs typeface="Cambria Math"/>
              </a:rPr>
              <a:t> </a:t>
            </a:r>
            <a:r>
              <a:rPr sz="2600" kern="1200" dirty="0">
                <a:solidFill>
                  <a:prstClr val="black"/>
                </a:solidFill>
                <a:latin typeface="Cambria Math"/>
                <a:cs typeface="Cambria Math"/>
              </a:rPr>
              <a:t>→</a:t>
            </a:r>
            <a:r>
              <a:rPr sz="2600" kern="1200" spc="120" dirty="0">
                <a:solidFill>
                  <a:prstClr val="black"/>
                </a:solidFill>
                <a:latin typeface="Cambria Math"/>
                <a:cs typeface="Cambria Math"/>
              </a:rPr>
              <a:t> </a:t>
            </a:r>
            <a:r>
              <a:rPr sz="2600" kern="1200" dirty="0">
                <a:solidFill>
                  <a:prstClr val="black"/>
                </a:solidFill>
                <a:latin typeface="Cambria Math"/>
                <a:cs typeface="Cambria Math"/>
              </a:rPr>
              <a:t>𝑐</a:t>
            </a:r>
            <a:r>
              <a:rPr sz="2600" kern="1200" spc="60" dirty="0">
                <a:solidFill>
                  <a:prstClr val="black"/>
                </a:solidFill>
                <a:latin typeface="Cambria Math"/>
                <a:cs typeface="Cambria Math"/>
              </a:rPr>
              <a:t> </a:t>
            </a:r>
            <a:r>
              <a:rPr sz="2600" kern="1200" dirty="0">
                <a:solidFill>
                  <a:prstClr val="black"/>
                </a:solidFill>
                <a:latin typeface="Cambria Math"/>
                <a:cs typeface="Cambria Math"/>
              </a:rPr>
              <a:t>|</a:t>
            </a:r>
            <a:r>
              <a:rPr sz="2600" kern="1200" spc="-20" dirty="0">
                <a:solidFill>
                  <a:prstClr val="black"/>
                </a:solidFill>
                <a:latin typeface="Cambria Math"/>
                <a:cs typeface="Cambria Math"/>
              </a:rPr>
              <a:t> </a:t>
            </a:r>
            <a:r>
              <a:rPr sz="2600" kern="1200" dirty="0">
                <a:solidFill>
                  <a:prstClr val="black"/>
                </a:solidFill>
                <a:latin typeface="Cambria Math"/>
                <a:cs typeface="Cambria Math"/>
              </a:rPr>
              <a:t>𝑎</a:t>
            </a:r>
            <a:endParaRPr sz="2600" kern="1200">
              <a:solidFill>
                <a:prstClr val="black"/>
              </a:solidFill>
              <a:latin typeface="Cambria Math"/>
              <a:cs typeface="Cambria Math"/>
            </a:endParaRPr>
          </a:p>
          <a:p>
            <a:pPr marL="243204" indent="-230504" rtl="0">
              <a:spcBef>
                <a:spcPts val="1275"/>
              </a:spcBef>
              <a:buClr>
                <a:srgbClr val="000000"/>
              </a:buClr>
              <a:buFont typeface="Arial MT"/>
              <a:buChar char="•"/>
              <a:tabLst>
                <a:tab pos="243204" algn="l"/>
              </a:tabLst>
            </a:pPr>
            <a:r>
              <a:rPr sz="2600" kern="1200" spc="-5" dirty="0">
                <a:solidFill>
                  <a:srgbClr val="0432FF"/>
                </a:solidFill>
                <a:latin typeface="Palatino Linotype"/>
                <a:cs typeface="Palatino Linotype"/>
              </a:rPr>
              <a:t>Input</a:t>
            </a:r>
            <a:r>
              <a:rPr sz="2600" kern="1200" spc="-25" dirty="0">
                <a:solidFill>
                  <a:srgbClr val="0432FF"/>
                </a:solidFill>
                <a:latin typeface="Palatino Linotype"/>
                <a:cs typeface="Palatino Linotype"/>
              </a:rPr>
              <a:t> </a:t>
            </a:r>
            <a:r>
              <a:rPr sz="2600" kern="1200" spc="-5" dirty="0">
                <a:solidFill>
                  <a:srgbClr val="0432FF"/>
                </a:solidFill>
                <a:latin typeface="Palatino Linotype"/>
                <a:cs typeface="Palatino Linotype"/>
              </a:rPr>
              <a:t>string:</a:t>
            </a:r>
            <a:r>
              <a:rPr sz="2600" kern="1200" spc="-20" dirty="0">
                <a:solidFill>
                  <a:srgbClr val="0432FF"/>
                </a:solidFill>
                <a:latin typeface="Palatino Linotype"/>
                <a:cs typeface="Palatino Linotype"/>
              </a:rPr>
              <a:t> </a:t>
            </a:r>
            <a:r>
              <a:rPr sz="2600" kern="1200" dirty="0">
                <a:solidFill>
                  <a:prstClr val="black"/>
                </a:solidFill>
                <a:latin typeface="Cambria Math"/>
                <a:cs typeface="Cambria Math"/>
              </a:rPr>
              <a:t>𝑐𝑎𝑑</a:t>
            </a:r>
            <a:endParaRPr sz="2600" kern="1200">
              <a:solidFill>
                <a:prstClr val="black"/>
              </a:solidFill>
              <a:latin typeface="Cambria Math"/>
              <a:cs typeface="Cambria Math"/>
            </a:endParaRPr>
          </a:p>
        </p:txBody>
      </p:sp>
      <p:graphicFrame>
        <p:nvGraphicFramePr>
          <p:cNvPr id="14" name="object 4">
            <a:extLst>
              <a:ext uri="{FF2B5EF4-FFF2-40B4-BE49-F238E27FC236}">
                <a16:creationId xmlns:a16="http://schemas.microsoft.com/office/drawing/2014/main" id="{6770F116-4109-FE35-8282-D9757C8F9D37}"/>
              </a:ext>
            </a:extLst>
          </p:cNvPr>
          <p:cNvGraphicFramePr>
            <a:graphicFrameLocks noGrp="1"/>
          </p:cNvGraphicFramePr>
          <p:nvPr/>
        </p:nvGraphicFramePr>
        <p:xfrm>
          <a:off x="743293" y="3238905"/>
          <a:ext cx="3179445" cy="370840"/>
        </p:xfrm>
        <a:graphic>
          <a:graphicData uri="http://schemas.openxmlformats.org/drawingml/2006/table">
            <a:tbl>
              <a:tblPr firstRow="1" bandRow="1"/>
              <a:tblGrid>
                <a:gridCol w="1059815">
                  <a:extLst>
                    <a:ext uri="{9D8B030D-6E8A-4147-A177-3AD203B41FA5}">
                      <a16:colId xmlns:a16="http://schemas.microsoft.com/office/drawing/2014/main" val="20000"/>
                    </a:ext>
                  </a:extLst>
                </a:gridCol>
                <a:gridCol w="1059815">
                  <a:extLst>
                    <a:ext uri="{9D8B030D-6E8A-4147-A177-3AD203B41FA5}">
                      <a16:colId xmlns:a16="http://schemas.microsoft.com/office/drawing/2014/main" val="20001"/>
                    </a:ext>
                  </a:extLst>
                </a:gridCol>
                <a:gridCol w="1059815">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70"/>
                        </a:spcBef>
                      </a:pPr>
                      <a:r>
                        <a:rPr sz="1800" dirty="0">
                          <a:solidFill>
                            <a:srgbClr val="FFFFFF"/>
                          </a:solidFill>
                          <a:latin typeface="Cambria Math"/>
                          <a:cs typeface="Cambria Math"/>
                        </a:rPr>
                        <a:t>𝑐</a:t>
                      </a:r>
                      <a:endParaRPr sz="1800">
                        <a:latin typeface="Cambria Math"/>
                        <a:cs typeface="Cambria Math"/>
                      </a:endParaRPr>
                    </a:p>
                  </a:txBody>
                  <a:tcPr marL="0" marR="0" marT="3429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70"/>
                        </a:spcBef>
                      </a:pPr>
                      <a:r>
                        <a:rPr sz="1800" dirty="0">
                          <a:solidFill>
                            <a:srgbClr val="FFFFFF"/>
                          </a:solidFill>
                          <a:latin typeface="Cambria Math"/>
                          <a:cs typeface="Cambria Math"/>
                        </a:rPr>
                        <a:t>𝑎</a:t>
                      </a:r>
                      <a:endParaRPr sz="1800">
                        <a:latin typeface="Cambria Math"/>
                        <a:cs typeface="Cambria Math"/>
                      </a:endParaRPr>
                    </a:p>
                  </a:txBody>
                  <a:tcPr marL="0" marR="0" marT="3429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70"/>
                        </a:spcBef>
                      </a:pPr>
                      <a:r>
                        <a:rPr sz="1800" dirty="0">
                          <a:solidFill>
                            <a:srgbClr val="FFFFFF"/>
                          </a:solidFill>
                          <a:latin typeface="Cambria Math"/>
                          <a:cs typeface="Cambria Math"/>
                        </a:rPr>
                        <a:t>𝑑</a:t>
                      </a:r>
                      <a:endParaRPr sz="1800">
                        <a:latin typeface="Cambria Math"/>
                        <a:cs typeface="Cambria Math"/>
                      </a:endParaRPr>
                    </a:p>
                  </a:txBody>
                  <a:tcPr marL="0" marR="0" marT="3429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10000"/>
                  </a:ext>
                </a:extLst>
              </a:tr>
            </a:tbl>
          </a:graphicData>
        </a:graphic>
      </p:graphicFrame>
      <p:sp>
        <p:nvSpPr>
          <p:cNvPr id="15" name="object 5">
            <a:extLst>
              <a:ext uri="{FF2B5EF4-FFF2-40B4-BE49-F238E27FC236}">
                <a16:creationId xmlns:a16="http://schemas.microsoft.com/office/drawing/2014/main" id="{5A93EE0E-1510-2B01-495C-066358C0A542}"/>
              </a:ext>
            </a:extLst>
          </p:cNvPr>
          <p:cNvSpPr/>
          <p:nvPr/>
        </p:nvSpPr>
        <p:spPr>
          <a:xfrm>
            <a:off x="2304326" y="3693317"/>
            <a:ext cx="103505" cy="511175"/>
          </a:xfrm>
          <a:custGeom>
            <a:avLst/>
            <a:gdLst/>
            <a:ahLst/>
            <a:cxnLst/>
            <a:rect l="l" t="t" r="r" b="b"/>
            <a:pathLst>
              <a:path w="103505" h="511175">
                <a:moveTo>
                  <a:pt x="51701" y="25205"/>
                </a:moveTo>
                <a:lnTo>
                  <a:pt x="45351" y="36091"/>
                </a:lnTo>
                <a:lnTo>
                  <a:pt x="45352" y="510774"/>
                </a:lnTo>
                <a:lnTo>
                  <a:pt x="58052" y="510774"/>
                </a:lnTo>
                <a:lnTo>
                  <a:pt x="58051" y="36091"/>
                </a:lnTo>
                <a:lnTo>
                  <a:pt x="51701" y="25205"/>
                </a:lnTo>
                <a:close/>
              </a:path>
              <a:path w="103505" h="511175">
                <a:moveTo>
                  <a:pt x="51701" y="0"/>
                </a:moveTo>
                <a:lnTo>
                  <a:pt x="0" y="88632"/>
                </a:lnTo>
                <a:lnTo>
                  <a:pt x="1023" y="92520"/>
                </a:lnTo>
                <a:lnTo>
                  <a:pt x="7086" y="96053"/>
                </a:lnTo>
                <a:lnTo>
                  <a:pt x="10970" y="95031"/>
                </a:lnTo>
                <a:lnTo>
                  <a:pt x="45351" y="36091"/>
                </a:lnTo>
                <a:lnTo>
                  <a:pt x="45351" y="12602"/>
                </a:lnTo>
                <a:lnTo>
                  <a:pt x="59052" y="12602"/>
                </a:lnTo>
                <a:lnTo>
                  <a:pt x="51701" y="0"/>
                </a:lnTo>
                <a:close/>
              </a:path>
              <a:path w="103505" h="511175">
                <a:moveTo>
                  <a:pt x="59052" y="12602"/>
                </a:moveTo>
                <a:lnTo>
                  <a:pt x="58051" y="12602"/>
                </a:lnTo>
                <a:lnTo>
                  <a:pt x="58051" y="36091"/>
                </a:lnTo>
                <a:lnTo>
                  <a:pt x="92434" y="95031"/>
                </a:lnTo>
                <a:lnTo>
                  <a:pt x="96321" y="96053"/>
                </a:lnTo>
                <a:lnTo>
                  <a:pt x="102381" y="92520"/>
                </a:lnTo>
                <a:lnTo>
                  <a:pt x="103403" y="88632"/>
                </a:lnTo>
                <a:lnTo>
                  <a:pt x="59052" y="12602"/>
                </a:lnTo>
                <a:close/>
              </a:path>
              <a:path w="103505" h="511175">
                <a:moveTo>
                  <a:pt x="58051" y="12602"/>
                </a:moveTo>
                <a:lnTo>
                  <a:pt x="45351" y="12602"/>
                </a:lnTo>
                <a:lnTo>
                  <a:pt x="45351" y="36091"/>
                </a:lnTo>
                <a:lnTo>
                  <a:pt x="51701" y="25205"/>
                </a:lnTo>
                <a:lnTo>
                  <a:pt x="46216" y="15802"/>
                </a:lnTo>
                <a:lnTo>
                  <a:pt x="58051" y="15802"/>
                </a:lnTo>
                <a:lnTo>
                  <a:pt x="58051" y="12602"/>
                </a:lnTo>
                <a:close/>
              </a:path>
              <a:path w="103505" h="511175">
                <a:moveTo>
                  <a:pt x="58051" y="15802"/>
                </a:moveTo>
                <a:lnTo>
                  <a:pt x="57186" y="15802"/>
                </a:lnTo>
                <a:lnTo>
                  <a:pt x="51701" y="25205"/>
                </a:lnTo>
                <a:lnTo>
                  <a:pt x="58051" y="36091"/>
                </a:lnTo>
                <a:lnTo>
                  <a:pt x="58051" y="15802"/>
                </a:lnTo>
                <a:close/>
              </a:path>
              <a:path w="103505" h="511175">
                <a:moveTo>
                  <a:pt x="57186" y="15802"/>
                </a:moveTo>
                <a:lnTo>
                  <a:pt x="46216" y="15802"/>
                </a:lnTo>
                <a:lnTo>
                  <a:pt x="51701" y="25205"/>
                </a:lnTo>
                <a:lnTo>
                  <a:pt x="57186" y="15802"/>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6">
            <a:extLst>
              <a:ext uri="{FF2B5EF4-FFF2-40B4-BE49-F238E27FC236}">
                <a16:creationId xmlns:a16="http://schemas.microsoft.com/office/drawing/2014/main" id="{F0D8ABB2-00BC-EC36-7D73-159EEB6655D7}"/>
              </a:ext>
            </a:extLst>
          </p:cNvPr>
          <p:cNvSpPr txBox="1"/>
          <p:nvPr/>
        </p:nvSpPr>
        <p:spPr>
          <a:xfrm>
            <a:off x="1915929" y="3958844"/>
            <a:ext cx="5293360" cy="1894205"/>
          </a:xfrm>
          <a:prstGeom prst="rect">
            <a:avLst/>
          </a:prstGeom>
        </p:spPr>
        <p:txBody>
          <a:bodyPr vert="horz" wrap="square" lIns="0" tIns="12700" rIns="0" bIns="0" rtlCol="0">
            <a:spAutoFit/>
          </a:bodyPr>
          <a:lstStyle/>
          <a:p>
            <a:pPr marL="531495" rtl="0">
              <a:spcBef>
                <a:spcPts val="100"/>
              </a:spcBef>
            </a:pPr>
            <a:r>
              <a:rPr kern="1200" dirty="0">
                <a:solidFill>
                  <a:srgbClr val="FF0000"/>
                </a:solidFill>
                <a:latin typeface="Palatino Linotype"/>
                <a:cs typeface="Palatino Linotype"/>
              </a:rPr>
              <a:t>input</a:t>
            </a:r>
            <a:r>
              <a:rPr kern="1200" spc="-40" dirty="0">
                <a:solidFill>
                  <a:srgbClr val="FF0000"/>
                </a:solidFill>
                <a:latin typeface="Palatino Linotype"/>
                <a:cs typeface="Palatino Linotype"/>
              </a:rPr>
              <a:t> </a:t>
            </a:r>
            <a:r>
              <a:rPr kern="1200" dirty="0">
                <a:solidFill>
                  <a:srgbClr val="FF0000"/>
                </a:solidFill>
                <a:latin typeface="Palatino Linotype"/>
                <a:cs typeface="Palatino Linotype"/>
              </a:rPr>
              <a:t>pointer</a:t>
            </a:r>
            <a:endParaRPr kern="1200" dirty="0">
              <a:solidFill>
                <a:prstClr val="black"/>
              </a:solidFill>
              <a:latin typeface="Palatino Linotype"/>
              <a:cs typeface="Palatino Linotype"/>
            </a:endParaRPr>
          </a:p>
          <a:p>
            <a:pPr marL="12700" marR="5080" rtl="0">
              <a:lnSpc>
                <a:spcPct val="182200"/>
              </a:lnSpc>
              <a:spcBef>
                <a:spcPts val="2085"/>
              </a:spcBef>
            </a:pPr>
            <a:r>
              <a:rPr kern="1200" dirty="0">
                <a:solidFill>
                  <a:srgbClr val="0432FF"/>
                </a:solidFill>
                <a:latin typeface="Palatino Linotype"/>
                <a:cs typeface="Palatino Linotype"/>
              </a:rPr>
              <a:t>When</a:t>
            </a:r>
            <a:r>
              <a:rPr kern="1200" spc="-5" dirty="0">
                <a:solidFill>
                  <a:srgbClr val="0432FF"/>
                </a:solidFill>
                <a:latin typeface="Palatino Linotype"/>
                <a:cs typeface="Palatino Linotype"/>
              </a:rPr>
              <a:t> rewriting </a:t>
            </a:r>
            <a:r>
              <a:rPr kern="1200" spc="5" dirty="0">
                <a:solidFill>
                  <a:srgbClr val="0432FF"/>
                </a:solidFill>
                <a:latin typeface="Cambria Math"/>
                <a:cs typeface="Cambria Math"/>
              </a:rPr>
              <a:t>𝐴</a:t>
            </a:r>
            <a:r>
              <a:rPr kern="1200" spc="5" dirty="0">
                <a:solidFill>
                  <a:srgbClr val="0432FF"/>
                </a:solidFill>
                <a:latin typeface="Palatino Linotype"/>
                <a:cs typeface="Palatino Linotype"/>
              </a:rPr>
              <a:t>,</a:t>
            </a:r>
            <a:r>
              <a:rPr kern="1200" dirty="0">
                <a:solidFill>
                  <a:srgbClr val="0432FF"/>
                </a:solidFill>
                <a:latin typeface="Palatino Linotype"/>
                <a:cs typeface="Palatino Linotype"/>
              </a:rPr>
              <a:t> is</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it</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a </a:t>
            </a:r>
            <a:r>
              <a:rPr kern="1200" spc="-5" dirty="0">
                <a:solidFill>
                  <a:srgbClr val="0432FF"/>
                </a:solidFill>
                <a:latin typeface="Palatino Linotype"/>
                <a:cs typeface="Palatino Linotype"/>
              </a:rPr>
              <a:t>good</a:t>
            </a:r>
            <a:r>
              <a:rPr kern="1200" dirty="0">
                <a:solidFill>
                  <a:srgbClr val="0432FF"/>
                </a:solidFill>
                <a:latin typeface="Palatino Linotype"/>
                <a:cs typeface="Palatino Linotype"/>
              </a:rPr>
              <a:t> idea to</a:t>
            </a:r>
            <a:r>
              <a:rPr kern="1200" spc="-5" dirty="0">
                <a:solidFill>
                  <a:srgbClr val="0432FF"/>
                </a:solidFill>
                <a:latin typeface="Palatino Linotype"/>
                <a:cs typeface="Palatino Linotype"/>
              </a:rPr>
              <a:t> choose</a:t>
            </a:r>
            <a:r>
              <a:rPr kern="1200" dirty="0">
                <a:solidFill>
                  <a:srgbClr val="0432FF"/>
                </a:solidFill>
                <a:latin typeface="Palatino Linotype"/>
                <a:cs typeface="Palatino Linotype"/>
              </a:rPr>
              <a:t> </a:t>
            </a:r>
            <a:r>
              <a:rPr kern="1200" dirty="0">
                <a:solidFill>
                  <a:srgbClr val="0432FF"/>
                </a:solidFill>
                <a:latin typeface="Cambria Math"/>
                <a:cs typeface="Cambria Math"/>
              </a:rPr>
              <a:t>𝐴</a:t>
            </a:r>
            <a:r>
              <a:rPr kern="1200" spc="114" dirty="0">
                <a:solidFill>
                  <a:srgbClr val="0432FF"/>
                </a:solidFill>
                <a:latin typeface="Cambria Math"/>
                <a:cs typeface="Cambria Math"/>
              </a:rPr>
              <a:t> </a:t>
            </a:r>
            <a:r>
              <a:rPr kern="1200" dirty="0">
                <a:solidFill>
                  <a:srgbClr val="0432FF"/>
                </a:solidFill>
                <a:latin typeface="Cambria Math"/>
                <a:cs typeface="Cambria Math"/>
              </a:rPr>
              <a:t>→</a:t>
            </a:r>
            <a:r>
              <a:rPr kern="1200" spc="105" dirty="0">
                <a:solidFill>
                  <a:srgbClr val="0432FF"/>
                </a:solidFill>
                <a:latin typeface="Cambria Math"/>
                <a:cs typeface="Cambria Math"/>
              </a:rPr>
              <a:t> </a:t>
            </a:r>
            <a:r>
              <a:rPr kern="1200" spc="25" dirty="0">
                <a:solidFill>
                  <a:srgbClr val="0432FF"/>
                </a:solidFill>
                <a:latin typeface="Cambria Math"/>
                <a:cs typeface="Cambria Math"/>
              </a:rPr>
              <a:t>𝑐</a:t>
            </a:r>
            <a:r>
              <a:rPr kern="1200" spc="25" dirty="0">
                <a:solidFill>
                  <a:srgbClr val="0432FF"/>
                </a:solidFill>
                <a:latin typeface="Palatino Linotype"/>
                <a:cs typeface="Palatino Linotype"/>
              </a:rPr>
              <a:t>? </a:t>
            </a:r>
            <a:r>
              <a:rPr kern="1200" spc="-434" dirty="0">
                <a:solidFill>
                  <a:srgbClr val="0432FF"/>
                </a:solidFill>
                <a:latin typeface="Palatino Linotype"/>
                <a:cs typeface="Palatino Linotype"/>
              </a:rPr>
              <a:t> </a:t>
            </a:r>
            <a:r>
              <a:rPr kern="1200" dirty="0">
                <a:solidFill>
                  <a:srgbClr val="FF0000"/>
                </a:solidFill>
                <a:latin typeface="Palatino Linotype"/>
                <a:cs typeface="Palatino Linotype"/>
              </a:rPr>
              <a:t>No!</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If</a:t>
            </a:r>
            <a:r>
              <a:rPr kern="1200" spc="-5" dirty="0">
                <a:solidFill>
                  <a:srgbClr val="FF0000"/>
                </a:solidFill>
                <a:latin typeface="Palatino Linotype"/>
                <a:cs typeface="Palatino Linotype"/>
              </a:rPr>
              <a:t> </a:t>
            </a:r>
            <a:r>
              <a:rPr kern="1200" spc="-20" dirty="0">
                <a:solidFill>
                  <a:srgbClr val="FF0000"/>
                </a:solidFill>
                <a:latin typeface="Palatino Linotype"/>
                <a:cs typeface="Palatino Linotype"/>
              </a:rPr>
              <a:t>we</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look</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ahead,</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the</a:t>
            </a:r>
            <a:r>
              <a:rPr kern="1200" spc="-5" dirty="0">
                <a:solidFill>
                  <a:srgbClr val="FF0000"/>
                </a:solidFill>
                <a:latin typeface="Palatino Linotype"/>
                <a:cs typeface="Palatino Linotype"/>
              </a:rPr>
              <a:t> next </a:t>
            </a:r>
            <a:r>
              <a:rPr kern="1200" dirty="0">
                <a:solidFill>
                  <a:srgbClr val="FF0000"/>
                </a:solidFill>
                <a:latin typeface="Palatino Linotype"/>
                <a:cs typeface="Palatino Linotype"/>
              </a:rPr>
              <a:t>char</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in</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the</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input</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is</a:t>
            </a:r>
            <a:r>
              <a:rPr kern="1200" spc="-10" dirty="0">
                <a:solidFill>
                  <a:srgbClr val="FF0000"/>
                </a:solidFill>
                <a:latin typeface="Palatino Linotype"/>
                <a:cs typeface="Palatino Linotype"/>
              </a:rPr>
              <a:t> </a:t>
            </a:r>
            <a:r>
              <a:rPr kern="1200" spc="20" dirty="0">
                <a:solidFill>
                  <a:srgbClr val="FF0000"/>
                </a:solidFill>
                <a:latin typeface="Cambria Math"/>
                <a:cs typeface="Cambria Math"/>
              </a:rPr>
              <a:t>𝑎</a:t>
            </a:r>
            <a:r>
              <a:rPr kern="1200" spc="20" dirty="0">
                <a:solidFill>
                  <a:srgbClr val="FF0000"/>
                </a:solidFill>
                <a:latin typeface="Palatino Linotype"/>
                <a:cs typeface="Palatino Linotype"/>
              </a:rPr>
              <a:t>.</a:t>
            </a:r>
            <a:endParaRPr kern="1200" dirty="0">
              <a:solidFill>
                <a:prstClr val="black"/>
              </a:solidFill>
              <a:latin typeface="Palatino Linotype"/>
              <a:cs typeface="Palatino Linotype"/>
            </a:endParaRPr>
          </a:p>
          <a:p>
            <a:pPr marL="12700" rtl="0">
              <a:spcBef>
                <a:spcPts val="434"/>
              </a:spcBef>
            </a:pPr>
            <a:r>
              <a:rPr kern="1200" dirty="0">
                <a:solidFill>
                  <a:srgbClr val="FF0000"/>
                </a:solidFill>
                <a:latin typeface="Cambria Math"/>
                <a:cs typeface="Cambria Math"/>
              </a:rPr>
              <a:t>𝐴</a:t>
            </a:r>
            <a:r>
              <a:rPr kern="1200" spc="110" dirty="0">
                <a:solidFill>
                  <a:srgbClr val="FF0000"/>
                </a:solidFill>
                <a:latin typeface="Cambria Math"/>
                <a:cs typeface="Cambria Math"/>
              </a:rPr>
              <a:t> </a:t>
            </a:r>
            <a:r>
              <a:rPr kern="1200" dirty="0">
                <a:solidFill>
                  <a:srgbClr val="FF0000"/>
                </a:solidFill>
                <a:latin typeface="Cambria Math"/>
                <a:cs typeface="Cambria Math"/>
              </a:rPr>
              <a:t>→</a:t>
            </a:r>
            <a:r>
              <a:rPr kern="1200" spc="100" dirty="0">
                <a:solidFill>
                  <a:srgbClr val="FF0000"/>
                </a:solidFill>
                <a:latin typeface="Cambria Math"/>
                <a:cs typeface="Cambria Math"/>
              </a:rPr>
              <a:t> </a:t>
            </a:r>
            <a:r>
              <a:rPr kern="1200" dirty="0">
                <a:solidFill>
                  <a:srgbClr val="FF0000"/>
                </a:solidFill>
                <a:latin typeface="Cambria Math"/>
                <a:cs typeface="Cambria Math"/>
              </a:rPr>
              <a:t>𝑐</a:t>
            </a:r>
            <a:r>
              <a:rPr kern="1200" spc="100" dirty="0">
                <a:solidFill>
                  <a:srgbClr val="FF0000"/>
                </a:solidFill>
                <a:latin typeface="Cambria Math"/>
                <a:cs typeface="Cambria Math"/>
              </a:rPr>
              <a:t> </a:t>
            </a:r>
            <a:r>
              <a:rPr kern="1200" dirty="0">
                <a:solidFill>
                  <a:srgbClr val="FF0000"/>
                </a:solidFill>
                <a:latin typeface="Palatino Linotype"/>
                <a:cs typeface="Palatino Linotype"/>
              </a:rPr>
              <a:t>is</a:t>
            </a:r>
            <a:r>
              <a:rPr kern="1200" spc="-10" dirty="0">
                <a:solidFill>
                  <a:srgbClr val="FF0000"/>
                </a:solidFill>
                <a:latin typeface="Palatino Linotype"/>
                <a:cs typeface="Palatino Linotype"/>
              </a:rPr>
              <a:t> </a:t>
            </a:r>
            <a:r>
              <a:rPr kern="1200" spc="-5" dirty="0">
                <a:solidFill>
                  <a:srgbClr val="FF0000"/>
                </a:solidFill>
                <a:latin typeface="Palatino Linotype"/>
                <a:cs typeface="Palatino Linotype"/>
              </a:rPr>
              <a:t>obviously </a:t>
            </a:r>
            <a:r>
              <a:rPr kern="1200" dirty="0">
                <a:solidFill>
                  <a:srgbClr val="FF0000"/>
                </a:solidFill>
                <a:latin typeface="Palatino Linotype"/>
                <a:cs typeface="Palatino Linotype"/>
              </a:rPr>
              <a:t>a</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bad</a:t>
            </a:r>
            <a:r>
              <a:rPr kern="1200" spc="-5" dirty="0">
                <a:solidFill>
                  <a:srgbClr val="FF0000"/>
                </a:solidFill>
                <a:latin typeface="Palatino Linotype"/>
                <a:cs typeface="Palatino Linotype"/>
              </a:rPr>
              <a:t> choice!!!</a:t>
            </a:r>
            <a:endParaRPr kern="1200" dirty="0">
              <a:solidFill>
                <a:prstClr val="black"/>
              </a:solidFill>
              <a:latin typeface="Palatino Linotype"/>
              <a:cs typeface="Palatino Linotype"/>
            </a:endParaRPr>
          </a:p>
        </p:txBody>
      </p:sp>
      <p:pic>
        <p:nvPicPr>
          <p:cNvPr id="17" name="object 7">
            <a:extLst>
              <a:ext uri="{FF2B5EF4-FFF2-40B4-BE49-F238E27FC236}">
                <a16:creationId xmlns:a16="http://schemas.microsoft.com/office/drawing/2014/main" id="{B05B4315-6FC3-1121-24B7-CF59953ACFE9}"/>
              </a:ext>
            </a:extLst>
          </p:cNvPr>
          <p:cNvPicPr/>
          <p:nvPr/>
        </p:nvPicPr>
        <p:blipFill>
          <a:blip r:embed="rId3" cstate="print"/>
          <a:stretch>
            <a:fillRect/>
          </a:stretch>
        </p:blipFill>
        <p:spPr>
          <a:xfrm>
            <a:off x="5446079" y="2477522"/>
            <a:ext cx="2125295" cy="1047247"/>
          </a:xfrm>
          <a:prstGeom prst="rect">
            <a:avLst/>
          </a:prstGeom>
        </p:spPr>
      </p:pic>
      <p:pic>
        <p:nvPicPr>
          <p:cNvPr id="18" name="object 8">
            <a:extLst>
              <a:ext uri="{FF2B5EF4-FFF2-40B4-BE49-F238E27FC236}">
                <a16:creationId xmlns:a16="http://schemas.microsoft.com/office/drawing/2014/main" id="{AFC4C09B-D0F8-70D4-7C9C-C736195E71B0}"/>
              </a:ext>
            </a:extLst>
          </p:cNvPr>
          <p:cNvPicPr/>
          <p:nvPr/>
        </p:nvPicPr>
        <p:blipFill>
          <a:blip r:embed="rId4" cstate="print"/>
          <a:stretch>
            <a:fillRect/>
          </a:stretch>
        </p:blipFill>
        <p:spPr>
          <a:xfrm>
            <a:off x="628650" y="4747040"/>
            <a:ext cx="1060264" cy="1060265"/>
          </a:xfrm>
          <a:prstGeom prst="rect">
            <a:avLst/>
          </a:prstGeom>
        </p:spPr>
      </p:pic>
    </p:spTree>
    <p:extLst>
      <p:ext uri="{BB962C8B-B14F-4D97-AF65-F5344CB8AC3E}">
        <p14:creationId xmlns:p14="http://schemas.microsoft.com/office/powerpoint/2010/main" val="10492463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62</a:t>
            </a:fld>
            <a:endParaRPr lang="en-US"/>
          </a:p>
        </p:txBody>
      </p:sp>
      <p:sp>
        <p:nvSpPr>
          <p:cNvPr id="10" name="object 2">
            <a:extLst>
              <a:ext uri="{FF2B5EF4-FFF2-40B4-BE49-F238E27FC236}">
                <a16:creationId xmlns:a16="http://schemas.microsoft.com/office/drawing/2014/main" id="{BF9DEDA4-4C7F-94B0-6CE7-1CDC3F6222F0}"/>
              </a:ext>
            </a:extLst>
          </p:cNvPr>
          <p:cNvSpPr txBox="1">
            <a:spLocks/>
          </p:cNvSpPr>
          <p:nvPr/>
        </p:nvSpPr>
        <p:spPr>
          <a:xfrm>
            <a:off x="707390" y="524763"/>
            <a:ext cx="527050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Looking</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Ahead</a:t>
            </a:r>
            <a:r>
              <a:rPr kumimoji="0" lang="en-US" sz="4000" b="1" i="0" u="none" strike="noStrike" kern="0" cap="none" spc="-3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Helps!</a:t>
            </a:r>
          </a:p>
        </p:txBody>
      </p:sp>
      <p:sp>
        <p:nvSpPr>
          <p:cNvPr id="11" name="object 3">
            <a:extLst>
              <a:ext uri="{FF2B5EF4-FFF2-40B4-BE49-F238E27FC236}">
                <a16:creationId xmlns:a16="http://schemas.microsoft.com/office/drawing/2014/main" id="{C2394BD8-B4E9-46F7-BE70-826310E8D459}"/>
              </a:ext>
            </a:extLst>
          </p:cNvPr>
          <p:cNvSpPr txBox="1"/>
          <p:nvPr/>
        </p:nvSpPr>
        <p:spPr>
          <a:xfrm>
            <a:off x="707390" y="1544828"/>
            <a:ext cx="7666355" cy="1400383"/>
          </a:xfrm>
          <a:prstGeom prst="rect">
            <a:avLst/>
          </a:prstGeom>
        </p:spPr>
        <p:txBody>
          <a:bodyPr vert="horz" wrap="square" lIns="0" tIns="12700" rIns="0" bIns="0" rtlCol="0">
            <a:spAutoFit/>
          </a:bodyPr>
          <a:lstStyle/>
          <a:p>
            <a:pPr marL="243204" indent="-230504" rtl="0">
              <a:spcBef>
                <a:spcPts val="100"/>
              </a:spcBef>
              <a:buFont typeface="Arial MT"/>
              <a:buChar char="•"/>
              <a:tabLst>
                <a:tab pos="243204" algn="l"/>
              </a:tabLst>
            </a:pPr>
            <a:r>
              <a:rPr sz="2400" kern="1200" spc="-5" dirty="0">
                <a:solidFill>
                  <a:prstClr val="black"/>
                </a:solidFill>
                <a:latin typeface="Palatino Linotype"/>
                <a:cs typeface="Palatino Linotype"/>
              </a:rPr>
              <a:t>Suppose</a:t>
            </a:r>
            <a:r>
              <a:rPr sz="2400" kern="1200" spc="-10" dirty="0">
                <a:solidFill>
                  <a:prstClr val="black"/>
                </a:solidFill>
                <a:latin typeface="Palatino Linotype"/>
                <a:cs typeface="Palatino Linotype"/>
              </a:rPr>
              <a:t> </a:t>
            </a:r>
            <a:r>
              <a:rPr sz="2400" kern="1200" dirty="0">
                <a:solidFill>
                  <a:prstClr val="black"/>
                </a:solidFill>
                <a:latin typeface="Palatino Linotype"/>
                <a:cs typeface="Palatino Linotype"/>
              </a:rPr>
              <a:t>the</a:t>
            </a:r>
            <a:r>
              <a:rPr sz="2400" kern="1200" spc="-5" dirty="0">
                <a:solidFill>
                  <a:prstClr val="black"/>
                </a:solidFill>
                <a:latin typeface="Palatino Linotype"/>
                <a:cs typeface="Palatino Linotype"/>
              </a:rPr>
              <a:t> input string </a:t>
            </a:r>
            <a:r>
              <a:rPr sz="2400" kern="1200" dirty="0">
                <a:solidFill>
                  <a:prstClr val="black"/>
                </a:solidFill>
                <a:latin typeface="Palatino Linotype"/>
                <a:cs typeface="Palatino Linotype"/>
              </a:rPr>
              <a:t>is</a:t>
            </a:r>
            <a:r>
              <a:rPr sz="2400" kern="1200" spc="-15" dirty="0">
                <a:solidFill>
                  <a:prstClr val="black"/>
                </a:solidFill>
                <a:latin typeface="Palatino Linotype"/>
                <a:cs typeface="Palatino Linotype"/>
              </a:rPr>
              <a:t> </a:t>
            </a:r>
            <a:r>
              <a:rPr sz="2400" kern="1200" dirty="0">
                <a:solidFill>
                  <a:prstClr val="black"/>
                </a:solidFill>
                <a:latin typeface="Cambria Math"/>
                <a:cs typeface="Cambria Math"/>
              </a:rPr>
              <a:t>𝒙</a:t>
            </a:r>
            <a:r>
              <a:rPr sz="2400" kern="1200" dirty="0">
                <a:solidFill>
                  <a:srgbClr val="FF0000"/>
                </a:solidFill>
                <a:latin typeface="Cambria Math"/>
                <a:cs typeface="Cambria Math"/>
              </a:rPr>
              <a:t>𝒂</a:t>
            </a:r>
            <a:endParaRPr sz="2400" kern="1200" dirty="0">
              <a:solidFill>
                <a:prstClr val="black"/>
              </a:solidFill>
              <a:latin typeface="Cambria Math"/>
              <a:cs typeface="Cambria Math"/>
            </a:endParaRPr>
          </a:p>
          <a:p>
            <a:pPr marL="243204" indent="-230504" rtl="0">
              <a:spcBef>
                <a:spcPts val="1700"/>
              </a:spcBef>
              <a:buFont typeface="Arial MT"/>
              <a:buChar char="•"/>
              <a:tabLst>
                <a:tab pos="243204" algn="l"/>
              </a:tabLst>
            </a:pPr>
            <a:r>
              <a:rPr sz="2400" kern="1200" spc="-5" dirty="0">
                <a:solidFill>
                  <a:prstClr val="black"/>
                </a:solidFill>
                <a:latin typeface="Palatino Linotype"/>
                <a:cs typeface="Palatino Linotype"/>
              </a:rPr>
              <a:t>Suppose</a:t>
            </a:r>
            <a:r>
              <a:rPr sz="2400" kern="1200" dirty="0">
                <a:solidFill>
                  <a:prstClr val="black"/>
                </a:solidFill>
                <a:latin typeface="Palatino Linotype"/>
                <a:cs typeface="Palatino Linotype"/>
              </a:rPr>
              <a:t> the </a:t>
            </a:r>
            <a:r>
              <a:rPr sz="2400" kern="1200" spc="-5" dirty="0">
                <a:solidFill>
                  <a:prstClr val="black"/>
                </a:solidFill>
                <a:latin typeface="Palatino Linotype"/>
                <a:cs typeface="Palatino Linotype"/>
              </a:rPr>
              <a:t>current</a:t>
            </a:r>
            <a:r>
              <a:rPr sz="2400" kern="1200" dirty="0">
                <a:solidFill>
                  <a:prstClr val="black"/>
                </a:solidFill>
                <a:latin typeface="Palatino Linotype"/>
                <a:cs typeface="Palatino Linotype"/>
              </a:rPr>
              <a:t> </a:t>
            </a:r>
            <a:r>
              <a:rPr sz="2400" kern="1200" spc="-5" dirty="0">
                <a:solidFill>
                  <a:prstClr val="black"/>
                </a:solidFill>
                <a:latin typeface="Palatino Linotype"/>
                <a:cs typeface="Palatino Linotype"/>
              </a:rPr>
              <a:t>sentential</a:t>
            </a:r>
            <a:r>
              <a:rPr sz="2400" kern="1200" dirty="0">
                <a:solidFill>
                  <a:prstClr val="black"/>
                </a:solidFill>
                <a:latin typeface="Palatino Linotype"/>
                <a:cs typeface="Palatino Linotype"/>
              </a:rPr>
              <a:t> form</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is</a:t>
            </a:r>
            <a:r>
              <a:rPr sz="2400" kern="1200" spc="-5" dirty="0">
                <a:solidFill>
                  <a:prstClr val="black"/>
                </a:solidFill>
                <a:latin typeface="Palatino Linotype"/>
                <a:cs typeface="Palatino Linotype"/>
              </a:rPr>
              <a:t> </a:t>
            </a:r>
            <a:r>
              <a:rPr sz="2400" kern="1200" spc="15" dirty="0">
                <a:solidFill>
                  <a:prstClr val="black"/>
                </a:solidFill>
                <a:latin typeface="Cambria Math"/>
                <a:cs typeface="Cambria Math"/>
              </a:rPr>
              <a:t>𝒙</a:t>
            </a:r>
            <a:r>
              <a:rPr sz="2400" kern="1200" spc="15" dirty="0">
                <a:solidFill>
                  <a:srgbClr val="FF0000"/>
                </a:solidFill>
                <a:latin typeface="Cambria Math"/>
                <a:cs typeface="Cambria Math"/>
              </a:rPr>
              <a:t>𝑨</a:t>
            </a:r>
            <a:r>
              <a:rPr lang="en-US" altLang="zh-CN" sz="2400" b="1" kern="1200" spc="15" dirty="0">
                <a:latin typeface="Cambria Math"/>
                <a:cs typeface="Cambria Math"/>
              </a:rPr>
              <a:t>β</a:t>
            </a:r>
            <a:endParaRPr sz="2400" b="1" kern="1200" dirty="0">
              <a:latin typeface="Cambria Math"/>
              <a:cs typeface="Cambria Math"/>
            </a:endParaRPr>
          </a:p>
          <a:p>
            <a:pPr marL="698500" lvl="1" indent="-228600" rtl="0">
              <a:spcBef>
                <a:spcPts val="1225"/>
              </a:spcBef>
              <a:buClr>
                <a:srgbClr val="000000"/>
              </a:buClr>
              <a:buFont typeface="Wingdings"/>
              <a:buChar char=""/>
              <a:tabLst>
                <a:tab pos="698500" algn="l"/>
              </a:tabLst>
            </a:pPr>
            <a:r>
              <a:rPr lang="en-US" kern="1200" dirty="0">
                <a:solidFill>
                  <a:srgbClr val="0432FF"/>
                </a:solidFill>
                <a:latin typeface="Cambria Math"/>
                <a:cs typeface="Cambria Math"/>
              </a:rPr>
              <a:t>𝑨</a:t>
            </a:r>
            <a:r>
              <a:rPr lang="en-US" kern="1200" spc="55" dirty="0">
                <a:solidFill>
                  <a:srgbClr val="0432FF"/>
                </a:solidFill>
                <a:latin typeface="Cambria Math"/>
                <a:cs typeface="Cambria Math"/>
              </a:rPr>
              <a:t> </a:t>
            </a:r>
            <a:r>
              <a:rPr lang="en-US" kern="1200" dirty="0">
                <a:solidFill>
                  <a:prstClr val="black"/>
                </a:solidFill>
                <a:latin typeface="Palatino Linotype"/>
                <a:cs typeface="Palatino Linotype"/>
              </a:rPr>
              <a:t>is a</a:t>
            </a:r>
            <a:r>
              <a:rPr lang="en-US" kern="1200" spc="10" dirty="0">
                <a:solidFill>
                  <a:prstClr val="black"/>
                </a:solidFill>
                <a:latin typeface="Palatino Linotype"/>
                <a:cs typeface="Palatino Linotype"/>
              </a:rPr>
              <a:t> </a:t>
            </a:r>
            <a:r>
              <a:rPr lang="en-US" kern="1200" spc="-5" dirty="0">
                <a:solidFill>
                  <a:prstClr val="black"/>
                </a:solidFill>
                <a:latin typeface="Palatino Linotype"/>
                <a:cs typeface="Palatino Linotype"/>
              </a:rPr>
              <a:t>non-terminal;</a:t>
            </a:r>
            <a:r>
              <a:rPr lang="en-US" kern="1200" spc="5" dirty="0">
                <a:solidFill>
                  <a:prstClr val="black"/>
                </a:solidFill>
                <a:latin typeface="Palatino Linotype"/>
                <a:cs typeface="Palatino Linotype"/>
              </a:rPr>
              <a:t> </a:t>
            </a:r>
            <a:r>
              <a:rPr lang="el-GR" kern="1200" spc="40" dirty="0">
                <a:solidFill>
                  <a:srgbClr val="0432FF"/>
                </a:solidFill>
                <a:latin typeface="Cambria Math"/>
                <a:cs typeface="Cambria Math"/>
              </a:rPr>
              <a:t>β</a:t>
            </a:r>
            <a:r>
              <a:rPr lang="en-US" kern="1200" spc="65" dirty="0">
                <a:solidFill>
                  <a:srgbClr val="0432FF"/>
                </a:solidFill>
                <a:latin typeface="Cambria Math"/>
                <a:cs typeface="Cambria Math"/>
              </a:rPr>
              <a:t> </a:t>
            </a:r>
            <a:r>
              <a:rPr lang="en-US" kern="1200" spc="-5" dirty="0">
                <a:solidFill>
                  <a:prstClr val="black"/>
                </a:solidFill>
                <a:latin typeface="Palatino Linotype"/>
                <a:cs typeface="Palatino Linotype"/>
              </a:rPr>
              <a:t>may</a:t>
            </a:r>
            <a:r>
              <a:rPr lang="en-US" kern="1200" dirty="0">
                <a:solidFill>
                  <a:prstClr val="black"/>
                </a:solidFill>
                <a:latin typeface="Palatino Linotype"/>
                <a:cs typeface="Palatino Linotype"/>
              </a:rPr>
              <a:t> contain</a:t>
            </a:r>
            <a:r>
              <a:rPr lang="en-US" kern="1200" spc="5" dirty="0">
                <a:solidFill>
                  <a:prstClr val="black"/>
                </a:solidFill>
                <a:latin typeface="Palatino Linotype"/>
                <a:cs typeface="Palatino Linotype"/>
              </a:rPr>
              <a:t> </a:t>
            </a:r>
            <a:r>
              <a:rPr lang="en-US" kern="1200" dirty="0">
                <a:solidFill>
                  <a:prstClr val="black"/>
                </a:solidFill>
                <a:latin typeface="Palatino Linotype"/>
                <a:cs typeface="Palatino Linotype"/>
              </a:rPr>
              <a:t>both</a:t>
            </a:r>
            <a:r>
              <a:rPr lang="en-US" kern="1200" spc="10" dirty="0">
                <a:solidFill>
                  <a:prstClr val="black"/>
                </a:solidFill>
                <a:latin typeface="Palatino Linotype"/>
                <a:cs typeface="Palatino Linotype"/>
              </a:rPr>
              <a:t> </a:t>
            </a:r>
            <a:r>
              <a:rPr lang="en-US" kern="1200" spc="-5" dirty="0">
                <a:solidFill>
                  <a:prstClr val="black"/>
                </a:solidFill>
                <a:latin typeface="Palatino Linotype"/>
                <a:cs typeface="Palatino Linotype"/>
              </a:rPr>
              <a:t>terminals</a:t>
            </a:r>
            <a:r>
              <a:rPr lang="en-US" kern="1200" dirty="0">
                <a:solidFill>
                  <a:prstClr val="black"/>
                </a:solidFill>
                <a:latin typeface="Palatino Linotype"/>
                <a:cs typeface="Palatino Linotype"/>
              </a:rPr>
              <a:t> and</a:t>
            </a:r>
            <a:r>
              <a:rPr lang="en-US" kern="1200" spc="5" dirty="0">
                <a:solidFill>
                  <a:prstClr val="black"/>
                </a:solidFill>
                <a:latin typeface="Palatino Linotype"/>
                <a:cs typeface="Palatino Linotype"/>
              </a:rPr>
              <a:t> </a:t>
            </a:r>
            <a:r>
              <a:rPr lang="en-US" kern="1200" spc="-5" dirty="0">
                <a:solidFill>
                  <a:prstClr val="black"/>
                </a:solidFill>
                <a:latin typeface="Palatino Linotype"/>
                <a:cs typeface="Palatino Linotype"/>
              </a:rPr>
              <a:t>non-terminals</a:t>
            </a:r>
            <a:endParaRPr lang="en-US" kern="1200" dirty="0">
              <a:solidFill>
                <a:prstClr val="black"/>
              </a:solidFill>
              <a:latin typeface="Palatino Linotype"/>
              <a:cs typeface="Palatino Linotype"/>
            </a:endParaRPr>
          </a:p>
        </p:txBody>
      </p:sp>
      <p:sp>
        <p:nvSpPr>
          <p:cNvPr id="12" name="object 4">
            <a:extLst>
              <a:ext uri="{FF2B5EF4-FFF2-40B4-BE49-F238E27FC236}">
                <a16:creationId xmlns:a16="http://schemas.microsoft.com/office/drawing/2014/main" id="{410D2BF5-C48E-803D-E27F-BF1835031DB2}"/>
              </a:ext>
            </a:extLst>
          </p:cNvPr>
          <p:cNvSpPr txBox="1"/>
          <p:nvPr/>
        </p:nvSpPr>
        <p:spPr>
          <a:xfrm>
            <a:off x="628650" y="3298199"/>
            <a:ext cx="7886700" cy="1293944"/>
          </a:xfrm>
          <a:prstGeom prst="rect">
            <a:avLst/>
          </a:prstGeom>
          <a:ln w="12700">
            <a:solidFill>
              <a:srgbClr val="FFC000"/>
            </a:solidFill>
          </a:ln>
        </p:spPr>
        <p:txBody>
          <a:bodyPr vert="horz" wrap="square" lIns="0" tIns="135890" rIns="0" bIns="0" rtlCol="0">
            <a:spAutoFit/>
          </a:bodyPr>
          <a:lstStyle/>
          <a:p>
            <a:pPr marL="91440" rtl="0">
              <a:spcBef>
                <a:spcPts val="1070"/>
              </a:spcBef>
            </a:pPr>
            <a:r>
              <a:rPr sz="2000" kern="1200" dirty="0">
                <a:solidFill>
                  <a:prstClr val="black"/>
                </a:solidFill>
                <a:latin typeface="Palatino Linotype"/>
                <a:cs typeface="Palatino Linotype"/>
              </a:rPr>
              <a:t>If</a:t>
            </a:r>
            <a:r>
              <a:rPr sz="2000" kern="1200" spc="-10" dirty="0">
                <a:solidFill>
                  <a:prstClr val="black"/>
                </a:solidFill>
                <a:latin typeface="Palatino Linotype"/>
                <a:cs typeface="Palatino Linotype"/>
              </a:rPr>
              <a:t> </a:t>
            </a:r>
            <a:r>
              <a:rPr sz="2000" kern="1200" spc="-20" dirty="0">
                <a:solidFill>
                  <a:prstClr val="black"/>
                </a:solidFill>
                <a:latin typeface="Palatino Linotype"/>
                <a:cs typeface="Palatino Linotype"/>
              </a:rPr>
              <a:t>we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know</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following fact for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productions </a:t>
            </a:r>
            <a:r>
              <a:rPr sz="2000" kern="1200" dirty="0">
                <a:solidFill>
                  <a:srgbClr val="FF0000"/>
                </a:solidFill>
                <a:latin typeface="Cambria Math"/>
                <a:cs typeface="Cambria Math"/>
              </a:rPr>
              <a:t>𝑨</a:t>
            </a:r>
            <a:r>
              <a:rPr sz="2000" kern="1200" spc="114"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10" dirty="0">
                <a:solidFill>
                  <a:srgbClr val="FF0000"/>
                </a:solidFill>
                <a:latin typeface="Cambria Math"/>
                <a:cs typeface="Cambria Math"/>
              </a:rPr>
              <a:t> </a:t>
            </a:r>
            <a:r>
              <a:rPr lang="zh-CN" altLang="en-US" sz="2000" kern="1200" spc="10" dirty="0">
                <a:solidFill>
                  <a:srgbClr val="FF0000"/>
                </a:solidFill>
                <a:latin typeface="Cambria Math"/>
                <a:cs typeface="Cambria Math"/>
              </a:rPr>
              <a:t>𝛼</a:t>
            </a:r>
            <a:r>
              <a:rPr sz="2000" kern="1200" dirty="0">
                <a:solidFill>
                  <a:srgbClr val="FF0000"/>
                </a:solidFill>
                <a:latin typeface="Cambria Math"/>
                <a:cs typeface="Cambria Math"/>
              </a:rPr>
              <a:t>| </a:t>
            </a:r>
            <a:r>
              <a:rPr sz="2000" kern="1200" spc="-5" dirty="0">
                <a:solidFill>
                  <a:srgbClr val="FF0000"/>
                </a:solidFill>
                <a:latin typeface="Cambria Math"/>
                <a:cs typeface="Cambria Math"/>
              </a:rPr>
              <a:t>𝜸</a:t>
            </a:r>
            <a:r>
              <a:rPr sz="2000" kern="1200" spc="-5" dirty="0">
                <a:solidFill>
                  <a:prstClr val="black"/>
                </a:solidFill>
                <a:latin typeface="Palatino Linotype"/>
                <a:cs typeface="Palatino Linotype"/>
              </a:rPr>
              <a:t>:</a:t>
            </a:r>
            <a:endParaRPr sz="2000" kern="1200" dirty="0">
              <a:solidFill>
                <a:prstClr val="black"/>
              </a:solidFill>
              <a:latin typeface="Palatino Linotype"/>
              <a:cs typeface="Palatino Linotype"/>
            </a:endParaRPr>
          </a:p>
          <a:p>
            <a:pPr marL="434340" indent="-342900" rtl="0">
              <a:spcBef>
                <a:spcPts val="1085"/>
              </a:spcBef>
              <a:buFont typeface="Arial MT"/>
              <a:buChar char="•"/>
              <a:tabLst>
                <a:tab pos="433705" algn="l"/>
                <a:tab pos="434340" algn="l"/>
              </a:tabLst>
            </a:pPr>
            <a:r>
              <a:rPr kern="1200" dirty="0">
                <a:solidFill>
                  <a:srgbClr val="FF0000"/>
                </a:solidFill>
                <a:latin typeface="Cambria Math"/>
                <a:cs typeface="Cambria Math"/>
              </a:rPr>
              <a:t>𝑎</a:t>
            </a:r>
            <a:r>
              <a:rPr kern="1200" spc="140" dirty="0">
                <a:solidFill>
                  <a:srgbClr val="FF0000"/>
                </a:solidFill>
                <a:latin typeface="Cambria Math"/>
                <a:cs typeface="Cambria Math"/>
              </a:rPr>
              <a:t> </a:t>
            </a:r>
            <a:r>
              <a:rPr kern="1200" dirty="0">
                <a:solidFill>
                  <a:srgbClr val="FF0000"/>
                </a:solidFill>
                <a:latin typeface="Cambria Math"/>
                <a:cs typeface="Cambria Math"/>
              </a:rPr>
              <a:t>∈</a:t>
            </a:r>
            <a:r>
              <a:rPr kern="1200" spc="105" dirty="0">
                <a:solidFill>
                  <a:srgbClr val="FF0000"/>
                </a:solidFill>
                <a:latin typeface="Cambria Math"/>
                <a:cs typeface="Cambria Math"/>
              </a:rPr>
              <a:t> </a:t>
            </a:r>
            <a:r>
              <a:rPr kern="1200" spc="10" dirty="0">
                <a:solidFill>
                  <a:srgbClr val="FF0000"/>
                </a:solidFill>
                <a:latin typeface="Cambria Math"/>
                <a:cs typeface="Cambria Math"/>
              </a:rPr>
              <a:t>𝐹𝐼𝑅𝑆𝑇(𝛼)</a:t>
            </a:r>
            <a:r>
              <a:rPr kern="1200" spc="15" dirty="0">
                <a:solidFill>
                  <a:srgbClr val="FF0000"/>
                </a:solidFill>
                <a:latin typeface="Cambria Math"/>
                <a:cs typeface="Cambria Math"/>
              </a:rPr>
              <a:t> </a:t>
            </a:r>
            <a:r>
              <a:rPr kern="1200" dirty="0">
                <a:solidFill>
                  <a:prstClr val="black"/>
                </a:solidFill>
                <a:cs typeface="Calibri"/>
              </a:rPr>
              <a:t>:</a:t>
            </a:r>
            <a:r>
              <a:rPr kern="1200" spc="10" dirty="0">
                <a:solidFill>
                  <a:prstClr val="black"/>
                </a:solidFill>
                <a:cs typeface="Calibri"/>
              </a:rPr>
              <a:t> </a:t>
            </a:r>
            <a:r>
              <a:rPr kern="1200" dirty="0">
                <a:solidFill>
                  <a:prstClr val="black"/>
                </a:solidFill>
                <a:latin typeface="Cambria Math"/>
                <a:cs typeface="Cambria Math"/>
              </a:rPr>
              <a:t>𝛼</a:t>
            </a:r>
            <a:r>
              <a:rPr kern="1200" spc="100" dirty="0">
                <a:solidFill>
                  <a:prstClr val="black"/>
                </a:solidFill>
                <a:latin typeface="Cambria Math"/>
                <a:cs typeface="Cambria Math"/>
              </a:rPr>
              <a:t> </a:t>
            </a:r>
            <a:r>
              <a:rPr kern="1200" spc="-10" dirty="0">
                <a:solidFill>
                  <a:prstClr val="black"/>
                </a:solidFill>
                <a:latin typeface="Palatino Linotype"/>
                <a:cs typeface="Palatino Linotype"/>
              </a:rPr>
              <a:t>derives</a:t>
            </a:r>
            <a:r>
              <a:rPr kern="1200" spc="-5" dirty="0">
                <a:solidFill>
                  <a:prstClr val="black"/>
                </a:solidFill>
                <a:latin typeface="Palatino Linotype"/>
                <a:cs typeface="Palatino Linotype"/>
              </a:rPr>
              <a:t> strings </a:t>
            </a:r>
            <a:r>
              <a:rPr kern="1200" dirty="0">
                <a:solidFill>
                  <a:prstClr val="black"/>
                </a:solidFill>
                <a:latin typeface="Palatino Linotype"/>
                <a:cs typeface="Palatino Linotype"/>
              </a:rPr>
              <a:t>that </a:t>
            </a:r>
            <a:r>
              <a:rPr kern="1200" spc="-5" dirty="0">
                <a:solidFill>
                  <a:srgbClr val="0432FF"/>
                </a:solidFill>
                <a:latin typeface="Palatino Linotype"/>
                <a:cs typeface="Palatino Linotype"/>
              </a:rPr>
              <a:t>begin</a:t>
            </a:r>
            <a:r>
              <a:rPr kern="1200" dirty="0">
                <a:solidFill>
                  <a:srgbClr val="0432FF"/>
                </a:solidFill>
                <a:latin typeface="Palatino Linotype"/>
                <a:cs typeface="Palatino Linotype"/>
              </a:rPr>
              <a:t> </a:t>
            </a:r>
            <a:r>
              <a:rPr kern="1200" spc="-5" dirty="0">
                <a:solidFill>
                  <a:srgbClr val="0432FF"/>
                </a:solidFill>
                <a:latin typeface="Palatino Linotype"/>
                <a:cs typeface="Palatino Linotype"/>
              </a:rPr>
              <a:t>with</a:t>
            </a:r>
            <a:r>
              <a:rPr kern="1200" dirty="0">
                <a:solidFill>
                  <a:srgbClr val="0432FF"/>
                </a:solidFill>
                <a:latin typeface="Palatino Linotype"/>
                <a:cs typeface="Palatino Linotype"/>
              </a:rPr>
              <a:t> </a:t>
            </a:r>
            <a:r>
              <a:rPr kern="1200" dirty="0">
                <a:solidFill>
                  <a:srgbClr val="0432FF"/>
                </a:solidFill>
                <a:latin typeface="Cambria Math"/>
                <a:cs typeface="Cambria Math"/>
              </a:rPr>
              <a:t>𝑎</a:t>
            </a:r>
            <a:endParaRPr kern="1200" dirty="0">
              <a:solidFill>
                <a:prstClr val="black"/>
              </a:solidFill>
              <a:latin typeface="Cambria Math"/>
              <a:cs typeface="Cambria Math"/>
            </a:endParaRPr>
          </a:p>
          <a:p>
            <a:pPr marL="434340" indent="-342900" rtl="0">
              <a:spcBef>
                <a:spcPts val="1155"/>
              </a:spcBef>
              <a:buFont typeface="Arial MT"/>
              <a:buChar char="•"/>
              <a:tabLst>
                <a:tab pos="433705" algn="l"/>
                <a:tab pos="434340" algn="l"/>
              </a:tabLst>
            </a:pPr>
            <a:r>
              <a:rPr kern="1200" dirty="0">
                <a:solidFill>
                  <a:srgbClr val="FF0000"/>
                </a:solidFill>
                <a:latin typeface="Cambria Math"/>
                <a:cs typeface="Cambria Math"/>
              </a:rPr>
              <a:t>𝑎</a:t>
            </a:r>
            <a:r>
              <a:rPr kern="1200" spc="140" dirty="0">
                <a:solidFill>
                  <a:srgbClr val="FF0000"/>
                </a:solidFill>
                <a:latin typeface="Cambria Math"/>
                <a:cs typeface="Cambria Math"/>
              </a:rPr>
              <a:t> </a:t>
            </a:r>
            <a:r>
              <a:rPr kern="1200" dirty="0">
                <a:solidFill>
                  <a:srgbClr val="FF0000"/>
                </a:solidFill>
                <a:latin typeface="Cambria Math"/>
                <a:cs typeface="Cambria Math"/>
              </a:rPr>
              <a:t>∉</a:t>
            </a:r>
            <a:r>
              <a:rPr kern="1200" spc="100" dirty="0">
                <a:solidFill>
                  <a:srgbClr val="FF0000"/>
                </a:solidFill>
                <a:latin typeface="Cambria Math"/>
                <a:cs typeface="Cambria Math"/>
              </a:rPr>
              <a:t> </a:t>
            </a:r>
            <a:r>
              <a:rPr kern="1200" spc="10" dirty="0">
                <a:solidFill>
                  <a:srgbClr val="FF0000"/>
                </a:solidFill>
                <a:latin typeface="Cambria Math"/>
                <a:cs typeface="Cambria Math"/>
              </a:rPr>
              <a:t>𝐹𝐼𝑅𝑆𝑇(𝛾)</a:t>
            </a:r>
            <a:r>
              <a:rPr kern="1200" spc="55" dirty="0">
                <a:solidFill>
                  <a:srgbClr val="FF0000"/>
                </a:solidFill>
                <a:latin typeface="Cambria Math"/>
                <a:cs typeface="Cambria Math"/>
              </a:rPr>
              <a:t> </a:t>
            </a:r>
            <a:r>
              <a:rPr kern="1200" dirty="0">
                <a:solidFill>
                  <a:prstClr val="black"/>
                </a:solidFill>
                <a:latin typeface="Palatino Linotype"/>
                <a:cs typeface="Palatino Linotype"/>
              </a:rPr>
              <a:t>: </a:t>
            </a:r>
            <a:r>
              <a:rPr kern="1200" dirty="0">
                <a:solidFill>
                  <a:prstClr val="black"/>
                </a:solidFill>
                <a:latin typeface="Cambria Math"/>
                <a:cs typeface="Cambria Math"/>
              </a:rPr>
              <a:t>𝛾</a:t>
            </a:r>
            <a:r>
              <a:rPr kern="1200" spc="55" dirty="0">
                <a:solidFill>
                  <a:prstClr val="black"/>
                </a:solidFill>
                <a:latin typeface="Cambria Math"/>
                <a:cs typeface="Cambria Math"/>
              </a:rPr>
              <a:t> </a:t>
            </a:r>
            <a:r>
              <a:rPr kern="1200" spc="-10" dirty="0">
                <a:solidFill>
                  <a:prstClr val="black"/>
                </a:solidFill>
                <a:latin typeface="Palatino Linotype"/>
                <a:cs typeface="Palatino Linotype"/>
              </a:rPr>
              <a:t>derives</a:t>
            </a:r>
            <a:r>
              <a:rPr kern="1200" spc="-5" dirty="0">
                <a:solidFill>
                  <a:prstClr val="black"/>
                </a:solidFill>
                <a:latin typeface="Palatino Linotype"/>
                <a:cs typeface="Palatino Linotype"/>
              </a:rPr>
              <a:t> strings </a:t>
            </a:r>
            <a:r>
              <a:rPr kern="1200" dirty="0">
                <a:solidFill>
                  <a:prstClr val="black"/>
                </a:solidFill>
                <a:latin typeface="Palatino Linotype"/>
                <a:cs typeface="Palatino Linotype"/>
              </a:rPr>
              <a:t>that </a:t>
            </a:r>
            <a:r>
              <a:rPr kern="1200" dirty="0">
                <a:solidFill>
                  <a:srgbClr val="0432FF"/>
                </a:solidFill>
                <a:latin typeface="Palatino Linotype"/>
                <a:cs typeface="Palatino Linotype"/>
              </a:rPr>
              <a:t>do not </a:t>
            </a:r>
            <a:r>
              <a:rPr kern="1200" spc="-5" dirty="0">
                <a:solidFill>
                  <a:srgbClr val="0432FF"/>
                </a:solidFill>
                <a:latin typeface="Palatino Linotype"/>
                <a:cs typeface="Palatino Linotype"/>
              </a:rPr>
              <a:t>begin</a:t>
            </a:r>
            <a:r>
              <a:rPr kern="1200" dirty="0">
                <a:solidFill>
                  <a:srgbClr val="0432FF"/>
                </a:solidFill>
                <a:latin typeface="Palatino Linotype"/>
                <a:cs typeface="Palatino Linotype"/>
              </a:rPr>
              <a:t> </a:t>
            </a:r>
            <a:r>
              <a:rPr kern="1200" spc="-5" dirty="0">
                <a:solidFill>
                  <a:srgbClr val="0432FF"/>
                </a:solidFill>
                <a:latin typeface="Palatino Linotype"/>
                <a:cs typeface="Palatino Linotype"/>
              </a:rPr>
              <a:t>with</a:t>
            </a:r>
            <a:r>
              <a:rPr kern="1200" dirty="0">
                <a:solidFill>
                  <a:srgbClr val="0432FF"/>
                </a:solidFill>
                <a:latin typeface="Palatino Linotype"/>
                <a:cs typeface="Palatino Linotype"/>
              </a:rPr>
              <a:t> </a:t>
            </a:r>
            <a:r>
              <a:rPr kern="1200" dirty="0">
                <a:solidFill>
                  <a:srgbClr val="0432FF"/>
                </a:solidFill>
                <a:latin typeface="Cambria Math"/>
                <a:cs typeface="Cambria Math"/>
              </a:rPr>
              <a:t>𝑎</a:t>
            </a:r>
            <a:endParaRPr kern="1200" dirty="0">
              <a:solidFill>
                <a:prstClr val="black"/>
              </a:solidFill>
              <a:latin typeface="Cambria Math"/>
              <a:cs typeface="Cambria Math"/>
            </a:endParaRPr>
          </a:p>
        </p:txBody>
      </p:sp>
      <p:sp>
        <p:nvSpPr>
          <p:cNvPr id="13" name="object 5">
            <a:extLst>
              <a:ext uri="{FF2B5EF4-FFF2-40B4-BE49-F238E27FC236}">
                <a16:creationId xmlns:a16="http://schemas.microsoft.com/office/drawing/2014/main" id="{586B4271-904E-B803-2F56-B6E641FC07CE}"/>
              </a:ext>
            </a:extLst>
          </p:cNvPr>
          <p:cNvSpPr txBox="1"/>
          <p:nvPr/>
        </p:nvSpPr>
        <p:spPr>
          <a:xfrm>
            <a:off x="628650" y="5400412"/>
            <a:ext cx="7886700" cy="442429"/>
          </a:xfrm>
          <a:prstGeom prst="rect">
            <a:avLst/>
          </a:prstGeom>
          <a:ln w="12700">
            <a:solidFill>
              <a:srgbClr val="5B9BD5"/>
            </a:solidFill>
          </a:ln>
        </p:spPr>
        <p:txBody>
          <a:bodyPr vert="horz" wrap="square" lIns="0" tIns="133350" rIns="0" bIns="0" rtlCol="0">
            <a:spAutoFit/>
          </a:bodyPr>
          <a:lstStyle/>
          <a:p>
            <a:pPr marL="91440" rtl="0">
              <a:spcBef>
                <a:spcPts val="1050"/>
              </a:spcBef>
            </a:pPr>
            <a:r>
              <a:rPr sz="2000" kern="1200" spc="-5" dirty="0">
                <a:solidFill>
                  <a:prstClr val="black"/>
                </a:solidFill>
                <a:latin typeface="Palatino Linotype"/>
                <a:cs typeface="Palatino Linotype"/>
              </a:rPr>
              <a:t>After matching </a:t>
            </a:r>
            <a:r>
              <a:rPr sz="2000" kern="1200" spc="25" dirty="0">
                <a:solidFill>
                  <a:prstClr val="black"/>
                </a:solidFill>
                <a:latin typeface="Cambria Math"/>
                <a:cs typeface="Cambria Math"/>
              </a:rPr>
              <a:t>𝑥</a:t>
            </a:r>
            <a:r>
              <a:rPr kern="1200" spc="25" dirty="0">
                <a:solidFill>
                  <a:prstClr val="black"/>
                </a:solidFill>
                <a:latin typeface="Palatino Linotype"/>
                <a:cs typeface="Palatino Linotype"/>
              </a:rPr>
              <a:t>,</a:t>
            </a:r>
            <a:r>
              <a:rPr kern="1200" dirty="0">
                <a:solidFill>
                  <a:prstClr val="black"/>
                </a:solidFill>
                <a:latin typeface="Palatino Linotype"/>
                <a:cs typeface="Palatino Linotype"/>
              </a:rPr>
              <a:t> </a:t>
            </a:r>
            <a:r>
              <a:rPr kern="1200" spc="-20" dirty="0">
                <a:solidFill>
                  <a:prstClr val="black"/>
                </a:solidFill>
                <a:latin typeface="Palatino Linotype"/>
                <a:cs typeface="Palatino Linotype"/>
              </a:rPr>
              <a:t>we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should</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choose</a:t>
            </a:r>
            <a:r>
              <a:rPr kern="1200" dirty="0">
                <a:solidFill>
                  <a:prstClr val="black"/>
                </a:solidFill>
                <a:latin typeface="Palatino Linotype"/>
                <a:cs typeface="Palatino Linotype"/>
              </a:rPr>
              <a:t> </a:t>
            </a:r>
            <a:r>
              <a:rPr kern="1200" dirty="0">
                <a:solidFill>
                  <a:srgbClr val="FF0000"/>
                </a:solidFill>
                <a:latin typeface="Cambria Math"/>
                <a:cs typeface="Cambria Math"/>
              </a:rPr>
              <a:t>𝑨</a:t>
            </a:r>
            <a:r>
              <a:rPr kern="1200" spc="100" dirty="0">
                <a:solidFill>
                  <a:srgbClr val="FF0000"/>
                </a:solidFill>
                <a:latin typeface="Cambria Math"/>
                <a:cs typeface="Cambria Math"/>
              </a:rPr>
              <a:t> </a:t>
            </a:r>
            <a:r>
              <a:rPr kern="1200" dirty="0">
                <a:solidFill>
                  <a:srgbClr val="FF0000"/>
                </a:solidFill>
                <a:latin typeface="Cambria Math"/>
                <a:cs typeface="Cambria Math"/>
              </a:rPr>
              <a:t>→</a:t>
            </a:r>
            <a:r>
              <a:rPr lang="zh-CN" altLang="en-US" kern="1200" spc="10" dirty="0">
                <a:solidFill>
                  <a:srgbClr val="FF0000"/>
                </a:solidFill>
                <a:latin typeface="Cambria Math"/>
                <a:cs typeface="Cambria Math"/>
              </a:rPr>
              <a:t>𝛼 </a:t>
            </a:r>
            <a:r>
              <a:rPr kern="1200" dirty="0">
                <a:solidFill>
                  <a:prstClr val="black"/>
                </a:solidFill>
                <a:latin typeface="Palatino Linotype"/>
                <a:cs typeface="Palatino Linotype"/>
              </a:rPr>
              <a:t>to </a:t>
            </a:r>
            <a:r>
              <a:rPr kern="1200" spc="-5" dirty="0">
                <a:solidFill>
                  <a:prstClr val="black"/>
                </a:solidFill>
                <a:latin typeface="Palatino Linotype"/>
                <a:cs typeface="Palatino Linotype"/>
              </a:rPr>
              <a:t>rewrite</a:t>
            </a:r>
            <a:r>
              <a:rPr kern="1200" dirty="0">
                <a:solidFill>
                  <a:prstClr val="black"/>
                </a:solidFill>
                <a:latin typeface="Palatino Linotype"/>
                <a:cs typeface="Palatino Linotype"/>
              </a:rPr>
              <a:t> </a:t>
            </a:r>
            <a:r>
              <a:rPr kern="1200" dirty="0">
                <a:solidFill>
                  <a:prstClr val="black"/>
                </a:solidFill>
                <a:latin typeface="Cambria Math"/>
                <a:cs typeface="Cambria Math"/>
              </a:rPr>
              <a:t>𝐴</a:t>
            </a:r>
          </a:p>
        </p:txBody>
      </p:sp>
      <p:sp>
        <p:nvSpPr>
          <p:cNvPr id="14" name="object 6">
            <a:extLst>
              <a:ext uri="{FF2B5EF4-FFF2-40B4-BE49-F238E27FC236}">
                <a16:creationId xmlns:a16="http://schemas.microsoft.com/office/drawing/2014/main" id="{E44ECF71-A5CD-C90B-389C-B227298C40F9}"/>
              </a:ext>
            </a:extLst>
          </p:cNvPr>
          <p:cNvSpPr txBox="1"/>
          <p:nvPr/>
        </p:nvSpPr>
        <p:spPr>
          <a:xfrm>
            <a:off x="623500" y="4835652"/>
            <a:ext cx="5701030" cy="238760"/>
          </a:xfrm>
          <a:prstGeom prst="rect">
            <a:avLst/>
          </a:prstGeom>
        </p:spPr>
        <p:txBody>
          <a:bodyPr vert="horz" wrap="square" lIns="0" tIns="12700" rIns="0" bIns="0" rtlCol="0">
            <a:spAutoFit/>
          </a:bodyPr>
          <a:lstStyle/>
          <a:p>
            <a:pPr marL="12700" rtl="0">
              <a:spcBef>
                <a:spcPts val="100"/>
              </a:spcBef>
            </a:pPr>
            <a:r>
              <a:rPr sz="1400" kern="1200" dirty="0">
                <a:solidFill>
                  <a:srgbClr val="7F7F7F"/>
                </a:solidFill>
                <a:cs typeface="Calibri"/>
              </a:rPr>
              <a:t>*</a:t>
            </a:r>
            <a:r>
              <a:rPr sz="1400" kern="1200" dirty="0">
                <a:solidFill>
                  <a:srgbClr val="7F7F7F"/>
                </a:solidFill>
                <a:latin typeface="Cambria Math"/>
                <a:cs typeface="Cambria Math"/>
              </a:rPr>
              <a:t>𝐹𝐼𝑅𝑆𝑇(𝛼)</a:t>
            </a:r>
            <a:r>
              <a:rPr sz="1400" kern="1200" spc="-5" dirty="0">
                <a:solidFill>
                  <a:srgbClr val="7F7F7F"/>
                </a:solidFill>
                <a:latin typeface="Cambria Math"/>
                <a:cs typeface="Cambria Math"/>
              </a:rPr>
              <a:t> </a:t>
            </a:r>
            <a:r>
              <a:rPr sz="1400" kern="1200" spc="-5" dirty="0">
                <a:solidFill>
                  <a:srgbClr val="7F7F7F"/>
                </a:solidFill>
                <a:latin typeface="Palatino Linotype"/>
                <a:cs typeface="Palatino Linotype"/>
              </a:rPr>
              <a:t>denotes</a:t>
            </a:r>
            <a:r>
              <a:rPr sz="1400" kern="1200" spc="-10" dirty="0">
                <a:solidFill>
                  <a:srgbClr val="7F7F7F"/>
                </a:solidFill>
                <a:latin typeface="Palatino Linotype"/>
                <a:cs typeface="Palatino Linotype"/>
              </a:rPr>
              <a:t> </a:t>
            </a:r>
            <a:r>
              <a:rPr sz="1400" kern="1200" dirty="0">
                <a:solidFill>
                  <a:srgbClr val="7F7F7F"/>
                </a:solidFill>
                <a:latin typeface="Palatino Linotype"/>
                <a:cs typeface="Palatino Linotype"/>
              </a:rPr>
              <a:t>the</a:t>
            </a:r>
            <a:r>
              <a:rPr sz="1400" kern="1200" spc="5" dirty="0">
                <a:solidFill>
                  <a:srgbClr val="7F7F7F"/>
                </a:solidFill>
                <a:latin typeface="Palatino Linotype"/>
                <a:cs typeface="Palatino Linotype"/>
              </a:rPr>
              <a:t> </a:t>
            </a:r>
            <a:r>
              <a:rPr sz="1400" kern="1200" spc="-5" dirty="0">
                <a:solidFill>
                  <a:srgbClr val="7F7F7F"/>
                </a:solidFill>
                <a:latin typeface="Palatino Linotype"/>
                <a:cs typeface="Palatino Linotype"/>
              </a:rPr>
              <a:t>set</a:t>
            </a:r>
            <a:r>
              <a:rPr sz="1400" kern="1200" spc="5" dirty="0">
                <a:solidFill>
                  <a:srgbClr val="7F7F7F"/>
                </a:solidFill>
                <a:latin typeface="Palatino Linotype"/>
                <a:cs typeface="Palatino Linotype"/>
              </a:rPr>
              <a:t> </a:t>
            </a:r>
            <a:r>
              <a:rPr sz="1400" kern="1200" spc="-5" dirty="0">
                <a:solidFill>
                  <a:srgbClr val="7F7F7F"/>
                </a:solidFill>
                <a:latin typeface="Palatino Linotype"/>
                <a:cs typeface="Palatino Linotype"/>
              </a:rPr>
              <a:t>of </a:t>
            </a:r>
            <a:r>
              <a:rPr sz="1400" kern="1200" dirty="0">
                <a:solidFill>
                  <a:srgbClr val="7F7F7F"/>
                </a:solidFill>
                <a:latin typeface="Palatino Linotype"/>
                <a:cs typeface="Palatino Linotype"/>
              </a:rPr>
              <a:t>terminals</a:t>
            </a:r>
            <a:r>
              <a:rPr sz="1400" kern="1200" spc="-5" dirty="0">
                <a:solidFill>
                  <a:srgbClr val="7F7F7F"/>
                </a:solidFill>
                <a:latin typeface="Palatino Linotype"/>
                <a:cs typeface="Palatino Linotype"/>
              </a:rPr>
              <a:t> </a:t>
            </a:r>
            <a:r>
              <a:rPr sz="1400" kern="1200" dirty="0">
                <a:solidFill>
                  <a:srgbClr val="7F7F7F"/>
                </a:solidFill>
                <a:latin typeface="Palatino Linotype"/>
                <a:cs typeface="Palatino Linotype"/>
              </a:rPr>
              <a:t>that</a:t>
            </a:r>
            <a:r>
              <a:rPr sz="1400" kern="1200" spc="5" dirty="0">
                <a:solidFill>
                  <a:srgbClr val="7F7F7F"/>
                </a:solidFill>
                <a:latin typeface="Palatino Linotype"/>
                <a:cs typeface="Palatino Linotype"/>
              </a:rPr>
              <a:t> </a:t>
            </a:r>
            <a:r>
              <a:rPr sz="1400" kern="1200" dirty="0">
                <a:solidFill>
                  <a:srgbClr val="7F7F7F"/>
                </a:solidFill>
                <a:latin typeface="Palatino Linotype"/>
                <a:cs typeface="Palatino Linotype"/>
              </a:rPr>
              <a:t>begin</a:t>
            </a:r>
            <a:r>
              <a:rPr sz="1400" kern="1200" spc="-5" dirty="0">
                <a:solidFill>
                  <a:srgbClr val="7F7F7F"/>
                </a:solidFill>
                <a:latin typeface="Palatino Linotype"/>
                <a:cs typeface="Palatino Linotype"/>
              </a:rPr>
              <a:t> strings </a:t>
            </a:r>
            <a:r>
              <a:rPr sz="1400" kern="1200" spc="-10" dirty="0">
                <a:solidFill>
                  <a:srgbClr val="7F7F7F"/>
                </a:solidFill>
                <a:latin typeface="Palatino Linotype"/>
                <a:cs typeface="Palatino Linotype"/>
              </a:rPr>
              <a:t>derived </a:t>
            </a:r>
            <a:r>
              <a:rPr sz="1400" kern="1200" spc="-5" dirty="0">
                <a:solidFill>
                  <a:srgbClr val="7F7F7F"/>
                </a:solidFill>
                <a:latin typeface="Palatino Linotype"/>
                <a:cs typeface="Palatino Linotype"/>
              </a:rPr>
              <a:t>from</a:t>
            </a:r>
            <a:r>
              <a:rPr sz="1400" kern="1200" dirty="0">
                <a:solidFill>
                  <a:srgbClr val="7F7F7F"/>
                </a:solidFill>
                <a:latin typeface="Palatino Linotype"/>
                <a:cs typeface="Palatino Linotype"/>
              </a:rPr>
              <a:t> </a:t>
            </a:r>
            <a:r>
              <a:rPr sz="1400" kern="1200" dirty="0">
                <a:solidFill>
                  <a:srgbClr val="7F7F7F"/>
                </a:solidFill>
                <a:latin typeface="Cambria Math"/>
                <a:cs typeface="Cambria Math"/>
              </a:rPr>
              <a:t>𝛼</a:t>
            </a:r>
            <a:endParaRPr sz="1400" kern="1200" dirty="0">
              <a:solidFill>
                <a:prstClr val="black"/>
              </a:solidFill>
              <a:latin typeface="Cambria Math"/>
              <a:cs typeface="Cambria Math"/>
            </a:endParaRPr>
          </a:p>
        </p:txBody>
      </p:sp>
    </p:spTree>
    <p:extLst>
      <p:ext uri="{BB962C8B-B14F-4D97-AF65-F5344CB8AC3E}">
        <p14:creationId xmlns:p14="http://schemas.microsoft.com/office/powerpoint/2010/main" val="11616147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871255E-448D-4D49-BD9F-7AEC637E3349}"/>
              </a:ext>
            </a:extLst>
          </p:cNvPr>
          <p:cNvSpPr>
            <a:spLocks noGrp="1"/>
          </p:cNvSpPr>
          <p:nvPr>
            <p:ph type="dt" sz="half" idx="10"/>
          </p:nvPr>
        </p:nvSpPr>
        <p:spPr/>
        <p:txBody>
          <a:bodyPr/>
          <a:lstStyle/>
          <a:p>
            <a:pPr>
              <a:defRPr/>
            </a:pPr>
            <a:r>
              <a:rPr lang="en-US" altLang="zh-CN"/>
              <a:t>Fall 2024</a:t>
            </a:r>
            <a:endParaRPr lang="en-US"/>
          </a:p>
        </p:txBody>
      </p:sp>
      <p:sp>
        <p:nvSpPr>
          <p:cNvPr id="3" name="页脚占位符 2">
            <a:extLst>
              <a:ext uri="{FF2B5EF4-FFF2-40B4-BE49-F238E27FC236}">
                <a16:creationId xmlns:a16="http://schemas.microsoft.com/office/drawing/2014/main" id="{0C694A90-480C-4FE1-85CF-4DA4D0F128A3}"/>
              </a:ext>
            </a:extLst>
          </p:cNvPr>
          <p:cNvSpPr>
            <a:spLocks noGrp="1"/>
          </p:cNvSpPr>
          <p:nvPr>
            <p:ph type="ftr" sz="quarter" idx="11"/>
          </p:nvPr>
        </p:nvSpPr>
        <p:spPr/>
        <p:txBody>
          <a:bodyPr/>
          <a:lstStyle/>
          <a:p>
            <a:pPr>
              <a:defRPr/>
            </a:pPr>
            <a:r>
              <a:rPr lang="en-US"/>
              <a:t>BUPT Compilers</a:t>
            </a:r>
          </a:p>
        </p:txBody>
      </p:sp>
      <p:sp>
        <p:nvSpPr>
          <p:cNvPr id="4" name="灯片编号占位符 3">
            <a:extLst>
              <a:ext uri="{FF2B5EF4-FFF2-40B4-BE49-F238E27FC236}">
                <a16:creationId xmlns:a16="http://schemas.microsoft.com/office/drawing/2014/main" id="{46D13832-8663-4390-AFE5-5477C5EF07AF}"/>
              </a:ext>
            </a:extLst>
          </p:cNvPr>
          <p:cNvSpPr>
            <a:spLocks noGrp="1"/>
          </p:cNvSpPr>
          <p:nvPr>
            <p:ph type="sldNum" sz="quarter" idx="12"/>
          </p:nvPr>
        </p:nvSpPr>
        <p:spPr/>
        <p:txBody>
          <a:bodyPr/>
          <a:lstStyle/>
          <a:p>
            <a:pPr>
              <a:defRPr/>
            </a:pPr>
            <a:fld id="{2FBC720A-3716-234A-B2DF-CBC7E48049F5}" type="slidenum">
              <a:rPr lang="en-US" altLang="zh-CN" smtClean="0"/>
              <a:t>63</a:t>
            </a:fld>
            <a:endParaRPr lang="en-US" altLang="zh-CN"/>
          </a:p>
        </p:txBody>
      </p:sp>
      <p:sp>
        <p:nvSpPr>
          <p:cNvPr id="5" name="矩形 4">
            <a:extLst>
              <a:ext uri="{FF2B5EF4-FFF2-40B4-BE49-F238E27FC236}">
                <a16:creationId xmlns:a16="http://schemas.microsoft.com/office/drawing/2014/main" id="{67799598-CB2F-47CF-AAAC-7E7795BB88C0}"/>
              </a:ext>
            </a:extLst>
          </p:cNvPr>
          <p:cNvSpPr/>
          <p:nvPr/>
        </p:nvSpPr>
        <p:spPr>
          <a:xfrm>
            <a:off x="768226" y="476672"/>
            <a:ext cx="1539204" cy="646331"/>
          </a:xfrm>
          <a:prstGeom prst="rect">
            <a:avLst/>
          </a:prstGeom>
        </p:spPr>
        <p:txBody>
          <a:bodyPr wrap="none">
            <a:spAutoFit/>
          </a:bodyPr>
          <a:lstStyle/>
          <a:p>
            <a:r>
              <a:rPr lang="en-US" altLang="zh-CN" sz="3600" b="1" spc="-5" dirty="0">
                <a:solidFill>
                  <a:sysClr val="windowText" lastClr="000000"/>
                </a:solidFill>
                <a:latin typeface="Palatino Linotype"/>
              </a:rPr>
              <a:t>FIRST</a:t>
            </a:r>
            <a:endParaRPr lang="zh-CN" altLang="en-US" sz="3600" dirty="0"/>
          </a:p>
        </p:txBody>
      </p:sp>
      <p:sp>
        <p:nvSpPr>
          <p:cNvPr id="7" name="object 3">
            <a:extLst>
              <a:ext uri="{FF2B5EF4-FFF2-40B4-BE49-F238E27FC236}">
                <a16:creationId xmlns:a16="http://schemas.microsoft.com/office/drawing/2014/main" id="{DC4E9599-A697-4855-B765-A06ABC87B850}"/>
              </a:ext>
            </a:extLst>
          </p:cNvPr>
          <p:cNvSpPr txBox="1"/>
          <p:nvPr/>
        </p:nvSpPr>
        <p:spPr bwMode="auto">
          <a:xfrm>
            <a:off x="706437" y="1340768"/>
            <a:ext cx="7731125" cy="4929555"/>
          </a:xfrm>
          <a:prstGeom prst="rect">
            <a:avLst/>
          </a:prstGeom>
        </p:spPr>
        <p:txBody>
          <a:bodyPr vert="horz" wrap="square" lIns="0" tIns="12700" rIns="0" bIns="0" rtlCol="0">
            <a:spAutoFit/>
          </a:bodyPr>
          <a:lstStyle/>
          <a:p>
            <a:pPr marL="268605" indent="-230504" rtl="0">
              <a:spcBef>
                <a:spcPts val="100"/>
              </a:spcBef>
              <a:buClr>
                <a:srgbClr val="000000"/>
              </a:buClr>
              <a:buFont typeface="Arial MT"/>
              <a:buChar char="•"/>
              <a:tabLst>
                <a:tab pos="268605" algn="l"/>
              </a:tabLst>
            </a:pPr>
            <a:r>
              <a:rPr sz="2400" b="1" kern="1200" spc="-5" dirty="0">
                <a:solidFill>
                  <a:srgbClr val="0432FF"/>
                </a:solidFill>
                <a:latin typeface="Palatino Linotype"/>
                <a:cs typeface="Palatino Linotype"/>
              </a:rPr>
              <a:t>FIRST(</a:t>
            </a:r>
            <a:r>
              <a:rPr lang="zh-CN" altLang="en-US" sz="2400" b="1" kern="1200" spc="-5" dirty="0">
                <a:solidFill>
                  <a:srgbClr val="0432FF"/>
                </a:solidFill>
                <a:latin typeface="Palatino Linotype"/>
              </a:rPr>
              <a:t>𝛼</a:t>
            </a:r>
            <a:r>
              <a:rPr sz="2400" b="1" kern="1200" spc="-5" dirty="0">
                <a:solidFill>
                  <a:srgbClr val="0432FF"/>
                </a:solidFill>
                <a:latin typeface="Palatino Linotype"/>
                <a:cs typeface="Palatino Linotype"/>
              </a:rPr>
              <a:t>)</a:t>
            </a:r>
            <a:r>
              <a:rPr sz="2400" kern="1200" spc="-5" dirty="0">
                <a:solidFill>
                  <a:prstClr val="black"/>
                </a:solidFill>
                <a:latin typeface="Palatino Linotype"/>
                <a:cs typeface="Palatino Linotype"/>
              </a:rPr>
              <a:t>, where</a:t>
            </a:r>
            <a:r>
              <a:rPr lang="en-US" altLang="zh-CN" sz="2400" kern="1200" spc="-5" dirty="0">
                <a:solidFill>
                  <a:prstClr val="black"/>
                </a:solidFill>
                <a:latin typeface="Palatino Linotype"/>
                <a:cs typeface="Palatino Linotype"/>
              </a:rPr>
              <a:t> </a:t>
            </a:r>
            <a:r>
              <a:rPr lang="zh-CN" altLang="en-US" sz="2400" kern="1200" spc="5" dirty="0">
                <a:solidFill>
                  <a:srgbClr val="FF0000"/>
                </a:solidFill>
                <a:latin typeface="Cambria Math"/>
                <a:cs typeface="Cambria Math"/>
              </a:rPr>
              <a:t>𝛼 </a:t>
            </a:r>
            <a:r>
              <a:rPr sz="2400" kern="1200" dirty="0">
                <a:solidFill>
                  <a:prstClr val="black"/>
                </a:solidFill>
                <a:latin typeface="Palatino Linotype"/>
                <a:cs typeface="Palatino Linotype"/>
              </a:rPr>
              <a:t>is</a:t>
            </a:r>
            <a:r>
              <a:rPr sz="2400" kern="1200" spc="-10" dirty="0">
                <a:solidFill>
                  <a:prstClr val="black"/>
                </a:solidFill>
                <a:latin typeface="Palatino Linotype"/>
                <a:cs typeface="Palatino Linotype"/>
              </a:rPr>
              <a:t> </a:t>
            </a:r>
            <a:r>
              <a:rPr sz="2400" kern="1200" dirty="0">
                <a:solidFill>
                  <a:prstClr val="black"/>
                </a:solidFill>
                <a:latin typeface="Palatino Linotype"/>
                <a:cs typeface="Palatino Linotype"/>
              </a:rPr>
              <a:t>a</a:t>
            </a:r>
            <a:r>
              <a:rPr lang="en-US" altLang="zh-CN" sz="2400" kern="1200" dirty="0">
                <a:solidFill>
                  <a:prstClr val="black"/>
                </a:solidFill>
                <a:latin typeface="Palatino Linotype"/>
                <a:cs typeface="Palatino Linotype"/>
              </a:rPr>
              <a:t>ny string of </a:t>
            </a:r>
            <a:r>
              <a:rPr sz="2400" kern="1200" dirty="0">
                <a:solidFill>
                  <a:prstClr val="black"/>
                </a:solidFill>
                <a:latin typeface="Palatino Linotype"/>
                <a:cs typeface="Palatino Linotype"/>
              </a:rPr>
              <a:t> grammar</a:t>
            </a:r>
            <a:r>
              <a:rPr sz="2400" kern="1200" spc="-5" dirty="0">
                <a:solidFill>
                  <a:prstClr val="black"/>
                </a:solidFill>
                <a:latin typeface="Palatino Linotype"/>
                <a:cs typeface="Palatino Linotype"/>
              </a:rPr>
              <a:t> symbol</a:t>
            </a:r>
            <a:r>
              <a:rPr lang="en-US" sz="2400" kern="1200" spc="-5" dirty="0">
                <a:solidFill>
                  <a:prstClr val="black"/>
                </a:solidFill>
                <a:latin typeface="Palatino Linotype"/>
                <a:cs typeface="Palatino Linotype"/>
              </a:rPr>
              <a:t>s</a:t>
            </a:r>
            <a:endParaRPr sz="2400" kern="1200" dirty="0">
              <a:solidFill>
                <a:prstClr val="black"/>
              </a:solidFill>
              <a:latin typeface="Palatino Linotype"/>
              <a:cs typeface="Palatino Linotype"/>
            </a:endParaRPr>
          </a:p>
          <a:p>
            <a:pPr rtl="0">
              <a:spcBef>
                <a:spcPts val="15"/>
              </a:spcBef>
              <a:buFont typeface="Arial MT"/>
              <a:buChar char="•"/>
            </a:pPr>
            <a:endParaRPr sz="2150" kern="1200" dirty="0">
              <a:solidFill>
                <a:prstClr val="black"/>
              </a:solidFill>
              <a:latin typeface="Palatino Linotype"/>
              <a:cs typeface="Palatino Linotype"/>
            </a:endParaRPr>
          </a:p>
          <a:p>
            <a:pPr marL="723900" lvl="1" indent="-228600" rtl="0">
              <a:spcBef>
                <a:spcPts val="5"/>
              </a:spcBef>
              <a:buFont typeface="Wingdings"/>
              <a:buChar char=""/>
              <a:tabLst>
                <a:tab pos="723900" algn="l"/>
              </a:tabLst>
            </a:pPr>
            <a:r>
              <a:rPr lang="en-US" sz="2000" kern="1200" dirty="0">
                <a:solidFill>
                  <a:prstClr val="black"/>
                </a:solidFill>
                <a:latin typeface="Palatino Linotype"/>
                <a:cs typeface="Palatino Linotype"/>
              </a:rPr>
              <a:t>The set </a:t>
            </a:r>
            <a:r>
              <a:rPr lang="en-US" sz="2000" b="1" kern="1200" dirty="0">
                <a:solidFill>
                  <a:prstClr val="black"/>
                </a:solidFill>
                <a:latin typeface="Palatino Linotype"/>
                <a:cs typeface="Palatino Linotype"/>
              </a:rPr>
              <a:t>of </a:t>
            </a:r>
            <a:r>
              <a:rPr sz="2000" b="1" kern="1200" spc="-10" dirty="0">
                <a:solidFill>
                  <a:prstClr val="black"/>
                </a:solidFill>
                <a:latin typeface="Palatino Linotype"/>
                <a:cs typeface="Palatino Linotype"/>
              </a:rPr>
              <a:t> </a:t>
            </a:r>
            <a:r>
              <a:rPr sz="2000" b="1" kern="1200" spc="-5" dirty="0">
                <a:solidFill>
                  <a:srgbClr val="FF0000"/>
                </a:solidFill>
                <a:latin typeface="Palatino Linotype"/>
                <a:cs typeface="Palatino Linotype"/>
              </a:rPr>
              <a:t>terminal</a:t>
            </a:r>
            <a:r>
              <a:rPr lang="en-US" sz="2000" b="1" kern="1200" spc="-5" dirty="0">
                <a:solidFill>
                  <a:srgbClr val="FF0000"/>
                </a:solidFill>
                <a:latin typeface="Palatino Linotype"/>
                <a:cs typeface="Palatino Linotype"/>
              </a:rPr>
              <a:t>s</a:t>
            </a:r>
            <a:r>
              <a:rPr sz="2000" b="1"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a:t>
            </a:r>
            <a:r>
              <a:rPr lang="en-US" sz="2000" kern="1200" spc="-5" dirty="0">
                <a:solidFill>
                  <a:prstClr val="black"/>
                </a:solidFill>
                <a:latin typeface="Palatino Linotype"/>
                <a:cs typeface="Palatino Linotype"/>
              </a:rPr>
              <a:t>at</a:t>
            </a:r>
            <a:r>
              <a:rPr sz="2000" kern="1200" spc="-5" dirty="0">
                <a:solidFill>
                  <a:prstClr val="black"/>
                </a:solidFill>
                <a:latin typeface="Palatino Linotype"/>
                <a:cs typeface="Palatino Linotype"/>
              </a:rPr>
              <a:t> </a:t>
            </a:r>
            <a:r>
              <a:rPr lang="en-US" sz="2000" kern="1200" spc="-5" dirty="0">
                <a:solidFill>
                  <a:srgbClr val="FF0000"/>
                </a:solidFill>
                <a:latin typeface="Palatino Linotype"/>
                <a:cs typeface="Palatino Linotype"/>
              </a:rPr>
              <a:t>begin strings derived from </a:t>
            </a:r>
            <a:r>
              <a:rPr lang="zh-CN" altLang="en-US" sz="2000" kern="1200" spc="5" dirty="0">
                <a:solidFill>
                  <a:srgbClr val="FF0000"/>
                </a:solidFill>
                <a:latin typeface="Cambria Math"/>
                <a:cs typeface="Cambria Math"/>
              </a:rPr>
              <a:t>𝛼</a:t>
            </a:r>
            <a:endParaRPr lang="en-US" altLang="zh-CN" sz="2000" kern="1200" spc="5" dirty="0">
              <a:solidFill>
                <a:srgbClr val="FF0000"/>
              </a:solidFill>
              <a:latin typeface="Cambria Math"/>
              <a:cs typeface="Cambria Math"/>
            </a:endParaRPr>
          </a:p>
          <a:p>
            <a:pPr marL="723900" lvl="1" indent="-228600" rtl="0">
              <a:spcBef>
                <a:spcPts val="5"/>
              </a:spcBef>
              <a:buFont typeface="Wingdings"/>
              <a:buChar char=""/>
              <a:tabLst>
                <a:tab pos="723900" algn="l"/>
              </a:tabLst>
            </a:pPr>
            <a:endParaRPr sz="2450" kern="1200" dirty="0">
              <a:solidFill>
                <a:prstClr val="black"/>
              </a:solidFill>
              <a:latin typeface="Cambria Math"/>
              <a:cs typeface="Cambria Math"/>
            </a:endParaRPr>
          </a:p>
          <a:p>
            <a:pPr marL="723900" lvl="1" indent="-228600" rtl="0">
              <a:buFont typeface="Wingdings"/>
              <a:buChar char=""/>
              <a:tabLst>
                <a:tab pos="723900" algn="l"/>
              </a:tabLst>
            </a:pPr>
            <a:r>
              <a:rPr sz="2000" kern="1200" dirty="0">
                <a:solidFill>
                  <a:prstClr val="black"/>
                </a:solidFill>
                <a:latin typeface="Palatino Linotype"/>
                <a:cs typeface="Palatino Linotype"/>
              </a:rPr>
              <a:t>If</a:t>
            </a:r>
            <a:r>
              <a:rPr lang="en-US" altLang="zh-CN" sz="2000" kern="1200" dirty="0">
                <a:solidFill>
                  <a:prstClr val="black"/>
                </a:solidFill>
                <a:latin typeface="Palatino Linotype"/>
                <a:cs typeface="Palatino Linotype"/>
              </a:rPr>
              <a:t> </a:t>
            </a:r>
            <a:r>
              <a:rPr lang="zh-CN" altLang="en-US" sz="2000" kern="1200" spc="5" dirty="0">
                <a:latin typeface="Cambria Math"/>
                <a:cs typeface="Cambria Math"/>
              </a:rPr>
              <a:t>𝛼</a:t>
            </a:r>
            <a:r>
              <a:rPr lang="zh-CN" altLang="en-US" sz="2000" kern="1200" dirty="0">
                <a:solidFill>
                  <a:prstClr val="black"/>
                </a:solidFill>
                <a:latin typeface="Cambria Math"/>
                <a:cs typeface="Cambria Math"/>
              </a:rPr>
              <a:t>⇒</a:t>
            </a:r>
            <a:r>
              <a:rPr lang="en-US" altLang="zh-CN" sz="2000" kern="1200" dirty="0">
                <a:solidFill>
                  <a:prstClr val="black"/>
                </a:solidFill>
                <a:latin typeface="Cambria Math"/>
                <a:cs typeface="Cambria Math"/>
              </a:rPr>
              <a:t>*</a:t>
            </a:r>
            <a:r>
              <a:rPr lang="zh-CN" altLang="en-US" sz="2000" kern="1200" dirty="0">
                <a:solidFill>
                  <a:prstClr val="black"/>
                </a:solidFill>
                <a:latin typeface="Cambria Math"/>
                <a:cs typeface="Cambria Math"/>
              </a:rPr>
              <a:t> </a:t>
            </a:r>
            <a:r>
              <a:rPr lang="zh-CN" altLang="en-US" sz="2000" kern="1200" spc="25" dirty="0">
                <a:solidFill>
                  <a:prstClr val="black"/>
                </a:solidFill>
                <a:latin typeface="Cambria Math"/>
                <a:cs typeface="Cambria Math"/>
              </a:rPr>
              <a:t>𝜖</a:t>
            </a:r>
            <a:r>
              <a:rPr lang="en-US" altLang="zh-CN" sz="2000" kern="1200" spc="5" dirty="0">
                <a:solidFill>
                  <a:prstClr val="black"/>
                </a:solidFill>
                <a:latin typeface="Palatino Linotype"/>
                <a:cs typeface="Palatino Linotype"/>
              </a:rPr>
              <a:t>, then  </a:t>
            </a:r>
            <a:r>
              <a:rPr lang="zh-CN" altLang="en-US" sz="2000" kern="1200" spc="25" dirty="0">
                <a:solidFill>
                  <a:prstClr val="black"/>
                </a:solidFill>
                <a:latin typeface="Cambria Math"/>
                <a:cs typeface="Cambria Math"/>
              </a:rPr>
              <a:t>𝜖 </a:t>
            </a:r>
            <a:r>
              <a:rPr lang="en-US" altLang="zh-CN" sz="2000" kern="1200" spc="5" dirty="0">
                <a:solidFill>
                  <a:prstClr val="black"/>
                </a:solidFill>
                <a:latin typeface="Palatino Linotype"/>
                <a:cs typeface="Palatino Linotype"/>
              </a:rPr>
              <a:t>is also in </a:t>
            </a:r>
            <a:r>
              <a:rPr lang="en-US" altLang="zh-CN" sz="2000" kern="1200" spc="-5" dirty="0">
                <a:latin typeface="Cambria Math"/>
                <a:cs typeface="Cambria Math"/>
              </a:rPr>
              <a:t>FIRST(</a:t>
            </a:r>
            <a:r>
              <a:rPr lang="zh-CN" altLang="en-US" sz="2000" kern="1200" spc="5" dirty="0">
                <a:latin typeface="Cambria Math"/>
                <a:cs typeface="Cambria Math"/>
              </a:rPr>
              <a:t>𝛼</a:t>
            </a:r>
            <a:r>
              <a:rPr lang="en-US" altLang="zh-CN" sz="2000" kern="1200" spc="-5" dirty="0">
                <a:latin typeface="Cambria Math"/>
                <a:cs typeface="Cambria Math"/>
              </a:rPr>
              <a:t>) </a:t>
            </a:r>
            <a:endParaRPr sz="2000" kern="1200" dirty="0">
              <a:solidFill>
                <a:prstClr val="black"/>
              </a:solidFill>
              <a:latin typeface="Palatino Linotype"/>
              <a:cs typeface="Palatino Linotype"/>
            </a:endParaRPr>
          </a:p>
          <a:p>
            <a:pPr lvl="2" rtl="0">
              <a:spcBef>
                <a:spcPts val="45"/>
              </a:spcBef>
              <a:buFont typeface="Courier New"/>
              <a:buChar char="o"/>
            </a:pPr>
            <a:endParaRPr sz="2150" kern="1200" dirty="0">
              <a:solidFill>
                <a:prstClr val="black"/>
              </a:solidFill>
              <a:latin typeface="Palatino Linotype"/>
              <a:cs typeface="Palatino Linotype"/>
            </a:endParaRPr>
          </a:p>
          <a:p>
            <a:pPr marL="266700" indent="-228600" rtl="0">
              <a:buFont typeface="Wingdings"/>
              <a:buChar char=""/>
              <a:tabLst>
                <a:tab pos="723900" algn="l"/>
              </a:tabLst>
            </a:pPr>
            <a:r>
              <a:rPr lang="en-US" altLang="zh-CN" sz="2400" b="1" kern="1200" spc="-5" dirty="0">
                <a:solidFill>
                  <a:srgbClr val="FF0000"/>
                </a:solidFill>
                <a:latin typeface="Palatino Linotype"/>
              </a:rPr>
              <a:t>FIRST function is useful in parsing</a:t>
            </a:r>
          </a:p>
          <a:p>
            <a:pPr marL="266700" indent="-228600" rtl="0">
              <a:buFont typeface="Wingdings"/>
              <a:buChar char=""/>
              <a:tabLst>
                <a:tab pos="723900" algn="l"/>
              </a:tabLst>
            </a:pPr>
            <a:endParaRPr lang="en-US" altLang="zh-CN" sz="2400" b="1" kern="1200" spc="-5" dirty="0">
              <a:solidFill>
                <a:srgbClr val="0432FF"/>
              </a:solidFill>
              <a:latin typeface="Palatino Linotype"/>
            </a:endParaRPr>
          </a:p>
          <a:p>
            <a:pPr marL="723900" lvl="1" indent="-228600" rtl="0">
              <a:spcBef>
                <a:spcPts val="5"/>
              </a:spcBef>
              <a:buFont typeface="Wingdings"/>
              <a:buChar char=""/>
              <a:tabLst>
                <a:tab pos="723900" algn="l"/>
              </a:tabLst>
            </a:pPr>
            <a:r>
              <a:rPr lang="zh-CN" altLang="en-US" sz="2000" kern="1200" dirty="0">
                <a:latin typeface="Cambria Math"/>
                <a:cs typeface="Cambria Math"/>
              </a:rPr>
              <a:t>𝑨</a:t>
            </a:r>
            <a:r>
              <a:rPr lang="zh-CN" altLang="en-US" sz="2000" kern="1200" spc="114" dirty="0">
                <a:latin typeface="Cambria Math"/>
                <a:cs typeface="Cambria Math"/>
              </a:rPr>
              <a:t> </a:t>
            </a:r>
            <a:r>
              <a:rPr lang="zh-CN" altLang="en-US" sz="2000" kern="1200" dirty="0">
                <a:latin typeface="Cambria Math"/>
                <a:cs typeface="Cambria Math"/>
              </a:rPr>
              <a:t>→</a:t>
            </a:r>
            <a:r>
              <a:rPr lang="zh-CN" altLang="en-US" sz="2000" kern="1200" spc="5" dirty="0">
                <a:latin typeface="Cambria Math"/>
                <a:cs typeface="Cambria Math"/>
              </a:rPr>
              <a:t>𝛼</a:t>
            </a:r>
            <a:r>
              <a:rPr lang="en-US" altLang="zh-CN" sz="2000" kern="1200" dirty="0">
                <a:latin typeface="Cambria Math"/>
                <a:cs typeface="Cambria Math"/>
              </a:rPr>
              <a:t>| </a:t>
            </a:r>
            <a:r>
              <a:rPr lang="el-GR" altLang="zh-CN" sz="2000" kern="1200" spc="15" dirty="0">
                <a:latin typeface="Cambria Math"/>
                <a:cs typeface="Cambria Math"/>
              </a:rPr>
              <a:t>β</a:t>
            </a:r>
            <a:r>
              <a:rPr lang="en-US" altLang="zh-CN" sz="2000" kern="1200" spc="-5" dirty="0">
                <a:latin typeface="Cambria Math"/>
                <a:cs typeface="Cambria Math"/>
              </a:rPr>
              <a:t>; suppose FIRST(</a:t>
            </a:r>
            <a:r>
              <a:rPr lang="zh-CN" altLang="en-US" sz="2000" kern="1200" spc="5" dirty="0">
                <a:latin typeface="Cambria Math"/>
                <a:cs typeface="Cambria Math"/>
              </a:rPr>
              <a:t>𝛼</a:t>
            </a:r>
            <a:r>
              <a:rPr lang="en-US" altLang="zh-CN" sz="2000" kern="1200" spc="-5" dirty="0">
                <a:latin typeface="Cambria Math"/>
                <a:cs typeface="Cambria Math"/>
              </a:rPr>
              <a:t>) and FIRST(</a:t>
            </a:r>
            <a:r>
              <a:rPr lang="el-GR" altLang="zh-CN" sz="2000" kern="1200" spc="15" dirty="0">
                <a:latin typeface="Cambria Math"/>
                <a:cs typeface="Cambria Math"/>
              </a:rPr>
              <a:t>β</a:t>
            </a:r>
            <a:r>
              <a:rPr lang="en-US" altLang="zh-CN" sz="2000" kern="1200" spc="-5" dirty="0">
                <a:latin typeface="Cambria Math"/>
                <a:cs typeface="Cambria Math"/>
              </a:rPr>
              <a:t>) </a:t>
            </a:r>
            <a:r>
              <a:rPr lang="en-US" altLang="zh-CN" sz="2000" kern="1200" dirty="0">
                <a:latin typeface="Palatino Linotype"/>
                <a:cs typeface="Palatino Linotype"/>
              </a:rPr>
              <a:t> are  disjoint</a:t>
            </a:r>
          </a:p>
          <a:p>
            <a:pPr marL="723900" lvl="1" indent="-228600" rtl="0">
              <a:spcBef>
                <a:spcPts val="5"/>
              </a:spcBef>
              <a:buFont typeface="Wingdings"/>
              <a:buChar char=""/>
              <a:tabLst>
                <a:tab pos="723900" algn="l"/>
              </a:tabLst>
            </a:pPr>
            <a:endParaRPr lang="en-US" altLang="zh-CN" sz="2000" kern="1200" spc="5" dirty="0">
              <a:latin typeface="Cambria Math"/>
              <a:cs typeface="Cambria Math"/>
            </a:endParaRPr>
          </a:p>
          <a:p>
            <a:pPr marL="723900" lvl="1" indent="-228600" rtl="0">
              <a:spcBef>
                <a:spcPts val="5"/>
              </a:spcBef>
              <a:buFont typeface="Wingdings"/>
              <a:buChar char=""/>
              <a:tabLst>
                <a:tab pos="723900" algn="l"/>
              </a:tabLst>
            </a:pPr>
            <a:r>
              <a:rPr lang="en-US" altLang="zh-CN" sz="2000" kern="1200" dirty="0">
                <a:latin typeface="Cambria Math"/>
                <a:cs typeface="Cambria Math"/>
              </a:rPr>
              <a:t>Choose</a:t>
            </a:r>
            <a:r>
              <a:rPr lang="zh-CN" altLang="en-US" sz="2000" kern="1200" dirty="0">
                <a:latin typeface="Cambria Math"/>
                <a:cs typeface="Cambria Math"/>
              </a:rPr>
              <a:t>𝑨</a:t>
            </a:r>
            <a:r>
              <a:rPr lang="zh-CN" altLang="en-US" sz="2000" kern="1200" spc="114" dirty="0">
                <a:latin typeface="Cambria Math"/>
                <a:cs typeface="Cambria Math"/>
              </a:rPr>
              <a:t> </a:t>
            </a:r>
            <a:r>
              <a:rPr lang="zh-CN" altLang="en-US" sz="2000" kern="1200" dirty="0">
                <a:latin typeface="Cambria Math"/>
                <a:cs typeface="Cambria Math"/>
              </a:rPr>
              <a:t>→</a:t>
            </a:r>
            <a:r>
              <a:rPr lang="zh-CN" altLang="en-US" sz="2000" kern="1200" spc="5" dirty="0">
                <a:latin typeface="Cambria Math"/>
                <a:cs typeface="Cambria Math"/>
              </a:rPr>
              <a:t>𝛼 </a:t>
            </a:r>
            <a:r>
              <a:rPr lang="en-US" altLang="zh-CN" sz="2000" kern="1200" spc="5" dirty="0">
                <a:latin typeface="Cambria Math"/>
                <a:cs typeface="Cambria Math"/>
              </a:rPr>
              <a:t>if the next input symbol </a:t>
            </a:r>
            <a:r>
              <a:rPr lang="zh-CN" altLang="en-US" sz="2000" dirty="0"/>
              <a:t>𝑎 </a:t>
            </a:r>
            <a:r>
              <a:rPr lang="en-US" altLang="zh-CN" sz="2000" kern="1200" spc="-5" dirty="0">
                <a:latin typeface="Cambria Math"/>
                <a:cs typeface="Cambria Math"/>
              </a:rPr>
              <a:t>FIRST(</a:t>
            </a:r>
            <a:r>
              <a:rPr lang="zh-CN" altLang="en-US" sz="2000" kern="1200" spc="5" dirty="0">
                <a:latin typeface="Cambria Math"/>
                <a:cs typeface="Cambria Math"/>
              </a:rPr>
              <a:t>𝛼</a:t>
            </a:r>
            <a:r>
              <a:rPr lang="en-US" altLang="zh-CN" sz="2000" kern="1200" spc="-5" dirty="0">
                <a:latin typeface="Cambria Math"/>
                <a:cs typeface="Cambria Math"/>
              </a:rPr>
              <a:t>) </a:t>
            </a:r>
          </a:p>
          <a:p>
            <a:pPr marL="723900" lvl="1" indent="-228600" rtl="0">
              <a:spcBef>
                <a:spcPts val="5"/>
              </a:spcBef>
              <a:buFont typeface="Wingdings"/>
              <a:buChar char=""/>
              <a:tabLst>
                <a:tab pos="723900" algn="l"/>
              </a:tabLst>
            </a:pPr>
            <a:endParaRPr lang="en-US" altLang="zh-CN" sz="2000" kern="1200" dirty="0">
              <a:latin typeface="Cambria Math"/>
              <a:cs typeface="Cambria Math"/>
            </a:endParaRPr>
          </a:p>
          <a:p>
            <a:pPr marL="723900" lvl="1" indent="-228600" rtl="0">
              <a:buFont typeface="Wingdings"/>
              <a:buChar char=""/>
              <a:tabLst>
                <a:tab pos="723900" algn="l"/>
              </a:tabLst>
            </a:pPr>
            <a:r>
              <a:rPr lang="en-US" altLang="zh-CN" sz="2000" kern="1200" dirty="0">
                <a:latin typeface="Cambria Math"/>
                <a:cs typeface="Cambria Math"/>
              </a:rPr>
              <a:t>Choose</a:t>
            </a:r>
            <a:r>
              <a:rPr lang="zh-CN" altLang="en-US" sz="2000" kern="1200" dirty="0">
                <a:latin typeface="Cambria Math"/>
                <a:cs typeface="Cambria Math"/>
              </a:rPr>
              <a:t>𝑨</a:t>
            </a:r>
            <a:r>
              <a:rPr lang="zh-CN" altLang="en-US" sz="2000" kern="1200" spc="114" dirty="0">
                <a:latin typeface="Cambria Math"/>
                <a:cs typeface="Cambria Math"/>
              </a:rPr>
              <a:t> </a:t>
            </a:r>
            <a:r>
              <a:rPr lang="zh-CN" altLang="en-US" sz="2000" kern="1200" dirty="0">
                <a:latin typeface="Cambria Math"/>
                <a:cs typeface="Cambria Math"/>
              </a:rPr>
              <a:t>→</a:t>
            </a:r>
            <a:r>
              <a:rPr lang="el-GR" altLang="zh-CN" sz="2000" kern="1200" spc="15" dirty="0">
                <a:latin typeface="Cambria Math"/>
                <a:cs typeface="Cambria Math"/>
              </a:rPr>
              <a:t> β</a:t>
            </a:r>
            <a:r>
              <a:rPr lang="zh-CN" altLang="en-US" sz="2000" kern="1200" spc="5" dirty="0">
                <a:latin typeface="Cambria Math"/>
                <a:cs typeface="Cambria Math"/>
              </a:rPr>
              <a:t> </a:t>
            </a:r>
            <a:r>
              <a:rPr lang="en-US" altLang="zh-CN" sz="2000" kern="1200" spc="5" dirty="0">
                <a:latin typeface="Cambria Math"/>
                <a:cs typeface="Cambria Math"/>
              </a:rPr>
              <a:t>if the next input symbol </a:t>
            </a:r>
            <a:r>
              <a:rPr lang="zh-CN" altLang="en-US" sz="2000" dirty="0"/>
              <a:t>𝑎 </a:t>
            </a:r>
            <a:r>
              <a:rPr lang="en-US" altLang="zh-CN" sz="2000" kern="1200" spc="-5" dirty="0">
                <a:latin typeface="Cambria Math"/>
                <a:cs typeface="Cambria Math"/>
              </a:rPr>
              <a:t>FIRST(</a:t>
            </a:r>
            <a:r>
              <a:rPr lang="el-GR" altLang="zh-CN" sz="2000" kern="1200" spc="15" dirty="0">
                <a:latin typeface="Cambria Math"/>
                <a:cs typeface="Cambria Math"/>
              </a:rPr>
              <a:t>β</a:t>
            </a:r>
            <a:r>
              <a:rPr lang="en-US" altLang="zh-CN" sz="2000" kern="1200" spc="-5" dirty="0">
                <a:latin typeface="Cambria Math"/>
                <a:cs typeface="Cambria Math"/>
              </a:rPr>
              <a:t>) </a:t>
            </a:r>
            <a:endParaRPr lang="en-US" altLang="zh-CN" sz="2000" kern="1200" dirty="0">
              <a:latin typeface="Cambria Math"/>
              <a:cs typeface="Cambria Math"/>
            </a:endParaRPr>
          </a:p>
          <a:p>
            <a:pPr marL="723900" lvl="1" indent="-228600" rtl="0">
              <a:buFont typeface="Wingdings"/>
              <a:buChar char=""/>
              <a:tabLst>
                <a:tab pos="723900" algn="l"/>
              </a:tabLst>
            </a:pPr>
            <a:endParaRPr lang="en-US" altLang="zh-CN" sz="2000" kern="1200" dirty="0">
              <a:solidFill>
                <a:prstClr val="black"/>
              </a:solidFill>
              <a:latin typeface="Palatino Linotype"/>
              <a:cs typeface="Palatino Linotype"/>
            </a:endParaRPr>
          </a:p>
          <a:p>
            <a:pPr marL="266700" indent="-228600" rtl="0">
              <a:buFont typeface="Wingdings"/>
              <a:buChar char=""/>
              <a:tabLst>
                <a:tab pos="723900" algn="l"/>
              </a:tabLst>
            </a:pPr>
            <a:endParaRPr sz="2000" kern="1200" dirty="0">
              <a:solidFill>
                <a:prstClr val="black"/>
              </a:solidFill>
              <a:latin typeface="Palatino Linotype"/>
              <a:cs typeface="Palatino Linotype"/>
            </a:endParaRPr>
          </a:p>
        </p:txBody>
      </p:sp>
      <p:pic>
        <p:nvPicPr>
          <p:cNvPr id="9" name="图片 8">
            <a:extLst>
              <a:ext uri="{FF2B5EF4-FFF2-40B4-BE49-F238E27FC236}">
                <a16:creationId xmlns:a16="http://schemas.microsoft.com/office/drawing/2014/main" id="{DE88A3BA-6EFD-4AEA-88B5-739123631A02}"/>
              </a:ext>
            </a:extLst>
          </p:cNvPr>
          <p:cNvPicPr>
            <a:picLocks noChangeAspect="1"/>
          </p:cNvPicPr>
          <p:nvPr/>
        </p:nvPicPr>
        <p:blipFill>
          <a:blip r:embed="rId3"/>
          <a:stretch>
            <a:fillRect/>
          </a:stretch>
        </p:blipFill>
        <p:spPr>
          <a:xfrm>
            <a:off x="5125802" y="0"/>
            <a:ext cx="2664296" cy="1373982"/>
          </a:xfrm>
          <a:prstGeom prst="rect">
            <a:avLst/>
          </a:prstGeom>
        </p:spPr>
      </p:pic>
      <p:sp>
        <p:nvSpPr>
          <p:cNvPr id="10" name="文本框 9">
            <a:extLst>
              <a:ext uri="{FF2B5EF4-FFF2-40B4-BE49-F238E27FC236}">
                <a16:creationId xmlns:a16="http://schemas.microsoft.com/office/drawing/2014/main" id="{B10F8DF2-840D-482F-9B51-42CBF6781FC9}"/>
              </a:ext>
            </a:extLst>
          </p:cNvPr>
          <p:cNvSpPr txBox="1"/>
          <p:nvPr/>
        </p:nvSpPr>
        <p:spPr>
          <a:xfrm>
            <a:off x="7308304" y="908720"/>
            <a:ext cx="1872208" cy="400110"/>
          </a:xfrm>
          <a:prstGeom prst="rect">
            <a:avLst/>
          </a:prstGeom>
          <a:noFill/>
        </p:spPr>
        <p:txBody>
          <a:bodyPr wrap="square" rtlCol="0">
            <a:spAutoFit/>
          </a:bodyPr>
          <a:lstStyle/>
          <a:p>
            <a:r>
              <a:rPr lang="en-US" altLang="zh-CN" sz="2000" b="1" i="1" kern="1200" spc="-5" dirty="0">
                <a:solidFill>
                  <a:srgbClr val="FF0000"/>
                </a:solidFill>
                <a:latin typeface="Palatino Linotype"/>
              </a:rPr>
              <a:t>c</a:t>
            </a:r>
            <a:r>
              <a:rPr lang="en-US" altLang="zh-CN" sz="2000" b="1" kern="1200" spc="-5" dirty="0">
                <a:solidFill>
                  <a:srgbClr val="FF0000"/>
                </a:solidFill>
                <a:latin typeface="Palatino Linotype"/>
              </a:rPr>
              <a:t> </a:t>
            </a:r>
            <a:r>
              <a:rPr lang="zh-CN" altLang="en-US" sz="2000" kern="1200" dirty="0">
                <a:solidFill>
                  <a:srgbClr val="FF0000"/>
                </a:solidFill>
                <a:latin typeface="Cambria Math"/>
                <a:cs typeface="Cambria Math"/>
              </a:rPr>
              <a:t>∈</a:t>
            </a:r>
            <a:r>
              <a:rPr lang="zh-CN" altLang="en-US" sz="2000" kern="1200" dirty="0">
                <a:latin typeface="Cambria Math"/>
                <a:cs typeface="Cambria Math"/>
              </a:rPr>
              <a:t> </a:t>
            </a:r>
            <a:r>
              <a:rPr lang="en-US" altLang="zh-CN" sz="2000" b="1" kern="1200" spc="-5" dirty="0">
                <a:solidFill>
                  <a:srgbClr val="FF0000"/>
                </a:solidFill>
                <a:latin typeface="Palatino Linotype"/>
              </a:rPr>
              <a:t>FIRST(</a:t>
            </a:r>
            <a:r>
              <a:rPr lang="en-US" altLang="zh-CN" sz="2000" b="1" i="1" kern="1200" spc="-5" dirty="0">
                <a:solidFill>
                  <a:srgbClr val="FF0000"/>
                </a:solidFill>
                <a:latin typeface="Palatino Linotype"/>
              </a:rPr>
              <a:t>A</a:t>
            </a:r>
            <a:r>
              <a:rPr lang="en-US" altLang="zh-CN" sz="2000" b="1" kern="1200" spc="-5" dirty="0">
                <a:solidFill>
                  <a:srgbClr val="FF0000"/>
                </a:solidFill>
                <a:latin typeface="Palatino Linotype"/>
              </a:rPr>
              <a:t>)</a:t>
            </a:r>
            <a:endParaRPr lang="zh-CN" altLang="en-US" sz="2000" b="1" kern="1200" spc="-5" dirty="0">
              <a:solidFill>
                <a:srgbClr val="FF0000"/>
              </a:solidFill>
              <a:latin typeface="Palatino Linotype"/>
            </a:endParaRPr>
          </a:p>
        </p:txBody>
      </p:sp>
    </p:spTree>
    <p:extLst>
      <p:ext uri="{BB962C8B-B14F-4D97-AF65-F5344CB8AC3E}">
        <p14:creationId xmlns:p14="http://schemas.microsoft.com/office/powerpoint/2010/main" val="14558918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64</a:t>
            </a:fld>
            <a:endParaRPr lang="en-US"/>
          </a:p>
        </p:txBody>
      </p:sp>
      <p:sp>
        <p:nvSpPr>
          <p:cNvPr id="7" name="object 2">
            <a:extLst>
              <a:ext uri="{FF2B5EF4-FFF2-40B4-BE49-F238E27FC236}">
                <a16:creationId xmlns:a16="http://schemas.microsoft.com/office/drawing/2014/main" id="{F796AB26-382C-0ABA-A20E-88A3A8437516}"/>
              </a:ext>
            </a:extLst>
          </p:cNvPr>
          <p:cNvSpPr txBox="1">
            <a:spLocks/>
          </p:cNvSpPr>
          <p:nvPr/>
        </p:nvSpPr>
        <p:spPr>
          <a:xfrm>
            <a:off x="707390" y="524763"/>
            <a:ext cx="429704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Computing</a:t>
            </a:r>
            <a:r>
              <a:rPr kumimoji="0" lang="en-US" sz="4000" b="1" i="0" u="none" strike="noStrike" kern="0" cap="none" spc="-7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FIRST</a:t>
            </a:r>
          </a:p>
        </p:txBody>
      </p:sp>
      <p:sp>
        <p:nvSpPr>
          <p:cNvPr id="8" name="object 3">
            <a:extLst>
              <a:ext uri="{FF2B5EF4-FFF2-40B4-BE49-F238E27FC236}">
                <a16:creationId xmlns:a16="http://schemas.microsoft.com/office/drawing/2014/main" id="{8D9DD22E-96DF-DEA9-A415-93C78FF0042B}"/>
              </a:ext>
            </a:extLst>
          </p:cNvPr>
          <p:cNvSpPr txBox="1"/>
          <p:nvPr/>
        </p:nvSpPr>
        <p:spPr>
          <a:xfrm>
            <a:off x="681990" y="1657603"/>
            <a:ext cx="7731125" cy="3709670"/>
          </a:xfrm>
          <a:prstGeom prst="rect">
            <a:avLst/>
          </a:prstGeom>
        </p:spPr>
        <p:txBody>
          <a:bodyPr vert="horz" wrap="square" lIns="0" tIns="12700" rIns="0" bIns="0" rtlCol="0">
            <a:spAutoFit/>
          </a:bodyPr>
          <a:lstStyle/>
          <a:p>
            <a:pPr marL="268605" indent="-230504" rtl="0">
              <a:spcBef>
                <a:spcPts val="100"/>
              </a:spcBef>
              <a:buClr>
                <a:srgbClr val="000000"/>
              </a:buClr>
              <a:buFont typeface="Arial MT"/>
              <a:buChar char="•"/>
              <a:tabLst>
                <a:tab pos="268605" algn="l"/>
              </a:tabLst>
            </a:pPr>
            <a:r>
              <a:rPr sz="2400" b="1" kern="1200" spc="-5" dirty="0">
                <a:solidFill>
                  <a:srgbClr val="0432FF"/>
                </a:solidFill>
                <a:latin typeface="Palatino Linotype"/>
                <a:cs typeface="Palatino Linotype"/>
              </a:rPr>
              <a:t>FIRST(</a:t>
            </a:r>
            <a:r>
              <a:rPr sz="2400" kern="1200" spc="-5" dirty="0">
                <a:solidFill>
                  <a:srgbClr val="0432FF"/>
                </a:solidFill>
                <a:latin typeface="Cambria Math"/>
                <a:cs typeface="Cambria Math"/>
              </a:rPr>
              <a:t>𝑿</a:t>
            </a:r>
            <a:r>
              <a:rPr sz="2400" b="1" kern="1200" spc="-5" dirty="0">
                <a:solidFill>
                  <a:srgbClr val="0432FF"/>
                </a:solidFill>
                <a:latin typeface="Palatino Linotype"/>
                <a:cs typeface="Palatino Linotype"/>
              </a:rPr>
              <a:t>)</a:t>
            </a:r>
            <a:r>
              <a:rPr sz="2400" kern="1200" spc="-5" dirty="0">
                <a:solidFill>
                  <a:prstClr val="black"/>
                </a:solidFill>
                <a:latin typeface="Palatino Linotype"/>
                <a:cs typeface="Palatino Linotype"/>
              </a:rPr>
              <a:t>, where </a:t>
            </a:r>
            <a:r>
              <a:rPr sz="2400" kern="1200" dirty="0">
                <a:solidFill>
                  <a:prstClr val="black"/>
                </a:solidFill>
                <a:latin typeface="Cambria Math"/>
                <a:cs typeface="Cambria Math"/>
              </a:rPr>
              <a:t>𝑋</a:t>
            </a:r>
            <a:r>
              <a:rPr sz="2400" kern="1200" spc="130" dirty="0">
                <a:solidFill>
                  <a:prstClr val="black"/>
                </a:solidFill>
                <a:latin typeface="Cambria Math"/>
                <a:cs typeface="Cambria Math"/>
              </a:rPr>
              <a:t> </a:t>
            </a:r>
            <a:r>
              <a:rPr sz="2400" kern="1200" dirty="0">
                <a:solidFill>
                  <a:prstClr val="black"/>
                </a:solidFill>
                <a:latin typeface="Palatino Linotype"/>
                <a:cs typeface="Palatino Linotype"/>
              </a:rPr>
              <a:t>is</a:t>
            </a:r>
            <a:r>
              <a:rPr sz="2400" kern="1200" spc="-10" dirty="0">
                <a:solidFill>
                  <a:prstClr val="black"/>
                </a:solidFill>
                <a:latin typeface="Palatino Linotype"/>
                <a:cs typeface="Palatino Linotype"/>
              </a:rPr>
              <a:t> </a:t>
            </a:r>
            <a:r>
              <a:rPr sz="2400" kern="1200" dirty="0">
                <a:solidFill>
                  <a:prstClr val="black"/>
                </a:solidFill>
                <a:latin typeface="Palatino Linotype"/>
                <a:cs typeface="Palatino Linotype"/>
              </a:rPr>
              <a:t>a grammar</a:t>
            </a:r>
            <a:r>
              <a:rPr sz="2400" kern="1200" spc="-5" dirty="0">
                <a:solidFill>
                  <a:prstClr val="black"/>
                </a:solidFill>
                <a:latin typeface="Palatino Linotype"/>
                <a:cs typeface="Palatino Linotype"/>
              </a:rPr>
              <a:t> symbol</a:t>
            </a:r>
            <a:endParaRPr sz="2400" kern="1200" dirty="0">
              <a:solidFill>
                <a:prstClr val="black"/>
              </a:solidFill>
              <a:latin typeface="Palatino Linotype"/>
              <a:cs typeface="Palatino Linotype"/>
            </a:endParaRPr>
          </a:p>
          <a:p>
            <a:pPr rtl="0">
              <a:spcBef>
                <a:spcPts val="15"/>
              </a:spcBef>
              <a:buFont typeface="Arial MT"/>
              <a:buChar char="•"/>
            </a:pPr>
            <a:endParaRPr sz="2150" kern="1200" dirty="0">
              <a:solidFill>
                <a:prstClr val="black"/>
              </a:solidFill>
              <a:latin typeface="Palatino Linotype"/>
              <a:cs typeface="Palatino Linotype"/>
            </a:endParaRPr>
          </a:p>
          <a:p>
            <a:pPr marL="723900" lvl="1" indent="-228600" rtl="0">
              <a:spcBef>
                <a:spcPts val="5"/>
              </a:spcBef>
              <a:buFont typeface="Wingdings"/>
              <a:buChar char=""/>
              <a:tabLst>
                <a:tab pos="723900" algn="l"/>
              </a:tabLst>
            </a:pPr>
            <a:r>
              <a:rPr sz="2000" kern="1200" dirty="0">
                <a:solidFill>
                  <a:prstClr val="black"/>
                </a:solidFill>
                <a:latin typeface="Palatino Linotype"/>
                <a:cs typeface="Palatino Linotype"/>
              </a:rPr>
              <a:t>If</a:t>
            </a:r>
            <a:r>
              <a:rPr sz="2000" kern="1200" spc="-10" dirty="0">
                <a:solidFill>
                  <a:prstClr val="black"/>
                </a:solidFill>
                <a:latin typeface="Palatino Linotype"/>
                <a:cs typeface="Palatino Linotype"/>
              </a:rPr>
              <a:t> </a:t>
            </a:r>
            <a:r>
              <a:rPr sz="2000" kern="1200" dirty="0">
                <a:solidFill>
                  <a:prstClr val="black"/>
                </a:solidFill>
                <a:latin typeface="Cambria Math"/>
                <a:cs typeface="Cambria Math"/>
              </a:rPr>
              <a:t>𝑋</a:t>
            </a:r>
            <a:r>
              <a:rPr sz="2000" kern="1200" spc="105" dirty="0">
                <a:solidFill>
                  <a:prstClr val="black"/>
                </a:solidFill>
                <a:latin typeface="Cambria Math"/>
                <a:cs typeface="Cambria Math"/>
              </a:rPr>
              <a:t> </a:t>
            </a:r>
            <a:r>
              <a:rPr sz="2000" kern="1200" dirty="0">
                <a:solidFill>
                  <a:prstClr val="black"/>
                </a:solidFill>
                <a:latin typeface="Palatino Linotype"/>
                <a:cs typeface="Palatino Linotype"/>
              </a:rPr>
              <a:t>is a</a:t>
            </a:r>
            <a:r>
              <a:rPr sz="2000" kern="1200" spc="-10" dirty="0">
                <a:solidFill>
                  <a:prstClr val="black"/>
                </a:solidFill>
                <a:latin typeface="Palatino Linotype"/>
                <a:cs typeface="Palatino Linotype"/>
              </a:rPr>
              <a:t> </a:t>
            </a:r>
            <a:r>
              <a:rPr sz="2000" kern="1200" spc="-5" dirty="0">
                <a:solidFill>
                  <a:srgbClr val="FF0000"/>
                </a:solidFill>
                <a:latin typeface="Palatino Linotype"/>
                <a:cs typeface="Palatino Linotype"/>
              </a:rPr>
              <a:t>terminal</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then </a:t>
            </a:r>
            <a:r>
              <a:rPr sz="2000" kern="1200" dirty="0">
                <a:solidFill>
                  <a:prstClr val="black"/>
                </a:solidFill>
                <a:latin typeface="Palatino Linotype"/>
                <a:cs typeface="Palatino Linotype"/>
              </a:rPr>
              <a:t>FIRST(</a:t>
            </a:r>
            <a:r>
              <a:rPr sz="2000" kern="1200" dirty="0">
                <a:solidFill>
                  <a:prstClr val="black"/>
                </a:solidFill>
                <a:latin typeface="Cambria Math"/>
                <a:cs typeface="Cambria Math"/>
              </a:rPr>
              <a:t>𝑋</a:t>
            </a:r>
            <a:r>
              <a:rPr sz="2000" kern="1200" dirty="0">
                <a:solidFill>
                  <a:prstClr val="black"/>
                </a:solidFill>
                <a:latin typeface="Palatino Linotype"/>
                <a:cs typeface="Palatino Linotype"/>
              </a:rPr>
              <a:t>)</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a:t>
            </a:r>
            <a:r>
              <a:rPr sz="2000" kern="1200" spc="-5" dirty="0">
                <a:solidFill>
                  <a:prstClr val="black"/>
                </a:solidFill>
                <a:latin typeface="Palatino Linotype"/>
                <a:cs typeface="Palatino Linotype"/>
              </a:rPr>
              <a:t> </a:t>
            </a:r>
            <a:r>
              <a:rPr sz="2000" kern="1200" spc="15" dirty="0">
                <a:solidFill>
                  <a:prstClr val="black"/>
                </a:solidFill>
                <a:latin typeface="Cambria Math"/>
                <a:cs typeface="Cambria Math"/>
              </a:rPr>
              <a:t>{𝑋}</a:t>
            </a:r>
            <a:endParaRPr sz="2000" kern="1200" dirty="0">
              <a:solidFill>
                <a:prstClr val="black"/>
              </a:solidFill>
              <a:latin typeface="Cambria Math"/>
              <a:cs typeface="Cambria Math"/>
            </a:endParaRPr>
          </a:p>
          <a:p>
            <a:pPr lvl="1" rtl="0">
              <a:spcBef>
                <a:spcPts val="30"/>
              </a:spcBef>
              <a:buFont typeface="Wingdings"/>
              <a:buChar char=""/>
            </a:pPr>
            <a:endParaRPr sz="2450" kern="1200" dirty="0">
              <a:solidFill>
                <a:prstClr val="black"/>
              </a:solidFill>
              <a:latin typeface="Cambria Math"/>
              <a:cs typeface="Cambria Math"/>
            </a:endParaRPr>
          </a:p>
          <a:p>
            <a:pPr marL="723900" lvl="1" indent="-228600" rtl="0">
              <a:buFont typeface="Wingdings"/>
              <a:buChar char=""/>
              <a:tabLst>
                <a:tab pos="723900" algn="l"/>
              </a:tabLst>
            </a:pPr>
            <a:r>
              <a:rPr sz="2000" kern="1200" dirty="0">
                <a:solidFill>
                  <a:prstClr val="black"/>
                </a:solidFill>
                <a:latin typeface="Palatino Linotype"/>
                <a:cs typeface="Palatino Linotype"/>
              </a:rPr>
              <a:t>If</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𝑋</a:t>
            </a:r>
            <a:r>
              <a:rPr sz="2000" kern="1200" spc="105" dirty="0">
                <a:solidFill>
                  <a:prstClr val="black"/>
                </a:solidFill>
                <a:latin typeface="Cambria Math"/>
                <a:cs typeface="Cambria Math"/>
              </a:rPr>
              <a:t> </a:t>
            </a:r>
            <a:r>
              <a:rPr sz="2000" kern="1200" spc="5" dirty="0">
                <a:solidFill>
                  <a:prstClr val="black"/>
                </a:solidFill>
                <a:latin typeface="Palatino Linotype"/>
                <a:cs typeface="Palatino Linotype"/>
              </a:rPr>
              <a:t>i</a:t>
            </a:r>
            <a:r>
              <a:rPr sz="2000" kern="1200" dirty="0">
                <a:solidFill>
                  <a:prstClr val="black"/>
                </a:solidFill>
                <a:latin typeface="Palatino Linotype"/>
                <a:cs typeface="Palatino Linotype"/>
              </a:rPr>
              <a:t>s a</a:t>
            </a:r>
            <a:r>
              <a:rPr sz="2000" kern="1200" spc="-5" dirty="0">
                <a:solidFill>
                  <a:prstClr val="black"/>
                </a:solidFill>
                <a:latin typeface="Palatino Linotype"/>
                <a:cs typeface="Palatino Linotype"/>
              </a:rPr>
              <a:t> </a:t>
            </a:r>
            <a:r>
              <a:rPr sz="2000" kern="1200" spc="-5" dirty="0">
                <a:solidFill>
                  <a:srgbClr val="FF0000"/>
                </a:solidFill>
                <a:latin typeface="Palatino Linotype"/>
                <a:cs typeface="Palatino Linotype"/>
              </a:rPr>
              <a:t>nont</a:t>
            </a:r>
            <a:r>
              <a:rPr sz="2000" kern="1200" dirty="0">
                <a:solidFill>
                  <a:srgbClr val="FF0000"/>
                </a:solidFill>
                <a:latin typeface="Palatino Linotype"/>
                <a:cs typeface="Palatino Linotype"/>
              </a:rPr>
              <a:t>e</a:t>
            </a:r>
            <a:r>
              <a:rPr sz="2000" kern="1200" spc="-5" dirty="0">
                <a:solidFill>
                  <a:srgbClr val="FF0000"/>
                </a:solidFill>
                <a:latin typeface="Palatino Linotype"/>
                <a:cs typeface="Palatino Linotype"/>
              </a:rPr>
              <a:t>rm</a:t>
            </a:r>
            <a:r>
              <a:rPr sz="2000" kern="1200" spc="5" dirty="0">
                <a:solidFill>
                  <a:srgbClr val="FF0000"/>
                </a:solidFill>
                <a:latin typeface="Palatino Linotype"/>
                <a:cs typeface="Palatino Linotype"/>
              </a:rPr>
              <a:t>i</a:t>
            </a:r>
            <a:r>
              <a:rPr sz="2000" kern="1200" spc="-5" dirty="0">
                <a:solidFill>
                  <a:srgbClr val="FF0000"/>
                </a:solidFill>
                <a:latin typeface="Palatino Linotype"/>
                <a:cs typeface="Palatino Linotype"/>
              </a:rPr>
              <a:t>n</a:t>
            </a:r>
            <a:r>
              <a:rPr sz="2000" kern="1200" dirty="0">
                <a:solidFill>
                  <a:srgbClr val="FF0000"/>
                </a:solidFill>
                <a:latin typeface="Palatino Linotype"/>
                <a:cs typeface="Palatino Linotype"/>
              </a:rPr>
              <a:t>al </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n</a:t>
            </a:r>
            <a:r>
              <a:rPr sz="2000" kern="1200" dirty="0">
                <a:solidFill>
                  <a:prstClr val="black"/>
                </a:solidFill>
                <a:latin typeface="Palatino Linotype"/>
                <a:cs typeface="Palatino Linotype"/>
              </a:rPr>
              <a:t>d </a:t>
            </a:r>
            <a:r>
              <a:rPr sz="2000" kern="1200" dirty="0">
                <a:solidFill>
                  <a:prstClr val="black"/>
                </a:solidFill>
                <a:latin typeface="Cambria Math"/>
                <a:cs typeface="Cambria Math"/>
              </a:rPr>
              <a:t>𝑋</a:t>
            </a:r>
            <a:r>
              <a:rPr sz="2000" kern="1200" spc="16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spc="-380" dirty="0">
                <a:solidFill>
                  <a:prstClr val="black"/>
                </a:solidFill>
                <a:latin typeface="Cambria Math"/>
                <a:cs typeface="Cambria Math"/>
              </a:rPr>
              <a:t>𝑌</a:t>
            </a:r>
            <a:r>
              <a:rPr sz="2250" kern="1200" spc="150" baseline="-14814" dirty="0">
                <a:solidFill>
                  <a:prstClr val="black"/>
                </a:solidFill>
                <a:latin typeface="Cambria Math"/>
                <a:cs typeface="Cambria Math"/>
              </a:rPr>
              <a:t>1</a:t>
            </a:r>
            <a:r>
              <a:rPr sz="2000" kern="1200" spc="-335" dirty="0">
                <a:solidFill>
                  <a:prstClr val="black"/>
                </a:solidFill>
                <a:latin typeface="Cambria Math"/>
                <a:cs typeface="Cambria Math"/>
              </a:rPr>
              <a:t>𝑌</a:t>
            </a:r>
            <a:r>
              <a:rPr lang="en-US" altLang="zh-CN" sz="2250" kern="1200" spc="-247" baseline="-14814" dirty="0">
                <a:solidFill>
                  <a:prstClr val="black"/>
                </a:solidFill>
                <a:latin typeface="Cambria Math"/>
                <a:cs typeface="Cambria Math"/>
              </a:rPr>
              <a:t>2</a:t>
            </a:r>
            <a:r>
              <a:rPr sz="2250" kern="1200" spc="97" baseline="-14814"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4" dirty="0">
                <a:solidFill>
                  <a:prstClr val="black"/>
                </a:solidFill>
                <a:latin typeface="Cambria Math"/>
                <a:cs typeface="Cambria Math"/>
              </a:rPr>
              <a:t> </a:t>
            </a:r>
            <a:r>
              <a:rPr sz="2000" kern="1200" spc="-335" dirty="0">
                <a:solidFill>
                  <a:prstClr val="black"/>
                </a:solidFill>
                <a:latin typeface="Cambria Math"/>
                <a:cs typeface="Cambria Math"/>
              </a:rPr>
              <a:t>𝑌</a:t>
            </a:r>
            <a:r>
              <a:rPr sz="2250" kern="1200" spc="209" baseline="-14814" dirty="0">
                <a:solidFill>
                  <a:prstClr val="black"/>
                </a:solidFill>
                <a:latin typeface="Cambria Math"/>
                <a:cs typeface="Cambria Math"/>
              </a:rPr>
              <a:t>𝑘</a:t>
            </a:r>
            <a:r>
              <a:rPr sz="2250" kern="1200" baseline="-14814" dirty="0">
                <a:solidFill>
                  <a:prstClr val="black"/>
                </a:solidFill>
                <a:latin typeface="Cambria Math"/>
                <a:cs typeface="Cambria Math"/>
              </a:rPr>
              <a:t> </a:t>
            </a:r>
            <a:r>
              <a:rPr sz="2250" kern="1200" spc="-82" baseline="-14814" dirty="0">
                <a:solidFill>
                  <a:prstClr val="black"/>
                </a:solidFill>
                <a:latin typeface="Cambria Math"/>
                <a:cs typeface="Cambria Math"/>
              </a:rPr>
              <a:t> </a:t>
            </a:r>
            <a:r>
              <a:rPr sz="2000" kern="1200" spc="-5" dirty="0">
                <a:solidFill>
                  <a:prstClr val="black"/>
                </a:solidFill>
                <a:latin typeface="Palatino Linotype"/>
                <a:cs typeface="Palatino Linotype"/>
              </a:rPr>
              <a:t>(</a:t>
            </a:r>
            <a:r>
              <a:rPr sz="2000" kern="1200" dirty="0">
                <a:solidFill>
                  <a:prstClr val="black"/>
                </a:solidFill>
                <a:latin typeface="Cambria Math"/>
                <a:cs typeface="Cambria Math"/>
              </a:rPr>
              <a:t>𝑘</a:t>
            </a:r>
            <a:r>
              <a:rPr sz="2000" kern="1200" spc="17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4" dirty="0">
                <a:solidFill>
                  <a:prstClr val="black"/>
                </a:solidFill>
                <a:latin typeface="Cambria Math"/>
                <a:cs typeface="Cambria Math"/>
              </a:rPr>
              <a:t> </a:t>
            </a:r>
            <a:r>
              <a:rPr sz="2000" kern="1200" spc="5" dirty="0">
                <a:solidFill>
                  <a:prstClr val="black"/>
                </a:solidFill>
                <a:latin typeface="Cambria Math"/>
                <a:cs typeface="Cambria Math"/>
              </a:rPr>
              <a:t>1</a:t>
            </a:r>
            <a:r>
              <a:rPr sz="2000" kern="1200" dirty="0">
                <a:solidFill>
                  <a:prstClr val="black"/>
                </a:solidFill>
                <a:latin typeface="Palatino Linotype"/>
                <a:cs typeface="Palatino Linotype"/>
              </a:rPr>
              <a:t>)</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i</a:t>
            </a:r>
            <a:r>
              <a:rPr sz="2000" kern="1200" dirty="0">
                <a:solidFill>
                  <a:prstClr val="black"/>
                </a:solidFill>
                <a:latin typeface="Palatino Linotype"/>
                <a:cs typeface="Palatino Linotype"/>
              </a:rPr>
              <a:t>s a </a:t>
            </a:r>
            <a:r>
              <a:rPr sz="2000" kern="1200" spc="-5" dirty="0">
                <a:solidFill>
                  <a:prstClr val="black"/>
                </a:solidFill>
                <a:latin typeface="Palatino Linotype"/>
                <a:cs typeface="Palatino Linotype"/>
              </a:rPr>
              <a:t>pro</a:t>
            </a:r>
            <a:r>
              <a:rPr sz="2000" kern="1200" dirty="0">
                <a:solidFill>
                  <a:prstClr val="black"/>
                </a:solidFill>
                <a:latin typeface="Palatino Linotype"/>
                <a:cs typeface="Palatino Linotype"/>
              </a:rPr>
              <a:t>d</a:t>
            </a:r>
            <a:r>
              <a:rPr sz="2000" kern="1200" spc="-10" dirty="0">
                <a:solidFill>
                  <a:prstClr val="black"/>
                </a:solidFill>
                <a:latin typeface="Palatino Linotype"/>
                <a:cs typeface="Palatino Linotype"/>
              </a:rPr>
              <a:t>u</a:t>
            </a:r>
            <a:r>
              <a:rPr sz="2000" kern="1200" spc="-5" dirty="0">
                <a:solidFill>
                  <a:prstClr val="black"/>
                </a:solidFill>
                <a:latin typeface="Palatino Linotype"/>
                <a:cs typeface="Palatino Linotype"/>
              </a:rPr>
              <a:t>ct</a:t>
            </a:r>
            <a:r>
              <a:rPr sz="2000" kern="1200" spc="5" dirty="0">
                <a:solidFill>
                  <a:prstClr val="black"/>
                </a:solidFill>
                <a:latin typeface="Palatino Linotype"/>
                <a:cs typeface="Palatino Linotype"/>
              </a:rPr>
              <a:t>i</a:t>
            </a:r>
            <a:r>
              <a:rPr sz="2000" kern="1200" spc="-5" dirty="0">
                <a:solidFill>
                  <a:prstClr val="black"/>
                </a:solidFill>
                <a:latin typeface="Palatino Linotype"/>
                <a:cs typeface="Palatino Linotype"/>
              </a:rPr>
              <a:t>o</a:t>
            </a:r>
            <a:r>
              <a:rPr sz="2000" kern="1200" dirty="0">
                <a:solidFill>
                  <a:prstClr val="black"/>
                </a:solidFill>
                <a:latin typeface="Palatino Linotype"/>
                <a:cs typeface="Palatino Linotype"/>
              </a:rPr>
              <a:t>n</a:t>
            </a:r>
          </a:p>
          <a:p>
            <a:pPr marL="1180465" marR="498475" lvl="2" indent="-228600" rtl="0">
              <a:lnSpc>
                <a:spcPct val="120000"/>
              </a:lnSpc>
              <a:spcBef>
                <a:spcPts val="1280"/>
              </a:spcBef>
              <a:buFont typeface="Courier New"/>
              <a:buChar char="o"/>
              <a:tabLst>
                <a:tab pos="1181100" algn="l"/>
              </a:tabLst>
            </a:pPr>
            <a:r>
              <a:rPr kern="1200" dirty="0">
                <a:solidFill>
                  <a:prstClr val="black"/>
                </a:solidFill>
                <a:latin typeface="Palatino Linotype"/>
                <a:cs typeface="Palatino Linotype"/>
              </a:rPr>
              <a:t>If</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for </a:t>
            </a:r>
            <a:r>
              <a:rPr kern="1200" spc="-5" dirty="0">
                <a:solidFill>
                  <a:prstClr val="black"/>
                </a:solidFill>
                <a:latin typeface="Palatino Linotype"/>
                <a:cs typeface="Palatino Linotype"/>
              </a:rPr>
              <a:t>some </a:t>
            </a:r>
            <a:r>
              <a:rPr kern="1200" spc="30" dirty="0">
                <a:solidFill>
                  <a:prstClr val="black"/>
                </a:solidFill>
                <a:latin typeface="Cambria Math"/>
                <a:cs typeface="Cambria Math"/>
              </a:rPr>
              <a:t>𝑖</a:t>
            </a:r>
            <a:r>
              <a:rPr kern="1200" spc="30" dirty="0">
                <a:solidFill>
                  <a:prstClr val="black"/>
                </a:solidFill>
                <a:latin typeface="Palatino Linotype"/>
                <a:cs typeface="Palatino Linotype"/>
              </a:rPr>
              <a:t>,</a:t>
            </a:r>
            <a:r>
              <a:rPr kern="1200" dirty="0">
                <a:solidFill>
                  <a:prstClr val="black"/>
                </a:solidFill>
                <a:latin typeface="Palatino Linotype"/>
                <a:cs typeface="Palatino Linotype"/>
              </a:rPr>
              <a:t> </a:t>
            </a:r>
            <a:r>
              <a:rPr kern="1200" dirty="0">
                <a:solidFill>
                  <a:srgbClr val="FF0000"/>
                </a:solidFill>
                <a:latin typeface="Cambria Math"/>
                <a:cs typeface="Cambria Math"/>
              </a:rPr>
              <a:t>𝑎</a:t>
            </a:r>
            <a:r>
              <a:rPr kern="1200" spc="90" dirty="0">
                <a:solidFill>
                  <a:srgbClr val="FF0000"/>
                </a:solidFill>
                <a:latin typeface="Cambria Math"/>
                <a:cs typeface="Cambria Math"/>
              </a:rPr>
              <a:t> </a:t>
            </a:r>
            <a:r>
              <a:rPr kern="1200"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in </a:t>
            </a:r>
            <a:r>
              <a:rPr kern="1200" spc="-10" dirty="0">
                <a:solidFill>
                  <a:prstClr val="black"/>
                </a:solidFill>
                <a:latin typeface="Palatino Linotype"/>
                <a:cs typeface="Palatino Linotype"/>
              </a:rPr>
              <a:t>FIRST(</a:t>
            </a:r>
            <a:r>
              <a:rPr kern="1200" spc="-10" dirty="0">
                <a:solidFill>
                  <a:prstClr val="black"/>
                </a:solidFill>
                <a:latin typeface="Cambria Math"/>
                <a:cs typeface="Cambria Math"/>
              </a:rPr>
              <a:t>𝑌</a:t>
            </a:r>
            <a:r>
              <a:rPr sz="1950" kern="1200" spc="-15" baseline="-14957" dirty="0">
                <a:solidFill>
                  <a:prstClr val="black"/>
                </a:solidFill>
                <a:latin typeface="Cambria Math"/>
                <a:cs typeface="Cambria Math"/>
              </a:rPr>
              <a:t>i</a:t>
            </a:r>
            <a:r>
              <a:rPr kern="1200" spc="-10" dirty="0">
                <a:solidFill>
                  <a:prstClr val="black"/>
                </a:solidFill>
                <a:latin typeface="Palatino Linotype"/>
                <a:cs typeface="Palatino Linotype"/>
              </a:rPr>
              <a:t>)</a:t>
            </a:r>
            <a:r>
              <a:rPr kern="1200" dirty="0">
                <a:solidFill>
                  <a:prstClr val="black"/>
                </a:solidFill>
                <a:latin typeface="Palatino Linotype"/>
                <a:cs typeface="Palatino Linotype"/>
              </a:rPr>
              <a:t> and</a:t>
            </a:r>
            <a:r>
              <a:rPr kern="1200" spc="-5" dirty="0">
                <a:solidFill>
                  <a:prstClr val="black"/>
                </a:solidFill>
                <a:latin typeface="Palatino Linotype"/>
                <a:cs typeface="Palatino Linotype"/>
              </a:rPr>
              <a:t> </a:t>
            </a:r>
            <a:r>
              <a:rPr kern="1200" dirty="0">
                <a:solidFill>
                  <a:srgbClr val="FF0000"/>
                </a:solidFill>
                <a:latin typeface="Cambria Math"/>
                <a:cs typeface="Cambria Math"/>
              </a:rPr>
              <a:t>𝜖</a:t>
            </a:r>
            <a:r>
              <a:rPr kern="1200" spc="110" dirty="0">
                <a:solidFill>
                  <a:srgbClr val="FF0000"/>
                </a:solidFill>
                <a:latin typeface="Cambria Math"/>
                <a:cs typeface="Cambria Math"/>
              </a:rPr>
              <a:t> </a:t>
            </a:r>
            <a:r>
              <a:rPr kern="1200" dirty="0">
                <a:solidFill>
                  <a:prstClr val="black"/>
                </a:solidFill>
                <a:latin typeface="Palatino Linotype"/>
                <a:cs typeface="Palatino Linotype"/>
              </a:rPr>
              <a:t>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all of </a:t>
            </a:r>
            <a:r>
              <a:rPr kern="1200" spc="-45" dirty="0">
                <a:solidFill>
                  <a:prstClr val="black"/>
                </a:solidFill>
                <a:latin typeface="Palatino Linotype"/>
                <a:cs typeface="Palatino Linotype"/>
              </a:rPr>
              <a:t>FIRST(</a:t>
            </a:r>
            <a:r>
              <a:rPr kern="1200" spc="-45" dirty="0">
                <a:solidFill>
                  <a:prstClr val="black"/>
                </a:solidFill>
                <a:latin typeface="Cambria Math"/>
                <a:cs typeface="Cambria Math"/>
              </a:rPr>
              <a:t>𝑌</a:t>
            </a:r>
            <a:r>
              <a:rPr lang="en-US" altLang="zh-CN" sz="1950" kern="1200" spc="-67" baseline="-14957" dirty="0">
                <a:solidFill>
                  <a:prstClr val="black"/>
                </a:solidFill>
                <a:latin typeface="Cambria Math"/>
                <a:cs typeface="Cambria Math"/>
              </a:rPr>
              <a:t>1</a:t>
            </a:r>
            <a:r>
              <a:rPr kern="1200" spc="-45"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 </a:t>
            </a:r>
            <a:r>
              <a:rPr kern="1200" spc="-434" dirty="0">
                <a:solidFill>
                  <a:prstClr val="black"/>
                </a:solidFill>
                <a:latin typeface="Palatino Linotype"/>
                <a:cs typeface="Palatino Linotype"/>
              </a:rPr>
              <a:t> </a:t>
            </a:r>
            <a:r>
              <a:rPr kern="1200" spc="30" dirty="0">
                <a:solidFill>
                  <a:prstClr val="black"/>
                </a:solidFill>
                <a:latin typeface="Palatino Linotype"/>
                <a:cs typeface="Palatino Linotype"/>
              </a:rPr>
              <a:t>FIRST(</a:t>
            </a:r>
            <a:r>
              <a:rPr kern="1200" spc="30" dirty="0">
                <a:solidFill>
                  <a:prstClr val="black"/>
                </a:solidFill>
                <a:latin typeface="Cambria Math"/>
                <a:cs typeface="Cambria Math"/>
              </a:rPr>
              <a:t>𝑌</a:t>
            </a:r>
            <a:r>
              <a:rPr sz="1950" kern="1200" spc="44" baseline="-14957" dirty="0">
                <a:solidFill>
                  <a:prstClr val="black"/>
                </a:solidFill>
                <a:latin typeface="Cambria Math"/>
                <a:cs typeface="Cambria Math"/>
              </a:rPr>
              <a:t>i</a:t>
            </a:r>
            <a:r>
              <a:rPr lang="en-US" altLang="zh-CN" sz="1950" kern="1200" spc="44" baseline="-14957" dirty="0">
                <a:solidFill>
                  <a:prstClr val="black"/>
                </a:solidFill>
                <a:latin typeface="Cambria Math"/>
                <a:cs typeface="Cambria Math"/>
              </a:rPr>
              <a:t>-1</a:t>
            </a:r>
            <a:r>
              <a:rPr kern="1200" spc="30"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then add </a:t>
            </a:r>
            <a:r>
              <a:rPr kern="1200" dirty="0">
                <a:solidFill>
                  <a:srgbClr val="FF0000"/>
                </a:solidFill>
                <a:latin typeface="Cambria Math"/>
                <a:cs typeface="Cambria Math"/>
              </a:rPr>
              <a:t>𝑎</a:t>
            </a:r>
            <a:r>
              <a:rPr kern="1200" spc="90" dirty="0">
                <a:solidFill>
                  <a:srgbClr val="FF0000"/>
                </a:solidFill>
                <a:latin typeface="Cambria Math"/>
                <a:cs typeface="Cambria Math"/>
              </a:rPr>
              <a:t> </a:t>
            </a:r>
            <a:r>
              <a:rPr kern="1200" dirty="0">
                <a:solidFill>
                  <a:prstClr val="black"/>
                </a:solidFill>
                <a:latin typeface="Palatino Linotype"/>
                <a:cs typeface="Palatino Linotype"/>
              </a:rPr>
              <a:t>to </a:t>
            </a:r>
            <a:r>
              <a:rPr kern="1200" spc="5" dirty="0">
                <a:solidFill>
                  <a:prstClr val="black"/>
                </a:solidFill>
                <a:latin typeface="Palatino Linotype"/>
                <a:cs typeface="Palatino Linotype"/>
              </a:rPr>
              <a:t>FIRST(</a:t>
            </a:r>
            <a:r>
              <a:rPr kern="1200" spc="5" dirty="0">
                <a:solidFill>
                  <a:prstClr val="black"/>
                </a:solidFill>
                <a:latin typeface="Cambria Math"/>
                <a:cs typeface="Cambria Math"/>
              </a:rPr>
              <a:t>𝑋</a:t>
            </a:r>
            <a:r>
              <a:rPr kern="1200" spc="5" dirty="0">
                <a:solidFill>
                  <a:prstClr val="black"/>
                </a:solidFill>
                <a:latin typeface="Palatino Linotype"/>
                <a:cs typeface="Palatino Linotype"/>
              </a:rPr>
              <a:t>)</a:t>
            </a:r>
            <a:endParaRPr kern="1200" dirty="0">
              <a:solidFill>
                <a:prstClr val="black"/>
              </a:solidFill>
              <a:latin typeface="Palatino Linotype"/>
              <a:cs typeface="Palatino Linotype"/>
            </a:endParaRPr>
          </a:p>
          <a:p>
            <a:pPr marL="1181100" lvl="2" indent="-229235" rtl="0">
              <a:spcBef>
                <a:spcPts val="1535"/>
              </a:spcBef>
              <a:buFont typeface="Courier New"/>
              <a:buChar char="o"/>
              <a:tabLst>
                <a:tab pos="1181100" algn="l"/>
              </a:tabLst>
            </a:pPr>
            <a:r>
              <a:rPr kern="1200" dirty="0">
                <a:solidFill>
                  <a:prstClr val="black"/>
                </a:solidFill>
                <a:latin typeface="Palatino Linotype"/>
                <a:cs typeface="Palatino Linotype"/>
              </a:rPr>
              <a:t>If</a:t>
            </a:r>
            <a:r>
              <a:rPr kern="1200" spc="-5" dirty="0">
                <a:solidFill>
                  <a:prstClr val="black"/>
                </a:solidFill>
                <a:latin typeface="Palatino Linotype"/>
                <a:cs typeface="Palatino Linotype"/>
              </a:rPr>
              <a:t> </a:t>
            </a:r>
            <a:r>
              <a:rPr kern="1200" dirty="0">
                <a:solidFill>
                  <a:srgbClr val="FF0000"/>
                </a:solidFill>
                <a:latin typeface="Cambria Math"/>
                <a:cs typeface="Cambria Math"/>
              </a:rPr>
              <a:t>𝜖</a:t>
            </a:r>
            <a:r>
              <a:rPr kern="1200" spc="60" dirty="0">
                <a:solidFill>
                  <a:srgbClr val="FF0000"/>
                </a:solidFill>
                <a:latin typeface="Cambria Math"/>
                <a:cs typeface="Cambria Math"/>
              </a:rPr>
              <a:t> </a:t>
            </a:r>
            <a:r>
              <a:rPr kern="1200" dirty="0">
                <a:solidFill>
                  <a:prstClr val="black"/>
                </a:solidFill>
                <a:latin typeface="Palatino Linotype"/>
                <a:cs typeface="Palatino Linotype"/>
              </a:rPr>
              <a:t>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 all of </a:t>
            </a:r>
            <a:r>
              <a:rPr kern="1200" spc="-45" dirty="0">
                <a:solidFill>
                  <a:prstClr val="black"/>
                </a:solidFill>
                <a:latin typeface="Palatino Linotype"/>
                <a:cs typeface="Palatino Linotype"/>
              </a:rPr>
              <a:t>FIRST(</a:t>
            </a:r>
            <a:r>
              <a:rPr kern="1200" spc="-45" dirty="0">
                <a:solidFill>
                  <a:prstClr val="black"/>
                </a:solidFill>
                <a:latin typeface="Cambria Math"/>
                <a:cs typeface="Cambria Math"/>
              </a:rPr>
              <a:t>𝑌</a:t>
            </a:r>
            <a:r>
              <a:rPr lang="en-US" altLang="zh-CN" sz="1950" kern="1200" spc="-67" baseline="-14957" dirty="0">
                <a:solidFill>
                  <a:prstClr val="black"/>
                </a:solidFill>
                <a:latin typeface="Cambria Math"/>
                <a:cs typeface="Cambria Math"/>
              </a:rPr>
              <a:t>1</a:t>
            </a:r>
            <a:r>
              <a:rPr kern="1200" spc="-45" dirty="0">
                <a:solidFill>
                  <a:prstClr val="black"/>
                </a:solidFill>
                <a:latin typeface="Palatino Linotype"/>
                <a:cs typeface="Palatino Linotype"/>
              </a:rPr>
              <a:t>),</a:t>
            </a:r>
            <a:r>
              <a:rPr kern="1200" dirty="0">
                <a:solidFill>
                  <a:prstClr val="black"/>
                </a:solidFill>
                <a:latin typeface="Palatino Linotype"/>
                <a:cs typeface="Palatino Linotype"/>
              </a:rPr>
              <a:t> …, </a:t>
            </a:r>
            <a:r>
              <a:rPr kern="1200" spc="-15" dirty="0">
                <a:solidFill>
                  <a:prstClr val="black"/>
                </a:solidFill>
                <a:latin typeface="Palatino Linotype"/>
                <a:cs typeface="Palatino Linotype"/>
              </a:rPr>
              <a:t>FIRST(</a:t>
            </a:r>
            <a:r>
              <a:rPr kern="1200" spc="-15" dirty="0">
                <a:solidFill>
                  <a:prstClr val="black"/>
                </a:solidFill>
                <a:latin typeface="Cambria Math"/>
                <a:cs typeface="Cambria Math"/>
              </a:rPr>
              <a:t>𝑌</a:t>
            </a:r>
            <a:r>
              <a:rPr sz="1950" kern="1200" spc="-22" baseline="-14957" dirty="0">
                <a:solidFill>
                  <a:prstClr val="black"/>
                </a:solidFill>
                <a:latin typeface="Cambria Math"/>
                <a:cs typeface="Cambria Math"/>
              </a:rPr>
              <a:t>𝑘</a:t>
            </a:r>
            <a:r>
              <a:rPr kern="1200" spc="-15" dirty="0">
                <a:solidFill>
                  <a:prstClr val="black"/>
                </a:solidFill>
                <a:latin typeface="Palatino Linotype"/>
                <a:cs typeface="Palatino Linotype"/>
              </a:rPr>
              <a:t>),</a:t>
            </a:r>
            <a:r>
              <a:rPr kern="1200" dirty="0">
                <a:solidFill>
                  <a:prstClr val="black"/>
                </a:solidFill>
                <a:latin typeface="Palatino Linotype"/>
                <a:cs typeface="Palatino Linotype"/>
              </a:rPr>
              <a:t> then add </a:t>
            </a:r>
            <a:r>
              <a:rPr kern="1200" dirty="0">
                <a:solidFill>
                  <a:srgbClr val="FF0000"/>
                </a:solidFill>
                <a:latin typeface="Cambria Math"/>
                <a:cs typeface="Cambria Math"/>
              </a:rPr>
              <a:t>𝜖</a:t>
            </a:r>
            <a:r>
              <a:rPr kern="1200" spc="110" dirty="0">
                <a:solidFill>
                  <a:srgbClr val="FF0000"/>
                </a:solidFill>
                <a:latin typeface="Cambria Math"/>
                <a:cs typeface="Cambria Math"/>
              </a:rPr>
              <a:t> </a:t>
            </a:r>
            <a:r>
              <a:rPr kern="1200" dirty="0">
                <a:solidFill>
                  <a:prstClr val="black"/>
                </a:solidFill>
                <a:latin typeface="Palatino Linotype"/>
                <a:cs typeface="Palatino Linotype"/>
              </a:rPr>
              <a:t>to </a:t>
            </a:r>
            <a:r>
              <a:rPr kern="1200" spc="5" dirty="0">
                <a:solidFill>
                  <a:prstClr val="black"/>
                </a:solidFill>
                <a:latin typeface="Palatino Linotype"/>
                <a:cs typeface="Palatino Linotype"/>
              </a:rPr>
              <a:t>FIRST(</a:t>
            </a:r>
            <a:r>
              <a:rPr kern="1200" spc="5" dirty="0">
                <a:solidFill>
                  <a:prstClr val="black"/>
                </a:solidFill>
                <a:latin typeface="Cambria Math"/>
                <a:cs typeface="Cambria Math"/>
              </a:rPr>
              <a:t>𝑋</a:t>
            </a:r>
            <a:r>
              <a:rPr kern="1200" spc="5" dirty="0">
                <a:solidFill>
                  <a:prstClr val="black"/>
                </a:solidFill>
                <a:latin typeface="Palatino Linotype"/>
                <a:cs typeface="Palatino Linotype"/>
              </a:rPr>
              <a:t>)</a:t>
            </a:r>
            <a:endParaRPr kern="1200" dirty="0">
              <a:solidFill>
                <a:prstClr val="black"/>
              </a:solidFill>
              <a:latin typeface="Palatino Linotype"/>
              <a:cs typeface="Palatino Linotype"/>
            </a:endParaRPr>
          </a:p>
          <a:p>
            <a:pPr lvl="2" rtl="0">
              <a:spcBef>
                <a:spcPts val="45"/>
              </a:spcBef>
              <a:buFont typeface="Courier New"/>
              <a:buChar char="o"/>
            </a:pPr>
            <a:endParaRPr sz="2150" kern="1200" dirty="0">
              <a:solidFill>
                <a:prstClr val="black"/>
              </a:solidFill>
              <a:latin typeface="Palatino Linotype"/>
              <a:cs typeface="Palatino Linotype"/>
            </a:endParaRPr>
          </a:p>
          <a:p>
            <a:pPr marL="723900" lvl="1" indent="-228600" rtl="0">
              <a:buFont typeface="Wingdings"/>
              <a:buChar char=""/>
              <a:tabLst>
                <a:tab pos="723900" algn="l"/>
              </a:tabLst>
            </a:pPr>
            <a:r>
              <a:rPr sz="2000" kern="1200" dirty="0">
                <a:solidFill>
                  <a:prstClr val="black"/>
                </a:solidFill>
                <a:latin typeface="Palatino Linotype"/>
                <a:cs typeface="Palatino Linotype"/>
              </a:rPr>
              <a:t>If</a:t>
            </a:r>
            <a:r>
              <a:rPr sz="2000" kern="1200" spc="-10" dirty="0">
                <a:solidFill>
                  <a:prstClr val="black"/>
                </a:solidFill>
                <a:latin typeface="Palatino Linotype"/>
                <a:cs typeface="Palatino Linotype"/>
              </a:rPr>
              <a:t> </a:t>
            </a:r>
            <a:r>
              <a:rPr sz="2000" kern="1200" dirty="0">
                <a:solidFill>
                  <a:prstClr val="black"/>
                </a:solidFill>
                <a:latin typeface="Cambria Math"/>
                <a:cs typeface="Cambria Math"/>
              </a:rPr>
              <a:t>𝑋</a:t>
            </a:r>
            <a:r>
              <a:rPr sz="2000" kern="1200" spc="105" dirty="0">
                <a:solidFill>
                  <a:prstClr val="black"/>
                </a:solidFill>
                <a:latin typeface="Cambria Math"/>
                <a:cs typeface="Cambria Math"/>
              </a:rPr>
              <a:t> </a:t>
            </a:r>
            <a:r>
              <a:rPr sz="2000" kern="1200" dirty="0">
                <a:solidFill>
                  <a:prstClr val="black"/>
                </a:solidFill>
                <a:latin typeface="Palatino Linotype"/>
                <a:cs typeface="Palatino Linotype"/>
              </a:rPr>
              <a:t>is a</a:t>
            </a:r>
            <a:r>
              <a:rPr sz="2000" kern="1200" spc="-5" dirty="0">
                <a:solidFill>
                  <a:prstClr val="black"/>
                </a:solidFill>
                <a:latin typeface="Palatino Linotype"/>
                <a:cs typeface="Palatino Linotype"/>
              </a:rPr>
              <a:t> </a:t>
            </a:r>
            <a:r>
              <a:rPr sz="2000" kern="1200" spc="-5" dirty="0">
                <a:solidFill>
                  <a:srgbClr val="FF0000"/>
                </a:solidFill>
                <a:latin typeface="Palatino Linotype"/>
                <a:cs typeface="Palatino Linotype"/>
              </a:rPr>
              <a:t>nonterminal</a:t>
            </a:r>
            <a:r>
              <a:rPr sz="2000" kern="1200" dirty="0">
                <a:solidFill>
                  <a:srgbClr val="FF0000"/>
                </a:solidFill>
                <a:latin typeface="Palatino Linotype"/>
                <a:cs typeface="Palatino Linotype"/>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dirty="0">
                <a:solidFill>
                  <a:srgbClr val="FF0000"/>
                </a:solidFill>
                <a:latin typeface="Cambria Math"/>
                <a:cs typeface="Cambria Math"/>
              </a:rPr>
              <a:t>𝑋</a:t>
            </a:r>
            <a:r>
              <a:rPr sz="2000" kern="1200" spc="160"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10" dirty="0">
                <a:solidFill>
                  <a:srgbClr val="FF0000"/>
                </a:solidFill>
                <a:latin typeface="Cambria Math"/>
                <a:cs typeface="Cambria Math"/>
              </a:rPr>
              <a:t> </a:t>
            </a:r>
            <a:r>
              <a:rPr sz="2000" kern="1200" spc="25" dirty="0">
                <a:solidFill>
                  <a:srgbClr val="FF0000"/>
                </a:solidFill>
                <a:latin typeface="Cambria Math"/>
                <a:cs typeface="Cambria Math"/>
              </a:rPr>
              <a:t>𝜖</a:t>
            </a:r>
            <a:r>
              <a:rPr sz="2000" kern="1200" spc="2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then </a:t>
            </a:r>
            <a:r>
              <a:rPr sz="2000" kern="1200" dirty="0">
                <a:solidFill>
                  <a:prstClr val="black"/>
                </a:solidFill>
                <a:latin typeface="Palatino Linotype"/>
                <a:cs typeface="Palatino Linotype"/>
              </a:rPr>
              <a:t>add </a:t>
            </a:r>
            <a:r>
              <a:rPr sz="2000" kern="1200" dirty="0">
                <a:solidFill>
                  <a:srgbClr val="FF0000"/>
                </a:solidFill>
                <a:latin typeface="Cambria Math"/>
                <a:cs typeface="Cambria Math"/>
              </a:rPr>
              <a:t>𝜖</a:t>
            </a:r>
            <a:r>
              <a:rPr sz="2000" kern="1200" spc="114" dirty="0">
                <a:solidFill>
                  <a:srgbClr val="FF0000"/>
                </a:solidFill>
                <a:latin typeface="Cambria Math"/>
                <a:cs typeface="Cambria Math"/>
              </a:rPr>
              <a:t> </a:t>
            </a:r>
            <a:r>
              <a:rPr sz="2000" kern="1200" spc="-5" dirty="0">
                <a:solidFill>
                  <a:prstClr val="black"/>
                </a:solidFill>
                <a:latin typeface="Palatino Linotype"/>
                <a:cs typeface="Palatino Linotype"/>
              </a:rPr>
              <a:t>to </a:t>
            </a:r>
            <a:r>
              <a:rPr sz="2000" kern="1200" dirty="0">
                <a:solidFill>
                  <a:prstClr val="black"/>
                </a:solidFill>
                <a:latin typeface="Palatino Linotype"/>
                <a:cs typeface="Palatino Linotype"/>
              </a:rPr>
              <a:t>FIRST(</a:t>
            </a:r>
            <a:r>
              <a:rPr sz="2000" kern="1200" dirty="0">
                <a:solidFill>
                  <a:prstClr val="black"/>
                </a:solidFill>
                <a:latin typeface="Cambria Math"/>
                <a:cs typeface="Cambria Math"/>
              </a:rPr>
              <a:t>𝑋</a:t>
            </a:r>
            <a:r>
              <a:rPr sz="2000" kern="1200" dirty="0">
                <a:solidFill>
                  <a:prstClr val="black"/>
                </a:solidFill>
                <a:latin typeface="Palatino Linotype"/>
                <a:cs typeface="Palatino Linotype"/>
              </a:rPr>
              <a:t>)</a:t>
            </a:r>
          </a:p>
        </p:txBody>
      </p:sp>
    </p:spTree>
    <p:extLst>
      <p:ext uri="{BB962C8B-B14F-4D97-AF65-F5344CB8AC3E}">
        <p14:creationId xmlns:p14="http://schemas.microsoft.com/office/powerpoint/2010/main" val="15325259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65</a:t>
            </a:fld>
            <a:endParaRPr lang="en-US"/>
          </a:p>
        </p:txBody>
      </p:sp>
      <p:sp>
        <p:nvSpPr>
          <p:cNvPr id="7" name="object 2">
            <a:extLst>
              <a:ext uri="{FF2B5EF4-FFF2-40B4-BE49-F238E27FC236}">
                <a16:creationId xmlns:a16="http://schemas.microsoft.com/office/drawing/2014/main" id="{C7DCE0C9-DD61-7D5C-88AB-06695C748AF7}"/>
              </a:ext>
            </a:extLst>
          </p:cNvPr>
          <p:cNvSpPr txBox="1">
            <a:spLocks/>
          </p:cNvSpPr>
          <p:nvPr/>
        </p:nvSpPr>
        <p:spPr>
          <a:xfrm>
            <a:off x="707390" y="524763"/>
            <a:ext cx="56788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Computing</a:t>
            </a:r>
            <a:r>
              <a:rPr kumimoji="0" lang="en-US" sz="4000" b="1" i="0" u="none" strike="noStrike" kern="0" cap="none" spc="-3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FIRST</a:t>
            </a:r>
            <a:r>
              <a:rPr kumimoji="0" lang="en-US" sz="4000" b="1" i="0" u="none" strike="noStrike" kern="0" cap="none" spc="-4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Cont.</a:t>
            </a:r>
          </a:p>
        </p:txBody>
      </p:sp>
      <p:sp>
        <p:nvSpPr>
          <p:cNvPr id="8" name="object 3">
            <a:extLst>
              <a:ext uri="{FF2B5EF4-FFF2-40B4-BE49-F238E27FC236}">
                <a16:creationId xmlns:a16="http://schemas.microsoft.com/office/drawing/2014/main" id="{09622158-458E-C92A-B173-15E37B8DC313}"/>
              </a:ext>
            </a:extLst>
          </p:cNvPr>
          <p:cNvSpPr txBox="1"/>
          <p:nvPr/>
        </p:nvSpPr>
        <p:spPr>
          <a:xfrm>
            <a:off x="656590" y="1590547"/>
            <a:ext cx="7785734" cy="3648710"/>
          </a:xfrm>
          <a:prstGeom prst="rect">
            <a:avLst/>
          </a:prstGeom>
        </p:spPr>
        <p:txBody>
          <a:bodyPr vert="horz" wrap="square" lIns="0" tIns="12700" rIns="0" bIns="0" rtlCol="0">
            <a:spAutoFit/>
          </a:bodyPr>
          <a:lstStyle/>
          <a:p>
            <a:pPr marL="293370" marR="757555" indent="-230504" rtl="0">
              <a:lnSpc>
                <a:spcPct val="118300"/>
              </a:lnSpc>
              <a:spcBef>
                <a:spcPts val="100"/>
              </a:spcBef>
              <a:buClr>
                <a:srgbClr val="000000"/>
              </a:buClr>
              <a:buFont typeface="Arial MT"/>
              <a:buChar char="•"/>
              <a:tabLst>
                <a:tab pos="294005" algn="l"/>
              </a:tabLst>
            </a:pPr>
            <a:r>
              <a:rPr sz="2400" b="1" kern="1200" spc="-5" dirty="0">
                <a:solidFill>
                  <a:srgbClr val="0432FF"/>
                </a:solidFill>
                <a:latin typeface="Palatino Linotype"/>
                <a:cs typeface="Palatino Linotype"/>
              </a:rPr>
              <a:t>F</a:t>
            </a:r>
            <a:r>
              <a:rPr sz="2400" b="1" kern="1200" dirty="0">
                <a:solidFill>
                  <a:srgbClr val="0432FF"/>
                </a:solidFill>
                <a:latin typeface="Palatino Linotype"/>
                <a:cs typeface="Palatino Linotype"/>
              </a:rPr>
              <a:t>I</a:t>
            </a:r>
            <a:r>
              <a:rPr sz="2400" b="1" kern="1200" spc="-5" dirty="0">
                <a:solidFill>
                  <a:srgbClr val="0432FF"/>
                </a:solidFill>
                <a:latin typeface="Palatino Linotype"/>
                <a:cs typeface="Palatino Linotype"/>
              </a:rPr>
              <a:t>RST</a:t>
            </a:r>
            <a:r>
              <a:rPr sz="2400" b="1" kern="1200" dirty="0">
                <a:solidFill>
                  <a:srgbClr val="0432FF"/>
                </a:solidFill>
                <a:latin typeface="Palatino Linotype"/>
                <a:cs typeface="Palatino Linotype"/>
              </a:rPr>
              <a:t>(</a:t>
            </a:r>
            <a:r>
              <a:rPr sz="2400" kern="1200" dirty="0">
                <a:solidFill>
                  <a:srgbClr val="0432FF"/>
                </a:solidFill>
                <a:latin typeface="Cambria Math"/>
                <a:cs typeface="Cambria Math"/>
              </a:rPr>
              <a:t>𝑿</a:t>
            </a:r>
            <a:r>
              <a:rPr sz="2700" kern="1200" spc="104" baseline="-15432" dirty="0">
                <a:solidFill>
                  <a:srgbClr val="0432FF"/>
                </a:solidFill>
                <a:latin typeface="Cambria Math"/>
                <a:cs typeface="Cambria Math"/>
              </a:rPr>
              <a:t>𝟏</a:t>
            </a:r>
            <a:r>
              <a:rPr sz="2400" kern="1200" dirty="0">
                <a:solidFill>
                  <a:srgbClr val="0432FF"/>
                </a:solidFill>
                <a:latin typeface="Cambria Math"/>
                <a:cs typeface="Cambria Math"/>
              </a:rPr>
              <a:t>𝑿</a:t>
            </a:r>
            <a:r>
              <a:rPr sz="2700" kern="1200" baseline="-15432" dirty="0">
                <a:solidFill>
                  <a:srgbClr val="0432FF"/>
                </a:solidFill>
                <a:latin typeface="Cambria Math"/>
                <a:cs typeface="Cambria Math"/>
              </a:rPr>
              <a:t>𝟐</a:t>
            </a:r>
            <a:r>
              <a:rPr sz="2700" kern="1200" spc="112" baseline="-15432" dirty="0">
                <a:solidFill>
                  <a:srgbClr val="0432FF"/>
                </a:solidFill>
                <a:latin typeface="Cambria Math"/>
                <a:cs typeface="Cambria Math"/>
              </a:rPr>
              <a:t> </a:t>
            </a:r>
            <a:r>
              <a:rPr sz="2400" kern="1200" dirty="0">
                <a:solidFill>
                  <a:srgbClr val="0432FF"/>
                </a:solidFill>
                <a:latin typeface="Cambria Math"/>
                <a:cs typeface="Cambria Math"/>
              </a:rPr>
              <a:t>…</a:t>
            </a:r>
            <a:r>
              <a:rPr sz="2400" kern="1200" spc="-135" dirty="0">
                <a:solidFill>
                  <a:srgbClr val="0432FF"/>
                </a:solidFill>
                <a:latin typeface="Cambria Math"/>
                <a:cs typeface="Cambria Math"/>
              </a:rPr>
              <a:t> </a:t>
            </a:r>
            <a:r>
              <a:rPr sz="2400" kern="1200" dirty="0">
                <a:solidFill>
                  <a:srgbClr val="0432FF"/>
                </a:solidFill>
                <a:latin typeface="Cambria Math"/>
                <a:cs typeface="Cambria Math"/>
              </a:rPr>
              <a:t>𝑿</a:t>
            </a:r>
            <a:r>
              <a:rPr sz="2700" kern="1200" spc="104" baseline="-15432" dirty="0">
                <a:solidFill>
                  <a:srgbClr val="0432FF"/>
                </a:solidFill>
                <a:latin typeface="Cambria Math"/>
                <a:cs typeface="Cambria Math"/>
              </a:rPr>
              <a:t>𝒏</a:t>
            </a:r>
            <a:r>
              <a:rPr sz="2400" b="1" kern="1200" dirty="0">
                <a:solidFill>
                  <a:srgbClr val="0432FF"/>
                </a:solidFill>
                <a:latin typeface="Palatino Linotype"/>
                <a:cs typeface="Palatino Linotype"/>
              </a:rPr>
              <a:t>)</a:t>
            </a:r>
            <a:r>
              <a:rPr sz="2400" kern="1200" dirty="0">
                <a:solidFill>
                  <a:prstClr val="black"/>
                </a:solidFill>
                <a:latin typeface="Palatino Linotype"/>
                <a:cs typeface="Palatino Linotype"/>
              </a:rPr>
              <a:t>, </a:t>
            </a:r>
            <a:r>
              <a:rPr sz="2400" kern="1200" spc="-5" dirty="0">
                <a:solidFill>
                  <a:prstClr val="black"/>
                </a:solidFill>
                <a:latin typeface="Palatino Linotype"/>
                <a:cs typeface="Palatino Linotype"/>
              </a:rPr>
              <a:t>w</a:t>
            </a:r>
            <a:r>
              <a:rPr sz="2400" kern="1200" dirty="0">
                <a:solidFill>
                  <a:prstClr val="black"/>
                </a:solidFill>
                <a:latin typeface="Palatino Linotype"/>
                <a:cs typeface="Palatino Linotype"/>
              </a:rPr>
              <a:t>here </a:t>
            </a:r>
            <a:r>
              <a:rPr sz="2400" kern="1200" dirty="0">
                <a:solidFill>
                  <a:srgbClr val="0432FF"/>
                </a:solidFill>
                <a:latin typeface="Cambria Math"/>
                <a:cs typeface="Cambria Math"/>
              </a:rPr>
              <a:t>𝑿</a:t>
            </a:r>
            <a:r>
              <a:rPr sz="2700" kern="1200" spc="104" baseline="-15432" dirty="0">
                <a:solidFill>
                  <a:srgbClr val="0432FF"/>
                </a:solidFill>
                <a:latin typeface="Cambria Math"/>
                <a:cs typeface="Cambria Math"/>
              </a:rPr>
              <a:t>𝟏</a:t>
            </a:r>
            <a:r>
              <a:rPr sz="2400" kern="1200" dirty="0">
                <a:solidFill>
                  <a:srgbClr val="0432FF"/>
                </a:solidFill>
                <a:latin typeface="Cambria Math"/>
                <a:cs typeface="Cambria Math"/>
              </a:rPr>
              <a:t>𝑿</a:t>
            </a:r>
            <a:r>
              <a:rPr sz="2700" kern="1200" baseline="-15432" dirty="0">
                <a:solidFill>
                  <a:srgbClr val="0432FF"/>
                </a:solidFill>
                <a:latin typeface="Cambria Math"/>
                <a:cs typeface="Cambria Math"/>
              </a:rPr>
              <a:t>𝟐</a:t>
            </a:r>
            <a:r>
              <a:rPr sz="2700" kern="1200" spc="112" baseline="-15432" dirty="0">
                <a:solidFill>
                  <a:srgbClr val="0432FF"/>
                </a:solidFill>
                <a:latin typeface="Cambria Math"/>
                <a:cs typeface="Cambria Math"/>
              </a:rPr>
              <a:t> </a:t>
            </a:r>
            <a:r>
              <a:rPr sz="2400" kern="1200" dirty="0">
                <a:solidFill>
                  <a:srgbClr val="0432FF"/>
                </a:solidFill>
                <a:latin typeface="Cambria Math"/>
                <a:cs typeface="Cambria Math"/>
              </a:rPr>
              <a:t>…</a:t>
            </a:r>
            <a:r>
              <a:rPr sz="2400" kern="1200" spc="-135" dirty="0">
                <a:solidFill>
                  <a:srgbClr val="0432FF"/>
                </a:solidFill>
                <a:latin typeface="Cambria Math"/>
                <a:cs typeface="Cambria Math"/>
              </a:rPr>
              <a:t> </a:t>
            </a:r>
            <a:r>
              <a:rPr sz="2400" kern="1200" dirty="0">
                <a:solidFill>
                  <a:srgbClr val="0432FF"/>
                </a:solidFill>
                <a:latin typeface="Cambria Math"/>
                <a:cs typeface="Cambria Math"/>
              </a:rPr>
              <a:t>𝑿</a:t>
            </a:r>
            <a:r>
              <a:rPr sz="2700" kern="1200" baseline="-15432" dirty="0">
                <a:solidFill>
                  <a:srgbClr val="0432FF"/>
                </a:solidFill>
                <a:latin typeface="Cambria Math"/>
                <a:cs typeface="Cambria Math"/>
              </a:rPr>
              <a:t>𝒏 </a:t>
            </a:r>
            <a:r>
              <a:rPr sz="2700" kern="1200" spc="-187" baseline="-15432" dirty="0">
                <a:solidFill>
                  <a:srgbClr val="0432FF"/>
                </a:solidFill>
                <a:latin typeface="Cambria Math"/>
                <a:cs typeface="Cambria Math"/>
              </a:rPr>
              <a:t> </a:t>
            </a:r>
            <a:r>
              <a:rPr sz="2400" kern="1200" dirty="0">
                <a:solidFill>
                  <a:prstClr val="black"/>
                </a:solidFill>
                <a:latin typeface="Palatino Linotype"/>
                <a:cs typeface="Palatino Linotype"/>
              </a:rPr>
              <a:t>is</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a </a:t>
            </a:r>
            <a:r>
              <a:rPr sz="2400" kern="1200" spc="-5" dirty="0">
                <a:solidFill>
                  <a:prstClr val="black"/>
                </a:solidFill>
                <a:latin typeface="Palatino Linotype"/>
                <a:cs typeface="Palatino Linotype"/>
              </a:rPr>
              <a:t>s</a:t>
            </a:r>
            <a:r>
              <a:rPr sz="2400" kern="1200" dirty="0">
                <a:solidFill>
                  <a:prstClr val="black"/>
                </a:solidFill>
                <a:latin typeface="Palatino Linotype"/>
                <a:cs typeface="Palatino Linotype"/>
              </a:rPr>
              <a:t>tring of  grammar</a:t>
            </a:r>
            <a:r>
              <a:rPr sz="2400" kern="1200" spc="-5" dirty="0">
                <a:solidFill>
                  <a:prstClr val="black"/>
                </a:solidFill>
                <a:latin typeface="Palatino Linotype"/>
                <a:cs typeface="Palatino Linotype"/>
              </a:rPr>
              <a:t> symbols</a:t>
            </a:r>
            <a:endParaRPr sz="2400" kern="1200" dirty="0">
              <a:solidFill>
                <a:prstClr val="black"/>
              </a:solidFill>
              <a:latin typeface="Palatino Linotype"/>
              <a:cs typeface="Palatino Linotype"/>
            </a:endParaRPr>
          </a:p>
          <a:p>
            <a:pPr rtl="0">
              <a:spcBef>
                <a:spcPts val="45"/>
              </a:spcBef>
              <a:buFont typeface="Arial MT"/>
              <a:buChar char="•"/>
            </a:pPr>
            <a:endParaRPr sz="2200" kern="1200" dirty="0">
              <a:solidFill>
                <a:prstClr val="black"/>
              </a:solidFill>
              <a:latin typeface="Palatino Linotype"/>
              <a:cs typeface="Palatino Linotype"/>
            </a:endParaRPr>
          </a:p>
          <a:p>
            <a:pPr marL="749300" lvl="1" indent="-228600" rtl="0">
              <a:buFont typeface="Wingdings"/>
              <a:buChar char=""/>
              <a:tabLst>
                <a:tab pos="749300" algn="l"/>
              </a:tabLst>
            </a:pPr>
            <a:r>
              <a:rPr sz="2000" kern="1200" spc="-5" dirty="0">
                <a:solidFill>
                  <a:prstClr val="black"/>
                </a:solidFill>
                <a:latin typeface="Palatino Linotype"/>
                <a:cs typeface="Palatino Linotype"/>
              </a:rPr>
              <a:t>Add</a:t>
            </a:r>
            <a:r>
              <a:rPr sz="2000" kern="1200" dirty="0">
                <a:solidFill>
                  <a:prstClr val="black"/>
                </a:solidFill>
                <a:latin typeface="Palatino Linotype"/>
                <a:cs typeface="Palatino Linotype"/>
              </a:rPr>
              <a:t> all</a:t>
            </a:r>
            <a:r>
              <a:rPr sz="2000" kern="1200" spc="5" dirty="0">
                <a:solidFill>
                  <a:prstClr val="black"/>
                </a:solidFill>
                <a:latin typeface="Palatino Linotype"/>
                <a:cs typeface="Palatino Linotype"/>
              </a:rPr>
              <a:t> </a:t>
            </a:r>
            <a:r>
              <a:rPr sz="2000" kern="1200" spc="-5" dirty="0">
                <a:solidFill>
                  <a:srgbClr val="FF0000"/>
                </a:solidFill>
                <a:latin typeface="Palatino Linotype"/>
                <a:cs typeface="Palatino Linotype"/>
              </a:rPr>
              <a:t>non-</a:t>
            </a:r>
            <a:r>
              <a:rPr sz="2000" kern="1200" spc="-5" dirty="0">
                <a:solidFill>
                  <a:srgbClr val="FF0000"/>
                </a:solidFill>
                <a:latin typeface="Cambria Math"/>
                <a:cs typeface="Cambria Math"/>
              </a:rPr>
              <a:t>𝜖</a:t>
            </a:r>
            <a:r>
              <a:rPr sz="2000" kern="1200" spc="50" dirty="0">
                <a:solidFill>
                  <a:srgbClr val="FF0000"/>
                </a:solidFill>
                <a:latin typeface="Cambria Math"/>
                <a:cs typeface="Cambria Math"/>
              </a:rPr>
              <a:t> </a:t>
            </a:r>
            <a:r>
              <a:rPr sz="2000" kern="1200" dirty="0">
                <a:solidFill>
                  <a:srgbClr val="FF0000"/>
                </a:solidFill>
                <a:latin typeface="Palatino Linotype"/>
                <a:cs typeface="Palatino Linotype"/>
              </a:rPr>
              <a:t>symbols</a:t>
            </a:r>
            <a:r>
              <a:rPr sz="2000" kern="1200" spc="5" dirty="0">
                <a:solidFill>
                  <a:srgbClr val="FF0000"/>
                </a:solidFill>
                <a:latin typeface="Palatino Linotype"/>
                <a:cs typeface="Palatino Linotype"/>
              </a:rPr>
              <a:t> </a:t>
            </a:r>
            <a:r>
              <a:rPr sz="2000" kern="1200" spc="-5" dirty="0">
                <a:solidFill>
                  <a:prstClr val="black"/>
                </a:solidFill>
                <a:latin typeface="Palatino Linotype"/>
                <a:cs typeface="Palatino Linotype"/>
              </a:rPr>
              <a:t>of </a:t>
            </a:r>
            <a:r>
              <a:rPr sz="2000" kern="1200" spc="-10" dirty="0">
                <a:solidFill>
                  <a:prstClr val="black"/>
                </a:solidFill>
                <a:latin typeface="Palatino Linotype"/>
                <a:cs typeface="Palatino Linotype"/>
              </a:rPr>
              <a:t>FIRST(</a:t>
            </a:r>
            <a:r>
              <a:rPr sz="2000" kern="1200" spc="-10" dirty="0">
                <a:solidFill>
                  <a:prstClr val="black"/>
                </a:solidFill>
                <a:latin typeface="Cambria Math"/>
                <a:cs typeface="Cambria Math"/>
              </a:rPr>
              <a:t>𝑋</a:t>
            </a:r>
            <a:r>
              <a:rPr sz="2250" kern="1200" spc="-15" baseline="-14814" dirty="0">
                <a:solidFill>
                  <a:prstClr val="black"/>
                </a:solidFill>
                <a:latin typeface="Cambria Math"/>
                <a:cs typeface="Cambria Math"/>
              </a:rPr>
              <a:t>1</a:t>
            </a:r>
            <a:r>
              <a:rPr sz="2000" kern="1200" spc="-10" dirty="0">
                <a:solidFill>
                  <a:prstClr val="black"/>
                </a:solidFill>
                <a:latin typeface="Palatino Linotype"/>
                <a:cs typeface="Palatino Linotype"/>
              </a:rPr>
              <a:t>)</a:t>
            </a:r>
            <a:r>
              <a:rPr sz="2000" kern="1200" spc="-5" dirty="0">
                <a:solidFill>
                  <a:prstClr val="black"/>
                </a:solidFill>
                <a:latin typeface="Palatino Linotype"/>
                <a:cs typeface="Palatino Linotype"/>
              </a:rPr>
              <a:t> to</a:t>
            </a:r>
            <a:r>
              <a:rPr sz="2000" kern="1200" dirty="0">
                <a:solidFill>
                  <a:prstClr val="black"/>
                </a:solidFill>
                <a:latin typeface="Palatino Linotype"/>
                <a:cs typeface="Palatino Linotype"/>
              </a:rPr>
              <a:t> </a:t>
            </a:r>
            <a:r>
              <a:rPr sz="2000" kern="1200" spc="-35" dirty="0">
                <a:solidFill>
                  <a:prstClr val="black"/>
                </a:solidFill>
                <a:latin typeface="Palatino Linotype"/>
                <a:cs typeface="Palatino Linotype"/>
              </a:rPr>
              <a:t>FIRST(</a:t>
            </a:r>
            <a:r>
              <a:rPr sz="2000" kern="1200" spc="-35" dirty="0">
                <a:solidFill>
                  <a:prstClr val="black"/>
                </a:solidFill>
                <a:latin typeface="Cambria Math"/>
                <a:cs typeface="Cambria Math"/>
              </a:rPr>
              <a:t>𝑋</a:t>
            </a:r>
            <a:r>
              <a:rPr sz="2250" kern="1200" spc="-52" baseline="-14814" dirty="0">
                <a:solidFill>
                  <a:prstClr val="black"/>
                </a:solidFill>
                <a:latin typeface="Cambria Math"/>
                <a:cs typeface="Cambria Math"/>
              </a:rPr>
              <a:t>1</a:t>
            </a:r>
            <a:r>
              <a:rPr sz="2000" kern="1200" spc="-35" dirty="0">
                <a:solidFill>
                  <a:prstClr val="black"/>
                </a:solidFill>
                <a:latin typeface="Cambria Math"/>
                <a:cs typeface="Cambria Math"/>
              </a:rPr>
              <a:t>𝑋</a:t>
            </a:r>
            <a:r>
              <a:rPr lang="en-US" altLang="zh-CN" sz="2250" kern="1200" spc="-52" baseline="-14814" dirty="0">
                <a:solidFill>
                  <a:prstClr val="black"/>
                </a:solidFill>
                <a:latin typeface="Cambria Math"/>
                <a:cs typeface="Cambria Math"/>
              </a:rPr>
              <a:t>2</a:t>
            </a:r>
            <a:r>
              <a:rPr sz="2250" kern="1200" spc="97" baseline="-14814"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4" dirty="0">
                <a:solidFill>
                  <a:prstClr val="black"/>
                </a:solidFill>
                <a:latin typeface="Cambria Math"/>
                <a:cs typeface="Cambria Math"/>
              </a:rPr>
              <a:t> </a:t>
            </a:r>
            <a:r>
              <a:rPr sz="2000" kern="1200" spc="30" dirty="0">
                <a:solidFill>
                  <a:prstClr val="black"/>
                </a:solidFill>
                <a:latin typeface="Cambria Math"/>
                <a:cs typeface="Cambria Math"/>
              </a:rPr>
              <a:t>𝑋</a:t>
            </a:r>
            <a:r>
              <a:rPr sz="2250" kern="1200" spc="44" baseline="-14814" dirty="0">
                <a:solidFill>
                  <a:prstClr val="black"/>
                </a:solidFill>
                <a:latin typeface="Cambria Math"/>
                <a:cs typeface="Cambria Math"/>
              </a:rPr>
              <a:t>𝑛</a:t>
            </a:r>
            <a:r>
              <a:rPr sz="2000" kern="1200" spc="30" dirty="0">
                <a:solidFill>
                  <a:prstClr val="black"/>
                </a:solidFill>
                <a:latin typeface="Palatino Linotype"/>
                <a:cs typeface="Palatino Linotype"/>
              </a:rPr>
              <a:t>)</a:t>
            </a:r>
            <a:endParaRPr sz="2000" kern="1200" dirty="0">
              <a:solidFill>
                <a:prstClr val="black"/>
              </a:solidFill>
              <a:latin typeface="Palatino Linotype"/>
              <a:cs typeface="Palatino Linotype"/>
            </a:endParaRPr>
          </a:p>
          <a:p>
            <a:pPr marL="749300" marR="55880" lvl="1" indent="-228600" rtl="0">
              <a:lnSpc>
                <a:spcPct val="117000"/>
              </a:lnSpc>
              <a:spcBef>
                <a:spcPts val="2500"/>
              </a:spcBef>
              <a:buFont typeface="Wingdings"/>
              <a:buChar char=""/>
              <a:tabLst>
                <a:tab pos="749300" algn="l"/>
              </a:tabLst>
            </a:pPr>
            <a:r>
              <a:rPr sz="2000" kern="1200" dirty="0">
                <a:solidFill>
                  <a:prstClr val="black"/>
                </a:solidFill>
                <a:latin typeface="Palatino Linotype"/>
                <a:cs typeface="Palatino Linotype"/>
              </a:rPr>
              <a:t>If</a:t>
            </a:r>
            <a:r>
              <a:rPr sz="2000" kern="1200" spc="-10" dirty="0">
                <a:solidFill>
                  <a:prstClr val="black"/>
                </a:solidFill>
                <a:latin typeface="Palatino Linotype"/>
                <a:cs typeface="Palatino Linotype"/>
              </a:rPr>
              <a:t> </a:t>
            </a:r>
            <a:r>
              <a:rPr sz="2000" kern="1200" dirty="0">
                <a:solidFill>
                  <a:srgbClr val="FF0000"/>
                </a:solidFill>
                <a:latin typeface="Cambria Math"/>
                <a:cs typeface="Cambria Math"/>
              </a:rPr>
              <a:t>𝜖</a:t>
            </a:r>
            <a:r>
              <a:rPr sz="2000" kern="1200" spc="50" dirty="0">
                <a:solidFill>
                  <a:srgbClr val="FF0000"/>
                </a:solidFill>
                <a:latin typeface="Cambria Math"/>
                <a:cs typeface="Cambria Math"/>
              </a:rPr>
              <a:t> </a:t>
            </a:r>
            <a:r>
              <a:rPr sz="2000" kern="1200" dirty="0">
                <a:solidFill>
                  <a:srgbClr val="FF0000"/>
                </a:solidFill>
                <a:latin typeface="Palatino Linotype"/>
                <a:cs typeface="Palatino Linotype"/>
              </a:rPr>
              <a:t>is in</a:t>
            </a:r>
            <a:r>
              <a:rPr sz="2000" kern="1200" spc="-5" dirty="0">
                <a:solidFill>
                  <a:srgbClr val="FF0000"/>
                </a:solidFill>
                <a:latin typeface="Palatino Linotype"/>
                <a:cs typeface="Palatino Linotype"/>
              </a:rPr>
              <a:t> </a:t>
            </a:r>
            <a:r>
              <a:rPr sz="2000" kern="1200" spc="-10" dirty="0">
                <a:solidFill>
                  <a:srgbClr val="FF0000"/>
                </a:solidFill>
                <a:latin typeface="Palatino Linotype"/>
                <a:cs typeface="Palatino Linotype"/>
              </a:rPr>
              <a:t>FIRST(</a:t>
            </a:r>
            <a:r>
              <a:rPr sz="2000" kern="1200" spc="-10" dirty="0">
                <a:solidFill>
                  <a:srgbClr val="FF0000"/>
                </a:solidFill>
                <a:latin typeface="Cambria Math"/>
                <a:cs typeface="Cambria Math"/>
              </a:rPr>
              <a:t>𝑋</a:t>
            </a:r>
            <a:r>
              <a:rPr sz="2250" kern="1200" spc="-15" baseline="-14814" dirty="0">
                <a:solidFill>
                  <a:srgbClr val="FF0000"/>
                </a:solidFill>
                <a:latin typeface="Cambria Math"/>
                <a:cs typeface="Cambria Math"/>
              </a:rPr>
              <a:t>1</a:t>
            </a:r>
            <a:r>
              <a:rPr sz="2000" kern="1200" spc="-10" dirty="0">
                <a:solidFill>
                  <a:srgbClr val="FF0000"/>
                </a:solidFill>
                <a:latin typeface="Palatino Linotype"/>
                <a:cs typeface="Palatino Linotype"/>
              </a:rPr>
              <a:t>)</a:t>
            </a:r>
            <a:r>
              <a:rPr sz="2000" kern="1200" spc="-10" dirty="0">
                <a:solidFill>
                  <a:prstClr val="black"/>
                </a:solidFill>
                <a:latin typeface="Palatino Linotype"/>
                <a:cs typeface="Palatino Linotype"/>
              </a:rPr>
              <a:t>,</a:t>
            </a:r>
            <a:r>
              <a:rPr sz="2000" kern="1200" dirty="0">
                <a:solidFill>
                  <a:prstClr val="black"/>
                </a:solidFill>
                <a:latin typeface="Palatino Linotype"/>
                <a:cs typeface="Palatino Linotype"/>
              </a:rPr>
              <a:t> add </a:t>
            </a:r>
            <a:r>
              <a:rPr sz="2000" kern="1200" spc="-5" dirty="0">
                <a:solidFill>
                  <a:prstClr val="black"/>
                </a:solidFill>
                <a:latin typeface="Palatino Linotype"/>
                <a:cs typeface="Palatino Linotype"/>
              </a:rPr>
              <a:t>non-</a:t>
            </a:r>
            <a:r>
              <a:rPr sz="2000" kern="1200" spc="-5" dirty="0">
                <a:solidFill>
                  <a:prstClr val="black"/>
                </a:solidFill>
                <a:latin typeface="Cambria Math"/>
                <a:cs typeface="Cambria Math"/>
              </a:rPr>
              <a:t>𝜖</a:t>
            </a:r>
            <a:r>
              <a:rPr sz="2000" kern="1200" spc="50" dirty="0">
                <a:solidFill>
                  <a:prstClr val="black"/>
                </a:solidFill>
                <a:latin typeface="Cambria Math"/>
                <a:cs typeface="Cambria Math"/>
              </a:rPr>
              <a:t> </a:t>
            </a:r>
            <a:r>
              <a:rPr sz="2000" kern="1200" dirty="0">
                <a:solidFill>
                  <a:prstClr val="black"/>
                </a:solidFill>
                <a:latin typeface="Palatino Linotype"/>
                <a:cs typeface="Palatino Linotype"/>
              </a:rPr>
              <a:t>symbols </a:t>
            </a:r>
            <a:r>
              <a:rPr sz="2000" kern="1200" spc="-5" dirty="0">
                <a:solidFill>
                  <a:prstClr val="black"/>
                </a:solidFill>
                <a:latin typeface="Palatino Linotype"/>
                <a:cs typeface="Palatino Linotype"/>
              </a:rPr>
              <a:t>of </a:t>
            </a:r>
            <a:r>
              <a:rPr sz="2000" kern="1200" spc="-25" dirty="0">
                <a:solidFill>
                  <a:prstClr val="black"/>
                </a:solidFill>
                <a:latin typeface="Palatino Linotype"/>
                <a:cs typeface="Palatino Linotype"/>
              </a:rPr>
              <a:t>FIRST(</a:t>
            </a:r>
            <a:r>
              <a:rPr sz="2000" kern="1200" spc="-25" dirty="0">
                <a:solidFill>
                  <a:prstClr val="black"/>
                </a:solidFill>
                <a:latin typeface="Cambria Math"/>
                <a:cs typeface="Cambria Math"/>
              </a:rPr>
              <a:t>𝑋</a:t>
            </a:r>
            <a:r>
              <a:rPr lang="en-US" altLang="zh-CN" sz="2250" kern="1200" spc="-37" baseline="-14814" dirty="0">
                <a:solidFill>
                  <a:prstClr val="black"/>
                </a:solidFill>
                <a:latin typeface="Cambria Math"/>
                <a:cs typeface="Cambria Math"/>
              </a:rPr>
              <a:t>2</a:t>
            </a:r>
            <a:r>
              <a:rPr sz="2000" kern="1200" spc="-25" dirty="0">
                <a:solidFill>
                  <a:prstClr val="black"/>
                </a:solidFill>
                <a:latin typeface="Palatino Linotype"/>
                <a:cs typeface="Palatino Linotype"/>
              </a:rPr>
              <a:t>)</a:t>
            </a:r>
            <a:r>
              <a:rPr sz="2000" kern="1200" spc="-5" dirty="0">
                <a:solidFill>
                  <a:prstClr val="black"/>
                </a:solidFill>
                <a:latin typeface="Palatino Linotype"/>
                <a:cs typeface="Palatino Linotype"/>
              </a:rPr>
              <a:t> to </a:t>
            </a:r>
            <a:r>
              <a:rPr sz="2000" kern="1200" dirty="0">
                <a:solidFill>
                  <a:prstClr val="black"/>
                </a:solidFill>
                <a:latin typeface="Palatino Linotype"/>
                <a:cs typeface="Palatino Linotype"/>
              </a:rPr>
              <a:t> </a:t>
            </a:r>
            <a:r>
              <a:rPr sz="2000" kern="1200" spc="-35" dirty="0">
                <a:solidFill>
                  <a:prstClr val="black"/>
                </a:solidFill>
                <a:latin typeface="Palatino Linotype"/>
                <a:cs typeface="Palatino Linotype"/>
              </a:rPr>
              <a:t>FIRST(</a:t>
            </a:r>
            <a:r>
              <a:rPr sz="2000" kern="1200" spc="-35" dirty="0">
                <a:solidFill>
                  <a:prstClr val="black"/>
                </a:solidFill>
                <a:latin typeface="Cambria Math"/>
                <a:cs typeface="Cambria Math"/>
              </a:rPr>
              <a:t>𝑋</a:t>
            </a:r>
            <a:r>
              <a:rPr sz="2250" kern="1200" spc="-52" baseline="-14814" dirty="0">
                <a:solidFill>
                  <a:prstClr val="black"/>
                </a:solidFill>
                <a:latin typeface="Cambria Math"/>
                <a:cs typeface="Cambria Math"/>
              </a:rPr>
              <a:t>1</a:t>
            </a:r>
            <a:r>
              <a:rPr sz="2000" kern="1200" spc="-35" dirty="0">
                <a:solidFill>
                  <a:prstClr val="black"/>
                </a:solidFill>
                <a:latin typeface="Cambria Math"/>
                <a:cs typeface="Cambria Math"/>
              </a:rPr>
              <a:t>𝑋</a:t>
            </a:r>
            <a:r>
              <a:rPr lang="en-US" altLang="zh-CN" sz="2250" kern="1200" spc="-52" baseline="-14814" dirty="0">
                <a:solidFill>
                  <a:prstClr val="black"/>
                </a:solidFill>
                <a:latin typeface="Cambria Math"/>
                <a:cs typeface="Cambria Math"/>
              </a:rPr>
              <a:t>2</a:t>
            </a:r>
            <a:r>
              <a:rPr sz="2250" kern="1200" spc="104" baseline="-14814"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4" dirty="0">
                <a:solidFill>
                  <a:prstClr val="black"/>
                </a:solidFill>
                <a:latin typeface="Cambria Math"/>
                <a:cs typeface="Cambria Math"/>
              </a:rPr>
              <a:t> </a:t>
            </a:r>
            <a:r>
              <a:rPr sz="2000" kern="1200" spc="20" dirty="0">
                <a:solidFill>
                  <a:prstClr val="black"/>
                </a:solidFill>
                <a:latin typeface="Cambria Math"/>
                <a:cs typeface="Cambria Math"/>
              </a:rPr>
              <a:t>𝑋</a:t>
            </a:r>
            <a:r>
              <a:rPr sz="2250" kern="1200" spc="30" baseline="-14814" dirty="0">
                <a:solidFill>
                  <a:prstClr val="black"/>
                </a:solidFill>
                <a:latin typeface="Cambria Math"/>
                <a:cs typeface="Cambria Math"/>
              </a:rPr>
              <a:t>𝑛</a:t>
            </a:r>
            <a:r>
              <a:rPr sz="2000" kern="1200" spc="20" dirty="0">
                <a:solidFill>
                  <a:prstClr val="black"/>
                </a:solidFill>
                <a:latin typeface="Palatino Linotype"/>
                <a:cs typeface="Palatino Linotype"/>
              </a:rPr>
              <a:t>);</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If </a:t>
            </a:r>
            <a:r>
              <a:rPr sz="2000" kern="1200" dirty="0">
                <a:solidFill>
                  <a:srgbClr val="FF0000"/>
                </a:solidFill>
                <a:latin typeface="Cambria Math"/>
                <a:cs typeface="Cambria Math"/>
              </a:rPr>
              <a:t>𝜖</a:t>
            </a:r>
            <a:r>
              <a:rPr sz="2000" kern="1200" spc="55" dirty="0">
                <a:solidFill>
                  <a:srgbClr val="FF0000"/>
                </a:solidFill>
                <a:latin typeface="Cambria Math"/>
                <a:cs typeface="Cambria Math"/>
              </a:rPr>
              <a:t> </a:t>
            </a:r>
            <a:r>
              <a:rPr sz="2000" kern="1200" dirty="0">
                <a:solidFill>
                  <a:srgbClr val="FF0000"/>
                </a:solidFill>
                <a:latin typeface="Palatino Linotype"/>
                <a:cs typeface="Palatino Linotype"/>
              </a:rPr>
              <a:t>is</a:t>
            </a:r>
            <a:r>
              <a:rPr sz="2000" kern="1200" spc="5" dirty="0">
                <a:solidFill>
                  <a:srgbClr val="FF0000"/>
                </a:solidFill>
                <a:latin typeface="Palatino Linotype"/>
                <a:cs typeface="Palatino Linotype"/>
              </a:rPr>
              <a:t> </a:t>
            </a:r>
            <a:r>
              <a:rPr sz="2000" kern="1200" dirty="0">
                <a:solidFill>
                  <a:srgbClr val="FF0000"/>
                </a:solidFill>
                <a:latin typeface="Palatino Linotype"/>
                <a:cs typeface="Palatino Linotype"/>
              </a:rPr>
              <a:t>in</a:t>
            </a:r>
            <a:r>
              <a:rPr sz="2000" kern="1200" spc="5" dirty="0">
                <a:solidFill>
                  <a:srgbClr val="FF0000"/>
                </a:solidFill>
                <a:latin typeface="Palatino Linotype"/>
                <a:cs typeface="Palatino Linotype"/>
              </a:rPr>
              <a:t> </a:t>
            </a:r>
            <a:r>
              <a:rPr sz="2000" kern="1200" spc="-10" dirty="0">
                <a:solidFill>
                  <a:srgbClr val="FF0000"/>
                </a:solidFill>
                <a:latin typeface="Palatino Linotype"/>
                <a:cs typeface="Palatino Linotype"/>
              </a:rPr>
              <a:t>FIRST(</a:t>
            </a:r>
            <a:r>
              <a:rPr sz="2000" kern="1200" spc="-10" dirty="0">
                <a:solidFill>
                  <a:srgbClr val="FF0000"/>
                </a:solidFill>
                <a:latin typeface="Cambria Math"/>
                <a:cs typeface="Cambria Math"/>
              </a:rPr>
              <a:t>𝑋</a:t>
            </a:r>
            <a:r>
              <a:rPr sz="2250" kern="1200" spc="-15" baseline="-14814" dirty="0">
                <a:solidFill>
                  <a:srgbClr val="FF0000"/>
                </a:solidFill>
                <a:latin typeface="Cambria Math"/>
                <a:cs typeface="Cambria Math"/>
              </a:rPr>
              <a:t>1</a:t>
            </a:r>
            <a:r>
              <a:rPr sz="2000" kern="1200" spc="-10" dirty="0">
                <a:solidFill>
                  <a:srgbClr val="FF0000"/>
                </a:solidFill>
                <a:latin typeface="Palatino Linotype"/>
                <a:cs typeface="Palatino Linotype"/>
              </a:rPr>
              <a:t>)</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and</a:t>
            </a:r>
            <a:r>
              <a:rPr sz="2000" kern="1200" spc="5" dirty="0">
                <a:solidFill>
                  <a:srgbClr val="FF0000"/>
                </a:solidFill>
                <a:latin typeface="Palatino Linotype"/>
                <a:cs typeface="Palatino Linotype"/>
              </a:rPr>
              <a:t> </a:t>
            </a:r>
            <a:r>
              <a:rPr sz="2000" kern="1200" spc="-25" dirty="0">
                <a:solidFill>
                  <a:srgbClr val="FF0000"/>
                </a:solidFill>
                <a:latin typeface="Palatino Linotype"/>
                <a:cs typeface="Palatino Linotype"/>
              </a:rPr>
              <a:t>FIRST(</a:t>
            </a:r>
            <a:r>
              <a:rPr sz="2000" kern="1200" spc="-25" dirty="0">
                <a:solidFill>
                  <a:srgbClr val="FF0000"/>
                </a:solidFill>
                <a:latin typeface="Cambria Math"/>
                <a:cs typeface="Cambria Math"/>
              </a:rPr>
              <a:t>𝑋</a:t>
            </a:r>
            <a:r>
              <a:rPr lang="en-US" altLang="zh-CN" sz="2250" kern="1200" spc="-37" baseline="-14814" dirty="0">
                <a:solidFill>
                  <a:srgbClr val="FF0000"/>
                </a:solidFill>
                <a:latin typeface="Cambria Math"/>
                <a:cs typeface="Cambria Math"/>
              </a:rPr>
              <a:t>2</a:t>
            </a:r>
            <a:r>
              <a:rPr sz="2000" kern="1200" spc="-25" dirty="0">
                <a:solidFill>
                  <a:srgbClr val="FF0000"/>
                </a:solidFill>
                <a:latin typeface="Palatino Linotype"/>
                <a:cs typeface="Palatino Linotype"/>
              </a:rPr>
              <a:t>),</a:t>
            </a:r>
            <a:r>
              <a:rPr sz="2000" kern="1200" dirty="0">
                <a:solidFill>
                  <a:srgbClr val="FF0000"/>
                </a:solidFill>
                <a:latin typeface="Palatino Linotype"/>
                <a:cs typeface="Palatino Linotype"/>
              </a:rPr>
              <a:t> </a:t>
            </a:r>
            <a:r>
              <a:rPr sz="2000" kern="1200" dirty="0">
                <a:solidFill>
                  <a:prstClr val="black"/>
                </a:solidFill>
                <a:latin typeface="Palatino Linotype"/>
                <a:cs typeface="Palatino Linotype"/>
              </a:rPr>
              <a:t>add</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non-</a:t>
            </a:r>
            <a:endParaRPr sz="2000" kern="1200" dirty="0">
              <a:solidFill>
                <a:prstClr val="black"/>
              </a:solidFill>
              <a:latin typeface="Palatino Linotype"/>
              <a:cs typeface="Palatino Linotype"/>
            </a:endParaRPr>
          </a:p>
          <a:p>
            <a:pPr marL="749300" rtl="0">
              <a:spcBef>
                <a:spcPts val="480"/>
              </a:spcBef>
            </a:pPr>
            <a:r>
              <a:rPr sz="2000" kern="1200" dirty="0">
                <a:solidFill>
                  <a:prstClr val="black"/>
                </a:solidFill>
                <a:latin typeface="Cambria Math"/>
                <a:cs typeface="Cambria Math"/>
              </a:rPr>
              <a:t>𝜖</a:t>
            </a:r>
            <a:r>
              <a:rPr sz="2000" kern="1200" spc="50" dirty="0">
                <a:solidFill>
                  <a:prstClr val="black"/>
                </a:solidFill>
                <a:latin typeface="Cambria Math"/>
                <a:cs typeface="Cambria Math"/>
              </a:rPr>
              <a:t> </a:t>
            </a:r>
            <a:r>
              <a:rPr sz="2000" kern="1200" dirty="0">
                <a:solidFill>
                  <a:prstClr val="black"/>
                </a:solidFill>
                <a:latin typeface="Palatino Linotype"/>
                <a:cs typeface="Palatino Linotype"/>
              </a:rPr>
              <a:t>sy</a:t>
            </a:r>
            <a:r>
              <a:rPr sz="2000" kern="1200" spc="-5" dirty="0">
                <a:solidFill>
                  <a:prstClr val="black"/>
                </a:solidFill>
                <a:latin typeface="Palatino Linotype"/>
                <a:cs typeface="Palatino Linotype"/>
              </a:rPr>
              <a:t>m</a:t>
            </a:r>
            <a:r>
              <a:rPr sz="2000" kern="1200" spc="5" dirty="0">
                <a:solidFill>
                  <a:prstClr val="black"/>
                </a:solidFill>
                <a:latin typeface="Palatino Linotype"/>
                <a:cs typeface="Palatino Linotype"/>
              </a:rPr>
              <a:t>b</a:t>
            </a:r>
            <a:r>
              <a:rPr sz="2000" kern="1200" spc="-5" dirty="0">
                <a:solidFill>
                  <a:prstClr val="black"/>
                </a:solidFill>
                <a:latin typeface="Palatino Linotype"/>
                <a:cs typeface="Palatino Linotype"/>
              </a:rPr>
              <a:t>o</a:t>
            </a:r>
            <a:r>
              <a:rPr sz="2000" kern="1200" spc="5" dirty="0">
                <a:solidFill>
                  <a:prstClr val="black"/>
                </a:solidFill>
                <a:latin typeface="Palatino Linotype"/>
                <a:cs typeface="Palatino Linotype"/>
              </a:rPr>
              <a:t>l</a:t>
            </a:r>
            <a:r>
              <a:rPr sz="2000" kern="1200" dirty="0">
                <a:solidFill>
                  <a:prstClr val="black"/>
                </a:solidFill>
                <a:latin typeface="Palatino Linotype"/>
                <a:cs typeface="Palatino Linotype"/>
              </a:rPr>
              <a:t>s </a:t>
            </a:r>
            <a:r>
              <a:rPr sz="2000" kern="1200" spc="-5" dirty="0">
                <a:solidFill>
                  <a:prstClr val="black"/>
                </a:solidFill>
                <a:latin typeface="Palatino Linotype"/>
                <a:cs typeface="Palatino Linotype"/>
              </a:rPr>
              <a:t>o</a:t>
            </a:r>
            <a:r>
              <a:rPr sz="2000" kern="1200" dirty="0">
                <a:solidFill>
                  <a:prstClr val="black"/>
                </a:solidFill>
                <a:latin typeface="Palatino Linotype"/>
                <a:cs typeface="Palatino Linotype"/>
              </a:rPr>
              <a:t>f</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FIRS</a:t>
            </a:r>
            <a:r>
              <a:rPr sz="2000" kern="1200" spc="-5" dirty="0">
                <a:solidFill>
                  <a:prstClr val="black"/>
                </a:solidFill>
                <a:latin typeface="Palatino Linotype"/>
                <a:cs typeface="Palatino Linotype"/>
              </a:rPr>
              <a:t>T(</a:t>
            </a:r>
            <a:r>
              <a:rPr sz="2000" kern="1200" spc="-95" dirty="0">
                <a:solidFill>
                  <a:prstClr val="black"/>
                </a:solidFill>
                <a:latin typeface="Cambria Math"/>
                <a:cs typeface="Cambria Math"/>
              </a:rPr>
              <a:t>𝑋</a:t>
            </a:r>
            <a:r>
              <a:rPr lang="en-US" altLang="zh-CN" sz="2250" kern="1200" spc="434" baseline="-14814" dirty="0">
                <a:solidFill>
                  <a:prstClr val="black"/>
                </a:solidFill>
                <a:latin typeface="Cambria Math"/>
                <a:cs typeface="Cambria Math"/>
              </a:rPr>
              <a:t>3</a:t>
            </a:r>
            <a:r>
              <a:rPr sz="2000" kern="1200" dirty="0">
                <a:solidFill>
                  <a:prstClr val="black"/>
                </a:solidFill>
                <a:latin typeface="Palatino Linotype"/>
                <a:cs typeface="Palatino Linotype"/>
              </a:rPr>
              <a:t>)</a:t>
            </a:r>
            <a:r>
              <a:rPr sz="2000" kern="1200" spc="-5" dirty="0">
                <a:solidFill>
                  <a:prstClr val="black"/>
                </a:solidFill>
                <a:latin typeface="Palatino Linotype"/>
                <a:cs typeface="Palatino Linotype"/>
              </a:rPr>
              <a:t> t</a:t>
            </a:r>
            <a:r>
              <a:rPr sz="2000" kern="1200" dirty="0">
                <a:solidFill>
                  <a:prstClr val="black"/>
                </a:solidFill>
                <a:latin typeface="Palatino Linotype"/>
                <a:cs typeface="Palatino Linotype"/>
              </a:rPr>
              <a:t>o</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FIRS</a:t>
            </a:r>
            <a:r>
              <a:rPr sz="2000" kern="1200" spc="-5" dirty="0">
                <a:solidFill>
                  <a:prstClr val="black"/>
                </a:solidFill>
                <a:latin typeface="Palatino Linotype"/>
                <a:cs typeface="Palatino Linotype"/>
              </a:rPr>
              <a:t>T(</a:t>
            </a:r>
            <a:r>
              <a:rPr sz="2000" kern="1200" spc="-140" dirty="0">
                <a:solidFill>
                  <a:prstClr val="black"/>
                </a:solidFill>
                <a:latin typeface="Cambria Math"/>
                <a:cs typeface="Cambria Math"/>
              </a:rPr>
              <a:t>𝑋</a:t>
            </a:r>
            <a:r>
              <a:rPr sz="2250" kern="1200" spc="150" baseline="-14814" dirty="0">
                <a:solidFill>
                  <a:prstClr val="black"/>
                </a:solidFill>
                <a:latin typeface="Cambria Math"/>
                <a:cs typeface="Cambria Math"/>
              </a:rPr>
              <a:t>1</a:t>
            </a:r>
            <a:r>
              <a:rPr sz="2000" kern="1200" spc="-95" dirty="0">
                <a:solidFill>
                  <a:prstClr val="black"/>
                </a:solidFill>
                <a:latin typeface="Cambria Math"/>
                <a:cs typeface="Cambria Math"/>
              </a:rPr>
              <a:t>𝑋</a:t>
            </a:r>
            <a:r>
              <a:rPr lang="en-US" altLang="zh-CN" sz="2250" kern="1200" spc="-247" baseline="-14814" dirty="0">
                <a:solidFill>
                  <a:prstClr val="black"/>
                </a:solidFill>
                <a:latin typeface="Cambria Math"/>
                <a:cs typeface="Cambria Math"/>
              </a:rPr>
              <a:t>2</a:t>
            </a:r>
            <a:r>
              <a:rPr sz="2250" kern="1200" spc="97" baseline="-14814"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4" dirty="0">
                <a:solidFill>
                  <a:prstClr val="black"/>
                </a:solidFill>
                <a:latin typeface="Cambria Math"/>
                <a:cs typeface="Cambria Math"/>
              </a:rPr>
              <a:t> </a:t>
            </a:r>
            <a:r>
              <a:rPr sz="2000" kern="1200" spc="-95" dirty="0">
                <a:solidFill>
                  <a:prstClr val="black"/>
                </a:solidFill>
                <a:latin typeface="Cambria Math"/>
                <a:cs typeface="Cambria Math"/>
              </a:rPr>
              <a:t>𝑋</a:t>
            </a:r>
            <a:r>
              <a:rPr sz="2250" kern="1200" spc="412" baseline="-14814" dirty="0">
                <a:solidFill>
                  <a:prstClr val="black"/>
                </a:solidFill>
                <a:latin typeface="Cambria Math"/>
                <a:cs typeface="Cambria Math"/>
              </a:rPr>
              <a:t>𝑛</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a:t>
            </a:r>
            <a:r>
              <a:rPr sz="2000" kern="1200" spc="-5" dirty="0">
                <a:solidFill>
                  <a:prstClr val="black"/>
                </a:solidFill>
                <a:latin typeface="Palatino Linotype"/>
                <a:cs typeface="Palatino Linotype"/>
              </a:rPr>
              <a:t> </a:t>
            </a:r>
            <a:r>
              <a:rPr sz="2000" kern="1200" dirty="0">
                <a:solidFill>
                  <a:srgbClr val="FF0000"/>
                </a:solidFill>
                <a:latin typeface="Palatino Linotype"/>
                <a:cs typeface="Palatino Linotype"/>
              </a:rPr>
              <a:t>…</a:t>
            </a:r>
            <a:endParaRPr sz="2000" kern="1200" dirty="0">
              <a:solidFill>
                <a:prstClr val="black"/>
              </a:solidFill>
              <a:latin typeface="Palatino Linotype"/>
              <a:cs typeface="Palatino Linotype"/>
            </a:endParaRPr>
          </a:p>
          <a:p>
            <a:pPr rtl="0"/>
            <a:endParaRPr sz="2150" kern="1200" dirty="0">
              <a:solidFill>
                <a:prstClr val="black"/>
              </a:solidFill>
              <a:latin typeface="Palatino Linotype"/>
              <a:cs typeface="Palatino Linotype"/>
            </a:endParaRPr>
          </a:p>
          <a:p>
            <a:pPr marL="749300" lvl="1" indent="-228600" rtl="0">
              <a:buFont typeface="Wingdings"/>
              <a:buChar char=""/>
              <a:tabLst>
                <a:tab pos="749300" algn="l"/>
              </a:tabLst>
            </a:pPr>
            <a:r>
              <a:rPr sz="2000" kern="1200" dirty="0">
                <a:solidFill>
                  <a:prstClr val="black"/>
                </a:solidFill>
                <a:latin typeface="Palatino Linotype"/>
                <a:cs typeface="Palatino Linotype"/>
              </a:rPr>
              <a:t>If</a:t>
            </a:r>
            <a:r>
              <a:rPr sz="2000" kern="1200" spc="-5" dirty="0">
                <a:solidFill>
                  <a:prstClr val="black"/>
                </a:solidFill>
                <a:latin typeface="Palatino Linotype"/>
                <a:cs typeface="Palatino Linotype"/>
              </a:rPr>
              <a:t> </a:t>
            </a:r>
            <a:r>
              <a:rPr sz="2000" kern="1200" dirty="0">
                <a:solidFill>
                  <a:srgbClr val="FF0000"/>
                </a:solidFill>
                <a:latin typeface="Cambria Math"/>
                <a:cs typeface="Cambria Math"/>
              </a:rPr>
              <a:t>𝜖</a:t>
            </a:r>
            <a:r>
              <a:rPr sz="2000" kern="1200" spc="50" dirty="0">
                <a:solidFill>
                  <a:srgbClr val="FF0000"/>
                </a:solidFill>
                <a:latin typeface="Cambria Math"/>
                <a:cs typeface="Cambria Math"/>
              </a:rPr>
              <a:t> </a:t>
            </a:r>
            <a:r>
              <a:rPr sz="2000" kern="1200" spc="5" dirty="0">
                <a:solidFill>
                  <a:srgbClr val="FF0000"/>
                </a:solidFill>
                <a:latin typeface="Palatino Linotype"/>
                <a:cs typeface="Palatino Linotype"/>
              </a:rPr>
              <a:t>i</a:t>
            </a:r>
            <a:r>
              <a:rPr sz="2000" kern="1200" dirty="0">
                <a:solidFill>
                  <a:srgbClr val="FF0000"/>
                </a:solidFill>
                <a:latin typeface="Palatino Linotype"/>
                <a:cs typeface="Palatino Linotype"/>
              </a:rPr>
              <a:t>s </a:t>
            </a:r>
            <a:r>
              <a:rPr sz="2000" kern="1200" spc="5" dirty="0">
                <a:solidFill>
                  <a:srgbClr val="FF0000"/>
                </a:solidFill>
                <a:latin typeface="Palatino Linotype"/>
                <a:cs typeface="Palatino Linotype"/>
              </a:rPr>
              <a:t>i</a:t>
            </a:r>
            <a:r>
              <a:rPr sz="2000" kern="1200" dirty="0">
                <a:solidFill>
                  <a:srgbClr val="FF0000"/>
                </a:solidFill>
                <a:latin typeface="Palatino Linotype"/>
                <a:cs typeface="Palatino Linotype"/>
              </a:rPr>
              <a:t>n</a:t>
            </a:r>
            <a:r>
              <a:rPr sz="2000" kern="1200" spc="-5" dirty="0">
                <a:solidFill>
                  <a:srgbClr val="FF0000"/>
                </a:solidFill>
                <a:latin typeface="Palatino Linotype"/>
                <a:cs typeface="Palatino Linotype"/>
              </a:rPr>
              <a:t> </a:t>
            </a:r>
            <a:r>
              <a:rPr sz="2000" kern="1200" dirty="0">
                <a:solidFill>
                  <a:srgbClr val="FF0000"/>
                </a:solidFill>
                <a:latin typeface="Palatino Linotype"/>
                <a:cs typeface="Palatino Linotype"/>
              </a:rPr>
              <a:t>FIRS</a:t>
            </a:r>
            <a:r>
              <a:rPr sz="2000" kern="1200" spc="-5" dirty="0">
                <a:solidFill>
                  <a:srgbClr val="FF0000"/>
                </a:solidFill>
                <a:latin typeface="Palatino Linotype"/>
                <a:cs typeface="Palatino Linotype"/>
              </a:rPr>
              <a:t>T(</a:t>
            </a:r>
            <a:r>
              <a:rPr sz="2000" kern="1200" spc="-95" dirty="0">
                <a:solidFill>
                  <a:srgbClr val="FF0000"/>
                </a:solidFill>
                <a:latin typeface="Cambria Math"/>
                <a:cs typeface="Cambria Math"/>
              </a:rPr>
              <a:t>𝑋</a:t>
            </a:r>
            <a:r>
              <a:rPr lang="en-US" altLang="zh-CN" sz="2250" kern="1200" spc="-719" baseline="-14814" dirty="0">
                <a:solidFill>
                  <a:srgbClr val="FF0000"/>
                </a:solidFill>
                <a:latin typeface="Cambria Math"/>
                <a:cs typeface="Cambria Math"/>
              </a:rPr>
              <a:t>i</a:t>
            </a:r>
            <a:r>
              <a:rPr sz="2000" kern="1200" dirty="0">
                <a:solidFill>
                  <a:srgbClr val="FF0000"/>
                </a:solidFill>
                <a:latin typeface="Palatino Linotype"/>
                <a:cs typeface="Palatino Linotype"/>
              </a:rPr>
              <a:t>)</a:t>
            </a:r>
            <a:r>
              <a:rPr sz="2000" kern="1200" spc="-5" dirty="0">
                <a:solidFill>
                  <a:srgbClr val="FF0000"/>
                </a:solidFill>
                <a:latin typeface="Palatino Linotype"/>
                <a:cs typeface="Palatino Linotype"/>
              </a:rPr>
              <a:t> fo</a:t>
            </a:r>
            <a:r>
              <a:rPr sz="2000" kern="1200" dirty="0">
                <a:solidFill>
                  <a:srgbClr val="FF0000"/>
                </a:solidFill>
                <a:latin typeface="Palatino Linotype"/>
                <a:cs typeface="Palatino Linotype"/>
              </a:rPr>
              <a:t>r</a:t>
            </a:r>
            <a:r>
              <a:rPr sz="2000" kern="1200" spc="-5" dirty="0">
                <a:solidFill>
                  <a:srgbClr val="FF0000"/>
                </a:solidFill>
                <a:latin typeface="Palatino Linotype"/>
                <a:cs typeface="Palatino Linotype"/>
              </a:rPr>
              <a:t> </a:t>
            </a:r>
            <a:r>
              <a:rPr sz="2000" kern="1200" dirty="0">
                <a:solidFill>
                  <a:srgbClr val="FF0000"/>
                </a:solidFill>
                <a:latin typeface="Palatino Linotype"/>
                <a:cs typeface="Palatino Linotype"/>
              </a:rPr>
              <a:t>a</a:t>
            </a:r>
            <a:r>
              <a:rPr sz="2000" kern="1200" spc="5" dirty="0">
                <a:solidFill>
                  <a:srgbClr val="FF0000"/>
                </a:solidFill>
                <a:latin typeface="Palatino Linotype"/>
                <a:cs typeface="Palatino Linotype"/>
              </a:rPr>
              <a:t>l</a:t>
            </a:r>
            <a:r>
              <a:rPr sz="2000" kern="1200" dirty="0">
                <a:solidFill>
                  <a:srgbClr val="FF0000"/>
                </a:solidFill>
                <a:latin typeface="Palatino Linotype"/>
                <a:cs typeface="Palatino Linotype"/>
              </a:rPr>
              <a:t>l</a:t>
            </a:r>
            <a:r>
              <a:rPr sz="2000" kern="1200" spc="5" dirty="0">
                <a:solidFill>
                  <a:srgbClr val="FF0000"/>
                </a:solidFill>
                <a:latin typeface="Palatino Linotype"/>
                <a:cs typeface="Palatino Linotype"/>
              </a:rPr>
              <a:t> </a:t>
            </a:r>
            <a:r>
              <a:rPr sz="2000" kern="1200" spc="65" dirty="0">
                <a:solidFill>
                  <a:srgbClr val="FF0000"/>
                </a:solidFill>
                <a:latin typeface="Cambria Math"/>
                <a:cs typeface="Cambria Math"/>
              </a:rPr>
              <a:t>𝑖</a:t>
            </a:r>
            <a:r>
              <a:rPr sz="2000" kern="1200" dirty="0">
                <a:solidFill>
                  <a:srgbClr val="FF0000"/>
                </a:solidFill>
                <a:latin typeface="Palatino Linotype"/>
                <a:cs typeface="Palatino Linotype"/>
              </a:rPr>
              <a:t>, </a:t>
            </a:r>
            <a:r>
              <a:rPr sz="2000" kern="1200" dirty="0">
                <a:solidFill>
                  <a:prstClr val="black"/>
                </a:solidFill>
                <a:latin typeface="Palatino Linotype"/>
                <a:cs typeface="Palatino Linotype"/>
              </a:rPr>
              <a:t>add </a:t>
            </a:r>
            <a:r>
              <a:rPr sz="2000" kern="1200" dirty="0">
                <a:solidFill>
                  <a:prstClr val="black"/>
                </a:solidFill>
                <a:latin typeface="Cambria Math"/>
                <a:cs typeface="Cambria Math"/>
              </a:rPr>
              <a:t>𝜖</a:t>
            </a:r>
            <a:r>
              <a:rPr sz="2000" kern="1200" spc="50" dirty="0">
                <a:solidFill>
                  <a:prstClr val="black"/>
                </a:solidFill>
                <a:latin typeface="Cambria Math"/>
                <a:cs typeface="Cambria Math"/>
              </a:rPr>
              <a:t> </a:t>
            </a:r>
            <a:r>
              <a:rPr sz="2000" kern="1200" spc="-5" dirty="0">
                <a:solidFill>
                  <a:prstClr val="black"/>
                </a:solidFill>
                <a:latin typeface="Palatino Linotype"/>
                <a:cs typeface="Palatino Linotype"/>
              </a:rPr>
              <a:t>t</a:t>
            </a:r>
            <a:r>
              <a:rPr sz="2000" kern="1200" dirty="0">
                <a:solidFill>
                  <a:prstClr val="black"/>
                </a:solidFill>
                <a:latin typeface="Palatino Linotype"/>
                <a:cs typeface="Palatino Linotype"/>
              </a:rPr>
              <a:t>o</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FIRS</a:t>
            </a:r>
            <a:r>
              <a:rPr sz="2000" kern="1200" spc="-5" dirty="0">
                <a:solidFill>
                  <a:prstClr val="black"/>
                </a:solidFill>
                <a:latin typeface="Palatino Linotype"/>
                <a:cs typeface="Palatino Linotype"/>
              </a:rPr>
              <a:t>T(</a:t>
            </a:r>
            <a:r>
              <a:rPr sz="2000" kern="1200" spc="-140" dirty="0">
                <a:solidFill>
                  <a:prstClr val="black"/>
                </a:solidFill>
                <a:latin typeface="Cambria Math"/>
                <a:cs typeface="Cambria Math"/>
              </a:rPr>
              <a:t>𝑋</a:t>
            </a:r>
            <a:r>
              <a:rPr sz="2250" kern="1200" spc="150" baseline="-14814" dirty="0">
                <a:solidFill>
                  <a:prstClr val="black"/>
                </a:solidFill>
                <a:latin typeface="Cambria Math"/>
                <a:cs typeface="Cambria Math"/>
              </a:rPr>
              <a:t>1</a:t>
            </a:r>
            <a:r>
              <a:rPr sz="2000" kern="1200" spc="-95" dirty="0">
                <a:solidFill>
                  <a:prstClr val="black"/>
                </a:solidFill>
                <a:latin typeface="Cambria Math"/>
                <a:cs typeface="Cambria Math"/>
              </a:rPr>
              <a:t>𝑋</a:t>
            </a:r>
            <a:r>
              <a:rPr lang="en-US" altLang="zh-CN" sz="2250" kern="1200" spc="-247" baseline="-14814" dirty="0">
                <a:solidFill>
                  <a:prstClr val="black"/>
                </a:solidFill>
                <a:latin typeface="Cambria Math"/>
                <a:cs typeface="Cambria Math"/>
              </a:rPr>
              <a:t>2</a:t>
            </a:r>
            <a:r>
              <a:rPr sz="2250" kern="1200" spc="97" baseline="-14814"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4" dirty="0">
                <a:solidFill>
                  <a:prstClr val="black"/>
                </a:solidFill>
                <a:latin typeface="Cambria Math"/>
                <a:cs typeface="Cambria Math"/>
              </a:rPr>
              <a:t> </a:t>
            </a:r>
            <a:r>
              <a:rPr sz="2000" kern="1200" spc="-95" dirty="0">
                <a:solidFill>
                  <a:prstClr val="black"/>
                </a:solidFill>
                <a:latin typeface="Cambria Math"/>
                <a:cs typeface="Cambria Math"/>
              </a:rPr>
              <a:t>𝑋</a:t>
            </a:r>
            <a:r>
              <a:rPr sz="2250" kern="1200" spc="412" baseline="-14814" dirty="0">
                <a:solidFill>
                  <a:prstClr val="black"/>
                </a:solidFill>
                <a:latin typeface="Cambria Math"/>
                <a:cs typeface="Cambria Math"/>
              </a:rPr>
              <a:t>𝑛</a:t>
            </a:r>
            <a:r>
              <a:rPr sz="2000" kern="1200" dirty="0">
                <a:solidFill>
                  <a:prstClr val="black"/>
                </a:solidFill>
                <a:latin typeface="Palatino Linotype"/>
                <a:cs typeface="Palatino Linotype"/>
              </a:rPr>
              <a:t>)</a:t>
            </a:r>
          </a:p>
        </p:txBody>
      </p:sp>
    </p:spTree>
    <p:extLst>
      <p:ext uri="{BB962C8B-B14F-4D97-AF65-F5344CB8AC3E}">
        <p14:creationId xmlns:p14="http://schemas.microsoft.com/office/powerpoint/2010/main" val="33686064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66</a:t>
            </a:fld>
            <a:endParaRPr lang="en-US"/>
          </a:p>
        </p:txBody>
      </p:sp>
      <p:sp>
        <p:nvSpPr>
          <p:cNvPr id="28" name="object 2">
            <a:extLst>
              <a:ext uri="{FF2B5EF4-FFF2-40B4-BE49-F238E27FC236}">
                <a16:creationId xmlns:a16="http://schemas.microsoft.com/office/drawing/2014/main" id="{4BF3AA2C-398E-F098-DAF4-2E6A45EE5268}"/>
              </a:ext>
            </a:extLst>
          </p:cNvPr>
          <p:cNvSpPr txBox="1">
            <a:spLocks/>
          </p:cNvSpPr>
          <p:nvPr/>
        </p:nvSpPr>
        <p:spPr>
          <a:xfrm>
            <a:off x="707390" y="524763"/>
            <a:ext cx="364553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FIRST</a:t>
            </a:r>
            <a:r>
              <a:rPr kumimoji="0" lang="en-US" sz="4000" b="1" i="0" u="none" strike="noStrike" kern="0" cap="none" spc="-10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9" name="object 3">
            <a:extLst>
              <a:ext uri="{FF2B5EF4-FFF2-40B4-BE49-F238E27FC236}">
                <a16:creationId xmlns:a16="http://schemas.microsoft.com/office/drawing/2014/main" id="{DEB56C57-E851-08C5-E03F-5CEDF1528675}"/>
              </a:ext>
            </a:extLst>
          </p:cNvPr>
          <p:cNvSpPr txBox="1"/>
          <p:nvPr/>
        </p:nvSpPr>
        <p:spPr>
          <a:xfrm>
            <a:off x="707390" y="1657603"/>
            <a:ext cx="1595755" cy="391160"/>
          </a:xfrm>
          <a:prstGeom prst="rect">
            <a:avLst/>
          </a:prstGeom>
        </p:spPr>
        <p:txBody>
          <a:bodyPr vert="horz" wrap="square" lIns="0" tIns="12700" rIns="0" bIns="0" rtlCol="0">
            <a:spAutoFit/>
          </a:bodyPr>
          <a:lstStyle/>
          <a:p>
            <a:pPr marL="243204" indent="-230504" rtl="0">
              <a:spcBef>
                <a:spcPts val="100"/>
              </a:spcBef>
              <a:buFont typeface="Arial MT"/>
              <a:buChar char="•"/>
              <a:tabLst>
                <a:tab pos="243204" algn="l"/>
              </a:tabLst>
            </a:pPr>
            <a:r>
              <a:rPr sz="2400" b="1" kern="1200" dirty="0">
                <a:solidFill>
                  <a:prstClr val="black"/>
                </a:solidFill>
                <a:latin typeface="Palatino Linotype"/>
                <a:cs typeface="Palatino Linotype"/>
              </a:rPr>
              <a:t>Grammar</a:t>
            </a:r>
            <a:endParaRPr sz="2400" kern="1200">
              <a:solidFill>
                <a:prstClr val="black"/>
              </a:solidFill>
              <a:latin typeface="Palatino Linotype"/>
              <a:cs typeface="Palatino Linotype"/>
            </a:endParaRPr>
          </a:p>
        </p:txBody>
      </p:sp>
      <p:sp>
        <p:nvSpPr>
          <p:cNvPr id="30" name="object 4">
            <a:extLst>
              <a:ext uri="{FF2B5EF4-FFF2-40B4-BE49-F238E27FC236}">
                <a16:creationId xmlns:a16="http://schemas.microsoft.com/office/drawing/2014/main" id="{23ADE893-E75B-80E5-2A94-48D8B81F15CB}"/>
              </a:ext>
            </a:extLst>
          </p:cNvPr>
          <p:cNvSpPr txBox="1"/>
          <p:nvPr/>
        </p:nvSpPr>
        <p:spPr>
          <a:xfrm>
            <a:off x="1164589" y="2025395"/>
            <a:ext cx="1151890" cy="915669"/>
          </a:xfrm>
          <a:prstGeom prst="rect">
            <a:avLst/>
          </a:prstGeom>
        </p:spPr>
        <p:txBody>
          <a:bodyPr vert="horz" wrap="square" lIns="0" tIns="153035" rIns="0" bIns="0" rtlCol="0">
            <a:spAutoFit/>
          </a:bodyPr>
          <a:lstStyle/>
          <a:p>
            <a:pPr marL="241300" indent="-228600" rtl="0">
              <a:spcBef>
                <a:spcPts val="1205"/>
              </a:spcBef>
              <a:buFont typeface="Wingdings"/>
              <a:buChar char=""/>
              <a:tabLst>
                <a:tab pos="241300" algn="l"/>
              </a:tabLst>
            </a:pPr>
            <a:r>
              <a:rPr sz="2000" kern="1200" dirty="0">
                <a:solidFill>
                  <a:prstClr val="black"/>
                </a:solidFill>
                <a:latin typeface="Cambria Math"/>
                <a:cs typeface="Cambria Math"/>
              </a:rPr>
              <a:t>𝐸</a:t>
            </a:r>
            <a:r>
              <a:rPr sz="2000" kern="1200" spc="14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70" dirty="0">
                <a:solidFill>
                  <a:prstClr val="black"/>
                </a:solidFill>
                <a:latin typeface="Cambria Math"/>
                <a:cs typeface="Cambria Math"/>
              </a:rPr>
              <a:t> </a:t>
            </a:r>
            <a:r>
              <a:rPr sz="2000" kern="1200" spc="-5" dirty="0">
                <a:solidFill>
                  <a:prstClr val="black"/>
                </a:solidFill>
                <a:latin typeface="Cambria Math"/>
                <a:cs typeface="Cambria Math"/>
              </a:rPr>
              <a:t>𝑇𝐸′</a:t>
            </a:r>
            <a:endParaRPr sz="2000" kern="1200">
              <a:solidFill>
                <a:prstClr val="black"/>
              </a:solidFill>
              <a:latin typeface="Cambria Math"/>
              <a:cs typeface="Cambria Math"/>
            </a:endParaRPr>
          </a:p>
          <a:p>
            <a:pPr marL="241300" indent="-228600" rtl="0">
              <a:spcBef>
                <a:spcPts val="1100"/>
              </a:spcBef>
              <a:buFont typeface="Wingdings"/>
              <a:buChar char=""/>
              <a:tabLst>
                <a:tab pos="241300" algn="l"/>
              </a:tabLst>
            </a:pPr>
            <a:r>
              <a:rPr sz="2000" kern="1200" dirty="0">
                <a:solidFill>
                  <a:prstClr val="black"/>
                </a:solidFill>
                <a:latin typeface="Cambria Math"/>
                <a:cs typeface="Cambria Math"/>
              </a:rPr>
              <a:t>𝑇</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70" dirty="0">
                <a:solidFill>
                  <a:prstClr val="black"/>
                </a:solidFill>
                <a:latin typeface="Cambria Math"/>
                <a:cs typeface="Cambria Math"/>
              </a:rPr>
              <a:t> </a:t>
            </a:r>
            <a:r>
              <a:rPr sz="2000" kern="1200" spc="-5" dirty="0">
                <a:solidFill>
                  <a:prstClr val="black"/>
                </a:solidFill>
                <a:latin typeface="Cambria Math"/>
                <a:cs typeface="Cambria Math"/>
              </a:rPr>
              <a:t>𝐹𝑇′</a:t>
            </a:r>
            <a:endParaRPr sz="2000" kern="1200">
              <a:solidFill>
                <a:prstClr val="black"/>
              </a:solidFill>
              <a:latin typeface="Cambria Math"/>
              <a:cs typeface="Cambria Math"/>
            </a:endParaRPr>
          </a:p>
        </p:txBody>
      </p:sp>
      <p:sp>
        <p:nvSpPr>
          <p:cNvPr id="31" name="object 5">
            <a:extLst>
              <a:ext uri="{FF2B5EF4-FFF2-40B4-BE49-F238E27FC236}">
                <a16:creationId xmlns:a16="http://schemas.microsoft.com/office/drawing/2014/main" id="{7DFDDBF4-E602-C564-A650-ADA75A156475}"/>
              </a:ext>
            </a:extLst>
          </p:cNvPr>
          <p:cNvSpPr txBox="1"/>
          <p:nvPr/>
        </p:nvSpPr>
        <p:spPr>
          <a:xfrm>
            <a:off x="3425190" y="2025395"/>
            <a:ext cx="1579245" cy="915669"/>
          </a:xfrm>
          <a:prstGeom prst="rect">
            <a:avLst/>
          </a:prstGeom>
        </p:spPr>
        <p:txBody>
          <a:bodyPr vert="horz" wrap="square" lIns="0" tIns="153035" rIns="0" bIns="0" rtlCol="0">
            <a:spAutoFit/>
          </a:bodyPr>
          <a:lstStyle/>
          <a:p>
            <a:pPr marL="38100" rtl="0">
              <a:spcBef>
                <a:spcPts val="1205"/>
              </a:spcBef>
            </a:pPr>
            <a:r>
              <a:rPr sz="2000" kern="1200" spc="125" dirty="0">
                <a:solidFill>
                  <a:prstClr val="black"/>
                </a:solidFill>
                <a:latin typeface="Cambria Math"/>
                <a:cs typeface="Cambria Math"/>
              </a:rPr>
              <a:t>𝐸</a:t>
            </a:r>
            <a:r>
              <a:rPr sz="2250" kern="1200" spc="187" baseline="25925" dirty="0">
                <a:solidFill>
                  <a:prstClr val="black"/>
                </a:solidFill>
                <a:latin typeface="Cambria Math"/>
                <a:cs typeface="Cambria Math"/>
              </a:rPr>
              <a:t>'</a:t>
            </a:r>
            <a:r>
              <a:rPr sz="2250" kern="1200" spc="405" baseline="259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90" dirty="0">
                <a:solidFill>
                  <a:prstClr val="black"/>
                </a:solidFill>
                <a:latin typeface="Cambria Math"/>
                <a:cs typeface="Cambria Math"/>
              </a:rPr>
              <a:t> </a:t>
            </a:r>
            <a:r>
              <a:rPr sz="2000" kern="1200" spc="70" dirty="0">
                <a:solidFill>
                  <a:prstClr val="black"/>
                </a:solidFill>
                <a:latin typeface="Cambria Math"/>
                <a:cs typeface="Cambria Math"/>
              </a:rPr>
              <a:t>+𝑇𝐸</a:t>
            </a:r>
            <a:r>
              <a:rPr sz="2250" kern="1200" spc="104" baseline="25925" dirty="0">
                <a:solidFill>
                  <a:prstClr val="black"/>
                </a:solidFill>
                <a:latin typeface="Cambria Math"/>
                <a:cs typeface="Cambria Math"/>
              </a:rPr>
              <a:t>'</a:t>
            </a:r>
            <a:r>
              <a:rPr sz="2250" kern="1200" spc="247" baseline="259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20" dirty="0">
                <a:solidFill>
                  <a:prstClr val="black"/>
                </a:solidFill>
                <a:latin typeface="Cambria Math"/>
                <a:cs typeface="Cambria Math"/>
              </a:rPr>
              <a:t> </a:t>
            </a:r>
            <a:r>
              <a:rPr sz="2000" kern="1200" dirty="0">
                <a:solidFill>
                  <a:prstClr val="black"/>
                </a:solidFill>
                <a:latin typeface="Cambria Math"/>
                <a:cs typeface="Cambria Math"/>
              </a:rPr>
              <a:t>𝜖</a:t>
            </a:r>
            <a:endParaRPr sz="2000" kern="1200">
              <a:solidFill>
                <a:prstClr val="black"/>
              </a:solidFill>
              <a:latin typeface="Cambria Math"/>
              <a:cs typeface="Cambria Math"/>
            </a:endParaRPr>
          </a:p>
          <a:p>
            <a:pPr marL="38100" rtl="0">
              <a:spcBef>
                <a:spcPts val="1100"/>
              </a:spcBef>
            </a:pPr>
            <a:r>
              <a:rPr sz="2000" kern="1200" spc="135" dirty="0">
                <a:solidFill>
                  <a:prstClr val="black"/>
                </a:solidFill>
                <a:latin typeface="Cambria Math"/>
                <a:cs typeface="Cambria Math"/>
              </a:rPr>
              <a:t>𝑇</a:t>
            </a:r>
            <a:r>
              <a:rPr sz="2250" kern="1200" spc="202" baseline="25925" dirty="0">
                <a:solidFill>
                  <a:prstClr val="black"/>
                </a:solidFill>
                <a:latin typeface="Cambria Math"/>
                <a:cs typeface="Cambria Math"/>
              </a:rPr>
              <a:t>'</a:t>
            </a:r>
            <a:r>
              <a:rPr sz="2250" kern="1200" spc="405" baseline="25925" dirty="0">
                <a:solidFill>
                  <a:prstClr val="black"/>
                </a:solidFill>
                <a:latin typeface="Cambria Math"/>
                <a:cs typeface="Cambria Math"/>
              </a:rPr>
              <a:t> </a:t>
            </a:r>
            <a:r>
              <a:rPr sz="2000" kern="1200" spc="-5" dirty="0">
                <a:solidFill>
                  <a:prstClr val="black"/>
                </a:solidFill>
                <a:latin typeface="Cambria Math"/>
                <a:cs typeface="Cambria Math"/>
              </a:rPr>
              <a:t>→∗</a:t>
            </a:r>
            <a:r>
              <a:rPr sz="2000" kern="1200" spc="-15" dirty="0">
                <a:solidFill>
                  <a:prstClr val="black"/>
                </a:solidFill>
                <a:latin typeface="Cambria Math"/>
                <a:cs typeface="Cambria Math"/>
              </a:rPr>
              <a:t> </a:t>
            </a:r>
            <a:r>
              <a:rPr sz="2000" kern="1200" spc="114" dirty="0">
                <a:solidFill>
                  <a:prstClr val="black"/>
                </a:solidFill>
                <a:latin typeface="Cambria Math"/>
                <a:cs typeface="Cambria Math"/>
              </a:rPr>
              <a:t>𝐹𝑇</a:t>
            </a:r>
            <a:r>
              <a:rPr sz="2250" kern="1200" spc="172" baseline="25925" dirty="0">
                <a:solidFill>
                  <a:prstClr val="black"/>
                </a:solidFill>
                <a:latin typeface="Cambria Math"/>
                <a:cs typeface="Cambria Math"/>
              </a:rPr>
              <a:t>'</a:t>
            </a:r>
            <a:r>
              <a:rPr sz="2250" kern="1200" spc="247" baseline="259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20" dirty="0">
                <a:solidFill>
                  <a:prstClr val="black"/>
                </a:solidFill>
                <a:latin typeface="Cambria Math"/>
                <a:cs typeface="Cambria Math"/>
              </a:rPr>
              <a:t> </a:t>
            </a:r>
            <a:r>
              <a:rPr sz="2000" kern="1200" dirty="0">
                <a:solidFill>
                  <a:prstClr val="black"/>
                </a:solidFill>
                <a:latin typeface="Cambria Math"/>
                <a:cs typeface="Cambria Math"/>
              </a:rPr>
              <a:t>𝜖</a:t>
            </a:r>
            <a:endParaRPr sz="2000" kern="1200">
              <a:solidFill>
                <a:prstClr val="black"/>
              </a:solidFill>
              <a:latin typeface="Cambria Math"/>
              <a:cs typeface="Cambria Math"/>
            </a:endParaRPr>
          </a:p>
        </p:txBody>
      </p:sp>
      <p:sp>
        <p:nvSpPr>
          <p:cNvPr id="32" name="object 6">
            <a:extLst>
              <a:ext uri="{FF2B5EF4-FFF2-40B4-BE49-F238E27FC236}">
                <a16:creationId xmlns:a16="http://schemas.microsoft.com/office/drawing/2014/main" id="{AB67BFAA-D71E-EAFE-0BBC-D233C5D9CEEC}"/>
              </a:ext>
            </a:extLst>
          </p:cNvPr>
          <p:cNvSpPr/>
          <p:nvPr/>
        </p:nvSpPr>
        <p:spPr>
          <a:xfrm>
            <a:off x="6748116" y="2687621"/>
            <a:ext cx="335280" cy="235585"/>
          </a:xfrm>
          <a:custGeom>
            <a:avLst/>
            <a:gdLst/>
            <a:ahLst/>
            <a:cxnLst/>
            <a:rect l="l" t="t" r="r" b="b"/>
            <a:pathLst>
              <a:path w="335279" h="235585">
                <a:moveTo>
                  <a:pt x="259802" y="0"/>
                </a:moveTo>
                <a:lnTo>
                  <a:pt x="256454" y="9549"/>
                </a:lnTo>
                <a:lnTo>
                  <a:pt x="270073" y="15459"/>
                </a:lnTo>
                <a:lnTo>
                  <a:pt x="281785" y="23641"/>
                </a:lnTo>
                <a:lnTo>
                  <a:pt x="305567" y="61565"/>
                </a:lnTo>
                <a:lnTo>
                  <a:pt x="313381" y="116457"/>
                </a:lnTo>
                <a:lnTo>
                  <a:pt x="312509" y="137208"/>
                </a:lnTo>
                <a:lnTo>
                  <a:pt x="299429" y="188019"/>
                </a:lnTo>
                <a:lnTo>
                  <a:pt x="270233" y="219784"/>
                </a:lnTo>
                <a:lnTo>
                  <a:pt x="256827" y="225722"/>
                </a:lnTo>
                <a:lnTo>
                  <a:pt x="259802" y="235272"/>
                </a:lnTo>
                <a:lnTo>
                  <a:pt x="304753" y="208564"/>
                </a:lnTo>
                <a:lnTo>
                  <a:pt x="329999" y="159260"/>
                </a:lnTo>
                <a:lnTo>
                  <a:pt x="334836" y="117697"/>
                </a:lnTo>
                <a:lnTo>
                  <a:pt x="333623" y="96129"/>
                </a:lnTo>
                <a:lnTo>
                  <a:pt x="323919" y="57898"/>
                </a:lnTo>
                <a:lnTo>
                  <a:pt x="291816" y="15083"/>
                </a:lnTo>
                <a:lnTo>
                  <a:pt x="276860" y="6158"/>
                </a:lnTo>
                <a:lnTo>
                  <a:pt x="259802" y="0"/>
                </a:lnTo>
                <a:close/>
              </a:path>
              <a:path w="335279" h="235585">
                <a:moveTo>
                  <a:pt x="75034" y="0"/>
                </a:moveTo>
                <a:lnTo>
                  <a:pt x="30164" y="26776"/>
                </a:lnTo>
                <a:lnTo>
                  <a:pt x="4852" y="76196"/>
                </a:lnTo>
                <a:lnTo>
                  <a:pt x="0" y="117697"/>
                </a:lnTo>
                <a:lnTo>
                  <a:pt x="1209" y="139312"/>
                </a:lnTo>
                <a:lnTo>
                  <a:pt x="10882" y="177542"/>
                </a:lnTo>
                <a:lnTo>
                  <a:pt x="42942" y="220219"/>
                </a:lnTo>
                <a:lnTo>
                  <a:pt x="75034" y="235272"/>
                </a:lnTo>
                <a:lnTo>
                  <a:pt x="78009" y="225722"/>
                </a:lnTo>
                <a:lnTo>
                  <a:pt x="64603" y="219784"/>
                </a:lnTo>
                <a:lnTo>
                  <a:pt x="53035" y="211521"/>
                </a:lnTo>
                <a:lnTo>
                  <a:pt x="29304" y="172989"/>
                </a:lnTo>
                <a:lnTo>
                  <a:pt x="21455" y="116457"/>
                </a:lnTo>
                <a:lnTo>
                  <a:pt x="22327" y="96385"/>
                </a:lnTo>
                <a:lnTo>
                  <a:pt x="35408" y="46818"/>
                </a:lnTo>
                <a:lnTo>
                  <a:pt x="64813" y="15459"/>
                </a:lnTo>
                <a:lnTo>
                  <a:pt x="78381"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3" name="object 7">
            <a:extLst>
              <a:ext uri="{FF2B5EF4-FFF2-40B4-BE49-F238E27FC236}">
                <a16:creationId xmlns:a16="http://schemas.microsoft.com/office/drawing/2014/main" id="{C6EB02AB-77AC-1E69-2392-2B681C419488}"/>
              </a:ext>
            </a:extLst>
          </p:cNvPr>
          <p:cNvSpPr txBox="1"/>
          <p:nvPr/>
        </p:nvSpPr>
        <p:spPr>
          <a:xfrm>
            <a:off x="6193790" y="2610611"/>
            <a:ext cx="1356995" cy="330200"/>
          </a:xfrm>
          <a:prstGeom prst="rect">
            <a:avLst/>
          </a:prstGeom>
        </p:spPr>
        <p:txBody>
          <a:bodyPr vert="horz" wrap="square" lIns="0" tIns="12700" rIns="0" bIns="0" rtlCol="0">
            <a:spAutoFit/>
          </a:bodyPr>
          <a:lstStyle/>
          <a:p>
            <a:pPr marL="12700" rtl="0">
              <a:spcBef>
                <a:spcPts val="100"/>
              </a:spcBef>
              <a:tabLst>
                <a:tab pos="636905" algn="l"/>
                <a:tab pos="966469" algn="l"/>
              </a:tabLst>
            </a:pPr>
            <a:r>
              <a:rPr sz="2000" kern="1200" dirty="0">
                <a:solidFill>
                  <a:prstClr val="black"/>
                </a:solidFill>
                <a:latin typeface="Cambria Math"/>
                <a:cs typeface="Cambria Math"/>
              </a:rPr>
              <a:t>𝐹</a:t>
            </a:r>
            <a:r>
              <a:rPr sz="2000" kern="1200" spc="195" dirty="0">
                <a:solidFill>
                  <a:prstClr val="black"/>
                </a:solidFill>
                <a:latin typeface="Cambria Math"/>
                <a:cs typeface="Cambria Math"/>
              </a:rPr>
              <a:t> </a:t>
            </a:r>
            <a:r>
              <a:rPr sz="2000" kern="1200" dirty="0">
                <a:solidFill>
                  <a:prstClr val="black"/>
                </a:solidFill>
                <a:latin typeface="Cambria Math"/>
                <a:cs typeface="Cambria Math"/>
              </a:rPr>
              <a:t>→	𝐸	|</a:t>
            </a:r>
            <a:r>
              <a:rPr sz="2000" kern="1200" spc="-80" dirty="0">
                <a:solidFill>
                  <a:prstClr val="black"/>
                </a:solidFill>
                <a:latin typeface="Cambria Math"/>
                <a:cs typeface="Cambria Math"/>
              </a:rPr>
              <a:t> </a:t>
            </a:r>
            <a:r>
              <a:rPr sz="2000" kern="1200" dirty="0">
                <a:solidFill>
                  <a:prstClr val="black"/>
                </a:solidFill>
                <a:latin typeface="Cambria Math"/>
                <a:cs typeface="Cambria Math"/>
              </a:rPr>
              <a:t>𝐢𝐝</a:t>
            </a:r>
            <a:endParaRPr sz="2000" kern="1200">
              <a:solidFill>
                <a:prstClr val="black"/>
              </a:solidFill>
              <a:latin typeface="Cambria Math"/>
              <a:cs typeface="Cambria Math"/>
            </a:endParaRPr>
          </a:p>
        </p:txBody>
      </p:sp>
      <p:sp>
        <p:nvSpPr>
          <p:cNvPr id="34" name="object 8">
            <a:extLst>
              <a:ext uri="{FF2B5EF4-FFF2-40B4-BE49-F238E27FC236}">
                <a16:creationId xmlns:a16="http://schemas.microsoft.com/office/drawing/2014/main" id="{87AC2820-D7C1-D92F-A391-8B37B02A64A3}"/>
              </a:ext>
            </a:extLst>
          </p:cNvPr>
          <p:cNvSpPr/>
          <p:nvPr/>
        </p:nvSpPr>
        <p:spPr>
          <a:xfrm>
            <a:off x="2074326" y="3792520"/>
            <a:ext cx="332105" cy="235585"/>
          </a:xfrm>
          <a:custGeom>
            <a:avLst/>
            <a:gdLst/>
            <a:ahLst/>
            <a:cxnLst/>
            <a:rect l="l" t="t" r="r" b="b"/>
            <a:pathLst>
              <a:path w="332105" h="235585">
                <a:moveTo>
                  <a:pt x="256628" y="0"/>
                </a:moveTo>
                <a:lnTo>
                  <a:pt x="253279" y="9549"/>
                </a:lnTo>
                <a:lnTo>
                  <a:pt x="266898" y="15459"/>
                </a:lnTo>
                <a:lnTo>
                  <a:pt x="278611" y="23641"/>
                </a:lnTo>
                <a:lnTo>
                  <a:pt x="302393" y="61565"/>
                </a:lnTo>
                <a:lnTo>
                  <a:pt x="310206" y="116457"/>
                </a:lnTo>
                <a:lnTo>
                  <a:pt x="309334" y="137208"/>
                </a:lnTo>
                <a:lnTo>
                  <a:pt x="296254" y="188018"/>
                </a:lnTo>
                <a:lnTo>
                  <a:pt x="267058" y="219784"/>
                </a:lnTo>
                <a:lnTo>
                  <a:pt x="253652" y="225722"/>
                </a:lnTo>
                <a:lnTo>
                  <a:pt x="256628" y="235271"/>
                </a:lnTo>
                <a:lnTo>
                  <a:pt x="301578" y="208563"/>
                </a:lnTo>
                <a:lnTo>
                  <a:pt x="326825" y="159260"/>
                </a:lnTo>
                <a:lnTo>
                  <a:pt x="331663" y="117697"/>
                </a:lnTo>
                <a:lnTo>
                  <a:pt x="330449" y="96129"/>
                </a:lnTo>
                <a:lnTo>
                  <a:pt x="320744" y="57898"/>
                </a:lnTo>
                <a:lnTo>
                  <a:pt x="288642" y="15083"/>
                </a:lnTo>
                <a:lnTo>
                  <a:pt x="273685" y="6158"/>
                </a:lnTo>
                <a:lnTo>
                  <a:pt x="256628" y="0"/>
                </a:lnTo>
                <a:close/>
              </a:path>
              <a:path w="332105" h="235585">
                <a:moveTo>
                  <a:pt x="75034" y="0"/>
                </a:moveTo>
                <a:lnTo>
                  <a:pt x="30164" y="26776"/>
                </a:lnTo>
                <a:lnTo>
                  <a:pt x="4852" y="76196"/>
                </a:lnTo>
                <a:lnTo>
                  <a:pt x="0" y="117697"/>
                </a:lnTo>
                <a:lnTo>
                  <a:pt x="1209" y="139312"/>
                </a:lnTo>
                <a:lnTo>
                  <a:pt x="10882" y="177542"/>
                </a:lnTo>
                <a:lnTo>
                  <a:pt x="42943" y="220218"/>
                </a:lnTo>
                <a:lnTo>
                  <a:pt x="75034" y="235271"/>
                </a:lnTo>
                <a:lnTo>
                  <a:pt x="78011" y="225722"/>
                </a:lnTo>
                <a:lnTo>
                  <a:pt x="64604" y="219784"/>
                </a:lnTo>
                <a:lnTo>
                  <a:pt x="53035" y="211521"/>
                </a:lnTo>
                <a:lnTo>
                  <a:pt x="29304" y="172988"/>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5" name="object 9">
            <a:extLst>
              <a:ext uri="{FF2B5EF4-FFF2-40B4-BE49-F238E27FC236}">
                <a16:creationId xmlns:a16="http://schemas.microsoft.com/office/drawing/2014/main" id="{29536755-86B0-E2F9-812D-DD10DB44EC29}"/>
              </a:ext>
            </a:extLst>
          </p:cNvPr>
          <p:cNvSpPr/>
          <p:nvPr/>
        </p:nvSpPr>
        <p:spPr>
          <a:xfrm>
            <a:off x="2074326" y="4237020"/>
            <a:ext cx="322580" cy="235585"/>
          </a:xfrm>
          <a:custGeom>
            <a:avLst/>
            <a:gdLst/>
            <a:ahLst/>
            <a:cxnLst/>
            <a:rect l="l" t="t" r="r" b="b"/>
            <a:pathLst>
              <a:path w="322580" h="235585">
                <a:moveTo>
                  <a:pt x="247548" y="0"/>
                </a:moveTo>
                <a:lnTo>
                  <a:pt x="244199" y="9549"/>
                </a:lnTo>
                <a:lnTo>
                  <a:pt x="257818" y="15459"/>
                </a:lnTo>
                <a:lnTo>
                  <a:pt x="269530" y="23641"/>
                </a:lnTo>
                <a:lnTo>
                  <a:pt x="293312" y="61565"/>
                </a:lnTo>
                <a:lnTo>
                  <a:pt x="301125" y="116457"/>
                </a:lnTo>
                <a:lnTo>
                  <a:pt x="300253" y="137208"/>
                </a:lnTo>
                <a:lnTo>
                  <a:pt x="287173" y="188019"/>
                </a:lnTo>
                <a:lnTo>
                  <a:pt x="257977" y="219784"/>
                </a:lnTo>
                <a:lnTo>
                  <a:pt x="244571" y="225722"/>
                </a:lnTo>
                <a:lnTo>
                  <a:pt x="247548" y="235272"/>
                </a:lnTo>
                <a:lnTo>
                  <a:pt x="292498" y="208563"/>
                </a:lnTo>
                <a:lnTo>
                  <a:pt x="317744" y="159260"/>
                </a:lnTo>
                <a:lnTo>
                  <a:pt x="322581" y="117697"/>
                </a:lnTo>
                <a:lnTo>
                  <a:pt x="321368" y="96129"/>
                </a:lnTo>
                <a:lnTo>
                  <a:pt x="311663" y="57898"/>
                </a:lnTo>
                <a:lnTo>
                  <a:pt x="279561" y="15083"/>
                </a:lnTo>
                <a:lnTo>
                  <a:pt x="264605" y="6158"/>
                </a:lnTo>
                <a:lnTo>
                  <a:pt x="247548" y="0"/>
                </a:lnTo>
                <a:close/>
              </a:path>
              <a:path w="322580" h="235585">
                <a:moveTo>
                  <a:pt x="75034" y="0"/>
                </a:moveTo>
                <a:lnTo>
                  <a:pt x="30164" y="26776"/>
                </a:lnTo>
                <a:lnTo>
                  <a:pt x="4852" y="76196"/>
                </a:lnTo>
                <a:lnTo>
                  <a:pt x="0" y="117697"/>
                </a:lnTo>
                <a:lnTo>
                  <a:pt x="1209" y="139312"/>
                </a:lnTo>
                <a:lnTo>
                  <a:pt x="10882" y="177542"/>
                </a:lnTo>
                <a:lnTo>
                  <a:pt x="42943" y="220218"/>
                </a:lnTo>
                <a:lnTo>
                  <a:pt x="75034" y="235272"/>
                </a:lnTo>
                <a:lnTo>
                  <a:pt x="78011" y="225722"/>
                </a:lnTo>
                <a:lnTo>
                  <a:pt x="64604" y="219784"/>
                </a:lnTo>
                <a:lnTo>
                  <a:pt x="53035" y="211521"/>
                </a:lnTo>
                <a:lnTo>
                  <a:pt x="29304" y="172989"/>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6" name="object 10">
            <a:extLst>
              <a:ext uri="{FF2B5EF4-FFF2-40B4-BE49-F238E27FC236}">
                <a16:creationId xmlns:a16="http://schemas.microsoft.com/office/drawing/2014/main" id="{BE240783-91E8-997F-6240-6568BE868A91}"/>
              </a:ext>
            </a:extLst>
          </p:cNvPr>
          <p:cNvSpPr/>
          <p:nvPr/>
        </p:nvSpPr>
        <p:spPr>
          <a:xfrm>
            <a:off x="3419256" y="4237020"/>
            <a:ext cx="332105" cy="235585"/>
          </a:xfrm>
          <a:custGeom>
            <a:avLst/>
            <a:gdLst/>
            <a:ahLst/>
            <a:cxnLst/>
            <a:rect l="l" t="t" r="r" b="b"/>
            <a:pathLst>
              <a:path w="332104" h="235585">
                <a:moveTo>
                  <a:pt x="256627" y="0"/>
                </a:moveTo>
                <a:lnTo>
                  <a:pt x="253279" y="9549"/>
                </a:lnTo>
                <a:lnTo>
                  <a:pt x="266898" y="15459"/>
                </a:lnTo>
                <a:lnTo>
                  <a:pt x="278611" y="23641"/>
                </a:lnTo>
                <a:lnTo>
                  <a:pt x="302392" y="61565"/>
                </a:lnTo>
                <a:lnTo>
                  <a:pt x="310206" y="116457"/>
                </a:lnTo>
                <a:lnTo>
                  <a:pt x="309334" y="137208"/>
                </a:lnTo>
                <a:lnTo>
                  <a:pt x="296254" y="188019"/>
                </a:lnTo>
                <a:lnTo>
                  <a:pt x="267058" y="219784"/>
                </a:lnTo>
                <a:lnTo>
                  <a:pt x="253652" y="225722"/>
                </a:lnTo>
                <a:lnTo>
                  <a:pt x="256627" y="235272"/>
                </a:lnTo>
                <a:lnTo>
                  <a:pt x="301578" y="208563"/>
                </a:lnTo>
                <a:lnTo>
                  <a:pt x="326824" y="159260"/>
                </a:lnTo>
                <a:lnTo>
                  <a:pt x="331661" y="117697"/>
                </a:lnTo>
                <a:lnTo>
                  <a:pt x="330448" y="96129"/>
                </a:lnTo>
                <a:lnTo>
                  <a:pt x="320744" y="57898"/>
                </a:lnTo>
                <a:lnTo>
                  <a:pt x="288641" y="15083"/>
                </a:lnTo>
                <a:lnTo>
                  <a:pt x="273685" y="6158"/>
                </a:lnTo>
                <a:lnTo>
                  <a:pt x="256627" y="0"/>
                </a:lnTo>
                <a:close/>
              </a:path>
              <a:path w="332104" h="235585">
                <a:moveTo>
                  <a:pt x="75034" y="0"/>
                </a:moveTo>
                <a:lnTo>
                  <a:pt x="30164" y="26776"/>
                </a:lnTo>
                <a:lnTo>
                  <a:pt x="4852" y="76196"/>
                </a:lnTo>
                <a:lnTo>
                  <a:pt x="0" y="117697"/>
                </a:lnTo>
                <a:lnTo>
                  <a:pt x="1209" y="139312"/>
                </a:lnTo>
                <a:lnTo>
                  <a:pt x="10882" y="177542"/>
                </a:lnTo>
                <a:lnTo>
                  <a:pt x="42942" y="220218"/>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7" name="object 11">
            <a:extLst>
              <a:ext uri="{FF2B5EF4-FFF2-40B4-BE49-F238E27FC236}">
                <a16:creationId xmlns:a16="http://schemas.microsoft.com/office/drawing/2014/main" id="{F928083C-1E48-7829-AFC4-7F33F82BB2CD}"/>
              </a:ext>
            </a:extLst>
          </p:cNvPr>
          <p:cNvSpPr/>
          <p:nvPr/>
        </p:nvSpPr>
        <p:spPr>
          <a:xfrm>
            <a:off x="2074326" y="4681520"/>
            <a:ext cx="335280" cy="235585"/>
          </a:xfrm>
          <a:custGeom>
            <a:avLst/>
            <a:gdLst/>
            <a:ahLst/>
            <a:cxnLst/>
            <a:rect l="l" t="t" r="r" b="b"/>
            <a:pathLst>
              <a:path w="335280" h="235585">
                <a:moveTo>
                  <a:pt x="259803" y="0"/>
                </a:moveTo>
                <a:lnTo>
                  <a:pt x="256454" y="9549"/>
                </a:lnTo>
                <a:lnTo>
                  <a:pt x="270073" y="15459"/>
                </a:lnTo>
                <a:lnTo>
                  <a:pt x="281786" y="23641"/>
                </a:lnTo>
                <a:lnTo>
                  <a:pt x="305568" y="61565"/>
                </a:lnTo>
                <a:lnTo>
                  <a:pt x="313381" y="116457"/>
                </a:lnTo>
                <a:lnTo>
                  <a:pt x="312509" y="137208"/>
                </a:lnTo>
                <a:lnTo>
                  <a:pt x="299429" y="188018"/>
                </a:lnTo>
                <a:lnTo>
                  <a:pt x="270233" y="219784"/>
                </a:lnTo>
                <a:lnTo>
                  <a:pt x="256827" y="225722"/>
                </a:lnTo>
                <a:lnTo>
                  <a:pt x="259803" y="235271"/>
                </a:lnTo>
                <a:lnTo>
                  <a:pt x="304753" y="208563"/>
                </a:lnTo>
                <a:lnTo>
                  <a:pt x="330000" y="159260"/>
                </a:lnTo>
                <a:lnTo>
                  <a:pt x="334838" y="117697"/>
                </a:lnTo>
                <a:lnTo>
                  <a:pt x="333624" y="96129"/>
                </a:lnTo>
                <a:lnTo>
                  <a:pt x="323919" y="57898"/>
                </a:lnTo>
                <a:lnTo>
                  <a:pt x="291817" y="15083"/>
                </a:lnTo>
                <a:lnTo>
                  <a:pt x="276860" y="6158"/>
                </a:lnTo>
                <a:lnTo>
                  <a:pt x="259803" y="0"/>
                </a:lnTo>
                <a:close/>
              </a:path>
              <a:path w="335280" h="235585">
                <a:moveTo>
                  <a:pt x="75034" y="0"/>
                </a:moveTo>
                <a:lnTo>
                  <a:pt x="30164" y="26776"/>
                </a:lnTo>
                <a:lnTo>
                  <a:pt x="4852" y="76196"/>
                </a:lnTo>
                <a:lnTo>
                  <a:pt x="0" y="117697"/>
                </a:lnTo>
                <a:lnTo>
                  <a:pt x="1209" y="139312"/>
                </a:lnTo>
                <a:lnTo>
                  <a:pt x="10882" y="177542"/>
                </a:lnTo>
                <a:lnTo>
                  <a:pt x="42943" y="220218"/>
                </a:lnTo>
                <a:lnTo>
                  <a:pt x="75034" y="235271"/>
                </a:lnTo>
                <a:lnTo>
                  <a:pt x="78011" y="225722"/>
                </a:lnTo>
                <a:lnTo>
                  <a:pt x="64604" y="219784"/>
                </a:lnTo>
                <a:lnTo>
                  <a:pt x="53035" y="211521"/>
                </a:lnTo>
                <a:lnTo>
                  <a:pt x="29304" y="172988"/>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8" name="object 12">
            <a:extLst>
              <a:ext uri="{FF2B5EF4-FFF2-40B4-BE49-F238E27FC236}">
                <a16:creationId xmlns:a16="http://schemas.microsoft.com/office/drawing/2014/main" id="{30B1878E-4604-AB02-9158-2E935DD7CC24}"/>
              </a:ext>
            </a:extLst>
          </p:cNvPr>
          <p:cNvSpPr/>
          <p:nvPr/>
        </p:nvSpPr>
        <p:spPr>
          <a:xfrm>
            <a:off x="3431512" y="4681520"/>
            <a:ext cx="322580" cy="235585"/>
          </a:xfrm>
          <a:custGeom>
            <a:avLst/>
            <a:gdLst/>
            <a:ahLst/>
            <a:cxnLst/>
            <a:rect l="l" t="t" r="r" b="b"/>
            <a:pathLst>
              <a:path w="322579" h="235585">
                <a:moveTo>
                  <a:pt x="247547" y="0"/>
                </a:moveTo>
                <a:lnTo>
                  <a:pt x="244199" y="9549"/>
                </a:lnTo>
                <a:lnTo>
                  <a:pt x="257818" y="15459"/>
                </a:lnTo>
                <a:lnTo>
                  <a:pt x="269530" y="23641"/>
                </a:lnTo>
                <a:lnTo>
                  <a:pt x="293312" y="61565"/>
                </a:lnTo>
                <a:lnTo>
                  <a:pt x="301125" y="116457"/>
                </a:lnTo>
                <a:lnTo>
                  <a:pt x="300253" y="137208"/>
                </a:lnTo>
                <a:lnTo>
                  <a:pt x="287173" y="188018"/>
                </a:lnTo>
                <a:lnTo>
                  <a:pt x="257977" y="219784"/>
                </a:lnTo>
                <a:lnTo>
                  <a:pt x="244571" y="225722"/>
                </a:lnTo>
                <a:lnTo>
                  <a:pt x="247547" y="235271"/>
                </a:lnTo>
                <a:lnTo>
                  <a:pt x="292498" y="208563"/>
                </a:lnTo>
                <a:lnTo>
                  <a:pt x="317744" y="159260"/>
                </a:lnTo>
                <a:lnTo>
                  <a:pt x="322581" y="117697"/>
                </a:lnTo>
                <a:lnTo>
                  <a:pt x="321368" y="96129"/>
                </a:lnTo>
                <a:lnTo>
                  <a:pt x="311663" y="57898"/>
                </a:lnTo>
                <a:lnTo>
                  <a:pt x="279561" y="15083"/>
                </a:lnTo>
                <a:lnTo>
                  <a:pt x="264604" y="6158"/>
                </a:lnTo>
                <a:lnTo>
                  <a:pt x="247547" y="0"/>
                </a:lnTo>
                <a:close/>
              </a:path>
              <a:path w="322579" h="235585">
                <a:moveTo>
                  <a:pt x="75034" y="0"/>
                </a:moveTo>
                <a:lnTo>
                  <a:pt x="30164" y="26776"/>
                </a:lnTo>
                <a:lnTo>
                  <a:pt x="4852" y="76196"/>
                </a:lnTo>
                <a:lnTo>
                  <a:pt x="0" y="117697"/>
                </a:lnTo>
                <a:lnTo>
                  <a:pt x="1209" y="139312"/>
                </a:lnTo>
                <a:lnTo>
                  <a:pt x="10882" y="177542"/>
                </a:lnTo>
                <a:lnTo>
                  <a:pt x="42942" y="220218"/>
                </a:lnTo>
                <a:lnTo>
                  <a:pt x="75034" y="235271"/>
                </a:lnTo>
                <a:lnTo>
                  <a:pt x="78011" y="225722"/>
                </a:lnTo>
                <a:lnTo>
                  <a:pt x="64604" y="219784"/>
                </a:lnTo>
                <a:lnTo>
                  <a:pt x="53035" y="211521"/>
                </a:lnTo>
                <a:lnTo>
                  <a:pt x="29304" y="172988"/>
                </a:lnTo>
                <a:lnTo>
                  <a:pt x="21455" y="116457"/>
                </a:lnTo>
                <a:lnTo>
                  <a:pt x="22327"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9" name="object 13">
            <a:extLst>
              <a:ext uri="{FF2B5EF4-FFF2-40B4-BE49-F238E27FC236}">
                <a16:creationId xmlns:a16="http://schemas.microsoft.com/office/drawing/2014/main" id="{0FD805A4-C8CC-94F0-BDBF-8E9A043BDF66}"/>
              </a:ext>
            </a:extLst>
          </p:cNvPr>
          <p:cNvSpPr/>
          <p:nvPr/>
        </p:nvSpPr>
        <p:spPr>
          <a:xfrm>
            <a:off x="2074326" y="5126020"/>
            <a:ext cx="412115" cy="235585"/>
          </a:xfrm>
          <a:custGeom>
            <a:avLst/>
            <a:gdLst/>
            <a:ahLst/>
            <a:cxnLst/>
            <a:rect l="l" t="t" r="r" b="b"/>
            <a:pathLst>
              <a:path w="412114" h="235585">
                <a:moveTo>
                  <a:pt x="337019" y="0"/>
                </a:moveTo>
                <a:lnTo>
                  <a:pt x="333670" y="9549"/>
                </a:lnTo>
                <a:lnTo>
                  <a:pt x="347289" y="15459"/>
                </a:lnTo>
                <a:lnTo>
                  <a:pt x="359002" y="23641"/>
                </a:lnTo>
                <a:lnTo>
                  <a:pt x="382784" y="61565"/>
                </a:lnTo>
                <a:lnTo>
                  <a:pt x="390597" y="116457"/>
                </a:lnTo>
                <a:lnTo>
                  <a:pt x="389725" y="137208"/>
                </a:lnTo>
                <a:lnTo>
                  <a:pt x="376645" y="188018"/>
                </a:lnTo>
                <a:lnTo>
                  <a:pt x="347449" y="219784"/>
                </a:lnTo>
                <a:lnTo>
                  <a:pt x="334043" y="225722"/>
                </a:lnTo>
                <a:lnTo>
                  <a:pt x="337019" y="235272"/>
                </a:lnTo>
                <a:lnTo>
                  <a:pt x="381969" y="208563"/>
                </a:lnTo>
                <a:lnTo>
                  <a:pt x="407217" y="159260"/>
                </a:lnTo>
                <a:lnTo>
                  <a:pt x="412054" y="117697"/>
                </a:lnTo>
                <a:lnTo>
                  <a:pt x="410840" y="96129"/>
                </a:lnTo>
                <a:lnTo>
                  <a:pt x="401135" y="57898"/>
                </a:lnTo>
                <a:lnTo>
                  <a:pt x="369033" y="15083"/>
                </a:lnTo>
                <a:lnTo>
                  <a:pt x="354076" y="6158"/>
                </a:lnTo>
                <a:lnTo>
                  <a:pt x="337019" y="0"/>
                </a:lnTo>
                <a:close/>
              </a:path>
              <a:path w="412114" h="235585">
                <a:moveTo>
                  <a:pt x="75034" y="0"/>
                </a:moveTo>
                <a:lnTo>
                  <a:pt x="30164" y="26776"/>
                </a:lnTo>
                <a:lnTo>
                  <a:pt x="4852" y="76196"/>
                </a:lnTo>
                <a:lnTo>
                  <a:pt x="0" y="117697"/>
                </a:lnTo>
                <a:lnTo>
                  <a:pt x="1209" y="139312"/>
                </a:lnTo>
                <a:lnTo>
                  <a:pt x="10882" y="177542"/>
                </a:lnTo>
                <a:lnTo>
                  <a:pt x="42943" y="220218"/>
                </a:lnTo>
                <a:lnTo>
                  <a:pt x="75034" y="235272"/>
                </a:lnTo>
                <a:lnTo>
                  <a:pt x="78011" y="225722"/>
                </a:lnTo>
                <a:lnTo>
                  <a:pt x="64604" y="219784"/>
                </a:lnTo>
                <a:lnTo>
                  <a:pt x="53035" y="211521"/>
                </a:lnTo>
                <a:lnTo>
                  <a:pt x="29304" y="172988"/>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0" name="object 14">
            <a:extLst>
              <a:ext uri="{FF2B5EF4-FFF2-40B4-BE49-F238E27FC236}">
                <a16:creationId xmlns:a16="http://schemas.microsoft.com/office/drawing/2014/main" id="{4A7165F8-7A93-90EE-3B8E-D60F693BF405}"/>
              </a:ext>
            </a:extLst>
          </p:cNvPr>
          <p:cNvSpPr txBox="1"/>
          <p:nvPr/>
        </p:nvSpPr>
        <p:spPr>
          <a:xfrm>
            <a:off x="681990" y="3038347"/>
            <a:ext cx="1802764" cy="2341245"/>
          </a:xfrm>
          <a:prstGeom prst="rect">
            <a:avLst/>
          </a:prstGeom>
        </p:spPr>
        <p:txBody>
          <a:bodyPr vert="horz" wrap="square" lIns="0" tIns="183515" rIns="0" bIns="0" rtlCol="0">
            <a:spAutoFit/>
          </a:bodyPr>
          <a:lstStyle/>
          <a:p>
            <a:pPr marL="268605" indent="-230504" rtl="0">
              <a:spcBef>
                <a:spcPts val="1445"/>
              </a:spcBef>
              <a:buFont typeface="Arial MT"/>
              <a:buChar char="•"/>
              <a:tabLst>
                <a:tab pos="268605" algn="l"/>
              </a:tabLst>
            </a:pPr>
            <a:r>
              <a:rPr sz="2400" b="1" kern="1200" spc="-5" dirty="0">
                <a:solidFill>
                  <a:prstClr val="black"/>
                </a:solidFill>
                <a:latin typeface="Palatino Linotype"/>
                <a:cs typeface="Palatino Linotype"/>
              </a:rPr>
              <a:t>FIRST</a:t>
            </a:r>
            <a:r>
              <a:rPr sz="2400" b="1" kern="1200" spc="-55" dirty="0">
                <a:solidFill>
                  <a:prstClr val="black"/>
                </a:solidFill>
                <a:latin typeface="Palatino Linotype"/>
                <a:cs typeface="Palatino Linotype"/>
              </a:rPr>
              <a:t> </a:t>
            </a:r>
            <a:r>
              <a:rPr sz="2400" b="1" kern="1200" spc="-5" dirty="0">
                <a:solidFill>
                  <a:prstClr val="black"/>
                </a:solidFill>
                <a:latin typeface="Palatino Linotype"/>
                <a:cs typeface="Palatino Linotype"/>
              </a:rPr>
              <a:t>sets</a:t>
            </a:r>
            <a:endParaRPr sz="2400" kern="1200">
              <a:solidFill>
                <a:prstClr val="black"/>
              </a:solidFill>
              <a:latin typeface="Palatino Linotype"/>
              <a:cs typeface="Palatino Linotype"/>
            </a:endParaRPr>
          </a:p>
          <a:p>
            <a:pPr marL="723900" lvl="1" indent="-228600" rtl="0">
              <a:spcBef>
                <a:spcPts val="1120"/>
              </a:spcBef>
              <a:buFont typeface="Wingdings"/>
              <a:buChar char=""/>
              <a:tabLst>
                <a:tab pos="723900" algn="l"/>
              </a:tabLst>
            </a:pPr>
            <a:r>
              <a:rPr sz="2000" kern="1200" spc="-15" dirty="0">
                <a:solidFill>
                  <a:prstClr val="black"/>
                </a:solidFill>
                <a:latin typeface="Cambria Math"/>
                <a:cs typeface="Cambria Math"/>
              </a:rPr>
              <a:t>FIRST</a:t>
            </a:r>
            <a:r>
              <a:rPr sz="2000" kern="1200" spc="300" dirty="0">
                <a:solidFill>
                  <a:prstClr val="black"/>
                </a:solidFill>
                <a:latin typeface="Cambria Math"/>
                <a:cs typeface="Cambria Math"/>
              </a:rPr>
              <a:t> </a:t>
            </a:r>
            <a:r>
              <a:rPr sz="2000" kern="1200" dirty="0">
                <a:solidFill>
                  <a:prstClr val="black"/>
                </a:solidFill>
                <a:latin typeface="Cambria Math"/>
                <a:cs typeface="Cambria Math"/>
              </a:rPr>
              <a:t>𝐹</a:t>
            </a:r>
            <a:endParaRPr sz="2000" kern="1200">
              <a:solidFill>
                <a:prstClr val="black"/>
              </a:solidFill>
              <a:latin typeface="Cambria Math"/>
              <a:cs typeface="Cambria Math"/>
            </a:endParaRPr>
          </a:p>
          <a:p>
            <a:pPr marL="723900" lvl="1" indent="-228600" rtl="0">
              <a:spcBef>
                <a:spcPts val="1080"/>
              </a:spcBef>
              <a:buFont typeface="Wingdings"/>
              <a:buChar char=""/>
              <a:tabLst>
                <a:tab pos="723900" algn="l"/>
              </a:tabLst>
            </a:pPr>
            <a:r>
              <a:rPr sz="2000" kern="1200" spc="-15" dirty="0">
                <a:solidFill>
                  <a:prstClr val="black"/>
                </a:solidFill>
                <a:latin typeface="Cambria Math"/>
                <a:cs typeface="Cambria Math"/>
              </a:rPr>
              <a:t>FIRST</a:t>
            </a:r>
            <a:r>
              <a:rPr sz="2000" kern="1200" spc="300" dirty="0">
                <a:solidFill>
                  <a:prstClr val="black"/>
                </a:solidFill>
                <a:latin typeface="Cambria Math"/>
                <a:cs typeface="Cambria Math"/>
              </a:rPr>
              <a:t> </a:t>
            </a:r>
            <a:r>
              <a:rPr sz="2000" kern="1200" dirty="0">
                <a:solidFill>
                  <a:prstClr val="black"/>
                </a:solidFill>
                <a:latin typeface="Cambria Math"/>
                <a:cs typeface="Cambria Math"/>
              </a:rPr>
              <a:t>𝑇</a:t>
            </a:r>
            <a:endParaRPr sz="2000" kern="1200">
              <a:solidFill>
                <a:prstClr val="black"/>
              </a:solidFill>
              <a:latin typeface="Cambria Math"/>
              <a:cs typeface="Cambria Math"/>
            </a:endParaRPr>
          </a:p>
          <a:p>
            <a:pPr marL="723900" lvl="1" indent="-228600" rtl="0">
              <a:spcBef>
                <a:spcPts val="1100"/>
              </a:spcBef>
              <a:buFont typeface="Wingdings"/>
              <a:buChar char=""/>
              <a:tabLst>
                <a:tab pos="723900" algn="l"/>
              </a:tabLst>
            </a:pPr>
            <a:r>
              <a:rPr sz="2000" kern="1200" spc="-15" dirty="0">
                <a:solidFill>
                  <a:prstClr val="black"/>
                </a:solidFill>
                <a:latin typeface="Cambria Math"/>
                <a:cs typeface="Cambria Math"/>
              </a:rPr>
              <a:t>FIRST</a:t>
            </a:r>
            <a:r>
              <a:rPr sz="2000" kern="1200" spc="300" dirty="0">
                <a:solidFill>
                  <a:prstClr val="black"/>
                </a:solidFill>
                <a:latin typeface="Cambria Math"/>
                <a:cs typeface="Cambria Math"/>
              </a:rPr>
              <a:t> </a:t>
            </a:r>
            <a:r>
              <a:rPr sz="2000" kern="1200" dirty="0">
                <a:solidFill>
                  <a:prstClr val="black"/>
                </a:solidFill>
                <a:latin typeface="Cambria Math"/>
                <a:cs typeface="Cambria Math"/>
              </a:rPr>
              <a:t>𝐸</a:t>
            </a:r>
            <a:endParaRPr sz="2000" kern="1200">
              <a:solidFill>
                <a:prstClr val="black"/>
              </a:solidFill>
              <a:latin typeface="Cambria Math"/>
              <a:cs typeface="Cambria Math"/>
            </a:endParaRPr>
          </a:p>
          <a:p>
            <a:pPr marL="723900" lvl="1" indent="-228600" rtl="0">
              <a:spcBef>
                <a:spcPts val="1105"/>
              </a:spcBef>
              <a:buFont typeface="Wingdings"/>
              <a:buChar char=""/>
              <a:tabLst>
                <a:tab pos="723900" algn="l"/>
              </a:tabLst>
            </a:pPr>
            <a:r>
              <a:rPr sz="2000" kern="1200" spc="-15" dirty="0">
                <a:solidFill>
                  <a:prstClr val="black"/>
                </a:solidFill>
                <a:latin typeface="Cambria Math"/>
                <a:cs typeface="Cambria Math"/>
              </a:rPr>
              <a:t>FIRST</a:t>
            </a:r>
            <a:r>
              <a:rPr sz="2000" kern="1200" spc="340" dirty="0">
                <a:solidFill>
                  <a:prstClr val="black"/>
                </a:solidFill>
                <a:latin typeface="Cambria Math"/>
                <a:cs typeface="Cambria Math"/>
              </a:rPr>
              <a:t> </a:t>
            </a:r>
            <a:r>
              <a:rPr sz="2000" kern="1200" spc="125" dirty="0">
                <a:solidFill>
                  <a:prstClr val="black"/>
                </a:solidFill>
                <a:latin typeface="Cambria Math"/>
                <a:cs typeface="Cambria Math"/>
              </a:rPr>
              <a:t>𝐸</a:t>
            </a:r>
            <a:r>
              <a:rPr sz="2250" kern="1200" spc="187" baseline="25925" dirty="0">
                <a:solidFill>
                  <a:prstClr val="black"/>
                </a:solidFill>
                <a:latin typeface="Cambria Math"/>
                <a:cs typeface="Cambria Math"/>
              </a:rPr>
              <a:t>'</a:t>
            </a:r>
            <a:endParaRPr sz="2250" kern="1200" baseline="25925">
              <a:solidFill>
                <a:prstClr val="black"/>
              </a:solidFill>
              <a:latin typeface="Cambria Math"/>
              <a:cs typeface="Cambria Math"/>
            </a:endParaRPr>
          </a:p>
        </p:txBody>
      </p:sp>
      <p:sp>
        <p:nvSpPr>
          <p:cNvPr id="41" name="object 15">
            <a:extLst>
              <a:ext uri="{FF2B5EF4-FFF2-40B4-BE49-F238E27FC236}">
                <a16:creationId xmlns:a16="http://schemas.microsoft.com/office/drawing/2014/main" id="{83228A4C-4528-C5B5-AC15-943C2CEFA83B}"/>
              </a:ext>
            </a:extLst>
          </p:cNvPr>
          <p:cNvSpPr txBox="1"/>
          <p:nvPr/>
        </p:nvSpPr>
        <p:spPr>
          <a:xfrm>
            <a:off x="2477071" y="3579875"/>
            <a:ext cx="1201420" cy="1799589"/>
          </a:xfrm>
          <a:prstGeom prst="rect">
            <a:avLst/>
          </a:prstGeom>
        </p:spPr>
        <p:txBody>
          <a:bodyPr vert="horz" wrap="square" lIns="0" tIns="149860" rIns="0" bIns="0" rtlCol="0">
            <a:spAutoFit/>
          </a:bodyPr>
          <a:lstStyle/>
          <a:p>
            <a:pPr marL="21590" rtl="0">
              <a:spcBef>
                <a:spcPts val="1180"/>
              </a:spcBef>
            </a:pP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𝐢𝐝}</a:t>
            </a:r>
            <a:endParaRPr sz="2000" kern="1200">
              <a:solidFill>
                <a:prstClr val="black"/>
              </a:solidFill>
              <a:latin typeface="Cambria Math"/>
              <a:cs typeface="Cambria Math"/>
            </a:endParaRPr>
          </a:p>
          <a:p>
            <a:pPr marL="12700" rtl="0">
              <a:spcBef>
                <a:spcPts val="1080"/>
              </a:spcBef>
            </a:pPr>
            <a:r>
              <a:rPr sz="2000" kern="1200" dirty="0">
                <a:solidFill>
                  <a:prstClr val="black"/>
                </a:solidFill>
                <a:latin typeface="Cambria Math"/>
                <a:cs typeface="Cambria Math"/>
              </a:rPr>
              <a:t>=</a:t>
            </a:r>
            <a:r>
              <a:rPr sz="2000" kern="1200" spc="85" dirty="0">
                <a:solidFill>
                  <a:prstClr val="black"/>
                </a:solidFill>
                <a:latin typeface="Cambria Math"/>
                <a:cs typeface="Cambria Math"/>
              </a:rPr>
              <a:t> </a:t>
            </a:r>
            <a:r>
              <a:rPr sz="2000" kern="1200" spc="-15" dirty="0">
                <a:solidFill>
                  <a:prstClr val="black"/>
                </a:solidFill>
                <a:latin typeface="Cambria Math"/>
                <a:cs typeface="Cambria Math"/>
              </a:rPr>
              <a:t>FIRST</a:t>
            </a:r>
            <a:r>
              <a:rPr sz="2000" kern="1200" spc="335" dirty="0">
                <a:solidFill>
                  <a:prstClr val="black"/>
                </a:solidFill>
                <a:latin typeface="Cambria Math"/>
                <a:cs typeface="Cambria Math"/>
              </a:rPr>
              <a:t> </a:t>
            </a:r>
            <a:r>
              <a:rPr sz="2000" kern="1200" dirty="0">
                <a:solidFill>
                  <a:prstClr val="black"/>
                </a:solidFill>
                <a:latin typeface="Cambria Math"/>
                <a:cs typeface="Cambria Math"/>
              </a:rPr>
              <a:t>𝐹</a:t>
            </a:r>
            <a:endParaRPr sz="2000" kern="1200">
              <a:solidFill>
                <a:prstClr val="black"/>
              </a:solidFill>
              <a:latin typeface="Cambria Math"/>
              <a:cs typeface="Cambria Math"/>
            </a:endParaRPr>
          </a:p>
          <a:p>
            <a:pPr marL="24765" rtl="0">
              <a:spcBef>
                <a:spcPts val="1105"/>
              </a:spcBef>
            </a:pPr>
            <a:r>
              <a:rPr sz="2000" kern="1200" dirty="0">
                <a:solidFill>
                  <a:prstClr val="black"/>
                </a:solidFill>
                <a:latin typeface="Cambria Math"/>
                <a:cs typeface="Cambria Math"/>
              </a:rPr>
              <a:t>=</a:t>
            </a:r>
            <a:r>
              <a:rPr sz="2000" kern="1200" spc="85" dirty="0">
                <a:solidFill>
                  <a:prstClr val="black"/>
                </a:solidFill>
                <a:latin typeface="Cambria Math"/>
                <a:cs typeface="Cambria Math"/>
              </a:rPr>
              <a:t> </a:t>
            </a:r>
            <a:r>
              <a:rPr sz="2000" kern="1200" spc="-15" dirty="0">
                <a:solidFill>
                  <a:prstClr val="black"/>
                </a:solidFill>
                <a:latin typeface="Cambria Math"/>
                <a:cs typeface="Cambria Math"/>
              </a:rPr>
              <a:t>FIRST</a:t>
            </a:r>
            <a:r>
              <a:rPr sz="2000" kern="1200" spc="335" dirty="0">
                <a:solidFill>
                  <a:prstClr val="black"/>
                </a:solidFill>
                <a:latin typeface="Cambria Math"/>
                <a:cs typeface="Cambria Math"/>
              </a:rPr>
              <a:t> </a:t>
            </a:r>
            <a:r>
              <a:rPr sz="2000" kern="1200" dirty="0">
                <a:solidFill>
                  <a:prstClr val="black"/>
                </a:solidFill>
                <a:latin typeface="Cambria Math"/>
                <a:cs typeface="Cambria Math"/>
              </a:rPr>
              <a:t>𝑇</a:t>
            </a:r>
            <a:endParaRPr sz="2000" kern="1200">
              <a:solidFill>
                <a:prstClr val="black"/>
              </a:solidFill>
              <a:latin typeface="Cambria Math"/>
              <a:cs typeface="Cambria Math"/>
            </a:endParaRPr>
          </a:p>
          <a:p>
            <a:pPr marL="101600" rtl="0">
              <a:spcBef>
                <a:spcPts val="1100"/>
              </a:spcBef>
            </a:pP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5" dirty="0">
                <a:solidFill>
                  <a:prstClr val="black"/>
                </a:solidFill>
                <a:latin typeface="Cambria Math"/>
                <a:cs typeface="Cambria Math"/>
              </a:rPr>
              <a:t>𝜖</a:t>
            </a:r>
            <a:r>
              <a:rPr sz="2000" kern="1200" dirty="0">
                <a:solidFill>
                  <a:prstClr val="black"/>
                </a:solidFill>
                <a:latin typeface="Cambria Math"/>
                <a:cs typeface="Cambria Math"/>
              </a:rPr>
              <a:t>}</a:t>
            </a:r>
            <a:endParaRPr sz="2000" kern="1200">
              <a:solidFill>
                <a:prstClr val="black"/>
              </a:solidFill>
              <a:latin typeface="Cambria Math"/>
              <a:cs typeface="Cambria Math"/>
            </a:endParaRPr>
          </a:p>
        </p:txBody>
      </p:sp>
      <p:sp>
        <p:nvSpPr>
          <p:cNvPr id="42" name="object 16">
            <a:extLst>
              <a:ext uri="{FF2B5EF4-FFF2-40B4-BE49-F238E27FC236}">
                <a16:creationId xmlns:a16="http://schemas.microsoft.com/office/drawing/2014/main" id="{D404EEBE-12F8-85BB-2DAF-65FA396E66E8}"/>
              </a:ext>
            </a:extLst>
          </p:cNvPr>
          <p:cNvSpPr/>
          <p:nvPr/>
        </p:nvSpPr>
        <p:spPr>
          <a:xfrm>
            <a:off x="5046126" y="5126020"/>
            <a:ext cx="408305" cy="235585"/>
          </a:xfrm>
          <a:custGeom>
            <a:avLst/>
            <a:gdLst/>
            <a:ahLst/>
            <a:cxnLst/>
            <a:rect l="l" t="t" r="r" b="b"/>
            <a:pathLst>
              <a:path w="408304" h="235585">
                <a:moveTo>
                  <a:pt x="332827" y="0"/>
                </a:moveTo>
                <a:lnTo>
                  <a:pt x="329479" y="9549"/>
                </a:lnTo>
                <a:lnTo>
                  <a:pt x="343098" y="15459"/>
                </a:lnTo>
                <a:lnTo>
                  <a:pt x="354811" y="23641"/>
                </a:lnTo>
                <a:lnTo>
                  <a:pt x="378592" y="61565"/>
                </a:lnTo>
                <a:lnTo>
                  <a:pt x="386406" y="116457"/>
                </a:lnTo>
                <a:lnTo>
                  <a:pt x="385534" y="137208"/>
                </a:lnTo>
                <a:lnTo>
                  <a:pt x="372452" y="188018"/>
                </a:lnTo>
                <a:lnTo>
                  <a:pt x="343258" y="219784"/>
                </a:lnTo>
                <a:lnTo>
                  <a:pt x="329852" y="225722"/>
                </a:lnTo>
                <a:lnTo>
                  <a:pt x="332827" y="235272"/>
                </a:lnTo>
                <a:lnTo>
                  <a:pt x="377778" y="208563"/>
                </a:lnTo>
                <a:lnTo>
                  <a:pt x="403024" y="159260"/>
                </a:lnTo>
                <a:lnTo>
                  <a:pt x="407861" y="117697"/>
                </a:lnTo>
                <a:lnTo>
                  <a:pt x="406648" y="96129"/>
                </a:lnTo>
                <a:lnTo>
                  <a:pt x="396944" y="57898"/>
                </a:lnTo>
                <a:lnTo>
                  <a:pt x="364841" y="15083"/>
                </a:lnTo>
                <a:lnTo>
                  <a:pt x="349885" y="6158"/>
                </a:lnTo>
                <a:lnTo>
                  <a:pt x="332827" y="0"/>
                </a:lnTo>
                <a:close/>
              </a:path>
              <a:path w="408304" h="235585">
                <a:moveTo>
                  <a:pt x="75034" y="0"/>
                </a:moveTo>
                <a:lnTo>
                  <a:pt x="30164" y="26776"/>
                </a:lnTo>
                <a:lnTo>
                  <a:pt x="4852" y="76196"/>
                </a:lnTo>
                <a:lnTo>
                  <a:pt x="0" y="117697"/>
                </a:lnTo>
                <a:lnTo>
                  <a:pt x="1209" y="139312"/>
                </a:lnTo>
                <a:lnTo>
                  <a:pt x="10882" y="177542"/>
                </a:lnTo>
                <a:lnTo>
                  <a:pt x="42942" y="220218"/>
                </a:lnTo>
                <a:lnTo>
                  <a:pt x="75034" y="235272"/>
                </a:lnTo>
                <a:lnTo>
                  <a:pt x="78011" y="225722"/>
                </a:lnTo>
                <a:lnTo>
                  <a:pt x="64604" y="219784"/>
                </a:lnTo>
                <a:lnTo>
                  <a:pt x="53035" y="211521"/>
                </a:lnTo>
                <a:lnTo>
                  <a:pt x="29304" y="172988"/>
                </a:lnTo>
                <a:lnTo>
                  <a:pt x="21455" y="116457"/>
                </a:lnTo>
                <a:lnTo>
                  <a:pt x="22327"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3" name="object 17">
            <a:extLst>
              <a:ext uri="{FF2B5EF4-FFF2-40B4-BE49-F238E27FC236}">
                <a16:creationId xmlns:a16="http://schemas.microsoft.com/office/drawing/2014/main" id="{9B1F0F1D-430D-94EC-0460-CDBBF470EC42}"/>
              </a:ext>
            </a:extLst>
          </p:cNvPr>
          <p:cNvSpPr txBox="1"/>
          <p:nvPr/>
        </p:nvSpPr>
        <p:spPr>
          <a:xfrm>
            <a:off x="3805682" y="4018787"/>
            <a:ext cx="1594485" cy="1360805"/>
          </a:xfrm>
          <a:prstGeom prst="rect">
            <a:avLst/>
          </a:prstGeom>
        </p:spPr>
        <p:txBody>
          <a:bodyPr vert="horz" wrap="square" lIns="0" tIns="153035" rIns="0" bIns="0" rtlCol="0">
            <a:spAutoFit/>
          </a:bodyPr>
          <a:lstStyle/>
          <a:p>
            <a:pPr marL="38100" rtl="0">
              <a:spcBef>
                <a:spcPts val="1205"/>
              </a:spcBef>
            </a:pP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𝐢𝐝}</a:t>
            </a:r>
            <a:endParaRPr sz="2000" kern="1200">
              <a:solidFill>
                <a:prstClr val="black"/>
              </a:solidFill>
              <a:latin typeface="Cambria Math"/>
              <a:cs typeface="Cambria Math"/>
            </a:endParaRPr>
          </a:p>
          <a:p>
            <a:pPr marL="41275" rtl="0">
              <a:spcBef>
                <a:spcPts val="1100"/>
              </a:spcBef>
            </a:pP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𝐢𝐝}</a:t>
            </a:r>
            <a:endParaRPr sz="2000" kern="1200">
              <a:solidFill>
                <a:prstClr val="black"/>
              </a:solidFill>
              <a:latin typeface="Cambria Math"/>
              <a:cs typeface="Cambria Math"/>
            </a:endParaRPr>
          </a:p>
          <a:p>
            <a:pPr marL="571500" rtl="0">
              <a:spcBef>
                <a:spcPts val="1105"/>
              </a:spcBef>
            </a:pPr>
            <a:r>
              <a:rPr sz="2000" kern="1200" spc="-15" dirty="0">
                <a:solidFill>
                  <a:prstClr val="black"/>
                </a:solidFill>
                <a:latin typeface="Cambria Math"/>
                <a:cs typeface="Cambria Math"/>
              </a:rPr>
              <a:t>FIRST</a:t>
            </a:r>
            <a:r>
              <a:rPr sz="2000" kern="1200" spc="330" dirty="0">
                <a:solidFill>
                  <a:prstClr val="black"/>
                </a:solidFill>
                <a:latin typeface="Cambria Math"/>
                <a:cs typeface="Cambria Math"/>
              </a:rPr>
              <a:t> </a:t>
            </a:r>
            <a:r>
              <a:rPr sz="2000" kern="1200" spc="135" dirty="0">
                <a:solidFill>
                  <a:prstClr val="black"/>
                </a:solidFill>
                <a:latin typeface="Cambria Math"/>
                <a:cs typeface="Cambria Math"/>
              </a:rPr>
              <a:t>𝑇</a:t>
            </a:r>
            <a:r>
              <a:rPr sz="2250" kern="1200" spc="202" baseline="25925" dirty="0">
                <a:solidFill>
                  <a:prstClr val="black"/>
                </a:solidFill>
                <a:latin typeface="Cambria Math"/>
                <a:cs typeface="Cambria Math"/>
              </a:rPr>
              <a:t>'</a:t>
            </a:r>
            <a:endParaRPr sz="2250" kern="1200" baseline="25925">
              <a:solidFill>
                <a:prstClr val="black"/>
              </a:solidFill>
              <a:latin typeface="Cambria Math"/>
              <a:cs typeface="Cambria Math"/>
            </a:endParaRPr>
          </a:p>
        </p:txBody>
      </p:sp>
      <p:sp>
        <p:nvSpPr>
          <p:cNvPr id="44" name="object 18">
            <a:extLst>
              <a:ext uri="{FF2B5EF4-FFF2-40B4-BE49-F238E27FC236}">
                <a16:creationId xmlns:a16="http://schemas.microsoft.com/office/drawing/2014/main" id="{5E8C3D83-D2A2-7458-0C64-B2FCC6D3C62D}"/>
              </a:ext>
            </a:extLst>
          </p:cNvPr>
          <p:cNvSpPr txBox="1"/>
          <p:nvPr/>
        </p:nvSpPr>
        <p:spPr>
          <a:xfrm>
            <a:off x="5534152" y="5049011"/>
            <a:ext cx="826135" cy="330200"/>
          </a:xfrm>
          <a:prstGeom prst="rect">
            <a:avLst/>
          </a:prstGeom>
        </p:spPr>
        <p:txBody>
          <a:bodyPr vert="horz" wrap="square" lIns="0" tIns="12700" rIns="0" bIns="0" rtlCol="0">
            <a:spAutoFit/>
          </a:bodyPr>
          <a:lstStyle/>
          <a:p>
            <a:pPr marL="12700" rtl="0">
              <a:spcBef>
                <a:spcPts val="100"/>
              </a:spcBef>
            </a:pP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5" dirty="0">
                <a:solidFill>
                  <a:prstClr val="black"/>
                </a:solidFill>
                <a:latin typeface="Cambria Math"/>
                <a:cs typeface="Cambria Math"/>
              </a:rPr>
              <a:t>𝜖</a:t>
            </a:r>
            <a:r>
              <a:rPr sz="2000" kern="1200" dirty="0">
                <a:solidFill>
                  <a:prstClr val="black"/>
                </a:solidFill>
                <a:latin typeface="Cambria Math"/>
                <a:cs typeface="Cambria Math"/>
              </a:rPr>
              <a:t>}</a:t>
            </a:r>
            <a:endParaRPr sz="2000" kern="1200">
              <a:solidFill>
                <a:prstClr val="black"/>
              </a:solidFill>
              <a:latin typeface="Cambria Math"/>
              <a:cs typeface="Cambria Math"/>
            </a:endParaRPr>
          </a:p>
        </p:txBody>
      </p:sp>
      <p:sp>
        <p:nvSpPr>
          <p:cNvPr id="45" name="object 19">
            <a:extLst>
              <a:ext uri="{FF2B5EF4-FFF2-40B4-BE49-F238E27FC236}">
                <a16:creationId xmlns:a16="http://schemas.microsoft.com/office/drawing/2014/main" id="{734F7D69-EE6C-69F5-6CC7-6C9D9890088A}"/>
              </a:ext>
            </a:extLst>
          </p:cNvPr>
          <p:cNvSpPr/>
          <p:nvPr/>
        </p:nvSpPr>
        <p:spPr>
          <a:xfrm>
            <a:off x="2074326" y="5570520"/>
            <a:ext cx="568960" cy="235585"/>
          </a:xfrm>
          <a:custGeom>
            <a:avLst/>
            <a:gdLst/>
            <a:ahLst/>
            <a:cxnLst/>
            <a:rect l="l" t="t" r="r" b="b"/>
            <a:pathLst>
              <a:path w="568960" h="235585">
                <a:moveTo>
                  <a:pt x="493419" y="0"/>
                </a:moveTo>
                <a:lnTo>
                  <a:pt x="490071" y="9549"/>
                </a:lnTo>
                <a:lnTo>
                  <a:pt x="503690" y="15459"/>
                </a:lnTo>
                <a:lnTo>
                  <a:pt x="515402" y="23641"/>
                </a:lnTo>
                <a:lnTo>
                  <a:pt x="539184" y="61565"/>
                </a:lnTo>
                <a:lnTo>
                  <a:pt x="546997" y="116457"/>
                </a:lnTo>
                <a:lnTo>
                  <a:pt x="546125" y="137208"/>
                </a:lnTo>
                <a:lnTo>
                  <a:pt x="533045" y="188019"/>
                </a:lnTo>
                <a:lnTo>
                  <a:pt x="503849" y="219784"/>
                </a:lnTo>
                <a:lnTo>
                  <a:pt x="490443" y="225722"/>
                </a:lnTo>
                <a:lnTo>
                  <a:pt x="493419" y="235272"/>
                </a:lnTo>
                <a:lnTo>
                  <a:pt x="538370" y="208564"/>
                </a:lnTo>
                <a:lnTo>
                  <a:pt x="563616" y="159261"/>
                </a:lnTo>
                <a:lnTo>
                  <a:pt x="568453" y="117697"/>
                </a:lnTo>
                <a:lnTo>
                  <a:pt x="567240" y="96129"/>
                </a:lnTo>
                <a:lnTo>
                  <a:pt x="557535" y="57899"/>
                </a:lnTo>
                <a:lnTo>
                  <a:pt x="525433" y="15084"/>
                </a:lnTo>
                <a:lnTo>
                  <a:pt x="510476" y="6158"/>
                </a:lnTo>
                <a:lnTo>
                  <a:pt x="493419" y="0"/>
                </a:lnTo>
                <a:close/>
              </a:path>
              <a:path w="568960" h="235585">
                <a:moveTo>
                  <a:pt x="75034" y="0"/>
                </a:moveTo>
                <a:lnTo>
                  <a:pt x="30164" y="26777"/>
                </a:lnTo>
                <a:lnTo>
                  <a:pt x="4852" y="76196"/>
                </a:lnTo>
                <a:lnTo>
                  <a:pt x="0" y="117697"/>
                </a:lnTo>
                <a:lnTo>
                  <a:pt x="1209" y="139312"/>
                </a:lnTo>
                <a:lnTo>
                  <a:pt x="10882" y="177543"/>
                </a:lnTo>
                <a:lnTo>
                  <a:pt x="42943" y="220218"/>
                </a:lnTo>
                <a:lnTo>
                  <a:pt x="75034" y="235272"/>
                </a:lnTo>
                <a:lnTo>
                  <a:pt x="78011" y="225722"/>
                </a:lnTo>
                <a:lnTo>
                  <a:pt x="64604" y="219784"/>
                </a:lnTo>
                <a:lnTo>
                  <a:pt x="53035" y="211521"/>
                </a:lnTo>
                <a:lnTo>
                  <a:pt x="29304" y="172989"/>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6" name="object 20">
            <a:extLst>
              <a:ext uri="{FF2B5EF4-FFF2-40B4-BE49-F238E27FC236}">
                <a16:creationId xmlns:a16="http://schemas.microsoft.com/office/drawing/2014/main" id="{8C9265F5-03C3-33CE-D30A-5D9BC772E0AA}"/>
              </a:ext>
            </a:extLst>
          </p:cNvPr>
          <p:cNvSpPr txBox="1"/>
          <p:nvPr/>
        </p:nvSpPr>
        <p:spPr>
          <a:xfrm>
            <a:off x="1139189" y="5366003"/>
            <a:ext cx="1449705" cy="891540"/>
          </a:xfrm>
          <a:prstGeom prst="rect">
            <a:avLst/>
          </a:prstGeom>
        </p:spPr>
        <p:txBody>
          <a:bodyPr vert="horz" wrap="square" lIns="0" tIns="140335" rIns="0" bIns="0" rtlCol="0">
            <a:spAutoFit/>
          </a:bodyPr>
          <a:lstStyle/>
          <a:p>
            <a:pPr marL="266700" indent="-228600" rtl="0">
              <a:spcBef>
                <a:spcPts val="1105"/>
              </a:spcBef>
              <a:buFont typeface="Wingdings"/>
              <a:buChar char=""/>
              <a:tabLst>
                <a:tab pos="266700" algn="l"/>
              </a:tabLst>
            </a:pPr>
            <a:r>
              <a:rPr sz="2000" kern="1200" spc="-15" dirty="0">
                <a:solidFill>
                  <a:prstClr val="black"/>
                </a:solidFill>
                <a:latin typeface="Cambria Math"/>
                <a:cs typeface="Cambria Math"/>
              </a:rPr>
              <a:t>FIRST</a:t>
            </a:r>
            <a:r>
              <a:rPr sz="2000" kern="1200" spc="330" dirty="0">
                <a:solidFill>
                  <a:prstClr val="black"/>
                </a:solidFill>
                <a:latin typeface="Cambria Math"/>
                <a:cs typeface="Cambria Math"/>
              </a:rPr>
              <a:t> </a:t>
            </a:r>
            <a:r>
              <a:rPr sz="2000" kern="1200" spc="95" dirty="0">
                <a:solidFill>
                  <a:prstClr val="black"/>
                </a:solidFill>
                <a:latin typeface="Cambria Math"/>
                <a:cs typeface="Cambria Math"/>
              </a:rPr>
              <a:t>𝑇𝐸</a:t>
            </a:r>
            <a:r>
              <a:rPr sz="2250" kern="1200" spc="142" baseline="27777" dirty="0">
                <a:solidFill>
                  <a:prstClr val="black"/>
                </a:solidFill>
                <a:latin typeface="Cambria Math"/>
                <a:cs typeface="Cambria Math"/>
              </a:rPr>
              <a:t>'</a:t>
            </a:r>
            <a:endParaRPr sz="2250" kern="1200" baseline="27777">
              <a:solidFill>
                <a:prstClr val="black"/>
              </a:solidFill>
              <a:latin typeface="Cambria Math"/>
              <a:cs typeface="Cambria Math"/>
            </a:endParaRPr>
          </a:p>
          <a:p>
            <a:pPr marL="266700" indent="-228600" rtl="0">
              <a:spcBef>
                <a:spcPts val="1010"/>
              </a:spcBef>
              <a:buFont typeface="Wingdings"/>
              <a:buChar char=""/>
              <a:tabLst>
                <a:tab pos="266700" algn="l"/>
              </a:tabLst>
            </a:pPr>
            <a:r>
              <a:rPr sz="2000" kern="1200" dirty="0">
                <a:solidFill>
                  <a:prstClr val="black"/>
                </a:solidFill>
                <a:latin typeface="Palatino Linotype"/>
                <a:cs typeface="Palatino Linotype"/>
              </a:rPr>
              <a:t>…</a:t>
            </a:r>
            <a:endParaRPr sz="2000" kern="1200">
              <a:solidFill>
                <a:prstClr val="black"/>
              </a:solidFill>
              <a:latin typeface="Palatino Linotype"/>
              <a:cs typeface="Palatino Linotype"/>
            </a:endParaRPr>
          </a:p>
        </p:txBody>
      </p:sp>
      <p:sp>
        <p:nvSpPr>
          <p:cNvPr id="47" name="object 21">
            <a:extLst>
              <a:ext uri="{FF2B5EF4-FFF2-40B4-BE49-F238E27FC236}">
                <a16:creationId xmlns:a16="http://schemas.microsoft.com/office/drawing/2014/main" id="{44E9B3CE-5DBC-B7E9-4927-18DAA23A8A25}"/>
              </a:ext>
            </a:extLst>
          </p:cNvPr>
          <p:cNvSpPr/>
          <p:nvPr/>
        </p:nvSpPr>
        <p:spPr>
          <a:xfrm>
            <a:off x="3665128" y="5570520"/>
            <a:ext cx="322580" cy="235585"/>
          </a:xfrm>
          <a:custGeom>
            <a:avLst/>
            <a:gdLst/>
            <a:ahLst/>
            <a:cxnLst/>
            <a:rect l="l" t="t" r="r" b="b"/>
            <a:pathLst>
              <a:path w="322579" h="235585">
                <a:moveTo>
                  <a:pt x="247547" y="0"/>
                </a:moveTo>
                <a:lnTo>
                  <a:pt x="244199" y="9549"/>
                </a:lnTo>
                <a:lnTo>
                  <a:pt x="257818" y="15459"/>
                </a:lnTo>
                <a:lnTo>
                  <a:pt x="269530" y="23641"/>
                </a:lnTo>
                <a:lnTo>
                  <a:pt x="293312" y="61565"/>
                </a:lnTo>
                <a:lnTo>
                  <a:pt x="301125" y="116457"/>
                </a:lnTo>
                <a:lnTo>
                  <a:pt x="300253" y="137208"/>
                </a:lnTo>
                <a:lnTo>
                  <a:pt x="287173" y="188019"/>
                </a:lnTo>
                <a:lnTo>
                  <a:pt x="257977" y="219784"/>
                </a:lnTo>
                <a:lnTo>
                  <a:pt x="244571" y="225722"/>
                </a:lnTo>
                <a:lnTo>
                  <a:pt x="247547" y="235272"/>
                </a:lnTo>
                <a:lnTo>
                  <a:pt x="292498" y="208564"/>
                </a:lnTo>
                <a:lnTo>
                  <a:pt x="317745" y="159261"/>
                </a:lnTo>
                <a:lnTo>
                  <a:pt x="322582" y="117697"/>
                </a:lnTo>
                <a:lnTo>
                  <a:pt x="321369" y="96129"/>
                </a:lnTo>
                <a:lnTo>
                  <a:pt x="311663" y="57899"/>
                </a:lnTo>
                <a:lnTo>
                  <a:pt x="279560" y="15084"/>
                </a:lnTo>
                <a:lnTo>
                  <a:pt x="264604" y="6158"/>
                </a:lnTo>
                <a:lnTo>
                  <a:pt x="247547" y="0"/>
                </a:lnTo>
                <a:close/>
              </a:path>
              <a:path w="322579" h="235585">
                <a:moveTo>
                  <a:pt x="75034" y="0"/>
                </a:moveTo>
                <a:lnTo>
                  <a:pt x="30164" y="26777"/>
                </a:lnTo>
                <a:lnTo>
                  <a:pt x="4852" y="76196"/>
                </a:lnTo>
                <a:lnTo>
                  <a:pt x="0" y="117697"/>
                </a:lnTo>
                <a:lnTo>
                  <a:pt x="1209" y="139312"/>
                </a:lnTo>
                <a:lnTo>
                  <a:pt x="10882" y="177543"/>
                </a:lnTo>
                <a:lnTo>
                  <a:pt x="42942" y="220218"/>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22">
            <a:extLst>
              <a:ext uri="{FF2B5EF4-FFF2-40B4-BE49-F238E27FC236}">
                <a16:creationId xmlns:a16="http://schemas.microsoft.com/office/drawing/2014/main" id="{FCDB86EA-7580-8845-B350-123557B3AB52}"/>
              </a:ext>
            </a:extLst>
          </p:cNvPr>
          <p:cNvSpPr txBox="1"/>
          <p:nvPr/>
        </p:nvSpPr>
        <p:spPr>
          <a:xfrm>
            <a:off x="2722943" y="5494020"/>
            <a:ext cx="1189355" cy="330200"/>
          </a:xfrm>
          <a:prstGeom prst="rect">
            <a:avLst/>
          </a:prstGeom>
        </p:spPr>
        <p:txBody>
          <a:bodyPr vert="horz" wrap="square" lIns="0" tIns="12700" rIns="0" bIns="0" rtlCol="0">
            <a:spAutoFit/>
          </a:bodyPr>
          <a:lstStyle/>
          <a:p>
            <a:pPr marL="12700" rtl="0">
              <a:spcBef>
                <a:spcPts val="100"/>
              </a:spcBef>
            </a:pPr>
            <a:r>
              <a:rPr sz="2000" kern="1200" dirty="0">
                <a:solidFill>
                  <a:prstClr val="black"/>
                </a:solidFill>
                <a:latin typeface="Cambria Math"/>
                <a:cs typeface="Cambria Math"/>
              </a:rPr>
              <a:t>=</a:t>
            </a:r>
            <a:r>
              <a:rPr sz="2000" kern="1200" spc="85" dirty="0">
                <a:solidFill>
                  <a:prstClr val="black"/>
                </a:solidFill>
                <a:latin typeface="Cambria Math"/>
                <a:cs typeface="Cambria Math"/>
              </a:rPr>
              <a:t> </a:t>
            </a:r>
            <a:r>
              <a:rPr sz="2000" kern="1200" spc="-15" dirty="0">
                <a:solidFill>
                  <a:prstClr val="black"/>
                </a:solidFill>
                <a:latin typeface="Cambria Math"/>
                <a:cs typeface="Cambria Math"/>
              </a:rPr>
              <a:t>FIRST</a:t>
            </a:r>
            <a:r>
              <a:rPr sz="2000" kern="1200" spc="340" dirty="0">
                <a:solidFill>
                  <a:prstClr val="black"/>
                </a:solidFill>
                <a:latin typeface="Cambria Math"/>
                <a:cs typeface="Cambria Math"/>
              </a:rPr>
              <a:t> </a:t>
            </a:r>
            <a:r>
              <a:rPr sz="2000" kern="1200" dirty="0">
                <a:solidFill>
                  <a:prstClr val="black"/>
                </a:solidFill>
                <a:latin typeface="Cambria Math"/>
                <a:cs typeface="Cambria Math"/>
              </a:rPr>
              <a:t>𝑇</a:t>
            </a:r>
            <a:endParaRPr sz="2000" kern="1200">
              <a:solidFill>
                <a:prstClr val="black"/>
              </a:solidFill>
              <a:latin typeface="Cambria Math"/>
              <a:cs typeface="Cambria Math"/>
            </a:endParaRPr>
          </a:p>
        </p:txBody>
      </p:sp>
      <p:sp>
        <p:nvSpPr>
          <p:cNvPr id="49" name="object 23">
            <a:extLst>
              <a:ext uri="{FF2B5EF4-FFF2-40B4-BE49-F238E27FC236}">
                <a16:creationId xmlns:a16="http://schemas.microsoft.com/office/drawing/2014/main" id="{E4E7DE1D-0451-E522-9C97-55E3A0336437}"/>
              </a:ext>
            </a:extLst>
          </p:cNvPr>
          <p:cNvSpPr/>
          <p:nvPr/>
        </p:nvSpPr>
        <p:spPr>
          <a:xfrm>
            <a:off x="4462371" y="5569897"/>
            <a:ext cx="504190" cy="236854"/>
          </a:xfrm>
          <a:custGeom>
            <a:avLst/>
            <a:gdLst/>
            <a:ahLst/>
            <a:cxnLst/>
            <a:rect l="l" t="t" r="r" b="b"/>
            <a:pathLst>
              <a:path w="504189" h="236854">
                <a:moveTo>
                  <a:pt x="75034" y="623"/>
                </a:moveTo>
                <a:lnTo>
                  <a:pt x="30164" y="27400"/>
                </a:lnTo>
                <a:lnTo>
                  <a:pt x="4852" y="76820"/>
                </a:lnTo>
                <a:lnTo>
                  <a:pt x="0" y="118321"/>
                </a:lnTo>
                <a:lnTo>
                  <a:pt x="1209" y="139936"/>
                </a:lnTo>
                <a:lnTo>
                  <a:pt x="10882" y="178166"/>
                </a:lnTo>
                <a:lnTo>
                  <a:pt x="42942" y="220842"/>
                </a:lnTo>
                <a:lnTo>
                  <a:pt x="75034" y="235895"/>
                </a:lnTo>
                <a:lnTo>
                  <a:pt x="78011" y="226345"/>
                </a:lnTo>
                <a:lnTo>
                  <a:pt x="64604" y="220408"/>
                </a:lnTo>
                <a:lnTo>
                  <a:pt x="53035" y="212145"/>
                </a:lnTo>
                <a:lnTo>
                  <a:pt x="29304" y="173612"/>
                </a:lnTo>
                <a:lnTo>
                  <a:pt x="21456" y="117081"/>
                </a:lnTo>
                <a:lnTo>
                  <a:pt x="22328" y="97008"/>
                </a:lnTo>
                <a:lnTo>
                  <a:pt x="35408" y="47441"/>
                </a:lnTo>
                <a:lnTo>
                  <a:pt x="64813" y="16083"/>
                </a:lnTo>
                <a:lnTo>
                  <a:pt x="78383" y="10172"/>
                </a:lnTo>
                <a:lnTo>
                  <a:pt x="75034" y="623"/>
                </a:lnTo>
                <a:close/>
              </a:path>
              <a:path w="504189" h="236854">
                <a:moveTo>
                  <a:pt x="428205" y="0"/>
                </a:moveTo>
                <a:lnTo>
                  <a:pt x="424981" y="0"/>
                </a:lnTo>
                <a:lnTo>
                  <a:pt x="424981" y="9425"/>
                </a:lnTo>
                <a:lnTo>
                  <a:pt x="426841" y="9425"/>
                </a:lnTo>
                <a:lnTo>
                  <a:pt x="435345" y="10011"/>
                </a:lnTo>
                <a:lnTo>
                  <a:pt x="464529" y="39706"/>
                </a:lnTo>
                <a:lnTo>
                  <a:pt x="465165" y="49733"/>
                </a:lnTo>
                <a:lnTo>
                  <a:pt x="465165" y="55521"/>
                </a:lnTo>
                <a:lnTo>
                  <a:pt x="464338" y="62673"/>
                </a:lnTo>
                <a:lnTo>
                  <a:pt x="461031" y="79705"/>
                </a:lnTo>
                <a:lnTo>
                  <a:pt x="460203" y="85783"/>
                </a:lnTo>
                <a:lnTo>
                  <a:pt x="460203" y="96449"/>
                </a:lnTo>
                <a:lnTo>
                  <a:pt x="462271" y="102216"/>
                </a:lnTo>
                <a:lnTo>
                  <a:pt x="470538" y="111228"/>
                </a:lnTo>
                <a:lnTo>
                  <a:pt x="475458" y="114556"/>
                </a:lnTo>
                <a:lnTo>
                  <a:pt x="481163" y="116706"/>
                </a:lnTo>
                <a:lnTo>
                  <a:pt x="481163" y="118938"/>
                </a:lnTo>
                <a:lnTo>
                  <a:pt x="475458" y="121088"/>
                </a:lnTo>
                <a:lnTo>
                  <a:pt x="470538" y="124416"/>
                </a:lnTo>
                <a:lnTo>
                  <a:pt x="462271" y="133428"/>
                </a:lnTo>
                <a:lnTo>
                  <a:pt x="460203" y="139195"/>
                </a:lnTo>
                <a:lnTo>
                  <a:pt x="460203" y="149861"/>
                </a:lnTo>
                <a:lnTo>
                  <a:pt x="461031" y="155938"/>
                </a:lnTo>
                <a:lnTo>
                  <a:pt x="464338" y="172971"/>
                </a:lnTo>
                <a:lnTo>
                  <a:pt x="465165" y="180123"/>
                </a:lnTo>
                <a:lnTo>
                  <a:pt x="465165" y="185911"/>
                </a:lnTo>
                <a:lnTo>
                  <a:pt x="464529" y="196317"/>
                </a:lnTo>
                <a:lnTo>
                  <a:pt x="435345" y="226501"/>
                </a:lnTo>
                <a:lnTo>
                  <a:pt x="426841" y="227087"/>
                </a:lnTo>
                <a:lnTo>
                  <a:pt x="424981" y="227087"/>
                </a:lnTo>
                <a:lnTo>
                  <a:pt x="424981" y="236512"/>
                </a:lnTo>
                <a:lnTo>
                  <a:pt x="428205" y="236512"/>
                </a:lnTo>
                <a:lnTo>
                  <a:pt x="441860" y="235493"/>
                </a:lnTo>
                <a:lnTo>
                  <a:pt x="478121" y="215897"/>
                </a:lnTo>
                <a:lnTo>
                  <a:pt x="486248" y="183678"/>
                </a:lnTo>
                <a:lnTo>
                  <a:pt x="486248" y="176816"/>
                </a:lnTo>
                <a:lnTo>
                  <a:pt x="485277" y="169002"/>
                </a:lnTo>
                <a:lnTo>
                  <a:pt x="481390" y="151474"/>
                </a:lnTo>
                <a:lnTo>
                  <a:pt x="480419" y="145603"/>
                </a:lnTo>
                <a:lnTo>
                  <a:pt x="480419" y="136922"/>
                </a:lnTo>
                <a:lnTo>
                  <a:pt x="482384" y="132271"/>
                </a:lnTo>
                <a:lnTo>
                  <a:pt x="490239" y="125077"/>
                </a:lnTo>
                <a:lnTo>
                  <a:pt x="496171" y="123155"/>
                </a:lnTo>
                <a:lnTo>
                  <a:pt x="504108" y="122907"/>
                </a:lnTo>
                <a:lnTo>
                  <a:pt x="504108" y="112737"/>
                </a:lnTo>
                <a:lnTo>
                  <a:pt x="496171" y="112489"/>
                </a:lnTo>
                <a:lnTo>
                  <a:pt x="490239" y="110566"/>
                </a:lnTo>
                <a:lnTo>
                  <a:pt x="482384" y="103373"/>
                </a:lnTo>
                <a:lnTo>
                  <a:pt x="480419" y="98722"/>
                </a:lnTo>
                <a:lnTo>
                  <a:pt x="480419" y="90041"/>
                </a:lnTo>
                <a:lnTo>
                  <a:pt x="481390" y="84170"/>
                </a:lnTo>
                <a:lnTo>
                  <a:pt x="485277" y="66642"/>
                </a:lnTo>
                <a:lnTo>
                  <a:pt x="486248" y="58828"/>
                </a:lnTo>
                <a:lnTo>
                  <a:pt x="486248" y="51965"/>
                </a:lnTo>
                <a:lnTo>
                  <a:pt x="485345" y="39877"/>
                </a:lnTo>
                <a:lnTo>
                  <a:pt x="463657" y="7685"/>
                </a:lnTo>
                <a:lnTo>
                  <a:pt x="441860" y="1019"/>
                </a:lnTo>
                <a:lnTo>
                  <a:pt x="428205"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0" name="object 24">
            <a:extLst>
              <a:ext uri="{FF2B5EF4-FFF2-40B4-BE49-F238E27FC236}">
                <a16:creationId xmlns:a16="http://schemas.microsoft.com/office/drawing/2014/main" id="{E772431D-073E-A9A4-AC33-C4665E10065A}"/>
              </a:ext>
            </a:extLst>
          </p:cNvPr>
          <p:cNvSpPr txBox="1"/>
          <p:nvPr/>
        </p:nvSpPr>
        <p:spPr>
          <a:xfrm>
            <a:off x="4067873" y="5494020"/>
            <a:ext cx="825500" cy="330200"/>
          </a:xfrm>
          <a:prstGeom prst="rect">
            <a:avLst/>
          </a:prstGeom>
        </p:spPr>
        <p:txBody>
          <a:bodyPr vert="horz" wrap="square" lIns="0" tIns="12700" rIns="0" bIns="0" rtlCol="0">
            <a:spAutoFit/>
          </a:bodyPr>
          <a:lstStyle/>
          <a:p>
            <a:pPr marL="12700" rtl="0">
              <a:spcBef>
                <a:spcPts val="100"/>
              </a:spcBef>
            </a:pP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 </a:t>
            </a:r>
            <a:r>
              <a:rPr sz="2000" kern="1200" spc="-5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𝐢𝐝</a:t>
            </a:r>
            <a:endParaRPr sz="2000" kern="1200">
              <a:solidFill>
                <a:prstClr val="black"/>
              </a:solidFill>
              <a:latin typeface="Cambria Math"/>
              <a:cs typeface="Cambria Math"/>
            </a:endParaRPr>
          </a:p>
        </p:txBody>
      </p:sp>
    </p:spTree>
    <p:extLst>
      <p:ext uri="{BB962C8B-B14F-4D97-AF65-F5344CB8AC3E}">
        <p14:creationId xmlns:p14="http://schemas.microsoft.com/office/powerpoint/2010/main" val="34610718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67</a:t>
            </a:fld>
            <a:endParaRPr lang="en-US"/>
          </a:p>
        </p:txBody>
      </p:sp>
      <p:sp>
        <p:nvSpPr>
          <p:cNvPr id="9" name="object 2">
            <a:extLst>
              <a:ext uri="{FF2B5EF4-FFF2-40B4-BE49-F238E27FC236}">
                <a16:creationId xmlns:a16="http://schemas.microsoft.com/office/drawing/2014/main" id="{920922B0-C2AA-367F-26C2-0F413A02AA6A}"/>
              </a:ext>
            </a:extLst>
          </p:cNvPr>
          <p:cNvSpPr txBox="1">
            <a:spLocks/>
          </p:cNvSpPr>
          <p:nvPr/>
        </p:nvSpPr>
        <p:spPr>
          <a:xfrm>
            <a:off x="707390" y="524763"/>
            <a:ext cx="651255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Looking</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Ahead</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Helps</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Cont.</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0" name="object 3">
            <a:extLst>
              <a:ext uri="{FF2B5EF4-FFF2-40B4-BE49-F238E27FC236}">
                <a16:creationId xmlns:a16="http://schemas.microsoft.com/office/drawing/2014/main" id="{89C40D0E-015E-6630-92D7-8CD2CF652AF8}"/>
              </a:ext>
            </a:extLst>
          </p:cNvPr>
          <p:cNvSpPr txBox="1"/>
          <p:nvPr/>
        </p:nvSpPr>
        <p:spPr>
          <a:xfrm>
            <a:off x="707390" y="1544828"/>
            <a:ext cx="7666355" cy="1400383"/>
          </a:xfrm>
          <a:prstGeom prst="rect">
            <a:avLst/>
          </a:prstGeom>
        </p:spPr>
        <p:txBody>
          <a:bodyPr vert="horz" wrap="square" lIns="0" tIns="12700" rIns="0" bIns="0" rtlCol="0">
            <a:spAutoFit/>
          </a:bodyPr>
          <a:lstStyle/>
          <a:p>
            <a:pPr marL="243204" indent="-230504" rtl="0">
              <a:spcBef>
                <a:spcPts val="100"/>
              </a:spcBef>
              <a:buFont typeface="Arial MT"/>
              <a:buChar char="•"/>
              <a:tabLst>
                <a:tab pos="243204" algn="l"/>
              </a:tabLst>
            </a:pPr>
            <a:r>
              <a:rPr sz="2400" kern="1200" spc="-5" dirty="0">
                <a:solidFill>
                  <a:prstClr val="black"/>
                </a:solidFill>
                <a:latin typeface="Palatino Linotype"/>
                <a:cs typeface="Palatino Linotype"/>
              </a:rPr>
              <a:t>Suppose</a:t>
            </a:r>
            <a:r>
              <a:rPr sz="2400" kern="1200" spc="-10" dirty="0">
                <a:solidFill>
                  <a:prstClr val="black"/>
                </a:solidFill>
                <a:latin typeface="Palatino Linotype"/>
                <a:cs typeface="Palatino Linotype"/>
              </a:rPr>
              <a:t> </a:t>
            </a:r>
            <a:r>
              <a:rPr sz="2400" kern="1200" dirty="0">
                <a:solidFill>
                  <a:prstClr val="black"/>
                </a:solidFill>
                <a:latin typeface="Palatino Linotype"/>
                <a:cs typeface="Palatino Linotype"/>
              </a:rPr>
              <a:t>the</a:t>
            </a:r>
            <a:r>
              <a:rPr sz="2400" kern="1200" spc="-5" dirty="0">
                <a:solidFill>
                  <a:prstClr val="black"/>
                </a:solidFill>
                <a:latin typeface="Palatino Linotype"/>
                <a:cs typeface="Palatino Linotype"/>
              </a:rPr>
              <a:t> input string </a:t>
            </a:r>
            <a:r>
              <a:rPr sz="2400" kern="1200" dirty="0">
                <a:solidFill>
                  <a:prstClr val="black"/>
                </a:solidFill>
                <a:latin typeface="Palatino Linotype"/>
                <a:cs typeface="Palatino Linotype"/>
              </a:rPr>
              <a:t>is</a:t>
            </a:r>
            <a:r>
              <a:rPr sz="2400" kern="1200" spc="-15" dirty="0">
                <a:solidFill>
                  <a:prstClr val="black"/>
                </a:solidFill>
                <a:latin typeface="Palatino Linotype"/>
                <a:cs typeface="Palatino Linotype"/>
              </a:rPr>
              <a:t> </a:t>
            </a:r>
            <a:r>
              <a:rPr sz="2400" kern="1200" dirty="0">
                <a:solidFill>
                  <a:prstClr val="black"/>
                </a:solidFill>
                <a:latin typeface="Cambria Math"/>
                <a:cs typeface="Cambria Math"/>
              </a:rPr>
              <a:t>𝒙</a:t>
            </a:r>
            <a:r>
              <a:rPr sz="2400" kern="1200" dirty="0">
                <a:solidFill>
                  <a:srgbClr val="FF0000"/>
                </a:solidFill>
                <a:latin typeface="Cambria Math"/>
                <a:cs typeface="Cambria Math"/>
              </a:rPr>
              <a:t>𝒂</a:t>
            </a:r>
            <a:endParaRPr sz="2400" kern="1200" dirty="0">
              <a:solidFill>
                <a:prstClr val="black"/>
              </a:solidFill>
              <a:latin typeface="Cambria Math"/>
              <a:cs typeface="Cambria Math"/>
            </a:endParaRPr>
          </a:p>
          <a:p>
            <a:pPr marL="243204" indent="-230504" rtl="0">
              <a:spcBef>
                <a:spcPts val="1700"/>
              </a:spcBef>
              <a:buFont typeface="Arial MT"/>
              <a:buChar char="•"/>
              <a:tabLst>
                <a:tab pos="243204" algn="l"/>
              </a:tabLst>
            </a:pPr>
            <a:r>
              <a:rPr sz="2400" kern="1200" spc="-5" dirty="0">
                <a:solidFill>
                  <a:prstClr val="black"/>
                </a:solidFill>
                <a:latin typeface="Palatino Linotype"/>
                <a:cs typeface="Palatino Linotype"/>
              </a:rPr>
              <a:t>Suppose</a:t>
            </a:r>
            <a:r>
              <a:rPr sz="2400" kern="1200" dirty="0">
                <a:solidFill>
                  <a:prstClr val="black"/>
                </a:solidFill>
                <a:latin typeface="Palatino Linotype"/>
                <a:cs typeface="Palatino Linotype"/>
              </a:rPr>
              <a:t> the </a:t>
            </a:r>
            <a:r>
              <a:rPr sz="2400" kern="1200" spc="-5" dirty="0">
                <a:solidFill>
                  <a:prstClr val="black"/>
                </a:solidFill>
                <a:latin typeface="Palatino Linotype"/>
                <a:cs typeface="Palatino Linotype"/>
              </a:rPr>
              <a:t>current</a:t>
            </a:r>
            <a:r>
              <a:rPr sz="2400" kern="1200" dirty="0">
                <a:solidFill>
                  <a:prstClr val="black"/>
                </a:solidFill>
                <a:latin typeface="Palatino Linotype"/>
                <a:cs typeface="Palatino Linotype"/>
              </a:rPr>
              <a:t> </a:t>
            </a:r>
            <a:r>
              <a:rPr sz="2400" kern="1200" spc="-5" dirty="0">
                <a:solidFill>
                  <a:prstClr val="black"/>
                </a:solidFill>
                <a:latin typeface="Palatino Linotype"/>
                <a:cs typeface="Palatino Linotype"/>
              </a:rPr>
              <a:t>sentential</a:t>
            </a:r>
            <a:r>
              <a:rPr sz="2400" kern="1200" dirty="0">
                <a:solidFill>
                  <a:prstClr val="black"/>
                </a:solidFill>
                <a:latin typeface="Palatino Linotype"/>
                <a:cs typeface="Palatino Linotype"/>
              </a:rPr>
              <a:t> form</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is</a:t>
            </a:r>
            <a:r>
              <a:rPr sz="2400" kern="1200" spc="-5" dirty="0">
                <a:solidFill>
                  <a:prstClr val="black"/>
                </a:solidFill>
                <a:latin typeface="Palatino Linotype"/>
                <a:cs typeface="Palatino Linotype"/>
              </a:rPr>
              <a:t> </a:t>
            </a:r>
            <a:r>
              <a:rPr sz="2400" kern="1200" spc="15" dirty="0">
                <a:solidFill>
                  <a:prstClr val="black"/>
                </a:solidFill>
                <a:latin typeface="Cambria Math"/>
                <a:cs typeface="Cambria Math"/>
              </a:rPr>
              <a:t>𝒙</a:t>
            </a:r>
            <a:r>
              <a:rPr sz="2400" kern="1200" spc="15" dirty="0">
                <a:solidFill>
                  <a:srgbClr val="FF0000"/>
                </a:solidFill>
                <a:latin typeface="Cambria Math"/>
                <a:cs typeface="Cambria Math"/>
              </a:rPr>
              <a:t>𝑨</a:t>
            </a:r>
            <a:r>
              <a:rPr lang="en-US" altLang="zh-CN" sz="2400" b="1" kern="1200" spc="15" dirty="0">
                <a:latin typeface="Cambria Math"/>
                <a:cs typeface="Cambria Math"/>
              </a:rPr>
              <a:t>β</a:t>
            </a:r>
            <a:endParaRPr sz="2400" b="1" kern="1200" dirty="0">
              <a:latin typeface="Cambria Math"/>
              <a:cs typeface="Cambria Math"/>
            </a:endParaRPr>
          </a:p>
          <a:p>
            <a:pPr marL="698500" lvl="1" indent="-228600" rtl="0">
              <a:spcBef>
                <a:spcPts val="1225"/>
              </a:spcBef>
              <a:buClr>
                <a:srgbClr val="000000"/>
              </a:buClr>
              <a:buFont typeface="Wingdings"/>
              <a:buChar char=""/>
              <a:tabLst>
                <a:tab pos="698500" algn="l"/>
              </a:tabLst>
            </a:pPr>
            <a:r>
              <a:rPr kern="1200" dirty="0">
                <a:solidFill>
                  <a:srgbClr val="0432FF"/>
                </a:solidFill>
                <a:latin typeface="Cambria Math"/>
                <a:cs typeface="Cambria Math"/>
              </a:rPr>
              <a:t>𝑨</a:t>
            </a:r>
            <a:r>
              <a:rPr kern="1200" spc="55" dirty="0">
                <a:solidFill>
                  <a:srgbClr val="0432FF"/>
                </a:solidFill>
                <a:latin typeface="Cambria Math"/>
                <a:cs typeface="Cambria Math"/>
              </a:rPr>
              <a:t> </a:t>
            </a:r>
            <a:r>
              <a:rPr kern="1200" dirty="0">
                <a:solidFill>
                  <a:prstClr val="black"/>
                </a:solidFill>
                <a:latin typeface="Palatino Linotype"/>
                <a:cs typeface="Palatino Linotype"/>
              </a:rPr>
              <a:t>is a</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non-terminal;</a:t>
            </a:r>
            <a:r>
              <a:rPr kern="1200" spc="5" dirty="0">
                <a:solidFill>
                  <a:prstClr val="black"/>
                </a:solidFill>
                <a:latin typeface="Palatino Linotype"/>
                <a:cs typeface="Palatino Linotype"/>
              </a:rPr>
              <a:t> </a:t>
            </a:r>
            <a:r>
              <a:rPr lang="el-GR" kern="1200" spc="40" dirty="0">
                <a:solidFill>
                  <a:srgbClr val="0432FF"/>
                </a:solidFill>
                <a:latin typeface="Cambria Math"/>
                <a:cs typeface="Cambria Math"/>
              </a:rPr>
              <a:t>β</a:t>
            </a:r>
            <a:r>
              <a:rPr kern="1200" spc="65" dirty="0">
                <a:solidFill>
                  <a:srgbClr val="0432FF"/>
                </a:solidFill>
                <a:latin typeface="Cambria Math"/>
                <a:cs typeface="Cambria Math"/>
              </a:rPr>
              <a:t> </a:t>
            </a:r>
            <a:r>
              <a:rPr kern="1200" spc="-5" dirty="0">
                <a:solidFill>
                  <a:prstClr val="black"/>
                </a:solidFill>
                <a:latin typeface="Palatino Linotype"/>
                <a:cs typeface="Palatino Linotype"/>
              </a:rPr>
              <a:t>may</a:t>
            </a:r>
            <a:r>
              <a:rPr kern="1200" dirty="0">
                <a:solidFill>
                  <a:prstClr val="black"/>
                </a:solidFill>
                <a:latin typeface="Palatino Linotype"/>
                <a:cs typeface="Palatino Linotype"/>
              </a:rPr>
              <a:t> contain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both</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terminals</a:t>
            </a:r>
            <a:r>
              <a:rPr kern="1200" dirty="0">
                <a:solidFill>
                  <a:prstClr val="black"/>
                </a:solidFill>
                <a:latin typeface="Palatino Linotype"/>
                <a:cs typeface="Palatino Linotype"/>
              </a:rPr>
              <a:t> and</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non-terminals</a:t>
            </a:r>
            <a:endParaRPr kern="1200" dirty="0">
              <a:solidFill>
                <a:prstClr val="black"/>
              </a:solidFill>
              <a:latin typeface="Palatino Linotype"/>
              <a:cs typeface="Palatino Linotype"/>
            </a:endParaRPr>
          </a:p>
        </p:txBody>
      </p:sp>
      <p:sp>
        <p:nvSpPr>
          <p:cNvPr id="11" name="object 4">
            <a:extLst>
              <a:ext uri="{FF2B5EF4-FFF2-40B4-BE49-F238E27FC236}">
                <a16:creationId xmlns:a16="http://schemas.microsoft.com/office/drawing/2014/main" id="{397B44A9-D393-3B3A-EF78-0035FDEEA9B5}"/>
              </a:ext>
            </a:extLst>
          </p:cNvPr>
          <p:cNvSpPr txBox="1"/>
          <p:nvPr/>
        </p:nvSpPr>
        <p:spPr>
          <a:xfrm>
            <a:off x="628650" y="3298199"/>
            <a:ext cx="7886700" cy="798424"/>
          </a:xfrm>
          <a:prstGeom prst="rect">
            <a:avLst/>
          </a:prstGeom>
          <a:ln w="12700">
            <a:solidFill>
              <a:srgbClr val="FFC000"/>
            </a:solidFill>
          </a:ln>
        </p:spPr>
        <p:txBody>
          <a:bodyPr vert="horz" wrap="square" lIns="0" tIns="13970" rIns="0" bIns="0" rtlCol="0">
            <a:spAutoFit/>
          </a:bodyPr>
          <a:lstStyle/>
          <a:p>
            <a:pPr marL="91440" marR="610870" rtl="0">
              <a:lnSpc>
                <a:spcPts val="3190"/>
              </a:lnSpc>
              <a:spcBef>
                <a:spcPts val="110"/>
              </a:spcBef>
            </a:pPr>
            <a:r>
              <a:rPr sz="2000" kern="1200" dirty="0">
                <a:solidFill>
                  <a:prstClr val="black"/>
                </a:solidFill>
                <a:latin typeface="Palatino Linotype"/>
                <a:cs typeface="Palatino Linotype"/>
              </a:rPr>
              <a:t>If </a:t>
            </a:r>
            <a:r>
              <a:rPr sz="2000" kern="1200" spc="-20" dirty="0">
                <a:solidFill>
                  <a:prstClr val="black"/>
                </a:solidFill>
                <a:latin typeface="Palatino Linotype"/>
                <a:cs typeface="Palatino Linotype"/>
              </a:rPr>
              <a:t>we </a:t>
            </a:r>
            <a:r>
              <a:rPr sz="2000" kern="1200" spc="-5" dirty="0">
                <a:solidFill>
                  <a:prstClr val="black"/>
                </a:solidFill>
                <a:latin typeface="Palatino Linotype"/>
                <a:cs typeface="Palatino Linotype"/>
              </a:rPr>
              <a:t>know that for the production </a:t>
            </a:r>
            <a:r>
              <a:rPr sz="2000" kern="1200" dirty="0">
                <a:solidFill>
                  <a:srgbClr val="FF0000"/>
                </a:solidFill>
                <a:latin typeface="Cambria Math"/>
                <a:cs typeface="Cambria Math"/>
              </a:rPr>
              <a:t>𝑨 →</a:t>
            </a:r>
            <a:r>
              <a:rPr lang="zh-CN" altLang="en-US" sz="2000" kern="1200" spc="5" dirty="0">
                <a:solidFill>
                  <a:srgbClr val="FF0000"/>
                </a:solidFill>
                <a:latin typeface="Cambria Math"/>
                <a:cs typeface="Cambria Math"/>
              </a:rPr>
              <a:t>𝛼</a:t>
            </a:r>
            <a:r>
              <a:rPr sz="2000" kern="1200" spc="105" dirty="0">
                <a:solidFill>
                  <a:prstClr val="black"/>
                </a:solidFill>
                <a:latin typeface="Palatino Linotype"/>
                <a:cs typeface="Palatino Linotype"/>
              </a:rPr>
              <a:t>, </a:t>
            </a:r>
            <a:r>
              <a:rPr sz="2000" kern="1200" dirty="0">
                <a:solidFill>
                  <a:srgbClr val="FF0000"/>
                </a:solidFill>
                <a:latin typeface="Cambria Math"/>
                <a:cs typeface="Cambria Math"/>
              </a:rPr>
              <a:t>𝜖</a:t>
            </a:r>
            <a:r>
              <a:rPr sz="2000" kern="1200" spc="5" dirty="0">
                <a:solidFill>
                  <a:srgbClr val="FF0000"/>
                </a:solidFill>
                <a:latin typeface="Cambria Math"/>
                <a:cs typeface="Cambria Math"/>
              </a:rPr>
              <a:t> </a:t>
            </a:r>
            <a:r>
              <a:rPr sz="2000" kern="1200" dirty="0">
                <a:solidFill>
                  <a:srgbClr val="FF0000"/>
                </a:solidFill>
                <a:latin typeface="Cambria Math"/>
                <a:cs typeface="Cambria Math"/>
              </a:rPr>
              <a:t>∈ </a:t>
            </a:r>
            <a:r>
              <a:rPr sz="2000" kern="1200" spc="5" dirty="0">
                <a:solidFill>
                  <a:srgbClr val="FF0000"/>
                </a:solidFill>
                <a:latin typeface="Cambria Math"/>
                <a:cs typeface="Cambria Math"/>
              </a:rPr>
              <a:t>𝐹𝐼𝑅𝑆𝑇(𝛼)</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can </a:t>
            </a:r>
            <a:r>
              <a:rPr sz="2000" kern="1200" spc="-20" dirty="0">
                <a:solidFill>
                  <a:prstClr val="black"/>
                </a:solidFill>
                <a:latin typeface="Palatino Linotype"/>
                <a:cs typeface="Palatino Linotype"/>
              </a:rPr>
              <a:t>we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choose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 to rewrite</a:t>
            </a:r>
            <a:r>
              <a:rPr sz="2000" kern="1200" dirty="0">
                <a:solidFill>
                  <a:prstClr val="black"/>
                </a:solidFill>
                <a:latin typeface="Palatino Linotype"/>
                <a:cs typeface="Palatino Linotype"/>
              </a:rPr>
              <a:t> </a:t>
            </a:r>
            <a:r>
              <a:rPr sz="2000" kern="1200" spc="5" dirty="0">
                <a:solidFill>
                  <a:prstClr val="black"/>
                </a:solidFill>
                <a:latin typeface="Cambria Math"/>
                <a:cs typeface="Cambria Math"/>
              </a:rPr>
              <a:t>𝐴</a:t>
            </a:r>
            <a:r>
              <a:rPr kern="1200" spc="5" dirty="0">
                <a:solidFill>
                  <a:prstClr val="black"/>
                </a:solidFill>
                <a:latin typeface="Palatino Linotype"/>
                <a:cs typeface="Palatino Linotype"/>
              </a:rPr>
              <a:t>?</a:t>
            </a:r>
            <a:endParaRPr kern="1200" dirty="0">
              <a:solidFill>
                <a:prstClr val="black"/>
              </a:solidFill>
              <a:latin typeface="Palatino Linotype"/>
              <a:cs typeface="Palatino Linotype"/>
            </a:endParaRPr>
          </a:p>
        </p:txBody>
      </p:sp>
      <p:sp>
        <p:nvSpPr>
          <p:cNvPr id="12" name="object 5">
            <a:extLst>
              <a:ext uri="{FF2B5EF4-FFF2-40B4-BE49-F238E27FC236}">
                <a16:creationId xmlns:a16="http://schemas.microsoft.com/office/drawing/2014/main" id="{9A77E6C4-3237-C63D-6724-1F17D0B79738}"/>
              </a:ext>
            </a:extLst>
          </p:cNvPr>
          <p:cNvSpPr txBox="1"/>
          <p:nvPr/>
        </p:nvSpPr>
        <p:spPr>
          <a:xfrm>
            <a:off x="628650" y="4578290"/>
            <a:ext cx="7886700" cy="986790"/>
          </a:xfrm>
          <a:prstGeom prst="rect">
            <a:avLst/>
          </a:prstGeom>
          <a:ln w="12700">
            <a:solidFill>
              <a:srgbClr val="5B9BD5"/>
            </a:solidFill>
          </a:ln>
        </p:spPr>
        <p:txBody>
          <a:bodyPr vert="horz" wrap="square" lIns="0" tIns="13970" rIns="0" bIns="0" rtlCol="0">
            <a:spAutoFit/>
          </a:bodyPr>
          <a:lstStyle/>
          <a:p>
            <a:pPr marL="91440" marR="407034" rtl="0">
              <a:lnSpc>
                <a:spcPts val="3190"/>
              </a:lnSpc>
              <a:spcBef>
                <a:spcPts val="110"/>
              </a:spcBef>
            </a:pPr>
            <a:r>
              <a:rPr sz="2000" kern="1200" spc="-45" dirty="0">
                <a:solidFill>
                  <a:prstClr val="black"/>
                </a:solidFill>
                <a:latin typeface="Palatino Linotype"/>
                <a:cs typeface="Palatino Linotype"/>
              </a:rPr>
              <a:t>Yes,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only</a:t>
            </a:r>
            <a:r>
              <a:rPr sz="2000" kern="1200" dirty="0">
                <a:solidFill>
                  <a:prstClr val="black"/>
                </a:solidFill>
                <a:latin typeface="Palatino Linotype"/>
                <a:cs typeface="Palatino Linotype"/>
              </a:rPr>
              <a:t> if </a:t>
            </a:r>
            <a:r>
              <a:rPr sz="2000" kern="1200" dirty="0">
                <a:solidFill>
                  <a:prstClr val="black"/>
                </a:solidFill>
                <a:latin typeface="Cambria Math"/>
                <a:cs typeface="Cambria Math"/>
              </a:rPr>
              <a:t>𝛽</a:t>
            </a:r>
            <a:r>
              <a:rPr sz="2000" kern="1200" spc="125" dirty="0">
                <a:solidFill>
                  <a:prstClr val="black"/>
                </a:solidFill>
                <a:latin typeface="Cambria Math"/>
                <a:cs typeface="Cambria Math"/>
              </a:rPr>
              <a:t> </a:t>
            </a:r>
            <a:r>
              <a:rPr sz="2000" kern="1200" spc="-5" dirty="0">
                <a:solidFill>
                  <a:prstClr val="black"/>
                </a:solidFill>
                <a:latin typeface="Palatino Linotype"/>
                <a:cs typeface="Palatino Linotype"/>
              </a:rPr>
              <a:t>can </a:t>
            </a:r>
            <a:r>
              <a:rPr sz="2000" kern="1200" spc="-10" dirty="0">
                <a:solidFill>
                  <a:prstClr val="black"/>
                </a:solidFill>
                <a:latin typeface="Palatino Linotype"/>
                <a:cs typeface="Palatino Linotype"/>
              </a:rPr>
              <a:t>derive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strings</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beginning </a:t>
            </a:r>
            <a:r>
              <a:rPr sz="2000" kern="1200" spc="-5" dirty="0">
                <a:solidFill>
                  <a:prstClr val="black"/>
                </a:solidFill>
                <a:latin typeface="Palatino Linotype"/>
                <a:cs typeface="Palatino Linotype"/>
              </a:rPr>
              <a:t>with</a:t>
            </a:r>
            <a:r>
              <a:rPr sz="2000" kern="1200" dirty="0">
                <a:solidFill>
                  <a:prstClr val="black"/>
                </a:solidFill>
                <a:latin typeface="Palatino Linotype"/>
                <a:cs typeface="Palatino Linotype"/>
              </a:rPr>
              <a:t> </a:t>
            </a:r>
            <a:r>
              <a:rPr sz="2000" kern="1200" spc="20" dirty="0">
                <a:solidFill>
                  <a:prstClr val="black"/>
                </a:solidFill>
                <a:latin typeface="Cambria Math"/>
                <a:cs typeface="Cambria Math"/>
              </a:rPr>
              <a:t>𝑎</a:t>
            </a:r>
            <a:r>
              <a:rPr sz="2000" kern="1200" spc="20"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that</a:t>
            </a:r>
            <a:r>
              <a:rPr sz="2000" kern="1200" dirty="0">
                <a:solidFill>
                  <a:prstClr val="black"/>
                </a:solidFill>
                <a:latin typeface="Palatino Linotype"/>
                <a:cs typeface="Palatino Linotype"/>
              </a:rPr>
              <a:t> is,</a:t>
            </a:r>
            <a:r>
              <a:rPr sz="2000" kern="1200" spc="-5" dirty="0">
                <a:solidFill>
                  <a:prstClr val="black"/>
                </a:solidFill>
                <a:latin typeface="Palatino Linotype"/>
                <a:cs typeface="Palatino Linotype"/>
              </a:rPr>
              <a:t> </a:t>
            </a:r>
            <a:r>
              <a:rPr sz="2000" kern="1200" dirty="0">
                <a:solidFill>
                  <a:srgbClr val="FF0000"/>
                </a:solidFill>
                <a:latin typeface="Cambria Math"/>
                <a:cs typeface="Cambria Math"/>
              </a:rPr>
              <a:t>𝐴</a:t>
            </a:r>
            <a:r>
              <a:rPr sz="2000" kern="1200" spc="80" dirty="0">
                <a:solidFill>
                  <a:srgbClr val="FF0000"/>
                </a:solidFill>
                <a:latin typeface="Cambria Math"/>
                <a:cs typeface="Cambria Math"/>
              </a:rPr>
              <a:t> </a:t>
            </a:r>
            <a:r>
              <a:rPr sz="2000" kern="1200" spc="-5" dirty="0">
                <a:solidFill>
                  <a:srgbClr val="FF0000"/>
                </a:solidFill>
                <a:latin typeface="Palatino Linotype"/>
                <a:cs typeface="Palatino Linotype"/>
              </a:rPr>
              <a:t>can </a:t>
            </a:r>
            <a:r>
              <a:rPr sz="2000" kern="1200" dirty="0">
                <a:solidFill>
                  <a:srgbClr val="FF0000"/>
                </a:solidFill>
                <a:latin typeface="Palatino Linotype"/>
                <a:cs typeface="Palatino Linotype"/>
              </a:rPr>
              <a:t>be </a:t>
            </a:r>
            <a:r>
              <a:rPr sz="2000" kern="1200" spc="-484" dirty="0">
                <a:solidFill>
                  <a:srgbClr val="FF0000"/>
                </a:solidFill>
                <a:latin typeface="Palatino Linotype"/>
                <a:cs typeface="Palatino Linotype"/>
              </a:rPr>
              <a:t> </a:t>
            </a:r>
            <a:r>
              <a:rPr sz="2000" kern="1200" spc="-10" dirty="0">
                <a:solidFill>
                  <a:srgbClr val="FF0000"/>
                </a:solidFill>
                <a:latin typeface="Palatino Linotype"/>
                <a:cs typeface="Palatino Linotype"/>
              </a:rPr>
              <a:t>followed</a:t>
            </a:r>
            <a:r>
              <a:rPr sz="2000" kern="1200" dirty="0">
                <a:solidFill>
                  <a:srgbClr val="FF0000"/>
                </a:solidFill>
                <a:latin typeface="Palatino Linotype"/>
                <a:cs typeface="Palatino Linotype"/>
              </a:rPr>
              <a:t> by </a:t>
            </a:r>
            <a:r>
              <a:rPr sz="2000" kern="1200" dirty="0">
                <a:solidFill>
                  <a:srgbClr val="FF0000"/>
                </a:solidFill>
                <a:latin typeface="Cambria Math"/>
                <a:cs typeface="Cambria Math"/>
              </a:rPr>
              <a:t>𝑎</a:t>
            </a:r>
            <a:r>
              <a:rPr sz="2000" kern="1200" spc="105" dirty="0">
                <a:solidFill>
                  <a:srgbClr val="FF0000"/>
                </a:solidFill>
                <a:latin typeface="Cambria Math"/>
                <a:cs typeface="Cambria Math"/>
              </a:rPr>
              <a:t> </a:t>
            </a:r>
            <a:r>
              <a:rPr sz="2000" kern="1200" dirty="0">
                <a:solidFill>
                  <a:prstClr val="black"/>
                </a:solidFill>
                <a:latin typeface="Palatino Linotype"/>
                <a:cs typeface="Palatino Linotype"/>
              </a:rPr>
              <a:t>in</a:t>
            </a:r>
            <a:r>
              <a:rPr sz="2000" kern="1200" spc="-5" dirty="0">
                <a:solidFill>
                  <a:prstClr val="black"/>
                </a:solidFill>
                <a:latin typeface="Palatino Linotype"/>
                <a:cs typeface="Palatino Linotype"/>
              </a:rPr>
              <a:t> some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sentential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forms</a:t>
            </a:r>
            <a:r>
              <a:rPr sz="2000" kern="1200" dirty="0">
                <a:solidFill>
                  <a:prstClr val="black"/>
                </a:solidFill>
                <a:latin typeface="Palatino Linotype"/>
                <a:cs typeface="Palatino Linotype"/>
              </a:rPr>
              <a:t> (i.e.,</a:t>
            </a:r>
            <a:r>
              <a:rPr sz="2000" kern="1200" spc="-5" dirty="0">
                <a:solidFill>
                  <a:prstClr val="black"/>
                </a:solidFill>
                <a:latin typeface="Palatino Linotype"/>
                <a:cs typeface="Palatino Linotype"/>
              </a:rPr>
              <a:t> </a:t>
            </a:r>
            <a:r>
              <a:rPr sz="2000" kern="1200" dirty="0">
                <a:solidFill>
                  <a:srgbClr val="0432FF"/>
                </a:solidFill>
                <a:latin typeface="Cambria Math"/>
                <a:cs typeface="Cambria Math"/>
              </a:rPr>
              <a:t>𝒂</a:t>
            </a:r>
            <a:r>
              <a:rPr sz="2000" kern="1200" spc="114"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14" dirty="0">
                <a:solidFill>
                  <a:srgbClr val="0432FF"/>
                </a:solidFill>
                <a:latin typeface="Cambria Math"/>
                <a:cs typeface="Cambria Math"/>
              </a:rPr>
              <a:t> </a:t>
            </a:r>
            <a:r>
              <a:rPr sz="2000" kern="1200" spc="-5" dirty="0">
                <a:solidFill>
                  <a:srgbClr val="0432FF"/>
                </a:solidFill>
                <a:latin typeface="Cambria Math"/>
                <a:cs typeface="Cambria Math"/>
              </a:rPr>
              <a:t>𝑭𝑶𝑳𝑳𝑶𝑾(𝑨)</a:t>
            </a:r>
            <a:r>
              <a:rPr sz="2000" kern="1200" spc="-5" dirty="0">
                <a:solidFill>
                  <a:prstClr val="black"/>
                </a:solidFill>
                <a:latin typeface="Palatino Linotype"/>
                <a:cs typeface="Palatino Linotype"/>
              </a:rPr>
              <a:t>)</a:t>
            </a:r>
            <a:endParaRPr sz="2000" kern="1200" dirty="0">
              <a:solidFill>
                <a:prstClr val="black"/>
              </a:solidFill>
              <a:latin typeface="Palatino Linotype"/>
              <a:cs typeface="Palatino Linotype"/>
            </a:endParaRPr>
          </a:p>
        </p:txBody>
      </p:sp>
    </p:spTree>
    <p:extLst>
      <p:ext uri="{BB962C8B-B14F-4D97-AF65-F5344CB8AC3E}">
        <p14:creationId xmlns:p14="http://schemas.microsoft.com/office/powerpoint/2010/main" val="5873514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9123F3-1898-4B76-B48F-0E505D234B1A}"/>
              </a:ext>
            </a:extLst>
          </p:cNvPr>
          <p:cNvSpPr>
            <a:spLocks noGrp="1"/>
          </p:cNvSpPr>
          <p:nvPr>
            <p:ph type="dt" sz="half" idx="10"/>
          </p:nvPr>
        </p:nvSpPr>
        <p:spPr/>
        <p:txBody>
          <a:bodyPr/>
          <a:lstStyle/>
          <a:p>
            <a:pPr>
              <a:defRPr/>
            </a:pPr>
            <a:r>
              <a:rPr lang="en-US" altLang="zh-CN"/>
              <a:t>Fall 2024</a:t>
            </a:r>
            <a:endParaRPr lang="en-US"/>
          </a:p>
        </p:txBody>
      </p:sp>
      <p:sp>
        <p:nvSpPr>
          <p:cNvPr id="3" name="页脚占位符 2">
            <a:extLst>
              <a:ext uri="{FF2B5EF4-FFF2-40B4-BE49-F238E27FC236}">
                <a16:creationId xmlns:a16="http://schemas.microsoft.com/office/drawing/2014/main" id="{E705B89E-B25E-4176-AD5B-1E4639F0D972}"/>
              </a:ext>
            </a:extLst>
          </p:cNvPr>
          <p:cNvSpPr>
            <a:spLocks noGrp="1"/>
          </p:cNvSpPr>
          <p:nvPr>
            <p:ph type="ftr" sz="quarter" idx="11"/>
          </p:nvPr>
        </p:nvSpPr>
        <p:spPr/>
        <p:txBody>
          <a:bodyPr/>
          <a:lstStyle/>
          <a:p>
            <a:pPr>
              <a:defRPr/>
            </a:pPr>
            <a:r>
              <a:rPr lang="en-US"/>
              <a:t>BUPT Compilers</a:t>
            </a:r>
          </a:p>
        </p:txBody>
      </p:sp>
      <p:sp>
        <p:nvSpPr>
          <p:cNvPr id="4" name="灯片编号占位符 3">
            <a:extLst>
              <a:ext uri="{FF2B5EF4-FFF2-40B4-BE49-F238E27FC236}">
                <a16:creationId xmlns:a16="http://schemas.microsoft.com/office/drawing/2014/main" id="{FB542916-C940-4D28-9CA8-3818EE20474E}"/>
              </a:ext>
            </a:extLst>
          </p:cNvPr>
          <p:cNvSpPr>
            <a:spLocks noGrp="1"/>
          </p:cNvSpPr>
          <p:nvPr>
            <p:ph type="sldNum" sz="quarter" idx="12"/>
          </p:nvPr>
        </p:nvSpPr>
        <p:spPr/>
        <p:txBody>
          <a:bodyPr/>
          <a:lstStyle/>
          <a:p>
            <a:pPr>
              <a:defRPr/>
            </a:pPr>
            <a:fld id="{2FBC720A-3716-234A-B2DF-CBC7E48049F5}" type="slidenum">
              <a:rPr lang="en-US" altLang="zh-CN" smtClean="0"/>
              <a:t>68</a:t>
            </a:fld>
            <a:endParaRPr lang="en-US" altLang="zh-CN"/>
          </a:p>
        </p:txBody>
      </p:sp>
      <p:sp>
        <p:nvSpPr>
          <p:cNvPr id="5" name="日期占位符 1">
            <a:extLst>
              <a:ext uri="{FF2B5EF4-FFF2-40B4-BE49-F238E27FC236}">
                <a16:creationId xmlns:a16="http://schemas.microsoft.com/office/drawing/2014/main" id="{86B61CBA-C934-4CE9-A3B6-832DE64146C8}"/>
              </a:ext>
            </a:extLst>
          </p:cNvPr>
          <p:cNvSpPr txBox="1">
            <a:spLocks/>
          </p:cNvSpPr>
          <p:nvPr/>
        </p:nvSpPr>
        <p:spPr bwMode="auto">
          <a:xfrm>
            <a:off x="628650" y="6356351"/>
            <a:ext cx="2057400" cy="365125"/>
          </a:xfrm>
          <a:prstGeom prst="rect">
            <a:avLst/>
          </a:prstGeom>
        </p:spPr>
        <p:txBody>
          <a:bodyPr vert="horz" lIns="91440" tIns="45720" rIns="91440" bIns="45720" rtlCol="0" anchor="ctr"/>
          <a:lstStyle>
            <a:defPPr>
              <a:defRPr/>
            </a:defPPr>
            <a:lvl1pPr marL="0" algn="l" defTabSz="914400">
              <a:defRPr sz="1200">
                <a:solidFill>
                  <a:schemeClr val="tx1">
                    <a:tint val="75000"/>
                  </a:schemeClr>
                </a:solidFill>
                <a:latin typeface="Ubuntu Mono derivative Powerlin"/>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r>
              <a:rPr lang="en-US"/>
              <a:t>Fall</a:t>
            </a:r>
            <a:r>
              <a:rPr lang="en-US" altLang="zh-CN"/>
              <a:t> </a:t>
            </a:r>
            <a:r>
              <a:rPr lang="en-US"/>
              <a:t>2023</a:t>
            </a:r>
          </a:p>
        </p:txBody>
      </p:sp>
      <p:sp>
        <p:nvSpPr>
          <p:cNvPr id="6" name="页脚占位符 2">
            <a:extLst>
              <a:ext uri="{FF2B5EF4-FFF2-40B4-BE49-F238E27FC236}">
                <a16:creationId xmlns:a16="http://schemas.microsoft.com/office/drawing/2014/main" id="{4B8F3F81-5AA7-4230-8A15-17A572330E28}"/>
              </a:ext>
            </a:extLst>
          </p:cNvPr>
          <p:cNvSpPr txBox="1">
            <a:spLocks/>
          </p:cNvSpPr>
          <p:nvPr/>
        </p:nvSpPr>
        <p:spPr bwMode="auto">
          <a:xfrm>
            <a:off x="3028950" y="6356351"/>
            <a:ext cx="3086100" cy="365125"/>
          </a:xfrm>
          <a:prstGeom prst="rect">
            <a:avLst/>
          </a:prstGeom>
        </p:spPr>
        <p:txBody>
          <a:bodyPr vert="horz" lIns="91440" tIns="45720" rIns="91440" bIns="45720" rtlCol="0" anchor="ctr"/>
          <a:lstStyle>
            <a:defPPr>
              <a:defRPr/>
            </a:defPPr>
            <a:lvl1pPr marL="0" algn="ctr" defTabSz="914400">
              <a:defRPr sz="1200">
                <a:solidFill>
                  <a:schemeClr val="tx1">
                    <a:tint val="75000"/>
                  </a:schemeClr>
                </a:solidFill>
                <a:latin typeface="Ubuntu Mono derivative Powerlin"/>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r>
              <a:rPr lang="en-US"/>
              <a:t>BUPT Compilers</a:t>
            </a:r>
          </a:p>
        </p:txBody>
      </p:sp>
      <p:sp>
        <p:nvSpPr>
          <p:cNvPr id="7" name="灯片编号占位符 3">
            <a:extLst>
              <a:ext uri="{FF2B5EF4-FFF2-40B4-BE49-F238E27FC236}">
                <a16:creationId xmlns:a16="http://schemas.microsoft.com/office/drawing/2014/main" id="{E9EC8D23-E9B7-4307-9B76-FE6367E2FDC4}"/>
              </a:ext>
            </a:extLst>
          </p:cNvPr>
          <p:cNvSpPr txBox="1">
            <a:spLocks/>
          </p:cNvSpPr>
          <p:nvPr/>
        </p:nvSpPr>
        <p:spPr bwMode="auto">
          <a:xfrm>
            <a:off x="6457950" y="6356351"/>
            <a:ext cx="2057400" cy="365125"/>
          </a:xfrm>
          <a:prstGeom prst="rect">
            <a:avLst/>
          </a:prstGeom>
        </p:spPr>
        <p:txBody>
          <a:bodyPr vert="horz" lIns="91440" tIns="45720" rIns="91440" bIns="45720" rtlCol="0" anchor="ctr"/>
          <a:lstStyle>
            <a:defPPr>
              <a:defRPr/>
            </a:defPPr>
            <a:lvl1pPr marL="0" algn="r" defTabSz="914400">
              <a:defRPr sz="1200">
                <a:solidFill>
                  <a:schemeClr val="tx1">
                    <a:tint val="75000"/>
                  </a:schemeClr>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fld id="{2FBC720A-3716-234A-B2DF-CBC7E48049F5}" type="slidenum">
              <a:rPr lang="en-US" altLang="zh-CN" smtClean="0"/>
              <a:pPr>
                <a:defRPr/>
              </a:pPr>
              <a:t>68</a:t>
            </a:fld>
            <a:endParaRPr lang="en-US" altLang="zh-CN"/>
          </a:p>
        </p:txBody>
      </p:sp>
      <p:sp>
        <p:nvSpPr>
          <p:cNvPr id="8" name="矩形 7">
            <a:extLst>
              <a:ext uri="{FF2B5EF4-FFF2-40B4-BE49-F238E27FC236}">
                <a16:creationId xmlns:a16="http://schemas.microsoft.com/office/drawing/2014/main" id="{BD75AA49-0400-46DD-88D8-CBD41CAFED5F}"/>
              </a:ext>
            </a:extLst>
          </p:cNvPr>
          <p:cNvSpPr/>
          <p:nvPr/>
        </p:nvSpPr>
        <p:spPr>
          <a:xfrm>
            <a:off x="768226" y="476672"/>
            <a:ext cx="2231060" cy="646331"/>
          </a:xfrm>
          <a:prstGeom prst="rect">
            <a:avLst/>
          </a:prstGeom>
        </p:spPr>
        <p:txBody>
          <a:bodyPr wrap="none">
            <a:spAutoFit/>
          </a:bodyPr>
          <a:lstStyle/>
          <a:p>
            <a:r>
              <a:rPr lang="en-US" altLang="zh-CN" sz="3600" b="1" spc="-5" dirty="0">
                <a:solidFill>
                  <a:sysClr val="windowText" lastClr="000000"/>
                </a:solidFill>
                <a:latin typeface="Palatino Linotype"/>
              </a:rPr>
              <a:t>FOLLOW</a:t>
            </a:r>
            <a:endParaRPr lang="zh-CN" altLang="en-US" sz="3600" dirty="0"/>
          </a:p>
        </p:txBody>
      </p:sp>
      <p:sp>
        <p:nvSpPr>
          <p:cNvPr id="9" name="object 3">
            <a:extLst>
              <a:ext uri="{FF2B5EF4-FFF2-40B4-BE49-F238E27FC236}">
                <a16:creationId xmlns:a16="http://schemas.microsoft.com/office/drawing/2014/main" id="{65C33576-6DB2-4026-8A32-55AD5B33AA6C}"/>
              </a:ext>
            </a:extLst>
          </p:cNvPr>
          <p:cNvSpPr txBox="1"/>
          <p:nvPr/>
        </p:nvSpPr>
        <p:spPr bwMode="auto">
          <a:xfrm>
            <a:off x="706437" y="1340768"/>
            <a:ext cx="7731125" cy="4614084"/>
          </a:xfrm>
          <a:prstGeom prst="rect">
            <a:avLst/>
          </a:prstGeom>
        </p:spPr>
        <p:txBody>
          <a:bodyPr vert="horz" wrap="square" lIns="0" tIns="12700" rIns="0" bIns="0" rtlCol="0">
            <a:spAutoFit/>
          </a:bodyPr>
          <a:lstStyle/>
          <a:p>
            <a:pPr marL="268605" indent="-230504" rtl="0">
              <a:spcBef>
                <a:spcPts val="100"/>
              </a:spcBef>
              <a:buClr>
                <a:srgbClr val="000000"/>
              </a:buClr>
              <a:buFont typeface="Arial MT"/>
              <a:buChar char="•"/>
              <a:tabLst>
                <a:tab pos="268605" algn="l"/>
              </a:tabLst>
            </a:pPr>
            <a:r>
              <a:rPr sz="2400" b="1" kern="1200" spc="-5" dirty="0">
                <a:solidFill>
                  <a:srgbClr val="0432FF"/>
                </a:solidFill>
                <a:latin typeface="Palatino Linotype"/>
                <a:cs typeface="Palatino Linotype"/>
              </a:rPr>
              <a:t>F</a:t>
            </a:r>
            <a:r>
              <a:rPr lang="en-US" sz="2400" b="1" kern="1200" spc="-5" dirty="0">
                <a:solidFill>
                  <a:srgbClr val="0432FF"/>
                </a:solidFill>
                <a:latin typeface="Palatino Linotype"/>
                <a:cs typeface="Palatino Linotype"/>
              </a:rPr>
              <a:t>OLLOW</a:t>
            </a:r>
            <a:r>
              <a:rPr sz="2400" b="1" kern="1200" spc="-5" dirty="0">
                <a:solidFill>
                  <a:srgbClr val="0432FF"/>
                </a:solidFill>
                <a:latin typeface="Palatino Linotype"/>
                <a:cs typeface="Palatino Linotype"/>
              </a:rPr>
              <a:t>(</a:t>
            </a:r>
            <a:r>
              <a:rPr lang="en-US" sz="2400" b="1" kern="1200" spc="-5" dirty="0">
                <a:solidFill>
                  <a:srgbClr val="0432FF"/>
                </a:solidFill>
                <a:latin typeface="Palatino Linotype"/>
                <a:cs typeface="Palatino Linotype"/>
              </a:rPr>
              <a:t>A</a:t>
            </a:r>
            <a:r>
              <a:rPr sz="2400" b="1" kern="1200" spc="-5" dirty="0">
                <a:solidFill>
                  <a:srgbClr val="0432FF"/>
                </a:solidFill>
                <a:latin typeface="Palatino Linotype"/>
                <a:cs typeface="Palatino Linotype"/>
              </a:rPr>
              <a:t>)</a:t>
            </a:r>
            <a:r>
              <a:rPr sz="2400" kern="1200" spc="-5" dirty="0">
                <a:solidFill>
                  <a:prstClr val="black"/>
                </a:solidFill>
                <a:latin typeface="Palatino Linotype"/>
                <a:cs typeface="Palatino Linotype"/>
              </a:rPr>
              <a:t>, where</a:t>
            </a:r>
            <a:r>
              <a:rPr lang="en-US" altLang="zh-CN" sz="2400" kern="1200" spc="-5" dirty="0">
                <a:solidFill>
                  <a:prstClr val="black"/>
                </a:solidFill>
                <a:latin typeface="Palatino Linotype"/>
                <a:cs typeface="Palatino Linotype"/>
              </a:rPr>
              <a:t> A</a:t>
            </a:r>
            <a:r>
              <a:rPr lang="zh-CN" altLang="en-US" sz="2400" kern="1200" spc="5" dirty="0">
                <a:solidFill>
                  <a:srgbClr val="FF0000"/>
                </a:solidFill>
                <a:latin typeface="Cambria Math"/>
                <a:cs typeface="Cambria Math"/>
              </a:rPr>
              <a:t> </a:t>
            </a:r>
            <a:r>
              <a:rPr sz="2400" kern="1200" dirty="0">
                <a:solidFill>
                  <a:prstClr val="black"/>
                </a:solidFill>
                <a:latin typeface="Palatino Linotype"/>
                <a:cs typeface="Palatino Linotype"/>
              </a:rPr>
              <a:t>is</a:t>
            </a:r>
            <a:r>
              <a:rPr sz="2400" kern="1200" spc="-10" dirty="0">
                <a:solidFill>
                  <a:prstClr val="black"/>
                </a:solidFill>
                <a:latin typeface="Palatino Linotype"/>
                <a:cs typeface="Palatino Linotype"/>
              </a:rPr>
              <a:t> </a:t>
            </a:r>
            <a:r>
              <a:rPr sz="2400" kern="1200" dirty="0">
                <a:solidFill>
                  <a:prstClr val="black"/>
                </a:solidFill>
                <a:latin typeface="Palatino Linotype"/>
                <a:cs typeface="Palatino Linotype"/>
              </a:rPr>
              <a:t>a</a:t>
            </a:r>
            <a:r>
              <a:rPr lang="en-US" altLang="zh-CN" sz="2400" kern="1200" dirty="0">
                <a:solidFill>
                  <a:prstClr val="black"/>
                </a:solidFill>
                <a:latin typeface="Palatino Linotype"/>
                <a:cs typeface="Palatino Linotype"/>
              </a:rPr>
              <a:t> nonterminal</a:t>
            </a:r>
            <a:endParaRPr sz="2400" kern="1200" dirty="0">
              <a:solidFill>
                <a:prstClr val="black"/>
              </a:solidFill>
              <a:latin typeface="Palatino Linotype"/>
              <a:cs typeface="Palatino Linotype"/>
            </a:endParaRPr>
          </a:p>
          <a:p>
            <a:pPr rtl="0">
              <a:spcBef>
                <a:spcPts val="15"/>
              </a:spcBef>
              <a:buFont typeface="Arial MT"/>
              <a:buChar char="•"/>
            </a:pPr>
            <a:endParaRPr sz="2150" kern="1200" dirty="0">
              <a:solidFill>
                <a:prstClr val="black"/>
              </a:solidFill>
              <a:latin typeface="Palatino Linotype"/>
              <a:cs typeface="Palatino Linotype"/>
            </a:endParaRPr>
          </a:p>
          <a:p>
            <a:pPr marL="723900" lvl="1" indent="-228600" rtl="0">
              <a:spcBef>
                <a:spcPts val="5"/>
              </a:spcBef>
              <a:buFont typeface="Wingdings"/>
              <a:buChar char=""/>
              <a:tabLst>
                <a:tab pos="723900" algn="l"/>
              </a:tabLst>
            </a:pPr>
            <a:r>
              <a:rPr lang="en-US" sz="2000" kern="1200" dirty="0">
                <a:solidFill>
                  <a:prstClr val="black"/>
                </a:solidFill>
                <a:latin typeface="Palatino Linotype"/>
                <a:cs typeface="Palatino Linotype"/>
              </a:rPr>
              <a:t>The set </a:t>
            </a:r>
            <a:r>
              <a:rPr lang="en-US" sz="2000" b="1" kern="1200" dirty="0">
                <a:solidFill>
                  <a:prstClr val="black"/>
                </a:solidFill>
                <a:latin typeface="Palatino Linotype"/>
                <a:cs typeface="Palatino Linotype"/>
              </a:rPr>
              <a:t>of </a:t>
            </a:r>
            <a:r>
              <a:rPr sz="2000" b="1" kern="1200" spc="-10" dirty="0">
                <a:solidFill>
                  <a:prstClr val="black"/>
                </a:solidFill>
                <a:latin typeface="Palatino Linotype"/>
                <a:cs typeface="Palatino Linotype"/>
              </a:rPr>
              <a:t> </a:t>
            </a:r>
            <a:r>
              <a:rPr sz="2000" b="1" kern="1200" spc="-5" dirty="0">
                <a:solidFill>
                  <a:srgbClr val="FF0000"/>
                </a:solidFill>
                <a:latin typeface="Palatino Linotype"/>
                <a:cs typeface="Palatino Linotype"/>
              </a:rPr>
              <a:t>terminal</a:t>
            </a:r>
            <a:r>
              <a:rPr lang="en-US" sz="2000" b="1" kern="1200" spc="-5" dirty="0">
                <a:solidFill>
                  <a:srgbClr val="FF0000"/>
                </a:solidFill>
                <a:latin typeface="Palatino Linotype"/>
                <a:cs typeface="Palatino Linotype"/>
              </a:rPr>
              <a:t>s </a:t>
            </a:r>
            <a:r>
              <a:rPr lang="zh-CN" altLang="en-US" sz="2000" kern="1200" dirty="0">
                <a:solidFill>
                  <a:srgbClr val="FF0000"/>
                </a:solidFill>
                <a:latin typeface="Cambria Math"/>
                <a:cs typeface="Cambria Math"/>
              </a:rPr>
              <a:t>𝑎 </a:t>
            </a:r>
            <a:r>
              <a:rPr sz="2000" kern="1200" spc="-5" dirty="0">
                <a:solidFill>
                  <a:prstClr val="black"/>
                </a:solidFill>
                <a:latin typeface="Palatino Linotype"/>
                <a:cs typeface="Palatino Linotype"/>
              </a:rPr>
              <a:t>th</a:t>
            </a:r>
            <a:r>
              <a:rPr lang="en-US" sz="2000" kern="1200" spc="-5" dirty="0">
                <a:solidFill>
                  <a:prstClr val="black"/>
                </a:solidFill>
                <a:latin typeface="Palatino Linotype"/>
                <a:cs typeface="Palatino Linotype"/>
              </a:rPr>
              <a:t>at</a:t>
            </a:r>
            <a:r>
              <a:rPr sz="2000" kern="1200" spc="-5" dirty="0">
                <a:solidFill>
                  <a:prstClr val="black"/>
                </a:solidFill>
                <a:latin typeface="Palatino Linotype"/>
                <a:cs typeface="Palatino Linotype"/>
              </a:rPr>
              <a:t> </a:t>
            </a:r>
            <a:r>
              <a:rPr lang="en-US" altLang="zh-CN" sz="2000" kern="1200" spc="-5" dirty="0">
                <a:solidFill>
                  <a:srgbClr val="FF0000"/>
                </a:solidFill>
                <a:latin typeface="Palatino Linotype"/>
                <a:cs typeface="Palatino Linotype"/>
              </a:rPr>
              <a:t>can appear immediately to the right of A in some sentential form </a:t>
            </a:r>
            <a:endParaRPr sz="2450" kern="1200" dirty="0">
              <a:solidFill>
                <a:prstClr val="black"/>
              </a:solidFill>
              <a:latin typeface="Cambria Math"/>
              <a:cs typeface="Cambria Math"/>
            </a:endParaRPr>
          </a:p>
          <a:p>
            <a:pPr lvl="2" rtl="0">
              <a:spcBef>
                <a:spcPts val="45"/>
              </a:spcBef>
              <a:buFont typeface="Courier New"/>
              <a:buChar char="o"/>
            </a:pPr>
            <a:endParaRPr sz="2150" kern="1200" dirty="0">
              <a:solidFill>
                <a:prstClr val="black"/>
              </a:solidFill>
              <a:latin typeface="Palatino Linotype"/>
              <a:cs typeface="Palatino Linotype"/>
            </a:endParaRPr>
          </a:p>
          <a:p>
            <a:pPr marL="266700" indent="-228600" rtl="0">
              <a:buFont typeface="Wingdings"/>
              <a:buChar char=""/>
              <a:tabLst>
                <a:tab pos="723900" algn="l"/>
              </a:tabLst>
            </a:pPr>
            <a:r>
              <a:rPr lang="en-US" altLang="zh-CN" sz="2400" b="1" kern="1200" spc="-5" dirty="0">
                <a:solidFill>
                  <a:srgbClr val="FF0000"/>
                </a:solidFill>
                <a:latin typeface="Palatino Linotype"/>
              </a:rPr>
              <a:t>FOLLOW  function is also useful in parsing</a:t>
            </a:r>
          </a:p>
          <a:p>
            <a:pPr marL="266700" indent="-228600" rtl="0">
              <a:buFont typeface="Wingdings"/>
              <a:buChar char=""/>
              <a:tabLst>
                <a:tab pos="723900" algn="l"/>
              </a:tabLst>
            </a:pPr>
            <a:endParaRPr lang="en-US" altLang="zh-CN" sz="2400" b="1" kern="1200" spc="-5" dirty="0">
              <a:solidFill>
                <a:srgbClr val="0432FF"/>
              </a:solidFill>
              <a:latin typeface="Palatino Linotype"/>
            </a:endParaRPr>
          </a:p>
          <a:p>
            <a:pPr marL="723900" lvl="1" indent="-228600" rtl="0">
              <a:spcBef>
                <a:spcPts val="5"/>
              </a:spcBef>
              <a:buFont typeface="Wingdings"/>
              <a:buChar char=""/>
              <a:tabLst>
                <a:tab pos="723900" algn="l"/>
              </a:tabLst>
            </a:pPr>
            <a:r>
              <a:rPr lang="en-US" altLang="zh-CN" sz="2000" kern="1200" dirty="0">
                <a:latin typeface="Cambria Math"/>
                <a:cs typeface="Cambria Math"/>
              </a:rPr>
              <a:t>Consider a production  </a:t>
            </a:r>
            <a:r>
              <a:rPr lang="zh-CN" altLang="en-US" sz="2000" kern="1200" dirty="0">
                <a:latin typeface="Cambria Math"/>
                <a:cs typeface="Cambria Math"/>
              </a:rPr>
              <a:t>𝑨</a:t>
            </a:r>
            <a:r>
              <a:rPr lang="zh-CN" altLang="en-US" sz="2000" kern="1200" spc="114" dirty="0">
                <a:latin typeface="Cambria Math"/>
                <a:cs typeface="Cambria Math"/>
              </a:rPr>
              <a:t> </a:t>
            </a:r>
            <a:r>
              <a:rPr lang="zh-CN" altLang="en-US" sz="2000" kern="1200" dirty="0">
                <a:latin typeface="Cambria Math"/>
                <a:cs typeface="Cambria Math"/>
              </a:rPr>
              <a:t>→</a:t>
            </a:r>
            <a:r>
              <a:rPr lang="zh-CN" altLang="en-US" sz="2000" kern="1200" spc="5" dirty="0">
                <a:latin typeface="Cambria Math"/>
                <a:cs typeface="Cambria Math"/>
              </a:rPr>
              <a:t>𝛼</a:t>
            </a:r>
            <a:r>
              <a:rPr lang="en-US" altLang="zh-CN" sz="2000" kern="1200" spc="-5" dirty="0">
                <a:latin typeface="Cambria Math"/>
                <a:cs typeface="Cambria Math"/>
              </a:rPr>
              <a:t>;  when </a:t>
            </a:r>
            <a:r>
              <a:rPr lang="zh-CN" altLang="en-US" sz="2000" kern="1200" spc="5" dirty="0">
                <a:latin typeface="Cambria Math"/>
                <a:cs typeface="Cambria Math"/>
              </a:rPr>
              <a:t>𝛼</a:t>
            </a:r>
            <a:r>
              <a:rPr lang="zh-CN" altLang="en-US" sz="2000" kern="1200" dirty="0">
                <a:latin typeface="Cambria Math"/>
                <a:cs typeface="Cambria Math"/>
              </a:rPr>
              <a:t>⇒</a:t>
            </a:r>
            <a:r>
              <a:rPr lang="zh-CN" altLang="en-US" dirty="0"/>
              <a:t>𝜖 </a:t>
            </a:r>
            <a:r>
              <a:rPr lang="en-US" altLang="zh-CN" sz="2000" kern="1200" spc="-5" dirty="0">
                <a:latin typeface="Cambria Math"/>
                <a:cs typeface="Cambria Math"/>
              </a:rPr>
              <a:t>, FOLLOW(A) can help choose the right production</a:t>
            </a:r>
            <a:endParaRPr lang="en-US" altLang="zh-CN" sz="2000" kern="1200" dirty="0">
              <a:latin typeface="Palatino Linotype"/>
              <a:cs typeface="Palatino Linotype"/>
            </a:endParaRPr>
          </a:p>
          <a:p>
            <a:pPr marL="723900" lvl="1" indent="-228600" rtl="0">
              <a:spcBef>
                <a:spcPts val="5"/>
              </a:spcBef>
              <a:buFont typeface="Wingdings"/>
              <a:buChar char=""/>
              <a:tabLst>
                <a:tab pos="723900" algn="l"/>
              </a:tabLst>
            </a:pPr>
            <a:endParaRPr lang="en-US" altLang="zh-CN" sz="2000" kern="1200" spc="5" dirty="0">
              <a:latin typeface="Cambria Math"/>
              <a:cs typeface="Cambria Math"/>
            </a:endParaRPr>
          </a:p>
          <a:p>
            <a:pPr marL="723900" lvl="1" indent="-228600" rtl="0">
              <a:spcBef>
                <a:spcPts val="5"/>
              </a:spcBef>
              <a:buFont typeface="Wingdings"/>
              <a:buChar char=""/>
              <a:tabLst>
                <a:tab pos="723900" algn="l"/>
              </a:tabLst>
            </a:pPr>
            <a:r>
              <a:rPr lang="en-US" altLang="zh-CN" sz="2000" kern="1200" dirty="0">
                <a:solidFill>
                  <a:srgbClr val="0070C0"/>
                </a:solidFill>
                <a:latin typeface="Cambria Math"/>
                <a:cs typeface="Cambria Math"/>
              </a:rPr>
              <a:t>Example</a:t>
            </a:r>
            <a:r>
              <a:rPr lang="en-US" altLang="zh-CN" sz="2000" kern="1200" dirty="0">
                <a:latin typeface="Cambria Math"/>
                <a:cs typeface="Cambria Math"/>
              </a:rPr>
              <a:t>: if the next input symbol is b , and b </a:t>
            </a:r>
            <a:r>
              <a:rPr lang="zh-CN" altLang="en-US" sz="2000" kern="1200" dirty="0">
                <a:latin typeface="Cambria Math"/>
                <a:cs typeface="Cambria Math"/>
              </a:rPr>
              <a:t>∈</a:t>
            </a:r>
            <a:r>
              <a:rPr lang="zh-CN" altLang="en-US" sz="2000" kern="1200" dirty="0">
                <a:solidFill>
                  <a:srgbClr val="FF0000"/>
                </a:solidFill>
                <a:latin typeface="Cambria Math"/>
                <a:cs typeface="Cambria Math"/>
              </a:rPr>
              <a:t> </a:t>
            </a:r>
            <a:r>
              <a:rPr lang="en-US" altLang="zh-CN" sz="2000" kern="1200" dirty="0">
                <a:latin typeface="Cambria Math"/>
                <a:cs typeface="Cambria Math"/>
              </a:rPr>
              <a:t>FOLLOW(A), then we can choose </a:t>
            </a:r>
            <a:r>
              <a:rPr lang="zh-CN" altLang="en-US" sz="2000" kern="1200" dirty="0">
                <a:latin typeface="Cambria Math"/>
                <a:cs typeface="Cambria Math"/>
              </a:rPr>
              <a:t>𝑨</a:t>
            </a:r>
            <a:r>
              <a:rPr lang="zh-CN" altLang="en-US" sz="2000" kern="1200" spc="114" dirty="0">
                <a:latin typeface="Cambria Math"/>
                <a:cs typeface="Cambria Math"/>
              </a:rPr>
              <a:t> </a:t>
            </a:r>
            <a:r>
              <a:rPr lang="zh-CN" altLang="en-US" sz="2000" kern="1200" dirty="0">
                <a:latin typeface="Cambria Math"/>
                <a:cs typeface="Cambria Math"/>
              </a:rPr>
              <a:t>→</a:t>
            </a:r>
            <a:r>
              <a:rPr lang="zh-CN" altLang="en-US" sz="2000" kern="1200" spc="5" dirty="0">
                <a:latin typeface="Cambria Math"/>
                <a:cs typeface="Cambria Math"/>
              </a:rPr>
              <a:t>𝛼</a:t>
            </a:r>
            <a:endParaRPr lang="en-US" altLang="zh-CN" sz="2000" kern="1200" dirty="0">
              <a:latin typeface="Cambria Math"/>
              <a:cs typeface="Cambria Math"/>
            </a:endParaRPr>
          </a:p>
          <a:p>
            <a:pPr marL="723900" lvl="1" indent="-228600" rtl="0">
              <a:buFont typeface="Wingdings"/>
              <a:buChar char=""/>
              <a:tabLst>
                <a:tab pos="723900" algn="l"/>
              </a:tabLst>
            </a:pPr>
            <a:endParaRPr lang="en-US" altLang="zh-CN" sz="2000" kern="1200" dirty="0">
              <a:solidFill>
                <a:prstClr val="black"/>
              </a:solidFill>
              <a:latin typeface="Palatino Linotype"/>
              <a:cs typeface="Palatino Linotype"/>
            </a:endParaRPr>
          </a:p>
          <a:p>
            <a:pPr marL="266700" indent="-228600" rtl="0">
              <a:buFont typeface="Wingdings"/>
              <a:buChar char=""/>
              <a:tabLst>
                <a:tab pos="723900" algn="l"/>
              </a:tabLst>
            </a:pPr>
            <a:endParaRPr sz="2000" kern="1200" dirty="0">
              <a:solidFill>
                <a:prstClr val="black"/>
              </a:solidFill>
              <a:latin typeface="Palatino Linotype"/>
              <a:cs typeface="Palatino Linotype"/>
            </a:endParaRPr>
          </a:p>
        </p:txBody>
      </p:sp>
      <p:pic>
        <p:nvPicPr>
          <p:cNvPr id="11" name="图片 10">
            <a:extLst>
              <a:ext uri="{FF2B5EF4-FFF2-40B4-BE49-F238E27FC236}">
                <a16:creationId xmlns:a16="http://schemas.microsoft.com/office/drawing/2014/main" id="{7F9FEECE-F267-4219-8B13-6EE02B75CEAE}"/>
              </a:ext>
            </a:extLst>
          </p:cNvPr>
          <p:cNvPicPr>
            <a:picLocks noChangeAspect="1"/>
          </p:cNvPicPr>
          <p:nvPr/>
        </p:nvPicPr>
        <p:blipFill>
          <a:blip r:embed="rId3"/>
          <a:stretch>
            <a:fillRect/>
          </a:stretch>
        </p:blipFill>
        <p:spPr>
          <a:xfrm>
            <a:off x="5580112" y="7479"/>
            <a:ext cx="2592289" cy="1365091"/>
          </a:xfrm>
          <a:prstGeom prst="rect">
            <a:avLst/>
          </a:prstGeom>
        </p:spPr>
      </p:pic>
      <p:sp>
        <p:nvSpPr>
          <p:cNvPr id="12" name="文本框 11">
            <a:extLst>
              <a:ext uri="{FF2B5EF4-FFF2-40B4-BE49-F238E27FC236}">
                <a16:creationId xmlns:a16="http://schemas.microsoft.com/office/drawing/2014/main" id="{57A1F5D9-75DE-41D3-9690-3DEB2E706315}"/>
              </a:ext>
            </a:extLst>
          </p:cNvPr>
          <p:cNvSpPr txBox="1"/>
          <p:nvPr/>
        </p:nvSpPr>
        <p:spPr>
          <a:xfrm>
            <a:off x="5468352" y="3630414"/>
            <a:ext cx="256433" cy="369332"/>
          </a:xfrm>
          <a:prstGeom prst="rect">
            <a:avLst/>
          </a:prstGeom>
          <a:noFill/>
        </p:spPr>
        <p:txBody>
          <a:bodyPr wrap="square" rtlCol="0">
            <a:spAutoFit/>
          </a:bodyPr>
          <a:lstStyle/>
          <a:p>
            <a:r>
              <a:rPr lang="en-US" altLang="zh-CN" dirty="0"/>
              <a:t>*</a:t>
            </a:r>
            <a:endParaRPr lang="zh-CN" altLang="en-US" dirty="0"/>
          </a:p>
        </p:txBody>
      </p:sp>
      <p:sp>
        <p:nvSpPr>
          <p:cNvPr id="13" name="文本框 12">
            <a:extLst>
              <a:ext uri="{FF2B5EF4-FFF2-40B4-BE49-F238E27FC236}">
                <a16:creationId xmlns:a16="http://schemas.microsoft.com/office/drawing/2014/main" id="{5E2FA380-0893-4331-98FB-3BBD5C6CC114}"/>
              </a:ext>
            </a:extLst>
          </p:cNvPr>
          <p:cNvSpPr txBox="1"/>
          <p:nvPr/>
        </p:nvSpPr>
        <p:spPr>
          <a:xfrm>
            <a:off x="6948264" y="1340768"/>
            <a:ext cx="2057400" cy="400110"/>
          </a:xfrm>
          <a:prstGeom prst="rect">
            <a:avLst/>
          </a:prstGeom>
          <a:noFill/>
        </p:spPr>
        <p:txBody>
          <a:bodyPr wrap="square" rtlCol="0">
            <a:spAutoFit/>
          </a:bodyPr>
          <a:lstStyle/>
          <a:p>
            <a:r>
              <a:rPr lang="zh-CN" altLang="en-US" sz="2000" kern="1200" dirty="0">
                <a:solidFill>
                  <a:srgbClr val="FF0000"/>
                </a:solidFill>
                <a:latin typeface="Cambria Math"/>
                <a:cs typeface="Cambria Math"/>
              </a:rPr>
              <a:t>𝑎 ∈</a:t>
            </a:r>
            <a:r>
              <a:rPr lang="en-US" altLang="zh-CN" sz="2000" b="1" kern="1200" spc="-5" dirty="0">
                <a:solidFill>
                  <a:srgbClr val="FF0000"/>
                </a:solidFill>
                <a:latin typeface="Palatino Linotype"/>
              </a:rPr>
              <a:t>FOLLOW(</a:t>
            </a:r>
            <a:r>
              <a:rPr lang="en-US" altLang="zh-CN" sz="2000" b="1" i="1" kern="1200" spc="-5" dirty="0">
                <a:solidFill>
                  <a:srgbClr val="FF0000"/>
                </a:solidFill>
                <a:latin typeface="Palatino Linotype"/>
              </a:rPr>
              <a:t>A</a:t>
            </a:r>
            <a:r>
              <a:rPr lang="en-US" altLang="zh-CN" sz="2000" b="1" kern="1200" spc="-5" dirty="0">
                <a:solidFill>
                  <a:srgbClr val="FF0000"/>
                </a:solidFill>
                <a:latin typeface="Palatino Linotype"/>
              </a:rPr>
              <a:t>)</a:t>
            </a:r>
            <a:endParaRPr lang="zh-CN" altLang="en-US" sz="2000" b="1" kern="1200" spc="-5" dirty="0">
              <a:solidFill>
                <a:srgbClr val="FF0000"/>
              </a:solidFill>
              <a:latin typeface="Palatino Linotype"/>
            </a:endParaRPr>
          </a:p>
        </p:txBody>
      </p:sp>
    </p:spTree>
    <p:extLst>
      <p:ext uri="{BB962C8B-B14F-4D97-AF65-F5344CB8AC3E}">
        <p14:creationId xmlns:p14="http://schemas.microsoft.com/office/powerpoint/2010/main" val="23200948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69</a:t>
            </a:fld>
            <a:endParaRPr lang="en-US"/>
          </a:p>
        </p:txBody>
      </p:sp>
      <p:sp>
        <p:nvSpPr>
          <p:cNvPr id="7" name="object 2">
            <a:extLst>
              <a:ext uri="{FF2B5EF4-FFF2-40B4-BE49-F238E27FC236}">
                <a16:creationId xmlns:a16="http://schemas.microsoft.com/office/drawing/2014/main" id="{AE8604C4-922A-F819-B622-C506FF5A1ADB}"/>
              </a:ext>
            </a:extLst>
          </p:cNvPr>
          <p:cNvSpPr txBox="1">
            <a:spLocks/>
          </p:cNvSpPr>
          <p:nvPr/>
        </p:nvSpPr>
        <p:spPr>
          <a:xfrm>
            <a:off x="707390" y="524763"/>
            <a:ext cx="505968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Computing</a:t>
            </a:r>
            <a:r>
              <a:rPr kumimoji="0" lang="en-US" sz="4000" b="1" i="0" u="none" strike="noStrike" kern="0" cap="none" spc="-7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FOLLOW</a:t>
            </a:r>
          </a:p>
        </p:txBody>
      </p:sp>
      <p:sp>
        <p:nvSpPr>
          <p:cNvPr id="8" name="object 3">
            <a:extLst>
              <a:ext uri="{FF2B5EF4-FFF2-40B4-BE49-F238E27FC236}">
                <a16:creationId xmlns:a16="http://schemas.microsoft.com/office/drawing/2014/main" id="{0238F742-22D6-016F-21D8-2C94D166984D}"/>
              </a:ext>
            </a:extLst>
          </p:cNvPr>
          <p:cNvSpPr txBox="1"/>
          <p:nvPr/>
        </p:nvSpPr>
        <p:spPr>
          <a:xfrm>
            <a:off x="707390" y="1658111"/>
            <a:ext cx="7672070" cy="4169410"/>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sz="2300" b="1" kern="1200" spc="-5" dirty="0">
                <a:solidFill>
                  <a:prstClr val="black"/>
                </a:solidFill>
                <a:latin typeface="Palatino Linotype"/>
                <a:cs typeface="Palatino Linotype"/>
              </a:rPr>
              <a:t>Computing</a:t>
            </a:r>
            <a:r>
              <a:rPr sz="2300" b="1" kern="1200" spc="-10" dirty="0">
                <a:solidFill>
                  <a:prstClr val="black"/>
                </a:solidFill>
                <a:latin typeface="Palatino Linotype"/>
                <a:cs typeface="Palatino Linotype"/>
              </a:rPr>
              <a:t> </a:t>
            </a:r>
            <a:r>
              <a:rPr sz="2300" b="1" kern="1200" spc="-5" dirty="0">
                <a:solidFill>
                  <a:prstClr val="black"/>
                </a:solidFill>
                <a:latin typeface="Palatino Linotype"/>
                <a:cs typeface="Palatino Linotype"/>
              </a:rPr>
              <a:t>FOLLOW(</a:t>
            </a:r>
            <a:r>
              <a:rPr sz="2300" b="1" i="1" kern="1200" spc="-5" dirty="0">
                <a:solidFill>
                  <a:prstClr val="black"/>
                </a:solidFill>
                <a:latin typeface="Palatino Linotype"/>
                <a:cs typeface="Palatino Linotype"/>
              </a:rPr>
              <a:t>A</a:t>
            </a:r>
            <a:r>
              <a:rPr sz="2300" b="1" kern="1200" spc="-5" dirty="0">
                <a:solidFill>
                  <a:prstClr val="black"/>
                </a:solidFill>
                <a:latin typeface="Palatino Linotype"/>
                <a:cs typeface="Palatino Linotype"/>
              </a:rPr>
              <a:t>)</a:t>
            </a:r>
            <a:r>
              <a:rPr sz="2300" b="1" kern="1200" spc="-10" dirty="0">
                <a:solidFill>
                  <a:prstClr val="black"/>
                </a:solidFill>
                <a:latin typeface="Palatino Linotype"/>
                <a:cs typeface="Palatino Linotype"/>
              </a:rPr>
              <a:t> </a:t>
            </a:r>
            <a:r>
              <a:rPr sz="2300" b="1" kern="1200" spc="-5" dirty="0">
                <a:solidFill>
                  <a:prstClr val="black"/>
                </a:solidFill>
                <a:latin typeface="Palatino Linotype"/>
                <a:cs typeface="Palatino Linotype"/>
              </a:rPr>
              <a:t>for</a:t>
            </a:r>
            <a:r>
              <a:rPr sz="2300" b="1" kern="1200" dirty="0">
                <a:solidFill>
                  <a:prstClr val="black"/>
                </a:solidFill>
                <a:latin typeface="Palatino Linotype"/>
                <a:cs typeface="Palatino Linotype"/>
              </a:rPr>
              <a:t> </a:t>
            </a:r>
            <a:r>
              <a:rPr sz="2300" b="1" kern="1200" spc="-5" dirty="0">
                <a:solidFill>
                  <a:prstClr val="black"/>
                </a:solidFill>
                <a:latin typeface="Palatino Linotype"/>
                <a:cs typeface="Palatino Linotype"/>
              </a:rPr>
              <a:t>all</a:t>
            </a:r>
            <a:r>
              <a:rPr sz="2300" b="1" kern="1200" spc="-10" dirty="0">
                <a:solidFill>
                  <a:prstClr val="black"/>
                </a:solidFill>
                <a:latin typeface="Palatino Linotype"/>
                <a:cs typeface="Palatino Linotype"/>
              </a:rPr>
              <a:t> </a:t>
            </a:r>
            <a:r>
              <a:rPr sz="2300" b="1" kern="1200" spc="-5" dirty="0">
                <a:solidFill>
                  <a:prstClr val="black"/>
                </a:solidFill>
                <a:latin typeface="Palatino Linotype"/>
                <a:cs typeface="Palatino Linotype"/>
              </a:rPr>
              <a:t>nonterminals </a:t>
            </a:r>
            <a:r>
              <a:rPr sz="2300" b="1" i="1" kern="1200" dirty="0">
                <a:solidFill>
                  <a:prstClr val="black"/>
                </a:solidFill>
                <a:latin typeface="Palatino Linotype"/>
                <a:cs typeface="Palatino Linotype"/>
              </a:rPr>
              <a:t>A</a:t>
            </a:r>
            <a:endParaRPr sz="2300" kern="1200" dirty="0">
              <a:solidFill>
                <a:prstClr val="black"/>
              </a:solidFill>
              <a:latin typeface="Palatino Linotype"/>
              <a:cs typeface="Palatino Linotype"/>
            </a:endParaRPr>
          </a:p>
          <a:p>
            <a:pPr marL="698500" marR="5080" lvl="1" indent="-228600" rtl="0">
              <a:lnSpc>
                <a:spcPct val="121000"/>
              </a:lnSpc>
              <a:spcBef>
                <a:spcPts val="1235"/>
              </a:spcBef>
              <a:buFont typeface="Wingdings"/>
              <a:buChar char=""/>
              <a:tabLst>
                <a:tab pos="698500" algn="l"/>
              </a:tabLst>
            </a:pPr>
            <a:r>
              <a:rPr sz="2000" kern="1200" spc="-5" dirty="0">
                <a:solidFill>
                  <a:prstClr val="black"/>
                </a:solidFill>
                <a:latin typeface="Palatino Linotype"/>
                <a:cs typeface="Palatino Linotype"/>
              </a:rPr>
              <a:t>Add</a:t>
            </a:r>
            <a:r>
              <a:rPr sz="2000" kern="1200" dirty="0">
                <a:solidFill>
                  <a:prstClr val="black"/>
                </a:solidFill>
                <a:latin typeface="Palatino Linotype"/>
                <a:cs typeface="Palatino Linotype"/>
              </a:rPr>
              <a:t> </a:t>
            </a:r>
            <a:r>
              <a:rPr sz="2000" kern="1200" dirty="0">
                <a:solidFill>
                  <a:srgbClr val="FF0000"/>
                </a:solidFill>
                <a:latin typeface="Palatino Linotype"/>
                <a:cs typeface="Palatino Linotype"/>
              </a:rPr>
              <a:t>$ </a:t>
            </a:r>
            <a:r>
              <a:rPr sz="2000" kern="1200" dirty="0">
                <a:solidFill>
                  <a:prstClr val="black"/>
                </a:solidFill>
                <a:latin typeface="Palatino Linotype"/>
                <a:cs typeface="Palatino Linotype"/>
              </a:rPr>
              <a:t>in </a:t>
            </a:r>
            <a:r>
              <a:rPr sz="2000" kern="1200" spc="-5" dirty="0">
                <a:solidFill>
                  <a:srgbClr val="FF0000"/>
                </a:solidFill>
                <a:latin typeface="Palatino Linotype"/>
                <a:cs typeface="Palatino Linotype"/>
              </a:rPr>
              <a:t>FOLLOW(</a:t>
            </a:r>
            <a:r>
              <a:rPr sz="2000" i="1" kern="1200" spc="-5" dirty="0">
                <a:solidFill>
                  <a:srgbClr val="FF0000"/>
                </a:solidFill>
                <a:latin typeface="Palatino Linotype"/>
                <a:cs typeface="Palatino Linotype"/>
              </a:rPr>
              <a:t>S</a:t>
            </a:r>
            <a:r>
              <a:rPr sz="2000" kern="1200" spc="-5" dirty="0">
                <a:solidFill>
                  <a:srgbClr val="FF0000"/>
                </a:solidFill>
                <a:latin typeface="Palatino Linotype"/>
                <a:cs typeface="Palatino Linotype"/>
              </a:rPr>
              <a:t>)</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where</a:t>
            </a:r>
            <a:r>
              <a:rPr sz="2000" kern="1200" dirty="0">
                <a:solidFill>
                  <a:prstClr val="black"/>
                </a:solidFill>
                <a:latin typeface="Palatino Linotype"/>
                <a:cs typeface="Palatino Linotype"/>
              </a:rPr>
              <a:t> </a:t>
            </a:r>
            <a:r>
              <a:rPr sz="2000" i="1" kern="1200" dirty="0">
                <a:solidFill>
                  <a:srgbClr val="FF0000"/>
                </a:solidFill>
                <a:latin typeface="Palatino Linotype"/>
                <a:cs typeface="Palatino Linotype"/>
              </a:rPr>
              <a:t>S</a:t>
            </a:r>
            <a:r>
              <a:rPr sz="2000" i="1" kern="1200" spc="5" dirty="0">
                <a:solidFill>
                  <a:srgbClr val="FF0000"/>
                </a:solidFill>
                <a:latin typeface="Palatino Linotype"/>
                <a:cs typeface="Palatino Linotype"/>
              </a:rPr>
              <a:t> </a:t>
            </a:r>
            <a:r>
              <a:rPr sz="2000" kern="1200" dirty="0">
                <a:solidFill>
                  <a:prstClr val="black"/>
                </a:solidFill>
                <a:latin typeface="Palatino Linotype"/>
                <a:cs typeface="Palatino Linotype"/>
              </a:rPr>
              <a:t>is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start symbol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spc="5" dirty="0">
                <a:solidFill>
                  <a:prstClr val="black"/>
                </a:solidFill>
                <a:latin typeface="Palatino Linotype"/>
                <a:cs typeface="Palatino Linotype"/>
              </a:rPr>
              <a:t> </a:t>
            </a:r>
            <a:r>
              <a:rPr sz="2000" kern="1200" dirty="0">
                <a:solidFill>
                  <a:srgbClr val="FF0000"/>
                </a:solidFill>
                <a:latin typeface="Palatino Linotype"/>
                <a:cs typeface="Palatino Linotype"/>
              </a:rPr>
              <a:t>$ </a:t>
            </a:r>
            <a:r>
              <a:rPr sz="2000" kern="1200" dirty="0">
                <a:solidFill>
                  <a:prstClr val="black"/>
                </a:solidFill>
                <a:latin typeface="Palatino Linotype"/>
                <a:cs typeface="Palatino Linotype"/>
              </a:rPr>
              <a:t>is </a:t>
            </a:r>
            <a:r>
              <a:rPr sz="2000" kern="1200" spc="-5" dirty="0">
                <a:solidFill>
                  <a:prstClr val="black"/>
                </a:solidFill>
                <a:latin typeface="Palatino Linotype"/>
                <a:cs typeface="Palatino Linotype"/>
              </a:rPr>
              <a:t>the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input</a:t>
            </a:r>
            <a:r>
              <a:rPr sz="2000" kern="1200" spc="-10" dirty="0">
                <a:solidFill>
                  <a:prstClr val="black"/>
                </a:solidFill>
                <a:latin typeface="Palatino Linotype"/>
                <a:cs typeface="Palatino Linotype"/>
              </a:rPr>
              <a:t> </a:t>
            </a:r>
            <a:r>
              <a:rPr sz="2000" kern="1200" spc="-5" dirty="0">
                <a:solidFill>
                  <a:srgbClr val="FF0000"/>
                </a:solidFill>
                <a:latin typeface="Palatino Linotype"/>
                <a:cs typeface="Palatino Linotype"/>
              </a:rPr>
              <a:t>right endmarker</a:t>
            </a:r>
            <a:endParaRPr sz="2000" kern="1200" dirty="0">
              <a:solidFill>
                <a:prstClr val="black"/>
              </a:solidFill>
              <a:latin typeface="Palatino Linotype"/>
              <a:cs typeface="Palatino Linotype"/>
            </a:endParaRPr>
          </a:p>
          <a:p>
            <a:pPr lvl="1" rtl="0">
              <a:spcBef>
                <a:spcPts val="40"/>
              </a:spcBef>
              <a:buFont typeface="Wingdings"/>
              <a:buChar char=""/>
            </a:pPr>
            <a:endParaRPr sz="2050" kern="1200" dirty="0">
              <a:solidFill>
                <a:prstClr val="black"/>
              </a:solidFill>
              <a:latin typeface="Palatino Linotype"/>
              <a:cs typeface="Palatino Linotype"/>
            </a:endParaRPr>
          </a:p>
          <a:p>
            <a:pPr marL="698500" lvl="1" indent="-228600" rtl="0">
              <a:buFont typeface="Wingdings"/>
              <a:buChar char=""/>
              <a:tabLst>
                <a:tab pos="698500" algn="l"/>
              </a:tabLst>
            </a:pPr>
            <a:r>
              <a:rPr sz="2000" kern="1200" spc="-5" dirty="0">
                <a:solidFill>
                  <a:prstClr val="black"/>
                </a:solidFill>
                <a:latin typeface="Palatino Linotype"/>
                <a:cs typeface="Palatino Linotype"/>
              </a:rPr>
              <a:t>Apply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rules</a:t>
            </a:r>
            <a:r>
              <a:rPr sz="2000" kern="1200" dirty="0">
                <a:solidFill>
                  <a:prstClr val="black"/>
                </a:solidFill>
                <a:latin typeface="Palatino Linotype"/>
                <a:cs typeface="Palatino Linotype"/>
              </a:rPr>
              <a:t> </a:t>
            </a:r>
            <a:r>
              <a:rPr sz="2000" kern="1200" spc="-35" dirty="0">
                <a:solidFill>
                  <a:prstClr val="black"/>
                </a:solidFill>
                <a:latin typeface="Palatino Linotype"/>
                <a:cs typeface="Palatino Linotype"/>
              </a:rPr>
              <a:t>below,</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until</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all</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FOLLOW </a:t>
            </a:r>
            <a:r>
              <a:rPr sz="2000" kern="1200" spc="-5" dirty="0">
                <a:solidFill>
                  <a:prstClr val="black"/>
                </a:solidFill>
                <a:latin typeface="Palatino Linotype"/>
                <a:cs typeface="Palatino Linotype"/>
              </a:rPr>
              <a:t>sets</a:t>
            </a:r>
            <a:r>
              <a:rPr sz="2000" kern="1200" dirty="0">
                <a:solidFill>
                  <a:prstClr val="black"/>
                </a:solidFill>
                <a:latin typeface="Palatino Linotype"/>
                <a:cs typeface="Palatino Linotype"/>
              </a:rPr>
              <a:t> do</a:t>
            </a:r>
            <a:r>
              <a:rPr sz="2000" kern="1200" spc="-5" dirty="0">
                <a:solidFill>
                  <a:prstClr val="black"/>
                </a:solidFill>
                <a:latin typeface="Palatino Linotype"/>
                <a:cs typeface="Palatino Linotype"/>
              </a:rPr>
              <a:t> not change</a:t>
            </a:r>
            <a:endParaRPr sz="2000" kern="1200" dirty="0">
              <a:solidFill>
                <a:prstClr val="black"/>
              </a:solidFill>
              <a:latin typeface="Palatino Linotype"/>
              <a:cs typeface="Palatino Linotype"/>
            </a:endParaRPr>
          </a:p>
          <a:p>
            <a:pPr marL="1269365" marR="180975" lvl="2" indent="-342900" rtl="0">
              <a:lnSpc>
                <a:spcPct val="130000"/>
              </a:lnSpc>
              <a:spcBef>
                <a:spcPts val="1235"/>
              </a:spcBef>
              <a:buFontTx/>
              <a:buAutoNum type="arabicPeriod"/>
              <a:tabLst>
                <a:tab pos="1269365" algn="l"/>
                <a:tab pos="1270000" algn="l"/>
              </a:tabLst>
            </a:pPr>
            <a:r>
              <a:rPr kern="1200" dirty="0">
                <a:solidFill>
                  <a:prstClr val="black"/>
                </a:solidFill>
                <a:latin typeface="Palatino Linotype"/>
                <a:cs typeface="Palatino Linotype"/>
              </a:rPr>
              <a:t>If</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there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production</a:t>
            </a:r>
            <a:r>
              <a:rPr kern="1200" spc="-5" dirty="0">
                <a:solidFill>
                  <a:prstClr val="black"/>
                </a:solidFill>
                <a:latin typeface="Palatino Linotype"/>
                <a:cs typeface="Palatino Linotype"/>
              </a:rPr>
              <a:t> </a:t>
            </a:r>
            <a:r>
              <a:rPr kern="1200" dirty="0">
                <a:solidFill>
                  <a:prstClr val="black"/>
                </a:solidFill>
                <a:latin typeface="Cambria Math"/>
                <a:cs typeface="Cambria Math"/>
              </a:rPr>
              <a:t>𝐴</a:t>
            </a:r>
            <a:r>
              <a:rPr kern="1200" spc="110" dirty="0">
                <a:solidFill>
                  <a:prstClr val="black"/>
                </a:solidFill>
                <a:latin typeface="Cambria Math"/>
                <a:cs typeface="Cambria Math"/>
              </a:rPr>
              <a:t> </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spc="5" dirty="0">
                <a:solidFill>
                  <a:prstClr val="black"/>
                </a:solidFill>
                <a:latin typeface="Cambria Math"/>
                <a:cs typeface="Cambria Math"/>
              </a:rPr>
              <a:t>𝛼𝐵𝛽</a:t>
            </a:r>
            <a:r>
              <a:rPr kern="1200" spc="5"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then</a:t>
            </a:r>
            <a:r>
              <a:rPr kern="1200" spc="-5" dirty="0">
                <a:solidFill>
                  <a:prstClr val="black"/>
                </a:solidFill>
                <a:latin typeface="Palatino Linotype"/>
                <a:cs typeface="Palatino Linotype"/>
              </a:rPr>
              <a:t> everything</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FIRST(</a:t>
            </a:r>
            <a:r>
              <a:rPr kern="1200" spc="5" dirty="0">
                <a:solidFill>
                  <a:prstClr val="black"/>
                </a:solidFill>
                <a:latin typeface="Cambria Math"/>
                <a:cs typeface="Cambria Math"/>
              </a:rPr>
              <a:t>𝛽</a:t>
            </a:r>
            <a:r>
              <a:rPr kern="1200" spc="5" dirty="0">
                <a:solidFill>
                  <a:prstClr val="black"/>
                </a:solidFill>
                <a:latin typeface="Palatino Linotype"/>
                <a:cs typeface="Palatino Linotype"/>
              </a:rPr>
              <a:t>)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except</a:t>
            </a:r>
            <a:r>
              <a:rPr kern="1200" spc="-10" dirty="0">
                <a:solidFill>
                  <a:prstClr val="black"/>
                </a:solidFill>
                <a:latin typeface="Palatino Linotype"/>
                <a:cs typeface="Palatino Linotype"/>
              </a:rPr>
              <a:t> </a:t>
            </a:r>
            <a:r>
              <a:rPr kern="1200" dirty="0">
                <a:solidFill>
                  <a:prstClr val="black"/>
                </a:solidFill>
                <a:latin typeface="Cambria Math"/>
                <a:cs typeface="Cambria Math"/>
              </a:rPr>
              <a:t>𝜖</a:t>
            </a:r>
            <a:r>
              <a:rPr kern="1200" spc="50" dirty="0">
                <a:solidFill>
                  <a:prstClr val="black"/>
                </a:solidFill>
                <a:latin typeface="Cambria Math"/>
                <a:cs typeface="Cambria Math"/>
              </a:rPr>
              <a:t> </a:t>
            </a:r>
            <a:r>
              <a:rPr kern="1200" dirty="0">
                <a:solidFill>
                  <a:prstClr val="black"/>
                </a:solidFill>
                <a:latin typeface="Palatino Linotype"/>
                <a:cs typeface="Palatino Linotype"/>
              </a:rPr>
              <a:t>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 FOLLOW(</a:t>
            </a:r>
            <a:r>
              <a:rPr kern="1200" dirty="0">
                <a:solidFill>
                  <a:prstClr val="black"/>
                </a:solidFill>
                <a:latin typeface="Cambria Math"/>
                <a:cs typeface="Cambria Math"/>
              </a:rPr>
              <a:t>𝐵</a:t>
            </a:r>
            <a:r>
              <a:rPr kern="1200" dirty="0">
                <a:solidFill>
                  <a:prstClr val="black"/>
                </a:solidFill>
                <a:latin typeface="Palatino Linotype"/>
                <a:cs typeface="Palatino Linotype"/>
              </a:rPr>
              <a:t>)</a:t>
            </a:r>
          </a:p>
          <a:p>
            <a:pPr marL="1269365" marR="201295" lvl="2" indent="-342900" rtl="0">
              <a:lnSpc>
                <a:spcPct val="128899"/>
              </a:lnSpc>
              <a:spcBef>
                <a:spcPts val="1225"/>
              </a:spcBef>
              <a:buFontTx/>
              <a:buAutoNum type="arabicPeriod"/>
              <a:tabLst>
                <a:tab pos="1269365" algn="l"/>
                <a:tab pos="1270000" algn="l"/>
              </a:tabLst>
            </a:pPr>
            <a:r>
              <a:rPr kern="1200" dirty="0">
                <a:solidFill>
                  <a:prstClr val="black"/>
                </a:solidFill>
                <a:latin typeface="Palatino Linotype"/>
                <a:cs typeface="Palatino Linotype"/>
              </a:rPr>
              <a:t>If</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there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production </a:t>
            </a:r>
            <a:r>
              <a:rPr kern="1200" dirty="0">
                <a:solidFill>
                  <a:prstClr val="black"/>
                </a:solidFill>
                <a:latin typeface="Cambria Math"/>
                <a:cs typeface="Cambria Math"/>
              </a:rPr>
              <a:t>𝐴</a:t>
            </a:r>
            <a:r>
              <a:rPr kern="1200" spc="110" dirty="0">
                <a:solidFill>
                  <a:prstClr val="black"/>
                </a:solidFill>
                <a:latin typeface="Cambria Math"/>
                <a:cs typeface="Cambria Math"/>
              </a:rPr>
              <a:t> </a:t>
            </a:r>
            <a:r>
              <a:rPr kern="1200" dirty="0">
                <a:solidFill>
                  <a:prstClr val="black"/>
                </a:solidFill>
                <a:latin typeface="Cambria Math"/>
                <a:cs typeface="Cambria Math"/>
              </a:rPr>
              <a:t>→</a:t>
            </a:r>
            <a:r>
              <a:rPr kern="1200" spc="100" dirty="0">
                <a:solidFill>
                  <a:prstClr val="black"/>
                </a:solidFill>
                <a:latin typeface="Cambria Math"/>
                <a:cs typeface="Cambria Math"/>
              </a:rPr>
              <a:t> </a:t>
            </a:r>
            <a:r>
              <a:rPr kern="1200" spc="-5" dirty="0">
                <a:solidFill>
                  <a:prstClr val="black"/>
                </a:solidFill>
                <a:latin typeface="Cambria Math"/>
                <a:cs typeface="Cambria Math"/>
              </a:rPr>
              <a:t>𝛼𝐵</a:t>
            </a:r>
            <a:r>
              <a:rPr kern="1200" spc="90" dirty="0">
                <a:solidFill>
                  <a:prstClr val="black"/>
                </a:solidFill>
                <a:latin typeface="Cambria Math"/>
                <a:cs typeface="Cambria Math"/>
              </a:rPr>
              <a:t> </a:t>
            </a:r>
            <a:r>
              <a:rPr kern="1200" dirty="0">
                <a:solidFill>
                  <a:prstClr val="black"/>
                </a:solidFill>
                <a:latin typeface="Palatino Linotype"/>
                <a:cs typeface="Palatino Linotype"/>
              </a:rPr>
              <a:t>(or</a:t>
            </a:r>
            <a:r>
              <a:rPr kern="1200" spc="-5" dirty="0">
                <a:solidFill>
                  <a:prstClr val="black"/>
                </a:solidFill>
                <a:latin typeface="Palatino Linotype"/>
                <a:cs typeface="Palatino Linotype"/>
              </a:rPr>
              <a:t> </a:t>
            </a:r>
            <a:r>
              <a:rPr kern="1200" dirty="0">
                <a:solidFill>
                  <a:prstClr val="black"/>
                </a:solidFill>
                <a:latin typeface="Cambria Math"/>
                <a:cs typeface="Cambria Math"/>
              </a:rPr>
              <a:t>𝐴</a:t>
            </a:r>
            <a:r>
              <a:rPr kern="1200" spc="110" dirty="0">
                <a:solidFill>
                  <a:prstClr val="black"/>
                </a:solidFill>
                <a:latin typeface="Cambria Math"/>
                <a:cs typeface="Cambria Math"/>
              </a:rPr>
              <a:t> </a:t>
            </a:r>
            <a:r>
              <a:rPr kern="1200" dirty="0">
                <a:solidFill>
                  <a:prstClr val="black"/>
                </a:solidFill>
                <a:latin typeface="Cambria Math"/>
                <a:cs typeface="Cambria Math"/>
              </a:rPr>
              <a:t>→</a:t>
            </a:r>
            <a:r>
              <a:rPr kern="1200" spc="100" dirty="0">
                <a:solidFill>
                  <a:prstClr val="black"/>
                </a:solidFill>
                <a:latin typeface="Cambria Math"/>
                <a:cs typeface="Cambria Math"/>
              </a:rPr>
              <a:t> </a:t>
            </a:r>
            <a:r>
              <a:rPr kern="1200" spc="-5" dirty="0">
                <a:solidFill>
                  <a:prstClr val="black"/>
                </a:solidFill>
                <a:latin typeface="Cambria Math"/>
                <a:cs typeface="Cambria Math"/>
              </a:rPr>
              <a:t>𝛼𝐵𝛽</a:t>
            </a:r>
            <a:r>
              <a:rPr kern="1200" spc="95" dirty="0">
                <a:solidFill>
                  <a:prstClr val="black"/>
                </a:solidFill>
                <a:latin typeface="Cambria Math"/>
                <a:cs typeface="Cambria Math"/>
              </a:rPr>
              <a:t> </a:t>
            </a:r>
            <a:r>
              <a:rPr kern="1200" dirty="0">
                <a:solidFill>
                  <a:prstClr val="black"/>
                </a:solidFill>
                <a:latin typeface="Palatino Linotype"/>
                <a:cs typeface="Palatino Linotype"/>
              </a:rPr>
              <a:t>and </a:t>
            </a:r>
            <a:r>
              <a:rPr kern="1200" spc="5" dirty="0">
                <a:solidFill>
                  <a:prstClr val="black"/>
                </a:solidFill>
                <a:latin typeface="Palatino Linotype"/>
                <a:cs typeface="Palatino Linotype"/>
              </a:rPr>
              <a:t>FIRST(</a:t>
            </a:r>
            <a:r>
              <a:rPr kern="1200" spc="5" dirty="0">
                <a:solidFill>
                  <a:prstClr val="black"/>
                </a:solidFill>
                <a:latin typeface="Cambria Math"/>
                <a:cs typeface="Cambria Math"/>
              </a:rPr>
              <a:t>𝛽</a:t>
            </a:r>
            <a:r>
              <a:rPr kern="1200" spc="5" dirty="0">
                <a:solidFill>
                  <a:prstClr val="black"/>
                </a:solidFill>
                <a:latin typeface="Palatino Linotype"/>
                <a:cs typeface="Palatino Linotype"/>
              </a:rPr>
              <a:t>) </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contains</a:t>
            </a:r>
            <a:r>
              <a:rPr kern="1200" spc="-15" dirty="0">
                <a:solidFill>
                  <a:prstClr val="black"/>
                </a:solidFill>
                <a:latin typeface="Palatino Linotype"/>
                <a:cs typeface="Palatino Linotype"/>
              </a:rPr>
              <a:t> </a:t>
            </a:r>
            <a:r>
              <a:rPr kern="1200" spc="-5" dirty="0">
                <a:solidFill>
                  <a:prstClr val="black"/>
                </a:solidFill>
                <a:latin typeface="Cambria Math"/>
                <a:cs typeface="Cambria Math"/>
              </a:rPr>
              <a:t>𝜖</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then</a:t>
            </a:r>
            <a:r>
              <a:rPr kern="1200" spc="-5" dirty="0">
                <a:solidFill>
                  <a:prstClr val="black"/>
                </a:solidFill>
                <a:latin typeface="Palatino Linotype"/>
                <a:cs typeface="Palatino Linotype"/>
              </a:rPr>
              <a:t> everything</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FOLLOW(</a:t>
            </a:r>
            <a:r>
              <a:rPr kern="1200" dirty="0">
                <a:solidFill>
                  <a:prstClr val="black"/>
                </a:solidFill>
                <a:latin typeface="Cambria Math"/>
                <a:cs typeface="Cambria Math"/>
              </a:rPr>
              <a:t>𝐴</a:t>
            </a:r>
            <a:r>
              <a:rPr kern="1200" dirty="0">
                <a:solidFill>
                  <a:prstClr val="black"/>
                </a:solidFill>
                <a:latin typeface="Palatino Linotype"/>
                <a:cs typeface="Palatino Linotype"/>
              </a:rPr>
              <a:t>)</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FOLLOW(</a:t>
            </a:r>
            <a:r>
              <a:rPr kern="1200" dirty="0">
                <a:solidFill>
                  <a:prstClr val="black"/>
                </a:solidFill>
                <a:latin typeface="Cambria Math"/>
                <a:cs typeface="Cambria Math"/>
              </a:rPr>
              <a:t>𝐵</a:t>
            </a:r>
            <a:r>
              <a:rPr kern="1200" dirty="0">
                <a:solidFill>
                  <a:prstClr val="black"/>
                </a:solidFill>
                <a:latin typeface="Palatino Linotype"/>
                <a:cs typeface="Palatino Linotype"/>
              </a:rPr>
              <a:t>)</a:t>
            </a:r>
          </a:p>
          <a:p>
            <a:pPr rtl="0"/>
            <a:endParaRPr sz="1700" kern="1200" dirty="0">
              <a:solidFill>
                <a:prstClr val="black"/>
              </a:solidFill>
              <a:latin typeface="Palatino Linotype"/>
              <a:cs typeface="Palatino Linotype"/>
            </a:endParaRPr>
          </a:p>
          <a:p>
            <a:pPr marL="560070" rtl="0"/>
            <a:r>
              <a:rPr sz="1400" kern="1200" dirty="0">
                <a:solidFill>
                  <a:srgbClr val="A6A6A6"/>
                </a:solidFill>
                <a:latin typeface="Cambria Math"/>
                <a:cs typeface="Cambria Math"/>
              </a:rPr>
              <a:t>𝜖</a:t>
            </a:r>
            <a:r>
              <a:rPr sz="1400" kern="1200" spc="35" dirty="0">
                <a:solidFill>
                  <a:srgbClr val="A6A6A6"/>
                </a:solidFill>
                <a:latin typeface="Cambria Math"/>
                <a:cs typeface="Cambria Math"/>
              </a:rPr>
              <a:t> </a:t>
            </a:r>
            <a:r>
              <a:rPr sz="1400" kern="1200" dirty="0">
                <a:solidFill>
                  <a:srgbClr val="A6A6A6"/>
                </a:solidFill>
                <a:latin typeface="Palatino Linotype"/>
                <a:cs typeface="Palatino Linotype"/>
              </a:rPr>
              <a:t>will </a:t>
            </a:r>
            <a:r>
              <a:rPr sz="1400" kern="1200" spc="-5" dirty="0">
                <a:solidFill>
                  <a:srgbClr val="A6A6A6"/>
                </a:solidFill>
                <a:latin typeface="Palatino Linotype"/>
                <a:cs typeface="Palatino Linotype"/>
              </a:rPr>
              <a:t>not</a:t>
            </a:r>
            <a:r>
              <a:rPr sz="1400" kern="1200" spc="5" dirty="0">
                <a:solidFill>
                  <a:srgbClr val="A6A6A6"/>
                </a:solidFill>
                <a:latin typeface="Palatino Linotype"/>
                <a:cs typeface="Palatino Linotype"/>
              </a:rPr>
              <a:t> </a:t>
            </a:r>
            <a:r>
              <a:rPr sz="1400" kern="1200" spc="-5" dirty="0">
                <a:solidFill>
                  <a:srgbClr val="A6A6A6"/>
                </a:solidFill>
                <a:latin typeface="Palatino Linotype"/>
                <a:cs typeface="Palatino Linotype"/>
              </a:rPr>
              <a:t>appear</a:t>
            </a:r>
            <a:r>
              <a:rPr sz="1400" kern="1200" spc="-10" dirty="0">
                <a:solidFill>
                  <a:srgbClr val="A6A6A6"/>
                </a:solidFill>
                <a:latin typeface="Palatino Linotype"/>
                <a:cs typeface="Palatino Linotype"/>
              </a:rPr>
              <a:t> </a:t>
            </a:r>
            <a:r>
              <a:rPr sz="1400" kern="1200" dirty="0">
                <a:solidFill>
                  <a:srgbClr val="A6A6A6"/>
                </a:solidFill>
                <a:latin typeface="Palatino Linotype"/>
                <a:cs typeface="Palatino Linotype"/>
              </a:rPr>
              <a:t>in</a:t>
            </a:r>
            <a:r>
              <a:rPr sz="1400" kern="1200" spc="-5" dirty="0">
                <a:solidFill>
                  <a:srgbClr val="A6A6A6"/>
                </a:solidFill>
                <a:latin typeface="Palatino Linotype"/>
                <a:cs typeface="Palatino Linotype"/>
              </a:rPr>
              <a:t> any</a:t>
            </a:r>
            <a:r>
              <a:rPr sz="1400" kern="1200" spc="-10" dirty="0">
                <a:solidFill>
                  <a:srgbClr val="A6A6A6"/>
                </a:solidFill>
                <a:latin typeface="Palatino Linotype"/>
                <a:cs typeface="Palatino Linotype"/>
              </a:rPr>
              <a:t> FOLLOW</a:t>
            </a:r>
            <a:r>
              <a:rPr sz="1400" kern="1200" spc="-5" dirty="0">
                <a:solidFill>
                  <a:srgbClr val="A6A6A6"/>
                </a:solidFill>
                <a:latin typeface="Palatino Linotype"/>
                <a:cs typeface="Palatino Linotype"/>
              </a:rPr>
              <a:t> set</a:t>
            </a:r>
            <a:endParaRPr sz="1400" kern="1200" dirty="0">
              <a:solidFill>
                <a:prstClr val="black"/>
              </a:solidFill>
              <a:latin typeface="Palatino Linotype"/>
              <a:cs typeface="Palatino Linotype"/>
            </a:endParaRPr>
          </a:p>
        </p:txBody>
      </p:sp>
    </p:spTree>
    <p:extLst>
      <p:ext uri="{BB962C8B-B14F-4D97-AF65-F5344CB8AC3E}">
        <p14:creationId xmlns:p14="http://schemas.microsoft.com/office/powerpoint/2010/main" val="1065761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70</a:t>
            </a:fld>
            <a:endParaRPr lang="en-US"/>
          </a:p>
        </p:txBody>
      </p:sp>
      <p:sp>
        <p:nvSpPr>
          <p:cNvPr id="24" name="object 2">
            <a:extLst>
              <a:ext uri="{FF2B5EF4-FFF2-40B4-BE49-F238E27FC236}">
                <a16:creationId xmlns:a16="http://schemas.microsoft.com/office/drawing/2014/main" id="{C3B47016-8A97-B6F3-4579-2639E6F31B03}"/>
              </a:ext>
            </a:extLst>
          </p:cNvPr>
          <p:cNvSpPr txBox="1">
            <a:spLocks/>
          </p:cNvSpPr>
          <p:nvPr/>
        </p:nvSpPr>
        <p:spPr>
          <a:xfrm>
            <a:off x="707390" y="524763"/>
            <a:ext cx="44088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FOLLOW</a:t>
            </a:r>
            <a:r>
              <a:rPr kumimoji="0" lang="en-US" sz="4000" b="1" i="0" u="none" strike="noStrike" kern="0" cap="none" spc="-9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5" name="object 3">
            <a:extLst>
              <a:ext uri="{FF2B5EF4-FFF2-40B4-BE49-F238E27FC236}">
                <a16:creationId xmlns:a16="http://schemas.microsoft.com/office/drawing/2014/main" id="{559FDB3F-F3CF-9A6A-28A9-DC45B4498AE8}"/>
              </a:ext>
            </a:extLst>
          </p:cNvPr>
          <p:cNvSpPr txBox="1"/>
          <p:nvPr/>
        </p:nvSpPr>
        <p:spPr>
          <a:xfrm>
            <a:off x="707390" y="1657603"/>
            <a:ext cx="1595755" cy="391160"/>
          </a:xfrm>
          <a:prstGeom prst="rect">
            <a:avLst/>
          </a:prstGeom>
        </p:spPr>
        <p:txBody>
          <a:bodyPr vert="horz" wrap="square" lIns="0" tIns="12700" rIns="0" bIns="0" rtlCol="0">
            <a:spAutoFit/>
          </a:bodyPr>
          <a:lstStyle/>
          <a:p>
            <a:pPr marL="243204" indent="-230504" rtl="0">
              <a:spcBef>
                <a:spcPts val="100"/>
              </a:spcBef>
              <a:buFont typeface="Arial MT"/>
              <a:buChar char="•"/>
              <a:tabLst>
                <a:tab pos="243204" algn="l"/>
              </a:tabLst>
            </a:pPr>
            <a:r>
              <a:rPr sz="2400" b="1" kern="1200" dirty="0">
                <a:solidFill>
                  <a:prstClr val="black"/>
                </a:solidFill>
                <a:latin typeface="Palatino Linotype"/>
                <a:cs typeface="Palatino Linotype"/>
              </a:rPr>
              <a:t>Grammar</a:t>
            </a:r>
            <a:endParaRPr sz="2400" kern="1200">
              <a:solidFill>
                <a:prstClr val="black"/>
              </a:solidFill>
              <a:latin typeface="Palatino Linotype"/>
              <a:cs typeface="Palatino Linotype"/>
            </a:endParaRPr>
          </a:p>
        </p:txBody>
      </p:sp>
      <p:sp>
        <p:nvSpPr>
          <p:cNvPr id="26" name="object 4">
            <a:extLst>
              <a:ext uri="{FF2B5EF4-FFF2-40B4-BE49-F238E27FC236}">
                <a16:creationId xmlns:a16="http://schemas.microsoft.com/office/drawing/2014/main" id="{D4A93CAC-5A32-1FDF-AF5A-AC9B12128A5F}"/>
              </a:ext>
            </a:extLst>
          </p:cNvPr>
          <p:cNvSpPr txBox="1"/>
          <p:nvPr/>
        </p:nvSpPr>
        <p:spPr>
          <a:xfrm>
            <a:off x="1164589" y="2025395"/>
            <a:ext cx="1151890" cy="915669"/>
          </a:xfrm>
          <a:prstGeom prst="rect">
            <a:avLst/>
          </a:prstGeom>
        </p:spPr>
        <p:txBody>
          <a:bodyPr vert="horz" wrap="square" lIns="0" tIns="153035" rIns="0" bIns="0" rtlCol="0">
            <a:spAutoFit/>
          </a:bodyPr>
          <a:lstStyle/>
          <a:p>
            <a:pPr marL="241300" indent="-228600" rtl="0">
              <a:spcBef>
                <a:spcPts val="1205"/>
              </a:spcBef>
              <a:buFont typeface="Wingdings"/>
              <a:buChar char=""/>
              <a:tabLst>
                <a:tab pos="241300" algn="l"/>
              </a:tabLst>
            </a:pPr>
            <a:r>
              <a:rPr sz="2000" kern="1200" dirty="0">
                <a:solidFill>
                  <a:prstClr val="black"/>
                </a:solidFill>
                <a:latin typeface="Cambria Math"/>
                <a:cs typeface="Cambria Math"/>
              </a:rPr>
              <a:t>𝐸</a:t>
            </a:r>
            <a:r>
              <a:rPr sz="2000" kern="1200" spc="14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70" dirty="0">
                <a:solidFill>
                  <a:prstClr val="black"/>
                </a:solidFill>
                <a:latin typeface="Cambria Math"/>
                <a:cs typeface="Cambria Math"/>
              </a:rPr>
              <a:t> </a:t>
            </a:r>
            <a:r>
              <a:rPr sz="2000" kern="1200" spc="-5" dirty="0">
                <a:solidFill>
                  <a:prstClr val="black"/>
                </a:solidFill>
                <a:latin typeface="Cambria Math"/>
                <a:cs typeface="Cambria Math"/>
              </a:rPr>
              <a:t>𝑇𝐸′</a:t>
            </a:r>
            <a:endParaRPr sz="2000" kern="1200">
              <a:solidFill>
                <a:prstClr val="black"/>
              </a:solidFill>
              <a:latin typeface="Cambria Math"/>
              <a:cs typeface="Cambria Math"/>
            </a:endParaRPr>
          </a:p>
          <a:p>
            <a:pPr marL="241300" indent="-228600" rtl="0">
              <a:spcBef>
                <a:spcPts val="1100"/>
              </a:spcBef>
              <a:buFont typeface="Wingdings"/>
              <a:buChar char=""/>
              <a:tabLst>
                <a:tab pos="241300" algn="l"/>
              </a:tabLst>
            </a:pPr>
            <a:r>
              <a:rPr sz="2000" kern="1200" dirty="0">
                <a:solidFill>
                  <a:prstClr val="black"/>
                </a:solidFill>
                <a:latin typeface="Cambria Math"/>
                <a:cs typeface="Cambria Math"/>
              </a:rPr>
              <a:t>𝑇</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70" dirty="0">
                <a:solidFill>
                  <a:prstClr val="black"/>
                </a:solidFill>
                <a:latin typeface="Cambria Math"/>
                <a:cs typeface="Cambria Math"/>
              </a:rPr>
              <a:t> </a:t>
            </a:r>
            <a:r>
              <a:rPr sz="2000" kern="1200" spc="-5" dirty="0">
                <a:solidFill>
                  <a:prstClr val="black"/>
                </a:solidFill>
                <a:latin typeface="Cambria Math"/>
                <a:cs typeface="Cambria Math"/>
              </a:rPr>
              <a:t>𝐹𝑇′</a:t>
            </a:r>
            <a:endParaRPr sz="2000" kern="1200">
              <a:solidFill>
                <a:prstClr val="black"/>
              </a:solidFill>
              <a:latin typeface="Cambria Math"/>
              <a:cs typeface="Cambria Math"/>
            </a:endParaRPr>
          </a:p>
        </p:txBody>
      </p:sp>
      <p:sp>
        <p:nvSpPr>
          <p:cNvPr id="27" name="object 5">
            <a:extLst>
              <a:ext uri="{FF2B5EF4-FFF2-40B4-BE49-F238E27FC236}">
                <a16:creationId xmlns:a16="http://schemas.microsoft.com/office/drawing/2014/main" id="{06F3A894-151B-87E2-4864-BB91D6C52054}"/>
              </a:ext>
            </a:extLst>
          </p:cNvPr>
          <p:cNvSpPr/>
          <p:nvPr/>
        </p:nvSpPr>
        <p:spPr>
          <a:xfrm>
            <a:off x="6748116" y="2687621"/>
            <a:ext cx="335280" cy="235585"/>
          </a:xfrm>
          <a:custGeom>
            <a:avLst/>
            <a:gdLst/>
            <a:ahLst/>
            <a:cxnLst/>
            <a:rect l="l" t="t" r="r" b="b"/>
            <a:pathLst>
              <a:path w="335279" h="235585">
                <a:moveTo>
                  <a:pt x="259802" y="0"/>
                </a:moveTo>
                <a:lnTo>
                  <a:pt x="256454" y="9549"/>
                </a:lnTo>
                <a:lnTo>
                  <a:pt x="270073" y="15459"/>
                </a:lnTo>
                <a:lnTo>
                  <a:pt x="281785" y="23641"/>
                </a:lnTo>
                <a:lnTo>
                  <a:pt x="305567" y="61565"/>
                </a:lnTo>
                <a:lnTo>
                  <a:pt x="313381" y="116457"/>
                </a:lnTo>
                <a:lnTo>
                  <a:pt x="312509" y="137208"/>
                </a:lnTo>
                <a:lnTo>
                  <a:pt x="299429" y="188019"/>
                </a:lnTo>
                <a:lnTo>
                  <a:pt x="270233" y="219784"/>
                </a:lnTo>
                <a:lnTo>
                  <a:pt x="256827" y="225722"/>
                </a:lnTo>
                <a:lnTo>
                  <a:pt x="259802" y="235272"/>
                </a:lnTo>
                <a:lnTo>
                  <a:pt x="304753" y="208564"/>
                </a:lnTo>
                <a:lnTo>
                  <a:pt x="329999" y="159260"/>
                </a:lnTo>
                <a:lnTo>
                  <a:pt x="334836" y="117697"/>
                </a:lnTo>
                <a:lnTo>
                  <a:pt x="333623" y="96129"/>
                </a:lnTo>
                <a:lnTo>
                  <a:pt x="323919" y="57898"/>
                </a:lnTo>
                <a:lnTo>
                  <a:pt x="291816" y="15083"/>
                </a:lnTo>
                <a:lnTo>
                  <a:pt x="276860" y="6158"/>
                </a:lnTo>
                <a:lnTo>
                  <a:pt x="259802" y="0"/>
                </a:lnTo>
                <a:close/>
              </a:path>
              <a:path w="335279" h="235585">
                <a:moveTo>
                  <a:pt x="75034" y="0"/>
                </a:moveTo>
                <a:lnTo>
                  <a:pt x="30164" y="26776"/>
                </a:lnTo>
                <a:lnTo>
                  <a:pt x="4852" y="76196"/>
                </a:lnTo>
                <a:lnTo>
                  <a:pt x="0" y="117697"/>
                </a:lnTo>
                <a:lnTo>
                  <a:pt x="1209" y="139312"/>
                </a:lnTo>
                <a:lnTo>
                  <a:pt x="10882" y="177542"/>
                </a:lnTo>
                <a:lnTo>
                  <a:pt x="42942" y="220219"/>
                </a:lnTo>
                <a:lnTo>
                  <a:pt x="75034" y="235272"/>
                </a:lnTo>
                <a:lnTo>
                  <a:pt x="78009" y="225722"/>
                </a:lnTo>
                <a:lnTo>
                  <a:pt x="64603" y="219784"/>
                </a:lnTo>
                <a:lnTo>
                  <a:pt x="53035" y="211521"/>
                </a:lnTo>
                <a:lnTo>
                  <a:pt x="29304" y="172989"/>
                </a:lnTo>
                <a:lnTo>
                  <a:pt x="21455" y="116457"/>
                </a:lnTo>
                <a:lnTo>
                  <a:pt x="22327" y="96385"/>
                </a:lnTo>
                <a:lnTo>
                  <a:pt x="35408" y="46818"/>
                </a:lnTo>
                <a:lnTo>
                  <a:pt x="64813" y="15459"/>
                </a:lnTo>
                <a:lnTo>
                  <a:pt x="78381"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6">
            <a:extLst>
              <a:ext uri="{FF2B5EF4-FFF2-40B4-BE49-F238E27FC236}">
                <a16:creationId xmlns:a16="http://schemas.microsoft.com/office/drawing/2014/main" id="{49DFD61B-6324-9088-1036-ABAF82DECB85}"/>
              </a:ext>
            </a:extLst>
          </p:cNvPr>
          <p:cNvSpPr txBox="1"/>
          <p:nvPr/>
        </p:nvSpPr>
        <p:spPr>
          <a:xfrm>
            <a:off x="3399790" y="2025395"/>
            <a:ext cx="4176395" cy="915669"/>
          </a:xfrm>
          <a:prstGeom prst="rect">
            <a:avLst/>
          </a:prstGeom>
        </p:spPr>
        <p:txBody>
          <a:bodyPr vert="horz" wrap="square" lIns="0" tIns="153035" rIns="0" bIns="0" rtlCol="0">
            <a:spAutoFit/>
          </a:bodyPr>
          <a:lstStyle/>
          <a:p>
            <a:pPr marL="63500" rtl="0">
              <a:spcBef>
                <a:spcPts val="1205"/>
              </a:spcBef>
            </a:pPr>
            <a:r>
              <a:rPr sz="2000" kern="1200" spc="125" dirty="0">
                <a:solidFill>
                  <a:prstClr val="black"/>
                </a:solidFill>
                <a:latin typeface="Cambria Math"/>
                <a:cs typeface="Cambria Math"/>
              </a:rPr>
              <a:t>𝐸</a:t>
            </a:r>
            <a:r>
              <a:rPr sz="2250" kern="1200" spc="187" baseline="25925" dirty="0">
                <a:solidFill>
                  <a:prstClr val="black"/>
                </a:solidFill>
                <a:latin typeface="Cambria Math"/>
                <a:cs typeface="Cambria Math"/>
              </a:rPr>
              <a:t>'</a:t>
            </a:r>
            <a:r>
              <a:rPr sz="2250" kern="1200" spc="412" baseline="259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95" dirty="0">
                <a:solidFill>
                  <a:prstClr val="black"/>
                </a:solidFill>
                <a:latin typeface="Cambria Math"/>
                <a:cs typeface="Cambria Math"/>
              </a:rPr>
              <a:t> </a:t>
            </a:r>
            <a:r>
              <a:rPr sz="2000" kern="1200" spc="70" dirty="0">
                <a:solidFill>
                  <a:prstClr val="black"/>
                </a:solidFill>
                <a:latin typeface="Cambria Math"/>
                <a:cs typeface="Cambria Math"/>
              </a:rPr>
              <a:t>+𝑇𝐸</a:t>
            </a:r>
            <a:r>
              <a:rPr sz="2250" kern="1200" spc="104" baseline="25925" dirty="0">
                <a:solidFill>
                  <a:prstClr val="black"/>
                </a:solidFill>
                <a:latin typeface="Cambria Math"/>
                <a:cs typeface="Cambria Math"/>
              </a:rPr>
              <a:t>'</a:t>
            </a:r>
            <a:r>
              <a:rPr sz="2250" kern="1200" spc="247" baseline="259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 dirty="0">
                <a:solidFill>
                  <a:prstClr val="black"/>
                </a:solidFill>
                <a:latin typeface="Cambria Math"/>
                <a:cs typeface="Cambria Math"/>
              </a:rPr>
              <a:t> </a:t>
            </a:r>
            <a:r>
              <a:rPr sz="2000" kern="1200" dirty="0">
                <a:solidFill>
                  <a:prstClr val="black"/>
                </a:solidFill>
                <a:latin typeface="Cambria Math"/>
                <a:cs typeface="Cambria Math"/>
              </a:rPr>
              <a:t>𝜖</a:t>
            </a:r>
            <a:endParaRPr sz="2000" kern="1200">
              <a:solidFill>
                <a:prstClr val="black"/>
              </a:solidFill>
              <a:latin typeface="Cambria Math"/>
              <a:cs typeface="Cambria Math"/>
            </a:endParaRPr>
          </a:p>
          <a:p>
            <a:pPr marL="63500" rtl="0">
              <a:spcBef>
                <a:spcPts val="1100"/>
              </a:spcBef>
              <a:tabLst>
                <a:tab pos="2806065" algn="l"/>
                <a:tab pos="3430904" algn="l"/>
                <a:tab pos="3760470" algn="l"/>
              </a:tabLst>
            </a:pPr>
            <a:r>
              <a:rPr sz="2000" kern="1200" spc="135" dirty="0">
                <a:solidFill>
                  <a:prstClr val="black"/>
                </a:solidFill>
                <a:latin typeface="Cambria Math"/>
                <a:cs typeface="Cambria Math"/>
              </a:rPr>
              <a:t>𝑇</a:t>
            </a:r>
            <a:r>
              <a:rPr sz="2250" kern="1200" spc="202" baseline="25925" dirty="0">
                <a:solidFill>
                  <a:prstClr val="black"/>
                </a:solidFill>
                <a:latin typeface="Cambria Math"/>
                <a:cs typeface="Cambria Math"/>
              </a:rPr>
              <a:t>'</a:t>
            </a:r>
            <a:r>
              <a:rPr sz="2250" kern="1200" spc="450" baseline="25925" dirty="0">
                <a:solidFill>
                  <a:prstClr val="black"/>
                </a:solidFill>
                <a:latin typeface="Cambria Math"/>
                <a:cs typeface="Cambria Math"/>
              </a:rPr>
              <a:t> </a:t>
            </a:r>
            <a:r>
              <a:rPr sz="2000" kern="1200" spc="-5" dirty="0">
                <a:solidFill>
                  <a:prstClr val="black"/>
                </a:solidFill>
                <a:latin typeface="Cambria Math"/>
                <a:cs typeface="Cambria Math"/>
              </a:rPr>
              <a:t>→∗</a:t>
            </a:r>
            <a:r>
              <a:rPr sz="2000" kern="1200" dirty="0">
                <a:solidFill>
                  <a:prstClr val="black"/>
                </a:solidFill>
                <a:latin typeface="Cambria Math"/>
                <a:cs typeface="Cambria Math"/>
              </a:rPr>
              <a:t> </a:t>
            </a:r>
            <a:r>
              <a:rPr sz="2000" kern="1200" spc="114" dirty="0">
                <a:solidFill>
                  <a:prstClr val="black"/>
                </a:solidFill>
                <a:latin typeface="Cambria Math"/>
                <a:cs typeface="Cambria Math"/>
              </a:rPr>
              <a:t>𝐹𝑇</a:t>
            </a:r>
            <a:r>
              <a:rPr sz="2250" kern="1200" spc="172" baseline="25925" dirty="0">
                <a:solidFill>
                  <a:prstClr val="black"/>
                </a:solidFill>
                <a:latin typeface="Cambria Math"/>
                <a:cs typeface="Cambria Math"/>
              </a:rPr>
              <a:t>'</a:t>
            </a:r>
            <a:r>
              <a:rPr sz="2250" kern="1200" spc="277" baseline="259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prstClr val="black"/>
                </a:solidFill>
                <a:latin typeface="Cambria Math"/>
                <a:cs typeface="Cambria Math"/>
              </a:rPr>
              <a:t>𝜖	𝐹</a:t>
            </a:r>
            <a:r>
              <a:rPr sz="2000" kern="1200" spc="195" dirty="0">
                <a:solidFill>
                  <a:prstClr val="black"/>
                </a:solidFill>
                <a:latin typeface="Cambria Math"/>
                <a:cs typeface="Cambria Math"/>
              </a:rPr>
              <a:t> </a:t>
            </a:r>
            <a:r>
              <a:rPr sz="2000" kern="1200" dirty="0">
                <a:solidFill>
                  <a:prstClr val="black"/>
                </a:solidFill>
                <a:latin typeface="Cambria Math"/>
                <a:cs typeface="Cambria Math"/>
              </a:rPr>
              <a:t>→	𝐸	|</a:t>
            </a:r>
            <a:r>
              <a:rPr sz="2000" kern="1200" spc="-55" dirty="0">
                <a:solidFill>
                  <a:prstClr val="black"/>
                </a:solidFill>
                <a:latin typeface="Cambria Math"/>
                <a:cs typeface="Cambria Math"/>
              </a:rPr>
              <a:t> </a:t>
            </a:r>
            <a:r>
              <a:rPr sz="2000" kern="1200" dirty="0">
                <a:solidFill>
                  <a:prstClr val="black"/>
                </a:solidFill>
                <a:latin typeface="Cambria Math"/>
                <a:cs typeface="Cambria Math"/>
              </a:rPr>
              <a:t>𝐢𝐝</a:t>
            </a:r>
            <a:endParaRPr sz="2000" kern="1200">
              <a:solidFill>
                <a:prstClr val="black"/>
              </a:solidFill>
              <a:latin typeface="Cambria Math"/>
              <a:cs typeface="Cambria Math"/>
            </a:endParaRPr>
          </a:p>
        </p:txBody>
      </p:sp>
      <p:sp>
        <p:nvSpPr>
          <p:cNvPr id="29" name="object 7">
            <a:extLst>
              <a:ext uri="{FF2B5EF4-FFF2-40B4-BE49-F238E27FC236}">
                <a16:creationId xmlns:a16="http://schemas.microsoft.com/office/drawing/2014/main" id="{5A5DCBC5-7478-D06C-E239-CC9414708B63}"/>
              </a:ext>
            </a:extLst>
          </p:cNvPr>
          <p:cNvSpPr txBox="1"/>
          <p:nvPr/>
        </p:nvSpPr>
        <p:spPr>
          <a:xfrm>
            <a:off x="707390" y="3209035"/>
            <a:ext cx="2207895" cy="391160"/>
          </a:xfrm>
          <a:prstGeom prst="rect">
            <a:avLst/>
          </a:prstGeom>
        </p:spPr>
        <p:txBody>
          <a:bodyPr vert="horz" wrap="square" lIns="0" tIns="12700" rIns="0" bIns="0" rtlCol="0">
            <a:spAutoFit/>
          </a:bodyPr>
          <a:lstStyle/>
          <a:p>
            <a:pPr marL="243204" indent="-230504" rtl="0">
              <a:spcBef>
                <a:spcPts val="100"/>
              </a:spcBef>
              <a:buFont typeface="Arial MT"/>
              <a:buChar char="•"/>
              <a:tabLst>
                <a:tab pos="243204" algn="l"/>
              </a:tabLst>
            </a:pPr>
            <a:r>
              <a:rPr sz="2400" b="1" kern="1200" spc="-5" dirty="0">
                <a:solidFill>
                  <a:prstClr val="black"/>
                </a:solidFill>
                <a:latin typeface="Palatino Linotype"/>
                <a:cs typeface="Palatino Linotype"/>
              </a:rPr>
              <a:t>FOLLOW</a:t>
            </a:r>
            <a:r>
              <a:rPr sz="2400" b="1" kern="1200" spc="-60" dirty="0">
                <a:solidFill>
                  <a:prstClr val="black"/>
                </a:solidFill>
                <a:latin typeface="Palatino Linotype"/>
                <a:cs typeface="Palatino Linotype"/>
              </a:rPr>
              <a:t> </a:t>
            </a:r>
            <a:r>
              <a:rPr sz="2400" b="1" kern="1200" spc="-5" dirty="0">
                <a:solidFill>
                  <a:prstClr val="black"/>
                </a:solidFill>
                <a:latin typeface="Palatino Linotype"/>
                <a:cs typeface="Palatino Linotype"/>
              </a:rPr>
              <a:t>sets</a:t>
            </a:r>
            <a:endParaRPr sz="2400" kern="1200">
              <a:solidFill>
                <a:prstClr val="black"/>
              </a:solidFill>
              <a:latin typeface="Palatino Linotype"/>
              <a:cs typeface="Palatino Linotype"/>
            </a:endParaRPr>
          </a:p>
        </p:txBody>
      </p:sp>
      <p:sp>
        <p:nvSpPr>
          <p:cNvPr id="30" name="object 8">
            <a:extLst>
              <a:ext uri="{FF2B5EF4-FFF2-40B4-BE49-F238E27FC236}">
                <a16:creationId xmlns:a16="http://schemas.microsoft.com/office/drawing/2014/main" id="{EE5E5F0F-1BA0-5FF1-D69D-2D6C89F04440}"/>
              </a:ext>
            </a:extLst>
          </p:cNvPr>
          <p:cNvSpPr txBox="1"/>
          <p:nvPr/>
        </p:nvSpPr>
        <p:spPr>
          <a:xfrm>
            <a:off x="1164589" y="3717035"/>
            <a:ext cx="141605" cy="330200"/>
          </a:xfrm>
          <a:prstGeom prst="rect">
            <a:avLst/>
          </a:prstGeom>
        </p:spPr>
        <p:txBody>
          <a:bodyPr vert="horz" wrap="square" lIns="0" tIns="12700" rIns="0" bIns="0" rtlCol="0">
            <a:spAutoFit/>
          </a:bodyPr>
          <a:lstStyle/>
          <a:p>
            <a:pPr marL="12700" rtl="0">
              <a:spcBef>
                <a:spcPts val="100"/>
              </a:spcBef>
            </a:pPr>
            <a:r>
              <a:rPr sz="2000" kern="1200" dirty="0">
                <a:solidFill>
                  <a:prstClr val="black"/>
                </a:solidFill>
                <a:latin typeface="Wingdings"/>
                <a:cs typeface="Wingdings"/>
              </a:rPr>
              <a:t></a:t>
            </a:r>
            <a:endParaRPr sz="2000" kern="1200">
              <a:solidFill>
                <a:prstClr val="black"/>
              </a:solidFill>
              <a:latin typeface="Wingdings"/>
              <a:cs typeface="Wingdings"/>
            </a:endParaRPr>
          </a:p>
        </p:txBody>
      </p:sp>
      <p:sp>
        <p:nvSpPr>
          <p:cNvPr id="31" name="object 9">
            <a:extLst>
              <a:ext uri="{FF2B5EF4-FFF2-40B4-BE49-F238E27FC236}">
                <a16:creationId xmlns:a16="http://schemas.microsoft.com/office/drawing/2014/main" id="{69293F4E-5DAD-6A1D-C3CF-5D5C585E9336}"/>
              </a:ext>
            </a:extLst>
          </p:cNvPr>
          <p:cNvSpPr/>
          <p:nvPr/>
        </p:nvSpPr>
        <p:spPr>
          <a:xfrm>
            <a:off x="2399763" y="3792520"/>
            <a:ext cx="335280" cy="235585"/>
          </a:xfrm>
          <a:custGeom>
            <a:avLst/>
            <a:gdLst/>
            <a:ahLst/>
            <a:cxnLst/>
            <a:rect l="l" t="t" r="r" b="b"/>
            <a:pathLst>
              <a:path w="335280" h="235585">
                <a:moveTo>
                  <a:pt x="259803" y="0"/>
                </a:moveTo>
                <a:lnTo>
                  <a:pt x="256454" y="9549"/>
                </a:lnTo>
                <a:lnTo>
                  <a:pt x="270073" y="15459"/>
                </a:lnTo>
                <a:lnTo>
                  <a:pt x="281786" y="23641"/>
                </a:lnTo>
                <a:lnTo>
                  <a:pt x="305568" y="61565"/>
                </a:lnTo>
                <a:lnTo>
                  <a:pt x="313381" y="116457"/>
                </a:lnTo>
                <a:lnTo>
                  <a:pt x="312509" y="137208"/>
                </a:lnTo>
                <a:lnTo>
                  <a:pt x="299429" y="188018"/>
                </a:lnTo>
                <a:lnTo>
                  <a:pt x="270233" y="219784"/>
                </a:lnTo>
                <a:lnTo>
                  <a:pt x="256827" y="225722"/>
                </a:lnTo>
                <a:lnTo>
                  <a:pt x="259803" y="235271"/>
                </a:lnTo>
                <a:lnTo>
                  <a:pt x="304753" y="208563"/>
                </a:lnTo>
                <a:lnTo>
                  <a:pt x="330000" y="159260"/>
                </a:lnTo>
                <a:lnTo>
                  <a:pt x="334838" y="117697"/>
                </a:lnTo>
                <a:lnTo>
                  <a:pt x="333624" y="96129"/>
                </a:lnTo>
                <a:lnTo>
                  <a:pt x="323919" y="57898"/>
                </a:lnTo>
                <a:lnTo>
                  <a:pt x="291816" y="15083"/>
                </a:lnTo>
                <a:lnTo>
                  <a:pt x="276860" y="6158"/>
                </a:lnTo>
                <a:lnTo>
                  <a:pt x="259803" y="0"/>
                </a:lnTo>
                <a:close/>
              </a:path>
              <a:path w="335280" h="235585">
                <a:moveTo>
                  <a:pt x="75034" y="0"/>
                </a:moveTo>
                <a:lnTo>
                  <a:pt x="30164" y="26776"/>
                </a:lnTo>
                <a:lnTo>
                  <a:pt x="4852" y="76196"/>
                </a:lnTo>
                <a:lnTo>
                  <a:pt x="0" y="117697"/>
                </a:lnTo>
                <a:lnTo>
                  <a:pt x="1209" y="139312"/>
                </a:lnTo>
                <a:lnTo>
                  <a:pt x="10882" y="177542"/>
                </a:lnTo>
                <a:lnTo>
                  <a:pt x="42942" y="220218"/>
                </a:lnTo>
                <a:lnTo>
                  <a:pt x="75034" y="235271"/>
                </a:lnTo>
                <a:lnTo>
                  <a:pt x="78011" y="225722"/>
                </a:lnTo>
                <a:lnTo>
                  <a:pt x="64604" y="219784"/>
                </a:lnTo>
                <a:lnTo>
                  <a:pt x="53035" y="211521"/>
                </a:lnTo>
                <a:lnTo>
                  <a:pt x="29304" y="172988"/>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10">
            <a:extLst>
              <a:ext uri="{FF2B5EF4-FFF2-40B4-BE49-F238E27FC236}">
                <a16:creationId xmlns:a16="http://schemas.microsoft.com/office/drawing/2014/main" id="{0018338A-31A7-8BB3-D981-0AB6A545E08F}"/>
              </a:ext>
            </a:extLst>
          </p:cNvPr>
          <p:cNvSpPr txBox="1"/>
          <p:nvPr/>
        </p:nvSpPr>
        <p:spPr>
          <a:xfrm>
            <a:off x="1358019" y="3684760"/>
            <a:ext cx="2408555" cy="398780"/>
          </a:xfrm>
          <a:prstGeom prst="rect">
            <a:avLst/>
          </a:prstGeom>
          <a:ln w="12700">
            <a:solidFill>
              <a:srgbClr val="FF0000"/>
            </a:solidFill>
          </a:ln>
        </p:spPr>
        <p:txBody>
          <a:bodyPr vert="horz" wrap="square" lIns="0" tIns="45085" rIns="0" bIns="0" rtlCol="0">
            <a:spAutoFit/>
          </a:bodyPr>
          <a:lstStyle/>
          <a:p>
            <a:pPr marL="47625" rtl="0">
              <a:spcBef>
                <a:spcPts val="355"/>
              </a:spcBef>
              <a:tabLst>
                <a:tab pos="1468755" algn="l"/>
              </a:tabLst>
            </a:pPr>
            <a:r>
              <a:rPr sz="2000" kern="1200" spc="-15" dirty="0">
                <a:solidFill>
                  <a:prstClr val="black"/>
                </a:solidFill>
                <a:latin typeface="Cambria Math"/>
                <a:cs typeface="Cambria Math"/>
              </a:rPr>
              <a:t>F</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L</a:t>
            </a:r>
            <a:r>
              <a:rPr sz="2000" kern="1200" spc="-15" dirty="0">
                <a:solidFill>
                  <a:prstClr val="black"/>
                </a:solidFill>
                <a:latin typeface="Cambria Math"/>
                <a:cs typeface="Cambria Math"/>
              </a:rPr>
              <a:t>L</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W </a:t>
            </a:r>
            <a:r>
              <a:rPr sz="2000" kern="1200" spc="-60" dirty="0">
                <a:solidFill>
                  <a:prstClr val="black"/>
                </a:solidFill>
                <a:latin typeface="Cambria Math"/>
                <a:cs typeface="Cambria Math"/>
              </a:rPr>
              <a:t> </a:t>
            </a:r>
            <a:r>
              <a:rPr sz="2000" kern="1200" dirty="0">
                <a:solidFill>
                  <a:prstClr val="black"/>
                </a:solidFill>
                <a:latin typeface="Cambria Math"/>
                <a:cs typeface="Cambria Math"/>
              </a:rPr>
              <a:t>𝐸	=</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endParaRPr sz="2000" kern="1200">
              <a:solidFill>
                <a:prstClr val="black"/>
              </a:solidFill>
              <a:latin typeface="Cambria Math"/>
              <a:cs typeface="Cambria Math"/>
            </a:endParaRPr>
          </a:p>
        </p:txBody>
      </p:sp>
      <p:sp>
        <p:nvSpPr>
          <p:cNvPr id="33" name="object 11">
            <a:extLst>
              <a:ext uri="{FF2B5EF4-FFF2-40B4-BE49-F238E27FC236}">
                <a16:creationId xmlns:a16="http://schemas.microsoft.com/office/drawing/2014/main" id="{1FFE94C4-A55B-5EB7-2AD4-E95B7ABBEB5D}"/>
              </a:ext>
            </a:extLst>
          </p:cNvPr>
          <p:cNvSpPr/>
          <p:nvPr/>
        </p:nvSpPr>
        <p:spPr>
          <a:xfrm>
            <a:off x="2399763" y="4237020"/>
            <a:ext cx="390525" cy="235585"/>
          </a:xfrm>
          <a:custGeom>
            <a:avLst/>
            <a:gdLst/>
            <a:ahLst/>
            <a:cxnLst/>
            <a:rect l="l" t="t" r="r" b="b"/>
            <a:pathLst>
              <a:path w="390525" h="235585">
                <a:moveTo>
                  <a:pt x="314985" y="0"/>
                </a:moveTo>
                <a:lnTo>
                  <a:pt x="311636" y="9549"/>
                </a:lnTo>
                <a:lnTo>
                  <a:pt x="325255" y="15459"/>
                </a:lnTo>
                <a:lnTo>
                  <a:pt x="336967" y="23641"/>
                </a:lnTo>
                <a:lnTo>
                  <a:pt x="360749" y="61565"/>
                </a:lnTo>
                <a:lnTo>
                  <a:pt x="368562" y="116457"/>
                </a:lnTo>
                <a:lnTo>
                  <a:pt x="367690" y="137208"/>
                </a:lnTo>
                <a:lnTo>
                  <a:pt x="354610" y="188019"/>
                </a:lnTo>
                <a:lnTo>
                  <a:pt x="325414" y="219784"/>
                </a:lnTo>
                <a:lnTo>
                  <a:pt x="312008" y="225722"/>
                </a:lnTo>
                <a:lnTo>
                  <a:pt x="314985" y="235272"/>
                </a:lnTo>
                <a:lnTo>
                  <a:pt x="359935" y="208563"/>
                </a:lnTo>
                <a:lnTo>
                  <a:pt x="385182" y="159260"/>
                </a:lnTo>
                <a:lnTo>
                  <a:pt x="390019" y="117697"/>
                </a:lnTo>
                <a:lnTo>
                  <a:pt x="388806" y="96129"/>
                </a:lnTo>
                <a:lnTo>
                  <a:pt x="379100" y="57898"/>
                </a:lnTo>
                <a:lnTo>
                  <a:pt x="346998" y="15083"/>
                </a:lnTo>
                <a:lnTo>
                  <a:pt x="332042" y="6158"/>
                </a:lnTo>
                <a:lnTo>
                  <a:pt x="314985" y="0"/>
                </a:lnTo>
                <a:close/>
              </a:path>
              <a:path w="390525" h="235585">
                <a:moveTo>
                  <a:pt x="75034" y="0"/>
                </a:moveTo>
                <a:lnTo>
                  <a:pt x="30164" y="26776"/>
                </a:lnTo>
                <a:lnTo>
                  <a:pt x="4852" y="76196"/>
                </a:lnTo>
                <a:lnTo>
                  <a:pt x="0" y="117697"/>
                </a:lnTo>
                <a:lnTo>
                  <a:pt x="1209" y="139312"/>
                </a:lnTo>
                <a:lnTo>
                  <a:pt x="10882" y="177542"/>
                </a:lnTo>
                <a:lnTo>
                  <a:pt x="42942" y="220218"/>
                </a:lnTo>
                <a:lnTo>
                  <a:pt x="75034" y="235272"/>
                </a:lnTo>
                <a:lnTo>
                  <a:pt x="78011" y="225722"/>
                </a:lnTo>
                <a:lnTo>
                  <a:pt x="64604" y="219784"/>
                </a:lnTo>
                <a:lnTo>
                  <a:pt x="53035" y="211521"/>
                </a:lnTo>
                <a:lnTo>
                  <a:pt x="29304" y="172989"/>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12">
            <a:extLst>
              <a:ext uri="{FF2B5EF4-FFF2-40B4-BE49-F238E27FC236}">
                <a16:creationId xmlns:a16="http://schemas.microsoft.com/office/drawing/2014/main" id="{DEAD0815-ACA9-ED05-F59B-7E91B75C8E4C}"/>
              </a:ext>
            </a:extLst>
          </p:cNvPr>
          <p:cNvSpPr txBox="1"/>
          <p:nvPr/>
        </p:nvSpPr>
        <p:spPr>
          <a:xfrm>
            <a:off x="1164589" y="4158996"/>
            <a:ext cx="2517140" cy="330200"/>
          </a:xfrm>
          <a:prstGeom prst="rect">
            <a:avLst/>
          </a:prstGeom>
        </p:spPr>
        <p:txBody>
          <a:bodyPr vert="horz" wrap="square" lIns="0" tIns="12700" rIns="0" bIns="0" rtlCol="0">
            <a:spAutoFit/>
          </a:bodyPr>
          <a:lstStyle/>
          <a:p>
            <a:pPr marL="241300" indent="-228600" rtl="0">
              <a:spcBef>
                <a:spcPts val="100"/>
              </a:spcBef>
              <a:buFont typeface="Wingdings"/>
              <a:buChar char=""/>
              <a:tabLst>
                <a:tab pos="241300" algn="l"/>
                <a:tab pos="1717675" algn="l"/>
              </a:tabLst>
            </a:pPr>
            <a:r>
              <a:rPr sz="2000" kern="1200" spc="-15" dirty="0">
                <a:solidFill>
                  <a:prstClr val="black"/>
                </a:solidFill>
                <a:latin typeface="Cambria Math"/>
                <a:cs typeface="Cambria Math"/>
              </a:rPr>
              <a:t>F</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L</a:t>
            </a:r>
            <a:r>
              <a:rPr sz="2000" kern="1200" spc="-15" dirty="0">
                <a:solidFill>
                  <a:prstClr val="black"/>
                </a:solidFill>
                <a:latin typeface="Cambria Math"/>
                <a:cs typeface="Cambria Math"/>
              </a:rPr>
              <a:t>L</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W </a:t>
            </a:r>
            <a:r>
              <a:rPr sz="2000" kern="1200" spc="-60" dirty="0">
                <a:solidFill>
                  <a:prstClr val="black"/>
                </a:solidFill>
                <a:latin typeface="Cambria Math"/>
                <a:cs typeface="Cambria Math"/>
              </a:rPr>
              <a:t> </a:t>
            </a:r>
            <a:r>
              <a:rPr sz="2000" kern="1200" dirty="0">
                <a:solidFill>
                  <a:prstClr val="black"/>
                </a:solidFill>
                <a:latin typeface="Cambria Math"/>
                <a:cs typeface="Cambria Math"/>
              </a:rPr>
              <a:t>𝐸′	=</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endParaRPr sz="2000" kern="1200">
              <a:solidFill>
                <a:prstClr val="black"/>
              </a:solidFill>
              <a:latin typeface="Cambria Math"/>
              <a:cs typeface="Cambria Math"/>
            </a:endParaRPr>
          </a:p>
        </p:txBody>
      </p:sp>
      <p:sp>
        <p:nvSpPr>
          <p:cNvPr id="35" name="object 13">
            <a:extLst>
              <a:ext uri="{FF2B5EF4-FFF2-40B4-BE49-F238E27FC236}">
                <a16:creationId xmlns:a16="http://schemas.microsoft.com/office/drawing/2014/main" id="{49B96F50-8E7B-1707-FC22-DB1764B7B2C0}"/>
              </a:ext>
            </a:extLst>
          </p:cNvPr>
          <p:cNvSpPr txBox="1"/>
          <p:nvPr/>
        </p:nvSpPr>
        <p:spPr>
          <a:xfrm>
            <a:off x="1164589" y="4604004"/>
            <a:ext cx="141605" cy="330200"/>
          </a:xfrm>
          <a:prstGeom prst="rect">
            <a:avLst/>
          </a:prstGeom>
        </p:spPr>
        <p:txBody>
          <a:bodyPr vert="horz" wrap="square" lIns="0" tIns="12700" rIns="0" bIns="0" rtlCol="0">
            <a:spAutoFit/>
          </a:bodyPr>
          <a:lstStyle/>
          <a:p>
            <a:pPr marL="12700" rtl="0">
              <a:spcBef>
                <a:spcPts val="100"/>
              </a:spcBef>
            </a:pPr>
            <a:r>
              <a:rPr sz="2000" kern="1200" dirty="0">
                <a:solidFill>
                  <a:prstClr val="black"/>
                </a:solidFill>
                <a:latin typeface="Wingdings"/>
                <a:cs typeface="Wingdings"/>
              </a:rPr>
              <a:t></a:t>
            </a:r>
            <a:endParaRPr sz="2000" kern="1200">
              <a:solidFill>
                <a:prstClr val="black"/>
              </a:solidFill>
              <a:latin typeface="Wingdings"/>
              <a:cs typeface="Wingdings"/>
            </a:endParaRPr>
          </a:p>
        </p:txBody>
      </p:sp>
      <p:sp>
        <p:nvSpPr>
          <p:cNvPr id="36" name="object 14">
            <a:extLst>
              <a:ext uri="{FF2B5EF4-FFF2-40B4-BE49-F238E27FC236}">
                <a16:creationId xmlns:a16="http://schemas.microsoft.com/office/drawing/2014/main" id="{4226AAD2-01E1-5CAF-32B5-F6D76641CF50}"/>
              </a:ext>
            </a:extLst>
          </p:cNvPr>
          <p:cNvSpPr/>
          <p:nvPr/>
        </p:nvSpPr>
        <p:spPr>
          <a:xfrm>
            <a:off x="2399763" y="4681520"/>
            <a:ext cx="322580" cy="235585"/>
          </a:xfrm>
          <a:custGeom>
            <a:avLst/>
            <a:gdLst/>
            <a:ahLst/>
            <a:cxnLst/>
            <a:rect l="l" t="t" r="r" b="b"/>
            <a:pathLst>
              <a:path w="322580" h="235585">
                <a:moveTo>
                  <a:pt x="247547" y="0"/>
                </a:moveTo>
                <a:lnTo>
                  <a:pt x="244199" y="9549"/>
                </a:lnTo>
                <a:lnTo>
                  <a:pt x="257818" y="15459"/>
                </a:lnTo>
                <a:lnTo>
                  <a:pt x="269530" y="23641"/>
                </a:lnTo>
                <a:lnTo>
                  <a:pt x="293312" y="61565"/>
                </a:lnTo>
                <a:lnTo>
                  <a:pt x="301125" y="116457"/>
                </a:lnTo>
                <a:lnTo>
                  <a:pt x="300253" y="137208"/>
                </a:lnTo>
                <a:lnTo>
                  <a:pt x="287173" y="188018"/>
                </a:lnTo>
                <a:lnTo>
                  <a:pt x="257977" y="219784"/>
                </a:lnTo>
                <a:lnTo>
                  <a:pt x="244571" y="225722"/>
                </a:lnTo>
                <a:lnTo>
                  <a:pt x="247547" y="235271"/>
                </a:lnTo>
                <a:lnTo>
                  <a:pt x="292498" y="208563"/>
                </a:lnTo>
                <a:lnTo>
                  <a:pt x="317744" y="159260"/>
                </a:lnTo>
                <a:lnTo>
                  <a:pt x="322581" y="117697"/>
                </a:lnTo>
                <a:lnTo>
                  <a:pt x="321368" y="96129"/>
                </a:lnTo>
                <a:lnTo>
                  <a:pt x="311663" y="57898"/>
                </a:lnTo>
                <a:lnTo>
                  <a:pt x="279561" y="15083"/>
                </a:lnTo>
                <a:lnTo>
                  <a:pt x="264604" y="6158"/>
                </a:lnTo>
                <a:lnTo>
                  <a:pt x="247547" y="0"/>
                </a:lnTo>
                <a:close/>
              </a:path>
              <a:path w="322580" h="235585">
                <a:moveTo>
                  <a:pt x="75034" y="0"/>
                </a:moveTo>
                <a:lnTo>
                  <a:pt x="30164" y="26776"/>
                </a:lnTo>
                <a:lnTo>
                  <a:pt x="4852" y="76196"/>
                </a:lnTo>
                <a:lnTo>
                  <a:pt x="0" y="117697"/>
                </a:lnTo>
                <a:lnTo>
                  <a:pt x="1209" y="139312"/>
                </a:lnTo>
                <a:lnTo>
                  <a:pt x="10882" y="177542"/>
                </a:lnTo>
                <a:lnTo>
                  <a:pt x="42942" y="220218"/>
                </a:lnTo>
                <a:lnTo>
                  <a:pt x="75034" y="235271"/>
                </a:lnTo>
                <a:lnTo>
                  <a:pt x="78011" y="225722"/>
                </a:lnTo>
                <a:lnTo>
                  <a:pt x="64604" y="219784"/>
                </a:lnTo>
                <a:lnTo>
                  <a:pt x="53035" y="211521"/>
                </a:lnTo>
                <a:lnTo>
                  <a:pt x="29304" y="172988"/>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7" name="object 15">
            <a:extLst>
              <a:ext uri="{FF2B5EF4-FFF2-40B4-BE49-F238E27FC236}">
                <a16:creationId xmlns:a16="http://schemas.microsoft.com/office/drawing/2014/main" id="{EB8073C8-C5BE-0864-6058-62AB129B6E1B}"/>
              </a:ext>
            </a:extLst>
          </p:cNvPr>
          <p:cNvSpPr txBox="1"/>
          <p:nvPr/>
        </p:nvSpPr>
        <p:spPr>
          <a:xfrm>
            <a:off x="1358019" y="4568719"/>
            <a:ext cx="2680335" cy="398780"/>
          </a:xfrm>
          <a:prstGeom prst="rect">
            <a:avLst/>
          </a:prstGeom>
          <a:ln w="12700">
            <a:solidFill>
              <a:srgbClr val="0432FF"/>
            </a:solidFill>
          </a:ln>
        </p:spPr>
        <p:txBody>
          <a:bodyPr vert="horz" wrap="square" lIns="0" tIns="47625" rIns="0" bIns="0" rtlCol="0">
            <a:spAutoFit/>
          </a:bodyPr>
          <a:lstStyle/>
          <a:p>
            <a:pPr marL="47625" rtl="0">
              <a:spcBef>
                <a:spcPts val="375"/>
              </a:spcBef>
              <a:tabLst>
                <a:tab pos="1456690" algn="l"/>
              </a:tabLst>
            </a:pPr>
            <a:r>
              <a:rPr sz="2000" kern="1200" spc="-15" dirty="0">
                <a:solidFill>
                  <a:prstClr val="black"/>
                </a:solidFill>
                <a:latin typeface="Cambria Math"/>
                <a:cs typeface="Cambria Math"/>
              </a:rPr>
              <a:t>F</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L</a:t>
            </a:r>
            <a:r>
              <a:rPr sz="2000" kern="1200" spc="-15" dirty="0">
                <a:solidFill>
                  <a:prstClr val="black"/>
                </a:solidFill>
                <a:latin typeface="Cambria Math"/>
                <a:cs typeface="Cambria Math"/>
              </a:rPr>
              <a:t>L</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W </a:t>
            </a:r>
            <a:r>
              <a:rPr sz="2000" kern="1200" spc="-60" dirty="0">
                <a:solidFill>
                  <a:prstClr val="black"/>
                </a:solidFill>
                <a:latin typeface="Cambria Math"/>
                <a:cs typeface="Cambria Math"/>
              </a:rPr>
              <a:t> </a:t>
            </a:r>
            <a:r>
              <a:rPr sz="2000" kern="1200" dirty="0">
                <a:solidFill>
                  <a:prstClr val="black"/>
                </a:solidFill>
                <a:latin typeface="Cambria Math"/>
                <a:cs typeface="Cambria Math"/>
              </a:rPr>
              <a:t>𝑇	=</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endParaRPr sz="2000" kern="1200">
              <a:solidFill>
                <a:prstClr val="black"/>
              </a:solidFill>
              <a:latin typeface="Cambria Math"/>
              <a:cs typeface="Cambria Math"/>
            </a:endParaRPr>
          </a:p>
        </p:txBody>
      </p:sp>
      <p:sp>
        <p:nvSpPr>
          <p:cNvPr id="38" name="object 16">
            <a:extLst>
              <a:ext uri="{FF2B5EF4-FFF2-40B4-BE49-F238E27FC236}">
                <a16:creationId xmlns:a16="http://schemas.microsoft.com/office/drawing/2014/main" id="{573B541A-2C2A-B310-691A-750119020A0F}"/>
              </a:ext>
            </a:extLst>
          </p:cNvPr>
          <p:cNvSpPr/>
          <p:nvPr/>
        </p:nvSpPr>
        <p:spPr>
          <a:xfrm>
            <a:off x="2399763" y="5126020"/>
            <a:ext cx="382270" cy="235585"/>
          </a:xfrm>
          <a:custGeom>
            <a:avLst/>
            <a:gdLst/>
            <a:ahLst/>
            <a:cxnLst/>
            <a:rect l="l" t="t" r="r" b="b"/>
            <a:pathLst>
              <a:path w="382269" h="235585">
                <a:moveTo>
                  <a:pt x="307047" y="0"/>
                </a:moveTo>
                <a:lnTo>
                  <a:pt x="303698" y="9549"/>
                </a:lnTo>
                <a:lnTo>
                  <a:pt x="317317" y="15459"/>
                </a:lnTo>
                <a:lnTo>
                  <a:pt x="329030" y="23641"/>
                </a:lnTo>
                <a:lnTo>
                  <a:pt x="352812" y="61565"/>
                </a:lnTo>
                <a:lnTo>
                  <a:pt x="360625" y="116457"/>
                </a:lnTo>
                <a:lnTo>
                  <a:pt x="359753" y="137208"/>
                </a:lnTo>
                <a:lnTo>
                  <a:pt x="346673" y="188018"/>
                </a:lnTo>
                <a:lnTo>
                  <a:pt x="317477" y="219784"/>
                </a:lnTo>
                <a:lnTo>
                  <a:pt x="304071" y="225722"/>
                </a:lnTo>
                <a:lnTo>
                  <a:pt x="307047" y="235272"/>
                </a:lnTo>
                <a:lnTo>
                  <a:pt x="351997" y="208563"/>
                </a:lnTo>
                <a:lnTo>
                  <a:pt x="377244" y="159260"/>
                </a:lnTo>
                <a:lnTo>
                  <a:pt x="382082" y="117697"/>
                </a:lnTo>
                <a:lnTo>
                  <a:pt x="380868" y="96129"/>
                </a:lnTo>
                <a:lnTo>
                  <a:pt x="371163" y="57898"/>
                </a:lnTo>
                <a:lnTo>
                  <a:pt x="339061" y="15083"/>
                </a:lnTo>
                <a:lnTo>
                  <a:pt x="324104" y="6158"/>
                </a:lnTo>
                <a:lnTo>
                  <a:pt x="307047" y="0"/>
                </a:lnTo>
                <a:close/>
              </a:path>
              <a:path w="382269" h="235585">
                <a:moveTo>
                  <a:pt x="75034" y="0"/>
                </a:moveTo>
                <a:lnTo>
                  <a:pt x="30164" y="26776"/>
                </a:lnTo>
                <a:lnTo>
                  <a:pt x="4852" y="76196"/>
                </a:lnTo>
                <a:lnTo>
                  <a:pt x="0" y="117697"/>
                </a:lnTo>
                <a:lnTo>
                  <a:pt x="1209" y="139312"/>
                </a:lnTo>
                <a:lnTo>
                  <a:pt x="10882" y="177542"/>
                </a:lnTo>
                <a:lnTo>
                  <a:pt x="42942" y="220218"/>
                </a:lnTo>
                <a:lnTo>
                  <a:pt x="75034" y="235272"/>
                </a:lnTo>
                <a:lnTo>
                  <a:pt x="78011" y="225722"/>
                </a:lnTo>
                <a:lnTo>
                  <a:pt x="64604" y="219784"/>
                </a:lnTo>
                <a:lnTo>
                  <a:pt x="53035" y="211521"/>
                </a:lnTo>
                <a:lnTo>
                  <a:pt x="29304" y="172988"/>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9" name="object 17">
            <a:extLst>
              <a:ext uri="{FF2B5EF4-FFF2-40B4-BE49-F238E27FC236}">
                <a16:creationId xmlns:a16="http://schemas.microsoft.com/office/drawing/2014/main" id="{21ADC038-58D2-19D3-BE08-AF94EF328BF4}"/>
              </a:ext>
            </a:extLst>
          </p:cNvPr>
          <p:cNvSpPr/>
          <p:nvPr/>
        </p:nvSpPr>
        <p:spPr>
          <a:xfrm>
            <a:off x="2399763" y="5570520"/>
            <a:ext cx="332105" cy="235585"/>
          </a:xfrm>
          <a:custGeom>
            <a:avLst/>
            <a:gdLst/>
            <a:ahLst/>
            <a:cxnLst/>
            <a:rect l="l" t="t" r="r" b="b"/>
            <a:pathLst>
              <a:path w="332105" h="235585">
                <a:moveTo>
                  <a:pt x="256628" y="0"/>
                </a:moveTo>
                <a:lnTo>
                  <a:pt x="253279" y="9549"/>
                </a:lnTo>
                <a:lnTo>
                  <a:pt x="266898" y="15459"/>
                </a:lnTo>
                <a:lnTo>
                  <a:pt x="278611" y="23641"/>
                </a:lnTo>
                <a:lnTo>
                  <a:pt x="302393" y="61565"/>
                </a:lnTo>
                <a:lnTo>
                  <a:pt x="310206" y="116457"/>
                </a:lnTo>
                <a:lnTo>
                  <a:pt x="309334" y="137208"/>
                </a:lnTo>
                <a:lnTo>
                  <a:pt x="296254" y="188019"/>
                </a:lnTo>
                <a:lnTo>
                  <a:pt x="267058" y="219784"/>
                </a:lnTo>
                <a:lnTo>
                  <a:pt x="253652" y="225722"/>
                </a:lnTo>
                <a:lnTo>
                  <a:pt x="256628" y="235272"/>
                </a:lnTo>
                <a:lnTo>
                  <a:pt x="301578" y="208564"/>
                </a:lnTo>
                <a:lnTo>
                  <a:pt x="326825" y="159261"/>
                </a:lnTo>
                <a:lnTo>
                  <a:pt x="331663" y="117697"/>
                </a:lnTo>
                <a:lnTo>
                  <a:pt x="330449" y="96129"/>
                </a:lnTo>
                <a:lnTo>
                  <a:pt x="320744" y="57899"/>
                </a:lnTo>
                <a:lnTo>
                  <a:pt x="288641" y="15084"/>
                </a:lnTo>
                <a:lnTo>
                  <a:pt x="273685" y="6158"/>
                </a:lnTo>
                <a:lnTo>
                  <a:pt x="256628" y="0"/>
                </a:lnTo>
                <a:close/>
              </a:path>
              <a:path w="332105" h="235585">
                <a:moveTo>
                  <a:pt x="75034" y="0"/>
                </a:moveTo>
                <a:lnTo>
                  <a:pt x="30164" y="26777"/>
                </a:lnTo>
                <a:lnTo>
                  <a:pt x="4852" y="76196"/>
                </a:lnTo>
                <a:lnTo>
                  <a:pt x="0" y="117697"/>
                </a:lnTo>
                <a:lnTo>
                  <a:pt x="1209" y="139312"/>
                </a:lnTo>
                <a:lnTo>
                  <a:pt x="10882" y="177543"/>
                </a:lnTo>
                <a:lnTo>
                  <a:pt x="42942" y="220218"/>
                </a:lnTo>
                <a:lnTo>
                  <a:pt x="75034" y="235272"/>
                </a:lnTo>
                <a:lnTo>
                  <a:pt x="78011" y="225722"/>
                </a:lnTo>
                <a:lnTo>
                  <a:pt x="64604" y="219784"/>
                </a:lnTo>
                <a:lnTo>
                  <a:pt x="53035" y="211521"/>
                </a:lnTo>
                <a:lnTo>
                  <a:pt x="29304" y="172989"/>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0" name="object 18">
            <a:extLst>
              <a:ext uri="{FF2B5EF4-FFF2-40B4-BE49-F238E27FC236}">
                <a16:creationId xmlns:a16="http://schemas.microsoft.com/office/drawing/2014/main" id="{ABF37EB3-7B02-0B66-DD6E-64BFB90FAF45}"/>
              </a:ext>
            </a:extLst>
          </p:cNvPr>
          <p:cNvSpPr txBox="1"/>
          <p:nvPr/>
        </p:nvSpPr>
        <p:spPr>
          <a:xfrm>
            <a:off x="1164589" y="4908803"/>
            <a:ext cx="2961005" cy="915669"/>
          </a:xfrm>
          <a:prstGeom prst="rect">
            <a:avLst/>
          </a:prstGeom>
        </p:spPr>
        <p:txBody>
          <a:bodyPr vert="horz" wrap="square" lIns="0" tIns="153035" rIns="0" bIns="0" rtlCol="0">
            <a:spAutoFit/>
          </a:bodyPr>
          <a:lstStyle/>
          <a:p>
            <a:pPr marL="241300" indent="-228600" rtl="0">
              <a:spcBef>
                <a:spcPts val="1205"/>
              </a:spcBef>
              <a:buFont typeface="Wingdings"/>
              <a:buChar char=""/>
              <a:tabLst>
                <a:tab pos="241300" algn="l"/>
                <a:tab pos="1710055" algn="l"/>
              </a:tabLst>
            </a:pPr>
            <a:r>
              <a:rPr sz="2000" kern="1200" spc="-15" dirty="0">
                <a:solidFill>
                  <a:prstClr val="black"/>
                </a:solidFill>
                <a:latin typeface="Cambria Math"/>
                <a:cs typeface="Cambria Math"/>
              </a:rPr>
              <a:t>F</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L</a:t>
            </a:r>
            <a:r>
              <a:rPr sz="2000" kern="1200" spc="-15" dirty="0">
                <a:solidFill>
                  <a:prstClr val="black"/>
                </a:solidFill>
                <a:latin typeface="Cambria Math"/>
                <a:cs typeface="Cambria Math"/>
              </a:rPr>
              <a:t>L</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W </a:t>
            </a:r>
            <a:r>
              <a:rPr sz="2000" kern="1200" spc="-60" dirty="0">
                <a:solidFill>
                  <a:prstClr val="black"/>
                </a:solidFill>
                <a:latin typeface="Cambria Math"/>
                <a:cs typeface="Cambria Math"/>
              </a:rPr>
              <a:t> </a:t>
            </a:r>
            <a:r>
              <a:rPr sz="2000" kern="1200" spc="-5" dirty="0">
                <a:solidFill>
                  <a:prstClr val="black"/>
                </a:solidFill>
                <a:latin typeface="Cambria Math"/>
                <a:cs typeface="Cambria Math"/>
              </a:rPr>
              <a:t>𝑇</a:t>
            </a:r>
            <a:r>
              <a:rPr sz="2000" kern="1200" dirty="0">
                <a:solidFill>
                  <a:prstClr val="black"/>
                </a:solidFill>
                <a:latin typeface="Cambria Math"/>
                <a:cs typeface="Cambria Math"/>
              </a:rPr>
              <a:t>′	=</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endParaRPr sz="2000" kern="1200">
              <a:solidFill>
                <a:prstClr val="black"/>
              </a:solidFill>
              <a:latin typeface="Cambria Math"/>
              <a:cs typeface="Cambria Math"/>
            </a:endParaRPr>
          </a:p>
          <a:p>
            <a:pPr marL="241300" indent="-228600" rtl="0">
              <a:spcBef>
                <a:spcPts val="1100"/>
              </a:spcBef>
              <a:buFont typeface="Wingdings"/>
              <a:buChar char=""/>
              <a:tabLst>
                <a:tab pos="241300" algn="l"/>
                <a:tab pos="1659255" algn="l"/>
              </a:tabLst>
            </a:pPr>
            <a:r>
              <a:rPr sz="2000" kern="1200" spc="-15" dirty="0">
                <a:solidFill>
                  <a:prstClr val="black"/>
                </a:solidFill>
                <a:latin typeface="Cambria Math"/>
                <a:cs typeface="Cambria Math"/>
              </a:rPr>
              <a:t>F</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L</a:t>
            </a:r>
            <a:r>
              <a:rPr sz="2000" kern="1200" spc="-15" dirty="0">
                <a:solidFill>
                  <a:prstClr val="black"/>
                </a:solidFill>
                <a:latin typeface="Cambria Math"/>
                <a:cs typeface="Cambria Math"/>
              </a:rPr>
              <a:t>L</a:t>
            </a:r>
            <a:r>
              <a:rPr sz="2000" kern="1200" spc="-5" dirty="0">
                <a:solidFill>
                  <a:prstClr val="black"/>
                </a:solidFill>
                <a:latin typeface="Cambria Math"/>
                <a:cs typeface="Cambria Math"/>
              </a:rPr>
              <a:t>O</a:t>
            </a:r>
            <a:r>
              <a:rPr sz="2000" kern="1200" dirty="0">
                <a:solidFill>
                  <a:prstClr val="black"/>
                </a:solidFill>
                <a:latin typeface="Cambria Math"/>
                <a:cs typeface="Cambria Math"/>
              </a:rPr>
              <a:t>W </a:t>
            </a:r>
            <a:r>
              <a:rPr sz="2000" kern="1200" spc="-60" dirty="0">
                <a:solidFill>
                  <a:prstClr val="black"/>
                </a:solidFill>
                <a:latin typeface="Cambria Math"/>
                <a:cs typeface="Cambria Math"/>
              </a:rPr>
              <a:t> </a:t>
            </a:r>
            <a:r>
              <a:rPr sz="2000" kern="1200" dirty="0">
                <a:solidFill>
                  <a:prstClr val="black"/>
                </a:solidFill>
                <a:latin typeface="Cambria Math"/>
                <a:cs typeface="Cambria Math"/>
              </a:rPr>
              <a:t>𝐹	=</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endParaRPr sz="2000" kern="1200">
              <a:solidFill>
                <a:prstClr val="black"/>
              </a:solidFill>
              <a:latin typeface="Cambria Math"/>
              <a:cs typeface="Cambria Math"/>
            </a:endParaRPr>
          </a:p>
        </p:txBody>
      </p:sp>
      <p:sp>
        <p:nvSpPr>
          <p:cNvPr id="41" name="object 19">
            <a:extLst>
              <a:ext uri="{FF2B5EF4-FFF2-40B4-BE49-F238E27FC236}">
                <a16:creationId xmlns:a16="http://schemas.microsoft.com/office/drawing/2014/main" id="{2F016B94-C15B-63A2-5C64-08056FADA489}"/>
              </a:ext>
            </a:extLst>
          </p:cNvPr>
          <p:cNvSpPr txBox="1"/>
          <p:nvPr/>
        </p:nvSpPr>
        <p:spPr>
          <a:xfrm>
            <a:off x="4381877" y="3370656"/>
            <a:ext cx="4255135" cy="1144270"/>
          </a:xfrm>
          <a:prstGeom prst="rect">
            <a:avLst/>
          </a:prstGeom>
          <a:ln w="9525">
            <a:solidFill>
              <a:srgbClr val="FF0000"/>
            </a:solidFill>
          </a:ln>
        </p:spPr>
        <p:txBody>
          <a:bodyPr vert="horz" wrap="square" lIns="0" tIns="58419" rIns="0" bIns="0" rtlCol="0">
            <a:spAutoFit/>
          </a:bodyPr>
          <a:lstStyle/>
          <a:p>
            <a:pPr marL="377190" indent="-286385" rtl="0">
              <a:spcBef>
                <a:spcPts val="459"/>
              </a:spcBef>
              <a:buFont typeface="Arial MT"/>
              <a:buChar char="•"/>
              <a:tabLst>
                <a:tab pos="376555" algn="l"/>
                <a:tab pos="377190" algn="l"/>
              </a:tabLst>
            </a:pPr>
            <a:r>
              <a:rPr kern="1200" dirty="0">
                <a:solidFill>
                  <a:prstClr val="black"/>
                </a:solidFill>
                <a:latin typeface="Palatino Linotype"/>
                <a:cs typeface="Palatino Linotype"/>
              </a:rPr>
              <a:t>$</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20" dirty="0">
                <a:solidFill>
                  <a:prstClr val="black"/>
                </a:solidFill>
                <a:latin typeface="Palatino Linotype"/>
                <a:cs typeface="Palatino Linotype"/>
              </a:rPr>
              <a:t> </a:t>
            </a:r>
            <a:r>
              <a:rPr kern="1200" spc="-10" dirty="0">
                <a:solidFill>
                  <a:prstClr val="black"/>
                </a:solidFill>
                <a:latin typeface="Palatino Linotype"/>
                <a:cs typeface="Palatino Linotype"/>
              </a:rPr>
              <a:t>always</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15" dirty="0">
                <a:solidFill>
                  <a:prstClr val="black"/>
                </a:solidFill>
                <a:latin typeface="Palatino Linotype"/>
                <a:cs typeface="Palatino Linotype"/>
              </a:rPr>
              <a:t> </a:t>
            </a:r>
            <a:r>
              <a:rPr kern="1200" dirty="0">
                <a:solidFill>
                  <a:prstClr val="black"/>
                </a:solidFill>
                <a:latin typeface="Cambria Math"/>
                <a:cs typeface="Cambria Math"/>
              </a:rPr>
              <a:t>FOLLOW(𝐸)</a:t>
            </a:r>
            <a:endParaRPr kern="1200">
              <a:solidFill>
                <a:prstClr val="black"/>
              </a:solidFill>
              <a:latin typeface="Cambria Math"/>
              <a:cs typeface="Cambria Math"/>
            </a:endParaRPr>
          </a:p>
          <a:p>
            <a:pPr marL="377190" indent="-286385" rtl="0">
              <a:spcBef>
                <a:spcPts val="1030"/>
              </a:spcBef>
              <a:buFont typeface="Arial MT"/>
              <a:buChar char="•"/>
              <a:tabLst>
                <a:tab pos="376555" algn="l"/>
                <a:tab pos="377190" algn="l"/>
              </a:tabLst>
            </a:pPr>
            <a:r>
              <a:rPr kern="1200" spc="-5" dirty="0">
                <a:solidFill>
                  <a:prstClr val="black"/>
                </a:solidFill>
                <a:latin typeface="Palatino Linotype"/>
                <a:cs typeface="Palatino Linotype"/>
              </a:rPr>
              <a:t>Everything</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10" dirty="0">
                <a:solidFill>
                  <a:prstClr val="black"/>
                </a:solidFill>
                <a:latin typeface="Palatino Linotype"/>
                <a:cs typeface="Palatino Linotype"/>
              </a:rPr>
              <a:t> </a:t>
            </a:r>
            <a:r>
              <a:rPr kern="1200" spc="-10" dirty="0">
                <a:solidFill>
                  <a:prstClr val="black"/>
                </a:solidFill>
                <a:latin typeface="Cambria Math"/>
                <a:cs typeface="Cambria Math"/>
              </a:rPr>
              <a:t>FIRST())</a:t>
            </a:r>
            <a:r>
              <a:rPr kern="1200" spc="45" dirty="0">
                <a:solidFill>
                  <a:prstClr val="black"/>
                </a:solidFill>
                <a:latin typeface="Cambria Math"/>
                <a:cs typeface="Cambria Math"/>
              </a:rPr>
              <a:t> </a:t>
            </a:r>
            <a:r>
              <a:rPr kern="1200" dirty="0">
                <a:solidFill>
                  <a:prstClr val="black"/>
                </a:solidFill>
                <a:latin typeface="Palatino Linotype"/>
                <a:cs typeface="Palatino Linotype"/>
              </a:rPr>
              <a:t>except</a:t>
            </a:r>
            <a:r>
              <a:rPr kern="1200" spc="-15" dirty="0">
                <a:solidFill>
                  <a:prstClr val="black"/>
                </a:solidFill>
                <a:latin typeface="Palatino Linotype"/>
                <a:cs typeface="Palatino Linotype"/>
              </a:rPr>
              <a:t> </a:t>
            </a:r>
            <a:r>
              <a:rPr kern="1200" dirty="0">
                <a:solidFill>
                  <a:prstClr val="black"/>
                </a:solidFill>
                <a:latin typeface="Cambria Math"/>
                <a:cs typeface="Cambria Math"/>
              </a:rPr>
              <a:t>𝜖</a:t>
            </a:r>
            <a:r>
              <a:rPr kern="1200" spc="5" dirty="0">
                <a:solidFill>
                  <a:prstClr val="black"/>
                </a:solidFill>
                <a:latin typeface="Cambria Math"/>
                <a:cs typeface="Cambria Math"/>
              </a:rPr>
              <a:t> </a:t>
            </a:r>
            <a:r>
              <a:rPr kern="1200" dirty="0">
                <a:solidFill>
                  <a:prstClr val="black"/>
                </a:solidFill>
                <a:latin typeface="Palatino Linotype"/>
                <a:cs typeface="Palatino Linotype"/>
              </a:rPr>
              <a:t>is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in</a:t>
            </a:r>
            <a:endParaRPr kern="1200">
              <a:solidFill>
                <a:prstClr val="black"/>
              </a:solidFill>
              <a:latin typeface="Palatino Linotype"/>
              <a:cs typeface="Palatino Linotype"/>
            </a:endParaRPr>
          </a:p>
          <a:p>
            <a:pPr marL="376555" rtl="0">
              <a:spcBef>
                <a:spcPts val="455"/>
              </a:spcBef>
            </a:pPr>
            <a:r>
              <a:rPr kern="1200" dirty="0">
                <a:solidFill>
                  <a:prstClr val="black"/>
                </a:solidFill>
                <a:latin typeface="Cambria Math"/>
                <a:cs typeface="Cambria Math"/>
              </a:rPr>
              <a:t>FOLLOW(𝐸)</a:t>
            </a:r>
            <a:endParaRPr kern="1200">
              <a:solidFill>
                <a:prstClr val="black"/>
              </a:solidFill>
              <a:latin typeface="Cambria Math"/>
              <a:cs typeface="Cambria Math"/>
            </a:endParaRPr>
          </a:p>
        </p:txBody>
      </p:sp>
      <p:sp>
        <p:nvSpPr>
          <p:cNvPr id="42" name="object 20">
            <a:extLst>
              <a:ext uri="{FF2B5EF4-FFF2-40B4-BE49-F238E27FC236}">
                <a16:creationId xmlns:a16="http://schemas.microsoft.com/office/drawing/2014/main" id="{A3A4C820-A4F0-3B62-41E7-5B3A3831862F}"/>
              </a:ext>
            </a:extLst>
          </p:cNvPr>
          <p:cNvSpPr txBox="1"/>
          <p:nvPr/>
        </p:nvSpPr>
        <p:spPr>
          <a:xfrm>
            <a:off x="4381877" y="4645915"/>
            <a:ext cx="4255135" cy="1477010"/>
          </a:xfrm>
          <a:prstGeom prst="rect">
            <a:avLst/>
          </a:prstGeom>
          <a:ln w="9525">
            <a:solidFill>
              <a:srgbClr val="0432FF"/>
            </a:solidFill>
          </a:ln>
        </p:spPr>
        <p:txBody>
          <a:bodyPr vert="horz" wrap="square" lIns="0" tIns="57150" rIns="0" bIns="0" rtlCol="0">
            <a:spAutoFit/>
          </a:bodyPr>
          <a:lstStyle/>
          <a:p>
            <a:pPr marL="377190" indent="-286385" rtl="0">
              <a:spcBef>
                <a:spcPts val="450"/>
              </a:spcBef>
              <a:buFont typeface="Arial MT"/>
              <a:buChar char="•"/>
              <a:tabLst>
                <a:tab pos="376555" algn="l"/>
                <a:tab pos="377190" algn="l"/>
              </a:tabLst>
            </a:pPr>
            <a:r>
              <a:rPr kern="1200" spc="-5" dirty="0">
                <a:solidFill>
                  <a:prstClr val="black"/>
                </a:solidFill>
                <a:latin typeface="Palatino Linotype"/>
                <a:cs typeface="Palatino Linotype"/>
              </a:rPr>
              <a:t>Everything</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10" dirty="0">
                <a:solidFill>
                  <a:prstClr val="black"/>
                </a:solidFill>
                <a:latin typeface="Palatino Linotype"/>
                <a:cs typeface="Palatino Linotype"/>
              </a:rPr>
              <a:t> </a:t>
            </a:r>
            <a:r>
              <a:rPr kern="1200" spc="-10" dirty="0">
                <a:solidFill>
                  <a:prstClr val="black"/>
                </a:solidFill>
                <a:latin typeface="Cambria Math"/>
                <a:cs typeface="Cambria Math"/>
              </a:rPr>
              <a:t>FIRST(𝐸′)</a:t>
            </a:r>
            <a:r>
              <a:rPr kern="1200" spc="45" dirty="0">
                <a:solidFill>
                  <a:prstClr val="black"/>
                </a:solidFill>
                <a:latin typeface="Cambria Math"/>
                <a:cs typeface="Cambria Math"/>
              </a:rPr>
              <a:t> </a:t>
            </a:r>
            <a:r>
              <a:rPr kern="1200" dirty="0">
                <a:solidFill>
                  <a:prstClr val="black"/>
                </a:solidFill>
                <a:latin typeface="Palatino Linotype"/>
                <a:cs typeface="Palatino Linotype"/>
              </a:rPr>
              <a:t>except</a:t>
            </a:r>
            <a:r>
              <a:rPr kern="1200" spc="-15" dirty="0">
                <a:solidFill>
                  <a:prstClr val="black"/>
                </a:solidFill>
                <a:latin typeface="Palatino Linotype"/>
                <a:cs typeface="Palatino Linotype"/>
              </a:rPr>
              <a:t> </a:t>
            </a:r>
            <a:r>
              <a:rPr kern="1200" dirty="0">
                <a:solidFill>
                  <a:prstClr val="black"/>
                </a:solidFill>
                <a:latin typeface="Cambria Math"/>
                <a:cs typeface="Cambria Math"/>
              </a:rPr>
              <a:t>𝜖</a:t>
            </a:r>
            <a:r>
              <a:rPr kern="1200" spc="5" dirty="0">
                <a:solidFill>
                  <a:prstClr val="black"/>
                </a:solidFill>
                <a:latin typeface="Cambria Math"/>
                <a:cs typeface="Cambria Math"/>
              </a:rPr>
              <a:t> </a:t>
            </a:r>
            <a:r>
              <a:rPr kern="1200" dirty="0">
                <a:solidFill>
                  <a:prstClr val="black"/>
                </a:solidFill>
                <a:latin typeface="Palatino Linotype"/>
                <a:cs typeface="Palatino Linotype"/>
              </a:rPr>
              <a:t>is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in</a:t>
            </a:r>
            <a:endParaRPr kern="1200">
              <a:solidFill>
                <a:prstClr val="black"/>
              </a:solidFill>
              <a:latin typeface="Palatino Linotype"/>
              <a:cs typeface="Palatino Linotype"/>
            </a:endParaRPr>
          </a:p>
          <a:p>
            <a:pPr marL="376555" rtl="0">
              <a:spcBef>
                <a:spcPts val="455"/>
              </a:spcBef>
            </a:pPr>
            <a:r>
              <a:rPr kern="1200" spc="-5" dirty="0">
                <a:solidFill>
                  <a:prstClr val="black"/>
                </a:solidFill>
                <a:latin typeface="Cambria Math"/>
                <a:cs typeface="Cambria Math"/>
              </a:rPr>
              <a:t>FOLLOW(𝑇)</a:t>
            </a:r>
            <a:endParaRPr kern="1200">
              <a:solidFill>
                <a:prstClr val="black"/>
              </a:solidFill>
              <a:latin typeface="Cambria Math"/>
              <a:cs typeface="Cambria Math"/>
            </a:endParaRPr>
          </a:p>
          <a:p>
            <a:pPr marL="377190" indent="-286385" rtl="0">
              <a:spcBef>
                <a:spcPts val="1030"/>
              </a:spcBef>
              <a:buFont typeface="Arial MT"/>
              <a:buChar char="•"/>
              <a:tabLst>
                <a:tab pos="376555" algn="l"/>
                <a:tab pos="377190" algn="l"/>
              </a:tabLst>
            </a:pPr>
            <a:r>
              <a:rPr kern="1200" dirty="0">
                <a:solidFill>
                  <a:prstClr val="black"/>
                </a:solidFill>
                <a:latin typeface="Palatino Linotype"/>
                <a:cs typeface="Palatino Linotype"/>
              </a:rPr>
              <a:t>Since</a:t>
            </a:r>
            <a:r>
              <a:rPr kern="1200" spc="-20" dirty="0">
                <a:solidFill>
                  <a:prstClr val="black"/>
                </a:solidFill>
                <a:latin typeface="Palatino Linotype"/>
                <a:cs typeface="Palatino Linotype"/>
              </a:rPr>
              <a:t> </a:t>
            </a:r>
            <a:r>
              <a:rPr kern="1200" dirty="0">
                <a:solidFill>
                  <a:prstClr val="black"/>
                </a:solidFill>
                <a:latin typeface="Cambria Math"/>
                <a:cs typeface="Cambria Math"/>
              </a:rPr>
              <a:t>𝐸’</a:t>
            </a:r>
            <a:r>
              <a:rPr kern="1200" spc="90" dirty="0">
                <a:solidFill>
                  <a:prstClr val="black"/>
                </a:solidFill>
                <a:latin typeface="Cambria Math"/>
                <a:cs typeface="Cambria Math"/>
              </a:rPr>
              <a:t> </a:t>
            </a:r>
            <a:r>
              <a:rPr kern="1200" dirty="0">
                <a:solidFill>
                  <a:prstClr val="black"/>
                </a:solidFill>
                <a:latin typeface="Cambria Math"/>
                <a:cs typeface="Cambria Math"/>
              </a:rPr>
              <a:t>→</a:t>
            </a:r>
            <a:r>
              <a:rPr kern="1200" spc="90" dirty="0">
                <a:solidFill>
                  <a:prstClr val="black"/>
                </a:solidFill>
                <a:latin typeface="Cambria Math"/>
                <a:cs typeface="Cambria Math"/>
              </a:rPr>
              <a:t> </a:t>
            </a:r>
            <a:r>
              <a:rPr kern="1200" spc="25" dirty="0">
                <a:solidFill>
                  <a:prstClr val="black"/>
                </a:solidFill>
                <a:latin typeface="Cambria Math"/>
                <a:cs typeface="Cambria Math"/>
              </a:rPr>
              <a:t>𝜖</a:t>
            </a:r>
            <a:r>
              <a:rPr kern="1200" spc="25" dirty="0">
                <a:solidFill>
                  <a:prstClr val="black"/>
                </a:solidFill>
                <a:latin typeface="Palatino Linotype"/>
                <a:cs typeface="Palatino Linotype"/>
              </a:rPr>
              <a:t>,</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everything</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in</a:t>
            </a:r>
            <a:endParaRPr kern="1200">
              <a:solidFill>
                <a:prstClr val="black"/>
              </a:solidFill>
              <a:latin typeface="Palatino Linotype"/>
              <a:cs typeface="Palatino Linotype"/>
            </a:endParaRPr>
          </a:p>
          <a:p>
            <a:pPr marL="376555" rtl="0">
              <a:spcBef>
                <a:spcPts val="434"/>
              </a:spcBef>
            </a:pPr>
            <a:r>
              <a:rPr kern="1200" dirty="0">
                <a:solidFill>
                  <a:prstClr val="black"/>
                </a:solidFill>
                <a:latin typeface="Cambria Math"/>
                <a:cs typeface="Cambria Math"/>
              </a:rPr>
              <a:t>FOLLOW(𝐸)</a:t>
            </a:r>
            <a:r>
              <a:rPr kern="1200" spc="35" dirty="0">
                <a:solidFill>
                  <a:prstClr val="black"/>
                </a:solidFill>
                <a:latin typeface="Cambria Math"/>
                <a:cs typeface="Cambria Math"/>
              </a:rPr>
              <a:t> </a:t>
            </a:r>
            <a:r>
              <a:rPr kern="1200" dirty="0">
                <a:solidFill>
                  <a:prstClr val="black"/>
                </a:solidFill>
                <a:latin typeface="Palatino Linotype"/>
                <a:cs typeface="Palatino Linotype"/>
              </a:rPr>
              <a:t>is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15" dirty="0">
                <a:solidFill>
                  <a:prstClr val="black"/>
                </a:solidFill>
                <a:latin typeface="Palatino Linotype"/>
                <a:cs typeface="Palatino Linotype"/>
              </a:rPr>
              <a:t> </a:t>
            </a:r>
            <a:r>
              <a:rPr kern="1200" spc="-5" dirty="0">
                <a:solidFill>
                  <a:prstClr val="black"/>
                </a:solidFill>
                <a:latin typeface="Cambria Math"/>
                <a:cs typeface="Cambria Math"/>
              </a:rPr>
              <a:t>FOLLOW(𝑇)</a:t>
            </a:r>
            <a:endParaRPr kern="1200">
              <a:solidFill>
                <a:prstClr val="black"/>
              </a:solidFill>
              <a:latin typeface="Cambria Math"/>
              <a:cs typeface="Cambria Math"/>
            </a:endParaRPr>
          </a:p>
        </p:txBody>
      </p:sp>
    </p:spTree>
    <p:extLst>
      <p:ext uri="{BB962C8B-B14F-4D97-AF65-F5344CB8AC3E}">
        <p14:creationId xmlns:p14="http://schemas.microsoft.com/office/powerpoint/2010/main" val="35652157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71</a:t>
            </a:fld>
            <a:endParaRPr lang="en-US"/>
          </a:p>
        </p:txBody>
      </p:sp>
      <p:sp>
        <p:nvSpPr>
          <p:cNvPr id="7" name="object 2">
            <a:extLst>
              <a:ext uri="{FF2B5EF4-FFF2-40B4-BE49-F238E27FC236}">
                <a16:creationId xmlns:a16="http://schemas.microsoft.com/office/drawing/2014/main" id="{B3120896-1132-BEAC-2DE8-ADC53F0717CD}"/>
              </a:ext>
            </a:extLst>
          </p:cNvPr>
          <p:cNvSpPr txBox="1">
            <a:spLocks/>
          </p:cNvSpPr>
          <p:nvPr/>
        </p:nvSpPr>
        <p:spPr>
          <a:xfrm>
            <a:off x="707390" y="524763"/>
            <a:ext cx="382142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LL(1)</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Grammars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51E85B0-1786-1592-6016-91A530F94CE8}"/>
              </a:ext>
            </a:extLst>
          </p:cNvPr>
          <p:cNvSpPr txBox="1"/>
          <p:nvPr/>
        </p:nvSpPr>
        <p:spPr>
          <a:xfrm>
            <a:off x="694690" y="1590547"/>
            <a:ext cx="7722870" cy="3051175"/>
          </a:xfrm>
          <a:prstGeom prst="rect">
            <a:avLst/>
          </a:prstGeom>
        </p:spPr>
        <p:txBody>
          <a:bodyPr vert="horz" wrap="square" lIns="0" tIns="12700" rIns="0" bIns="0" rtlCol="0">
            <a:spAutoFit/>
          </a:bodyPr>
          <a:lstStyle/>
          <a:p>
            <a:pPr marL="255270" marR="17780" indent="-230504" rtl="0">
              <a:lnSpc>
                <a:spcPct val="118300"/>
              </a:lnSpc>
              <a:spcBef>
                <a:spcPts val="100"/>
              </a:spcBef>
              <a:buClr>
                <a:srgbClr val="000000"/>
              </a:buClr>
              <a:buFont typeface="Arial MT"/>
              <a:buChar char="•"/>
              <a:tabLst>
                <a:tab pos="255904" algn="l"/>
              </a:tabLst>
            </a:pPr>
            <a:r>
              <a:rPr sz="2400" kern="1200" spc="-10" dirty="0">
                <a:solidFill>
                  <a:srgbClr val="0432FF"/>
                </a:solidFill>
                <a:latin typeface="Palatino Linotype"/>
                <a:cs typeface="Palatino Linotype"/>
              </a:rPr>
              <a:t>Recursive-descent</a:t>
            </a:r>
            <a:r>
              <a:rPr sz="2400" kern="1200" spc="15" dirty="0">
                <a:solidFill>
                  <a:srgbClr val="0432FF"/>
                </a:solidFill>
                <a:latin typeface="Palatino Linotype"/>
                <a:cs typeface="Palatino Linotype"/>
              </a:rPr>
              <a:t> </a:t>
            </a:r>
            <a:r>
              <a:rPr sz="2400" kern="1200" spc="-5" dirty="0">
                <a:solidFill>
                  <a:srgbClr val="0432FF"/>
                </a:solidFill>
                <a:latin typeface="Palatino Linotype"/>
                <a:cs typeface="Palatino Linotype"/>
              </a:rPr>
              <a:t>parsers</a:t>
            </a:r>
            <a:r>
              <a:rPr sz="2400" kern="1200" spc="10" dirty="0">
                <a:solidFill>
                  <a:srgbClr val="0432FF"/>
                </a:solidFill>
                <a:latin typeface="Palatino Linotype"/>
                <a:cs typeface="Palatino Linotype"/>
              </a:rPr>
              <a:t> </a:t>
            </a:r>
            <a:r>
              <a:rPr sz="2400" kern="1200" spc="-5" dirty="0">
                <a:solidFill>
                  <a:srgbClr val="0432FF"/>
                </a:solidFill>
                <a:latin typeface="Palatino Linotype"/>
                <a:cs typeface="Palatino Linotype"/>
              </a:rPr>
              <a:t>needing</a:t>
            </a:r>
            <a:r>
              <a:rPr sz="2400" kern="1200" spc="20" dirty="0">
                <a:solidFill>
                  <a:srgbClr val="0432FF"/>
                </a:solidFill>
                <a:latin typeface="Palatino Linotype"/>
                <a:cs typeface="Palatino Linotype"/>
              </a:rPr>
              <a:t> </a:t>
            </a:r>
            <a:r>
              <a:rPr sz="2400" kern="1200" dirty="0">
                <a:solidFill>
                  <a:srgbClr val="0432FF"/>
                </a:solidFill>
                <a:latin typeface="Palatino Linotype"/>
                <a:cs typeface="Palatino Linotype"/>
              </a:rPr>
              <a:t>no</a:t>
            </a:r>
            <a:r>
              <a:rPr sz="2400" kern="1200" spc="15" dirty="0">
                <a:solidFill>
                  <a:srgbClr val="0432FF"/>
                </a:solidFill>
                <a:latin typeface="Palatino Linotype"/>
                <a:cs typeface="Palatino Linotype"/>
              </a:rPr>
              <a:t> </a:t>
            </a:r>
            <a:r>
              <a:rPr sz="2400" kern="1200" spc="-5" dirty="0">
                <a:solidFill>
                  <a:srgbClr val="0432FF"/>
                </a:solidFill>
                <a:latin typeface="Palatino Linotype"/>
                <a:cs typeface="Palatino Linotype"/>
              </a:rPr>
              <a:t>backtracking</a:t>
            </a:r>
            <a:r>
              <a:rPr sz="2400" kern="1200" spc="20" dirty="0">
                <a:solidFill>
                  <a:srgbClr val="0432FF"/>
                </a:solidFill>
                <a:latin typeface="Palatino Linotype"/>
                <a:cs typeface="Palatino Linotype"/>
              </a:rPr>
              <a:t> </a:t>
            </a:r>
            <a:r>
              <a:rPr sz="2400" kern="1200" spc="-5" dirty="0">
                <a:solidFill>
                  <a:prstClr val="black"/>
                </a:solidFill>
                <a:latin typeface="Palatino Linotype"/>
                <a:cs typeface="Palatino Linotype"/>
              </a:rPr>
              <a:t>can </a:t>
            </a:r>
            <a:r>
              <a:rPr sz="2400" kern="1200" spc="-585" dirty="0">
                <a:solidFill>
                  <a:prstClr val="black"/>
                </a:solidFill>
                <a:latin typeface="Palatino Linotype"/>
                <a:cs typeface="Palatino Linotype"/>
              </a:rPr>
              <a:t> </a:t>
            </a:r>
            <a:r>
              <a:rPr sz="2400" kern="1200" spc="-5" dirty="0">
                <a:solidFill>
                  <a:prstClr val="black"/>
                </a:solidFill>
                <a:latin typeface="Palatino Linotype"/>
                <a:cs typeface="Palatino Linotype"/>
              </a:rPr>
              <a:t>be</a:t>
            </a:r>
            <a:r>
              <a:rPr sz="2400" kern="1200" dirty="0">
                <a:solidFill>
                  <a:prstClr val="black"/>
                </a:solidFill>
                <a:latin typeface="Palatino Linotype"/>
                <a:cs typeface="Palatino Linotype"/>
              </a:rPr>
              <a:t> </a:t>
            </a:r>
            <a:r>
              <a:rPr sz="2400" kern="1200" spc="-5" dirty="0">
                <a:solidFill>
                  <a:prstClr val="black"/>
                </a:solidFill>
                <a:latin typeface="Palatino Linotype"/>
                <a:cs typeface="Palatino Linotype"/>
              </a:rPr>
              <a:t>constructed </a:t>
            </a:r>
            <a:r>
              <a:rPr sz="2400" kern="1200" dirty="0">
                <a:solidFill>
                  <a:prstClr val="black"/>
                </a:solidFill>
                <a:latin typeface="Palatino Linotype"/>
                <a:cs typeface="Palatino Linotype"/>
              </a:rPr>
              <a:t>for a </a:t>
            </a:r>
            <a:r>
              <a:rPr sz="2400" kern="1200" spc="-5" dirty="0">
                <a:solidFill>
                  <a:prstClr val="black"/>
                </a:solidFill>
                <a:latin typeface="Palatino Linotype"/>
                <a:cs typeface="Palatino Linotype"/>
              </a:rPr>
              <a:t>class </a:t>
            </a:r>
            <a:r>
              <a:rPr sz="2400" kern="1200" dirty="0">
                <a:solidFill>
                  <a:prstClr val="black"/>
                </a:solidFill>
                <a:latin typeface="Palatino Linotype"/>
                <a:cs typeface="Palatino Linotype"/>
              </a:rPr>
              <a:t>of grammars</a:t>
            </a:r>
            <a:r>
              <a:rPr sz="2400" kern="1200" spc="-5" dirty="0">
                <a:solidFill>
                  <a:prstClr val="black"/>
                </a:solidFill>
                <a:latin typeface="Palatino Linotype"/>
                <a:cs typeface="Palatino Linotype"/>
              </a:rPr>
              <a:t> called</a:t>
            </a:r>
            <a:r>
              <a:rPr sz="2400" kern="1200" dirty="0">
                <a:solidFill>
                  <a:prstClr val="black"/>
                </a:solidFill>
                <a:latin typeface="Palatino Linotype"/>
                <a:cs typeface="Palatino Linotype"/>
              </a:rPr>
              <a:t> </a:t>
            </a:r>
            <a:r>
              <a:rPr sz="2400" b="1" kern="1200" spc="-5" dirty="0">
                <a:solidFill>
                  <a:srgbClr val="FF0000"/>
                </a:solidFill>
                <a:latin typeface="Palatino Linotype"/>
                <a:cs typeface="Palatino Linotype"/>
              </a:rPr>
              <a:t>LL(1)</a:t>
            </a:r>
            <a:endParaRPr sz="2400" kern="1200" dirty="0">
              <a:solidFill>
                <a:prstClr val="black"/>
              </a:solidFill>
              <a:latin typeface="Palatino Linotype"/>
              <a:cs typeface="Palatino Linotype"/>
            </a:endParaRPr>
          </a:p>
          <a:p>
            <a:pPr marL="711200" lvl="1" indent="-228600" rtl="0">
              <a:spcBef>
                <a:spcPts val="2415"/>
              </a:spcBef>
              <a:buClr>
                <a:srgbClr val="000000"/>
              </a:buClr>
              <a:buFont typeface="Wingdings"/>
              <a:buChar char=""/>
              <a:tabLst>
                <a:tab pos="711200" algn="l"/>
              </a:tabLst>
            </a:pPr>
            <a:r>
              <a:rPr sz="2000" kern="1200" dirty="0">
                <a:solidFill>
                  <a:srgbClr val="FF0000"/>
                </a:solidFill>
                <a:latin typeface="Palatino Linotype"/>
                <a:cs typeface="Palatino Linotype"/>
              </a:rPr>
              <a:t>1</a:t>
            </a:r>
            <a:r>
              <a:rPr sz="1950" kern="1200" baseline="25641" dirty="0">
                <a:solidFill>
                  <a:srgbClr val="FF0000"/>
                </a:solidFill>
                <a:latin typeface="Palatino Linotype"/>
                <a:cs typeface="Palatino Linotype"/>
              </a:rPr>
              <a:t>st</a:t>
            </a:r>
            <a:r>
              <a:rPr sz="1950" kern="1200" spc="270" baseline="25641" dirty="0">
                <a:solidFill>
                  <a:srgbClr val="FF0000"/>
                </a:solidFill>
                <a:latin typeface="Palatino Linotype"/>
                <a:cs typeface="Palatino Linotype"/>
              </a:rPr>
              <a:t> </a:t>
            </a:r>
            <a:r>
              <a:rPr sz="2000" kern="1200" dirty="0">
                <a:solidFill>
                  <a:srgbClr val="FF0000"/>
                </a:solidFill>
                <a:latin typeface="Palatino Linotype"/>
                <a:cs typeface="Palatino Linotype"/>
              </a:rPr>
              <a:t>L: </a:t>
            </a:r>
            <a:r>
              <a:rPr sz="2000" kern="1200" spc="-5" dirty="0">
                <a:solidFill>
                  <a:prstClr val="black"/>
                </a:solidFill>
                <a:latin typeface="Palatino Linotype"/>
                <a:cs typeface="Palatino Linotype"/>
              </a:rPr>
              <a:t>scanning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input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from </a:t>
            </a:r>
            <a:r>
              <a:rPr sz="2000" kern="1200" dirty="0">
                <a:solidFill>
                  <a:prstClr val="black"/>
                </a:solidFill>
                <a:latin typeface="Palatino Linotype"/>
                <a:cs typeface="Palatino Linotype"/>
              </a:rPr>
              <a:t>left</a:t>
            </a:r>
            <a:r>
              <a:rPr sz="2000" kern="1200" spc="-5" dirty="0">
                <a:solidFill>
                  <a:prstClr val="black"/>
                </a:solidFill>
                <a:latin typeface="Palatino Linotype"/>
                <a:cs typeface="Palatino Linotype"/>
              </a:rPr>
              <a:t> to</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right</a:t>
            </a:r>
            <a:endParaRPr sz="2000" kern="1200" dirty="0">
              <a:solidFill>
                <a:prstClr val="black"/>
              </a:solidFill>
              <a:latin typeface="Palatino Linotype"/>
              <a:cs typeface="Palatino Linotype"/>
            </a:endParaRPr>
          </a:p>
          <a:p>
            <a:pPr marL="711200" lvl="1" indent="-228600" rtl="0">
              <a:spcBef>
                <a:spcPts val="2305"/>
              </a:spcBef>
              <a:buClr>
                <a:srgbClr val="000000"/>
              </a:buClr>
              <a:buFont typeface="Wingdings"/>
              <a:buChar char=""/>
              <a:tabLst>
                <a:tab pos="711200" algn="l"/>
              </a:tabLst>
            </a:pPr>
            <a:r>
              <a:rPr sz="2000" kern="1200" spc="5" dirty="0">
                <a:solidFill>
                  <a:srgbClr val="FF0000"/>
                </a:solidFill>
                <a:latin typeface="Palatino Linotype"/>
                <a:cs typeface="Palatino Linotype"/>
              </a:rPr>
              <a:t>2</a:t>
            </a:r>
            <a:r>
              <a:rPr sz="1950" kern="1200" spc="7" baseline="25641" dirty="0">
                <a:solidFill>
                  <a:srgbClr val="FF0000"/>
                </a:solidFill>
                <a:latin typeface="Palatino Linotype"/>
                <a:cs typeface="Palatino Linotype"/>
              </a:rPr>
              <a:t>nd</a:t>
            </a:r>
            <a:r>
              <a:rPr sz="1950" kern="1200" spc="277" baseline="25641" dirty="0">
                <a:solidFill>
                  <a:srgbClr val="FF0000"/>
                </a:solidFill>
                <a:latin typeface="Palatino Linotype"/>
                <a:cs typeface="Palatino Linotype"/>
              </a:rPr>
              <a:t> </a:t>
            </a:r>
            <a:r>
              <a:rPr sz="2000" kern="1200" dirty="0">
                <a:solidFill>
                  <a:srgbClr val="FF0000"/>
                </a:solidFill>
                <a:latin typeface="Palatino Linotype"/>
                <a:cs typeface="Palatino Linotype"/>
              </a:rPr>
              <a:t>L:</a:t>
            </a:r>
            <a:r>
              <a:rPr sz="2000" kern="1200" spc="-5" dirty="0">
                <a:solidFill>
                  <a:srgbClr val="FF0000"/>
                </a:solidFill>
                <a:latin typeface="Palatino Linotype"/>
                <a:cs typeface="Palatino Linotype"/>
              </a:rPr>
              <a:t> </a:t>
            </a:r>
            <a:r>
              <a:rPr sz="2000" kern="1200" spc="-5" dirty="0">
                <a:solidFill>
                  <a:prstClr val="black"/>
                </a:solidFill>
                <a:latin typeface="Palatino Linotype"/>
                <a:cs typeface="Palatino Linotype"/>
              </a:rPr>
              <a:t>producing </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 leftmost </a:t>
            </a:r>
            <a:r>
              <a:rPr sz="2000" kern="1200" spc="-10" dirty="0">
                <a:solidFill>
                  <a:prstClr val="black"/>
                </a:solidFill>
                <a:latin typeface="Palatino Linotype"/>
                <a:cs typeface="Palatino Linotype"/>
              </a:rPr>
              <a:t>derivation</a:t>
            </a:r>
            <a:endParaRPr sz="2000" kern="1200" dirty="0">
              <a:solidFill>
                <a:prstClr val="black"/>
              </a:solidFill>
              <a:latin typeface="Palatino Linotype"/>
              <a:cs typeface="Palatino Linotype"/>
            </a:endParaRPr>
          </a:p>
          <a:p>
            <a:pPr marL="711200" marR="233045" lvl="1" indent="-228600" rtl="0">
              <a:lnSpc>
                <a:spcPct val="120000"/>
              </a:lnSpc>
              <a:spcBef>
                <a:spcPts val="1725"/>
              </a:spcBef>
              <a:buClr>
                <a:srgbClr val="000000"/>
              </a:buClr>
              <a:buFont typeface="Wingdings"/>
              <a:buChar char=""/>
              <a:tabLst>
                <a:tab pos="711200" algn="l"/>
              </a:tabLst>
            </a:pPr>
            <a:r>
              <a:rPr sz="2000" kern="1200" dirty="0">
                <a:solidFill>
                  <a:srgbClr val="FF0000"/>
                </a:solidFill>
                <a:latin typeface="Palatino Linotype"/>
                <a:cs typeface="Palatino Linotype"/>
              </a:rPr>
              <a:t>1: </a:t>
            </a:r>
            <a:r>
              <a:rPr sz="2000" kern="1200" spc="-5" dirty="0">
                <a:solidFill>
                  <a:prstClr val="black"/>
                </a:solidFill>
                <a:latin typeface="Palatino Linotype"/>
                <a:cs typeface="Palatino Linotype"/>
              </a:rPr>
              <a:t>using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one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input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symbol</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of lookahead</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at </a:t>
            </a:r>
            <a:r>
              <a:rPr sz="2000" kern="1200" spc="-5" dirty="0">
                <a:solidFill>
                  <a:prstClr val="black"/>
                </a:solidFill>
                <a:latin typeface="Palatino Linotype"/>
                <a:cs typeface="Palatino Linotype"/>
              </a:rPr>
              <a:t>each</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step</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to make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parsing </a:t>
            </a:r>
            <a:r>
              <a:rPr sz="2000" kern="1200" dirty="0">
                <a:solidFill>
                  <a:prstClr val="black"/>
                </a:solidFill>
                <a:latin typeface="Palatino Linotype"/>
                <a:cs typeface="Palatino Linotype"/>
              </a:rPr>
              <a:t>decision</a:t>
            </a:r>
          </a:p>
        </p:txBody>
      </p:sp>
    </p:spTree>
    <p:extLst>
      <p:ext uri="{BB962C8B-B14F-4D97-AF65-F5344CB8AC3E}">
        <p14:creationId xmlns:p14="http://schemas.microsoft.com/office/powerpoint/2010/main" val="6276092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72</a:t>
            </a:fld>
            <a:endParaRPr lang="en-US"/>
          </a:p>
        </p:txBody>
      </p:sp>
      <p:sp>
        <p:nvSpPr>
          <p:cNvPr id="16" name="object 2">
            <a:extLst>
              <a:ext uri="{FF2B5EF4-FFF2-40B4-BE49-F238E27FC236}">
                <a16:creationId xmlns:a16="http://schemas.microsoft.com/office/drawing/2014/main" id="{8DD76DB8-0F64-3414-30AD-1BF8CE1C676C}"/>
              </a:ext>
            </a:extLst>
          </p:cNvPr>
          <p:cNvSpPr txBox="1">
            <a:spLocks/>
          </p:cNvSpPr>
          <p:nvPr/>
        </p:nvSpPr>
        <p:spPr>
          <a:xfrm>
            <a:off x="707390" y="524763"/>
            <a:ext cx="520446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LL(1)</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Grammars</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Cont.</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7" name="object 3">
            <a:extLst>
              <a:ext uri="{FF2B5EF4-FFF2-40B4-BE49-F238E27FC236}">
                <a16:creationId xmlns:a16="http://schemas.microsoft.com/office/drawing/2014/main" id="{1B6129EC-2719-2C67-9082-1368EC2F8735}"/>
              </a:ext>
            </a:extLst>
          </p:cNvPr>
          <p:cNvSpPr/>
          <p:nvPr/>
        </p:nvSpPr>
        <p:spPr>
          <a:xfrm>
            <a:off x="628650" y="1600201"/>
            <a:ext cx="7886700" cy="2686685"/>
          </a:xfrm>
          <a:custGeom>
            <a:avLst/>
            <a:gdLst/>
            <a:ahLst/>
            <a:cxnLst/>
            <a:rect l="l" t="t" r="r" b="b"/>
            <a:pathLst>
              <a:path w="7886700" h="2686685">
                <a:moveTo>
                  <a:pt x="0" y="0"/>
                </a:moveTo>
                <a:lnTo>
                  <a:pt x="7886700" y="0"/>
                </a:lnTo>
                <a:lnTo>
                  <a:pt x="7886700" y="2686573"/>
                </a:lnTo>
                <a:lnTo>
                  <a:pt x="0" y="2686573"/>
                </a:lnTo>
                <a:lnTo>
                  <a:pt x="0" y="0"/>
                </a:lnTo>
                <a:close/>
              </a:path>
            </a:pathLst>
          </a:custGeom>
          <a:ln w="12700">
            <a:solidFill>
              <a:srgbClr val="ED7D31"/>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4">
            <a:extLst>
              <a:ext uri="{FF2B5EF4-FFF2-40B4-BE49-F238E27FC236}">
                <a16:creationId xmlns:a16="http://schemas.microsoft.com/office/drawing/2014/main" id="{5D34D3C6-34E1-8569-6C8E-033A93DCE4DE}"/>
              </a:ext>
            </a:extLst>
          </p:cNvPr>
          <p:cNvSpPr txBox="1"/>
          <p:nvPr/>
        </p:nvSpPr>
        <p:spPr>
          <a:xfrm>
            <a:off x="1517650" y="3449320"/>
            <a:ext cx="105410" cy="223520"/>
          </a:xfrm>
          <a:prstGeom prst="rect">
            <a:avLst/>
          </a:prstGeom>
        </p:spPr>
        <p:txBody>
          <a:bodyPr vert="horz" wrap="square" lIns="0" tIns="12700" rIns="0" bIns="0" rtlCol="0">
            <a:spAutoFit/>
          </a:bodyPr>
          <a:lstStyle/>
          <a:p>
            <a:pPr marL="12700" rtl="0">
              <a:spcBef>
                <a:spcPts val="100"/>
              </a:spcBef>
            </a:pPr>
            <a:r>
              <a:rPr sz="1300" kern="1200" dirty="0">
                <a:solidFill>
                  <a:prstClr val="black"/>
                </a:solidFill>
                <a:latin typeface="Cambria Math"/>
                <a:cs typeface="Cambria Math"/>
              </a:rPr>
              <a:t>∗</a:t>
            </a:r>
            <a:endParaRPr sz="1300" kern="1200">
              <a:solidFill>
                <a:prstClr val="black"/>
              </a:solidFill>
              <a:latin typeface="Cambria Math"/>
              <a:cs typeface="Cambria Math"/>
            </a:endParaRPr>
          </a:p>
        </p:txBody>
      </p:sp>
      <p:sp>
        <p:nvSpPr>
          <p:cNvPr id="19" name="object 5">
            <a:extLst>
              <a:ext uri="{FF2B5EF4-FFF2-40B4-BE49-F238E27FC236}">
                <a16:creationId xmlns:a16="http://schemas.microsoft.com/office/drawing/2014/main" id="{60858A80-612A-BBA6-C8D7-3EA3899AB686}"/>
              </a:ext>
            </a:extLst>
          </p:cNvPr>
          <p:cNvSpPr txBox="1"/>
          <p:nvPr/>
        </p:nvSpPr>
        <p:spPr>
          <a:xfrm>
            <a:off x="707390" y="1610867"/>
            <a:ext cx="7675880" cy="2595880"/>
          </a:xfrm>
          <a:prstGeom prst="rect">
            <a:avLst/>
          </a:prstGeom>
        </p:spPr>
        <p:txBody>
          <a:bodyPr vert="horz" wrap="square" lIns="0" tIns="60960" rIns="0" bIns="0" rtlCol="0">
            <a:spAutoFit/>
          </a:bodyPr>
          <a:lstStyle/>
          <a:p>
            <a:pPr marL="12700" rtl="0">
              <a:spcBef>
                <a:spcPts val="480"/>
              </a:spcBef>
            </a:pPr>
            <a:r>
              <a:rPr sz="2000" b="1" kern="1200" dirty="0">
                <a:solidFill>
                  <a:prstClr val="black"/>
                </a:solidFill>
                <a:latin typeface="Palatino Linotype"/>
                <a:cs typeface="Palatino Linotype"/>
              </a:rPr>
              <a:t>A</a:t>
            </a:r>
            <a:r>
              <a:rPr sz="2000" b="1" kern="1200" spc="-10" dirty="0">
                <a:solidFill>
                  <a:prstClr val="black"/>
                </a:solidFill>
                <a:latin typeface="Palatino Linotype"/>
                <a:cs typeface="Palatino Linotype"/>
              </a:rPr>
              <a:t> </a:t>
            </a:r>
            <a:r>
              <a:rPr sz="2000" b="1" kern="1200" spc="-5" dirty="0">
                <a:solidFill>
                  <a:prstClr val="black"/>
                </a:solidFill>
                <a:latin typeface="Palatino Linotype"/>
                <a:cs typeface="Palatino Linotype"/>
              </a:rPr>
              <a:t>grammar</a:t>
            </a:r>
            <a:r>
              <a:rPr sz="2000" b="1" kern="1200" dirty="0">
                <a:solidFill>
                  <a:prstClr val="black"/>
                </a:solidFill>
                <a:latin typeface="Palatino Linotype"/>
                <a:cs typeface="Palatino Linotype"/>
              </a:rPr>
              <a:t> </a:t>
            </a:r>
            <a:r>
              <a:rPr sz="2000" kern="1200" dirty="0">
                <a:solidFill>
                  <a:prstClr val="black"/>
                </a:solidFill>
                <a:latin typeface="Cambria Math"/>
                <a:cs typeface="Cambria Math"/>
              </a:rPr>
              <a:t>𝑮</a:t>
            </a:r>
            <a:r>
              <a:rPr sz="2000" kern="1200" spc="55" dirty="0">
                <a:solidFill>
                  <a:prstClr val="black"/>
                </a:solidFill>
                <a:latin typeface="Cambria Math"/>
                <a:cs typeface="Cambria Math"/>
              </a:rPr>
              <a:t> </a:t>
            </a:r>
            <a:r>
              <a:rPr sz="2000" b="1" kern="1200" spc="-5" dirty="0">
                <a:solidFill>
                  <a:prstClr val="black"/>
                </a:solidFill>
                <a:latin typeface="Palatino Linotype"/>
                <a:cs typeface="Palatino Linotype"/>
              </a:rPr>
              <a:t>is LL(1)</a:t>
            </a:r>
            <a:r>
              <a:rPr sz="2000" b="1" kern="1200" dirty="0">
                <a:solidFill>
                  <a:prstClr val="black"/>
                </a:solidFill>
                <a:latin typeface="Palatino Linotype"/>
                <a:cs typeface="Palatino Linotype"/>
              </a:rPr>
              <a:t> </a:t>
            </a:r>
            <a:r>
              <a:rPr sz="2000" kern="1200" dirty="0">
                <a:solidFill>
                  <a:prstClr val="black"/>
                </a:solidFill>
                <a:latin typeface="Palatino Linotype"/>
                <a:cs typeface="Palatino Linotype"/>
              </a:rPr>
              <a:t>if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only</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if </a:t>
            </a:r>
            <a:r>
              <a:rPr sz="2000" kern="1200" spc="-5" dirty="0">
                <a:solidFill>
                  <a:srgbClr val="FF0000"/>
                </a:solidFill>
                <a:latin typeface="Palatino Linotype"/>
                <a:cs typeface="Palatino Linotype"/>
              </a:rPr>
              <a:t>for any</a:t>
            </a:r>
            <a:r>
              <a:rPr sz="2000" kern="1200" spc="5" dirty="0">
                <a:solidFill>
                  <a:srgbClr val="FF0000"/>
                </a:solidFill>
                <a:latin typeface="Palatino Linotype"/>
                <a:cs typeface="Palatino Linotype"/>
              </a:rPr>
              <a:t> </a:t>
            </a:r>
            <a:r>
              <a:rPr sz="2000" kern="1200" spc="-15" dirty="0">
                <a:solidFill>
                  <a:srgbClr val="FF0000"/>
                </a:solidFill>
                <a:latin typeface="Palatino Linotype"/>
                <a:cs typeface="Palatino Linotype"/>
              </a:rPr>
              <a:t>two</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distinct productions</a:t>
            </a:r>
            <a:endParaRPr sz="2000" kern="1200" dirty="0">
              <a:solidFill>
                <a:prstClr val="black"/>
              </a:solidFill>
              <a:latin typeface="Palatino Linotype"/>
              <a:cs typeface="Palatino Linotype"/>
            </a:endParaRPr>
          </a:p>
          <a:p>
            <a:pPr marL="12700" rtl="0">
              <a:spcBef>
                <a:spcPts val="385"/>
              </a:spcBef>
            </a:pPr>
            <a:r>
              <a:rPr sz="2000" kern="1200" dirty="0">
                <a:solidFill>
                  <a:srgbClr val="FF0000"/>
                </a:solidFill>
                <a:latin typeface="Cambria Math"/>
                <a:cs typeface="Cambria Math"/>
              </a:rPr>
              <a:t>𝐴</a:t>
            </a:r>
            <a:r>
              <a:rPr sz="2000" kern="1200" spc="125"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10" dirty="0">
                <a:solidFill>
                  <a:srgbClr val="FF0000"/>
                </a:solidFill>
                <a:latin typeface="Cambria Math"/>
                <a:cs typeface="Cambria Math"/>
              </a:rPr>
              <a:t> </a:t>
            </a:r>
            <a:r>
              <a:rPr sz="2000" kern="1200" dirty="0">
                <a:solidFill>
                  <a:srgbClr val="FF0000"/>
                </a:solidFill>
                <a:latin typeface="Cambria Math"/>
                <a:cs typeface="Cambria Math"/>
              </a:rPr>
              <a:t>𝛼</a:t>
            </a:r>
            <a:r>
              <a:rPr sz="2000" kern="1200" spc="50" dirty="0">
                <a:solidFill>
                  <a:srgbClr val="FF0000"/>
                </a:solidFill>
                <a:latin typeface="Cambria Math"/>
                <a:cs typeface="Cambria Math"/>
              </a:rPr>
              <a:t> </a:t>
            </a:r>
            <a:r>
              <a:rPr sz="2000" kern="1200" dirty="0">
                <a:solidFill>
                  <a:srgbClr val="FF0000"/>
                </a:solidFill>
                <a:latin typeface="Cambria Math"/>
                <a:cs typeface="Cambria Math"/>
              </a:rPr>
              <a:t>| </a:t>
            </a:r>
            <a:r>
              <a:rPr sz="2000" kern="1200" spc="30" dirty="0">
                <a:solidFill>
                  <a:srgbClr val="FF0000"/>
                </a:solidFill>
                <a:latin typeface="Cambria Math"/>
                <a:cs typeface="Cambria Math"/>
              </a:rPr>
              <a:t>𝛽</a:t>
            </a:r>
            <a:r>
              <a:rPr sz="2000" kern="1200" spc="30"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following conditions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hold:</a:t>
            </a:r>
            <a:endParaRPr sz="2000" kern="1200" dirty="0">
              <a:solidFill>
                <a:prstClr val="black"/>
              </a:solidFill>
              <a:latin typeface="Palatino Linotype"/>
              <a:cs typeface="Palatino Linotype"/>
            </a:endParaRPr>
          </a:p>
          <a:p>
            <a:pPr marL="357505" indent="-343535" rtl="0">
              <a:spcBef>
                <a:spcPts val="1714"/>
              </a:spcBef>
              <a:buFontTx/>
              <a:buAutoNum type="arabicPeriod"/>
              <a:tabLst>
                <a:tab pos="356870" algn="l"/>
                <a:tab pos="357505" algn="l"/>
              </a:tabLst>
            </a:pPr>
            <a:r>
              <a:rPr kern="1200" spc="-5" dirty="0">
                <a:solidFill>
                  <a:prstClr val="black"/>
                </a:solidFill>
                <a:latin typeface="Palatino Linotype"/>
                <a:cs typeface="Palatino Linotype"/>
              </a:rPr>
              <a:t>There</a:t>
            </a:r>
            <a:r>
              <a:rPr kern="1200" dirty="0">
                <a:solidFill>
                  <a:prstClr val="black"/>
                </a:solidFill>
                <a:latin typeface="Palatino Linotype"/>
                <a:cs typeface="Palatino Linotype"/>
              </a:rPr>
              <a:t> is no</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terminal</a:t>
            </a:r>
            <a:r>
              <a:rPr kern="1200" spc="5" dirty="0">
                <a:solidFill>
                  <a:prstClr val="black"/>
                </a:solidFill>
                <a:latin typeface="Palatino Linotype"/>
                <a:cs typeface="Palatino Linotype"/>
              </a:rPr>
              <a:t> </a:t>
            </a:r>
            <a:r>
              <a:rPr kern="1200" dirty="0">
                <a:solidFill>
                  <a:prstClr val="black"/>
                </a:solidFill>
                <a:latin typeface="Cambria Math"/>
                <a:cs typeface="Cambria Math"/>
              </a:rPr>
              <a:t>𝑎</a:t>
            </a:r>
            <a:r>
              <a:rPr kern="1200" spc="95" dirty="0">
                <a:solidFill>
                  <a:prstClr val="black"/>
                </a:solidFill>
                <a:latin typeface="Cambria Math"/>
                <a:cs typeface="Cambria Math"/>
              </a:rPr>
              <a:t> </a:t>
            </a:r>
            <a:r>
              <a:rPr kern="1200" spc="-5" dirty="0">
                <a:solidFill>
                  <a:prstClr val="black"/>
                </a:solidFill>
                <a:latin typeface="Palatino Linotype"/>
                <a:cs typeface="Palatino Linotype"/>
              </a:rPr>
              <a:t>such</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that</a:t>
            </a:r>
            <a:r>
              <a:rPr kern="1200" spc="5" dirty="0">
                <a:solidFill>
                  <a:prstClr val="black"/>
                </a:solidFill>
                <a:latin typeface="Palatino Linotype"/>
                <a:cs typeface="Palatino Linotype"/>
              </a:rPr>
              <a:t> </a:t>
            </a:r>
            <a:r>
              <a:rPr kern="1200" dirty="0">
                <a:solidFill>
                  <a:prstClr val="black"/>
                </a:solidFill>
                <a:latin typeface="Cambria Math"/>
                <a:cs typeface="Cambria Math"/>
              </a:rPr>
              <a:t>𝛼</a:t>
            </a:r>
            <a:r>
              <a:rPr kern="1200" spc="105" dirty="0">
                <a:solidFill>
                  <a:prstClr val="black"/>
                </a:solidFill>
                <a:latin typeface="Cambria Math"/>
                <a:cs typeface="Cambria Math"/>
              </a:rPr>
              <a:t> </a:t>
            </a:r>
            <a:r>
              <a:rPr kern="1200" dirty="0">
                <a:solidFill>
                  <a:prstClr val="black"/>
                </a:solidFill>
                <a:latin typeface="Palatino Linotype"/>
                <a:cs typeface="Palatino Linotype"/>
              </a:rPr>
              <a:t>and</a:t>
            </a:r>
            <a:r>
              <a:rPr kern="1200" spc="5" dirty="0">
                <a:solidFill>
                  <a:prstClr val="black"/>
                </a:solidFill>
                <a:latin typeface="Palatino Linotype"/>
                <a:cs typeface="Palatino Linotype"/>
              </a:rPr>
              <a:t> </a:t>
            </a:r>
            <a:r>
              <a:rPr kern="1200" dirty="0">
                <a:solidFill>
                  <a:prstClr val="black"/>
                </a:solidFill>
                <a:latin typeface="Cambria Math"/>
                <a:cs typeface="Cambria Math"/>
              </a:rPr>
              <a:t>𝛽</a:t>
            </a:r>
            <a:r>
              <a:rPr kern="1200" spc="105" dirty="0">
                <a:solidFill>
                  <a:prstClr val="black"/>
                </a:solidFill>
                <a:latin typeface="Cambria Math"/>
                <a:cs typeface="Cambria Math"/>
              </a:rPr>
              <a:t> </a:t>
            </a:r>
            <a:r>
              <a:rPr kern="1200" spc="-10" dirty="0">
                <a:solidFill>
                  <a:prstClr val="black"/>
                </a:solidFill>
                <a:latin typeface="Palatino Linotype"/>
                <a:cs typeface="Palatino Linotype"/>
              </a:rPr>
              <a:t>derive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strings</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beginning</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with</a:t>
            </a:r>
            <a:r>
              <a:rPr kern="1200" spc="5" dirty="0">
                <a:solidFill>
                  <a:prstClr val="black"/>
                </a:solidFill>
                <a:latin typeface="Palatino Linotype"/>
                <a:cs typeface="Palatino Linotype"/>
              </a:rPr>
              <a:t> </a:t>
            </a:r>
            <a:r>
              <a:rPr kern="1200" dirty="0">
                <a:solidFill>
                  <a:prstClr val="black"/>
                </a:solidFill>
                <a:latin typeface="Cambria Math"/>
                <a:cs typeface="Cambria Math"/>
              </a:rPr>
              <a:t>𝑎</a:t>
            </a:r>
          </a:p>
          <a:p>
            <a:pPr marL="357505" indent="-343535" rtl="0">
              <a:spcBef>
                <a:spcPts val="1630"/>
              </a:spcBef>
              <a:buFontTx/>
              <a:buAutoNum type="arabicPeriod"/>
              <a:tabLst>
                <a:tab pos="356870" algn="l"/>
                <a:tab pos="357505" algn="l"/>
              </a:tabLst>
            </a:pPr>
            <a:r>
              <a:rPr kern="1200" spc="-5" dirty="0">
                <a:solidFill>
                  <a:prstClr val="black"/>
                </a:solidFill>
                <a:latin typeface="Palatino Linotype"/>
                <a:cs typeface="Palatino Linotype"/>
              </a:rPr>
              <a:t>At most </a:t>
            </a:r>
            <a:r>
              <a:rPr kern="1200" dirty="0">
                <a:solidFill>
                  <a:prstClr val="black"/>
                </a:solidFill>
                <a:latin typeface="Palatino Linotype"/>
                <a:cs typeface="Palatino Linotype"/>
              </a:rPr>
              <a:t>one of</a:t>
            </a:r>
            <a:r>
              <a:rPr kern="1200" spc="-5" dirty="0">
                <a:solidFill>
                  <a:prstClr val="black"/>
                </a:solidFill>
                <a:latin typeface="Palatino Linotype"/>
                <a:cs typeface="Palatino Linotype"/>
              </a:rPr>
              <a:t> </a:t>
            </a:r>
            <a:r>
              <a:rPr kern="1200" dirty="0">
                <a:solidFill>
                  <a:prstClr val="black"/>
                </a:solidFill>
                <a:latin typeface="Cambria Math"/>
                <a:cs typeface="Cambria Math"/>
              </a:rPr>
              <a:t>𝛼</a:t>
            </a:r>
            <a:r>
              <a:rPr kern="1200" spc="95" dirty="0">
                <a:solidFill>
                  <a:prstClr val="black"/>
                </a:solidFill>
                <a:latin typeface="Cambria Math"/>
                <a:cs typeface="Cambria Math"/>
              </a:rPr>
              <a:t> </a:t>
            </a:r>
            <a:r>
              <a:rPr kern="1200" dirty="0">
                <a:solidFill>
                  <a:prstClr val="black"/>
                </a:solidFill>
                <a:latin typeface="Palatino Linotype"/>
                <a:cs typeface="Palatino Linotype"/>
              </a:rPr>
              <a:t>and </a:t>
            </a:r>
            <a:r>
              <a:rPr kern="1200" dirty="0">
                <a:solidFill>
                  <a:prstClr val="black"/>
                </a:solidFill>
                <a:latin typeface="Cambria Math"/>
                <a:cs typeface="Cambria Math"/>
              </a:rPr>
              <a:t>𝛽</a:t>
            </a:r>
            <a:r>
              <a:rPr kern="1200" spc="95" dirty="0">
                <a:solidFill>
                  <a:prstClr val="black"/>
                </a:solidFill>
                <a:latin typeface="Cambria Math"/>
                <a:cs typeface="Cambria Math"/>
              </a:rPr>
              <a:t> </a:t>
            </a:r>
            <a:r>
              <a:rPr kern="1200" dirty="0">
                <a:solidFill>
                  <a:prstClr val="black"/>
                </a:solidFill>
                <a:latin typeface="Palatino Linotype"/>
                <a:cs typeface="Palatino Linotype"/>
              </a:rPr>
              <a:t>can</a:t>
            </a:r>
            <a:r>
              <a:rPr kern="1200" spc="-5" dirty="0">
                <a:solidFill>
                  <a:prstClr val="black"/>
                </a:solidFill>
                <a:latin typeface="Palatino Linotype"/>
                <a:cs typeface="Palatino Linotype"/>
              </a:rPr>
              <a:t> </a:t>
            </a:r>
            <a:r>
              <a:rPr kern="1200" spc="-10" dirty="0">
                <a:solidFill>
                  <a:prstClr val="black"/>
                </a:solidFill>
                <a:latin typeface="Palatino Linotype"/>
                <a:cs typeface="Palatino Linotype"/>
              </a:rPr>
              <a:t>derive</a:t>
            </a:r>
            <a:r>
              <a:rPr kern="1200" dirty="0">
                <a:solidFill>
                  <a:prstClr val="black"/>
                </a:solidFill>
                <a:latin typeface="Palatino Linotype"/>
                <a:cs typeface="Palatino Linotype"/>
              </a:rPr>
              <a:t> 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empty</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string</a:t>
            </a:r>
            <a:endParaRPr kern="1200" dirty="0">
              <a:solidFill>
                <a:prstClr val="black"/>
              </a:solidFill>
              <a:latin typeface="Palatino Linotype"/>
              <a:cs typeface="Palatino Linotype"/>
            </a:endParaRPr>
          </a:p>
          <a:p>
            <a:pPr marL="357505" indent="-343535" rtl="0">
              <a:spcBef>
                <a:spcPts val="2135"/>
              </a:spcBef>
              <a:buFontTx/>
              <a:buAutoNum type="arabicPeriod"/>
              <a:tabLst>
                <a:tab pos="356870" algn="l"/>
                <a:tab pos="357505" algn="l"/>
              </a:tabLst>
            </a:pPr>
            <a:r>
              <a:rPr kern="1200" dirty="0">
                <a:solidFill>
                  <a:prstClr val="black"/>
                </a:solidFill>
                <a:latin typeface="Palatino Linotype"/>
                <a:cs typeface="Palatino Linotype"/>
              </a:rPr>
              <a:t>If </a:t>
            </a:r>
            <a:r>
              <a:rPr kern="1200" dirty="0">
                <a:solidFill>
                  <a:prstClr val="black"/>
                </a:solidFill>
                <a:latin typeface="Cambria Math"/>
                <a:cs typeface="Cambria Math"/>
              </a:rPr>
              <a:t>𝛽</a:t>
            </a:r>
            <a:r>
              <a:rPr kern="1200" spc="55" dirty="0">
                <a:solidFill>
                  <a:prstClr val="black"/>
                </a:solidFill>
                <a:latin typeface="Cambria Math"/>
                <a:cs typeface="Cambria Math"/>
              </a:rPr>
              <a:t> </a:t>
            </a:r>
            <a:r>
              <a:rPr kern="1200" dirty="0">
                <a:solidFill>
                  <a:prstClr val="black"/>
                </a:solidFill>
                <a:latin typeface="Cambria Math"/>
                <a:cs typeface="Cambria Math"/>
              </a:rPr>
              <a:t>⇒ </a:t>
            </a:r>
            <a:r>
              <a:rPr kern="1200" spc="25" dirty="0">
                <a:solidFill>
                  <a:prstClr val="black"/>
                </a:solidFill>
                <a:latin typeface="Cambria Math"/>
                <a:cs typeface="Cambria Math"/>
              </a:rPr>
              <a:t>𝜖</a:t>
            </a:r>
            <a:r>
              <a:rPr kern="1200" spc="25"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then </a:t>
            </a:r>
            <a:r>
              <a:rPr kern="1200" dirty="0">
                <a:solidFill>
                  <a:prstClr val="black"/>
                </a:solidFill>
                <a:latin typeface="Cambria Math"/>
                <a:cs typeface="Cambria Math"/>
              </a:rPr>
              <a:t>𝛼</a:t>
            </a:r>
            <a:r>
              <a:rPr kern="1200" spc="105" dirty="0">
                <a:solidFill>
                  <a:prstClr val="black"/>
                </a:solidFill>
                <a:latin typeface="Cambria Math"/>
                <a:cs typeface="Cambria Math"/>
              </a:rPr>
              <a:t> </a:t>
            </a:r>
            <a:r>
              <a:rPr kern="1200" dirty="0">
                <a:solidFill>
                  <a:prstClr val="black"/>
                </a:solidFill>
                <a:latin typeface="Palatino Linotype"/>
                <a:cs typeface="Palatino Linotype"/>
              </a:rPr>
              <a:t>does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not</a:t>
            </a:r>
            <a:r>
              <a:rPr kern="1200" spc="5" dirty="0">
                <a:solidFill>
                  <a:prstClr val="black"/>
                </a:solidFill>
                <a:latin typeface="Palatino Linotype"/>
                <a:cs typeface="Palatino Linotype"/>
              </a:rPr>
              <a:t> </a:t>
            </a:r>
            <a:r>
              <a:rPr kern="1200" spc="-10" dirty="0">
                <a:solidFill>
                  <a:prstClr val="black"/>
                </a:solidFill>
                <a:latin typeface="Palatino Linotype"/>
                <a:cs typeface="Palatino Linotype"/>
              </a:rPr>
              <a:t>derive</a:t>
            </a:r>
            <a:r>
              <a:rPr kern="1200" dirty="0">
                <a:solidFill>
                  <a:prstClr val="black"/>
                </a:solidFill>
                <a:latin typeface="Palatino Linotype"/>
                <a:cs typeface="Palatino Linotype"/>
              </a:rPr>
              <a:t> any </a:t>
            </a:r>
            <a:r>
              <a:rPr kern="1200" spc="-5" dirty="0">
                <a:solidFill>
                  <a:prstClr val="black"/>
                </a:solidFill>
                <a:latin typeface="Palatino Linotype"/>
                <a:cs typeface="Palatino Linotype"/>
              </a:rPr>
              <a:t>string</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beginning with</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 </a:t>
            </a:r>
            <a:r>
              <a:rPr kern="1200" spc="-5" dirty="0">
                <a:solidFill>
                  <a:prstClr val="black"/>
                </a:solidFill>
                <a:latin typeface="Palatino Linotype"/>
                <a:cs typeface="Palatino Linotype"/>
              </a:rPr>
              <a:t>terminal</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a:t>
            </a:r>
          </a:p>
          <a:p>
            <a:pPr marL="356870" rtl="0">
              <a:spcBef>
                <a:spcPts val="555"/>
              </a:spcBef>
            </a:pPr>
            <a:r>
              <a:rPr kern="1200" spc="-5" dirty="0">
                <a:solidFill>
                  <a:prstClr val="black"/>
                </a:solidFill>
                <a:latin typeface="Cambria Math"/>
                <a:cs typeface="Cambria Math"/>
              </a:rPr>
              <a:t>FOLLOW(𝐴)</a:t>
            </a:r>
            <a:r>
              <a:rPr kern="1200" spc="35" dirty="0">
                <a:solidFill>
                  <a:prstClr val="black"/>
                </a:solidFill>
                <a:latin typeface="Cambria Math"/>
                <a:cs typeface="Cambria Math"/>
              </a:rPr>
              <a:t> </a:t>
            </a:r>
            <a:r>
              <a:rPr kern="1200" dirty="0">
                <a:solidFill>
                  <a:prstClr val="black"/>
                </a:solidFill>
                <a:latin typeface="Palatino Linotype"/>
                <a:cs typeface="Palatino Linotype"/>
              </a:rPr>
              <a:t>and</a:t>
            </a:r>
            <a:r>
              <a:rPr kern="1200" spc="-20" dirty="0">
                <a:solidFill>
                  <a:prstClr val="black"/>
                </a:solidFill>
                <a:latin typeface="Palatino Linotype"/>
                <a:cs typeface="Palatino Linotype"/>
              </a:rPr>
              <a:t> </a:t>
            </a:r>
            <a:r>
              <a:rPr kern="1200" spc="-5" dirty="0">
                <a:solidFill>
                  <a:prstClr val="black"/>
                </a:solidFill>
                <a:latin typeface="Palatino Linotype"/>
                <a:cs typeface="Palatino Linotype"/>
              </a:rPr>
              <a:t>vice</a:t>
            </a:r>
            <a:r>
              <a:rPr kern="1200" spc="-20" dirty="0">
                <a:solidFill>
                  <a:prstClr val="black"/>
                </a:solidFill>
                <a:latin typeface="Palatino Linotype"/>
                <a:cs typeface="Palatino Linotype"/>
              </a:rPr>
              <a:t> </a:t>
            </a:r>
            <a:r>
              <a:rPr kern="1200" spc="-10" dirty="0">
                <a:solidFill>
                  <a:prstClr val="black"/>
                </a:solidFill>
                <a:latin typeface="Palatino Linotype"/>
                <a:cs typeface="Palatino Linotype"/>
              </a:rPr>
              <a:t>versa</a:t>
            </a:r>
            <a:endParaRPr kern="1200" dirty="0">
              <a:solidFill>
                <a:prstClr val="black"/>
              </a:solidFill>
              <a:latin typeface="Palatino Linotype"/>
              <a:cs typeface="Palatino Linotype"/>
            </a:endParaRPr>
          </a:p>
        </p:txBody>
      </p:sp>
      <p:sp>
        <p:nvSpPr>
          <p:cNvPr id="20" name="object 6">
            <a:extLst>
              <a:ext uri="{FF2B5EF4-FFF2-40B4-BE49-F238E27FC236}">
                <a16:creationId xmlns:a16="http://schemas.microsoft.com/office/drawing/2014/main" id="{FDA3074A-2DD2-5B23-C91E-EDDA5A40FF58}"/>
              </a:ext>
            </a:extLst>
          </p:cNvPr>
          <p:cNvSpPr txBox="1"/>
          <p:nvPr/>
        </p:nvSpPr>
        <p:spPr>
          <a:xfrm>
            <a:off x="640276" y="4350004"/>
            <a:ext cx="7603490" cy="269240"/>
          </a:xfrm>
          <a:prstGeom prst="rect">
            <a:avLst/>
          </a:prstGeom>
        </p:spPr>
        <p:txBody>
          <a:bodyPr vert="horz" wrap="square" lIns="0" tIns="12700" rIns="0" bIns="0" rtlCol="0">
            <a:spAutoFit/>
          </a:bodyPr>
          <a:lstStyle/>
          <a:p>
            <a:pPr marL="12700" rtl="0">
              <a:spcBef>
                <a:spcPts val="100"/>
              </a:spcBef>
            </a:pPr>
            <a:r>
              <a:rPr sz="1600" kern="1200" dirty="0">
                <a:solidFill>
                  <a:srgbClr val="0432FF"/>
                </a:solidFill>
                <a:latin typeface="Palatino Linotype"/>
                <a:cs typeface="Palatino Linotype"/>
              </a:rPr>
              <a:t>*</a:t>
            </a:r>
            <a:r>
              <a:rPr sz="1600" kern="1200" spc="5" dirty="0">
                <a:solidFill>
                  <a:srgbClr val="0432FF"/>
                </a:solidFill>
                <a:latin typeface="Palatino Linotype"/>
                <a:cs typeface="Palatino Linotype"/>
              </a:rPr>
              <a:t> </a:t>
            </a:r>
            <a:r>
              <a:rPr sz="1600" kern="1200" spc="-5" dirty="0">
                <a:solidFill>
                  <a:srgbClr val="0432FF"/>
                </a:solidFill>
                <a:latin typeface="Palatino Linotype"/>
                <a:cs typeface="Palatino Linotype"/>
              </a:rPr>
              <a:t>The</a:t>
            </a:r>
            <a:r>
              <a:rPr sz="1600" kern="1200" spc="5" dirty="0">
                <a:solidFill>
                  <a:srgbClr val="0432FF"/>
                </a:solidFill>
                <a:latin typeface="Palatino Linotype"/>
                <a:cs typeface="Palatino Linotype"/>
              </a:rPr>
              <a:t> </a:t>
            </a:r>
            <a:r>
              <a:rPr sz="1600" kern="1200" dirty="0">
                <a:solidFill>
                  <a:srgbClr val="0432FF"/>
                </a:solidFill>
                <a:latin typeface="Palatino Linotype"/>
                <a:cs typeface="Palatino Linotype"/>
              </a:rPr>
              <a:t>three</a:t>
            </a:r>
            <a:r>
              <a:rPr sz="1600" kern="1200" spc="5" dirty="0">
                <a:solidFill>
                  <a:srgbClr val="0432FF"/>
                </a:solidFill>
                <a:latin typeface="Palatino Linotype"/>
                <a:cs typeface="Palatino Linotype"/>
              </a:rPr>
              <a:t> </a:t>
            </a:r>
            <a:r>
              <a:rPr sz="1600" kern="1200" spc="-5" dirty="0">
                <a:solidFill>
                  <a:srgbClr val="0432FF"/>
                </a:solidFill>
                <a:latin typeface="Palatino Linotype"/>
                <a:cs typeface="Palatino Linotype"/>
              </a:rPr>
              <a:t>conditions</a:t>
            </a:r>
            <a:r>
              <a:rPr sz="1600" kern="1200" spc="5" dirty="0">
                <a:solidFill>
                  <a:srgbClr val="0432FF"/>
                </a:solidFill>
                <a:latin typeface="Palatino Linotype"/>
                <a:cs typeface="Palatino Linotype"/>
              </a:rPr>
              <a:t> </a:t>
            </a:r>
            <a:r>
              <a:rPr sz="1600" kern="1200" spc="-5" dirty="0">
                <a:solidFill>
                  <a:srgbClr val="0432FF"/>
                </a:solidFill>
                <a:latin typeface="Palatino Linotype"/>
                <a:cs typeface="Palatino Linotype"/>
              </a:rPr>
              <a:t>basically</a:t>
            </a:r>
            <a:r>
              <a:rPr sz="1600" kern="1200" spc="5" dirty="0">
                <a:solidFill>
                  <a:srgbClr val="0432FF"/>
                </a:solidFill>
                <a:latin typeface="Palatino Linotype"/>
                <a:cs typeface="Palatino Linotype"/>
              </a:rPr>
              <a:t> </a:t>
            </a:r>
            <a:r>
              <a:rPr sz="1600" kern="1200" spc="-5" dirty="0">
                <a:solidFill>
                  <a:srgbClr val="0432FF"/>
                </a:solidFill>
                <a:latin typeface="Palatino Linotype"/>
                <a:cs typeface="Palatino Linotype"/>
              </a:rPr>
              <a:t>rule</a:t>
            </a:r>
            <a:r>
              <a:rPr sz="1600" kern="1200" spc="5" dirty="0">
                <a:solidFill>
                  <a:srgbClr val="0432FF"/>
                </a:solidFill>
                <a:latin typeface="Palatino Linotype"/>
                <a:cs typeface="Palatino Linotype"/>
              </a:rPr>
              <a:t> </a:t>
            </a:r>
            <a:r>
              <a:rPr sz="1600" kern="1200" spc="-5" dirty="0">
                <a:solidFill>
                  <a:srgbClr val="0432FF"/>
                </a:solidFill>
                <a:latin typeface="Palatino Linotype"/>
                <a:cs typeface="Palatino Linotype"/>
              </a:rPr>
              <a:t>out</a:t>
            </a:r>
            <a:r>
              <a:rPr sz="1600" kern="1200" spc="10" dirty="0">
                <a:solidFill>
                  <a:srgbClr val="0432FF"/>
                </a:solidFill>
                <a:latin typeface="Palatino Linotype"/>
                <a:cs typeface="Palatino Linotype"/>
              </a:rPr>
              <a:t> </a:t>
            </a:r>
            <a:r>
              <a:rPr sz="1600" kern="1200" dirty="0">
                <a:solidFill>
                  <a:srgbClr val="0432FF"/>
                </a:solidFill>
                <a:latin typeface="Palatino Linotype"/>
                <a:cs typeface="Palatino Linotype"/>
              </a:rPr>
              <a:t>the</a:t>
            </a:r>
            <a:r>
              <a:rPr sz="1600" kern="1200" spc="5" dirty="0">
                <a:solidFill>
                  <a:srgbClr val="0432FF"/>
                </a:solidFill>
                <a:latin typeface="Palatino Linotype"/>
                <a:cs typeface="Palatino Linotype"/>
              </a:rPr>
              <a:t> </a:t>
            </a:r>
            <a:r>
              <a:rPr sz="1600" kern="1200" spc="-5" dirty="0">
                <a:solidFill>
                  <a:srgbClr val="0432FF"/>
                </a:solidFill>
                <a:latin typeface="Palatino Linotype"/>
                <a:cs typeface="Palatino Linotype"/>
              </a:rPr>
              <a:t>possibility</a:t>
            </a:r>
            <a:r>
              <a:rPr sz="1600" kern="1200" spc="5" dirty="0">
                <a:solidFill>
                  <a:srgbClr val="0432FF"/>
                </a:solidFill>
                <a:latin typeface="Palatino Linotype"/>
                <a:cs typeface="Palatino Linotype"/>
              </a:rPr>
              <a:t> </a:t>
            </a:r>
            <a:r>
              <a:rPr sz="1600" kern="1200" dirty="0">
                <a:solidFill>
                  <a:srgbClr val="0432FF"/>
                </a:solidFill>
                <a:latin typeface="Palatino Linotype"/>
                <a:cs typeface="Palatino Linotype"/>
              </a:rPr>
              <a:t>of</a:t>
            </a:r>
            <a:r>
              <a:rPr sz="1600" kern="1200" spc="10" dirty="0">
                <a:solidFill>
                  <a:srgbClr val="0432FF"/>
                </a:solidFill>
                <a:latin typeface="Palatino Linotype"/>
                <a:cs typeface="Palatino Linotype"/>
              </a:rPr>
              <a:t> </a:t>
            </a:r>
            <a:r>
              <a:rPr sz="1600" kern="1200" spc="-5" dirty="0">
                <a:solidFill>
                  <a:srgbClr val="0432FF"/>
                </a:solidFill>
                <a:latin typeface="Palatino Linotype"/>
                <a:cs typeface="Palatino Linotype"/>
              </a:rPr>
              <a:t>applying</a:t>
            </a:r>
            <a:r>
              <a:rPr sz="1600" kern="1200" dirty="0">
                <a:solidFill>
                  <a:srgbClr val="0432FF"/>
                </a:solidFill>
                <a:latin typeface="Palatino Linotype"/>
                <a:cs typeface="Palatino Linotype"/>
              </a:rPr>
              <a:t> both</a:t>
            </a:r>
            <a:r>
              <a:rPr sz="1600" kern="1200" spc="15" dirty="0">
                <a:solidFill>
                  <a:srgbClr val="0432FF"/>
                </a:solidFill>
                <a:latin typeface="Palatino Linotype"/>
                <a:cs typeface="Palatino Linotype"/>
              </a:rPr>
              <a:t> </a:t>
            </a:r>
            <a:r>
              <a:rPr sz="1600" kern="1200" spc="-5" dirty="0">
                <a:solidFill>
                  <a:srgbClr val="0432FF"/>
                </a:solidFill>
                <a:latin typeface="Palatino Linotype"/>
                <a:cs typeface="Palatino Linotype"/>
              </a:rPr>
              <a:t>productions</a:t>
            </a:r>
            <a:endParaRPr sz="1600" kern="1200" dirty="0">
              <a:solidFill>
                <a:prstClr val="black"/>
              </a:solidFill>
              <a:latin typeface="Palatino Linotype"/>
              <a:cs typeface="Palatino Linotype"/>
            </a:endParaRPr>
          </a:p>
        </p:txBody>
      </p:sp>
      <p:sp>
        <p:nvSpPr>
          <p:cNvPr id="21" name="object 7">
            <a:extLst>
              <a:ext uri="{FF2B5EF4-FFF2-40B4-BE49-F238E27FC236}">
                <a16:creationId xmlns:a16="http://schemas.microsoft.com/office/drawing/2014/main" id="{F61CBD17-1BBC-CDC1-6A48-FDD75FA5720A}"/>
              </a:ext>
            </a:extLst>
          </p:cNvPr>
          <p:cNvSpPr/>
          <p:nvPr/>
        </p:nvSpPr>
        <p:spPr>
          <a:xfrm>
            <a:off x="1633145" y="5258663"/>
            <a:ext cx="278130" cy="200025"/>
          </a:xfrm>
          <a:custGeom>
            <a:avLst/>
            <a:gdLst/>
            <a:ahLst/>
            <a:cxnLst/>
            <a:rect l="l" t="t" r="r" b="b"/>
            <a:pathLst>
              <a:path w="278130" h="200025">
                <a:moveTo>
                  <a:pt x="214190" y="0"/>
                </a:moveTo>
                <a:lnTo>
                  <a:pt x="211344" y="8117"/>
                </a:lnTo>
                <a:lnTo>
                  <a:pt x="222921" y="13141"/>
                </a:lnTo>
                <a:lnTo>
                  <a:pt x="232876" y="20096"/>
                </a:lnTo>
                <a:lnTo>
                  <a:pt x="256780" y="66375"/>
                </a:lnTo>
                <a:lnTo>
                  <a:pt x="259732" y="98990"/>
                </a:lnTo>
                <a:lnTo>
                  <a:pt x="258991" y="116627"/>
                </a:lnTo>
                <a:lnTo>
                  <a:pt x="247872" y="159816"/>
                </a:lnTo>
                <a:lnTo>
                  <a:pt x="211660" y="191863"/>
                </a:lnTo>
                <a:lnTo>
                  <a:pt x="214190" y="199981"/>
                </a:lnTo>
                <a:lnTo>
                  <a:pt x="252399" y="177280"/>
                </a:lnTo>
                <a:lnTo>
                  <a:pt x="273858" y="135372"/>
                </a:lnTo>
                <a:lnTo>
                  <a:pt x="277969" y="100044"/>
                </a:lnTo>
                <a:lnTo>
                  <a:pt x="276938" y="81710"/>
                </a:lnTo>
                <a:lnTo>
                  <a:pt x="261471" y="35052"/>
                </a:lnTo>
                <a:lnTo>
                  <a:pt x="228689" y="5234"/>
                </a:lnTo>
                <a:lnTo>
                  <a:pt x="214190" y="0"/>
                </a:lnTo>
                <a:close/>
              </a:path>
              <a:path w="278130" h="200025">
                <a:moveTo>
                  <a:pt x="63779" y="0"/>
                </a:moveTo>
                <a:lnTo>
                  <a:pt x="25640" y="22760"/>
                </a:lnTo>
                <a:lnTo>
                  <a:pt x="4124" y="64767"/>
                </a:lnTo>
                <a:lnTo>
                  <a:pt x="0" y="100044"/>
                </a:lnTo>
                <a:lnTo>
                  <a:pt x="1027" y="118416"/>
                </a:lnTo>
                <a:lnTo>
                  <a:pt x="16446" y="165035"/>
                </a:lnTo>
                <a:lnTo>
                  <a:pt x="49238" y="194753"/>
                </a:lnTo>
                <a:lnTo>
                  <a:pt x="63779" y="199981"/>
                </a:lnTo>
                <a:lnTo>
                  <a:pt x="66309" y="191863"/>
                </a:lnTo>
                <a:lnTo>
                  <a:pt x="54914" y="186817"/>
                </a:lnTo>
                <a:lnTo>
                  <a:pt x="45080" y="179793"/>
                </a:lnTo>
                <a:lnTo>
                  <a:pt x="24909" y="147041"/>
                </a:lnTo>
                <a:lnTo>
                  <a:pt x="18238" y="98990"/>
                </a:lnTo>
                <a:lnTo>
                  <a:pt x="18979" y="81928"/>
                </a:lnTo>
                <a:lnTo>
                  <a:pt x="30097" y="39796"/>
                </a:lnTo>
                <a:lnTo>
                  <a:pt x="66625" y="8117"/>
                </a:lnTo>
                <a:lnTo>
                  <a:pt x="63779" y="0"/>
                </a:lnTo>
                <a:close/>
              </a:path>
            </a:pathLst>
          </a:custGeom>
          <a:solidFill>
            <a:srgbClr val="A6A6A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8">
            <a:extLst>
              <a:ext uri="{FF2B5EF4-FFF2-40B4-BE49-F238E27FC236}">
                <a16:creationId xmlns:a16="http://schemas.microsoft.com/office/drawing/2014/main" id="{A6EAAA9E-5E38-89E0-14B7-C2111A412FD9}"/>
              </a:ext>
            </a:extLst>
          </p:cNvPr>
          <p:cNvSpPr/>
          <p:nvPr/>
        </p:nvSpPr>
        <p:spPr>
          <a:xfrm>
            <a:off x="2741982" y="5258663"/>
            <a:ext cx="278130" cy="200025"/>
          </a:xfrm>
          <a:custGeom>
            <a:avLst/>
            <a:gdLst/>
            <a:ahLst/>
            <a:cxnLst/>
            <a:rect l="l" t="t" r="r" b="b"/>
            <a:pathLst>
              <a:path w="278130" h="200025">
                <a:moveTo>
                  <a:pt x="214190" y="0"/>
                </a:moveTo>
                <a:lnTo>
                  <a:pt x="211344" y="8117"/>
                </a:lnTo>
                <a:lnTo>
                  <a:pt x="222921" y="13141"/>
                </a:lnTo>
                <a:lnTo>
                  <a:pt x="232876" y="20096"/>
                </a:lnTo>
                <a:lnTo>
                  <a:pt x="256780" y="66375"/>
                </a:lnTo>
                <a:lnTo>
                  <a:pt x="259732" y="98990"/>
                </a:lnTo>
                <a:lnTo>
                  <a:pt x="258991" y="116627"/>
                </a:lnTo>
                <a:lnTo>
                  <a:pt x="247872" y="159816"/>
                </a:lnTo>
                <a:lnTo>
                  <a:pt x="211660" y="191863"/>
                </a:lnTo>
                <a:lnTo>
                  <a:pt x="214190" y="199981"/>
                </a:lnTo>
                <a:lnTo>
                  <a:pt x="252399" y="177280"/>
                </a:lnTo>
                <a:lnTo>
                  <a:pt x="273858" y="135372"/>
                </a:lnTo>
                <a:lnTo>
                  <a:pt x="277969" y="100044"/>
                </a:lnTo>
                <a:lnTo>
                  <a:pt x="276938" y="81710"/>
                </a:lnTo>
                <a:lnTo>
                  <a:pt x="261471" y="35052"/>
                </a:lnTo>
                <a:lnTo>
                  <a:pt x="228689" y="5234"/>
                </a:lnTo>
                <a:lnTo>
                  <a:pt x="214190" y="0"/>
                </a:lnTo>
                <a:close/>
              </a:path>
              <a:path w="278130" h="200025">
                <a:moveTo>
                  <a:pt x="63779" y="0"/>
                </a:moveTo>
                <a:lnTo>
                  <a:pt x="25640" y="22760"/>
                </a:lnTo>
                <a:lnTo>
                  <a:pt x="4124" y="64767"/>
                </a:lnTo>
                <a:lnTo>
                  <a:pt x="0" y="100044"/>
                </a:lnTo>
                <a:lnTo>
                  <a:pt x="1027" y="118416"/>
                </a:lnTo>
                <a:lnTo>
                  <a:pt x="16445" y="165035"/>
                </a:lnTo>
                <a:lnTo>
                  <a:pt x="49238" y="194753"/>
                </a:lnTo>
                <a:lnTo>
                  <a:pt x="63779" y="199981"/>
                </a:lnTo>
                <a:lnTo>
                  <a:pt x="66309" y="191863"/>
                </a:lnTo>
                <a:lnTo>
                  <a:pt x="54914" y="186817"/>
                </a:lnTo>
                <a:lnTo>
                  <a:pt x="45080" y="179793"/>
                </a:lnTo>
                <a:lnTo>
                  <a:pt x="24908" y="147041"/>
                </a:lnTo>
                <a:lnTo>
                  <a:pt x="18238" y="98990"/>
                </a:lnTo>
                <a:lnTo>
                  <a:pt x="18979" y="81928"/>
                </a:lnTo>
                <a:lnTo>
                  <a:pt x="30097" y="39796"/>
                </a:lnTo>
                <a:lnTo>
                  <a:pt x="66625" y="8117"/>
                </a:lnTo>
                <a:lnTo>
                  <a:pt x="63779" y="0"/>
                </a:lnTo>
                <a:close/>
              </a:path>
            </a:pathLst>
          </a:custGeom>
          <a:solidFill>
            <a:srgbClr val="A6A6A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9">
            <a:extLst>
              <a:ext uri="{FF2B5EF4-FFF2-40B4-BE49-F238E27FC236}">
                <a16:creationId xmlns:a16="http://schemas.microsoft.com/office/drawing/2014/main" id="{8425CFCA-E333-8A50-AC4E-4AF208D8FD1F}"/>
              </a:ext>
            </a:extLst>
          </p:cNvPr>
          <p:cNvSpPr/>
          <p:nvPr/>
        </p:nvSpPr>
        <p:spPr>
          <a:xfrm>
            <a:off x="2193278" y="5677763"/>
            <a:ext cx="278130" cy="200025"/>
          </a:xfrm>
          <a:custGeom>
            <a:avLst/>
            <a:gdLst/>
            <a:ahLst/>
            <a:cxnLst/>
            <a:rect l="l" t="t" r="r" b="b"/>
            <a:pathLst>
              <a:path w="278130" h="200025">
                <a:moveTo>
                  <a:pt x="214190" y="0"/>
                </a:moveTo>
                <a:lnTo>
                  <a:pt x="211344" y="8117"/>
                </a:lnTo>
                <a:lnTo>
                  <a:pt x="222921" y="13141"/>
                </a:lnTo>
                <a:lnTo>
                  <a:pt x="232876" y="20095"/>
                </a:lnTo>
                <a:lnTo>
                  <a:pt x="256780" y="66374"/>
                </a:lnTo>
                <a:lnTo>
                  <a:pt x="259732" y="98989"/>
                </a:lnTo>
                <a:lnTo>
                  <a:pt x="258991" y="116627"/>
                </a:lnTo>
                <a:lnTo>
                  <a:pt x="247872" y="159816"/>
                </a:lnTo>
                <a:lnTo>
                  <a:pt x="211660" y="191864"/>
                </a:lnTo>
                <a:lnTo>
                  <a:pt x="214190" y="199981"/>
                </a:lnTo>
                <a:lnTo>
                  <a:pt x="252399" y="177279"/>
                </a:lnTo>
                <a:lnTo>
                  <a:pt x="273858" y="135372"/>
                </a:lnTo>
                <a:lnTo>
                  <a:pt x="277969" y="100043"/>
                </a:lnTo>
                <a:lnTo>
                  <a:pt x="276938" y="81710"/>
                </a:lnTo>
                <a:lnTo>
                  <a:pt x="261471" y="35052"/>
                </a:lnTo>
                <a:lnTo>
                  <a:pt x="228689" y="5234"/>
                </a:lnTo>
                <a:lnTo>
                  <a:pt x="214190" y="0"/>
                </a:lnTo>
                <a:close/>
              </a:path>
              <a:path w="278130" h="200025">
                <a:moveTo>
                  <a:pt x="63779" y="0"/>
                </a:moveTo>
                <a:lnTo>
                  <a:pt x="25640" y="22760"/>
                </a:lnTo>
                <a:lnTo>
                  <a:pt x="4124" y="64767"/>
                </a:lnTo>
                <a:lnTo>
                  <a:pt x="0" y="100043"/>
                </a:lnTo>
                <a:lnTo>
                  <a:pt x="1027" y="118416"/>
                </a:lnTo>
                <a:lnTo>
                  <a:pt x="16446" y="165034"/>
                </a:lnTo>
                <a:lnTo>
                  <a:pt x="49238" y="194753"/>
                </a:lnTo>
                <a:lnTo>
                  <a:pt x="63779" y="199981"/>
                </a:lnTo>
                <a:lnTo>
                  <a:pt x="66309" y="191864"/>
                </a:lnTo>
                <a:lnTo>
                  <a:pt x="54914" y="186817"/>
                </a:lnTo>
                <a:lnTo>
                  <a:pt x="45080" y="179793"/>
                </a:lnTo>
                <a:lnTo>
                  <a:pt x="24908" y="147040"/>
                </a:lnTo>
                <a:lnTo>
                  <a:pt x="18238" y="98989"/>
                </a:lnTo>
                <a:lnTo>
                  <a:pt x="18979" y="81927"/>
                </a:lnTo>
                <a:lnTo>
                  <a:pt x="30097" y="39795"/>
                </a:lnTo>
                <a:lnTo>
                  <a:pt x="66625" y="8117"/>
                </a:lnTo>
                <a:lnTo>
                  <a:pt x="63779" y="0"/>
                </a:lnTo>
                <a:close/>
              </a:path>
            </a:pathLst>
          </a:custGeom>
          <a:solidFill>
            <a:srgbClr val="A6A6A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10">
            <a:extLst>
              <a:ext uri="{FF2B5EF4-FFF2-40B4-BE49-F238E27FC236}">
                <a16:creationId xmlns:a16="http://schemas.microsoft.com/office/drawing/2014/main" id="{D502C0F1-4FDA-8920-8FF2-BA57F3908E4D}"/>
              </a:ext>
            </a:extLst>
          </p:cNvPr>
          <p:cNvSpPr/>
          <p:nvPr/>
        </p:nvSpPr>
        <p:spPr>
          <a:xfrm>
            <a:off x="3644253" y="5677763"/>
            <a:ext cx="278130" cy="200025"/>
          </a:xfrm>
          <a:custGeom>
            <a:avLst/>
            <a:gdLst/>
            <a:ahLst/>
            <a:cxnLst/>
            <a:rect l="l" t="t" r="r" b="b"/>
            <a:pathLst>
              <a:path w="278129" h="200025">
                <a:moveTo>
                  <a:pt x="214190" y="0"/>
                </a:moveTo>
                <a:lnTo>
                  <a:pt x="211344" y="8117"/>
                </a:lnTo>
                <a:lnTo>
                  <a:pt x="222921" y="13141"/>
                </a:lnTo>
                <a:lnTo>
                  <a:pt x="232876" y="20095"/>
                </a:lnTo>
                <a:lnTo>
                  <a:pt x="256780" y="66374"/>
                </a:lnTo>
                <a:lnTo>
                  <a:pt x="259732" y="98989"/>
                </a:lnTo>
                <a:lnTo>
                  <a:pt x="258991" y="116627"/>
                </a:lnTo>
                <a:lnTo>
                  <a:pt x="247872" y="159816"/>
                </a:lnTo>
                <a:lnTo>
                  <a:pt x="211660" y="191864"/>
                </a:lnTo>
                <a:lnTo>
                  <a:pt x="214190" y="199981"/>
                </a:lnTo>
                <a:lnTo>
                  <a:pt x="252399" y="177279"/>
                </a:lnTo>
                <a:lnTo>
                  <a:pt x="273858" y="135372"/>
                </a:lnTo>
                <a:lnTo>
                  <a:pt x="277969" y="100043"/>
                </a:lnTo>
                <a:lnTo>
                  <a:pt x="276938" y="81710"/>
                </a:lnTo>
                <a:lnTo>
                  <a:pt x="261471" y="35052"/>
                </a:lnTo>
                <a:lnTo>
                  <a:pt x="228689" y="5234"/>
                </a:lnTo>
                <a:lnTo>
                  <a:pt x="214190" y="0"/>
                </a:lnTo>
                <a:close/>
              </a:path>
              <a:path w="278129" h="200025">
                <a:moveTo>
                  <a:pt x="63779" y="0"/>
                </a:moveTo>
                <a:lnTo>
                  <a:pt x="25640" y="22760"/>
                </a:lnTo>
                <a:lnTo>
                  <a:pt x="4124" y="64767"/>
                </a:lnTo>
                <a:lnTo>
                  <a:pt x="0" y="100043"/>
                </a:lnTo>
                <a:lnTo>
                  <a:pt x="1027" y="118416"/>
                </a:lnTo>
                <a:lnTo>
                  <a:pt x="16445" y="165034"/>
                </a:lnTo>
                <a:lnTo>
                  <a:pt x="49238" y="194753"/>
                </a:lnTo>
                <a:lnTo>
                  <a:pt x="63779" y="199981"/>
                </a:lnTo>
                <a:lnTo>
                  <a:pt x="66309" y="191864"/>
                </a:lnTo>
                <a:lnTo>
                  <a:pt x="54914" y="186817"/>
                </a:lnTo>
                <a:lnTo>
                  <a:pt x="45080" y="179793"/>
                </a:lnTo>
                <a:lnTo>
                  <a:pt x="24908" y="147040"/>
                </a:lnTo>
                <a:lnTo>
                  <a:pt x="18238" y="98989"/>
                </a:lnTo>
                <a:lnTo>
                  <a:pt x="18979" y="81927"/>
                </a:lnTo>
                <a:lnTo>
                  <a:pt x="30097" y="39795"/>
                </a:lnTo>
                <a:lnTo>
                  <a:pt x="66625" y="8117"/>
                </a:lnTo>
                <a:lnTo>
                  <a:pt x="63779" y="0"/>
                </a:lnTo>
                <a:close/>
              </a:path>
            </a:pathLst>
          </a:custGeom>
          <a:solidFill>
            <a:srgbClr val="A6A6A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11">
            <a:extLst>
              <a:ext uri="{FF2B5EF4-FFF2-40B4-BE49-F238E27FC236}">
                <a16:creationId xmlns:a16="http://schemas.microsoft.com/office/drawing/2014/main" id="{8C0A0C09-ACDE-A620-189A-868588A8469A}"/>
              </a:ext>
            </a:extLst>
          </p:cNvPr>
          <p:cNvSpPr/>
          <p:nvPr/>
        </p:nvSpPr>
        <p:spPr>
          <a:xfrm>
            <a:off x="5027727" y="5677763"/>
            <a:ext cx="280035" cy="200025"/>
          </a:xfrm>
          <a:custGeom>
            <a:avLst/>
            <a:gdLst/>
            <a:ahLst/>
            <a:cxnLst/>
            <a:rect l="l" t="t" r="r" b="b"/>
            <a:pathLst>
              <a:path w="280035" h="200025">
                <a:moveTo>
                  <a:pt x="216095" y="0"/>
                </a:moveTo>
                <a:lnTo>
                  <a:pt x="213249" y="8117"/>
                </a:lnTo>
                <a:lnTo>
                  <a:pt x="224826" y="13141"/>
                </a:lnTo>
                <a:lnTo>
                  <a:pt x="234781" y="20095"/>
                </a:lnTo>
                <a:lnTo>
                  <a:pt x="258685" y="66374"/>
                </a:lnTo>
                <a:lnTo>
                  <a:pt x="261637" y="98989"/>
                </a:lnTo>
                <a:lnTo>
                  <a:pt x="260896" y="116627"/>
                </a:lnTo>
                <a:lnTo>
                  <a:pt x="249777" y="159816"/>
                </a:lnTo>
                <a:lnTo>
                  <a:pt x="213565" y="191864"/>
                </a:lnTo>
                <a:lnTo>
                  <a:pt x="216095" y="199981"/>
                </a:lnTo>
                <a:lnTo>
                  <a:pt x="254304" y="177279"/>
                </a:lnTo>
                <a:lnTo>
                  <a:pt x="275763" y="135372"/>
                </a:lnTo>
                <a:lnTo>
                  <a:pt x="279874" y="100043"/>
                </a:lnTo>
                <a:lnTo>
                  <a:pt x="278843" y="81710"/>
                </a:lnTo>
                <a:lnTo>
                  <a:pt x="263376" y="35052"/>
                </a:lnTo>
                <a:lnTo>
                  <a:pt x="230594" y="5234"/>
                </a:lnTo>
                <a:lnTo>
                  <a:pt x="216095" y="0"/>
                </a:lnTo>
                <a:close/>
              </a:path>
              <a:path w="280035" h="200025">
                <a:moveTo>
                  <a:pt x="63779" y="0"/>
                </a:moveTo>
                <a:lnTo>
                  <a:pt x="25640" y="22760"/>
                </a:lnTo>
                <a:lnTo>
                  <a:pt x="4124" y="64767"/>
                </a:lnTo>
                <a:lnTo>
                  <a:pt x="0" y="100043"/>
                </a:lnTo>
                <a:lnTo>
                  <a:pt x="1027" y="118416"/>
                </a:lnTo>
                <a:lnTo>
                  <a:pt x="16445" y="165034"/>
                </a:lnTo>
                <a:lnTo>
                  <a:pt x="49238" y="194753"/>
                </a:lnTo>
                <a:lnTo>
                  <a:pt x="63779" y="199981"/>
                </a:lnTo>
                <a:lnTo>
                  <a:pt x="66309" y="191864"/>
                </a:lnTo>
                <a:lnTo>
                  <a:pt x="54914" y="186817"/>
                </a:lnTo>
                <a:lnTo>
                  <a:pt x="45080" y="179793"/>
                </a:lnTo>
                <a:lnTo>
                  <a:pt x="24908" y="147040"/>
                </a:lnTo>
                <a:lnTo>
                  <a:pt x="18238" y="98989"/>
                </a:lnTo>
                <a:lnTo>
                  <a:pt x="18979" y="81927"/>
                </a:lnTo>
                <a:lnTo>
                  <a:pt x="30097" y="39795"/>
                </a:lnTo>
                <a:lnTo>
                  <a:pt x="66625" y="8117"/>
                </a:lnTo>
                <a:lnTo>
                  <a:pt x="63779" y="0"/>
                </a:lnTo>
                <a:close/>
              </a:path>
            </a:pathLst>
          </a:custGeom>
          <a:solidFill>
            <a:srgbClr val="A6A6A6"/>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12">
            <a:extLst>
              <a:ext uri="{FF2B5EF4-FFF2-40B4-BE49-F238E27FC236}">
                <a16:creationId xmlns:a16="http://schemas.microsoft.com/office/drawing/2014/main" id="{B3E790BA-3BC1-E688-3945-09B2BA28EF9F}"/>
              </a:ext>
            </a:extLst>
          </p:cNvPr>
          <p:cNvSpPr txBox="1"/>
          <p:nvPr/>
        </p:nvSpPr>
        <p:spPr>
          <a:xfrm>
            <a:off x="628650" y="4764947"/>
            <a:ext cx="7886700" cy="1350645"/>
          </a:xfrm>
          <a:prstGeom prst="rect">
            <a:avLst/>
          </a:prstGeom>
          <a:ln w="12700">
            <a:solidFill>
              <a:srgbClr val="A5A5A5"/>
            </a:solidFill>
          </a:ln>
        </p:spPr>
        <p:txBody>
          <a:bodyPr vert="horz" wrap="square" lIns="0" tIns="33020" rIns="0" bIns="0" rtlCol="0">
            <a:spAutoFit/>
          </a:bodyPr>
          <a:lstStyle/>
          <a:p>
            <a:pPr marL="93345" rtl="0">
              <a:spcBef>
                <a:spcPts val="260"/>
              </a:spcBef>
            </a:pPr>
            <a:r>
              <a:rPr sz="1700" b="1" kern="1200" dirty="0">
                <a:solidFill>
                  <a:srgbClr val="A6A6A6"/>
                </a:solidFill>
                <a:latin typeface="Palatino Linotype"/>
                <a:cs typeface="Palatino Linotype"/>
              </a:rPr>
              <a:t>More</a:t>
            </a:r>
            <a:r>
              <a:rPr sz="1700" b="1" kern="1200" spc="-30" dirty="0">
                <a:solidFill>
                  <a:srgbClr val="A6A6A6"/>
                </a:solidFill>
                <a:latin typeface="Palatino Linotype"/>
                <a:cs typeface="Palatino Linotype"/>
              </a:rPr>
              <a:t> </a:t>
            </a:r>
            <a:r>
              <a:rPr sz="1700" b="1" kern="1200" spc="-5" dirty="0">
                <a:solidFill>
                  <a:srgbClr val="A6A6A6"/>
                </a:solidFill>
                <a:latin typeface="Palatino Linotype"/>
                <a:cs typeface="Palatino Linotype"/>
              </a:rPr>
              <a:t>formally:</a:t>
            </a:r>
            <a:endParaRPr sz="1700" kern="1200" dirty="0">
              <a:solidFill>
                <a:prstClr val="black"/>
              </a:solidFill>
              <a:latin typeface="Palatino Linotype"/>
              <a:cs typeface="Palatino Linotype"/>
            </a:endParaRPr>
          </a:p>
          <a:p>
            <a:pPr marL="436245" indent="-342900" rtl="0">
              <a:spcBef>
                <a:spcPts val="1150"/>
              </a:spcBef>
              <a:buFontTx/>
              <a:buAutoNum type="arabicPeriod"/>
              <a:tabLst>
                <a:tab pos="435609" algn="l"/>
                <a:tab pos="436245" algn="l"/>
                <a:tab pos="1349375" algn="l"/>
                <a:tab pos="2470150" algn="l"/>
              </a:tabLst>
            </a:pPr>
            <a:r>
              <a:rPr sz="1700" kern="1200" spc="-15" dirty="0">
                <a:solidFill>
                  <a:srgbClr val="A6A6A6"/>
                </a:solidFill>
                <a:latin typeface="Cambria Math"/>
                <a:cs typeface="Cambria Math"/>
              </a:rPr>
              <a:t>FIRST</a:t>
            </a:r>
            <a:r>
              <a:rPr sz="1700" kern="1200" spc="340" dirty="0">
                <a:solidFill>
                  <a:srgbClr val="A6A6A6"/>
                </a:solidFill>
                <a:latin typeface="Cambria Math"/>
                <a:cs typeface="Cambria Math"/>
              </a:rPr>
              <a:t> </a:t>
            </a:r>
            <a:r>
              <a:rPr sz="1700" kern="1200" dirty="0">
                <a:solidFill>
                  <a:srgbClr val="A6A6A6"/>
                </a:solidFill>
                <a:latin typeface="Cambria Math"/>
                <a:cs typeface="Cambria Math"/>
              </a:rPr>
              <a:t>𝛼	∩</a:t>
            </a:r>
            <a:r>
              <a:rPr sz="1700" kern="1200" spc="10" dirty="0">
                <a:solidFill>
                  <a:srgbClr val="A6A6A6"/>
                </a:solidFill>
                <a:latin typeface="Cambria Math"/>
                <a:cs typeface="Cambria Math"/>
              </a:rPr>
              <a:t> </a:t>
            </a:r>
            <a:r>
              <a:rPr sz="1700" kern="1200" spc="-15" dirty="0">
                <a:solidFill>
                  <a:srgbClr val="A6A6A6"/>
                </a:solidFill>
                <a:latin typeface="Cambria Math"/>
                <a:cs typeface="Cambria Math"/>
              </a:rPr>
              <a:t>FIRST</a:t>
            </a:r>
            <a:r>
              <a:rPr sz="1700" kern="1200" spc="340" dirty="0">
                <a:solidFill>
                  <a:srgbClr val="A6A6A6"/>
                </a:solidFill>
                <a:latin typeface="Cambria Math"/>
                <a:cs typeface="Cambria Math"/>
              </a:rPr>
              <a:t> </a:t>
            </a:r>
            <a:r>
              <a:rPr sz="1700" kern="1200" dirty="0">
                <a:solidFill>
                  <a:srgbClr val="A6A6A6"/>
                </a:solidFill>
                <a:latin typeface="Cambria Math"/>
                <a:cs typeface="Cambria Math"/>
              </a:rPr>
              <a:t>𝛽	=</a:t>
            </a:r>
            <a:r>
              <a:rPr sz="1700" kern="1200" spc="90" dirty="0">
                <a:solidFill>
                  <a:srgbClr val="A6A6A6"/>
                </a:solidFill>
                <a:latin typeface="Cambria Math"/>
                <a:cs typeface="Cambria Math"/>
              </a:rPr>
              <a:t> </a:t>
            </a:r>
            <a:r>
              <a:rPr sz="1700" kern="1200" dirty="0">
                <a:solidFill>
                  <a:srgbClr val="A6A6A6"/>
                </a:solidFill>
                <a:latin typeface="Cambria Math"/>
                <a:cs typeface="Cambria Math"/>
              </a:rPr>
              <a:t>∅</a:t>
            </a:r>
            <a:r>
              <a:rPr sz="1700" kern="1200" spc="35" dirty="0">
                <a:solidFill>
                  <a:srgbClr val="A6A6A6"/>
                </a:solidFill>
                <a:latin typeface="Cambria Math"/>
                <a:cs typeface="Cambria Math"/>
              </a:rPr>
              <a:t> </a:t>
            </a:r>
            <a:r>
              <a:rPr sz="1700" kern="1200" spc="-5" dirty="0">
                <a:solidFill>
                  <a:srgbClr val="A6A6A6"/>
                </a:solidFill>
                <a:latin typeface="Palatino Linotype"/>
                <a:cs typeface="Palatino Linotype"/>
              </a:rPr>
              <a:t>(conditions</a:t>
            </a:r>
            <a:r>
              <a:rPr sz="1700" kern="1200" spc="-10" dirty="0">
                <a:solidFill>
                  <a:srgbClr val="A6A6A6"/>
                </a:solidFill>
                <a:latin typeface="Palatino Linotype"/>
                <a:cs typeface="Palatino Linotype"/>
              </a:rPr>
              <a:t> </a:t>
            </a:r>
            <a:r>
              <a:rPr sz="1700" kern="1200" spc="-5" dirty="0">
                <a:solidFill>
                  <a:srgbClr val="A6A6A6"/>
                </a:solidFill>
                <a:latin typeface="Palatino Linotype"/>
                <a:cs typeface="Palatino Linotype"/>
              </a:rPr>
              <a:t>1-2</a:t>
            </a:r>
            <a:r>
              <a:rPr sz="1700" kern="1200" spc="-10" dirty="0">
                <a:solidFill>
                  <a:srgbClr val="A6A6A6"/>
                </a:solidFill>
                <a:latin typeface="Palatino Linotype"/>
                <a:cs typeface="Palatino Linotype"/>
              </a:rPr>
              <a:t> above)</a:t>
            </a:r>
            <a:endParaRPr sz="1700" kern="1200" dirty="0">
              <a:solidFill>
                <a:prstClr val="black"/>
              </a:solidFill>
              <a:latin typeface="Palatino Linotype"/>
              <a:cs typeface="Palatino Linotype"/>
            </a:endParaRPr>
          </a:p>
          <a:p>
            <a:pPr marL="436245" indent="-342900" rtl="0">
              <a:spcBef>
                <a:spcPts val="1275"/>
              </a:spcBef>
              <a:buFontTx/>
              <a:buAutoNum type="arabicPeriod"/>
              <a:tabLst>
                <a:tab pos="435609" algn="l"/>
                <a:tab pos="436245" algn="l"/>
                <a:tab pos="3360420" algn="l"/>
                <a:tab pos="4757420" algn="l"/>
              </a:tabLst>
            </a:pPr>
            <a:r>
              <a:rPr sz="1700" kern="1200" dirty="0">
                <a:solidFill>
                  <a:srgbClr val="A6A6A6"/>
                </a:solidFill>
                <a:latin typeface="Palatino Linotype"/>
                <a:cs typeface="Palatino Linotype"/>
              </a:rPr>
              <a:t>If</a:t>
            </a:r>
            <a:r>
              <a:rPr sz="1700" kern="1200" spc="-5" dirty="0">
                <a:solidFill>
                  <a:srgbClr val="A6A6A6"/>
                </a:solidFill>
                <a:latin typeface="Palatino Linotype"/>
                <a:cs typeface="Palatino Linotype"/>
              </a:rPr>
              <a:t> </a:t>
            </a:r>
            <a:r>
              <a:rPr sz="1700" kern="1200" dirty="0">
                <a:solidFill>
                  <a:srgbClr val="A6A6A6"/>
                </a:solidFill>
                <a:latin typeface="Cambria Math"/>
                <a:cs typeface="Cambria Math"/>
              </a:rPr>
              <a:t>𝜖</a:t>
            </a:r>
            <a:r>
              <a:rPr sz="1700" kern="1200" spc="150" dirty="0">
                <a:solidFill>
                  <a:srgbClr val="A6A6A6"/>
                </a:solidFill>
                <a:latin typeface="Cambria Math"/>
                <a:cs typeface="Cambria Math"/>
              </a:rPr>
              <a:t> </a:t>
            </a:r>
            <a:r>
              <a:rPr sz="1700" kern="1200" dirty="0">
                <a:solidFill>
                  <a:srgbClr val="A6A6A6"/>
                </a:solidFill>
                <a:latin typeface="Cambria Math"/>
                <a:cs typeface="Cambria Math"/>
              </a:rPr>
              <a:t>∈</a:t>
            </a:r>
            <a:r>
              <a:rPr sz="1700" kern="1200" spc="105" dirty="0">
                <a:solidFill>
                  <a:srgbClr val="A6A6A6"/>
                </a:solidFill>
                <a:latin typeface="Cambria Math"/>
                <a:cs typeface="Cambria Math"/>
              </a:rPr>
              <a:t> </a:t>
            </a:r>
            <a:r>
              <a:rPr sz="1700" kern="1200" spc="-15" dirty="0">
                <a:solidFill>
                  <a:srgbClr val="A6A6A6"/>
                </a:solidFill>
                <a:latin typeface="Cambria Math"/>
                <a:cs typeface="Cambria Math"/>
              </a:rPr>
              <a:t>FIRST</a:t>
            </a:r>
            <a:r>
              <a:rPr sz="1700" kern="1200" spc="340" dirty="0">
                <a:solidFill>
                  <a:srgbClr val="A6A6A6"/>
                </a:solidFill>
                <a:latin typeface="Cambria Math"/>
                <a:cs typeface="Cambria Math"/>
              </a:rPr>
              <a:t> </a:t>
            </a:r>
            <a:r>
              <a:rPr sz="1700" kern="1200" dirty="0">
                <a:solidFill>
                  <a:srgbClr val="A6A6A6"/>
                </a:solidFill>
                <a:latin typeface="Cambria Math"/>
                <a:cs typeface="Cambria Math"/>
              </a:rPr>
              <a:t>𝛽</a:t>
            </a:r>
            <a:r>
              <a:rPr sz="1700" kern="1200" spc="380" dirty="0">
                <a:solidFill>
                  <a:srgbClr val="A6A6A6"/>
                </a:solidFill>
                <a:latin typeface="Cambria Math"/>
                <a:cs typeface="Cambria Math"/>
              </a:rPr>
              <a:t> </a:t>
            </a:r>
            <a:r>
              <a:rPr sz="1700" kern="1200" dirty="0">
                <a:solidFill>
                  <a:srgbClr val="A6A6A6"/>
                </a:solidFill>
                <a:latin typeface="Palatino Linotype"/>
                <a:cs typeface="Palatino Linotype"/>
              </a:rPr>
              <a:t>,</a:t>
            </a:r>
            <a:r>
              <a:rPr sz="1700" kern="1200" spc="5" dirty="0">
                <a:solidFill>
                  <a:srgbClr val="A6A6A6"/>
                </a:solidFill>
                <a:latin typeface="Palatino Linotype"/>
                <a:cs typeface="Palatino Linotype"/>
              </a:rPr>
              <a:t> </a:t>
            </a:r>
            <a:r>
              <a:rPr sz="1700" kern="1200" spc="-5" dirty="0">
                <a:solidFill>
                  <a:srgbClr val="A6A6A6"/>
                </a:solidFill>
                <a:latin typeface="Palatino Linotype"/>
                <a:cs typeface="Palatino Linotype"/>
              </a:rPr>
              <a:t>then </a:t>
            </a:r>
            <a:r>
              <a:rPr sz="1700" kern="1200" spc="-15" dirty="0">
                <a:solidFill>
                  <a:srgbClr val="A6A6A6"/>
                </a:solidFill>
                <a:latin typeface="Cambria Math"/>
                <a:cs typeface="Cambria Math"/>
              </a:rPr>
              <a:t>FIRST</a:t>
            </a:r>
            <a:r>
              <a:rPr sz="1700" kern="1200" spc="340" dirty="0">
                <a:solidFill>
                  <a:srgbClr val="A6A6A6"/>
                </a:solidFill>
                <a:latin typeface="Cambria Math"/>
                <a:cs typeface="Cambria Math"/>
              </a:rPr>
              <a:t> </a:t>
            </a:r>
            <a:r>
              <a:rPr sz="1700" kern="1200" dirty="0">
                <a:solidFill>
                  <a:srgbClr val="A6A6A6"/>
                </a:solidFill>
                <a:latin typeface="Cambria Math"/>
                <a:cs typeface="Cambria Math"/>
              </a:rPr>
              <a:t>𝛼	∩</a:t>
            </a:r>
            <a:r>
              <a:rPr sz="1700" kern="1200" spc="10" dirty="0">
                <a:solidFill>
                  <a:srgbClr val="A6A6A6"/>
                </a:solidFill>
                <a:latin typeface="Cambria Math"/>
                <a:cs typeface="Cambria Math"/>
              </a:rPr>
              <a:t> </a:t>
            </a:r>
            <a:r>
              <a:rPr sz="1700" kern="1200" spc="-10" dirty="0">
                <a:solidFill>
                  <a:srgbClr val="A6A6A6"/>
                </a:solidFill>
                <a:latin typeface="Cambria Math"/>
                <a:cs typeface="Cambria Math"/>
              </a:rPr>
              <a:t>FOLLOW</a:t>
            </a:r>
            <a:r>
              <a:rPr sz="1700" kern="1200" spc="330" dirty="0">
                <a:solidFill>
                  <a:srgbClr val="A6A6A6"/>
                </a:solidFill>
                <a:latin typeface="Cambria Math"/>
                <a:cs typeface="Cambria Math"/>
              </a:rPr>
              <a:t> </a:t>
            </a:r>
            <a:r>
              <a:rPr sz="1700" kern="1200" dirty="0">
                <a:solidFill>
                  <a:srgbClr val="A6A6A6"/>
                </a:solidFill>
                <a:latin typeface="Cambria Math"/>
                <a:cs typeface="Cambria Math"/>
              </a:rPr>
              <a:t>𝐴	=</a:t>
            </a:r>
            <a:r>
              <a:rPr sz="1700" kern="1200" spc="80" dirty="0">
                <a:solidFill>
                  <a:srgbClr val="A6A6A6"/>
                </a:solidFill>
                <a:latin typeface="Cambria Math"/>
                <a:cs typeface="Cambria Math"/>
              </a:rPr>
              <a:t> </a:t>
            </a:r>
            <a:r>
              <a:rPr sz="1700" kern="1200" dirty="0">
                <a:solidFill>
                  <a:srgbClr val="A6A6A6"/>
                </a:solidFill>
                <a:latin typeface="Cambria Math"/>
                <a:cs typeface="Cambria Math"/>
              </a:rPr>
              <a:t>∅</a:t>
            </a:r>
            <a:r>
              <a:rPr sz="1700" kern="1200" spc="35" dirty="0">
                <a:solidFill>
                  <a:srgbClr val="A6A6A6"/>
                </a:solidFill>
                <a:latin typeface="Cambria Math"/>
                <a:cs typeface="Cambria Math"/>
              </a:rPr>
              <a:t> </a:t>
            </a:r>
            <a:r>
              <a:rPr sz="1700" kern="1200" spc="-5" dirty="0">
                <a:solidFill>
                  <a:srgbClr val="A6A6A6"/>
                </a:solidFill>
                <a:latin typeface="Palatino Linotype"/>
                <a:cs typeface="Palatino Linotype"/>
              </a:rPr>
              <a:t>and</a:t>
            </a:r>
            <a:r>
              <a:rPr sz="1700" kern="1200" spc="-20" dirty="0">
                <a:solidFill>
                  <a:srgbClr val="A6A6A6"/>
                </a:solidFill>
                <a:latin typeface="Palatino Linotype"/>
                <a:cs typeface="Palatino Linotype"/>
              </a:rPr>
              <a:t> </a:t>
            </a:r>
            <a:r>
              <a:rPr sz="1700" kern="1200" dirty="0">
                <a:solidFill>
                  <a:srgbClr val="A6A6A6"/>
                </a:solidFill>
                <a:latin typeface="Palatino Linotype"/>
                <a:cs typeface="Palatino Linotype"/>
              </a:rPr>
              <a:t>vice</a:t>
            </a:r>
            <a:r>
              <a:rPr sz="1700" kern="1200" spc="-20" dirty="0">
                <a:solidFill>
                  <a:srgbClr val="A6A6A6"/>
                </a:solidFill>
                <a:latin typeface="Palatino Linotype"/>
                <a:cs typeface="Palatino Linotype"/>
              </a:rPr>
              <a:t> </a:t>
            </a:r>
            <a:r>
              <a:rPr sz="1700" kern="1200" spc="-10" dirty="0">
                <a:solidFill>
                  <a:srgbClr val="A6A6A6"/>
                </a:solidFill>
                <a:latin typeface="Palatino Linotype"/>
                <a:cs typeface="Palatino Linotype"/>
              </a:rPr>
              <a:t>versa</a:t>
            </a:r>
            <a:endParaRPr sz="1700" kern="1200" dirty="0">
              <a:solidFill>
                <a:prstClr val="black"/>
              </a:solidFill>
              <a:latin typeface="Palatino Linotype"/>
              <a:cs typeface="Palatino Linotype"/>
            </a:endParaRPr>
          </a:p>
        </p:txBody>
      </p:sp>
    </p:spTree>
    <p:extLst>
      <p:ext uri="{BB962C8B-B14F-4D97-AF65-F5344CB8AC3E}">
        <p14:creationId xmlns:p14="http://schemas.microsoft.com/office/powerpoint/2010/main" val="1096719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73</a:t>
            </a:fld>
            <a:endParaRPr lang="en-US"/>
          </a:p>
        </p:txBody>
      </p:sp>
      <p:sp>
        <p:nvSpPr>
          <p:cNvPr id="25" name="object 2">
            <a:extLst>
              <a:ext uri="{FF2B5EF4-FFF2-40B4-BE49-F238E27FC236}">
                <a16:creationId xmlns:a16="http://schemas.microsoft.com/office/drawing/2014/main" id="{F1389F85-15A3-7FB7-5A9C-02473105E2CB}"/>
              </a:ext>
            </a:extLst>
          </p:cNvPr>
          <p:cNvSpPr txBox="1">
            <a:spLocks/>
          </p:cNvSpPr>
          <p:nvPr/>
        </p:nvSpPr>
        <p:spPr>
          <a:xfrm>
            <a:off x="707390" y="524763"/>
            <a:ext cx="520446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LL(1)</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Grammars</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Cont.</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26" name="object 3">
            <a:extLst>
              <a:ext uri="{FF2B5EF4-FFF2-40B4-BE49-F238E27FC236}">
                <a16:creationId xmlns:a16="http://schemas.microsoft.com/office/drawing/2014/main" id="{0C72C08B-F0D4-4316-F58E-A5064D2B98DC}"/>
              </a:ext>
            </a:extLst>
          </p:cNvPr>
          <p:cNvSpPr/>
          <p:nvPr/>
        </p:nvSpPr>
        <p:spPr>
          <a:xfrm>
            <a:off x="3105668" y="3206575"/>
            <a:ext cx="2686050" cy="0"/>
          </a:xfrm>
          <a:custGeom>
            <a:avLst/>
            <a:gdLst/>
            <a:ahLst/>
            <a:cxnLst/>
            <a:rect l="l" t="t" r="r" b="b"/>
            <a:pathLst>
              <a:path w="2686050">
                <a:moveTo>
                  <a:pt x="0" y="0"/>
                </a:moveTo>
                <a:lnTo>
                  <a:pt x="2685535" y="1"/>
                </a:lnTo>
              </a:path>
            </a:pathLst>
          </a:custGeom>
          <a:ln w="1905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4">
            <a:extLst>
              <a:ext uri="{FF2B5EF4-FFF2-40B4-BE49-F238E27FC236}">
                <a16:creationId xmlns:a16="http://schemas.microsoft.com/office/drawing/2014/main" id="{D405A67C-814C-DD44-A7E7-DEDDC0F10DCC}"/>
              </a:ext>
            </a:extLst>
          </p:cNvPr>
          <p:cNvSpPr/>
          <p:nvPr/>
        </p:nvSpPr>
        <p:spPr>
          <a:xfrm>
            <a:off x="5943602" y="3206575"/>
            <a:ext cx="2030730" cy="0"/>
          </a:xfrm>
          <a:custGeom>
            <a:avLst/>
            <a:gdLst/>
            <a:ahLst/>
            <a:cxnLst/>
            <a:rect l="l" t="t" r="r" b="b"/>
            <a:pathLst>
              <a:path w="2030729">
                <a:moveTo>
                  <a:pt x="0" y="0"/>
                </a:moveTo>
                <a:lnTo>
                  <a:pt x="2030627" y="1"/>
                </a:lnTo>
              </a:path>
            </a:pathLst>
          </a:custGeom>
          <a:ln w="1905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5">
            <a:extLst>
              <a:ext uri="{FF2B5EF4-FFF2-40B4-BE49-F238E27FC236}">
                <a16:creationId xmlns:a16="http://schemas.microsoft.com/office/drawing/2014/main" id="{285BABC3-590C-2870-0A1F-1763683E9318}"/>
              </a:ext>
            </a:extLst>
          </p:cNvPr>
          <p:cNvSpPr/>
          <p:nvPr/>
        </p:nvSpPr>
        <p:spPr>
          <a:xfrm>
            <a:off x="8110153" y="3206575"/>
            <a:ext cx="234950" cy="0"/>
          </a:xfrm>
          <a:custGeom>
            <a:avLst/>
            <a:gdLst/>
            <a:ahLst/>
            <a:cxnLst/>
            <a:rect l="l" t="t" r="r" b="b"/>
            <a:pathLst>
              <a:path w="234950">
                <a:moveTo>
                  <a:pt x="0" y="0"/>
                </a:moveTo>
                <a:lnTo>
                  <a:pt x="234779" y="1"/>
                </a:lnTo>
              </a:path>
            </a:pathLst>
          </a:custGeom>
          <a:ln w="1905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9" name="object 6">
            <a:extLst>
              <a:ext uri="{FF2B5EF4-FFF2-40B4-BE49-F238E27FC236}">
                <a16:creationId xmlns:a16="http://schemas.microsoft.com/office/drawing/2014/main" id="{339DD1FC-9386-E1B4-432B-33A929E554E6}"/>
              </a:ext>
            </a:extLst>
          </p:cNvPr>
          <p:cNvSpPr/>
          <p:nvPr/>
        </p:nvSpPr>
        <p:spPr>
          <a:xfrm>
            <a:off x="4280975" y="3304063"/>
            <a:ext cx="362585" cy="362585"/>
          </a:xfrm>
          <a:custGeom>
            <a:avLst/>
            <a:gdLst/>
            <a:ahLst/>
            <a:cxnLst/>
            <a:rect l="l" t="t" r="r" b="b"/>
            <a:pathLst>
              <a:path w="362585" h="362585">
                <a:moveTo>
                  <a:pt x="0" y="181046"/>
                </a:moveTo>
                <a:lnTo>
                  <a:pt x="6473" y="132917"/>
                </a:lnTo>
                <a:lnTo>
                  <a:pt x="24743" y="89668"/>
                </a:lnTo>
                <a:lnTo>
                  <a:pt x="53081" y="53027"/>
                </a:lnTo>
                <a:lnTo>
                  <a:pt x="89761" y="24718"/>
                </a:lnTo>
                <a:lnTo>
                  <a:pt x="133054" y="6467"/>
                </a:lnTo>
                <a:lnTo>
                  <a:pt x="181233" y="0"/>
                </a:lnTo>
                <a:lnTo>
                  <a:pt x="229411" y="6467"/>
                </a:lnTo>
                <a:lnTo>
                  <a:pt x="272704" y="24718"/>
                </a:lnTo>
                <a:lnTo>
                  <a:pt x="309384" y="53027"/>
                </a:lnTo>
                <a:lnTo>
                  <a:pt x="337722" y="89668"/>
                </a:lnTo>
                <a:lnTo>
                  <a:pt x="355992" y="132917"/>
                </a:lnTo>
                <a:lnTo>
                  <a:pt x="362466" y="181046"/>
                </a:lnTo>
                <a:lnTo>
                  <a:pt x="355992" y="229175"/>
                </a:lnTo>
                <a:lnTo>
                  <a:pt x="337722" y="272424"/>
                </a:lnTo>
                <a:lnTo>
                  <a:pt x="309384" y="309065"/>
                </a:lnTo>
                <a:lnTo>
                  <a:pt x="272704" y="337374"/>
                </a:lnTo>
                <a:lnTo>
                  <a:pt x="229411" y="355625"/>
                </a:lnTo>
                <a:lnTo>
                  <a:pt x="181233" y="362093"/>
                </a:lnTo>
                <a:lnTo>
                  <a:pt x="133054" y="355625"/>
                </a:lnTo>
                <a:lnTo>
                  <a:pt x="89761" y="337374"/>
                </a:lnTo>
                <a:lnTo>
                  <a:pt x="53081" y="309065"/>
                </a:lnTo>
                <a:lnTo>
                  <a:pt x="24743" y="272424"/>
                </a:lnTo>
                <a:lnTo>
                  <a:pt x="6473" y="229175"/>
                </a:lnTo>
                <a:lnTo>
                  <a:pt x="0" y="181046"/>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7">
            <a:extLst>
              <a:ext uri="{FF2B5EF4-FFF2-40B4-BE49-F238E27FC236}">
                <a16:creationId xmlns:a16="http://schemas.microsoft.com/office/drawing/2014/main" id="{40C0104D-72C8-CFAF-B236-2D637ABCE0AA}"/>
              </a:ext>
            </a:extLst>
          </p:cNvPr>
          <p:cNvSpPr/>
          <p:nvPr/>
        </p:nvSpPr>
        <p:spPr>
          <a:xfrm>
            <a:off x="6733920" y="3304062"/>
            <a:ext cx="362585" cy="362585"/>
          </a:xfrm>
          <a:custGeom>
            <a:avLst/>
            <a:gdLst/>
            <a:ahLst/>
            <a:cxnLst/>
            <a:rect l="l" t="t" r="r" b="b"/>
            <a:pathLst>
              <a:path w="362584" h="362585">
                <a:moveTo>
                  <a:pt x="0" y="181046"/>
                </a:moveTo>
                <a:lnTo>
                  <a:pt x="6473" y="132917"/>
                </a:lnTo>
                <a:lnTo>
                  <a:pt x="24743" y="89668"/>
                </a:lnTo>
                <a:lnTo>
                  <a:pt x="53081" y="53027"/>
                </a:lnTo>
                <a:lnTo>
                  <a:pt x="89761" y="24718"/>
                </a:lnTo>
                <a:lnTo>
                  <a:pt x="133054" y="6467"/>
                </a:lnTo>
                <a:lnTo>
                  <a:pt x="181233" y="0"/>
                </a:lnTo>
                <a:lnTo>
                  <a:pt x="229411" y="6467"/>
                </a:lnTo>
                <a:lnTo>
                  <a:pt x="272704" y="24718"/>
                </a:lnTo>
                <a:lnTo>
                  <a:pt x="309384" y="53027"/>
                </a:lnTo>
                <a:lnTo>
                  <a:pt x="337722" y="89668"/>
                </a:lnTo>
                <a:lnTo>
                  <a:pt x="355992" y="132917"/>
                </a:lnTo>
                <a:lnTo>
                  <a:pt x="362466" y="181046"/>
                </a:lnTo>
                <a:lnTo>
                  <a:pt x="355992" y="229175"/>
                </a:lnTo>
                <a:lnTo>
                  <a:pt x="337722" y="272424"/>
                </a:lnTo>
                <a:lnTo>
                  <a:pt x="309384" y="309065"/>
                </a:lnTo>
                <a:lnTo>
                  <a:pt x="272704" y="337374"/>
                </a:lnTo>
                <a:lnTo>
                  <a:pt x="229411" y="355625"/>
                </a:lnTo>
                <a:lnTo>
                  <a:pt x="181233" y="362093"/>
                </a:lnTo>
                <a:lnTo>
                  <a:pt x="133054" y="355625"/>
                </a:lnTo>
                <a:lnTo>
                  <a:pt x="89761" y="337374"/>
                </a:lnTo>
                <a:lnTo>
                  <a:pt x="53081" y="309065"/>
                </a:lnTo>
                <a:lnTo>
                  <a:pt x="24743" y="272424"/>
                </a:lnTo>
                <a:lnTo>
                  <a:pt x="6473" y="229175"/>
                </a:lnTo>
                <a:lnTo>
                  <a:pt x="0" y="181046"/>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8">
            <a:extLst>
              <a:ext uri="{FF2B5EF4-FFF2-40B4-BE49-F238E27FC236}">
                <a16:creationId xmlns:a16="http://schemas.microsoft.com/office/drawing/2014/main" id="{E5758D5B-ED42-5C97-819F-AF3355BCEF48}"/>
              </a:ext>
            </a:extLst>
          </p:cNvPr>
          <p:cNvSpPr/>
          <p:nvPr/>
        </p:nvSpPr>
        <p:spPr>
          <a:xfrm>
            <a:off x="8062015" y="3304063"/>
            <a:ext cx="362585" cy="362585"/>
          </a:xfrm>
          <a:custGeom>
            <a:avLst/>
            <a:gdLst/>
            <a:ahLst/>
            <a:cxnLst/>
            <a:rect l="l" t="t" r="r" b="b"/>
            <a:pathLst>
              <a:path w="362584" h="362585">
                <a:moveTo>
                  <a:pt x="0" y="181046"/>
                </a:moveTo>
                <a:lnTo>
                  <a:pt x="6473" y="132917"/>
                </a:lnTo>
                <a:lnTo>
                  <a:pt x="24743" y="89668"/>
                </a:lnTo>
                <a:lnTo>
                  <a:pt x="53081" y="53027"/>
                </a:lnTo>
                <a:lnTo>
                  <a:pt x="89761" y="24718"/>
                </a:lnTo>
                <a:lnTo>
                  <a:pt x="133054" y="6467"/>
                </a:lnTo>
                <a:lnTo>
                  <a:pt x="181233" y="0"/>
                </a:lnTo>
                <a:lnTo>
                  <a:pt x="229411" y="6467"/>
                </a:lnTo>
                <a:lnTo>
                  <a:pt x="272704" y="24718"/>
                </a:lnTo>
                <a:lnTo>
                  <a:pt x="309384" y="53027"/>
                </a:lnTo>
                <a:lnTo>
                  <a:pt x="337722" y="89668"/>
                </a:lnTo>
                <a:lnTo>
                  <a:pt x="355992" y="132917"/>
                </a:lnTo>
                <a:lnTo>
                  <a:pt x="362466" y="181046"/>
                </a:lnTo>
                <a:lnTo>
                  <a:pt x="355992" y="229175"/>
                </a:lnTo>
                <a:lnTo>
                  <a:pt x="337722" y="272424"/>
                </a:lnTo>
                <a:lnTo>
                  <a:pt x="309384" y="309065"/>
                </a:lnTo>
                <a:lnTo>
                  <a:pt x="272704" y="337374"/>
                </a:lnTo>
                <a:lnTo>
                  <a:pt x="229411" y="355625"/>
                </a:lnTo>
                <a:lnTo>
                  <a:pt x="181233" y="362093"/>
                </a:lnTo>
                <a:lnTo>
                  <a:pt x="133054" y="355625"/>
                </a:lnTo>
                <a:lnTo>
                  <a:pt x="89761" y="337374"/>
                </a:lnTo>
                <a:lnTo>
                  <a:pt x="53081" y="309065"/>
                </a:lnTo>
                <a:lnTo>
                  <a:pt x="24743" y="272424"/>
                </a:lnTo>
                <a:lnTo>
                  <a:pt x="6473" y="229175"/>
                </a:lnTo>
                <a:lnTo>
                  <a:pt x="0" y="181046"/>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9">
            <a:extLst>
              <a:ext uri="{FF2B5EF4-FFF2-40B4-BE49-F238E27FC236}">
                <a16:creationId xmlns:a16="http://schemas.microsoft.com/office/drawing/2014/main" id="{B6B5D946-BF5F-100A-0C7F-319B21F4923B}"/>
              </a:ext>
            </a:extLst>
          </p:cNvPr>
          <p:cNvSpPr/>
          <p:nvPr/>
        </p:nvSpPr>
        <p:spPr>
          <a:xfrm>
            <a:off x="3307555" y="2857101"/>
            <a:ext cx="714375" cy="235585"/>
          </a:xfrm>
          <a:custGeom>
            <a:avLst/>
            <a:gdLst/>
            <a:ahLst/>
            <a:cxnLst/>
            <a:rect l="l" t="t" r="r" b="b"/>
            <a:pathLst>
              <a:path w="714375" h="235585">
                <a:moveTo>
                  <a:pt x="638834" y="0"/>
                </a:moveTo>
                <a:lnTo>
                  <a:pt x="635486" y="9550"/>
                </a:lnTo>
                <a:lnTo>
                  <a:pt x="649105" y="15460"/>
                </a:lnTo>
                <a:lnTo>
                  <a:pt x="660817" y="23642"/>
                </a:lnTo>
                <a:lnTo>
                  <a:pt x="684599" y="61566"/>
                </a:lnTo>
                <a:lnTo>
                  <a:pt x="692412" y="116457"/>
                </a:lnTo>
                <a:lnTo>
                  <a:pt x="691540" y="137208"/>
                </a:lnTo>
                <a:lnTo>
                  <a:pt x="678460" y="188019"/>
                </a:lnTo>
                <a:lnTo>
                  <a:pt x="649264" y="219785"/>
                </a:lnTo>
                <a:lnTo>
                  <a:pt x="635858" y="225723"/>
                </a:lnTo>
                <a:lnTo>
                  <a:pt x="638834" y="235272"/>
                </a:lnTo>
                <a:lnTo>
                  <a:pt x="683785" y="208564"/>
                </a:lnTo>
                <a:lnTo>
                  <a:pt x="709031" y="159261"/>
                </a:lnTo>
                <a:lnTo>
                  <a:pt x="713868" y="117698"/>
                </a:lnTo>
                <a:lnTo>
                  <a:pt x="712655" y="96129"/>
                </a:lnTo>
                <a:lnTo>
                  <a:pt x="702950" y="57899"/>
                </a:lnTo>
                <a:lnTo>
                  <a:pt x="670848" y="15084"/>
                </a:lnTo>
                <a:lnTo>
                  <a:pt x="655891" y="6158"/>
                </a:lnTo>
                <a:lnTo>
                  <a:pt x="638834" y="0"/>
                </a:lnTo>
                <a:close/>
              </a:path>
              <a:path w="714375" h="235585">
                <a:moveTo>
                  <a:pt x="75034" y="0"/>
                </a:moveTo>
                <a:lnTo>
                  <a:pt x="30164" y="26777"/>
                </a:lnTo>
                <a:lnTo>
                  <a:pt x="4852" y="76196"/>
                </a:lnTo>
                <a:lnTo>
                  <a:pt x="0" y="117698"/>
                </a:lnTo>
                <a:lnTo>
                  <a:pt x="1209" y="139313"/>
                </a:lnTo>
                <a:lnTo>
                  <a:pt x="10882" y="177543"/>
                </a:lnTo>
                <a:lnTo>
                  <a:pt x="42943" y="220219"/>
                </a:lnTo>
                <a:lnTo>
                  <a:pt x="75034" y="235272"/>
                </a:lnTo>
                <a:lnTo>
                  <a:pt x="78011" y="225723"/>
                </a:lnTo>
                <a:lnTo>
                  <a:pt x="64604" y="219785"/>
                </a:lnTo>
                <a:lnTo>
                  <a:pt x="53035" y="211522"/>
                </a:lnTo>
                <a:lnTo>
                  <a:pt x="29304" y="172989"/>
                </a:lnTo>
                <a:lnTo>
                  <a:pt x="21456" y="116457"/>
                </a:lnTo>
                <a:lnTo>
                  <a:pt x="22328" y="96385"/>
                </a:lnTo>
                <a:lnTo>
                  <a:pt x="35408" y="46819"/>
                </a:lnTo>
                <a:lnTo>
                  <a:pt x="64813" y="15460"/>
                </a:lnTo>
                <a:lnTo>
                  <a:pt x="78383" y="9550"/>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3" name="object 10">
            <a:extLst>
              <a:ext uri="{FF2B5EF4-FFF2-40B4-BE49-F238E27FC236}">
                <a16:creationId xmlns:a16="http://schemas.microsoft.com/office/drawing/2014/main" id="{90EA9F85-56B2-C0DB-A518-A1E4F1619D83}"/>
              </a:ext>
            </a:extLst>
          </p:cNvPr>
          <p:cNvSpPr/>
          <p:nvPr/>
        </p:nvSpPr>
        <p:spPr>
          <a:xfrm>
            <a:off x="6642320" y="2857101"/>
            <a:ext cx="714375" cy="235585"/>
          </a:xfrm>
          <a:custGeom>
            <a:avLst/>
            <a:gdLst/>
            <a:ahLst/>
            <a:cxnLst/>
            <a:rect l="l" t="t" r="r" b="b"/>
            <a:pathLst>
              <a:path w="714375" h="235585">
                <a:moveTo>
                  <a:pt x="638834" y="0"/>
                </a:moveTo>
                <a:lnTo>
                  <a:pt x="635485" y="9550"/>
                </a:lnTo>
                <a:lnTo>
                  <a:pt x="649104" y="15460"/>
                </a:lnTo>
                <a:lnTo>
                  <a:pt x="660817" y="23642"/>
                </a:lnTo>
                <a:lnTo>
                  <a:pt x="684599" y="61566"/>
                </a:lnTo>
                <a:lnTo>
                  <a:pt x="692412" y="116457"/>
                </a:lnTo>
                <a:lnTo>
                  <a:pt x="691540" y="137208"/>
                </a:lnTo>
                <a:lnTo>
                  <a:pt x="678459" y="188019"/>
                </a:lnTo>
                <a:lnTo>
                  <a:pt x="649263" y="219785"/>
                </a:lnTo>
                <a:lnTo>
                  <a:pt x="635857" y="225723"/>
                </a:lnTo>
                <a:lnTo>
                  <a:pt x="638834" y="235272"/>
                </a:lnTo>
                <a:lnTo>
                  <a:pt x="683784" y="208564"/>
                </a:lnTo>
                <a:lnTo>
                  <a:pt x="709031" y="159261"/>
                </a:lnTo>
                <a:lnTo>
                  <a:pt x="713868" y="117698"/>
                </a:lnTo>
                <a:lnTo>
                  <a:pt x="712655" y="96129"/>
                </a:lnTo>
                <a:lnTo>
                  <a:pt x="702950" y="57899"/>
                </a:lnTo>
                <a:lnTo>
                  <a:pt x="670847" y="15084"/>
                </a:lnTo>
                <a:lnTo>
                  <a:pt x="655891" y="6158"/>
                </a:lnTo>
                <a:lnTo>
                  <a:pt x="638834" y="0"/>
                </a:lnTo>
                <a:close/>
              </a:path>
              <a:path w="714375" h="235585">
                <a:moveTo>
                  <a:pt x="75034" y="0"/>
                </a:moveTo>
                <a:lnTo>
                  <a:pt x="30164" y="26777"/>
                </a:lnTo>
                <a:lnTo>
                  <a:pt x="4852" y="76196"/>
                </a:lnTo>
                <a:lnTo>
                  <a:pt x="0" y="117698"/>
                </a:lnTo>
                <a:lnTo>
                  <a:pt x="1209" y="139313"/>
                </a:lnTo>
                <a:lnTo>
                  <a:pt x="10882" y="177543"/>
                </a:lnTo>
                <a:lnTo>
                  <a:pt x="42942" y="220219"/>
                </a:lnTo>
                <a:lnTo>
                  <a:pt x="75034" y="235272"/>
                </a:lnTo>
                <a:lnTo>
                  <a:pt x="78009" y="225723"/>
                </a:lnTo>
                <a:lnTo>
                  <a:pt x="64603" y="219785"/>
                </a:lnTo>
                <a:lnTo>
                  <a:pt x="53035" y="211522"/>
                </a:lnTo>
                <a:lnTo>
                  <a:pt x="29304" y="172989"/>
                </a:lnTo>
                <a:lnTo>
                  <a:pt x="21455" y="116457"/>
                </a:lnTo>
                <a:lnTo>
                  <a:pt x="22327" y="96385"/>
                </a:lnTo>
                <a:lnTo>
                  <a:pt x="35408" y="46819"/>
                </a:lnTo>
                <a:lnTo>
                  <a:pt x="64813" y="15460"/>
                </a:lnTo>
                <a:lnTo>
                  <a:pt x="78381" y="9550"/>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11">
            <a:extLst>
              <a:ext uri="{FF2B5EF4-FFF2-40B4-BE49-F238E27FC236}">
                <a16:creationId xmlns:a16="http://schemas.microsoft.com/office/drawing/2014/main" id="{4C97BBCF-7E5F-EC8E-74E2-E3E83293EA42}"/>
              </a:ext>
            </a:extLst>
          </p:cNvPr>
          <p:cNvSpPr/>
          <p:nvPr/>
        </p:nvSpPr>
        <p:spPr>
          <a:xfrm>
            <a:off x="3961427" y="3978920"/>
            <a:ext cx="714375" cy="235585"/>
          </a:xfrm>
          <a:custGeom>
            <a:avLst/>
            <a:gdLst/>
            <a:ahLst/>
            <a:cxnLst/>
            <a:rect l="l" t="t" r="r" b="b"/>
            <a:pathLst>
              <a:path w="714375" h="235585">
                <a:moveTo>
                  <a:pt x="638834" y="0"/>
                </a:moveTo>
                <a:lnTo>
                  <a:pt x="635485" y="9550"/>
                </a:lnTo>
                <a:lnTo>
                  <a:pt x="649104" y="15460"/>
                </a:lnTo>
                <a:lnTo>
                  <a:pt x="660817" y="23642"/>
                </a:lnTo>
                <a:lnTo>
                  <a:pt x="684598" y="61566"/>
                </a:lnTo>
                <a:lnTo>
                  <a:pt x="692411" y="116459"/>
                </a:lnTo>
                <a:lnTo>
                  <a:pt x="691539" y="137209"/>
                </a:lnTo>
                <a:lnTo>
                  <a:pt x="678459" y="188019"/>
                </a:lnTo>
                <a:lnTo>
                  <a:pt x="649263" y="219785"/>
                </a:lnTo>
                <a:lnTo>
                  <a:pt x="635857" y="225723"/>
                </a:lnTo>
                <a:lnTo>
                  <a:pt x="638834" y="235272"/>
                </a:lnTo>
                <a:lnTo>
                  <a:pt x="683784" y="208564"/>
                </a:lnTo>
                <a:lnTo>
                  <a:pt x="709031" y="159261"/>
                </a:lnTo>
                <a:lnTo>
                  <a:pt x="713868" y="117698"/>
                </a:lnTo>
                <a:lnTo>
                  <a:pt x="712655" y="96130"/>
                </a:lnTo>
                <a:lnTo>
                  <a:pt x="702950" y="57899"/>
                </a:lnTo>
                <a:lnTo>
                  <a:pt x="670847" y="15084"/>
                </a:lnTo>
                <a:lnTo>
                  <a:pt x="655891" y="6158"/>
                </a:lnTo>
                <a:lnTo>
                  <a:pt x="638834" y="0"/>
                </a:lnTo>
                <a:close/>
              </a:path>
              <a:path w="714375" h="235585">
                <a:moveTo>
                  <a:pt x="75034" y="0"/>
                </a:moveTo>
                <a:lnTo>
                  <a:pt x="30164" y="26777"/>
                </a:lnTo>
                <a:lnTo>
                  <a:pt x="4852" y="76197"/>
                </a:lnTo>
                <a:lnTo>
                  <a:pt x="0" y="117698"/>
                </a:lnTo>
                <a:lnTo>
                  <a:pt x="1209" y="139313"/>
                </a:lnTo>
                <a:lnTo>
                  <a:pt x="10882" y="177543"/>
                </a:lnTo>
                <a:lnTo>
                  <a:pt x="42942" y="220219"/>
                </a:lnTo>
                <a:lnTo>
                  <a:pt x="75034" y="235272"/>
                </a:lnTo>
                <a:lnTo>
                  <a:pt x="78009" y="225723"/>
                </a:lnTo>
                <a:lnTo>
                  <a:pt x="64603" y="219785"/>
                </a:lnTo>
                <a:lnTo>
                  <a:pt x="53034" y="211522"/>
                </a:lnTo>
                <a:lnTo>
                  <a:pt x="29303" y="172989"/>
                </a:lnTo>
                <a:lnTo>
                  <a:pt x="21455" y="116459"/>
                </a:lnTo>
                <a:lnTo>
                  <a:pt x="22327" y="96386"/>
                </a:lnTo>
                <a:lnTo>
                  <a:pt x="35407" y="46819"/>
                </a:lnTo>
                <a:lnTo>
                  <a:pt x="64813" y="15460"/>
                </a:lnTo>
                <a:lnTo>
                  <a:pt x="78381" y="9550"/>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5" name="object 12">
            <a:extLst>
              <a:ext uri="{FF2B5EF4-FFF2-40B4-BE49-F238E27FC236}">
                <a16:creationId xmlns:a16="http://schemas.microsoft.com/office/drawing/2014/main" id="{8F96D89C-B2D5-BCE3-6D0B-8FCAF030FFF5}"/>
              </a:ext>
            </a:extLst>
          </p:cNvPr>
          <p:cNvSpPr/>
          <p:nvPr/>
        </p:nvSpPr>
        <p:spPr>
          <a:xfrm>
            <a:off x="5440658" y="3978920"/>
            <a:ext cx="714375" cy="235585"/>
          </a:xfrm>
          <a:custGeom>
            <a:avLst/>
            <a:gdLst/>
            <a:ahLst/>
            <a:cxnLst/>
            <a:rect l="l" t="t" r="r" b="b"/>
            <a:pathLst>
              <a:path w="714375" h="235585">
                <a:moveTo>
                  <a:pt x="638835" y="0"/>
                </a:moveTo>
                <a:lnTo>
                  <a:pt x="635486" y="9550"/>
                </a:lnTo>
                <a:lnTo>
                  <a:pt x="649106" y="15460"/>
                </a:lnTo>
                <a:lnTo>
                  <a:pt x="660818" y="23642"/>
                </a:lnTo>
                <a:lnTo>
                  <a:pt x="684599" y="61566"/>
                </a:lnTo>
                <a:lnTo>
                  <a:pt x="692412" y="116459"/>
                </a:lnTo>
                <a:lnTo>
                  <a:pt x="691540" y="137209"/>
                </a:lnTo>
                <a:lnTo>
                  <a:pt x="678460" y="188019"/>
                </a:lnTo>
                <a:lnTo>
                  <a:pt x="649264" y="219785"/>
                </a:lnTo>
                <a:lnTo>
                  <a:pt x="635858" y="225723"/>
                </a:lnTo>
                <a:lnTo>
                  <a:pt x="638835" y="235272"/>
                </a:lnTo>
                <a:lnTo>
                  <a:pt x="683786" y="208564"/>
                </a:lnTo>
                <a:lnTo>
                  <a:pt x="709032" y="159261"/>
                </a:lnTo>
                <a:lnTo>
                  <a:pt x="713869" y="117698"/>
                </a:lnTo>
                <a:lnTo>
                  <a:pt x="712656" y="96130"/>
                </a:lnTo>
                <a:lnTo>
                  <a:pt x="702951" y="57899"/>
                </a:lnTo>
                <a:lnTo>
                  <a:pt x="670848" y="15084"/>
                </a:lnTo>
                <a:lnTo>
                  <a:pt x="655892" y="6158"/>
                </a:lnTo>
                <a:lnTo>
                  <a:pt x="638835" y="0"/>
                </a:lnTo>
                <a:close/>
              </a:path>
              <a:path w="714375" h="235585">
                <a:moveTo>
                  <a:pt x="75035" y="0"/>
                </a:moveTo>
                <a:lnTo>
                  <a:pt x="30165" y="26777"/>
                </a:lnTo>
                <a:lnTo>
                  <a:pt x="4852" y="76197"/>
                </a:lnTo>
                <a:lnTo>
                  <a:pt x="0" y="117698"/>
                </a:lnTo>
                <a:lnTo>
                  <a:pt x="1209" y="139313"/>
                </a:lnTo>
                <a:lnTo>
                  <a:pt x="10883" y="177543"/>
                </a:lnTo>
                <a:lnTo>
                  <a:pt x="42943" y="220219"/>
                </a:lnTo>
                <a:lnTo>
                  <a:pt x="75035" y="235272"/>
                </a:lnTo>
                <a:lnTo>
                  <a:pt x="78011" y="225723"/>
                </a:lnTo>
                <a:lnTo>
                  <a:pt x="64605" y="219785"/>
                </a:lnTo>
                <a:lnTo>
                  <a:pt x="53036" y="211522"/>
                </a:lnTo>
                <a:lnTo>
                  <a:pt x="29304" y="172989"/>
                </a:lnTo>
                <a:lnTo>
                  <a:pt x="21456" y="116459"/>
                </a:lnTo>
                <a:lnTo>
                  <a:pt x="22328" y="96386"/>
                </a:lnTo>
                <a:lnTo>
                  <a:pt x="35408" y="46819"/>
                </a:lnTo>
                <a:lnTo>
                  <a:pt x="64814" y="15460"/>
                </a:lnTo>
                <a:lnTo>
                  <a:pt x="78383" y="9550"/>
                </a:lnTo>
                <a:lnTo>
                  <a:pt x="75035"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6" name="object 13">
            <a:extLst>
              <a:ext uri="{FF2B5EF4-FFF2-40B4-BE49-F238E27FC236}">
                <a16:creationId xmlns:a16="http://schemas.microsoft.com/office/drawing/2014/main" id="{9AFEFE21-803F-B126-377A-F08B18B8FF4D}"/>
              </a:ext>
            </a:extLst>
          </p:cNvPr>
          <p:cNvSpPr/>
          <p:nvPr/>
        </p:nvSpPr>
        <p:spPr>
          <a:xfrm>
            <a:off x="4930099" y="4474185"/>
            <a:ext cx="571500" cy="188595"/>
          </a:xfrm>
          <a:custGeom>
            <a:avLst/>
            <a:gdLst/>
            <a:ahLst/>
            <a:cxnLst/>
            <a:rect l="l" t="t" r="r" b="b"/>
            <a:pathLst>
              <a:path w="571500" h="188595">
                <a:moveTo>
                  <a:pt x="511067" y="0"/>
                </a:moveTo>
                <a:lnTo>
                  <a:pt x="508388" y="7640"/>
                </a:lnTo>
                <a:lnTo>
                  <a:pt x="519284" y="12368"/>
                </a:lnTo>
                <a:lnTo>
                  <a:pt x="528654" y="18913"/>
                </a:lnTo>
                <a:lnTo>
                  <a:pt x="551151" y="62470"/>
                </a:lnTo>
                <a:lnTo>
                  <a:pt x="553929" y="93165"/>
                </a:lnTo>
                <a:lnTo>
                  <a:pt x="553232" y="109766"/>
                </a:lnTo>
                <a:lnTo>
                  <a:pt x="542767" y="150414"/>
                </a:lnTo>
                <a:lnTo>
                  <a:pt x="508685" y="180577"/>
                </a:lnTo>
                <a:lnTo>
                  <a:pt x="511067" y="188217"/>
                </a:lnTo>
                <a:lnTo>
                  <a:pt x="547027" y="166852"/>
                </a:lnTo>
                <a:lnTo>
                  <a:pt x="567225" y="127409"/>
                </a:lnTo>
                <a:lnTo>
                  <a:pt x="571094" y="94157"/>
                </a:lnTo>
                <a:lnTo>
                  <a:pt x="570124" y="76903"/>
                </a:lnTo>
                <a:lnTo>
                  <a:pt x="555566" y="32989"/>
                </a:lnTo>
                <a:lnTo>
                  <a:pt x="524713" y="4926"/>
                </a:lnTo>
                <a:lnTo>
                  <a:pt x="511067" y="0"/>
                </a:lnTo>
                <a:close/>
              </a:path>
              <a:path w="571500" h="188595">
                <a:moveTo>
                  <a:pt x="60026" y="0"/>
                </a:moveTo>
                <a:lnTo>
                  <a:pt x="24131" y="21421"/>
                </a:lnTo>
                <a:lnTo>
                  <a:pt x="3881" y="60957"/>
                </a:lnTo>
                <a:lnTo>
                  <a:pt x="0" y="94157"/>
                </a:lnTo>
                <a:lnTo>
                  <a:pt x="967" y="111450"/>
                </a:lnTo>
                <a:lnTo>
                  <a:pt x="15477" y="155327"/>
                </a:lnTo>
                <a:lnTo>
                  <a:pt x="46340" y="183297"/>
                </a:lnTo>
                <a:lnTo>
                  <a:pt x="60026" y="188217"/>
                </a:lnTo>
                <a:lnTo>
                  <a:pt x="62407" y="180577"/>
                </a:lnTo>
                <a:lnTo>
                  <a:pt x="51683" y="175827"/>
                </a:lnTo>
                <a:lnTo>
                  <a:pt x="42428" y="169217"/>
                </a:lnTo>
                <a:lnTo>
                  <a:pt x="19954" y="124841"/>
                </a:lnTo>
                <a:lnTo>
                  <a:pt x="17164" y="93165"/>
                </a:lnTo>
                <a:lnTo>
                  <a:pt x="17861" y="77108"/>
                </a:lnTo>
                <a:lnTo>
                  <a:pt x="28327" y="37454"/>
                </a:lnTo>
                <a:lnTo>
                  <a:pt x="62706" y="7640"/>
                </a:lnTo>
                <a:lnTo>
                  <a:pt x="60026"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7" name="object 14">
            <a:extLst>
              <a:ext uri="{FF2B5EF4-FFF2-40B4-BE49-F238E27FC236}">
                <a16:creationId xmlns:a16="http://schemas.microsoft.com/office/drawing/2014/main" id="{18609204-CB4A-6DCC-DE68-06F083FF72B5}"/>
              </a:ext>
            </a:extLst>
          </p:cNvPr>
          <p:cNvSpPr txBox="1"/>
          <p:nvPr/>
        </p:nvSpPr>
        <p:spPr>
          <a:xfrm>
            <a:off x="707390" y="1449323"/>
            <a:ext cx="7670800" cy="3230880"/>
          </a:xfrm>
          <a:prstGeom prst="rect">
            <a:avLst/>
          </a:prstGeom>
        </p:spPr>
        <p:txBody>
          <a:bodyPr vert="horz" wrap="square" lIns="0" tIns="5080" rIns="0" bIns="0" rtlCol="0">
            <a:spAutoFit/>
          </a:bodyPr>
          <a:lstStyle/>
          <a:p>
            <a:pPr marL="242570" marR="5080" indent="-230504" rtl="0">
              <a:lnSpc>
                <a:spcPct val="118500"/>
              </a:lnSpc>
              <a:spcBef>
                <a:spcPts val="40"/>
              </a:spcBef>
              <a:buFont typeface="Arial MT"/>
              <a:buChar char="•"/>
              <a:tabLst>
                <a:tab pos="242570" algn="l"/>
                <a:tab pos="243204" algn="l"/>
              </a:tabLst>
            </a:pPr>
            <a:r>
              <a:rPr sz="2000" kern="1200" spc="-5" dirty="0">
                <a:solidFill>
                  <a:prstClr val="black"/>
                </a:solidFill>
                <a:latin typeface="Palatino Linotype"/>
                <a:cs typeface="Palatino Linotype"/>
              </a:rPr>
              <a:t>For LL(1)</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grammars,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during</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recursive-descent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proper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 to</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apply</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for</a:t>
            </a:r>
            <a:r>
              <a:rPr sz="2000" kern="1200" dirty="0">
                <a:solidFill>
                  <a:prstClr val="black"/>
                </a:solidFill>
                <a:latin typeface="Palatino Linotype"/>
                <a:cs typeface="Palatino Linotype"/>
              </a:rPr>
              <a:t> a</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nonterminal</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can</a:t>
            </a:r>
            <a:r>
              <a:rPr sz="2000" kern="1200" dirty="0">
                <a:solidFill>
                  <a:prstClr val="black"/>
                </a:solidFill>
                <a:latin typeface="Palatino Linotype"/>
                <a:cs typeface="Palatino Linotype"/>
              </a:rPr>
              <a:t> be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selected</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by </a:t>
            </a:r>
            <a:r>
              <a:rPr sz="2000" kern="1200" spc="-5" dirty="0">
                <a:solidFill>
                  <a:prstClr val="black"/>
                </a:solidFill>
                <a:latin typeface="Palatino Linotype"/>
                <a:cs typeface="Palatino Linotype"/>
              </a:rPr>
              <a:t>looking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only </a:t>
            </a:r>
            <a:r>
              <a:rPr sz="2000" kern="1200" dirty="0">
                <a:solidFill>
                  <a:prstClr val="black"/>
                </a:solidFill>
                <a:latin typeface="Palatino Linotype"/>
                <a:cs typeface="Palatino Linotype"/>
              </a:rPr>
              <a:t>at</a:t>
            </a:r>
            <a:r>
              <a:rPr sz="2000" kern="1200" spc="-5" dirty="0">
                <a:solidFill>
                  <a:prstClr val="black"/>
                </a:solidFill>
                <a:latin typeface="Palatino Linotype"/>
                <a:cs typeface="Palatino Linotype"/>
              </a:rPr>
              <a:t>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current input symbol</a:t>
            </a:r>
            <a:endParaRPr sz="2000" kern="1200" dirty="0">
              <a:solidFill>
                <a:prstClr val="black"/>
              </a:solidFill>
              <a:latin typeface="Palatino Linotype"/>
              <a:cs typeface="Palatino Linotype"/>
            </a:endParaRPr>
          </a:p>
          <a:p>
            <a:pPr marL="257175" rtl="0">
              <a:spcBef>
                <a:spcPts val="2014"/>
              </a:spcBef>
              <a:tabLst>
                <a:tab pos="3391535" algn="l"/>
                <a:tab pos="6726555" algn="l"/>
              </a:tabLst>
            </a:pPr>
            <a:r>
              <a:rPr sz="2000" b="1" kern="1200" spc="-5" dirty="0">
                <a:solidFill>
                  <a:srgbClr val="0432FF"/>
                </a:solidFill>
                <a:latin typeface="Palatino Linotype"/>
                <a:cs typeface="Palatino Linotype"/>
              </a:rPr>
              <a:t>Grammar: </a:t>
            </a:r>
            <a:r>
              <a:rPr sz="2000" kern="1200" spc="-5" dirty="0">
                <a:solidFill>
                  <a:prstClr val="black"/>
                </a:solidFill>
                <a:latin typeface="Cambria Math"/>
                <a:cs typeface="Cambria Math"/>
              </a:rPr>
              <a:t>𝑠𝑡𝑚𝑡</a:t>
            </a:r>
            <a:r>
              <a:rPr sz="2000" kern="1200" spc="17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4" dirty="0">
                <a:solidFill>
                  <a:prstClr val="black"/>
                </a:solidFill>
                <a:latin typeface="Cambria Math"/>
                <a:cs typeface="Cambria Math"/>
              </a:rPr>
              <a:t> </a:t>
            </a:r>
            <a:r>
              <a:rPr sz="2000" kern="1200" dirty="0">
                <a:solidFill>
                  <a:prstClr val="black"/>
                </a:solidFill>
                <a:latin typeface="Cambria Math"/>
                <a:cs typeface="Cambria Math"/>
              </a:rPr>
              <a:t>𝐢𝐟</a:t>
            </a:r>
            <a:r>
              <a:rPr sz="2000" kern="1200" spc="395" dirty="0">
                <a:solidFill>
                  <a:prstClr val="black"/>
                </a:solidFill>
                <a:latin typeface="Cambria Math"/>
                <a:cs typeface="Cambria Math"/>
              </a:rPr>
              <a:t> </a:t>
            </a:r>
            <a:r>
              <a:rPr sz="2000" kern="1200" spc="-5" dirty="0">
                <a:solidFill>
                  <a:prstClr val="black"/>
                </a:solidFill>
                <a:latin typeface="Cambria Math"/>
                <a:cs typeface="Cambria Math"/>
              </a:rPr>
              <a:t>𝐞𝐱𝐩𝐫	𝑠𝑡𝑚𝑡</a:t>
            </a:r>
            <a:r>
              <a:rPr sz="2000" kern="1200" spc="50" dirty="0">
                <a:solidFill>
                  <a:prstClr val="black"/>
                </a:solidFill>
                <a:latin typeface="Cambria Math"/>
                <a:cs typeface="Cambria Math"/>
              </a:rPr>
              <a:t> </a:t>
            </a:r>
            <a:r>
              <a:rPr sz="2000" kern="1200" spc="-5" dirty="0">
                <a:solidFill>
                  <a:prstClr val="black"/>
                </a:solidFill>
                <a:latin typeface="Cambria Math"/>
                <a:cs typeface="Cambria Math"/>
              </a:rPr>
              <a:t>𝐞𝐥𝐬𝐞</a:t>
            </a:r>
            <a:r>
              <a:rPr sz="2000" kern="1200" dirty="0">
                <a:solidFill>
                  <a:prstClr val="black"/>
                </a:solidFill>
                <a:latin typeface="Cambria Math"/>
                <a:cs typeface="Cambria Math"/>
              </a:rPr>
              <a:t> </a:t>
            </a:r>
            <a:r>
              <a:rPr sz="2000" kern="1200" spc="-5" dirty="0">
                <a:solidFill>
                  <a:prstClr val="black"/>
                </a:solidFill>
                <a:latin typeface="Cambria Math"/>
                <a:cs typeface="Cambria Math"/>
              </a:rPr>
              <a:t>𝑠𝑡𝑚𝑡</a:t>
            </a:r>
            <a:r>
              <a:rPr sz="2000" kern="1200" spc="5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prstClr val="black"/>
                </a:solidFill>
                <a:latin typeface="Cambria Math"/>
                <a:cs typeface="Cambria Math"/>
              </a:rPr>
              <a:t>𝐰𝐡𝐢𝐥𝐞</a:t>
            </a:r>
            <a:r>
              <a:rPr sz="2000" kern="1200" spc="395" dirty="0">
                <a:solidFill>
                  <a:prstClr val="black"/>
                </a:solidFill>
                <a:latin typeface="Cambria Math"/>
                <a:cs typeface="Cambria Math"/>
              </a:rPr>
              <a:t> </a:t>
            </a:r>
            <a:r>
              <a:rPr sz="2000" kern="1200" spc="-5" dirty="0">
                <a:solidFill>
                  <a:prstClr val="black"/>
                </a:solidFill>
                <a:latin typeface="Cambria Math"/>
                <a:cs typeface="Cambria Math"/>
              </a:rPr>
              <a:t>𝐞𝐱𝐩𝐫	𝑠𝑡𝑚𝑡</a:t>
            </a:r>
            <a:r>
              <a:rPr sz="2000" kern="1200" dirty="0">
                <a:solidFill>
                  <a:prstClr val="black"/>
                </a:solidFill>
                <a:latin typeface="Cambria Math"/>
                <a:cs typeface="Cambria Math"/>
              </a:rPr>
              <a:t> |</a:t>
            </a:r>
            <a:r>
              <a:rPr sz="2000" kern="1200" spc="-45" dirty="0">
                <a:solidFill>
                  <a:prstClr val="black"/>
                </a:solidFill>
                <a:latin typeface="Cambria Math"/>
                <a:cs typeface="Cambria Math"/>
              </a:rPr>
              <a:t> </a:t>
            </a:r>
            <a:r>
              <a:rPr sz="2000" kern="1200" dirty="0">
                <a:solidFill>
                  <a:prstClr val="black"/>
                </a:solidFill>
                <a:latin typeface="Cambria Math"/>
                <a:cs typeface="Cambria Math"/>
              </a:rPr>
              <a:t>𝐚</a:t>
            </a:r>
          </a:p>
          <a:p>
            <a:pPr marL="3697604" rtl="0">
              <a:spcBef>
                <a:spcPts val="1855"/>
              </a:spcBef>
              <a:tabLst>
                <a:tab pos="6149975" algn="l"/>
                <a:tab pos="7478395" algn="l"/>
              </a:tabLst>
            </a:pPr>
            <a:r>
              <a:rPr kern="1200" dirty="0">
                <a:solidFill>
                  <a:prstClr val="black"/>
                </a:solidFill>
                <a:latin typeface="Palatino Linotype"/>
                <a:cs typeface="Palatino Linotype"/>
              </a:rPr>
              <a:t>1	2	3</a:t>
            </a:r>
          </a:p>
          <a:p>
            <a:pPr rtl="0">
              <a:spcBef>
                <a:spcPts val="55"/>
              </a:spcBef>
            </a:pPr>
            <a:endParaRPr sz="1750" kern="1200" dirty="0">
              <a:solidFill>
                <a:prstClr val="black"/>
              </a:solidFill>
              <a:latin typeface="Palatino Linotype"/>
              <a:cs typeface="Palatino Linotype"/>
            </a:endParaRPr>
          </a:p>
          <a:p>
            <a:pPr marL="283210" rtl="0">
              <a:tabLst>
                <a:tab pos="4045585" algn="l"/>
                <a:tab pos="5524500" algn="l"/>
              </a:tabLst>
            </a:pPr>
            <a:r>
              <a:rPr sz="2000" b="1" kern="1200" spc="-5" dirty="0">
                <a:solidFill>
                  <a:srgbClr val="0432FF"/>
                </a:solidFill>
                <a:latin typeface="Palatino Linotype"/>
                <a:cs typeface="Palatino Linotype"/>
              </a:rPr>
              <a:t>Parsing</a:t>
            </a:r>
            <a:r>
              <a:rPr sz="2000" b="1" kern="1200" spc="5" dirty="0">
                <a:solidFill>
                  <a:srgbClr val="0432FF"/>
                </a:solidFill>
                <a:latin typeface="Palatino Linotype"/>
                <a:cs typeface="Palatino Linotype"/>
              </a:rPr>
              <a:t> </a:t>
            </a:r>
            <a:r>
              <a:rPr sz="2000" b="1" kern="1200" spc="-5" dirty="0">
                <a:solidFill>
                  <a:srgbClr val="0432FF"/>
                </a:solidFill>
                <a:latin typeface="Palatino Linotype"/>
                <a:cs typeface="Palatino Linotype"/>
              </a:rPr>
              <a:t>steps</a:t>
            </a:r>
            <a:r>
              <a:rPr sz="2000" b="1" kern="1200" spc="5" dirty="0">
                <a:solidFill>
                  <a:srgbClr val="0432FF"/>
                </a:solidFill>
                <a:latin typeface="Palatino Linotype"/>
                <a:cs typeface="Palatino Linotype"/>
              </a:rPr>
              <a:t> </a:t>
            </a:r>
            <a:r>
              <a:rPr sz="2000" b="1" kern="1200" spc="-5" dirty="0">
                <a:solidFill>
                  <a:srgbClr val="0432FF"/>
                </a:solidFill>
                <a:latin typeface="Palatino Linotype"/>
                <a:cs typeface="Palatino Linotype"/>
              </a:rPr>
              <a:t>for</a:t>
            </a:r>
            <a:r>
              <a:rPr sz="2000" b="1" kern="1200" spc="5" dirty="0">
                <a:solidFill>
                  <a:srgbClr val="0432FF"/>
                </a:solidFill>
                <a:latin typeface="Palatino Linotype"/>
                <a:cs typeface="Palatino Linotype"/>
              </a:rPr>
              <a:t> </a:t>
            </a:r>
            <a:r>
              <a:rPr sz="2000" b="1" kern="1200" spc="-5" dirty="0">
                <a:solidFill>
                  <a:srgbClr val="0432FF"/>
                </a:solidFill>
                <a:latin typeface="Palatino Linotype"/>
                <a:cs typeface="Palatino Linotype"/>
              </a:rPr>
              <a:t>input:</a:t>
            </a:r>
            <a:r>
              <a:rPr sz="2000" b="1" kern="1200" spc="10" dirty="0">
                <a:solidFill>
                  <a:srgbClr val="0432FF"/>
                </a:solidFill>
                <a:latin typeface="Palatino Linotype"/>
                <a:cs typeface="Palatino Linotype"/>
              </a:rPr>
              <a:t> </a:t>
            </a:r>
            <a:r>
              <a:rPr sz="2000" kern="1200" dirty="0">
                <a:solidFill>
                  <a:prstClr val="black"/>
                </a:solidFill>
                <a:latin typeface="Cambria Math"/>
                <a:cs typeface="Cambria Math"/>
              </a:rPr>
              <a:t>𝐢𝐟</a:t>
            </a:r>
            <a:r>
              <a:rPr sz="2000" kern="1200" spc="405" dirty="0">
                <a:solidFill>
                  <a:prstClr val="black"/>
                </a:solidFill>
                <a:latin typeface="Cambria Math"/>
                <a:cs typeface="Cambria Math"/>
              </a:rPr>
              <a:t> </a:t>
            </a:r>
            <a:r>
              <a:rPr sz="2000" kern="1200" spc="-5" dirty="0">
                <a:solidFill>
                  <a:prstClr val="black"/>
                </a:solidFill>
                <a:latin typeface="Cambria Math"/>
                <a:cs typeface="Cambria Math"/>
              </a:rPr>
              <a:t>𝐞𝐱𝐩𝐫	</a:t>
            </a:r>
            <a:r>
              <a:rPr sz="2000" kern="1200" dirty="0">
                <a:solidFill>
                  <a:prstClr val="black"/>
                </a:solidFill>
                <a:latin typeface="Cambria Math"/>
                <a:cs typeface="Cambria Math"/>
              </a:rPr>
              <a:t>𝐰𝐡𝐢𝐥𝐞</a:t>
            </a:r>
            <a:r>
              <a:rPr sz="2000" kern="1200" spc="390" dirty="0">
                <a:solidFill>
                  <a:prstClr val="black"/>
                </a:solidFill>
                <a:latin typeface="Cambria Math"/>
                <a:cs typeface="Cambria Math"/>
              </a:rPr>
              <a:t> </a:t>
            </a:r>
            <a:r>
              <a:rPr sz="2000" kern="1200" spc="-5" dirty="0">
                <a:solidFill>
                  <a:prstClr val="black"/>
                </a:solidFill>
                <a:latin typeface="Cambria Math"/>
                <a:cs typeface="Cambria Math"/>
              </a:rPr>
              <a:t>𝐞𝐱𝐩𝐫	</a:t>
            </a:r>
            <a:r>
              <a:rPr sz="2000" kern="1200" dirty="0">
                <a:solidFill>
                  <a:prstClr val="black"/>
                </a:solidFill>
                <a:latin typeface="Cambria Math"/>
                <a:cs typeface="Cambria Math"/>
              </a:rPr>
              <a:t>𝐚</a:t>
            </a:r>
            <a:r>
              <a:rPr sz="2000" kern="1200" spc="-30" dirty="0">
                <a:solidFill>
                  <a:prstClr val="black"/>
                </a:solidFill>
                <a:latin typeface="Cambria Math"/>
                <a:cs typeface="Cambria Math"/>
              </a:rPr>
              <a:t> </a:t>
            </a:r>
            <a:r>
              <a:rPr sz="2000" kern="1200" spc="-5" dirty="0">
                <a:solidFill>
                  <a:prstClr val="black"/>
                </a:solidFill>
                <a:latin typeface="Cambria Math"/>
                <a:cs typeface="Cambria Math"/>
              </a:rPr>
              <a:t>𝐞𝐥𝐬𝐞</a:t>
            </a:r>
            <a:r>
              <a:rPr sz="2000" kern="1200" spc="-30" dirty="0">
                <a:solidFill>
                  <a:prstClr val="black"/>
                </a:solidFill>
                <a:latin typeface="Cambria Math"/>
                <a:cs typeface="Cambria Math"/>
              </a:rPr>
              <a:t> </a:t>
            </a:r>
            <a:r>
              <a:rPr sz="2000" kern="1200" dirty="0">
                <a:solidFill>
                  <a:prstClr val="black"/>
                </a:solidFill>
                <a:latin typeface="Cambria Math"/>
                <a:cs typeface="Cambria Math"/>
              </a:rPr>
              <a:t>𝐚</a:t>
            </a:r>
          </a:p>
          <a:p>
            <a:pPr marL="283210" rtl="0">
              <a:spcBef>
                <a:spcPts val="1600"/>
              </a:spcBef>
              <a:tabLst>
                <a:tab pos="626110" algn="l"/>
                <a:tab pos="4855845" algn="l"/>
              </a:tabLst>
            </a:pPr>
            <a:r>
              <a:rPr sz="1600" kern="1200" dirty="0">
                <a:solidFill>
                  <a:prstClr val="black"/>
                </a:solidFill>
                <a:latin typeface="Palatino Linotype"/>
                <a:cs typeface="Palatino Linotype"/>
              </a:rPr>
              <a:t>1.	Rewrite the start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symbol</a:t>
            </a:r>
            <a:r>
              <a:rPr sz="1600" kern="1200" dirty="0">
                <a:solidFill>
                  <a:prstClr val="black"/>
                </a:solidFill>
                <a:latin typeface="Palatino Linotype"/>
                <a:cs typeface="Palatino Linotype"/>
              </a:rPr>
              <a:t> </a:t>
            </a:r>
            <a:r>
              <a:rPr sz="1600" i="1" kern="1200" dirty="0">
                <a:solidFill>
                  <a:prstClr val="black"/>
                </a:solidFill>
                <a:latin typeface="Palatino Linotype"/>
                <a:cs typeface="Palatino Linotype"/>
              </a:rPr>
              <a:t>stmt</a:t>
            </a:r>
            <a:r>
              <a:rPr sz="1600" i="1"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with</a:t>
            </a:r>
            <a:r>
              <a:rPr sz="1600" kern="1200" spc="10" dirty="0">
                <a:solidFill>
                  <a:prstClr val="black"/>
                </a:solidFill>
                <a:latin typeface="Palatino Linotype"/>
                <a:cs typeface="Palatino Linotype"/>
              </a:rPr>
              <a:t> </a:t>
            </a:r>
            <a:r>
              <a:rPr sz="1600" kern="1200" spc="-5" dirty="0">
                <a:solidFill>
                  <a:prstClr val="black"/>
                </a:solidFill>
                <a:latin typeface="Wingdings"/>
                <a:cs typeface="Wingdings"/>
              </a:rPr>
              <a:t></a:t>
            </a:r>
            <a:r>
              <a:rPr sz="1600" kern="1200" spc="-5" dirty="0">
                <a:solidFill>
                  <a:prstClr val="black"/>
                </a:solidFill>
                <a:latin typeface="Palatino Linotype"/>
                <a:cs typeface="Palatino Linotype"/>
              </a:rPr>
              <a:t>:</a:t>
            </a:r>
            <a:r>
              <a:rPr sz="1600" kern="1200" spc="10" dirty="0">
                <a:solidFill>
                  <a:prstClr val="black"/>
                </a:solidFill>
                <a:latin typeface="Palatino Linotype"/>
                <a:cs typeface="Palatino Linotype"/>
              </a:rPr>
              <a:t> </a:t>
            </a:r>
            <a:r>
              <a:rPr sz="1600" kern="1200" spc="-5" dirty="0">
                <a:solidFill>
                  <a:srgbClr val="FF0000"/>
                </a:solidFill>
                <a:latin typeface="Cambria Math"/>
                <a:cs typeface="Cambria Math"/>
              </a:rPr>
              <a:t>𝐢𝐟</a:t>
            </a:r>
            <a:r>
              <a:rPr sz="1600" kern="1200" spc="310" dirty="0">
                <a:solidFill>
                  <a:srgbClr val="FF0000"/>
                </a:solidFill>
                <a:latin typeface="Cambria Math"/>
                <a:cs typeface="Cambria Math"/>
              </a:rPr>
              <a:t> </a:t>
            </a:r>
            <a:r>
              <a:rPr sz="1600" kern="1200" spc="-5" dirty="0">
                <a:solidFill>
                  <a:srgbClr val="FF0000"/>
                </a:solidFill>
                <a:latin typeface="Cambria Math"/>
                <a:cs typeface="Cambria Math"/>
              </a:rPr>
              <a:t>𝐞𝐱𝐩𝐫	𝑠𝑡𝑚𝑡</a:t>
            </a:r>
            <a:r>
              <a:rPr sz="1600" kern="1200" spc="20" dirty="0">
                <a:solidFill>
                  <a:srgbClr val="FF0000"/>
                </a:solidFill>
                <a:latin typeface="Cambria Math"/>
                <a:cs typeface="Cambria Math"/>
              </a:rPr>
              <a:t> </a:t>
            </a:r>
            <a:r>
              <a:rPr sz="1600" kern="1200" spc="-5" dirty="0">
                <a:solidFill>
                  <a:srgbClr val="FF0000"/>
                </a:solidFill>
                <a:latin typeface="Cambria Math"/>
                <a:cs typeface="Cambria Math"/>
              </a:rPr>
              <a:t>𝐞𝐥𝐬𝐞</a:t>
            </a:r>
            <a:r>
              <a:rPr sz="1600" kern="1200" spc="-15" dirty="0">
                <a:solidFill>
                  <a:srgbClr val="FF0000"/>
                </a:solidFill>
                <a:latin typeface="Cambria Math"/>
                <a:cs typeface="Cambria Math"/>
              </a:rPr>
              <a:t> </a:t>
            </a:r>
            <a:r>
              <a:rPr sz="1600" kern="1200" spc="-5" dirty="0">
                <a:solidFill>
                  <a:srgbClr val="FF0000"/>
                </a:solidFill>
                <a:latin typeface="Cambria Math"/>
                <a:cs typeface="Cambria Math"/>
              </a:rPr>
              <a:t>𝑠𝑡𝑚𝑡</a:t>
            </a:r>
            <a:endParaRPr sz="1600" kern="1200" dirty="0">
              <a:solidFill>
                <a:prstClr val="black"/>
              </a:solidFill>
              <a:latin typeface="Cambria Math"/>
              <a:cs typeface="Cambria Math"/>
            </a:endParaRPr>
          </a:p>
        </p:txBody>
      </p:sp>
      <p:graphicFrame>
        <p:nvGraphicFramePr>
          <p:cNvPr id="38" name="object 15">
            <a:extLst>
              <a:ext uri="{FF2B5EF4-FFF2-40B4-BE49-F238E27FC236}">
                <a16:creationId xmlns:a16="http://schemas.microsoft.com/office/drawing/2014/main" id="{0519B998-5F03-F185-EF5B-0D54F6D948E2}"/>
              </a:ext>
            </a:extLst>
          </p:cNvPr>
          <p:cNvGraphicFramePr>
            <a:graphicFrameLocks noGrp="1"/>
          </p:cNvGraphicFramePr>
          <p:nvPr/>
        </p:nvGraphicFramePr>
        <p:xfrm>
          <a:off x="959364" y="4858551"/>
          <a:ext cx="6765290" cy="1161107"/>
        </p:xfrm>
        <a:graphic>
          <a:graphicData uri="http://schemas.openxmlformats.org/drawingml/2006/table">
            <a:tbl>
              <a:tblPr firstRow="1" bandRow="1"/>
              <a:tblGrid>
                <a:gridCol w="4159885">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1424305">
                  <a:extLst>
                    <a:ext uri="{9D8B030D-6E8A-4147-A177-3AD203B41FA5}">
                      <a16:colId xmlns:a16="http://schemas.microsoft.com/office/drawing/2014/main" val="20002"/>
                    </a:ext>
                  </a:extLst>
                </a:gridCol>
              </a:tblGrid>
              <a:tr h="35805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1750">
                        <a:lnSpc>
                          <a:spcPct val="100000"/>
                        </a:lnSpc>
                        <a:spcBef>
                          <a:spcPts val="80"/>
                        </a:spcBef>
                        <a:tabLst>
                          <a:tab pos="374015" algn="l"/>
                        </a:tabLst>
                      </a:pPr>
                      <a:r>
                        <a:rPr sz="1600" dirty="0">
                          <a:latin typeface="Palatino Linotype"/>
                          <a:cs typeface="Palatino Linotype"/>
                        </a:rPr>
                        <a:t>2.	Rewrite</a:t>
                      </a:r>
                      <a:r>
                        <a:rPr sz="1600" spc="-10" dirty="0">
                          <a:latin typeface="Palatino Linotype"/>
                          <a:cs typeface="Palatino Linotype"/>
                        </a:rPr>
                        <a:t> </a:t>
                      </a:r>
                      <a:r>
                        <a:rPr sz="1600" dirty="0">
                          <a:latin typeface="Palatino Linotype"/>
                          <a:cs typeface="Palatino Linotype"/>
                        </a:rPr>
                        <a:t>the</a:t>
                      </a:r>
                      <a:r>
                        <a:rPr sz="1600" spc="-10" dirty="0">
                          <a:latin typeface="Palatino Linotype"/>
                          <a:cs typeface="Palatino Linotype"/>
                        </a:rPr>
                        <a:t> </a:t>
                      </a:r>
                      <a:r>
                        <a:rPr sz="1600" spc="-5" dirty="0">
                          <a:latin typeface="Palatino Linotype"/>
                          <a:cs typeface="Palatino Linotype"/>
                        </a:rPr>
                        <a:t>leftmost</a:t>
                      </a:r>
                      <a:r>
                        <a:rPr sz="1600" dirty="0">
                          <a:latin typeface="Palatino Linotype"/>
                          <a:cs typeface="Palatino Linotype"/>
                        </a:rPr>
                        <a:t> </a:t>
                      </a:r>
                      <a:r>
                        <a:rPr sz="1600" i="1" dirty="0">
                          <a:latin typeface="Palatino Linotype"/>
                          <a:cs typeface="Palatino Linotype"/>
                        </a:rPr>
                        <a:t>stmt </a:t>
                      </a:r>
                      <a:r>
                        <a:rPr sz="1600" spc="-5" dirty="0">
                          <a:latin typeface="Palatino Linotype"/>
                          <a:cs typeface="Palatino Linotype"/>
                        </a:rPr>
                        <a:t>with</a:t>
                      </a:r>
                      <a:r>
                        <a:rPr sz="1600" dirty="0">
                          <a:latin typeface="Palatino Linotype"/>
                          <a:cs typeface="Palatino Linotype"/>
                        </a:rPr>
                        <a:t> </a:t>
                      </a:r>
                      <a:r>
                        <a:rPr sz="1600" spc="-5" dirty="0">
                          <a:latin typeface="Wingdings"/>
                          <a:cs typeface="Wingdings"/>
                        </a:rPr>
                        <a:t></a:t>
                      </a:r>
                      <a:r>
                        <a:rPr sz="1600" spc="-5" dirty="0">
                          <a:latin typeface="Palatino Linotype"/>
                          <a:cs typeface="Palatino Linotype"/>
                        </a:rPr>
                        <a:t>: </a:t>
                      </a:r>
                      <a:r>
                        <a:rPr sz="1600" spc="-5" dirty="0">
                          <a:latin typeface="Cambria Math"/>
                          <a:cs typeface="Cambria Math"/>
                        </a:rPr>
                        <a:t>𝐢𝐟</a:t>
                      </a:r>
                      <a:r>
                        <a:rPr sz="1600" spc="300" dirty="0">
                          <a:latin typeface="Cambria Math"/>
                          <a:cs typeface="Cambria Math"/>
                        </a:rPr>
                        <a:t> </a:t>
                      </a:r>
                      <a:r>
                        <a:rPr sz="1600" spc="-5" dirty="0">
                          <a:latin typeface="Cambria Math"/>
                          <a:cs typeface="Cambria Math"/>
                        </a:rPr>
                        <a:t>𝐞𝐱𝐩𝐫</a:t>
                      </a:r>
                      <a:endParaRPr sz="1600" dirty="0">
                        <a:latin typeface="Cambria Math"/>
                        <a:cs typeface="Cambria Math"/>
                      </a:endParaRPr>
                    </a:p>
                  </a:txBody>
                  <a:tcPr marL="0" marR="0" marT="1016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80"/>
                        </a:spcBef>
                      </a:pPr>
                      <a:r>
                        <a:rPr sz="1600" spc="-5" dirty="0">
                          <a:solidFill>
                            <a:srgbClr val="FF0000"/>
                          </a:solidFill>
                          <a:latin typeface="Cambria Math"/>
                          <a:cs typeface="Cambria Math"/>
                        </a:rPr>
                        <a:t>𝐰𝐡𝐢𝐥𝐞</a:t>
                      </a:r>
                      <a:r>
                        <a:rPr sz="1600" spc="260" dirty="0">
                          <a:solidFill>
                            <a:srgbClr val="FF0000"/>
                          </a:solidFill>
                          <a:latin typeface="Cambria Math"/>
                          <a:cs typeface="Cambria Math"/>
                        </a:rPr>
                        <a:t> </a:t>
                      </a:r>
                      <a:r>
                        <a:rPr sz="1600" spc="-5" dirty="0">
                          <a:solidFill>
                            <a:srgbClr val="FF0000"/>
                          </a:solidFill>
                          <a:latin typeface="Cambria Math"/>
                          <a:cs typeface="Cambria Math"/>
                        </a:rPr>
                        <a:t>𝐞𝐱𝐩𝐫</a:t>
                      </a:r>
                      <a:endParaRPr sz="1600" dirty="0">
                        <a:latin typeface="Cambria Math"/>
                        <a:cs typeface="Cambria Math"/>
                      </a:endParaRPr>
                    </a:p>
                  </a:txBody>
                  <a:tcPr marL="0" marR="0" marT="1016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4135">
                        <a:lnSpc>
                          <a:spcPct val="100000"/>
                        </a:lnSpc>
                        <a:spcBef>
                          <a:spcPts val="80"/>
                        </a:spcBef>
                      </a:pPr>
                      <a:r>
                        <a:rPr sz="1600" spc="-5" dirty="0">
                          <a:solidFill>
                            <a:srgbClr val="FF0000"/>
                          </a:solidFill>
                          <a:latin typeface="Cambria Math"/>
                          <a:cs typeface="Cambria Math"/>
                        </a:rPr>
                        <a:t>𝑠𝑡𝑚𝑡</a:t>
                      </a:r>
                      <a:r>
                        <a:rPr sz="1600" spc="15" dirty="0">
                          <a:solidFill>
                            <a:srgbClr val="FF0000"/>
                          </a:solidFill>
                          <a:latin typeface="Cambria Math"/>
                          <a:cs typeface="Cambria Math"/>
                        </a:rPr>
                        <a:t> </a:t>
                      </a:r>
                      <a:r>
                        <a:rPr sz="1600" spc="-5" dirty="0">
                          <a:latin typeface="Cambria Math"/>
                          <a:cs typeface="Cambria Math"/>
                        </a:rPr>
                        <a:t>𝐞𝐥𝐬𝐞</a:t>
                      </a:r>
                      <a:r>
                        <a:rPr sz="1600" spc="-20" dirty="0">
                          <a:latin typeface="Cambria Math"/>
                          <a:cs typeface="Cambria Math"/>
                        </a:rPr>
                        <a:t> </a:t>
                      </a:r>
                      <a:r>
                        <a:rPr sz="1600" spc="-5" dirty="0">
                          <a:latin typeface="Cambria Math"/>
                          <a:cs typeface="Cambria Math"/>
                        </a:rPr>
                        <a:t>𝑠𝑡𝑚𝑡</a:t>
                      </a:r>
                      <a:endParaRPr sz="1600" dirty="0">
                        <a:latin typeface="Cambria Math"/>
                        <a:cs typeface="Cambria Math"/>
                      </a:endParaRPr>
                    </a:p>
                  </a:txBody>
                  <a:tcPr marL="0" marR="0" marT="1016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43483">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1750">
                        <a:lnSpc>
                          <a:spcPct val="100000"/>
                        </a:lnSpc>
                        <a:spcBef>
                          <a:spcPts val="740"/>
                        </a:spcBef>
                        <a:tabLst>
                          <a:tab pos="374015" algn="l"/>
                        </a:tabLst>
                      </a:pPr>
                      <a:r>
                        <a:rPr sz="1600" dirty="0">
                          <a:latin typeface="Palatino Linotype"/>
                          <a:cs typeface="Palatino Linotype"/>
                        </a:rPr>
                        <a:t>3.	Rewrite</a:t>
                      </a:r>
                      <a:r>
                        <a:rPr sz="1600" spc="-10" dirty="0">
                          <a:latin typeface="Palatino Linotype"/>
                          <a:cs typeface="Palatino Linotype"/>
                        </a:rPr>
                        <a:t> </a:t>
                      </a:r>
                      <a:r>
                        <a:rPr sz="1600" dirty="0">
                          <a:latin typeface="Palatino Linotype"/>
                          <a:cs typeface="Palatino Linotype"/>
                        </a:rPr>
                        <a:t>the</a:t>
                      </a:r>
                      <a:r>
                        <a:rPr sz="1600" spc="-10" dirty="0">
                          <a:latin typeface="Palatino Linotype"/>
                          <a:cs typeface="Palatino Linotype"/>
                        </a:rPr>
                        <a:t> </a:t>
                      </a:r>
                      <a:r>
                        <a:rPr sz="1600" spc="-5" dirty="0">
                          <a:latin typeface="Palatino Linotype"/>
                          <a:cs typeface="Palatino Linotype"/>
                        </a:rPr>
                        <a:t>leftmost</a:t>
                      </a:r>
                      <a:r>
                        <a:rPr sz="1600" dirty="0">
                          <a:latin typeface="Palatino Linotype"/>
                          <a:cs typeface="Palatino Linotype"/>
                        </a:rPr>
                        <a:t> </a:t>
                      </a:r>
                      <a:r>
                        <a:rPr sz="1600" i="1" dirty="0">
                          <a:latin typeface="Palatino Linotype"/>
                          <a:cs typeface="Palatino Linotype"/>
                        </a:rPr>
                        <a:t>stmt </a:t>
                      </a:r>
                      <a:r>
                        <a:rPr sz="1600" spc="-5" dirty="0">
                          <a:latin typeface="Palatino Linotype"/>
                          <a:cs typeface="Palatino Linotype"/>
                        </a:rPr>
                        <a:t>with</a:t>
                      </a:r>
                      <a:r>
                        <a:rPr sz="1600" dirty="0">
                          <a:latin typeface="Palatino Linotype"/>
                          <a:cs typeface="Palatino Linotype"/>
                        </a:rPr>
                        <a:t> </a:t>
                      </a:r>
                      <a:r>
                        <a:rPr sz="1600" spc="-5" dirty="0">
                          <a:latin typeface="Wingdings"/>
                          <a:cs typeface="Wingdings"/>
                        </a:rPr>
                        <a:t></a:t>
                      </a:r>
                      <a:r>
                        <a:rPr sz="1600" spc="-5" dirty="0">
                          <a:latin typeface="Palatino Linotype"/>
                          <a:cs typeface="Palatino Linotype"/>
                        </a:rPr>
                        <a:t>: </a:t>
                      </a:r>
                      <a:r>
                        <a:rPr sz="1600" spc="-5" dirty="0">
                          <a:latin typeface="Cambria Math"/>
                          <a:cs typeface="Cambria Math"/>
                        </a:rPr>
                        <a:t>𝐢𝐟</a:t>
                      </a:r>
                      <a:r>
                        <a:rPr sz="1600" spc="300" dirty="0">
                          <a:latin typeface="Cambria Math"/>
                          <a:cs typeface="Cambria Math"/>
                        </a:rPr>
                        <a:t> </a:t>
                      </a:r>
                      <a:r>
                        <a:rPr sz="1600" spc="-5" dirty="0">
                          <a:latin typeface="Cambria Math"/>
                          <a:cs typeface="Cambria Math"/>
                        </a:rPr>
                        <a:t>𝐞𝐱𝐩𝐫</a:t>
                      </a:r>
                      <a:endParaRPr sz="1600" dirty="0">
                        <a:latin typeface="Cambria Math"/>
                        <a:cs typeface="Cambria Math"/>
                      </a:endParaRPr>
                    </a:p>
                  </a:txBody>
                  <a:tcPr marL="0" marR="0" marT="939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740"/>
                        </a:spcBef>
                      </a:pPr>
                      <a:r>
                        <a:rPr sz="1600" spc="-5" dirty="0">
                          <a:latin typeface="Cambria Math"/>
                          <a:cs typeface="Cambria Math"/>
                        </a:rPr>
                        <a:t>𝐰𝐡𝐢𝐥𝐞</a:t>
                      </a:r>
                      <a:r>
                        <a:rPr sz="1600" spc="260" dirty="0">
                          <a:latin typeface="Cambria Math"/>
                          <a:cs typeface="Cambria Math"/>
                        </a:rPr>
                        <a:t> </a:t>
                      </a:r>
                      <a:r>
                        <a:rPr sz="1600" spc="-5" dirty="0">
                          <a:latin typeface="Cambria Math"/>
                          <a:cs typeface="Cambria Math"/>
                        </a:rPr>
                        <a:t>𝐞𝐱𝐩𝐫</a:t>
                      </a:r>
                      <a:endParaRPr sz="1600" dirty="0">
                        <a:latin typeface="Cambria Math"/>
                        <a:cs typeface="Cambria Math"/>
                      </a:endParaRPr>
                    </a:p>
                  </a:txBody>
                  <a:tcPr marL="0" marR="0" marT="939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4135">
                        <a:lnSpc>
                          <a:spcPct val="100000"/>
                        </a:lnSpc>
                        <a:spcBef>
                          <a:spcPts val="740"/>
                        </a:spcBef>
                      </a:pPr>
                      <a:r>
                        <a:rPr sz="1600" dirty="0">
                          <a:solidFill>
                            <a:srgbClr val="FF0000"/>
                          </a:solidFill>
                          <a:latin typeface="Cambria Math"/>
                          <a:cs typeface="Cambria Math"/>
                        </a:rPr>
                        <a:t>𝐚</a:t>
                      </a:r>
                      <a:r>
                        <a:rPr sz="1600" spc="-30" dirty="0">
                          <a:solidFill>
                            <a:srgbClr val="FF0000"/>
                          </a:solidFill>
                          <a:latin typeface="Cambria Math"/>
                          <a:cs typeface="Cambria Math"/>
                        </a:rPr>
                        <a:t> </a:t>
                      </a:r>
                      <a:r>
                        <a:rPr sz="1600" spc="-5" dirty="0">
                          <a:latin typeface="Cambria Math"/>
                          <a:cs typeface="Cambria Math"/>
                        </a:rPr>
                        <a:t>𝐞𝐥𝐬𝐞</a:t>
                      </a:r>
                      <a:r>
                        <a:rPr sz="1600" spc="-20" dirty="0">
                          <a:latin typeface="Cambria Math"/>
                          <a:cs typeface="Cambria Math"/>
                        </a:rPr>
                        <a:t> </a:t>
                      </a:r>
                      <a:r>
                        <a:rPr sz="1600" spc="-5" dirty="0">
                          <a:latin typeface="Cambria Math"/>
                          <a:cs typeface="Cambria Math"/>
                        </a:rPr>
                        <a:t>𝑠𝑡𝑚𝑡</a:t>
                      </a:r>
                      <a:endParaRPr sz="1600" dirty="0">
                        <a:latin typeface="Cambria Math"/>
                        <a:cs typeface="Cambria Math"/>
                      </a:endParaRPr>
                    </a:p>
                  </a:txBody>
                  <a:tcPr marL="0" marR="0" marT="9398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5957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1750">
                        <a:lnSpc>
                          <a:spcPct val="100000"/>
                        </a:lnSpc>
                        <a:spcBef>
                          <a:spcPts val="750"/>
                        </a:spcBef>
                        <a:tabLst>
                          <a:tab pos="374015" algn="l"/>
                        </a:tabLst>
                      </a:pPr>
                      <a:r>
                        <a:rPr sz="1600" dirty="0">
                          <a:latin typeface="Palatino Linotype"/>
                          <a:cs typeface="Palatino Linotype"/>
                        </a:rPr>
                        <a:t>4.	Rewrite</a:t>
                      </a:r>
                      <a:r>
                        <a:rPr sz="1600" spc="-10" dirty="0">
                          <a:latin typeface="Palatino Linotype"/>
                          <a:cs typeface="Palatino Linotype"/>
                        </a:rPr>
                        <a:t> </a:t>
                      </a:r>
                      <a:r>
                        <a:rPr sz="1600" dirty="0">
                          <a:latin typeface="Palatino Linotype"/>
                          <a:cs typeface="Palatino Linotype"/>
                        </a:rPr>
                        <a:t>the</a:t>
                      </a:r>
                      <a:r>
                        <a:rPr sz="1600" spc="-10" dirty="0">
                          <a:latin typeface="Palatino Linotype"/>
                          <a:cs typeface="Palatino Linotype"/>
                        </a:rPr>
                        <a:t> </a:t>
                      </a:r>
                      <a:r>
                        <a:rPr sz="1600" spc="-5" dirty="0">
                          <a:latin typeface="Palatino Linotype"/>
                          <a:cs typeface="Palatino Linotype"/>
                        </a:rPr>
                        <a:t>leftmost</a:t>
                      </a:r>
                      <a:r>
                        <a:rPr sz="1600" dirty="0">
                          <a:latin typeface="Palatino Linotype"/>
                          <a:cs typeface="Palatino Linotype"/>
                        </a:rPr>
                        <a:t> </a:t>
                      </a:r>
                      <a:r>
                        <a:rPr sz="1600" i="1" dirty="0">
                          <a:latin typeface="Palatino Linotype"/>
                          <a:cs typeface="Palatino Linotype"/>
                        </a:rPr>
                        <a:t>stmt </a:t>
                      </a:r>
                      <a:r>
                        <a:rPr sz="1600" spc="-5" dirty="0">
                          <a:latin typeface="Palatino Linotype"/>
                          <a:cs typeface="Palatino Linotype"/>
                        </a:rPr>
                        <a:t>with</a:t>
                      </a:r>
                      <a:r>
                        <a:rPr sz="1600" dirty="0">
                          <a:latin typeface="Palatino Linotype"/>
                          <a:cs typeface="Palatino Linotype"/>
                        </a:rPr>
                        <a:t> </a:t>
                      </a:r>
                      <a:r>
                        <a:rPr sz="1600" spc="-5" dirty="0">
                          <a:latin typeface="Wingdings"/>
                          <a:cs typeface="Wingdings"/>
                        </a:rPr>
                        <a:t></a:t>
                      </a:r>
                      <a:r>
                        <a:rPr sz="1600" spc="-5" dirty="0">
                          <a:latin typeface="Palatino Linotype"/>
                          <a:cs typeface="Palatino Linotype"/>
                        </a:rPr>
                        <a:t>: </a:t>
                      </a:r>
                      <a:r>
                        <a:rPr sz="1600" spc="-5" dirty="0">
                          <a:latin typeface="Cambria Math"/>
                          <a:cs typeface="Cambria Math"/>
                        </a:rPr>
                        <a:t>𝐢𝐟</a:t>
                      </a:r>
                      <a:r>
                        <a:rPr sz="1600" spc="300" dirty="0">
                          <a:latin typeface="Cambria Math"/>
                          <a:cs typeface="Cambria Math"/>
                        </a:rPr>
                        <a:t> </a:t>
                      </a:r>
                      <a:r>
                        <a:rPr sz="1600" spc="-5" dirty="0">
                          <a:latin typeface="Cambria Math"/>
                          <a:cs typeface="Cambria Math"/>
                        </a:rPr>
                        <a:t>𝐞𝐱𝐩𝐫</a:t>
                      </a:r>
                      <a:endParaRPr sz="1600">
                        <a:latin typeface="Cambria Math"/>
                        <a:cs typeface="Cambria Math"/>
                      </a:endParaRPr>
                    </a:p>
                  </a:txBody>
                  <a:tcPr marL="0" marR="0" marT="9525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750"/>
                        </a:spcBef>
                      </a:pPr>
                      <a:r>
                        <a:rPr sz="1600" spc="-5" dirty="0">
                          <a:latin typeface="Cambria Math"/>
                          <a:cs typeface="Cambria Math"/>
                        </a:rPr>
                        <a:t>𝐰𝐡𝐢𝐥𝐞</a:t>
                      </a:r>
                      <a:r>
                        <a:rPr sz="1600" spc="260" dirty="0">
                          <a:latin typeface="Cambria Math"/>
                          <a:cs typeface="Cambria Math"/>
                        </a:rPr>
                        <a:t> </a:t>
                      </a:r>
                      <a:r>
                        <a:rPr sz="1600" spc="-5" dirty="0">
                          <a:latin typeface="Cambria Math"/>
                          <a:cs typeface="Cambria Math"/>
                        </a:rPr>
                        <a:t>𝐞𝐱𝐩𝐫</a:t>
                      </a:r>
                      <a:endParaRPr sz="1600">
                        <a:latin typeface="Cambria Math"/>
                        <a:cs typeface="Cambria Math"/>
                      </a:endParaRPr>
                    </a:p>
                  </a:txBody>
                  <a:tcPr marL="0" marR="0" marT="9525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4135">
                        <a:lnSpc>
                          <a:spcPct val="100000"/>
                        </a:lnSpc>
                        <a:spcBef>
                          <a:spcPts val="750"/>
                        </a:spcBef>
                      </a:pPr>
                      <a:r>
                        <a:rPr sz="1600" dirty="0">
                          <a:latin typeface="Cambria Math"/>
                          <a:cs typeface="Cambria Math"/>
                        </a:rPr>
                        <a:t>𝐚</a:t>
                      </a:r>
                      <a:r>
                        <a:rPr sz="1600" spc="-35" dirty="0">
                          <a:latin typeface="Cambria Math"/>
                          <a:cs typeface="Cambria Math"/>
                        </a:rPr>
                        <a:t> </a:t>
                      </a:r>
                      <a:r>
                        <a:rPr sz="1600" spc="-5" dirty="0">
                          <a:latin typeface="Cambria Math"/>
                          <a:cs typeface="Cambria Math"/>
                        </a:rPr>
                        <a:t>𝐞𝐥𝐬𝐞</a:t>
                      </a:r>
                      <a:r>
                        <a:rPr sz="1600" spc="-25" dirty="0">
                          <a:latin typeface="Cambria Math"/>
                          <a:cs typeface="Cambria Math"/>
                        </a:rPr>
                        <a:t> </a:t>
                      </a:r>
                      <a:r>
                        <a:rPr sz="1600" dirty="0">
                          <a:solidFill>
                            <a:srgbClr val="FF0000"/>
                          </a:solidFill>
                          <a:latin typeface="Cambria Math"/>
                          <a:cs typeface="Cambria Math"/>
                        </a:rPr>
                        <a:t>𝐚</a:t>
                      </a:r>
                      <a:endParaRPr sz="1600" dirty="0">
                        <a:latin typeface="Cambria Math"/>
                        <a:cs typeface="Cambria Math"/>
                      </a:endParaRPr>
                    </a:p>
                  </a:txBody>
                  <a:tcPr marL="0" marR="0" marT="9525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39" name="object 16">
            <a:extLst>
              <a:ext uri="{FF2B5EF4-FFF2-40B4-BE49-F238E27FC236}">
                <a16:creationId xmlns:a16="http://schemas.microsoft.com/office/drawing/2014/main" id="{44923702-B584-646E-1B3B-901D69C0880B}"/>
              </a:ext>
            </a:extLst>
          </p:cNvPr>
          <p:cNvSpPr/>
          <p:nvPr/>
        </p:nvSpPr>
        <p:spPr>
          <a:xfrm>
            <a:off x="4550686" y="4918685"/>
            <a:ext cx="571500" cy="188595"/>
          </a:xfrm>
          <a:custGeom>
            <a:avLst/>
            <a:gdLst/>
            <a:ahLst/>
            <a:cxnLst/>
            <a:rect l="l" t="t" r="r" b="b"/>
            <a:pathLst>
              <a:path w="571500" h="188595">
                <a:moveTo>
                  <a:pt x="511067" y="0"/>
                </a:moveTo>
                <a:lnTo>
                  <a:pt x="508388" y="7640"/>
                </a:lnTo>
                <a:lnTo>
                  <a:pt x="519284" y="12368"/>
                </a:lnTo>
                <a:lnTo>
                  <a:pt x="528654" y="18913"/>
                </a:lnTo>
                <a:lnTo>
                  <a:pt x="551151" y="62470"/>
                </a:lnTo>
                <a:lnTo>
                  <a:pt x="553929" y="93165"/>
                </a:lnTo>
                <a:lnTo>
                  <a:pt x="553232" y="109767"/>
                </a:lnTo>
                <a:lnTo>
                  <a:pt x="542767" y="150414"/>
                </a:lnTo>
                <a:lnTo>
                  <a:pt x="508685" y="180577"/>
                </a:lnTo>
                <a:lnTo>
                  <a:pt x="511067" y="188217"/>
                </a:lnTo>
                <a:lnTo>
                  <a:pt x="547027" y="166852"/>
                </a:lnTo>
                <a:lnTo>
                  <a:pt x="567225" y="127409"/>
                </a:lnTo>
                <a:lnTo>
                  <a:pt x="571094" y="94159"/>
                </a:lnTo>
                <a:lnTo>
                  <a:pt x="570124" y="76904"/>
                </a:lnTo>
                <a:lnTo>
                  <a:pt x="555566" y="32990"/>
                </a:lnTo>
                <a:lnTo>
                  <a:pt x="524713" y="4926"/>
                </a:lnTo>
                <a:lnTo>
                  <a:pt x="511067" y="0"/>
                </a:lnTo>
                <a:close/>
              </a:path>
              <a:path w="571500" h="188595">
                <a:moveTo>
                  <a:pt x="60026" y="0"/>
                </a:moveTo>
                <a:lnTo>
                  <a:pt x="24131" y="21421"/>
                </a:lnTo>
                <a:lnTo>
                  <a:pt x="3881" y="60957"/>
                </a:lnTo>
                <a:lnTo>
                  <a:pt x="0" y="94159"/>
                </a:lnTo>
                <a:lnTo>
                  <a:pt x="967" y="111450"/>
                </a:lnTo>
                <a:lnTo>
                  <a:pt x="15477" y="155327"/>
                </a:lnTo>
                <a:lnTo>
                  <a:pt x="46340" y="183297"/>
                </a:lnTo>
                <a:lnTo>
                  <a:pt x="60026" y="188217"/>
                </a:lnTo>
                <a:lnTo>
                  <a:pt x="62407" y="180577"/>
                </a:lnTo>
                <a:lnTo>
                  <a:pt x="51683" y="175827"/>
                </a:lnTo>
                <a:lnTo>
                  <a:pt x="42428" y="169217"/>
                </a:lnTo>
                <a:lnTo>
                  <a:pt x="19954" y="124842"/>
                </a:lnTo>
                <a:lnTo>
                  <a:pt x="17164" y="93165"/>
                </a:lnTo>
                <a:lnTo>
                  <a:pt x="17861" y="77108"/>
                </a:lnTo>
                <a:lnTo>
                  <a:pt x="28327" y="37454"/>
                </a:lnTo>
                <a:lnTo>
                  <a:pt x="62706" y="7640"/>
                </a:lnTo>
                <a:lnTo>
                  <a:pt x="6002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0" name="object 17">
            <a:extLst>
              <a:ext uri="{FF2B5EF4-FFF2-40B4-BE49-F238E27FC236}">
                <a16:creationId xmlns:a16="http://schemas.microsoft.com/office/drawing/2014/main" id="{5E67C115-4C87-E71B-59A1-41A99ABB197E}"/>
              </a:ext>
            </a:extLst>
          </p:cNvPr>
          <p:cNvSpPr/>
          <p:nvPr/>
        </p:nvSpPr>
        <p:spPr>
          <a:xfrm>
            <a:off x="5732167" y="4918685"/>
            <a:ext cx="571500" cy="188595"/>
          </a:xfrm>
          <a:custGeom>
            <a:avLst/>
            <a:gdLst/>
            <a:ahLst/>
            <a:cxnLst/>
            <a:rect l="l" t="t" r="r" b="b"/>
            <a:pathLst>
              <a:path w="571500" h="188595">
                <a:moveTo>
                  <a:pt x="511067" y="0"/>
                </a:moveTo>
                <a:lnTo>
                  <a:pt x="508388" y="7640"/>
                </a:lnTo>
                <a:lnTo>
                  <a:pt x="519284" y="12368"/>
                </a:lnTo>
                <a:lnTo>
                  <a:pt x="528654" y="18913"/>
                </a:lnTo>
                <a:lnTo>
                  <a:pt x="551151" y="62470"/>
                </a:lnTo>
                <a:lnTo>
                  <a:pt x="553929" y="93165"/>
                </a:lnTo>
                <a:lnTo>
                  <a:pt x="553232" y="109767"/>
                </a:lnTo>
                <a:lnTo>
                  <a:pt x="542767" y="150414"/>
                </a:lnTo>
                <a:lnTo>
                  <a:pt x="508685" y="180577"/>
                </a:lnTo>
                <a:lnTo>
                  <a:pt x="511067" y="188217"/>
                </a:lnTo>
                <a:lnTo>
                  <a:pt x="547027" y="166852"/>
                </a:lnTo>
                <a:lnTo>
                  <a:pt x="567225" y="127409"/>
                </a:lnTo>
                <a:lnTo>
                  <a:pt x="571094" y="94159"/>
                </a:lnTo>
                <a:lnTo>
                  <a:pt x="570124" y="76904"/>
                </a:lnTo>
                <a:lnTo>
                  <a:pt x="555566" y="32990"/>
                </a:lnTo>
                <a:lnTo>
                  <a:pt x="524713" y="4926"/>
                </a:lnTo>
                <a:lnTo>
                  <a:pt x="511067" y="0"/>
                </a:lnTo>
                <a:close/>
              </a:path>
              <a:path w="571500" h="188595">
                <a:moveTo>
                  <a:pt x="60026" y="0"/>
                </a:moveTo>
                <a:lnTo>
                  <a:pt x="24131" y="21421"/>
                </a:lnTo>
                <a:lnTo>
                  <a:pt x="3881" y="60957"/>
                </a:lnTo>
                <a:lnTo>
                  <a:pt x="0" y="94159"/>
                </a:lnTo>
                <a:lnTo>
                  <a:pt x="967" y="111450"/>
                </a:lnTo>
                <a:lnTo>
                  <a:pt x="15477" y="155327"/>
                </a:lnTo>
                <a:lnTo>
                  <a:pt x="46340" y="183297"/>
                </a:lnTo>
                <a:lnTo>
                  <a:pt x="60026" y="188217"/>
                </a:lnTo>
                <a:lnTo>
                  <a:pt x="62407" y="180577"/>
                </a:lnTo>
                <a:lnTo>
                  <a:pt x="51683" y="175827"/>
                </a:lnTo>
                <a:lnTo>
                  <a:pt x="42428" y="169217"/>
                </a:lnTo>
                <a:lnTo>
                  <a:pt x="19954" y="124842"/>
                </a:lnTo>
                <a:lnTo>
                  <a:pt x="17164" y="93165"/>
                </a:lnTo>
                <a:lnTo>
                  <a:pt x="17861" y="77108"/>
                </a:lnTo>
                <a:lnTo>
                  <a:pt x="28326" y="37454"/>
                </a:lnTo>
                <a:lnTo>
                  <a:pt x="62706" y="7640"/>
                </a:lnTo>
                <a:lnTo>
                  <a:pt x="60026"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1" name="object 18">
            <a:extLst>
              <a:ext uri="{FF2B5EF4-FFF2-40B4-BE49-F238E27FC236}">
                <a16:creationId xmlns:a16="http://schemas.microsoft.com/office/drawing/2014/main" id="{AAA13EC8-E1CD-7A26-569E-557D4833DD0E}"/>
              </a:ext>
            </a:extLst>
          </p:cNvPr>
          <p:cNvSpPr/>
          <p:nvPr/>
        </p:nvSpPr>
        <p:spPr>
          <a:xfrm>
            <a:off x="4550686" y="5363185"/>
            <a:ext cx="571500" cy="188595"/>
          </a:xfrm>
          <a:custGeom>
            <a:avLst/>
            <a:gdLst/>
            <a:ahLst/>
            <a:cxnLst/>
            <a:rect l="l" t="t" r="r" b="b"/>
            <a:pathLst>
              <a:path w="571500" h="188595">
                <a:moveTo>
                  <a:pt x="511067" y="0"/>
                </a:moveTo>
                <a:lnTo>
                  <a:pt x="508388" y="7640"/>
                </a:lnTo>
                <a:lnTo>
                  <a:pt x="519284" y="12368"/>
                </a:lnTo>
                <a:lnTo>
                  <a:pt x="528654" y="18913"/>
                </a:lnTo>
                <a:lnTo>
                  <a:pt x="551151" y="62470"/>
                </a:lnTo>
                <a:lnTo>
                  <a:pt x="553929" y="93165"/>
                </a:lnTo>
                <a:lnTo>
                  <a:pt x="553232" y="109767"/>
                </a:lnTo>
                <a:lnTo>
                  <a:pt x="542767" y="150416"/>
                </a:lnTo>
                <a:lnTo>
                  <a:pt x="508685" y="180578"/>
                </a:lnTo>
                <a:lnTo>
                  <a:pt x="511067" y="188217"/>
                </a:lnTo>
                <a:lnTo>
                  <a:pt x="547027" y="166852"/>
                </a:lnTo>
                <a:lnTo>
                  <a:pt x="567225" y="127409"/>
                </a:lnTo>
                <a:lnTo>
                  <a:pt x="571094" y="94159"/>
                </a:lnTo>
                <a:lnTo>
                  <a:pt x="570124" y="76904"/>
                </a:lnTo>
                <a:lnTo>
                  <a:pt x="555566" y="32990"/>
                </a:lnTo>
                <a:lnTo>
                  <a:pt x="524713" y="4926"/>
                </a:lnTo>
                <a:lnTo>
                  <a:pt x="511067" y="0"/>
                </a:lnTo>
                <a:close/>
              </a:path>
              <a:path w="571500" h="188595">
                <a:moveTo>
                  <a:pt x="60026" y="0"/>
                </a:moveTo>
                <a:lnTo>
                  <a:pt x="24131" y="21421"/>
                </a:lnTo>
                <a:lnTo>
                  <a:pt x="3881" y="60957"/>
                </a:lnTo>
                <a:lnTo>
                  <a:pt x="0" y="94159"/>
                </a:lnTo>
                <a:lnTo>
                  <a:pt x="967" y="111450"/>
                </a:lnTo>
                <a:lnTo>
                  <a:pt x="15477" y="155327"/>
                </a:lnTo>
                <a:lnTo>
                  <a:pt x="46340" y="183297"/>
                </a:lnTo>
                <a:lnTo>
                  <a:pt x="60026" y="188217"/>
                </a:lnTo>
                <a:lnTo>
                  <a:pt x="62407" y="180578"/>
                </a:lnTo>
                <a:lnTo>
                  <a:pt x="51683" y="175828"/>
                </a:lnTo>
                <a:lnTo>
                  <a:pt x="42428" y="169217"/>
                </a:lnTo>
                <a:lnTo>
                  <a:pt x="19954" y="124842"/>
                </a:lnTo>
                <a:lnTo>
                  <a:pt x="17164" y="93165"/>
                </a:lnTo>
                <a:lnTo>
                  <a:pt x="17861" y="77108"/>
                </a:lnTo>
                <a:lnTo>
                  <a:pt x="28327" y="37454"/>
                </a:lnTo>
                <a:lnTo>
                  <a:pt x="62706" y="7640"/>
                </a:lnTo>
                <a:lnTo>
                  <a:pt x="6002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2" name="object 19">
            <a:extLst>
              <a:ext uri="{FF2B5EF4-FFF2-40B4-BE49-F238E27FC236}">
                <a16:creationId xmlns:a16="http://schemas.microsoft.com/office/drawing/2014/main" id="{6F6DFE5C-3986-CA83-2DDD-6D865EB0817C}"/>
              </a:ext>
            </a:extLst>
          </p:cNvPr>
          <p:cNvSpPr/>
          <p:nvPr/>
        </p:nvSpPr>
        <p:spPr>
          <a:xfrm>
            <a:off x="5732167" y="5363185"/>
            <a:ext cx="571500" cy="188595"/>
          </a:xfrm>
          <a:custGeom>
            <a:avLst/>
            <a:gdLst/>
            <a:ahLst/>
            <a:cxnLst/>
            <a:rect l="l" t="t" r="r" b="b"/>
            <a:pathLst>
              <a:path w="571500" h="188595">
                <a:moveTo>
                  <a:pt x="511067" y="0"/>
                </a:moveTo>
                <a:lnTo>
                  <a:pt x="508388" y="7640"/>
                </a:lnTo>
                <a:lnTo>
                  <a:pt x="519284" y="12368"/>
                </a:lnTo>
                <a:lnTo>
                  <a:pt x="528654" y="18913"/>
                </a:lnTo>
                <a:lnTo>
                  <a:pt x="551151" y="62470"/>
                </a:lnTo>
                <a:lnTo>
                  <a:pt x="553929" y="93165"/>
                </a:lnTo>
                <a:lnTo>
                  <a:pt x="553232" y="109767"/>
                </a:lnTo>
                <a:lnTo>
                  <a:pt x="542767" y="150416"/>
                </a:lnTo>
                <a:lnTo>
                  <a:pt x="508685" y="180578"/>
                </a:lnTo>
                <a:lnTo>
                  <a:pt x="511067" y="188217"/>
                </a:lnTo>
                <a:lnTo>
                  <a:pt x="547027" y="166852"/>
                </a:lnTo>
                <a:lnTo>
                  <a:pt x="567225" y="127409"/>
                </a:lnTo>
                <a:lnTo>
                  <a:pt x="571094" y="94159"/>
                </a:lnTo>
                <a:lnTo>
                  <a:pt x="570124" y="76904"/>
                </a:lnTo>
                <a:lnTo>
                  <a:pt x="555566" y="32990"/>
                </a:lnTo>
                <a:lnTo>
                  <a:pt x="524713" y="4926"/>
                </a:lnTo>
                <a:lnTo>
                  <a:pt x="511067" y="0"/>
                </a:lnTo>
                <a:close/>
              </a:path>
              <a:path w="571500" h="188595">
                <a:moveTo>
                  <a:pt x="60026" y="0"/>
                </a:moveTo>
                <a:lnTo>
                  <a:pt x="24131" y="21421"/>
                </a:lnTo>
                <a:lnTo>
                  <a:pt x="3881" y="60957"/>
                </a:lnTo>
                <a:lnTo>
                  <a:pt x="0" y="94159"/>
                </a:lnTo>
                <a:lnTo>
                  <a:pt x="967" y="111450"/>
                </a:lnTo>
                <a:lnTo>
                  <a:pt x="15477" y="155327"/>
                </a:lnTo>
                <a:lnTo>
                  <a:pt x="46340" y="183297"/>
                </a:lnTo>
                <a:lnTo>
                  <a:pt x="60026" y="188217"/>
                </a:lnTo>
                <a:lnTo>
                  <a:pt x="62407" y="180578"/>
                </a:lnTo>
                <a:lnTo>
                  <a:pt x="51683" y="175828"/>
                </a:lnTo>
                <a:lnTo>
                  <a:pt x="42428" y="169217"/>
                </a:lnTo>
                <a:lnTo>
                  <a:pt x="19954" y="124842"/>
                </a:lnTo>
                <a:lnTo>
                  <a:pt x="17164" y="93165"/>
                </a:lnTo>
                <a:lnTo>
                  <a:pt x="17861" y="77108"/>
                </a:lnTo>
                <a:lnTo>
                  <a:pt x="28326" y="37454"/>
                </a:lnTo>
                <a:lnTo>
                  <a:pt x="62706" y="7640"/>
                </a:lnTo>
                <a:lnTo>
                  <a:pt x="6002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3" name="object 20">
            <a:extLst>
              <a:ext uri="{FF2B5EF4-FFF2-40B4-BE49-F238E27FC236}">
                <a16:creationId xmlns:a16="http://schemas.microsoft.com/office/drawing/2014/main" id="{BB4571D9-3D59-590D-7B7D-28E09897040A}"/>
              </a:ext>
            </a:extLst>
          </p:cNvPr>
          <p:cNvSpPr/>
          <p:nvPr/>
        </p:nvSpPr>
        <p:spPr>
          <a:xfrm>
            <a:off x="4550686" y="5807685"/>
            <a:ext cx="571500" cy="188595"/>
          </a:xfrm>
          <a:custGeom>
            <a:avLst/>
            <a:gdLst/>
            <a:ahLst/>
            <a:cxnLst/>
            <a:rect l="l" t="t" r="r" b="b"/>
            <a:pathLst>
              <a:path w="571500" h="188595">
                <a:moveTo>
                  <a:pt x="511067" y="0"/>
                </a:moveTo>
                <a:lnTo>
                  <a:pt x="508388" y="7639"/>
                </a:lnTo>
                <a:lnTo>
                  <a:pt x="519284" y="12368"/>
                </a:lnTo>
                <a:lnTo>
                  <a:pt x="528654" y="18913"/>
                </a:lnTo>
                <a:lnTo>
                  <a:pt x="551151" y="62470"/>
                </a:lnTo>
                <a:lnTo>
                  <a:pt x="553929" y="93166"/>
                </a:lnTo>
                <a:lnTo>
                  <a:pt x="553232" y="109766"/>
                </a:lnTo>
                <a:lnTo>
                  <a:pt x="542767" y="150415"/>
                </a:lnTo>
                <a:lnTo>
                  <a:pt x="508685" y="180577"/>
                </a:lnTo>
                <a:lnTo>
                  <a:pt x="511067" y="188217"/>
                </a:lnTo>
                <a:lnTo>
                  <a:pt x="547027" y="166851"/>
                </a:lnTo>
                <a:lnTo>
                  <a:pt x="567225" y="127409"/>
                </a:lnTo>
                <a:lnTo>
                  <a:pt x="571094" y="94158"/>
                </a:lnTo>
                <a:lnTo>
                  <a:pt x="570124" y="76903"/>
                </a:lnTo>
                <a:lnTo>
                  <a:pt x="555566" y="32990"/>
                </a:lnTo>
                <a:lnTo>
                  <a:pt x="524713" y="4926"/>
                </a:lnTo>
                <a:lnTo>
                  <a:pt x="511067" y="0"/>
                </a:lnTo>
                <a:close/>
              </a:path>
              <a:path w="571500" h="188595">
                <a:moveTo>
                  <a:pt x="60026" y="0"/>
                </a:moveTo>
                <a:lnTo>
                  <a:pt x="24131" y="21421"/>
                </a:lnTo>
                <a:lnTo>
                  <a:pt x="3881" y="60957"/>
                </a:lnTo>
                <a:lnTo>
                  <a:pt x="0" y="94158"/>
                </a:lnTo>
                <a:lnTo>
                  <a:pt x="967" y="111450"/>
                </a:lnTo>
                <a:lnTo>
                  <a:pt x="15477" y="155326"/>
                </a:lnTo>
                <a:lnTo>
                  <a:pt x="46340" y="183297"/>
                </a:lnTo>
                <a:lnTo>
                  <a:pt x="60026" y="188217"/>
                </a:lnTo>
                <a:lnTo>
                  <a:pt x="62407" y="180577"/>
                </a:lnTo>
                <a:lnTo>
                  <a:pt x="51683" y="175827"/>
                </a:lnTo>
                <a:lnTo>
                  <a:pt x="42428" y="169217"/>
                </a:lnTo>
                <a:lnTo>
                  <a:pt x="19954" y="124841"/>
                </a:lnTo>
                <a:lnTo>
                  <a:pt x="17164" y="93166"/>
                </a:lnTo>
                <a:lnTo>
                  <a:pt x="17861" y="77108"/>
                </a:lnTo>
                <a:lnTo>
                  <a:pt x="28327" y="37454"/>
                </a:lnTo>
                <a:lnTo>
                  <a:pt x="62706" y="7639"/>
                </a:lnTo>
                <a:lnTo>
                  <a:pt x="6002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4" name="object 21">
            <a:extLst>
              <a:ext uri="{FF2B5EF4-FFF2-40B4-BE49-F238E27FC236}">
                <a16:creationId xmlns:a16="http://schemas.microsoft.com/office/drawing/2014/main" id="{B828A1A3-3339-5F0F-B916-867CA7B5A4AD}"/>
              </a:ext>
            </a:extLst>
          </p:cNvPr>
          <p:cNvSpPr/>
          <p:nvPr/>
        </p:nvSpPr>
        <p:spPr>
          <a:xfrm>
            <a:off x="5732167" y="5807685"/>
            <a:ext cx="571500" cy="188595"/>
          </a:xfrm>
          <a:custGeom>
            <a:avLst/>
            <a:gdLst/>
            <a:ahLst/>
            <a:cxnLst/>
            <a:rect l="l" t="t" r="r" b="b"/>
            <a:pathLst>
              <a:path w="571500" h="188595">
                <a:moveTo>
                  <a:pt x="511067" y="0"/>
                </a:moveTo>
                <a:lnTo>
                  <a:pt x="508388" y="7639"/>
                </a:lnTo>
                <a:lnTo>
                  <a:pt x="519284" y="12368"/>
                </a:lnTo>
                <a:lnTo>
                  <a:pt x="528654" y="18913"/>
                </a:lnTo>
                <a:lnTo>
                  <a:pt x="551151" y="62470"/>
                </a:lnTo>
                <a:lnTo>
                  <a:pt x="553929" y="93166"/>
                </a:lnTo>
                <a:lnTo>
                  <a:pt x="553232" y="109766"/>
                </a:lnTo>
                <a:lnTo>
                  <a:pt x="542767" y="150415"/>
                </a:lnTo>
                <a:lnTo>
                  <a:pt x="508685" y="180577"/>
                </a:lnTo>
                <a:lnTo>
                  <a:pt x="511067" y="188217"/>
                </a:lnTo>
                <a:lnTo>
                  <a:pt x="547027" y="166851"/>
                </a:lnTo>
                <a:lnTo>
                  <a:pt x="567225" y="127409"/>
                </a:lnTo>
                <a:lnTo>
                  <a:pt x="571094" y="94158"/>
                </a:lnTo>
                <a:lnTo>
                  <a:pt x="570124" y="76903"/>
                </a:lnTo>
                <a:lnTo>
                  <a:pt x="555566" y="32990"/>
                </a:lnTo>
                <a:lnTo>
                  <a:pt x="524713" y="4926"/>
                </a:lnTo>
                <a:lnTo>
                  <a:pt x="511067" y="0"/>
                </a:lnTo>
                <a:close/>
              </a:path>
              <a:path w="571500" h="188595">
                <a:moveTo>
                  <a:pt x="60026" y="0"/>
                </a:moveTo>
                <a:lnTo>
                  <a:pt x="24131" y="21421"/>
                </a:lnTo>
                <a:lnTo>
                  <a:pt x="3881" y="60957"/>
                </a:lnTo>
                <a:lnTo>
                  <a:pt x="0" y="94158"/>
                </a:lnTo>
                <a:lnTo>
                  <a:pt x="967" y="111450"/>
                </a:lnTo>
                <a:lnTo>
                  <a:pt x="15477" y="155326"/>
                </a:lnTo>
                <a:lnTo>
                  <a:pt x="46340" y="183297"/>
                </a:lnTo>
                <a:lnTo>
                  <a:pt x="60026" y="188217"/>
                </a:lnTo>
                <a:lnTo>
                  <a:pt x="62407" y="180577"/>
                </a:lnTo>
                <a:lnTo>
                  <a:pt x="51683" y="175827"/>
                </a:lnTo>
                <a:lnTo>
                  <a:pt x="42428" y="169217"/>
                </a:lnTo>
                <a:lnTo>
                  <a:pt x="19954" y="124841"/>
                </a:lnTo>
                <a:lnTo>
                  <a:pt x="17164" y="93166"/>
                </a:lnTo>
                <a:lnTo>
                  <a:pt x="17861" y="77108"/>
                </a:lnTo>
                <a:lnTo>
                  <a:pt x="28326" y="37454"/>
                </a:lnTo>
                <a:lnTo>
                  <a:pt x="62706" y="7639"/>
                </a:lnTo>
                <a:lnTo>
                  <a:pt x="6002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8106094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74</a:t>
            </a:fld>
            <a:endParaRPr lang="en-US"/>
          </a:p>
        </p:txBody>
      </p:sp>
      <p:sp>
        <p:nvSpPr>
          <p:cNvPr id="8" name="object 2">
            <a:extLst>
              <a:ext uri="{FF2B5EF4-FFF2-40B4-BE49-F238E27FC236}">
                <a16:creationId xmlns:a16="http://schemas.microsoft.com/office/drawing/2014/main" id="{A7C8BF09-848F-93E9-ACAA-FB68560AB6AB}"/>
              </a:ext>
            </a:extLst>
          </p:cNvPr>
          <p:cNvSpPr txBox="1">
            <a:spLocks/>
          </p:cNvSpPr>
          <p:nvPr/>
        </p:nvSpPr>
        <p:spPr>
          <a:xfrm>
            <a:off x="707390" y="524763"/>
            <a:ext cx="619506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80" normalizeH="0" baseline="0" noProof="0">
                <a:ln>
                  <a:noFill/>
                </a:ln>
                <a:solidFill>
                  <a:sysClr val="windowText" lastClr="000000"/>
                </a:solidFill>
                <a:effectLst/>
                <a:uLnTx/>
                <a:uFillTx/>
                <a:latin typeface="Palatino Linotype"/>
                <a:ea typeface="+mj-ea"/>
              </a:rPr>
              <a:t>Table</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预测分析表</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9" name="object 3">
            <a:extLst>
              <a:ext uri="{FF2B5EF4-FFF2-40B4-BE49-F238E27FC236}">
                <a16:creationId xmlns:a16="http://schemas.microsoft.com/office/drawing/2014/main" id="{60DB9405-A7A5-2A42-1F2C-B0A37BB16FE8}"/>
              </a:ext>
            </a:extLst>
          </p:cNvPr>
          <p:cNvSpPr txBox="1"/>
          <p:nvPr/>
        </p:nvSpPr>
        <p:spPr>
          <a:xfrm>
            <a:off x="707390" y="1586484"/>
            <a:ext cx="7552690" cy="2463800"/>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sz="2000" kern="1200" spc="-5" dirty="0">
                <a:solidFill>
                  <a:prstClr val="black"/>
                </a:solidFill>
                <a:latin typeface="Palatino Linotype"/>
                <a:cs typeface="Palatino Linotype"/>
              </a:rPr>
              <a:t>Recursive-descent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parsers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(or </a:t>
            </a:r>
            <a:r>
              <a:rPr sz="2000" b="1" kern="1200" dirty="0">
                <a:solidFill>
                  <a:srgbClr val="0432FF"/>
                </a:solidFill>
                <a:latin typeface="Palatino Linotype"/>
                <a:cs typeface="Palatino Linotype"/>
              </a:rPr>
              <a:t>LL </a:t>
            </a:r>
            <a:r>
              <a:rPr sz="2000" b="1" kern="1200" spc="-5" dirty="0">
                <a:solidFill>
                  <a:srgbClr val="0432FF"/>
                </a:solidFill>
                <a:latin typeface="Palatino Linotype"/>
                <a:cs typeface="Palatino Linotype"/>
              </a:rPr>
              <a:t>parsers</a:t>
            </a:r>
            <a:r>
              <a:rPr sz="2000" kern="1200" spc="-5" dirty="0">
                <a:solidFill>
                  <a:prstClr val="black"/>
                </a:solidFill>
                <a:latin typeface="Palatino Linotype"/>
                <a:cs typeface="Palatino Linotype"/>
              </a:rPr>
              <a:t>) are</a:t>
            </a:r>
            <a:r>
              <a:rPr sz="2000" kern="1200" dirty="0">
                <a:solidFill>
                  <a:prstClr val="black"/>
                </a:solidFill>
                <a:latin typeface="Palatino Linotype"/>
                <a:cs typeface="Palatino Linotype"/>
              </a:rPr>
              <a:t> table-based </a:t>
            </a:r>
            <a:r>
              <a:rPr sz="2000" kern="1200" spc="-5" dirty="0">
                <a:solidFill>
                  <a:prstClr val="black"/>
                </a:solidFill>
                <a:latin typeface="Palatino Linotype"/>
                <a:cs typeface="Palatino Linotype"/>
              </a:rPr>
              <a:t>parsers</a:t>
            </a:r>
            <a:endParaRPr sz="2000" kern="1200" dirty="0">
              <a:solidFill>
                <a:prstClr val="black"/>
              </a:solidFill>
              <a:latin typeface="Palatino Linotype"/>
              <a:cs typeface="Palatino Linotype"/>
            </a:endParaRPr>
          </a:p>
          <a:p>
            <a:pPr marL="242570" marR="194945" indent="-230504" rtl="0">
              <a:lnSpc>
                <a:spcPct val="120500"/>
              </a:lnSpc>
              <a:spcBef>
                <a:spcPts val="1115"/>
              </a:spcBef>
              <a:buFont typeface="Arial MT"/>
              <a:buChar char="•"/>
              <a:tabLst>
                <a:tab pos="242570" algn="l"/>
                <a:tab pos="243204" algn="l"/>
              </a:tabLst>
            </a:pP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predictive </a:t>
            </a:r>
            <a:r>
              <a:rPr sz="2000" b="1" kern="1200" spc="-5" dirty="0">
                <a:solidFill>
                  <a:srgbClr val="FF0000"/>
                </a:solidFill>
                <a:latin typeface="Palatino Linotype"/>
                <a:cs typeface="Palatino Linotype"/>
              </a:rPr>
              <a:t>parsing table </a:t>
            </a:r>
            <a:r>
              <a:rPr sz="2000" kern="1200" dirty="0">
                <a:solidFill>
                  <a:prstClr val="black"/>
                </a:solidFill>
                <a:latin typeface="Palatino Linotype"/>
                <a:cs typeface="Palatino Linotype"/>
              </a:rPr>
              <a:t>is a </a:t>
            </a:r>
            <a:r>
              <a:rPr sz="2000" kern="1200" spc="-5" dirty="0">
                <a:solidFill>
                  <a:prstClr val="black"/>
                </a:solidFill>
                <a:latin typeface="Palatino Linotype"/>
                <a:cs typeface="Palatino Linotype"/>
              </a:rPr>
              <a:t>two-dimensional array that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determines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which production</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parser</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should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choose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when </a:t>
            </a:r>
            <a:r>
              <a:rPr sz="2000" kern="1200" dirty="0">
                <a:solidFill>
                  <a:prstClr val="black"/>
                </a:solidFill>
                <a:latin typeface="Palatino Linotype"/>
                <a:cs typeface="Palatino Linotype"/>
              </a:rPr>
              <a:t>it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sees</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nonterminal</a:t>
            </a:r>
            <a:r>
              <a:rPr sz="2000" kern="1200" spc="5" dirty="0">
                <a:solidFill>
                  <a:prstClr val="black"/>
                </a:solidFill>
                <a:latin typeface="Palatino Linotype"/>
                <a:cs typeface="Palatino Linotype"/>
              </a:rPr>
              <a:t> </a:t>
            </a:r>
            <a:r>
              <a:rPr sz="2000" i="1" kern="1200" dirty="0">
                <a:solidFill>
                  <a:srgbClr val="FF0000"/>
                </a:solidFill>
                <a:latin typeface="Palatino Linotype"/>
                <a:cs typeface="Palatino Linotype"/>
              </a:rPr>
              <a:t>A</a:t>
            </a:r>
            <a:r>
              <a:rPr sz="2000" i="1" kern="1200" spc="5" dirty="0">
                <a:solidFill>
                  <a:srgbClr val="FF0000"/>
                </a:solidFill>
                <a:latin typeface="Palatino Linotype"/>
                <a:cs typeface="Palatino Linotype"/>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 </a:t>
            </a:r>
            <a:r>
              <a:rPr sz="2000" kern="1200" spc="-5" dirty="0">
                <a:solidFill>
                  <a:prstClr val="black"/>
                </a:solidFill>
                <a:latin typeface="Palatino Linotype"/>
                <a:cs typeface="Palatino Linotype"/>
              </a:rPr>
              <a:t>symbol</a:t>
            </a:r>
            <a:r>
              <a:rPr sz="2000" kern="1200" spc="5" dirty="0">
                <a:solidFill>
                  <a:prstClr val="black"/>
                </a:solidFill>
                <a:latin typeface="Palatino Linotype"/>
                <a:cs typeface="Palatino Linotype"/>
              </a:rPr>
              <a:t> </a:t>
            </a:r>
            <a:r>
              <a:rPr sz="2000" kern="1200" dirty="0">
                <a:solidFill>
                  <a:srgbClr val="FF0000"/>
                </a:solidFill>
                <a:latin typeface="Cambria Math"/>
                <a:cs typeface="Cambria Math"/>
              </a:rPr>
              <a:t>𝑎</a:t>
            </a:r>
            <a:r>
              <a:rPr sz="2000" kern="1200" spc="105" dirty="0">
                <a:solidFill>
                  <a:srgbClr val="FF0000"/>
                </a:solidFill>
                <a:latin typeface="Cambria Math"/>
                <a:cs typeface="Cambria Math"/>
              </a:rPr>
              <a:t> </a:t>
            </a:r>
            <a:r>
              <a:rPr sz="2000" kern="1200" spc="-5" dirty="0">
                <a:solidFill>
                  <a:prstClr val="black"/>
                </a:solidFill>
                <a:latin typeface="Palatino Linotype"/>
                <a:cs typeface="Palatino Linotype"/>
              </a:rPr>
              <a:t>on </a:t>
            </a:r>
            <a:r>
              <a:rPr sz="2000" kern="1200" dirty="0">
                <a:solidFill>
                  <a:prstClr val="black"/>
                </a:solidFill>
                <a:latin typeface="Palatino Linotype"/>
                <a:cs typeface="Palatino Linotype"/>
              </a:rPr>
              <a:t>its </a:t>
            </a:r>
            <a:r>
              <a:rPr sz="2000" kern="1200" spc="-5" dirty="0">
                <a:solidFill>
                  <a:prstClr val="black"/>
                </a:solidFill>
                <a:latin typeface="Palatino Linotype"/>
                <a:cs typeface="Palatino Linotype"/>
              </a:rPr>
              <a:t>input stream</a:t>
            </a:r>
            <a:endParaRPr sz="2000" kern="1200" dirty="0">
              <a:solidFill>
                <a:prstClr val="black"/>
              </a:solidFill>
              <a:latin typeface="Palatino Linotype"/>
              <a:cs typeface="Palatino Linotype"/>
            </a:endParaRPr>
          </a:p>
          <a:p>
            <a:pPr marL="242570" marR="67310" indent="-230504" rtl="0">
              <a:lnSpc>
                <a:spcPct val="121000"/>
              </a:lnSpc>
              <a:spcBef>
                <a:spcPts val="1200"/>
              </a:spcBef>
              <a:buFont typeface="Arial MT"/>
              <a:buChar char="•"/>
              <a:tabLst>
                <a:tab pos="242570" algn="l"/>
                <a:tab pos="243204" algn="l"/>
              </a:tabLst>
            </a:pP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parsing</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table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of</a:t>
            </a:r>
            <a:r>
              <a:rPr sz="2000" kern="1200" dirty="0">
                <a:solidFill>
                  <a:prstClr val="black"/>
                </a:solidFill>
                <a:latin typeface="Palatino Linotype"/>
                <a:cs typeface="Palatino Linotype"/>
              </a:rPr>
              <a:t> an </a:t>
            </a:r>
            <a:r>
              <a:rPr sz="2000" kern="1200" spc="-5" dirty="0">
                <a:solidFill>
                  <a:prstClr val="black"/>
                </a:solidFill>
                <a:latin typeface="Palatino Linotype"/>
                <a:cs typeface="Palatino Linotype"/>
              </a:rPr>
              <a:t>LL(1)</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parser</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has</a:t>
            </a:r>
            <a:r>
              <a:rPr sz="2000" kern="1200" spc="5" dirty="0">
                <a:solidFill>
                  <a:prstClr val="black"/>
                </a:solidFill>
                <a:latin typeface="Palatino Linotype"/>
                <a:cs typeface="Palatino Linotype"/>
              </a:rPr>
              <a:t> </a:t>
            </a:r>
            <a:r>
              <a:rPr sz="2000" kern="1200" spc="-5" dirty="0">
                <a:solidFill>
                  <a:srgbClr val="FF0000"/>
                </a:solidFill>
                <a:latin typeface="Palatino Linotype"/>
                <a:cs typeface="Palatino Linotype"/>
              </a:rPr>
              <a:t>no</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entries</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with</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multiple </a:t>
            </a:r>
            <a:r>
              <a:rPr sz="2000" kern="1200" spc="-484" dirty="0">
                <a:solidFill>
                  <a:srgbClr val="FF0000"/>
                </a:solidFill>
                <a:latin typeface="Palatino Linotype"/>
                <a:cs typeface="Palatino Linotype"/>
              </a:rPr>
              <a:t> </a:t>
            </a:r>
            <a:r>
              <a:rPr sz="2000" kern="1200" spc="-5" dirty="0">
                <a:solidFill>
                  <a:srgbClr val="FF0000"/>
                </a:solidFill>
                <a:latin typeface="Palatino Linotype"/>
                <a:cs typeface="Palatino Linotype"/>
              </a:rPr>
              <a:t>productions</a:t>
            </a:r>
            <a:endParaRPr sz="2000" kern="1200" dirty="0">
              <a:solidFill>
                <a:prstClr val="black"/>
              </a:solidFill>
              <a:latin typeface="Palatino Linotype"/>
              <a:cs typeface="Palatino Linotype"/>
            </a:endParaRPr>
          </a:p>
        </p:txBody>
      </p:sp>
      <p:pic>
        <p:nvPicPr>
          <p:cNvPr id="10" name="object 4">
            <a:extLst>
              <a:ext uri="{FF2B5EF4-FFF2-40B4-BE49-F238E27FC236}">
                <a16:creationId xmlns:a16="http://schemas.microsoft.com/office/drawing/2014/main" id="{2C9D0E14-2FB8-62FF-4338-5986694634D5}"/>
              </a:ext>
            </a:extLst>
          </p:cNvPr>
          <p:cNvPicPr/>
          <p:nvPr/>
        </p:nvPicPr>
        <p:blipFill>
          <a:blip r:embed="rId3" cstate="print"/>
          <a:stretch>
            <a:fillRect/>
          </a:stretch>
        </p:blipFill>
        <p:spPr>
          <a:xfrm>
            <a:off x="1734037" y="4346453"/>
            <a:ext cx="5671348" cy="1847761"/>
          </a:xfrm>
          <a:prstGeom prst="rect">
            <a:avLst/>
          </a:prstGeom>
        </p:spPr>
      </p:pic>
    </p:spTree>
    <p:extLst>
      <p:ext uri="{BB962C8B-B14F-4D97-AF65-F5344CB8AC3E}">
        <p14:creationId xmlns:p14="http://schemas.microsoft.com/office/powerpoint/2010/main" val="42045587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75</a:t>
            </a:fld>
            <a:endParaRPr lang="en-US"/>
          </a:p>
        </p:txBody>
      </p:sp>
      <p:sp>
        <p:nvSpPr>
          <p:cNvPr id="7" name="object 2">
            <a:extLst>
              <a:ext uri="{FF2B5EF4-FFF2-40B4-BE49-F238E27FC236}">
                <a16:creationId xmlns:a16="http://schemas.microsoft.com/office/drawing/2014/main" id="{947087FC-7DF6-6412-81AE-D30F2303DACF}"/>
              </a:ext>
            </a:extLst>
          </p:cNvPr>
          <p:cNvSpPr txBox="1">
            <a:spLocks/>
          </p:cNvSpPr>
          <p:nvPr/>
        </p:nvSpPr>
        <p:spPr>
          <a:xfrm>
            <a:off x="707390" y="524763"/>
            <a:ext cx="632841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Parsing </a:t>
            </a:r>
            <a:r>
              <a:rPr kumimoji="0" lang="en-US" sz="4000" b="1" i="0" u="none" strike="noStrike" kern="0" cap="none" spc="-80" normalizeH="0" baseline="0" noProof="0">
                <a:ln>
                  <a:noFill/>
                </a:ln>
                <a:solidFill>
                  <a:sysClr val="windowText" lastClr="000000"/>
                </a:solidFill>
                <a:effectLst/>
                <a:uLnTx/>
                <a:uFillTx/>
                <a:latin typeface="Palatino Linotype"/>
                <a:ea typeface="+mj-ea"/>
              </a:rPr>
              <a:t>Table</a:t>
            </a:r>
            <a:r>
              <a:rPr kumimoji="0" lang="en-US" sz="4000" b="1" i="0" u="none" strike="noStrike" kern="0" cap="none" spc="-5" normalizeH="0" baseline="0" noProof="0">
                <a:ln>
                  <a:noFill/>
                </a:ln>
                <a:solidFill>
                  <a:sysClr val="windowText" lastClr="000000"/>
                </a:solidFill>
                <a:effectLst/>
                <a:uLnTx/>
                <a:uFillTx/>
                <a:latin typeface="Palatino Linotype"/>
                <a:ea typeface="+mj-ea"/>
              </a:rPr>
              <a:t> Construction</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E5AEBD9B-A394-4F37-09F9-4F07C80ACF91}"/>
              </a:ext>
            </a:extLst>
          </p:cNvPr>
          <p:cNvSpPr txBox="1"/>
          <p:nvPr/>
        </p:nvSpPr>
        <p:spPr>
          <a:xfrm>
            <a:off x="707388" y="1497076"/>
            <a:ext cx="7504430" cy="3949700"/>
          </a:xfrm>
          <a:prstGeom prst="rect">
            <a:avLst/>
          </a:prstGeom>
        </p:spPr>
        <p:txBody>
          <a:bodyPr vert="horz" wrap="square" lIns="0" tIns="12700" rIns="0" bIns="0" rtlCol="0">
            <a:spAutoFit/>
          </a:bodyPr>
          <a:lstStyle/>
          <a:p>
            <a:pPr marL="12700" rtl="0">
              <a:spcBef>
                <a:spcPts val="100"/>
              </a:spcBef>
            </a:pPr>
            <a:r>
              <a:rPr sz="2200" kern="1200" spc="-5" dirty="0">
                <a:solidFill>
                  <a:srgbClr val="FF0000"/>
                </a:solidFill>
                <a:latin typeface="Palatino Linotype"/>
                <a:cs typeface="Palatino Linotype"/>
              </a:rPr>
              <a:t>The</a:t>
            </a:r>
            <a:r>
              <a:rPr sz="2200" kern="1200" spc="-10" dirty="0">
                <a:solidFill>
                  <a:srgbClr val="FF0000"/>
                </a:solidFill>
                <a:latin typeface="Palatino Linotype"/>
                <a:cs typeface="Palatino Linotype"/>
              </a:rPr>
              <a:t> </a:t>
            </a:r>
            <a:r>
              <a:rPr sz="2200" kern="1200" spc="-5" dirty="0">
                <a:solidFill>
                  <a:srgbClr val="FF0000"/>
                </a:solidFill>
                <a:latin typeface="Palatino Linotype"/>
                <a:cs typeface="Palatino Linotype"/>
              </a:rPr>
              <a:t>following</a:t>
            </a:r>
            <a:r>
              <a:rPr sz="2200" kern="1200" dirty="0">
                <a:solidFill>
                  <a:srgbClr val="FF0000"/>
                </a:solidFill>
                <a:latin typeface="Palatino Linotype"/>
                <a:cs typeface="Palatino Linotype"/>
              </a:rPr>
              <a:t> </a:t>
            </a:r>
            <a:r>
              <a:rPr sz="2200" kern="1200" spc="-5" dirty="0">
                <a:solidFill>
                  <a:srgbClr val="FF0000"/>
                </a:solidFill>
                <a:latin typeface="Palatino Linotype"/>
                <a:cs typeface="Palatino Linotype"/>
              </a:rPr>
              <a:t>algorithm</a:t>
            </a:r>
            <a:r>
              <a:rPr sz="2200" kern="1200" spc="-10" dirty="0">
                <a:solidFill>
                  <a:srgbClr val="FF0000"/>
                </a:solidFill>
                <a:latin typeface="Palatino Linotype"/>
                <a:cs typeface="Palatino Linotype"/>
              </a:rPr>
              <a:t> </a:t>
            </a:r>
            <a:r>
              <a:rPr sz="2200" kern="1200" spc="-5" dirty="0">
                <a:solidFill>
                  <a:srgbClr val="FF0000"/>
                </a:solidFill>
                <a:latin typeface="Palatino Linotype"/>
                <a:cs typeface="Palatino Linotype"/>
              </a:rPr>
              <a:t>can</a:t>
            </a:r>
            <a:r>
              <a:rPr sz="2200" kern="1200" spc="-10" dirty="0">
                <a:solidFill>
                  <a:srgbClr val="FF0000"/>
                </a:solidFill>
                <a:latin typeface="Palatino Linotype"/>
                <a:cs typeface="Palatino Linotype"/>
              </a:rPr>
              <a:t> </a:t>
            </a:r>
            <a:r>
              <a:rPr sz="2200" kern="1200" spc="-5" dirty="0">
                <a:solidFill>
                  <a:srgbClr val="FF0000"/>
                </a:solidFill>
                <a:latin typeface="Palatino Linotype"/>
                <a:cs typeface="Palatino Linotype"/>
              </a:rPr>
              <a:t>be</a:t>
            </a:r>
            <a:r>
              <a:rPr sz="2200" kern="1200" spc="-10" dirty="0">
                <a:solidFill>
                  <a:srgbClr val="FF0000"/>
                </a:solidFill>
                <a:latin typeface="Palatino Linotype"/>
                <a:cs typeface="Palatino Linotype"/>
              </a:rPr>
              <a:t> </a:t>
            </a:r>
            <a:r>
              <a:rPr sz="2200" kern="1200" spc="-5" dirty="0">
                <a:solidFill>
                  <a:srgbClr val="FF0000"/>
                </a:solidFill>
                <a:latin typeface="Palatino Linotype"/>
                <a:cs typeface="Palatino Linotype"/>
              </a:rPr>
              <a:t>applied</a:t>
            </a:r>
            <a:r>
              <a:rPr sz="2200" kern="1200" spc="5" dirty="0">
                <a:solidFill>
                  <a:srgbClr val="FF0000"/>
                </a:solidFill>
                <a:latin typeface="Palatino Linotype"/>
                <a:cs typeface="Palatino Linotype"/>
              </a:rPr>
              <a:t> </a:t>
            </a:r>
            <a:r>
              <a:rPr sz="2200" kern="1200" spc="-5" dirty="0">
                <a:solidFill>
                  <a:srgbClr val="FF0000"/>
                </a:solidFill>
                <a:latin typeface="Palatino Linotype"/>
                <a:cs typeface="Palatino Linotype"/>
              </a:rPr>
              <a:t>to any </a:t>
            </a:r>
            <a:r>
              <a:rPr sz="2200" kern="1200" dirty="0">
                <a:solidFill>
                  <a:srgbClr val="FF0000"/>
                </a:solidFill>
                <a:latin typeface="Palatino Linotype"/>
                <a:cs typeface="Palatino Linotype"/>
              </a:rPr>
              <a:t>CFG</a:t>
            </a:r>
            <a:endParaRPr sz="2200" kern="1200" dirty="0">
              <a:solidFill>
                <a:prstClr val="black"/>
              </a:solidFill>
              <a:latin typeface="Palatino Linotype"/>
              <a:cs typeface="Palatino Linotype"/>
            </a:endParaRPr>
          </a:p>
          <a:p>
            <a:pPr rtl="0">
              <a:spcBef>
                <a:spcPts val="20"/>
              </a:spcBef>
            </a:pPr>
            <a:endParaRPr sz="2100" kern="1200" dirty="0">
              <a:solidFill>
                <a:prstClr val="black"/>
              </a:solidFill>
              <a:latin typeface="Palatino Linotype"/>
              <a:cs typeface="Palatino Linotype"/>
            </a:endParaRPr>
          </a:p>
          <a:p>
            <a:pPr marL="243204" indent="-230504" rtl="0">
              <a:buClr>
                <a:srgbClr val="000000"/>
              </a:buClr>
              <a:buFont typeface="Arial MT"/>
              <a:buChar char="•"/>
              <a:tabLst>
                <a:tab pos="242570" algn="l"/>
                <a:tab pos="243204" algn="l"/>
                <a:tab pos="3034665" algn="l"/>
              </a:tabLst>
            </a:pPr>
            <a:r>
              <a:rPr sz="2200" b="1" kern="1200" dirty="0">
                <a:solidFill>
                  <a:srgbClr val="0432FF"/>
                </a:solidFill>
                <a:latin typeface="Palatino Linotype"/>
                <a:cs typeface="Palatino Linotype"/>
              </a:rPr>
              <a:t>Input: </a:t>
            </a:r>
            <a:r>
              <a:rPr sz="2200" kern="1200" spc="-5" dirty="0">
                <a:solidFill>
                  <a:prstClr val="black"/>
                </a:solidFill>
                <a:latin typeface="Palatino Linotype"/>
                <a:cs typeface="Palatino Linotype"/>
              </a:rPr>
              <a:t>Grammar</a:t>
            </a:r>
            <a:r>
              <a:rPr sz="2200" kern="1200" spc="10" dirty="0">
                <a:solidFill>
                  <a:prstClr val="black"/>
                </a:solidFill>
                <a:latin typeface="Palatino Linotype"/>
                <a:cs typeface="Palatino Linotype"/>
              </a:rPr>
              <a:t> </a:t>
            </a:r>
            <a:r>
              <a:rPr sz="2200" kern="1200" dirty="0">
                <a:solidFill>
                  <a:prstClr val="black"/>
                </a:solidFill>
                <a:latin typeface="Cambria Math"/>
                <a:cs typeface="Cambria Math"/>
              </a:rPr>
              <a:t>𝐺	</a:t>
            </a:r>
            <a:r>
              <a:rPr sz="2200" b="1" kern="1200" dirty="0">
                <a:solidFill>
                  <a:srgbClr val="0432FF"/>
                </a:solidFill>
                <a:latin typeface="Palatino Linotype"/>
                <a:cs typeface="Palatino Linotype"/>
              </a:rPr>
              <a:t>Output:</a:t>
            </a:r>
            <a:r>
              <a:rPr sz="2200" b="1" kern="1200" spc="-10" dirty="0">
                <a:solidFill>
                  <a:srgbClr val="0432FF"/>
                </a:solidFill>
                <a:latin typeface="Palatino Linotype"/>
                <a:cs typeface="Palatino Linotype"/>
              </a:rPr>
              <a:t> </a:t>
            </a:r>
            <a:r>
              <a:rPr sz="2200" kern="1200" spc="-15" dirty="0">
                <a:solidFill>
                  <a:prstClr val="black"/>
                </a:solidFill>
                <a:latin typeface="Palatino Linotype"/>
                <a:cs typeface="Palatino Linotype"/>
              </a:rPr>
              <a:t>Parsing</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table</a:t>
            </a:r>
            <a:r>
              <a:rPr sz="2200" kern="1200" spc="-15" dirty="0">
                <a:solidFill>
                  <a:prstClr val="black"/>
                </a:solidFill>
                <a:latin typeface="Palatino Linotype"/>
                <a:cs typeface="Palatino Linotype"/>
              </a:rPr>
              <a:t> </a:t>
            </a:r>
            <a:r>
              <a:rPr sz="2200" kern="1200" dirty="0">
                <a:solidFill>
                  <a:prstClr val="black"/>
                </a:solidFill>
                <a:latin typeface="Cambria Math"/>
                <a:cs typeface="Cambria Math"/>
              </a:rPr>
              <a:t>𝑀</a:t>
            </a:r>
          </a:p>
          <a:p>
            <a:pPr marL="243204" indent="-230504" rtl="0">
              <a:spcBef>
                <a:spcPts val="1755"/>
              </a:spcBef>
              <a:buClr>
                <a:srgbClr val="000000"/>
              </a:buClr>
              <a:buFont typeface="Arial MT"/>
              <a:buChar char="•"/>
              <a:tabLst>
                <a:tab pos="242570" algn="l"/>
                <a:tab pos="243204" algn="l"/>
              </a:tabLst>
            </a:pPr>
            <a:r>
              <a:rPr sz="2200" b="1" kern="1200" dirty="0">
                <a:solidFill>
                  <a:srgbClr val="0432FF"/>
                </a:solidFill>
                <a:latin typeface="Palatino Linotype"/>
                <a:cs typeface="Palatino Linotype"/>
              </a:rPr>
              <a:t>Method:</a:t>
            </a:r>
            <a:endParaRPr sz="2200" kern="1200" dirty="0">
              <a:solidFill>
                <a:prstClr val="black"/>
              </a:solidFill>
              <a:latin typeface="Palatino Linotype"/>
              <a:cs typeface="Palatino Linotype"/>
            </a:endParaRPr>
          </a:p>
          <a:p>
            <a:pPr marL="698500" lvl="1" indent="-228600" rtl="0">
              <a:spcBef>
                <a:spcPts val="1160"/>
              </a:spcBef>
              <a:buFont typeface="Wingdings"/>
              <a:buChar char=""/>
              <a:tabLst>
                <a:tab pos="698500" algn="l"/>
              </a:tabLst>
            </a:pPr>
            <a:r>
              <a:rPr sz="2000" kern="1200" spc="-5" dirty="0">
                <a:solidFill>
                  <a:prstClr val="black"/>
                </a:solidFill>
                <a:latin typeface="Palatino Linotype"/>
                <a:cs typeface="Palatino Linotype"/>
              </a:rPr>
              <a:t>For</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each production </a:t>
            </a:r>
            <a:r>
              <a:rPr sz="2000" kern="1200" dirty="0">
                <a:solidFill>
                  <a:prstClr val="black"/>
                </a:solidFill>
                <a:latin typeface="Cambria Math"/>
                <a:cs typeface="Cambria Math"/>
              </a:rPr>
              <a:t>𝐴</a:t>
            </a:r>
            <a:r>
              <a:rPr sz="2000" kern="1200" spc="1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𝛼</a:t>
            </a:r>
            <a:r>
              <a:rPr sz="2000" kern="1200" spc="120" dirty="0">
                <a:solidFill>
                  <a:prstClr val="black"/>
                </a:solidFill>
                <a:latin typeface="Cambria Math"/>
                <a:cs typeface="Cambria Math"/>
              </a:rPr>
              <a:t> </a:t>
            </a:r>
            <a:r>
              <a:rPr sz="2000" kern="1200" spc="-5" dirty="0">
                <a:solidFill>
                  <a:prstClr val="black"/>
                </a:solidFill>
                <a:latin typeface="Palatino Linotype"/>
                <a:cs typeface="Palatino Linotype"/>
              </a:rPr>
              <a:t>of </a:t>
            </a:r>
            <a:r>
              <a:rPr sz="2000" kern="1200" spc="45" dirty="0">
                <a:solidFill>
                  <a:prstClr val="black"/>
                </a:solidFill>
                <a:latin typeface="Cambria Math"/>
                <a:cs typeface="Cambria Math"/>
              </a:rPr>
              <a:t>𝐺</a:t>
            </a:r>
            <a:r>
              <a:rPr sz="2000" kern="1200" spc="45" dirty="0">
                <a:solidFill>
                  <a:prstClr val="black"/>
                </a:solidFill>
                <a:latin typeface="Palatino Linotype"/>
                <a:cs typeface="Palatino Linotype"/>
              </a:rPr>
              <a:t>,</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do</a:t>
            </a:r>
            <a:r>
              <a:rPr sz="2000" kern="1200" spc="-5" dirty="0">
                <a:solidFill>
                  <a:prstClr val="black"/>
                </a:solidFill>
                <a:latin typeface="Palatino Linotype"/>
                <a:cs typeface="Palatino Linotype"/>
              </a:rPr>
              <a:t>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following:</a:t>
            </a:r>
            <a:endParaRPr sz="2000" kern="1200" dirty="0">
              <a:solidFill>
                <a:prstClr val="black"/>
              </a:solidFill>
              <a:latin typeface="Palatino Linotype"/>
              <a:cs typeface="Palatino Linotype"/>
            </a:endParaRPr>
          </a:p>
          <a:p>
            <a:pPr marL="1155700" lvl="2" indent="-229235" rtl="0">
              <a:spcBef>
                <a:spcPts val="1614"/>
              </a:spcBef>
              <a:buFont typeface="Courier New"/>
              <a:buChar char="o"/>
              <a:tabLst>
                <a:tab pos="1155700" algn="l"/>
              </a:tabLst>
            </a:pPr>
            <a:r>
              <a:rPr kern="1200" spc="-5" dirty="0">
                <a:solidFill>
                  <a:prstClr val="black"/>
                </a:solidFill>
                <a:latin typeface="Palatino Linotype"/>
                <a:cs typeface="Palatino Linotype"/>
              </a:rPr>
              <a:t>For </a:t>
            </a:r>
            <a:r>
              <a:rPr kern="1200" dirty="0">
                <a:solidFill>
                  <a:prstClr val="black"/>
                </a:solidFill>
                <a:latin typeface="Palatino Linotype"/>
                <a:cs typeface="Palatino Linotype"/>
              </a:rPr>
              <a:t>each </a:t>
            </a:r>
            <a:r>
              <a:rPr kern="1200" spc="-5" dirty="0">
                <a:solidFill>
                  <a:prstClr val="black"/>
                </a:solidFill>
                <a:latin typeface="Palatino Linotype"/>
                <a:cs typeface="Palatino Linotype"/>
              </a:rPr>
              <a:t>terminal</a:t>
            </a:r>
            <a:r>
              <a:rPr kern="1200" dirty="0">
                <a:solidFill>
                  <a:prstClr val="black"/>
                </a:solidFill>
                <a:latin typeface="Palatino Linotype"/>
                <a:cs typeface="Palatino Linotype"/>
              </a:rPr>
              <a:t> </a:t>
            </a:r>
            <a:r>
              <a:rPr kern="1200" dirty="0">
                <a:solidFill>
                  <a:prstClr val="black"/>
                </a:solidFill>
                <a:latin typeface="Cambria Math"/>
                <a:cs typeface="Cambria Math"/>
              </a:rPr>
              <a:t>𝑎</a:t>
            </a:r>
            <a:r>
              <a:rPr kern="1200" spc="90" dirty="0">
                <a:solidFill>
                  <a:prstClr val="black"/>
                </a:solidFill>
                <a:latin typeface="Cambria Math"/>
                <a:cs typeface="Cambria Math"/>
              </a:rPr>
              <a:t> </a:t>
            </a:r>
            <a:r>
              <a:rPr kern="1200" dirty="0">
                <a:solidFill>
                  <a:prstClr val="black"/>
                </a:solidFill>
                <a:latin typeface="Palatino Linotype"/>
                <a:cs typeface="Palatino Linotype"/>
              </a:rPr>
              <a:t>in </a:t>
            </a:r>
            <a:r>
              <a:rPr kern="1200" spc="-5" dirty="0">
                <a:solidFill>
                  <a:prstClr val="black"/>
                </a:solidFill>
                <a:latin typeface="Cambria Math"/>
                <a:cs typeface="Cambria Math"/>
              </a:rPr>
              <a:t>FIRST(𝛼)</a:t>
            </a:r>
            <a:r>
              <a:rPr kern="1200" spc="-5" dirty="0">
                <a:solidFill>
                  <a:prstClr val="black"/>
                </a:solidFill>
                <a:latin typeface="Palatino Linotype"/>
                <a:cs typeface="Palatino Linotype"/>
              </a:rPr>
              <a:t>,</a:t>
            </a:r>
            <a:r>
              <a:rPr kern="1200" dirty="0">
                <a:solidFill>
                  <a:prstClr val="black"/>
                </a:solidFill>
                <a:latin typeface="Palatino Linotype"/>
                <a:cs typeface="Palatino Linotype"/>
              </a:rPr>
              <a:t> add</a:t>
            </a:r>
            <a:r>
              <a:rPr kern="1200" spc="-5" dirty="0">
                <a:solidFill>
                  <a:prstClr val="black"/>
                </a:solidFill>
                <a:latin typeface="Palatino Linotype"/>
                <a:cs typeface="Palatino Linotype"/>
              </a:rPr>
              <a:t> </a:t>
            </a:r>
            <a:r>
              <a:rPr kern="1200" dirty="0">
                <a:solidFill>
                  <a:prstClr val="black"/>
                </a:solidFill>
                <a:latin typeface="Cambria Math"/>
                <a:cs typeface="Cambria Math"/>
              </a:rPr>
              <a:t>𝐴</a:t>
            </a:r>
            <a:r>
              <a:rPr kern="1200" spc="114" dirty="0">
                <a:solidFill>
                  <a:prstClr val="black"/>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prstClr val="black"/>
                </a:solidFill>
                <a:latin typeface="Cambria Math"/>
                <a:cs typeface="Cambria Math"/>
              </a:rPr>
              <a:t>𝛼</a:t>
            </a:r>
            <a:r>
              <a:rPr kern="1200" spc="100" dirty="0">
                <a:solidFill>
                  <a:prstClr val="black"/>
                </a:solidFill>
                <a:latin typeface="Cambria Math"/>
                <a:cs typeface="Cambria Math"/>
              </a:rPr>
              <a:t> </a:t>
            </a:r>
            <a:r>
              <a:rPr kern="1200" dirty="0">
                <a:solidFill>
                  <a:prstClr val="black"/>
                </a:solidFill>
                <a:latin typeface="Palatino Linotype"/>
                <a:cs typeface="Palatino Linotype"/>
              </a:rPr>
              <a:t>to </a:t>
            </a:r>
            <a:r>
              <a:rPr kern="1200" spc="10" dirty="0">
                <a:solidFill>
                  <a:prstClr val="black"/>
                </a:solidFill>
                <a:latin typeface="Cambria Math"/>
                <a:cs typeface="Cambria Math"/>
              </a:rPr>
              <a:t>𝑀[𝐴,</a:t>
            </a:r>
            <a:r>
              <a:rPr kern="1200" spc="-95" dirty="0">
                <a:solidFill>
                  <a:prstClr val="black"/>
                </a:solidFill>
                <a:latin typeface="Cambria Math"/>
                <a:cs typeface="Cambria Math"/>
              </a:rPr>
              <a:t> </a:t>
            </a:r>
            <a:r>
              <a:rPr kern="1200" spc="20" dirty="0">
                <a:solidFill>
                  <a:prstClr val="black"/>
                </a:solidFill>
                <a:latin typeface="Cambria Math"/>
                <a:cs typeface="Cambria Math"/>
              </a:rPr>
              <a:t>𝑎]</a:t>
            </a:r>
            <a:endParaRPr kern="1200" dirty="0">
              <a:solidFill>
                <a:prstClr val="black"/>
              </a:solidFill>
              <a:latin typeface="Cambria Math"/>
              <a:cs typeface="Cambria Math"/>
            </a:endParaRPr>
          </a:p>
          <a:p>
            <a:pPr marL="1155065" marR="5080" lvl="2" indent="-228600" rtl="0">
              <a:lnSpc>
                <a:spcPct val="120000"/>
              </a:lnSpc>
              <a:spcBef>
                <a:spcPts val="1200"/>
              </a:spcBef>
              <a:buFont typeface="Courier New"/>
              <a:buChar char="o"/>
              <a:tabLst>
                <a:tab pos="1155700" algn="l"/>
              </a:tabLst>
            </a:pPr>
            <a:r>
              <a:rPr kern="1200" dirty="0">
                <a:solidFill>
                  <a:prstClr val="black"/>
                </a:solidFill>
                <a:latin typeface="Palatino Linotype"/>
                <a:cs typeface="Palatino Linotype"/>
              </a:rPr>
              <a:t>If</a:t>
            </a:r>
            <a:r>
              <a:rPr kern="1200" spc="-5" dirty="0">
                <a:solidFill>
                  <a:prstClr val="black"/>
                </a:solidFill>
                <a:latin typeface="Palatino Linotype"/>
                <a:cs typeface="Palatino Linotype"/>
              </a:rPr>
              <a:t> </a:t>
            </a:r>
            <a:r>
              <a:rPr kern="1200" dirty="0">
                <a:solidFill>
                  <a:prstClr val="black"/>
                </a:solidFill>
                <a:latin typeface="Cambria Math"/>
                <a:cs typeface="Cambria Math"/>
              </a:rPr>
              <a:t>𝜖</a:t>
            </a:r>
            <a:r>
              <a:rPr kern="1200" spc="110" dirty="0">
                <a:solidFill>
                  <a:prstClr val="black"/>
                </a:solidFill>
                <a:latin typeface="Cambria Math"/>
                <a:cs typeface="Cambria Math"/>
              </a:rPr>
              <a:t> </a:t>
            </a:r>
            <a:r>
              <a:rPr kern="1200" dirty="0">
                <a:solidFill>
                  <a:prstClr val="black"/>
                </a:solidFill>
                <a:latin typeface="Palatino Linotype"/>
                <a:cs typeface="Palatino Linotype"/>
              </a:rPr>
              <a:t>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 </a:t>
            </a:r>
            <a:r>
              <a:rPr kern="1200" spc="-5" dirty="0">
                <a:solidFill>
                  <a:prstClr val="black"/>
                </a:solidFill>
                <a:latin typeface="Cambria Math"/>
                <a:cs typeface="Cambria Math"/>
              </a:rPr>
              <a:t>FIRST(𝛼)</a:t>
            </a:r>
            <a:r>
              <a:rPr kern="1200" spc="-5" dirty="0">
                <a:solidFill>
                  <a:prstClr val="black"/>
                </a:solidFill>
                <a:latin typeface="Palatino Linotype"/>
                <a:cs typeface="Palatino Linotype"/>
              </a:rPr>
              <a:t>,</a:t>
            </a:r>
            <a:r>
              <a:rPr kern="1200" dirty="0">
                <a:solidFill>
                  <a:prstClr val="black"/>
                </a:solidFill>
                <a:latin typeface="Palatino Linotype"/>
                <a:cs typeface="Palatino Linotype"/>
              </a:rPr>
              <a:t> then for each </a:t>
            </a:r>
            <a:r>
              <a:rPr kern="1200" spc="-5" dirty="0">
                <a:solidFill>
                  <a:prstClr val="black"/>
                </a:solidFill>
                <a:latin typeface="Palatino Linotype"/>
                <a:cs typeface="Palatino Linotype"/>
              </a:rPr>
              <a:t>terminal</a:t>
            </a:r>
            <a:r>
              <a:rPr kern="1200" dirty="0">
                <a:solidFill>
                  <a:prstClr val="black"/>
                </a:solidFill>
                <a:latin typeface="Palatino Linotype"/>
                <a:cs typeface="Palatino Linotype"/>
              </a:rPr>
              <a:t> </a:t>
            </a:r>
            <a:r>
              <a:rPr kern="1200" dirty="0">
                <a:solidFill>
                  <a:prstClr val="black"/>
                </a:solidFill>
                <a:latin typeface="Cambria Math"/>
                <a:cs typeface="Cambria Math"/>
              </a:rPr>
              <a:t>𝑏</a:t>
            </a:r>
            <a:r>
              <a:rPr kern="1200" spc="95" dirty="0">
                <a:solidFill>
                  <a:prstClr val="black"/>
                </a:solidFill>
                <a:latin typeface="Cambria Math"/>
                <a:cs typeface="Cambria Math"/>
              </a:rPr>
              <a:t> </a:t>
            </a:r>
            <a:r>
              <a:rPr kern="1200" dirty="0">
                <a:solidFill>
                  <a:prstClr val="black"/>
                </a:solidFill>
                <a:latin typeface="Palatino Linotype"/>
                <a:cs typeface="Palatino Linotype"/>
              </a:rPr>
              <a:t>(including</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right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endmarker </a:t>
            </a:r>
            <a:r>
              <a:rPr kern="1200" dirty="0">
                <a:solidFill>
                  <a:prstClr val="black"/>
                </a:solidFill>
                <a:latin typeface="Palatino Linotype"/>
                <a:cs typeface="Palatino Linotype"/>
              </a:rPr>
              <a:t>$) in </a:t>
            </a:r>
            <a:r>
              <a:rPr kern="1200" spc="-5" dirty="0">
                <a:solidFill>
                  <a:prstClr val="black"/>
                </a:solidFill>
                <a:latin typeface="Cambria Math"/>
                <a:cs typeface="Cambria Math"/>
              </a:rPr>
              <a:t>FOLLOW(𝐴)</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add </a:t>
            </a:r>
            <a:r>
              <a:rPr kern="1200" dirty="0">
                <a:solidFill>
                  <a:prstClr val="black"/>
                </a:solidFill>
                <a:latin typeface="Cambria Math"/>
                <a:cs typeface="Cambria Math"/>
              </a:rPr>
              <a:t>𝐴</a:t>
            </a:r>
            <a:r>
              <a:rPr kern="1200" spc="114" dirty="0">
                <a:solidFill>
                  <a:prstClr val="black"/>
                </a:solidFill>
                <a:latin typeface="Cambria Math"/>
                <a:cs typeface="Cambria Math"/>
              </a:rPr>
              <a:t> </a:t>
            </a:r>
            <a:r>
              <a:rPr kern="1200" dirty="0">
                <a:solidFill>
                  <a:prstClr val="black"/>
                </a:solidFill>
                <a:latin typeface="Cambria Math"/>
                <a:cs typeface="Cambria Math"/>
              </a:rPr>
              <a:t>→</a:t>
            </a:r>
            <a:r>
              <a:rPr kern="1200" spc="100" dirty="0">
                <a:solidFill>
                  <a:prstClr val="black"/>
                </a:solidFill>
                <a:latin typeface="Cambria Math"/>
                <a:cs typeface="Cambria Math"/>
              </a:rPr>
              <a:t> </a:t>
            </a:r>
            <a:r>
              <a:rPr kern="1200" dirty="0">
                <a:solidFill>
                  <a:prstClr val="black"/>
                </a:solidFill>
                <a:latin typeface="Cambria Math"/>
                <a:cs typeface="Cambria Math"/>
              </a:rPr>
              <a:t>𝛼</a:t>
            </a:r>
            <a:r>
              <a:rPr kern="1200" spc="100" dirty="0">
                <a:solidFill>
                  <a:prstClr val="black"/>
                </a:solidFill>
                <a:latin typeface="Cambria Math"/>
                <a:cs typeface="Cambria Math"/>
              </a:rPr>
              <a:t> </a:t>
            </a:r>
            <a:r>
              <a:rPr kern="1200" dirty="0">
                <a:solidFill>
                  <a:prstClr val="black"/>
                </a:solidFill>
                <a:latin typeface="Palatino Linotype"/>
                <a:cs typeface="Palatino Linotype"/>
              </a:rPr>
              <a:t>to </a:t>
            </a:r>
            <a:r>
              <a:rPr kern="1200" spc="10" dirty="0">
                <a:solidFill>
                  <a:prstClr val="black"/>
                </a:solidFill>
                <a:latin typeface="Cambria Math"/>
                <a:cs typeface="Cambria Math"/>
              </a:rPr>
              <a:t>𝑀[𝐴,</a:t>
            </a:r>
            <a:r>
              <a:rPr kern="1200" spc="-100" dirty="0">
                <a:solidFill>
                  <a:prstClr val="black"/>
                </a:solidFill>
                <a:latin typeface="Cambria Math"/>
                <a:cs typeface="Cambria Math"/>
              </a:rPr>
              <a:t> </a:t>
            </a:r>
            <a:r>
              <a:rPr kern="1200" spc="20" dirty="0">
                <a:solidFill>
                  <a:prstClr val="black"/>
                </a:solidFill>
                <a:latin typeface="Cambria Math"/>
                <a:cs typeface="Cambria Math"/>
              </a:rPr>
              <a:t>𝑏]</a:t>
            </a:r>
            <a:endParaRPr kern="1200" dirty="0">
              <a:solidFill>
                <a:prstClr val="black"/>
              </a:solidFill>
              <a:latin typeface="Cambria Math"/>
              <a:cs typeface="Cambria Math"/>
            </a:endParaRPr>
          </a:p>
          <a:p>
            <a:pPr lvl="2" rtl="0">
              <a:spcBef>
                <a:spcPts val="20"/>
              </a:spcBef>
              <a:buFont typeface="Courier New"/>
              <a:buChar char="o"/>
            </a:pPr>
            <a:endParaRPr sz="1900" kern="1200" dirty="0">
              <a:solidFill>
                <a:prstClr val="black"/>
              </a:solidFill>
              <a:latin typeface="Cambria Math"/>
              <a:cs typeface="Cambria Math"/>
            </a:endParaRPr>
          </a:p>
          <a:p>
            <a:pPr marL="698500" lvl="1" indent="-228600" rtl="0">
              <a:buFont typeface="Wingdings"/>
              <a:buChar char=""/>
              <a:tabLst>
                <a:tab pos="698500" algn="l"/>
              </a:tabLst>
            </a:pPr>
            <a:r>
              <a:rPr sz="2000" kern="1200" dirty="0">
                <a:solidFill>
                  <a:prstClr val="black"/>
                </a:solidFill>
                <a:latin typeface="Palatino Linotype"/>
                <a:cs typeface="Palatino Linotype"/>
              </a:rPr>
              <a:t>Set</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all </a:t>
            </a:r>
            <a:r>
              <a:rPr sz="2000" kern="1200" spc="-5" dirty="0">
                <a:solidFill>
                  <a:prstClr val="black"/>
                </a:solidFill>
                <a:latin typeface="Palatino Linotype"/>
                <a:cs typeface="Palatino Linotype"/>
              </a:rPr>
              <a:t>empty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entries </a:t>
            </a:r>
            <a:r>
              <a:rPr sz="2000" kern="1200" dirty="0">
                <a:solidFill>
                  <a:prstClr val="black"/>
                </a:solidFill>
                <a:latin typeface="Palatino Linotype"/>
                <a:cs typeface="Palatino Linotype"/>
              </a:rPr>
              <a:t>in</a:t>
            </a:r>
            <a:r>
              <a:rPr sz="2000" kern="1200" spc="-5" dirty="0">
                <a:solidFill>
                  <a:prstClr val="black"/>
                </a:solidFill>
                <a:latin typeface="Palatino Linotype"/>
                <a:cs typeface="Palatino Linotype"/>
              </a:rPr>
              <a:t> the </a:t>
            </a:r>
            <a:r>
              <a:rPr sz="2000" kern="1200" dirty="0">
                <a:solidFill>
                  <a:prstClr val="black"/>
                </a:solidFill>
                <a:latin typeface="Palatino Linotype"/>
                <a:cs typeface="Palatino Linotype"/>
              </a:rPr>
              <a:t>table </a:t>
            </a:r>
            <a:r>
              <a:rPr sz="2000" kern="1200" spc="-5" dirty="0">
                <a:solidFill>
                  <a:prstClr val="black"/>
                </a:solidFill>
                <a:latin typeface="Palatino Linotype"/>
                <a:cs typeface="Palatino Linotype"/>
              </a:rPr>
              <a:t>to</a:t>
            </a:r>
            <a:r>
              <a:rPr sz="2000" kern="1200" spc="-15" dirty="0">
                <a:solidFill>
                  <a:prstClr val="black"/>
                </a:solidFill>
                <a:latin typeface="Palatino Linotype"/>
                <a:cs typeface="Palatino Linotype"/>
              </a:rPr>
              <a:t> </a:t>
            </a:r>
            <a:r>
              <a:rPr sz="2000" b="1" kern="1200" spc="-5" dirty="0">
                <a:solidFill>
                  <a:prstClr val="black"/>
                </a:solidFill>
                <a:latin typeface="Palatino Linotype"/>
                <a:cs typeface="Palatino Linotype"/>
              </a:rPr>
              <a:t>error</a:t>
            </a:r>
            <a:endParaRPr sz="20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1596427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76</a:t>
            </a:fld>
            <a:endParaRPr lang="en-US"/>
          </a:p>
        </p:txBody>
      </p:sp>
      <p:grpSp>
        <p:nvGrpSpPr>
          <p:cNvPr id="19" name="object 2">
            <a:extLst>
              <a:ext uri="{FF2B5EF4-FFF2-40B4-BE49-F238E27FC236}">
                <a16:creationId xmlns:a16="http://schemas.microsoft.com/office/drawing/2014/main" id="{061910ED-F171-D087-3E4A-FF731FEF354C}"/>
              </a:ext>
            </a:extLst>
          </p:cNvPr>
          <p:cNvGrpSpPr/>
          <p:nvPr/>
        </p:nvGrpSpPr>
        <p:grpSpPr>
          <a:xfrm>
            <a:off x="766879" y="4165206"/>
            <a:ext cx="5932170" cy="1932939"/>
            <a:chOff x="766879" y="4165206"/>
            <a:chExt cx="5932170" cy="1932939"/>
          </a:xfrm>
        </p:grpSpPr>
        <p:pic>
          <p:nvPicPr>
            <p:cNvPr id="20" name="object 3">
              <a:extLst>
                <a:ext uri="{FF2B5EF4-FFF2-40B4-BE49-F238E27FC236}">
                  <a16:creationId xmlns:a16="http://schemas.microsoft.com/office/drawing/2014/main" id="{CD4F9478-FB6C-8C11-F8E3-A8073ABA1643}"/>
                </a:ext>
              </a:extLst>
            </p:cNvPr>
            <p:cNvPicPr/>
            <p:nvPr/>
          </p:nvPicPr>
          <p:blipFill>
            <a:blip r:embed="rId3" cstate="print"/>
            <a:stretch>
              <a:fillRect/>
            </a:stretch>
          </p:blipFill>
          <p:spPr>
            <a:xfrm>
              <a:off x="766879" y="4165206"/>
              <a:ext cx="5932070" cy="1932706"/>
            </a:xfrm>
            <a:prstGeom prst="rect">
              <a:avLst/>
            </a:prstGeom>
          </p:spPr>
        </p:pic>
        <p:sp>
          <p:nvSpPr>
            <p:cNvPr id="21" name="object 4">
              <a:extLst>
                <a:ext uri="{FF2B5EF4-FFF2-40B4-BE49-F238E27FC236}">
                  <a16:creationId xmlns:a16="http://schemas.microsoft.com/office/drawing/2014/main" id="{B9450FEF-5F04-18D4-2262-BF4B2F06BFCC}"/>
                </a:ext>
              </a:extLst>
            </p:cNvPr>
            <p:cNvSpPr/>
            <p:nvPr/>
          </p:nvSpPr>
          <p:spPr>
            <a:xfrm>
              <a:off x="1911175" y="4753230"/>
              <a:ext cx="799465" cy="214629"/>
            </a:xfrm>
            <a:custGeom>
              <a:avLst/>
              <a:gdLst/>
              <a:ahLst/>
              <a:cxnLst/>
              <a:rect l="l" t="t" r="r" b="b"/>
              <a:pathLst>
                <a:path w="799464" h="214629">
                  <a:moveTo>
                    <a:pt x="0" y="0"/>
                  </a:moveTo>
                  <a:lnTo>
                    <a:pt x="799070" y="0"/>
                  </a:lnTo>
                  <a:lnTo>
                    <a:pt x="799070" y="214184"/>
                  </a:lnTo>
                  <a:lnTo>
                    <a:pt x="0" y="214184"/>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5">
              <a:extLst>
                <a:ext uri="{FF2B5EF4-FFF2-40B4-BE49-F238E27FC236}">
                  <a16:creationId xmlns:a16="http://schemas.microsoft.com/office/drawing/2014/main" id="{0C5C5A9F-9C6F-1ADC-2811-671FB3037853}"/>
                </a:ext>
              </a:extLst>
            </p:cNvPr>
            <p:cNvSpPr/>
            <p:nvPr/>
          </p:nvSpPr>
          <p:spPr>
            <a:xfrm>
              <a:off x="4633782" y="4753230"/>
              <a:ext cx="799465" cy="214629"/>
            </a:xfrm>
            <a:custGeom>
              <a:avLst/>
              <a:gdLst/>
              <a:ahLst/>
              <a:cxnLst/>
              <a:rect l="l" t="t" r="r" b="b"/>
              <a:pathLst>
                <a:path w="799464" h="214629">
                  <a:moveTo>
                    <a:pt x="0" y="0"/>
                  </a:moveTo>
                  <a:lnTo>
                    <a:pt x="799070" y="0"/>
                  </a:lnTo>
                  <a:lnTo>
                    <a:pt x="799070" y="214184"/>
                  </a:lnTo>
                  <a:lnTo>
                    <a:pt x="0" y="214184"/>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3" name="object 6">
            <a:extLst>
              <a:ext uri="{FF2B5EF4-FFF2-40B4-BE49-F238E27FC236}">
                <a16:creationId xmlns:a16="http://schemas.microsoft.com/office/drawing/2014/main" id="{661A1120-0C5F-1706-0CFD-8AD06A98B58B}"/>
              </a:ext>
            </a:extLst>
          </p:cNvPr>
          <p:cNvSpPr txBox="1">
            <a:spLocks/>
          </p:cNvSpPr>
          <p:nvPr/>
        </p:nvSpPr>
        <p:spPr>
          <a:xfrm>
            <a:off x="707390" y="554227"/>
            <a:ext cx="7614920" cy="57404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3600" b="1" i="0" u="none" strike="noStrike" kern="0" cap="none" spc="-10" normalizeH="0" baseline="0" noProof="0">
                <a:ln>
                  <a:noFill/>
                </a:ln>
                <a:solidFill>
                  <a:sysClr val="windowText" lastClr="000000"/>
                </a:solidFill>
                <a:effectLst/>
                <a:uLnTx/>
                <a:uFillTx/>
                <a:latin typeface="Palatino Linotype"/>
                <a:ea typeface="+mj-ea"/>
              </a:rPr>
              <a:t> </a:t>
            </a:r>
            <a:r>
              <a:rPr kumimoji="0" lang="en-US" sz="3600" b="1" i="0" u="none" strike="noStrike" kern="0" cap="none" spc="-70" normalizeH="0" baseline="0" noProof="0">
                <a:ln>
                  <a:noFill/>
                </a:ln>
                <a:solidFill>
                  <a:sysClr val="windowText" lastClr="000000"/>
                </a:solidFill>
                <a:effectLst/>
                <a:uLnTx/>
                <a:uFillTx/>
                <a:latin typeface="Palatino Linotype"/>
                <a:ea typeface="+mj-ea"/>
              </a:rPr>
              <a:t>Table</a:t>
            </a:r>
            <a:r>
              <a:rPr kumimoji="0" lang="en-US" sz="3600" b="1" i="0" u="none" strike="noStrike" kern="0" cap="none" spc="-5" normalizeH="0" baseline="0" noProof="0">
                <a:ln>
                  <a:noFill/>
                </a:ln>
                <a:solidFill>
                  <a:sysClr val="windowText" lastClr="000000"/>
                </a:solidFill>
                <a:effectLst/>
                <a:uLnTx/>
                <a:uFillTx/>
                <a:latin typeface="Palatino Linotype"/>
                <a:ea typeface="+mj-ea"/>
              </a:rPr>
              <a:t> Construction</a:t>
            </a:r>
            <a:r>
              <a:rPr kumimoji="0" lang="en-US" sz="3600" b="1" i="0" u="none" strike="noStrike" kern="0" cap="none" spc="0" normalizeH="0" baseline="0" noProof="0">
                <a:ln>
                  <a:noFill/>
                </a:ln>
                <a:solidFill>
                  <a:sysClr val="windowText" lastClr="000000"/>
                </a:solidFill>
                <a:effectLst/>
                <a:uLnTx/>
                <a:uFillTx/>
                <a:latin typeface="Palatino Linotype"/>
                <a:ea typeface="+mj-ea"/>
              </a:rPr>
              <a:t> Example</a:t>
            </a:r>
          </a:p>
        </p:txBody>
      </p:sp>
      <p:sp>
        <p:nvSpPr>
          <p:cNvPr id="24" name="object 7">
            <a:extLst>
              <a:ext uri="{FF2B5EF4-FFF2-40B4-BE49-F238E27FC236}">
                <a16:creationId xmlns:a16="http://schemas.microsoft.com/office/drawing/2014/main" id="{1E18D8B9-B14B-E646-959C-F0CABBA94A0C}"/>
              </a:ext>
            </a:extLst>
          </p:cNvPr>
          <p:cNvSpPr txBox="1"/>
          <p:nvPr/>
        </p:nvSpPr>
        <p:spPr>
          <a:xfrm>
            <a:off x="707390" y="1498091"/>
            <a:ext cx="1369695" cy="330200"/>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2570" algn="l"/>
                <a:tab pos="243204" algn="l"/>
              </a:tabLst>
            </a:pPr>
            <a:r>
              <a:rPr sz="2000" b="1" kern="1200" spc="-5" dirty="0">
                <a:solidFill>
                  <a:srgbClr val="0432FF"/>
                </a:solidFill>
                <a:latin typeface="Palatino Linotype"/>
                <a:cs typeface="Palatino Linotype"/>
              </a:rPr>
              <a:t>Gr</a:t>
            </a:r>
            <a:r>
              <a:rPr sz="2000" b="1" kern="1200" dirty="0">
                <a:solidFill>
                  <a:srgbClr val="0432FF"/>
                </a:solidFill>
                <a:latin typeface="Palatino Linotype"/>
                <a:cs typeface="Palatino Linotype"/>
              </a:rPr>
              <a:t>a</a:t>
            </a:r>
            <a:r>
              <a:rPr sz="2000" b="1" kern="1200" spc="-5" dirty="0">
                <a:solidFill>
                  <a:srgbClr val="0432FF"/>
                </a:solidFill>
                <a:latin typeface="Palatino Linotype"/>
                <a:cs typeface="Palatino Linotype"/>
              </a:rPr>
              <a:t>mm</a:t>
            </a:r>
            <a:r>
              <a:rPr sz="2000" b="1" kern="1200" dirty="0">
                <a:solidFill>
                  <a:srgbClr val="0432FF"/>
                </a:solidFill>
                <a:latin typeface="Palatino Linotype"/>
                <a:cs typeface="Palatino Linotype"/>
              </a:rPr>
              <a:t>ar</a:t>
            </a:r>
            <a:endParaRPr sz="2000" kern="1200">
              <a:solidFill>
                <a:prstClr val="black"/>
              </a:solidFill>
              <a:latin typeface="Palatino Linotype"/>
              <a:cs typeface="Palatino Linotype"/>
            </a:endParaRPr>
          </a:p>
        </p:txBody>
      </p:sp>
      <p:sp>
        <p:nvSpPr>
          <p:cNvPr id="25" name="object 8">
            <a:extLst>
              <a:ext uri="{FF2B5EF4-FFF2-40B4-BE49-F238E27FC236}">
                <a16:creationId xmlns:a16="http://schemas.microsoft.com/office/drawing/2014/main" id="{8A0F8237-6A4F-E308-21AD-FD18732F6B1F}"/>
              </a:ext>
            </a:extLst>
          </p:cNvPr>
          <p:cNvSpPr txBox="1"/>
          <p:nvPr/>
        </p:nvSpPr>
        <p:spPr>
          <a:xfrm>
            <a:off x="1164589" y="1797812"/>
            <a:ext cx="1063625" cy="836294"/>
          </a:xfrm>
          <a:prstGeom prst="rect">
            <a:avLst/>
          </a:prstGeom>
        </p:spPr>
        <p:txBody>
          <a:bodyPr vert="horz" wrap="square" lIns="0" tIns="143510" rIns="0" bIns="0" rtlCol="0">
            <a:spAutoFit/>
          </a:bodyPr>
          <a:lstStyle/>
          <a:p>
            <a:pPr marL="241300" indent="-228600" rtl="0">
              <a:spcBef>
                <a:spcPts val="1130"/>
              </a:spcBef>
              <a:buFont typeface="Wingdings"/>
              <a:buChar char=""/>
              <a:tabLst>
                <a:tab pos="241300" algn="l"/>
              </a:tabLst>
            </a:pPr>
            <a:r>
              <a:rPr kern="1200" dirty="0">
                <a:solidFill>
                  <a:prstClr val="black"/>
                </a:solidFill>
                <a:latin typeface="Cambria Math"/>
                <a:cs typeface="Cambria Math"/>
              </a:rPr>
              <a:t>𝐸</a:t>
            </a:r>
            <a:r>
              <a:rPr kern="1200" spc="120" dirty="0">
                <a:solidFill>
                  <a:prstClr val="black"/>
                </a:solidFill>
                <a:latin typeface="Cambria Math"/>
                <a:cs typeface="Cambria Math"/>
              </a:rPr>
              <a:t> </a:t>
            </a:r>
            <a:r>
              <a:rPr kern="1200" dirty="0">
                <a:solidFill>
                  <a:prstClr val="black"/>
                </a:solidFill>
                <a:latin typeface="Cambria Math"/>
                <a:cs typeface="Cambria Math"/>
              </a:rPr>
              <a:t>→</a:t>
            </a:r>
            <a:r>
              <a:rPr kern="1200" spc="60" dirty="0">
                <a:solidFill>
                  <a:prstClr val="black"/>
                </a:solidFill>
                <a:latin typeface="Cambria Math"/>
                <a:cs typeface="Cambria Math"/>
              </a:rPr>
              <a:t> </a:t>
            </a:r>
            <a:r>
              <a:rPr kern="1200" dirty="0">
                <a:solidFill>
                  <a:prstClr val="black"/>
                </a:solidFill>
                <a:latin typeface="Cambria Math"/>
                <a:cs typeface="Cambria Math"/>
              </a:rPr>
              <a:t>𝑇𝐸′</a:t>
            </a:r>
          </a:p>
          <a:p>
            <a:pPr marL="241300" indent="-228600" rtl="0">
              <a:spcBef>
                <a:spcPts val="1030"/>
              </a:spcBef>
              <a:buFont typeface="Wingdings"/>
              <a:buChar char=""/>
              <a:tabLst>
                <a:tab pos="241300" algn="l"/>
              </a:tabLst>
            </a:pPr>
            <a:r>
              <a:rPr kern="1200" dirty="0">
                <a:solidFill>
                  <a:prstClr val="black"/>
                </a:solidFill>
                <a:latin typeface="Cambria Math"/>
                <a:cs typeface="Cambria Math"/>
              </a:rPr>
              <a:t>𝑇</a:t>
            </a:r>
            <a:r>
              <a:rPr kern="1200" spc="90" dirty="0">
                <a:solidFill>
                  <a:prstClr val="black"/>
                </a:solidFill>
                <a:latin typeface="Cambria Math"/>
                <a:cs typeface="Cambria Math"/>
              </a:rPr>
              <a:t> </a:t>
            </a:r>
            <a:r>
              <a:rPr kern="1200" dirty="0">
                <a:solidFill>
                  <a:prstClr val="black"/>
                </a:solidFill>
                <a:latin typeface="Cambria Math"/>
                <a:cs typeface="Cambria Math"/>
              </a:rPr>
              <a:t>→</a:t>
            </a:r>
            <a:r>
              <a:rPr kern="1200" spc="60" dirty="0">
                <a:solidFill>
                  <a:prstClr val="black"/>
                </a:solidFill>
                <a:latin typeface="Cambria Math"/>
                <a:cs typeface="Cambria Math"/>
              </a:rPr>
              <a:t> </a:t>
            </a:r>
            <a:r>
              <a:rPr kern="1200" dirty="0">
                <a:solidFill>
                  <a:prstClr val="black"/>
                </a:solidFill>
                <a:latin typeface="Cambria Math"/>
                <a:cs typeface="Cambria Math"/>
              </a:rPr>
              <a:t>𝐹𝑇′</a:t>
            </a:r>
          </a:p>
        </p:txBody>
      </p:sp>
      <p:sp>
        <p:nvSpPr>
          <p:cNvPr id="26" name="object 9">
            <a:extLst>
              <a:ext uri="{FF2B5EF4-FFF2-40B4-BE49-F238E27FC236}">
                <a16:creationId xmlns:a16="http://schemas.microsoft.com/office/drawing/2014/main" id="{B221535F-996B-7D39-72DA-600CAB095EFF}"/>
              </a:ext>
            </a:extLst>
          </p:cNvPr>
          <p:cNvSpPr txBox="1"/>
          <p:nvPr/>
        </p:nvSpPr>
        <p:spPr>
          <a:xfrm>
            <a:off x="2510789" y="1797812"/>
            <a:ext cx="1429385" cy="888705"/>
          </a:xfrm>
          <a:prstGeom prst="rect">
            <a:avLst/>
          </a:prstGeom>
        </p:spPr>
        <p:txBody>
          <a:bodyPr vert="horz" wrap="square" lIns="0" tIns="143510" rIns="0" bIns="0" rtlCol="0">
            <a:spAutoFit/>
          </a:bodyPr>
          <a:lstStyle/>
          <a:p>
            <a:pPr marL="38100" rtl="0">
              <a:spcBef>
                <a:spcPts val="1130"/>
              </a:spcBef>
            </a:pPr>
            <a:r>
              <a:rPr kern="1200" spc="-140" dirty="0">
                <a:solidFill>
                  <a:prstClr val="black"/>
                </a:solidFill>
                <a:latin typeface="Cambria Math"/>
                <a:cs typeface="Cambria Math"/>
              </a:rPr>
              <a:t>𝐸</a:t>
            </a:r>
            <a:r>
              <a:rPr lang="en-US" altLang="zh-CN" sz="2000" kern="1200" dirty="0">
                <a:solidFill>
                  <a:prstClr val="black"/>
                </a:solidFill>
                <a:latin typeface="Cambria Math"/>
                <a:cs typeface="Cambria Math"/>
              </a:rPr>
              <a:t>′</a:t>
            </a:r>
            <a:r>
              <a:rPr kern="1200" dirty="0">
                <a:solidFill>
                  <a:prstClr val="black"/>
                </a:solidFill>
                <a:latin typeface="Cambria Math"/>
                <a:cs typeface="Cambria Math"/>
              </a:rPr>
              <a:t>→</a:t>
            </a:r>
            <a:r>
              <a:rPr kern="1200" spc="85" dirty="0">
                <a:solidFill>
                  <a:prstClr val="black"/>
                </a:solidFill>
                <a:latin typeface="Cambria Math"/>
                <a:cs typeface="Cambria Math"/>
              </a:rPr>
              <a:t> </a:t>
            </a:r>
            <a:r>
              <a:rPr kern="1200" spc="-60" dirty="0">
                <a:solidFill>
                  <a:prstClr val="black"/>
                </a:solidFill>
                <a:latin typeface="Cambria Math"/>
                <a:cs typeface="Cambria Math"/>
              </a:rPr>
              <a:t>+𝑇𝐸</a:t>
            </a:r>
            <a:r>
              <a:rPr lang="en-US" altLang="zh-CN" sz="2000" kern="1200" dirty="0">
                <a:solidFill>
                  <a:prstClr val="black"/>
                </a:solidFill>
                <a:latin typeface="Cambria Math"/>
                <a:cs typeface="Cambria Math"/>
              </a:rPr>
              <a:t>′</a:t>
            </a:r>
            <a:r>
              <a:rPr sz="1950" kern="1200" spc="254" baseline="27777"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𝜖</a:t>
            </a:r>
          </a:p>
          <a:p>
            <a:pPr marL="38100" rtl="0">
              <a:spcBef>
                <a:spcPts val="1030"/>
              </a:spcBef>
            </a:pPr>
            <a:r>
              <a:rPr kern="1200" spc="-125" dirty="0">
                <a:solidFill>
                  <a:prstClr val="black"/>
                </a:solidFill>
                <a:latin typeface="Cambria Math"/>
                <a:cs typeface="Cambria Math"/>
              </a:rPr>
              <a:t>𝑇</a:t>
            </a:r>
            <a:r>
              <a:rPr lang="en-US" altLang="zh-CN" sz="2000" kern="1200" dirty="0">
                <a:solidFill>
                  <a:prstClr val="black"/>
                </a:solidFill>
                <a:latin typeface="Cambria Math"/>
                <a:cs typeface="Cambria Math"/>
              </a:rPr>
              <a:t>′</a:t>
            </a:r>
            <a:r>
              <a:rPr sz="1950" kern="1200" spc="-75" baseline="27777"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spc="-60" dirty="0">
                <a:solidFill>
                  <a:prstClr val="black"/>
                </a:solidFill>
                <a:latin typeface="Cambria Math"/>
                <a:cs typeface="Cambria Math"/>
              </a:rPr>
              <a:t>𝐹𝑇</a:t>
            </a:r>
            <a:r>
              <a:rPr lang="en-US" altLang="zh-CN" sz="2000" kern="1200" dirty="0">
                <a:solidFill>
                  <a:prstClr val="black"/>
                </a:solidFill>
                <a:latin typeface="Cambria Math"/>
                <a:cs typeface="Cambria Math"/>
              </a:rPr>
              <a:t>′</a:t>
            </a:r>
            <a:r>
              <a:rPr sz="1950" kern="1200" spc="254" baseline="27777"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𝜖</a:t>
            </a:r>
          </a:p>
        </p:txBody>
      </p:sp>
      <p:sp>
        <p:nvSpPr>
          <p:cNvPr id="27" name="object 10">
            <a:extLst>
              <a:ext uri="{FF2B5EF4-FFF2-40B4-BE49-F238E27FC236}">
                <a16:creationId xmlns:a16="http://schemas.microsoft.com/office/drawing/2014/main" id="{1EFC6027-76DF-428D-CAAD-4B17B59AEF1A}"/>
              </a:ext>
            </a:extLst>
          </p:cNvPr>
          <p:cNvSpPr/>
          <p:nvPr/>
        </p:nvSpPr>
        <p:spPr>
          <a:xfrm>
            <a:off x="4865522" y="2405169"/>
            <a:ext cx="301625" cy="212090"/>
          </a:xfrm>
          <a:custGeom>
            <a:avLst/>
            <a:gdLst/>
            <a:ahLst/>
            <a:cxnLst/>
            <a:rect l="l" t="t" r="r" b="b"/>
            <a:pathLst>
              <a:path w="301625" h="212089">
                <a:moveTo>
                  <a:pt x="233861" y="0"/>
                </a:moveTo>
                <a:lnTo>
                  <a:pt x="230847" y="8594"/>
                </a:lnTo>
                <a:lnTo>
                  <a:pt x="243104" y="13913"/>
                </a:lnTo>
                <a:lnTo>
                  <a:pt x="253645" y="21277"/>
                </a:lnTo>
                <a:lnTo>
                  <a:pt x="275049" y="55409"/>
                </a:lnTo>
                <a:lnTo>
                  <a:pt x="282080" y="104811"/>
                </a:lnTo>
                <a:lnTo>
                  <a:pt x="281296" y="123487"/>
                </a:lnTo>
                <a:lnTo>
                  <a:pt x="269524" y="169217"/>
                </a:lnTo>
                <a:lnTo>
                  <a:pt x="243247" y="197806"/>
                </a:lnTo>
                <a:lnTo>
                  <a:pt x="231181" y="203150"/>
                </a:lnTo>
                <a:lnTo>
                  <a:pt x="233861" y="211744"/>
                </a:lnTo>
                <a:lnTo>
                  <a:pt x="274317" y="187708"/>
                </a:lnTo>
                <a:lnTo>
                  <a:pt x="297039" y="143335"/>
                </a:lnTo>
                <a:lnTo>
                  <a:pt x="301392" y="105928"/>
                </a:lnTo>
                <a:lnTo>
                  <a:pt x="300300" y="86516"/>
                </a:lnTo>
                <a:lnTo>
                  <a:pt x="283923" y="37114"/>
                </a:lnTo>
                <a:lnTo>
                  <a:pt x="249212" y="5542"/>
                </a:lnTo>
                <a:lnTo>
                  <a:pt x="233861" y="0"/>
                </a:lnTo>
                <a:close/>
              </a:path>
              <a:path w="301625" h="212089">
                <a:moveTo>
                  <a:pt x="67530" y="0"/>
                </a:moveTo>
                <a:lnTo>
                  <a:pt x="27148" y="24099"/>
                </a:lnTo>
                <a:lnTo>
                  <a:pt x="4367" y="68577"/>
                </a:lnTo>
                <a:lnTo>
                  <a:pt x="0" y="105928"/>
                </a:lnTo>
                <a:lnTo>
                  <a:pt x="1088" y="125381"/>
                </a:lnTo>
                <a:lnTo>
                  <a:pt x="17412" y="174743"/>
                </a:lnTo>
                <a:lnTo>
                  <a:pt x="52134" y="206209"/>
                </a:lnTo>
                <a:lnTo>
                  <a:pt x="67530" y="211744"/>
                </a:lnTo>
                <a:lnTo>
                  <a:pt x="70209" y="203150"/>
                </a:lnTo>
                <a:lnTo>
                  <a:pt x="58144" y="197806"/>
                </a:lnTo>
                <a:lnTo>
                  <a:pt x="47732" y="190369"/>
                </a:lnTo>
                <a:lnTo>
                  <a:pt x="26374" y="155690"/>
                </a:lnTo>
                <a:lnTo>
                  <a:pt x="19310" y="104811"/>
                </a:lnTo>
                <a:lnTo>
                  <a:pt x="20095" y="86747"/>
                </a:lnTo>
                <a:lnTo>
                  <a:pt x="31868" y="42137"/>
                </a:lnTo>
                <a:lnTo>
                  <a:pt x="58332" y="13913"/>
                </a:lnTo>
                <a:lnTo>
                  <a:pt x="70544" y="8594"/>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11">
            <a:extLst>
              <a:ext uri="{FF2B5EF4-FFF2-40B4-BE49-F238E27FC236}">
                <a16:creationId xmlns:a16="http://schemas.microsoft.com/office/drawing/2014/main" id="{019ED642-E704-2897-C4A2-C4367B6A9199}"/>
              </a:ext>
            </a:extLst>
          </p:cNvPr>
          <p:cNvSpPr txBox="1"/>
          <p:nvPr/>
        </p:nvSpPr>
        <p:spPr>
          <a:xfrm>
            <a:off x="4364990" y="2334259"/>
            <a:ext cx="1452880" cy="1492716"/>
          </a:xfrm>
          <a:prstGeom prst="rect">
            <a:avLst/>
          </a:prstGeom>
        </p:spPr>
        <p:txBody>
          <a:bodyPr vert="horz" wrap="square" lIns="0" tIns="12700" rIns="0" bIns="0" rtlCol="0">
            <a:spAutoFit/>
          </a:bodyPr>
          <a:lstStyle/>
          <a:p>
            <a:pPr marL="12700" rtl="0">
              <a:spcBef>
                <a:spcPts val="100"/>
              </a:spcBef>
              <a:tabLst>
                <a:tab pos="574675" algn="l"/>
                <a:tab pos="872490" algn="l"/>
              </a:tabLst>
            </a:pPr>
            <a:r>
              <a:rPr kern="1200" dirty="0">
                <a:solidFill>
                  <a:prstClr val="black"/>
                </a:solidFill>
                <a:latin typeface="Cambria Math"/>
                <a:cs typeface="Cambria Math"/>
              </a:rPr>
              <a:t>𝐹</a:t>
            </a:r>
            <a:r>
              <a:rPr kern="1200" spc="170" dirty="0">
                <a:solidFill>
                  <a:prstClr val="black"/>
                </a:solidFill>
                <a:latin typeface="Cambria Math"/>
                <a:cs typeface="Cambria Math"/>
              </a:rPr>
              <a:t> </a:t>
            </a:r>
            <a:r>
              <a:rPr kern="1200" dirty="0">
                <a:solidFill>
                  <a:prstClr val="black"/>
                </a:solidFill>
                <a:latin typeface="Cambria Math"/>
                <a:cs typeface="Cambria Math"/>
              </a:rPr>
              <a:t>→	𝐸	|</a:t>
            </a:r>
            <a:r>
              <a:rPr kern="1200" spc="-40" dirty="0">
                <a:solidFill>
                  <a:prstClr val="black"/>
                </a:solidFill>
                <a:latin typeface="Cambria Math"/>
                <a:cs typeface="Cambria Math"/>
              </a:rPr>
              <a:t> </a:t>
            </a:r>
            <a:r>
              <a:rPr kern="1200" spc="-5" dirty="0">
                <a:solidFill>
                  <a:prstClr val="black"/>
                </a:solidFill>
                <a:latin typeface="Cambria Math"/>
                <a:cs typeface="Cambria Math"/>
              </a:rPr>
              <a:t>𝐢𝐝</a:t>
            </a:r>
            <a:endParaRPr kern="1200" dirty="0">
              <a:solidFill>
                <a:prstClr val="black"/>
              </a:solidFill>
              <a:latin typeface="Cambria Math"/>
              <a:cs typeface="Cambria Math"/>
            </a:endParaRPr>
          </a:p>
          <a:p>
            <a:pPr rtl="0">
              <a:spcBef>
                <a:spcPts val="20"/>
              </a:spcBef>
            </a:pPr>
            <a:endParaRPr sz="1900" kern="1200" dirty="0">
              <a:solidFill>
                <a:prstClr val="black"/>
              </a:solidFill>
              <a:latin typeface="Cambria Math"/>
              <a:cs typeface="Cambria Math"/>
            </a:endParaRPr>
          </a:p>
          <a:p>
            <a:pPr marL="12700" rtl="0"/>
            <a:r>
              <a:rPr sz="2000" kern="1200" dirty="0">
                <a:solidFill>
                  <a:prstClr val="black"/>
                </a:solidFill>
                <a:latin typeface="Cambria Math"/>
                <a:cs typeface="Cambria Math"/>
              </a:rPr>
              <a:t>𝐸</a:t>
            </a:r>
            <a:r>
              <a:rPr lang="en-US" altLang="zh-CN" sz="2000" kern="1200" dirty="0">
                <a:solidFill>
                  <a:prstClr val="black"/>
                </a:solidFill>
                <a:latin typeface="Cambria Math"/>
                <a:cs typeface="Cambria Math"/>
              </a:rPr>
              <a:t>′ </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5" dirty="0">
                <a:solidFill>
                  <a:prstClr val="black"/>
                </a:solidFill>
                <a:latin typeface="Cambria Math"/>
                <a:cs typeface="Cambria Math"/>
              </a:rPr>
              <a:t>𝜖</a:t>
            </a:r>
            <a:r>
              <a:rPr sz="2000" kern="1200" dirty="0">
                <a:solidFill>
                  <a:prstClr val="black"/>
                </a:solidFill>
                <a:latin typeface="Cambria Math"/>
                <a:cs typeface="Cambria Math"/>
              </a:rPr>
              <a:t>}</a:t>
            </a:r>
          </a:p>
          <a:p>
            <a:pPr marL="12700" rtl="0">
              <a:spcBef>
                <a:spcPts val="2305"/>
              </a:spcBef>
            </a:pPr>
            <a:r>
              <a:rPr sz="2000" kern="1200" spc="40" dirty="0">
                <a:solidFill>
                  <a:prstClr val="black"/>
                </a:solidFill>
                <a:latin typeface="Cambria Math"/>
                <a:cs typeface="Cambria Math"/>
              </a:rPr>
              <a:t>𝑇</a:t>
            </a:r>
            <a:r>
              <a:rPr sz="2000" kern="1200" dirty="0">
                <a:solidFill>
                  <a:prstClr val="black"/>
                </a:solidFill>
                <a:latin typeface="Palatino Linotype"/>
                <a:cs typeface="Palatino Linotype"/>
              </a:rPr>
              <a:t>, </a:t>
            </a:r>
            <a:r>
              <a:rPr sz="2000" kern="1200" spc="-5" dirty="0">
                <a:solidFill>
                  <a:prstClr val="black"/>
                </a:solidFill>
                <a:latin typeface="Cambria Math"/>
                <a:cs typeface="Cambria Math"/>
              </a:rPr>
              <a:t>𝑇</a:t>
            </a:r>
            <a:r>
              <a:rPr lang="en-US" altLang="zh-CN" sz="2000" kern="1200" dirty="0">
                <a:solidFill>
                  <a:prstClr val="black"/>
                </a:solidFill>
                <a:latin typeface="Cambria Math"/>
                <a:cs typeface="Cambria Math"/>
              </a:rPr>
              <a:t>′</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p>
        </p:txBody>
      </p:sp>
      <p:sp>
        <p:nvSpPr>
          <p:cNvPr id="29" name="object 12">
            <a:extLst>
              <a:ext uri="{FF2B5EF4-FFF2-40B4-BE49-F238E27FC236}">
                <a16:creationId xmlns:a16="http://schemas.microsoft.com/office/drawing/2014/main" id="{E2032E8F-6674-29A9-BD3E-45D79B23840B}"/>
              </a:ext>
            </a:extLst>
          </p:cNvPr>
          <p:cNvSpPr txBox="1"/>
          <p:nvPr/>
        </p:nvSpPr>
        <p:spPr>
          <a:xfrm>
            <a:off x="707390" y="2894076"/>
            <a:ext cx="3362325" cy="923330"/>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2570" algn="l"/>
                <a:tab pos="243204" algn="l"/>
                <a:tab pos="1840864" algn="l"/>
              </a:tabLst>
            </a:pPr>
            <a:r>
              <a:rPr sz="2000" b="1" kern="1200" spc="-5" dirty="0">
                <a:solidFill>
                  <a:srgbClr val="0432FF"/>
                </a:solidFill>
                <a:latin typeface="Palatino Linotype"/>
                <a:cs typeface="Palatino Linotype"/>
              </a:rPr>
              <a:t>FIR</a:t>
            </a:r>
            <a:r>
              <a:rPr sz="2000" b="1" kern="1200" dirty="0">
                <a:solidFill>
                  <a:srgbClr val="0432FF"/>
                </a:solidFill>
                <a:latin typeface="Palatino Linotype"/>
                <a:cs typeface="Palatino Linotype"/>
              </a:rPr>
              <a:t>ST </a:t>
            </a:r>
            <a:r>
              <a:rPr sz="2000" b="1" kern="1200" spc="-5" dirty="0">
                <a:solidFill>
                  <a:srgbClr val="0432FF"/>
                </a:solidFill>
                <a:latin typeface="Palatino Linotype"/>
                <a:cs typeface="Palatino Linotype"/>
              </a:rPr>
              <a:t>s</a:t>
            </a:r>
            <a:r>
              <a:rPr sz="2000" b="1" kern="1200" dirty="0">
                <a:solidFill>
                  <a:srgbClr val="0432FF"/>
                </a:solidFill>
                <a:latin typeface="Palatino Linotype"/>
                <a:cs typeface="Palatino Linotype"/>
              </a:rPr>
              <a:t>e</a:t>
            </a:r>
            <a:r>
              <a:rPr sz="2000" b="1" kern="1200" spc="-5" dirty="0">
                <a:solidFill>
                  <a:srgbClr val="0432FF"/>
                </a:solidFill>
                <a:latin typeface="Palatino Linotype"/>
                <a:cs typeface="Palatino Linotype"/>
              </a:rPr>
              <a:t>ts</a:t>
            </a:r>
            <a:r>
              <a:rPr sz="2000" b="1" kern="1200" dirty="0">
                <a:solidFill>
                  <a:srgbClr val="0432FF"/>
                </a:solidFill>
                <a:latin typeface="Palatino Linotype"/>
                <a:cs typeface="Palatino Linotype"/>
              </a:rPr>
              <a:t>:	</a:t>
            </a:r>
            <a:r>
              <a:rPr sz="2000" kern="1200" spc="75" dirty="0">
                <a:solidFill>
                  <a:prstClr val="black"/>
                </a:solidFill>
                <a:latin typeface="Cambria Math"/>
                <a:cs typeface="Cambria Math"/>
              </a:rPr>
              <a:t>𝐸</a:t>
            </a:r>
            <a:r>
              <a:rPr sz="2000" kern="1200" dirty="0">
                <a:solidFill>
                  <a:prstClr val="black"/>
                </a:solidFill>
                <a:latin typeface="Palatino Linotype"/>
                <a:cs typeface="Palatino Linotype"/>
              </a:rPr>
              <a:t>, </a:t>
            </a:r>
            <a:r>
              <a:rPr sz="2000" kern="1200" spc="40" dirty="0">
                <a:solidFill>
                  <a:prstClr val="black"/>
                </a:solidFill>
                <a:latin typeface="Cambria Math"/>
                <a:cs typeface="Cambria Math"/>
              </a:rPr>
              <a:t>𝑇</a:t>
            </a:r>
            <a:r>
              <a:rPr sz="2000" kern="1200" dirty="0">
                <a:solidFill>
                  <a:prstClr val="black"/>
                </a:solidFill>
                <a:latin typeface="Palatino Linotype"/>
                <a:cs typeface="Palatino Linotype"/>
              </a:rPr>
              <a:t>, </a:t>
            </a:r>
            <a:r>
              <a:rPr sz="2000" kern="1200" spc="80" dirty="0">
                <a:solidFill>
                  <a:prstClr val="black"/>
                </a:solidFill>
                <a:latin typeface="Cambria Math"/>
                <a:cs typeface="Cambria Math"/>
              </a:rPr>
              <a:t>𝐹</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𝐢𝐝}</a:t>
            </a:r>
          </a:p>
          <a:p>
            <a:pPr marL="243204" indent="-230504" rtl="0">
              <a:spcBef>
                <a:spcPts val="2300"/>
              </a:spcBef>
              <a:buClr>
                <a:srgbClr val="000000"/>
              </a:buClr>
              <a:buFont typeface="Arial MT"/>
              <a:buChar char="•"/>
              <a:tabLst>
                <a:tab pos="242570" algn="l"/>
                <a:tab pos="243204" algn="l"/>
                <a:tab pos="2185670" algn="l"/>
              </a:tabLst>
            </a:pPr>
            <a:r>
              <a:rPr sz="2000" b="1" kern="1200" spc="-5" dirty="0">
                <a:solidFill>
                  <a:srgbClr val="0432FF"/>
                </a:solidFill>
                <a:latin typeface="Palatino Linotype"/>
                <a:cs typeface="Palatino Linotype"/>
              </a:rPr>
              <a:t>FO</a:t>
            </a:r>
            <a:r>
              <a:rPr sz="2000" b="1" kern="1200" dirty="0">
                <a:solidFill>
                  <a:srgbClr val="0432FF"/>
                </a:solidFill>
                <a:latin typeface="Palatino Linotype"/>
                <a:cs typeface="Palatino Linotype"/>
              </a:rPr>
              <a:t>LL</a:t>
            </a:r>
            <a:r>
              <a:rPr sz="2000" b="1" kern="1200" spc="-5" dirty="0">
                <a:solidFill>
                  <a:srgbClr val="0432FF"/>
                </a:solidFill>
                <a:latin typeface="Palatino Linotype"/>
                <a:cs typeface="Palatino Linotype"/>
              </a:rPr>
              <a:t>O</a:t>
            </a:r>
            <a:r>
              <a:rPr sz="2000" b="1" kern="1200" dirty="0">
                <a:solidFill>
                  <a:srgbClr val="0432FF"/>
                </a:solidFill>
                <a:latin typeface="Palatino Linotype"/>
                <a:cs typeface="Palatino Linotype"/>
              </a:rPr>
              <a:t>W </a:t>
            </a:r>
            <a:r>
              <a:rPr sz="2000" b="1" kern="1200" spc="-5" dirty="0">
                <a:solidFill>
                  <a:srgbClr val="0432FF"/>
                </a:solidFill>
                <a:latin typeface="Palatino Linotype"/>
                <a:cs typeface="Palatino Linotype"/>
              </a:rPr>
              <a:t>s</a:t>
            </a:r>
            <a:r>
              <a:rPr sz="2000" b="1" kern="1200" dirty="0">
                <a:solidFill>
                  <a:srgbClr val="0432FF"/>
                </a:solidFill>
                <a:latin typeface="Palatino Linotype"/>
                <a:cs typeface="Palatino Linotype"/>
              </a:rPr>
              <a:t>e</a:t>
            </a:r>
            <a:r>
              <a:rPr sz="2000" b="1" kern="1200" spc="-5" dirty="0">
                <a:solidFill>
                  <a:srgbClr val="0432FF"/>
                </a:solidFill>
                <a:latin typeface="Palatino Linotype"/>
                <a:cs typeface="Palatino Linotype"/>
              </a:rPr>
              <a:t>ts</a:t>
            </a:r>
            <a:r>
              <a:rPr sz="2000" b="1" kern="1200" dirty="0">
                <a:solidFill>
                  <a:srgbClr val="0432FF"/>
                </a:solidFill>
                <a:latin typeface="Palatino Linotype"/>
                <a:cs typeface="Palatino Linotype"/>
              </a:rPr>
              <a:t>:	</a:t>
            </a:r>
            <a:r>
              <a:rPr sz="2000" kern="1200" spc="75" dirty="0">
                <a:solidFill>
                  <a:prstClr val="black"/>
                </a:solidFill>
                <a:latin typeface="Cambria Math"/>
                <a:cs typeface="Cambria Math"/>
              </a:rPr>
              <a:t>𝐸</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𝐸</a:t>
            </a:r>
            <a:r>
              <a:rPr lang="en-US" altLang="zh-CN" sz="2000" kern="1200" dirty="0">
                <a:solidFill>
                  <a:prstClr val="black"/>
                </a:solidFill>
                <a:latin typeface="Cambria Math"/>
                <a:cs typeface="Cambria Math"/>
              </a:rPr>
              <a:t>′</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p>
        </p:txBody>
      </p:sp>
      <p:sp>
        <p:nvSpPr>
          <p:cNvPr id="30" name="object 13">
            <a:extLst>
              <a:ext uri="{FF2B5EF4-FFF2-40B4-BE49-F238E27FC236}">
                <a16:creationId xmlns:a16="http://schemas.microsoft.com/office/drawing/2014/main" id="{BC40B7A1-0E04-1BB2-A31B-DB5CA04585AB}"/>
              </a:ext>
            </a:extLst>
          </p:cNvPr>
          <p:cNvSpPr txBox="1"/>
          <p:nvPr/>
        </p:nvSpPr>
        <p:spPr>
          <a:xfrm>
            <a:off x="6193790" y="2894076"/>
            <a:ext cx="1345565" cy="927735"/>
          </a:xfrm>
          <a:prstGeom prst="rect">
            <a:avLst/>
          </a:prstGeom>
        </p:spPr>
        <p:txBody>
          <a:bodyPr vert="horz" wrap="square" lIns="0" tIns="12700" rIns="0" bIns="0" rtlCol="0">
            <a:spAutoFit/>
          </a:bodyPr>
          <a:lstStyle/>
          <a:p>
            <a:pPr marL="12700" rtl="0">
              <a:spcBef>
                <a:spcPts val="100"/>
              </a:spcBef>
            </a:pPr>
            <a:r>
              <a:rPr sz="2000" kern="1200" spc="-5" dirty="0">
                <a:solidFill>
                  <a:prstClr val="black"/>
                </a:solidFill>
                <a:latin typeface="Cambria Math"/>
                <a:cs typeface="Cambria Math"/>
              </a:rPr>
              <a:t>𝑇</a:t>
            </a:r>
            <a:r>
              <a:rPr lang="en-US" altLang="zh-CN" sz="2000" kern="1200" dirty="0">
                <a:solidFill>
                  <a:prstClr val="black"/>
                </a:solidFill>
                <a:latin typeface="Cambria Math"/>
                <a:cs typeface="Cambria Math"/>
              </a:rPr>
              <a:t>′ </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5" dirty="0">
                <a:solidFill>
                  <a:prstClr val="black"/>
                </a:solidFill>
                <a:latin typeface="Cambria Math"/>
                <a:cs typeface="Cambria Math"/>
              </a:rPr>
              <a:t>𝜖</a:t>
            </a:r>
            <a:r>
              <a:rPr sz="2000" kern="1200" dirty="0">
                <a:solidFill>
                  <a:prstClr val="black"/>
                </a:solidFill>
                <a:latin typeface="Cambria Math"/>
                <a:cs typeface="Cambria Math"/>
              </a:rPr>
              <a:t>}</a:t>
            </a:r>
          </a:p>
          <a:p>
            <a:pPr marL="12700" rtl="0">
              <a:spcBef>
                <a:spcPts val="2300"/>
              </a:spcBef>
            </a:pPr>
            <a:r>
              <a:rPr sz="2000" kern="1200" spc="80" dirty="0">
                <a:solidFill>
                  <a:prstClr val="black"/>
                </a:solidFill>
                <a:latin typeface="Cambria Math"/>
                <a:cs typeface="Cambria Math"/>
              </a:rPr>
              <a:t>𝐹</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p>
        </p:txBody>
      </p:sp>
      <p:sp>
        <p:nvSpPr>
          <p:cNvPr id="31" name="object 14">
            <a:extLst>
              <a:ext uri="{FF2B5EF4-FFF2-40B4-BE49-F238E27FC236}">
                <a16:creationId xmlns:a16="http://schemas.microsoft.com/office/drawing/2014/main" id="{C8ABB04D-AAFA-4ECD-8339-6E9F3960D01C}"/>
              </a:ext>
            </a:extLst>
          </p:cNvPr>
          <p:cNvSpPr/>
          <p:nvPr/>
        </p:nvSpPr>
        <p:spPr>
          <a:xfrm>
            <a:off x="7897699" y="4840852"/>
            <a:ext cx="480059" cy="212090"/>
          </a:xfrm>
          <a:custGeom>
            <a:avLst/>
            <a:gdLst/>
            <a:ahLst/>
            <a:cxnLst/>
            <a:rect l="l" t="t" r="r" b="b"/>
            <a:pathLst>
              <a:path w="480059" h="212089">
                <a:moveTo>
                  <a:pt x="412231" y="0"/>
                </a:moveTo>
                <a:lnTo>
                  <a:pt x="409218" y="8595"/>
                </a:lnTo>
                <a:lnTo>
                  <a:pt x="421475" y="13914"/>
                </a:lnTo>
                <a:lnTo>
                  <a:pt x="432017" y="21278"/>
                </a:lnTo>
                <a:lnTo>
                  <a:pt x="453420" y="55409"/>
                </a:lnTo>
                <a:lnTo>
                  <a:pt x="460452" y="104813"/>
                </a:lnTo>
                <a:lnTo>
                  <a:pt x="459667" y="123488"/>
                </a:lnTo>
                <a:lnTo>
                  <a:pt x="447894" y="169217"/>
                </a:lnTo>
                <a:lnTo>
                  <a:pt x="421618" y="197806"/>
                </a:lnTo>
                <a:lnTo>
                  <a:pt x="409553" y="203150"/>
                </a:lnTo>
                <a:lnTo>
                  <a:pt x="412231" y="211745"/>
                </a:lnTo>
                <a:lnTo>
                  <a:pt x="452687" y="187708"/>
                </a:lnTo>
                <a:lnTo>
                  <a:pt x="475409" y="143335"/>
                </a:lnTo>
                <a:lnTo>
                  <a:pt x="479762" y="105928"/>
                </a:lnTo>
                <a:lnTo>
                  <a:pt x="478671" y="86516"/>
                </a:lnTo>
                <a:lnTo>
                  <a:pt x="462293" y="37114"/>
                </a:lnTo>
                <a:lnTo>
                  <a:pt x="427583" y="5542"/>
                </a:lnTo>
                <a:lnTo>
                  <a:pt x="412231" y="0"/>
                </a:lnTo>
                <a:close/>
              </a:path>
              <a:path w="480059" h="212089">
                <a:moveTo>
                  <a:pt x="67529" y="0"/>
                </a:moveTo>
                <a:lnTo>
                  <a:pt x="27147" y="24099"/>
                </a:lnTo>
                <a:lnTo>
                  <a:pt x="4367" y="68577"/>
                </a:lnTo>
                <a:lnTo>
                  <a:pt x="0" y="105928"/>
                </a:lnTo>
                <a:lnTo>
                  <a:pt x="1088" y="125381"/>
                </a:lnTo>
                <a:lnTo>
                  <a:pt x="17412" y="174743"/>
                </a:lnTo>
                <a:lnTo>
                  <a:pt x="52133" y="206209"/>
                </a:lnTo>
                <a:lnTo>
                  <a:pt x="67529" y="211745"/>
                </a:lnTo>
                <a:lnTo>
                  <a:pt x="70209" y="203150"/>
                </a:lnTo>
                <a:lnTo>
                  <a:pt x="58143" y="197806"/>
                </a:lnTo>
                <a:lnTo>
                  <a:pt x="47731" y="190369"/>
                </a:lnTo>
                <a:lnTo>
                  <a:pt x="26373" y="155690"/>
                </a:lnTo>
                <a:lnTo>
                  <a:pt x="19310" y="104813"/>
                </a:lnTo>
                <a:lnTo>
                  <a:pt x="20095" y="86747"/>
                </a:lnTo>
                <a:lnTo>
                  <a:pt x="31866" y="42137"/>
                </a:lnTo>
                <a:lnTo>
                  <a:pt x="58331" y="13914"/>
                </a:lnTo>
                <a:lnTo>
                  <a:pt x="70543" y="8595"/>
                </a:lnTo>
                <a:lnTo>
                  <a:pt x="6752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15">
            <a:extLst>
              <a:ext uri="{FF2B5EF4-FFF2-40B4-BE49-F238E27FC236}">
                <a16:creationId xmlns:a16="http://schemas.microsoft.com/office/drawing/2014/main" id="{3C640923-4C92-8249-5984-0BD2B8BEF42D}"/>
              </a:ext>
            </a:extLst>
          </p:cNvPr>
          <p:cNvSpPr txBox="1"/>
          <p:nvPr/>
        </p:nvSpPr>
        <p:spPr>
          <a:xfrm>
            <a:off x="6999058" y="4312411"/>
            <a:ext cx="1390015" cy="1583055"/>
          </a:xfrm>
          <a:prstGeom prst="rect">
            <a:avLst/>
          </a:prstGeom>
        </p:spPr>
        <p:txBody>
          <a:bodyPr vert="horz" wrap="square" lIns="0" tIns="12700" rIns="0" bIns="0" rtlCol="0">
            <a:spAutoFit/>
          </a:bodyPr>
          <a:lstStyle/>
          <a:p>
            <a:pPr marR="85725" algn="ctr" rtl="0">
              <a:spcBef>
                <a:spcPts val="100"/>
              </a:spcBef>
            </a:pPr>
            <a:r>
              <a:rPr kern="1200" spc="-5" dirty="0">
                <a:solidFill>
                  <a:srgbClr val="FF0000"/>
                </a:solidFill>
                <a:latin typeface="Palatino Linotype"/>
                <a:cs typeface="Palatino Linotype"/>
              </a:rPr>
              <a:t>For</a:t>
            </a:r>
            <a:r>
              <a:rPr kern="1200" spc="-25" dirty="0">
                <a:solidFill>
                  <a:srgbClr val="FF0000"/>
                </a:solidFill>
                <a:latin typeface="Palatino Linotype"/>
                <a:cs typeface="Palatino Linotype"/>
              </a:rPr>
              <a:t> </a:t>
            </a:r>
            <a:r>
              <a:rPr kern="1200" dirty="0">
                <a:solidFill>
                  <a:srgbClr val="FF0000"/>
                </a:solidFill>
                <a:latin typeface="Cambria Math"/>
                <a:cs typeface="Cambria Math"/>
              </a:rPr>
              <a:t>𝐸</a:t>
            </a:r>
            <a:r>
              <a:rPr kern="1200" spc="145" dirty="0">
                <a:solidFill>
                  <a:srgbClr val="FF0000"/>
                </a:solidFill>
                <a:latin typeface="Cambria Math"/>
                <a:cs typeface="Cambria Math"/>
              </a:rPr>
              <a:t> </a:t>
            </a:r>
            <a:r>
              <a:rPr kern="1200" dirty="0">
                <a:solidFill>
                  <a:srgbClr val="FF0000"/>
                </a:solidFill>
                <a:latin typeface="Cambria Math"/>
                <a:cs typeface="Cambria Math"/>
              </a:rPr>
              <a:t>→</a:t>
            </a:r>
            <a:r>
              <a:rPr kern="1200" spc="85" dirty="0">
                <a:solidFill>
                  <a:srgbClr val="FF0000"/>
                </a:solidFill>
                <a:latin typeface="Cambria Math"/>
                <a:cs typeface="Cambria Math"/>
              </a:rPr>
              <a:t> </a:t>
            </a:r>
            <a:r>
              <a:rPr kern="1200" spc="-5" dirty="0">
                <a:solidFill>
                  <a:srgbClr val="FF0000"/>
                </a:solidFill>
                <a:latin typeface="Cambria Math"/>
                <a:cs typeface="Cambria Math"/>
              </a:rPr>
              <a:t>𝑇𝐸′</a:t>
            </a:r>
            <a:r>
              <a:rPr kern="1200" spc="-5" dirty="0">
                <a:solidFill>
                  <a:srgbClr val="FF0000"/>
                </a:solidFill>
                <a:cs typeface="Calibri"/>
              </a:rPr>
              <a:t>:</a:t>
            </a:r>
            <a:endParaRPr kern="1200" dirty="0">
              <a:solidFill>
                <a:prstClr val="black"/>
              </a:solidFill>
              <a:cs typeface="Calibri"/>
            </a:endParaRPr>
          </a:p>
          <a:p>
            <a:pPr marL="297180" rtl="0">
              <a:spcBef>
                <a:spcPts val="1440"/>
              </a:spcBef>
            </a:pPr>
            <a:r>
              <a:rPr kern="1200" spc="-15" dirty="0">
                <a:solidFill>
                  <a:prstClr val="black"/>
                </a:solidFill>
                <a:latin typeface="Cambria Math"/>
                <a:cs typeface="Cambria Math"/>
              </a:rPr>
              <a:t>FIRST</a:t>
            </a:r>
            <a:r>
              <a:rPr kern="1200" spc="260" dirty="0">
                <a:solidFill>
                  <a:prstClr val="black"/>
                </a:solidFill>
                <a:latin typeface="Cambria Math"/>
                <a:cs typeface="Cambria Math"/>
              </a:rPr>
              <a:t> </a:t>
            </a:r>
            <a:r>
              <a:rPr kern="1200" dirty="0">
                <a:solidFill>
                  <a:prstClr val="black"/>
                </a:solidFill>
                <a:latin typeface="Cambria Math"/>
                <a:cs typeface="Cambria Math"/>
              </a:rPr>
              <a:t>𝑇𝐸</a:t>
            </a:r>
            <a:r>
              <a:rPr lang="en-US" altLang="zh-CN" kern="1200" dirty="0">
                <a:solidFill>
                  <a:prstClr val="black"/>
                </a:solidFill>
                <a:latin typeface="Cambria Math"/>
                <a:cs typeface="Cambria Math"/>
              </a:rPr>
              <a:t>′</a:t>
            </a:r>
            <a:endParaRPr kern="1200" dirty="0">
              <a:solidFill>
                <a:prstClr val="black"/>
              </a:solidFill>
              <a:latin typeface="Cambria Math"/>
              <a:cs typeface="Cambria Math"/>
            </a:endParaRPr>
          </a:p>
          <a:p>
            <a:pPr marL="297180" rtl="0">
              <a:spcBef>
                <a:spcPts val="1150"/>
              </a:spcBef>
            </a:pPr>
            <a:r>
              <a:rPr kern="1200" dirty="0">
                <a:solidFill>
                  <a:prstClr val="black"/>
                </a:solidFill>
                <a:cs typeface="Calibri"/>
              </a:rPr>
              <a:t>=</a:t>
            </a:r>
            <a:r>
              <a:rPr kern="1200" spc="-60" dirty="0">
                <a:solidFill>
                  <a:prstClr val="black"/>
                </a:solidFill>
                <a:cs typeface="Calibri"/>
              </a:rPr>
              <a:t> </a:t>
            </a:r>
            <a:r>
              <a:rPr kern="1200" spc="-5" dirty="0">
                <a:solidFill>
                  <a:prstClr val="black"/>
                </a:solidFill>
                <a:latin typeface="Cambria Math"/>
                <a:cs typeface="Cambria Math"/>
              </a:rPr>
              <a:t>FIRST(𝑇)</a:t>
            </a:r>
            <a:endParaRPr kern="1200" dirty="0">
              <a:solidFill>
                <a:prstClr val="black"/>
              </a:solidFill>
              <a:latin typeface="Cambria Math"/>
              <a:cs typeface="Cambria Math"/>
            </a:endParaRPr>
          </a:p>
          <a:p>
            <a:pPr marR="46990" algn="ctr" rtl="0">
              <a:spcBef>
                <a:spcPts val="1035"/>
              </a:spcBef>
            </a:pPr>
            <a:r>
              <a:rPr kern="1200" dirty="0">
                <a:solidFill>
                  <a:prstClr val="black"/>
                </a:solidFill>
                <a:cs typeface="Calibri"/>
              </a:rPr>
              <a:t>=</a:t>
            </a:r>
            <a:r>
              <a:rPr kern="1200" spc="5" dirty="0">
                <a:solidFill>
                  <a:prstClr val="black"/>
                </a:solidFill>
                <a:cs typeface="Calibri"/>
              </a:rPr>
              <a:t> </a:t>
            </a:r>
            <a:r>
              <a:rPr kern="1200" dirty="0">
                <a:solidFill>
                  <a:prstClr val="black"/>
                </a:solidFill>
                <a:latin typeface="Cambria Math"/>
                <a:cs typeface="Cambria Math"/>
              </a:rPr>
              <a:t>{</a:t>
            </a:r>
            <a:r>
              <a:rPr kern="1200" dirty="0">
                <a:solidFill>
                  <a:srgbClr val="FF0000"/>
                </a:solidFill>
                <a:latin typeface="Cambria Math"/>
                <a:cs typeface="Cambria Math"/>
              </a:rPr>
              <a:t>(</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spc="-5" dirty="0">
                <a:solidFill>
                  <a:srgbClr val="FF0000"/>
                </a:solidFill>
                <a:latin typeface="Cambria Math"/>
                <a:cs typeface="Cambria Math"/>
              </a:rPr>
              <a:t>𝐢𝐝</a:t>
            </a:r>
            <a:r>
              <a:rPr kern="1200" dirty="0">
                <a:solidFill>
                  <a:prstClr val="black"/>
                </a:solidFill>
                <a:latin typeface="Cambria Math"/>
                <a:cs typeface="Cambria Math"/>
              </a:rPr>
              <a:t>}</a:t>
            </a:r>
          </a:p>
        </p:txBody>
      </p:sp>
    </p:spTree>
    <p:extLst>
      <p:ext uri="{BB962C8B-B14F-4D97-AF65-F5344CB8AC3E}">
        <p14:creationId xmlns:p14="http://schemas.microsoft.com/office/powerpoint/2010/main" val="25936190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77</a:t>
            </a:fld>
            <a:endParaRPr lang="en-US"/>
          </a:p>
        </p:txBody>
      </p:sp>
      <p:grpSp>
        <p:nvGrpSpPr>
          <p:cNvPr id="19" name="object 2">
            <a:extLst>
              <a:ext uri="{FF2B5EF4-FFF2-40B4-BE49-F238E27FC236}">
                <a16:creationId xmlns:a16="http://schemas.microsoft.com/office/drawing/2014/main" id="{94494EA9-82F1-4C26-ADFD-06B7E36BAA19}"/>
              </a:ext>
            </a:extLst>
          </p:cNvPr>
          <p:cNvGrpSpPr/>
          <p:nvPr/>
        </p:nvGrpSpPr>
        <p:grpSpPr>
          <a:xfrm>
            <a:off x="766879" y="4165206"/>
            <a:ext cx="5932170" cy="1932939"/>
            <a:chOff x="766879" y="4165206"/>
            <a:chExt cx="5932170" cy="1932939"/>
          </a:xfrm>
        </p:grpSpPr>
        <p:pic>
          <p:nvPicPr>
            <p:cNvPr id="20" name="object 3">
              <a:extLst>
                <a:ext uri="{FF2B5EF4-FFF2-40B4-BE49-F238E27FC236}">
                  <a16:creationId xmlns:a16="http://schemas.microsoft.com/office/drawing/2014/main" id="{B0343BF1-7646-CE85-F359-24393333FB6F}"/>
                </a:ext>
              </a:extLst>
            </p:cNvPr>
            <p:cNvPicPr/>
            <p:nvPr/>
          </p:nvPicPr>
          <p:blipFill>
            <a:blip r:embed="rId2" cstate="print"/>
            <a:stretch>
              <a:fillRect/>
            </a:stretch>
          </p:blipFill>
          <p:spPr>
            <a:xfrm>
              <a:off x="766879" y="4165206"/>
              <a:ext cx="5932070" cy="1932706"/>
            </a:xfrm>
            <a:prstGeom prst="rect">
              <a:avLst/>
            </a:prstGeom>
          </p:spPr>
        </p:pic>
        <p:sp>
          <p:nvSpPr>
            <p:cNvPr id="21" name="object 4">
              <a:extLst>
                <a:ext uri="{FF2B5EF4-FFF2-40B4-BE49-F238E27FC236}">
                  <a16:creationId xmlns:a16="http://schemas.microsoft.com/office/drawing/2014/main" id="{B5933095-BB37-BF92-81EE-0350DDC9B5F6}"/>
                </a:ext>
              </a:extLst>
            </p:cNvPr>
            <p:cNvSpPr/>
            <p:nvPr/>
          </p:nvSpPr>
          <p:spPr>
            <a:xfrm>
              <a:off x="5420495" y="5017291"/>
              <a:ext cx="593725" cy="214629"/>
            </a:xfrm>
            <a:custGeom>
              <a:avLst/>
              <a:gdLst/>
              <a:ahLst/>
              <a:cxnLst/>
              <a:rect l="l" t="t" r="r" b="b"/>
              <a:pathLst>
                <a:path w="593725" h="214629">
                  <a:moveTo>
                    <a:pt x="0" y="0"/>
                  </a:moveTo>
                  <a:lnTo>
                    <a:pt x="593125" y="0"/>
                  </a:lnTo>
                  <a:lnTo>
                    <a:pt x="593125" y="214184"/>
                  </a:lnTo>
                  <a:lnTo>
                    <a:pt x="0" y="214184"/>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5">
              <a:extLst>
                <a:ext uri="{FF2B5EF4-FFF2-40B4-BE49-F238E27FC236}">
                  <a16:creationId xmlns:a16="http://schemas.microsoft.com/office/drawing/2014/main" id="{671EB21F-81F2-E998-2B30-766590A8E95C}"/>
                </a:ext>
              </a:extLst>
            </p:cNvPr>
            <p:cNvSpPr/>
            <p:nvPr/>
          </p:nvSpPr>
          <p:spPr>
            <a:xfrm>
              <a:off x="6075404" y="5005383"/>
              <a:ext cx="593725" cy="214629"/>
            </a:xfrm>
            <a:custGeom>
              <a:avLst/>
              <a:gdLst/>
              <a:ahLst/>
              <a:cxnLst/>
              <a:rect l="l" t="t" r="r" b="b"/>
              <a:pathLst>
                <a:path w="593725" h="214629">
                  <a:moveTo>
                    <a:pt x="0" y="0"/>
                  </a:moveTo>
                  <a:lnTo>
                    <a:pt x="593125" y="0"/>
                  </a:lnTo>
                  <a:lnTo>
                    <a:pt x="593125" y="214184"/>
                  </a:lnTo>
                  <a:lnTo>
                    <a:pt x="0" y="214184"/>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3" name="object 6">
            <a:extLst>
              <a:ext uri="{FF2B5EF4-FFF2-40B4-BE49-F238E27FC236}">
                <a16:creationId xmlns:a16="http://schemas.microsoft.com/office/drawing/2014/main" id="{365DE6AE-24A5-5D08-AC0D-C80C31C09BDF}"/>
              </a:ext>
            </a:extLst>
          </p:cNvPr>
          <p:cNvSpPr txBox="1">
            <a:spLocks/>
          </p:cNvSpPr>
          <p:nvPr/>
        </p:nvSpPr>
        <p:spPr>
          <a:xfrm>
            <a:off x="707390" y="554227"/>
            <a:ext cx="7614920" cy="57404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3600" b="1" i="0" u="none" strike="noStrike" kern="0" cap="none" spc="-10" normalizeH="0" baseline="0" noProof="0">
                <a:ln>
                  <a:noFill/>
                </a:ln>
                <a:solidFill>
                  <a:sysClr val="windowText" lastClr="000000"/>
                </a:solidFill>
                <a:effectLst/>
                <a:uLnTx/>
                <a:uFillTx/>
                <a:latin typeface="Palatino Linotype"/>
                <a:ea typeface="+mj-ea"/>
              </a:rPr>
              <a:t> </a:t>
            </a:r>
            <a:r>
              <a:rPr kumimoji="0" lang="en-US" sz="3600" b="1" i="0" u="none" strike="noStrike" kern="0" cap="none" spc="-70" normalizeH="0" baseline="0" noProof="0">
                <a:ln>
                  <a:noFill/>
                </a:ln>
                <a:solidFill>
                  <a:sysClr val="windowText" lastClr="000000"/>
                </a:solidFill>
                <a:effectLst/>
                <a:uLnTx/>
                <a:uFillTx/>
                <a:latin typeface="Palatino Linotype"/>
                <a:ea typeface="+mj-ea"/>
              </a:rPr>
              <a:t>Table</a:t>
            </a:r>
            <a:r>
              <a:rPr kumimoji="0" lang="en-US" sz="3600" b="1" i="0" u="none" strike="noStrike" kern="0" cap="none" spc="-5" normalizeH="0" baseline="0" noProof="0">
                <a:ln>
                  <a:noFill/>
                </a:ln>
                <a:solidFill>
                  <a:sysClr val="windowText" lastClr="000000"/>
                </a:solidFill>
                <a:effectLst/>
                <a:uLnTx/>
                <a:uFillTx/>
                <a:latin typeface="Palatino Linotype"/>
                <a:ea typeface="+mj-ea"/>
              </a:rPr>
              <a:t> Construction</a:t>
            </a:r>
            <a:r>
              <a:rPr kumimoji="0" lang="en-US" sz="3600" b="1" i="0" u="none" strike="noStrike" kern="0" cap="none" spc="0" normalizeH="0" baseline="0" noProof="0">
                <a:ln>
                  <a:noFill/>
                </a:ln>
                <a:solidFill>
                  <a:sysClr val="windowText" lastClr="000000"/>
                </a:solidFill>
                <a:effectLst/>
                <a:uLnTx/>
                <a:uFillTx/>
                <a:latin typeface="Palatino Linotype"/>
                <a:ea typeface="+mj-ea"/>
              </a:rPr>
              <a:t> Example</a:t>
            </a:r>
          </a:p>
        </p:txBody>
      </p:sp>
      <p:sp>
        <p:nvSpPr>
          <p:cNvPr id="24" name="object 7">
            <a:extLst>
              <a:ext uri="{FF2B5EF4-FFF2-40B4-BE49-F238E27FC236}">
                <a16:creationId xmlns:a16="http://schemas.microsoft.com/office/drawing/2014/main" id="{A047F08C-83CB-E450-BA31-26D6A09401AA}"/>
              </a:ext>
            </a:extLst>
          </p:cNvPr>
          <p:cNvSpPr txBox="1"/>
          <p:nvPr/>
        </p:nvSpPr>
        <p:spPr>
          <a:xfrm>
            <a:off x="707390" y="1498091"/>
            <a:ext cx="1369695" cy="330200"/>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2570" algn="l"/>
                <a:tab pos="243204" algn="l"/>
              </a:tabLst>
            </a:pPr>
            <a:r>
              <a:rPr sz="2000" b="1" kern="1200" spc="-5" dirty="0">
                <a:solidFill>
                  <a:srgbClr val="0432FF"/>
                </a:solidFill>
                <a:latin typeface="Palatino Linotype"/>
                <a:cs typeface="Palatino Linotype"/>
              </a:rPr>
              <a:t>Gr</a:t>
            </a:r>
            <a:r>
              <a:rPr sz="2000" b="1" kern="1200" dirty="0">
                <a:solidFill>
                  <a:srgbClr val="0432FF"/>
                </a:solidFill>
                <a:latin typeface="Palatino Linotype"/>
                <a:cs typeface="Palatino Linotype"/>
              </a:rPr>
              <a:t>a</a:t>
            </a:r>
            <a:r>
              <a:rPr sz="2000" b="1" kern="1200" spc="-5" dirty="0">
                <a:solidFill>
                  <a:srgbClr val="0432FF"/>
                </a:solidFill>
                <a:latin typeface="Palatino Linotype"/>
                <a:cs typeface="Palatino Linotype"/>
              </a:rPr>
              <a:t>mm</a:t>
            </a:r>
            <a:r>
              <a:rPr sz="2000" b="1" kern="1200" dirty="0">
                <a:solidFill>
                  <a:srgbClr val="0432FF"/>
                </a:solidFill>
                <a:latin typeface="Palatino Linotype"/>
                <a:cs typeface="Palatino Linotype"/>
              </a:rPr>
              <a:t>ar</a:t>
            </a:r>
            <a:endParaRPr sz="2000" kern="1200" dirty="0">
              <a:solidFill>
                <a:prstClr val="black"/>
              </a:solidFill>
              <a:latin typeface="Palatino Linotype"/>
              <a:cs typeface="Palatino Linotype"/>
            </a:endParaRPr>
          </a:p>
        </p:txBody>
      </p:sp>
      <p:sp>
        <p:nvSpPr>
          <p:cNvPr id="31" name="object 14">
            <a:extLst>
              <a:ext uri="{FF2B5EF4-FFF2-40B4-BE49-F238E27FC236}">
                <a16:creationId xmlns:a16="http://schemas.microsoft.com/office/drawing/2014/main" id="{0F7F4B63-3F1E-F2E1-F990-9A2A81E3AF52}"/>
              </a:ext>
            </a:extLst>
          </p:cNvPr>
          <p:cNvSpPr/>
          <p:nvPr/>
        </p:nvSpPr>
        <p:spPr>
          <a:xfrm>
            <a:off x="8188211" y="5336152"/>
            <a:ext cx="343535" cy="212090"/>
          </a:xfrm>
          <a:custGeom>
            <a:avLst/>
            <a:gdLst/>
            <a:ahLst/>
            <a:cxnLst/>
            <a:rect l="l" t="t" r="r" b="b"/>
            <a:pathLst>
              <a:path w="343534" h="212089">
                <a:moveTo>
                  <a:pt x="275706" y="0"/>
                </a:moveTo>
                <a:lnTo>
                  <a:pt x="272693" y="8595"/>
                </a:lnTo>
                <a:lnTo>
                  <a:pt x="284950" y="13914"/>
                </a:lnTo>
                <a:lnTo>
                  <a:pt x="295492" y="21278"/>
                </a:lnTo>
                <a:lnTo>
                  <a:pt x="316895" y="55409"/>
                </a:lnTo>
                <a:lnTo>
                  <a:pt x="323927" y="104813"/>
                </a:lnTo>
                <a:lnTo>
                  <a:pt x="323142" y="123488"/>
                </a:lnTo>
                <a:lnTo>
                  <a:pt x="311369" y="169217"/>
                </a:lnTo>
                <a:lnTo>
                  <a:pt x="285093" y="197806"/>
                </a:lnTo>
                <a:lnTo>
                  <a:pt x="273028" y="203150"/>
                </a:lnTo>
                <a:lnTo>
                  <a:pt x="275706" y="211745"/>
                </a:lnTo>
                <a:lnTo>
                  <a:pt x="316162" y="187708"/>
                </a:lnTo>
                <a:lnTo>
                  <a:pt x="338884" y="143335"/>
                </a:lnTo>
                <a:lnTo>
                  <a:pt x="343237" y="105929"/>
                </a:lnTo>
                <a:lnTo>
                  <a:pt x="342146" y="86517"/>
                </a:lnTo>
                <a:lnTo>
                  <a:pt x="325768" y="37114"/>
                </a:lnTo>
                <a:lnTo>
                  <a:pt x="291058" y="5542"/>
                </a:lnTo>
                <a:lnTo>
                  <a:pt x="275706" y="0"/>
                </a:lnTo>
                <a:close/>
              </a:path>
              <a:path w="343534" h="212089">
                <a:moveTo>
                  <a:pt x="67529" y="0"/>
                </a:moveTo>
                <a:lnTo>
                  <a:pt x="27147" y="24099"/>
                </a:lnTo>
                <a:lnTo>
                  <a:pt x="4367" y="68577"/>
                </a:lnTo>
                <a:lnTo>
                  <a:pt x="0" y="105929"/>
                </a:lnTo>
                <a:lnTo>
                  <a:pt x="1088" y="125382"/>
                </a:lnTo>
                <a:lnTo>
                  <a:pt x="17412" y="174743"/>
                </a:lnTo>
                <a:lnTo>
                  <a:pt x="52133" y="206209"/>
                </a:lnTo>
                <a:lnTo>
                  <a:pt x="67529" y="211745"/>
                </a:lnTo>
                <a:lnTo>
                  <a:pt x="70209" y="203150"/>
                </a:lnTo>
                <a:lnTo>
                  <a:pt x="58143" y="197806"/>
                </a:lnTo>
                <a:lnTo>
                  <a:pt x="47731" y="190370"/>
                </a:lnTo>
                <a:lnTo>
                  <a:pt x="26373" y="155690"/>
                </a:lnTo>
                <a:lnTo>
                  <a:pt x="19310" y="104813"/>
                </a:lnTo>
                <a:lnTo>
                  <a:pt x="20095" y="86747"/>
                </a:lnTo>
                <a:lnTo>
                  <a:pt x="31866" y="42137"/>
                </a:lnTo>
                <a:lnTo>
                  <a:pt x="58331" y="13914"/>
                </a:lnTo>
                <a:lnTo>
                  <a:pt x="70543" y="8595"/>
                </a:lnTo>
                <a:lnTo>
                  <a:pt x="6752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15">
            <a:extLst>
              <a:ext uri="{FF2B5EF4-FFF2-40B4-BE49-F238E27FC236}">
                <a16:creationId xmlns:a16="http://schemas.microsoft.com/office/drawing/2014/main" id="{C1D27F2A-1933-74E0-5BB1-E82EDA5BD9D4}"/>
              </a:ext>
            </a:extLst>
          </p:cNvPr>
          <p:cNvSpPr txBox="1"/>
          <p:nvPr/>
        </p:nvSpPr>
        <p:spPr>
          <a:xfrm>
            <a:off x="6999058" y="4312411"/>
            <a:ext cx="1600835" cy="1659255"/>
          </a:xfrm>
          <a:prstGeom prst="rect">
            <a:avLst/>
          </a:prstGeom>
        </p:spPr>
        <p:txBody>
          <a:bodyPr vert="horz" wrap="square" lIns="0" tIns="12700" rIns="0" bIns="0" rtlCol="0">
            <a:spAutoFit/>
          </a:bodyPr>
          <a:lstStyle/>
          <a:p>
            <a:pPr marL="12700" rtl="0">
              <a:spcBef>
                <a:spcPts val="100"/>
              </a:spcBef>
            </a:pPr>
            <a:r>
              <a:rPr kern="1200" spc="-5" dirty="0">
                <a:solidFill>
                  <a:srgbClr val="FF0000"/>
                </a:solidFill>
                <a:latin typeface="Palatino Linotype"/>
                <a:cs typeface="Palatino Linotype"/>
              </a:rPr>
              <a:t>For</a:t>
            </a:r>
            <a:r>
              <a:rPr kern="1200" spc="-20" dirty="0">
                <a:solidFill>
                  <a:srgbClr val="FF0000"/>
                </a:solidFill>
                <a:latin typeface="Palatino Linotype"/>
                <a:cs typeface="Palatino Linotype"/>
              </a:rPr>
              <a:t> </a:t>
            </a:r>
            <a:r>
              <a:rPr kern="1200" dirty="0">
                <a:solidFill>
                  <a:srgbClr val="FF0000"/>
                </a:solidFill>
                <a:latin typeface="Cambria Math"/>
                <a:cs typeface="Cambria Math"/>
              </a:rPr>
              <a:t>𝐸′</a:t>
            </a:r>
            <a:r>
              <a:rPr kern="1200" spc="80" dirty="0">
                <a:solidFill>
                  <a:srgbClr val="FF0000"/>
                </a:solidFill>
                <a:latin typeface="Cambria Math"/>
                <a:cs typeface="Cambria Math"/>
              </a:rPr>
              <a:t> </a:t>
            </a:r>
            <a:r>
              <a:rPr kern="1200" dirty="0">
                <a:solidFill>
                  <a:srgbClr val="FF0000"/>
                </a:solidFill>
                <a:latin typeface="Cambria Math"/>
                <a:cs typeface="Cambria Math"/>
              </a:rPr>
              <a:t>→</a:t>
            </a:r>
            <a:r>
              <a:rPr kern="1200" spc="80" dirty="0">
                <a:solidFill>
                  <a:srgbClr val="FF0000"/>
                </a:solidFill>
                <a:latin typeface="Cambria Math"/>
                <a:cs typeface="Cambria Math"/>
              </a:rPr>
              <a:t> </a:t>
            </a:r>
            <a:r>
              <a:rPr kern="1200" spc="25" dirty="0">
                <a:solidFill>
                  <a:srgbClr val="FF0000"/>
                </a:solidFill>
                <a:latin typeface="Cambria Math"/>
                <a:cs typeface="Cambria Math"/>
              </a:rPr>
              <a:t>𝜖</a:t>
            </a:r>
            <a:r>
              <a:rPr kern="1200" spc="25" dirty="0">
                <a:solidFill>
                  <a:srgbClr val="FF0000"/>
                </a:solidFill>
                <a:cs typeface="Calibri"/>
              </a:rPr>
              <a:t>:</a:t>
            </a:r>
            <a:endParaRPr kern="1200" dirty="0">
              <a:solidFill>
                <a:prstClr val="black"/>
              </a:solidFill>
              <a:cs typeface="Calibri"/>
            </a:endParaRPr>
          </a:p>
          <a:p>
            <a:pPr marL="297180" marR="5080" rtl="0">
              <a:lnSpc>
                <a:spcPts val="3910"/>
              </a:lnSpc>
              <a:spcBef>
                <a:spcPts val="110"/>
              </a:spcBef>
            </a:pPr>
            <a:r>
              <a:rPr kern="1200" dirty="0">
                <a:solidFill>
                  <a:prstClr val="black"/>
                </a:solidFill>
                <a:latin typeface="Cambria Math"/>
                <a:cs typeface="Cambria Math"/>
              </a:rPr>
              <a:t>𝜖</a:t>
            </a:r>
            <a:r>
              <a:rPr kern="1200" spc="25" dirty="0">
                <a:solidFill>
                  <a:prstClr val="black"/>
                </a:solidFill>
                <a:latin typeface="Cambria Math"/>
                <a:cs typeface="Cambria Math"/>
              </a:rPr>
              <a:t> </a:t>
            </a:r>
            <a:r>
              <a:rPr kern="1200" spc="-5" dirty="0">
                <a:solidFill>
                  <a:prstClr val="black"/>
                </a:solidFill>
                <a:latin typeface="Cambria Math"/>
                <a:cs typeface="Cambria Math"/>
              </a:rPr>
              <a:t>in</a:t>
            </a:r>
            <a:r>
              <a:rPr kern="1200" spc="-30" dirty="0">
                <a:solidFill>
                  <a:prstClr val="black"/>
                </a:solidFill>
                <a:latin typeface="Cambria Math"/>
                <a:cs typeface="Cambria Math"/>
              </a:rPr>
              <a:t> </a:t>
            </a:r>
            <a:r>
              <a:rPr kern="1200" spc="-5" dirty="0">
                <a:solidFill>
                  <a:prstClr val="black"/>
                </a:solidFill>
                <a:latin typeface="Cambria Math"/>
                <a:cs typeface="Cambria Math"/>
              </a:rPr>
              <a:t>FIRST(𝜖) </a:t>
            </a:r>
            <a:r>
              <a:rPr kern="1200" spc="-380" dirty="0">
                <a:solidFill>
                  <a:prstClr val="black"/>
                </a:solidFill>
                <a:latin typeface="Cambria Math"/>
                <a:cs typeface="Cambria Math"/>
              </a:rPr>
              <a:t> </a:t>
            </a:r>
            <a:r>
              <a:rPr kern="1200" spc="-10" dirty="0">
                <a:solidFill>
                  <a:prstClr val="black"/>
                </a:solidFill>
                <a:latin typeface="Cambria Math"/>
                <a:cs typeface="Cambria Math"/>
              </a:rPr>
              <a:t>FOLLOW</a:t>
            </a:r>
            <a:r>
              <a:rPr kern="1200" spc="305" dirty="0">
                <a:solidFill>
                  <a:prstClr val="black"/>
                </a:solidFill>
                <a:latin typeface="Cambria Math"/>
                <a:cs typeface="Cambria Math"/>
              </a:rPr>
              <a:t> </a:t>
            </a:r>
            <a:r>
              <a:rPr kern="1200" dirty="0">
                <a:solidFill>
                  <a:prstClr val="black"/>
                </a:solidFill>
                <a:latin typeface="Cambria Math"/>
                <a:cs typeface="Cambria Math"/>
              </a:rPr>
              <a:t>𝐸</a:t>
            </a:r>
            <a:r>
              <a:rPr lang="en-US" altLang="zh-CN" sz="1800" kern="1200" dirty="0">
                <a:solidFill>
                  <a:prstClr val="black"/>
                </a:solidFill>
                <a:latin typeface="Cambria Math"/>
                <a:cs typeface="Cambria Math"/>
              </a:rPr>
              <a:t>′</a:t>
            </a:r>
            <a:endParaRPr kern="1200" dirty="0">
              <a:solidFill>
                <a:prstClr val="black"/>
              </a:solidFill>
              <a:latin typeface="Cambria Math"/>
              <a:cs typeface="Cambria Math"/>
            </a:endParaRPr>
          </a:p>
          <a:p>
            <a:pPr marL="297180" rtl="0">
              <a:spcBef>
                <a:spcPts val="615"/>
              </a:spcBef>
            </a:pPr>
            <a:r>
              <a:rPr kern="1200" dirty="0">
                <a:solidFill>
                  <a:prstClr val="black"/>
                </a:solidFill>
                <a:cs typeface="Calibri"/>
              </a:rPr>
              <a:t>=</a:t>
            </a:r>
            <a:r>
              <a:rPr kern="1200" spc="5" dirty="0">
                <a:solidFill>
                  <a:prstClr val="black"/>
                </a:solidFill>
                <a:cs typeface="Calibri"/>
              </a:rPr>
              <a:t> </a:t>
            </a:r>
            <a:r>
              <a:rPr kern="1200" dirty="0">
                <a:solidFill>
                  <a:prstClr val="black"/>
                </a:solidFill>
                <a:latin typeface="Cambria Math"/>
                <a:cs typeface="Cambria Math"/>
              </a:rPr>
              <a:t>{</a:t>
            </a:r>
            <a:r>
              <a:rPr kern="1200" dirty="0">
                <a:solidFill>
                  <a:srgbClr val="FF0000"/>
                </a:solidFill>
                <a:latin typeface="Cambria Math"/>
                <a:cs typeface="Cambria Math"/>
              </a:rPr>
              <a:t>$</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dirty="0">
                <a:solidFill>
                  <a:srgbClr val="FF0000"/>
                </a:solidFill>
                <a:latin typeface="Cambria Math"/>
                <a:cs typeface="Cambria Math"/>
              </a:rPr>
              <a:t>)</a:t>
            </a:r>
            <a:r>
              <a:rPr kern="1200" dirty="0">
                <a:solidFill>
                  <a:prstClr val="black"/>
                </a:solidFill>
                <a:latin typeface="Cambria Math"/>
                <a:cs typeface="Cambria Math"/>
              </a:rPr>
              <a:t>}</a:t>
            </a:r>
          </a:p>
        </p:txBody>
      </p:sp>
      <p:sp>
        <p:nvSpPr>
          <p:cNvPr id="11" name="object 8">
            <a:extLst>
              <a:ext uri="{FF2B5EF4-FFF2-40B4-BE49-F238E27FC236}">
                <a16:creationId xmlns:a16="http://schemas.microsoft.com/office/drawing/2014/main" id="{61D00FB1-4D24-E718-55A1-7853D3ECA47A}"/>
              </a:ext>
            </a:extLst>
          </p:cNvPr>
          <p:cNvSpPr txBox="1"/>
          <p:nvPr/>
        </p:nvSpPr>
        <p:spPr bwMode="auto">
          <a:xfrm>
            <a:off x="1164589" y="1797812"/>
            <a:ext cx="1063625" cy="836294"/>
          </a:xfrm>
          <a:prstGeom prst="rect">
            <a:avLst/>
          </a:prstGeom>
        </p:spPr>
        <p:txBody>
          <a:bodyPr vert="horz" wrap="square" lIns="0" tIns="143510" rIns="0" bIns="0" rtlCol="0">
            <a:spAutoFit/>
          </a:bodyPr>
          <a:lstStyle/>
          <a:p>
            <a:pPr marL="241300" indent="-228600" rtl="0">
              <a:spcBef>
                <a:spcPts val="1130"/>
              </a:spcBef>
              <a:buFont typeface="Wingdings"/>
              <a:buChar char=""/>
              <a:tabLst>
                <a:tab pos="241300" algn="l"/>
              </a:tabLst>
            </a:pPr>
            <a:r>
              <a:rPr kern="1200" dirty="0">
                <a:solidFill>
                  <a:prstClr val="black"/>
                </a:solidFill>
                <a:latin typeface="Cambria Math"/>
                <a:cs typeface="Cambria Math"/>
              </a:rPr>
              <a:t>𝐸</a:t>
            </a:r>
            <a:r>
              <a:rPr kern="1200" spc="120" dirty="0">
                <a:solidFill>
                  <a:prstClr val="black"/>
                </a:solidFill>
                <a:latin typeface="Cambria Math"/>
                <a:cs typeface="Cambria Math"/>
              </a:rPr>
              <a:t> </a:t>
            </a:r>
            <a:r>
              <a:rPr kern="1200" dirty="0">
                <a:solidFill>
                  <a:prstClr val="black"/>
                </a:solidFill>
                <a:latin typeface="Cambria Math"/>
                <a:cs typeface="Cambria Math"/>
              </a:rPr>
              <a:t>→</a:t>
            </a:r>
            <a:r>
              <a:rPr kern="1200" spc="60" dirty="0">
                <a:solidFill>
                  <a:prstClr val="black"/>
                </a:solidFill>
                <a:latin typeface="Cambria Math"/>
                <a:cs typeface="Cambria Math"/>
              </a:rPr>
              <a:t> </a:t>
            </a:r>
            <a:r>
              <a:rPr kern="1200" dirty="0">
                <a:solidFill>
                  <a:prstClr val="black"/>
                </a:solidFill>
                <a:latin typeface="Cambria Math"/>
                <a:cs typeface="Cambria Math"/>
              </a:rPr>
              <a:t>𝑇𝐸′</a:t>
            </a:r>
          </a:p>
          <a:p>
            <a:pPr marL="241300" indent="-228600" rtl="0">
              <a:spcBef>
                <a:spcPts val="1030"/>
              </a:spcBef>
              <a:buFont typeface="Wingdings"/>
              <a:buChar char=""/>
              <a:tabLst>
                <a:tab pos="241300" algn="l"/>
              </a:tabLst>
            </a:pPr>
            <a:r>
              <a:rPr kern="1200" dirty="0">
                <a:solidFill>
                  <a:prstClr val="black"/>
                </a:solidFill>
                <a:latin typeface="Cambria Math"/>
                <a:cs typeface="Cambria Math"/>
              </a:rPr>
              <a:t>𝑇</a:t>
            </a:r>
            <a:r>
              <a:rPr kern="1200" spc="90" dirty="0">
                <a:solidFill>
                  <a:prstClr val="black"/>
                </a:solidFill>
                <a:latin typeface="Cambria Math"/>
                <a:cs typeface="Cambria Math"/>
              </a:rPr>
              <a:t> </a:t>
            </a:r>
            <a:r>
              <a:rPr kern="1200" dirty="0">
                <a:solidFill>
                  <a:prstClr val="black"/>
                </a:solidFill>
                <a:latin typeface="Cambria Math"/>
                <a:cs typeface="Cambria Math"/>
              </a:rPr>
              <a:t>→</a:t>
            </a:r>
            <a:r>
              <a:rPr kern="1200" spc="60" dirty="0">
                <a:solidFill>
                  <a:prstClr val="black"/>
                </a:solidFill>
                <a:latin typeface="Cambria Math"/>
                <a:cs typeface="Cambria Math"/>
              </a:rPr>
              <a:t> </a:t>
            </a:r>
            <a:r>
              <a:rPr kern="1200" dirty="0">
                <a:solidFill>
                  <a:prstClr val="black"/>
                </a:solidFill>
                <a:latin typeface="Cambria Math"/>
                <a:cs typeface="Cambria Math"/>
              </a:rPr>
              <a:t>𝐹𝑇′</a:t>
            </a:r>
          </a:p>
        </p:txBody>
      </p:sp>
      <p:sp>
        <p:nvSpPr>
          <p:cNvPr id="12" name="object 9">
            <a:extLst>
              <a:ext uri="{FF2B5EF4-FFF2-40B4-BE49-F238E27FC236}">
                <a16:creationId xmlns:a16="http://schemas.microsoft.com/office/drawing/2014/main" id="{86AFF5D0-83C2-DFE0-3A7C-3C323E72E6BD}"/>
              </a:ext>
            </a:extLst>
          </p:cNvPr>
          <p:cNvSpPr txBox="1"/>
          <p:nvPr/>
        </p:nvSpPr>
        <p:spPr bwMode="auto">
          <a:xfrm>
            <a:off x="2510789" y="1797812"/>
            <a:ext cx="1429385" cy="888705"/>
          </a:xfrm>
          <a:prstGeom prst="rect">
            <a:avLst/>
          </a:prstGeom>
        </p:spPr>
        <p:txBody>
          <a:bodyPr vert="horz" wrap="square" lIns="0" tIns="143510" rIns="0" bIns="0" rtlCol="0">
            <a:spAutoFit/>
          </a:bodyPr>
          <a:lstStyle/>
          <a:p>
            <a:pPr marL="38100" rtl="0">
              <a:spcBef>
                <a:spcPts val="1130"/>
              </a:spcBef>
            </a:pPr>
            <a:r>
              <a:rPr kern="1200" spc="-140" dirty="0">
                <a:solidFill>
                  <a:prstClr val="black"/>
                </a:solidFill>
                <a:latin typeface="Cambria Math"/>
                <a:cs typeface="Cambria Math"/>
              </a:rPr>
              <a:t>𝐸</a:t>
            </a:r>
            <a:r>
              <a:rPr lang="en-US" altLang="zh-CN" sz="2000" kern="1200" dirty="0">
                <a:solidFill>
                  <a:prstClr val="black"/>
                </a:solidFill>
                <a:latin typeface="Cambria Math"/>
                <a:cs typeface="Cambria Math"/>
              </a:rPr>
              <a:t>′</a:t>
            </a:r>
            <a:r>
              <a:rPr kern="1200" dirty="0">
                <a:solidFill>
                  <a:prstClr val="black"/>
                </a:solidFill>
                <a:latin typeface="Cambria Math"/>
                <a:cs typeface="Cambria Math"/>
              </a:rPr>
              <a:t>→</a:t>
            </a:r>
            <a:r>
              <a:rPr kern="1200" spc="85" dirty="0">
                <a:solidFill>
                  <a:prstClr val="black"/>
                </a:solidFill>
                <a:latin typeface="Cambria Math"/>
                <a:cs typeface="Cambria Math"/>
              </a:rPr>
              <a:t> </a:t>
            </a:r>
            <a:r>
              <a:rPr kern="1200" spc="-60" dirty="0">
                <a:solidFill>
                  <a:prstClr val="black"/>
                </a:solidFill>
                <a:latin typeface="Cambria Math"/>
                <a:cs typeface="Cambria Math"/>
              </a:rPr>
              <a:t>+𝑇𝐸</a:t>
            </a:r>
            <a:r>
              <a:rPr lang="en-US" altLang="zh-CN" sz="2000" kern="1200" dirty="0">
                <a:solidFill>
                  <a:prstClr val="black"/>
                </a:solidFill>
                <a:latin typeface="Cambria Math"/>
                <a:cs typeface="Cambria Math"/>
              </a:rPr>
              <a:t>′</a:t>
            </a:r>
            <a:r>
              <a:rPr sz="1950" kern="1200" spc="254" baseline="27777"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𝜖</a:t>
            </a:r>
          </a:p>
          <a:p>
            <a:pPr marL="38100" rtl="0">
              <a:spcBef>
                <a:spcPts val="1030"/>
              </a:spcBef>
            </a:pPr>
            <a:r>
              <a:rPr kern="1200" spc="-125" dirty="0">
                <a:solidFill>
                  <a:prstClr val="black"/>
                </a:solidFill>
                <a:latin typeface="Cambria Math"/>
                <a:cs typeface="Cambria Math"/>
              </a:rPr>
              <a:t>𝑇</a:t>
            </a:r>
            <a:r>
              <a:rPr lang="en-US" altLang="zh-CN" sz="2000" kern="1200" dirty="0">
                <a:solidFill>
                  <a:prstClr val="black"/>
                </a:solidFill>
                <a:latin typeface="Cambria Math"/>
                <a:cs typeface="Cambria Math"/>
              </a:rPr>
              <a:t>′</a:t>
            </a:r>
            <a:r>
              <a:rPr sz="1950" kern="1200" spc="-75" baseline="27777"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spc="-60" dirty="0">
                <a:solidFill>
                  <a:prstClr val="black"/>
                </a:solidFill>
                <a:latin typeface="Cambria Math"/>
                <a:cs typeface="Cambria Math"/>
              </a:rPr>
              <a:t>𝐹𝑇</a:t>
            </a:r>
            <a:r>
              <a:rPr lang="en-US" altLang="zh-CN" sz="2000" kern="1200" dirty="0">
                <a:solidFill>
                  <a:prstClr val="black"/>
                </a:solidFill>
                <a:latin typeface="Cambria Math"/>
                <a:cs typeface="Cambria Math"/>
              </a:rPr>
              <a:t>′</a:t>
            </a:r>
            <a:r>
              <a:rPr sz="1950" kern="1200" spc="254" baseline="27777"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𝜖</a:t>
            </a:r>
          </a:p>
        </p:txBody>
      </p:sp>
      <p:sp>
        <p:nvSpPr>
          <p:cNvPr id="13" name="object 10">
            <a:extLst>
              <a:ext uri="{FF2B5EF4-FFF2-40B4-BE49-F238E27FC236}">
                <a16:creationId xmlns:a16="http://schemas.microsoft.com/office/drawing/2014/main" id="{0D536C5C-CD8E-6339-F939-C7F112AA8A42}"/>
              </a:ext>
            </a:extLst>
          </p:cNvPr>
          <p:cNvSpPr/>
          <p:nvPr/>
        </p:nvSpPr>
        <p:spPr bwMode="auto">
          <a:xfrm>
            <a:off x="4865522" y="2405169"/>
            <a:ext cx="301625" cy="212090"/>
          </a:xfrm>
          <a:custGeom>
            <a:avLst/>
            <a:gdLst/>
            <a:ahLst/>
            <a:cxnLst/>
            <a:rect l="l" t="t" r="r" b="b"/>
            <a:pathLst>
              <a:path w="301625" h="212089">
                <a:moveTo>
                  <a:pt x="233861" y="0"/>
                </a:moveTo>
                <a:lnTo>
                  <a:pt x="230847" y="8594"/>
                </a:lnTo>
                <a:lnTo>
                  <a:pt x="243104" y="13913"/>
                </a:lnTo>
                <a:lnTo>
                  <a:pt x="253645" y="21277"/>
                </a:lnTo>
                <a:lnTo>
                  <a:pt x="275049" y="55409"/>
                </a:lnTo>
                <a:lnTo>
                  <a:pt x="282080" y="104811"/>
                </a:lnTo>
                <a:lnTo>
                  <a:pt x="281296" y="123487"/>
                </a:lnTo>
                <a:lnTo>
                  <a:pt x="269524" y="169217"/>
                </a:lnTo>
                <a:lnTo>
                  <a:pt x="243247" y="197806"/>
                </a:lnTo>
                <a:lnTo>
                  <a:pt x="231181" y="203150"/>
                </a:lnTo>
                <a:lnTo>
                  <a:pt x="233861" y="211744"/>
                </a:lnTo>
                <a:lnTo>
                  <a:pt x="274317" y="187708"/>
                </a:lnTo>
                <a:lnTo>
                  <a:pt x="297039" y="143335"/>
                </a:lnTo>
                <a:lnTo>
                  <a:pt x="301392" y="105928"/>
                </a:lnTo>
                <a:lnTo>
                  <a:pt x="300300" y="86516"/>
                </a:lnTo>
                <a:lnTo>
                  <a:pt x="283923" y="37114"/>
                </a:lnTo>
                <a:lnTo>
                  <a:pt x="249212" y="5542"/>
                </a:lnTo>
                <a:lnTo>
                  <a:pt x="233861" y="0"/>
                </a:lnTo>
                <a:close/>
              </a:path>
              <a:path w="301625" h="212089">
                <a:moveTo>
                  <a:pt x="67530" y="0"/>
                </a:moveTo>
                <a:lnTo>
                  <a:pt x="27148" y="24099"/>
                </a:lnTo>
                <a:lnTo>
                  <a:pt x="4367" y="68577"/>
                </a:lnTo>
                <a:lnTo>
                  <a:pt x="0" y="105928"/>
                </a:lnTo>
                <a:lnTo>
                  <a:pt x="1088" y="125381"/>
                </a:lnTo>
                <a:lnTo>
                  <a:pt x="17412" y="174743"/>
                </a:lnTo>
                <a:lnTo>
                  <a:pt x="52134" y="206209"/>
                </a:lnTo>
                <a:lnTo>
                  <a:pt x="67530" y="211744"/>
                </a:lnTo>
                <a:lnTo>
                  <a:pt x="70209" y="203150"/>
                </a:lnTo>
                <a:lnTo>
                  <a:pt x="58144" y="197806"/>
                </a:lnTo>
                <a:lnTo>
                  <a:pt x="47732" y="190369"/>
                </a:lnTo>
                <a:lnTo>
                  <a:pt x="26374" y="155690"/>
                </a:lnTo>
                <a:lnTo>
                  <a:pt x="19310" y="104811"/>
                </a:lnTo>
                <a:lnTo>
                  <a:pt x="20095" y="86747"/>
                </a:lnTo>
                <a:lnTo>
                  <a:pt x="31868" y="42137"/>
                </a:lnTo>
                <a:lnTo>
                  <a:pt x="58332" y="13913"/>
                </a:lnTo>
                <a:lnTo>
                  <a:pt x="70544" y="8594"/>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4" name="object 11">
            <a:extLst>
              <a:ext uri="{FF2B5EF4-FFF2-40B4-BE49-F238E27FC236}">
                <a16:creationId xmlns:a16="http://schemas.microsoft.com/office/drawing/2014/main" id="{106ECE27-DA8E-CBFC-9195-D155471306D7}"/>
              </a:ext>
            </a:extLst>
          </p:cNvPr>
          <p:cNvSpPr txBox="1"/>
          <p:nvPr/>
        </p:nvSpPr>
        <p:spPr bwMode="auto">
          <a:xfrm>
            <a:off x="4364990" y="2334259"/>
            <a:ext cx="1452880" cy="1492716"/>
          </a:xfrm>
          <a:prstGeom prst="rect">
            <a:avLst/>
          </a:prstGeom>
        </p:spPr>
        <p:txBody>
          <a:bodyPr vert="horz" wrap="square" lIns="0" tIns="12700" rIns="0" bIns="0" rtlCol="0">
            <a:spAutoFit/>
          </a:bodyPr>
          <a:lstStyle/>
          <a:p>
            <a:pPr marL="12700" rtl="0">
              <a:spcBef>
                <a:spcPts val="100"/>
              </a:spcBef>
              <a:tabLst>
                <a:tab pos="574675" algn="l"/>
                <a:tab pos="872490" algn="l"/>
              </a:tabLst>
            </a:pPr>
            <a:r>
              <a:rPr kern="1200" dirty="0">
                <a:solidFill>
                  <a:prstClr val="black"/>
                </a:solidFill>
                <a:latin typeface="Cambria Math"/>
                <a:cs typeface="Cambria Math"/>
              </a:rPr>
              <a:t>𝐹</a:t>
            </a:r>
            <a:r>
              <a:rPr kern="1200" spc="170" dirty="0">
                <a:solidFill>
                  <a:prstClr val="black"/>
                </a:solidFill>
                <a:latin typeface="Cambria Math"/>
                <a:cs typeface="Cambria Math"/>
              </a:rPr>
              <a:t> </a:t>
            </a:r>
            <a:r>
              <a:rPr kern="1200" dirty="0">
                <a:solidFill>
                  <a:prstClr val="black"/>
                </a:solidFill>
                <a:latin typeface="Cambria Math"/>
                <a:cs typeface="Cambria Math"/>
              </a:rPr>
              <a:t>→	𝐸	|</a:t>
            </a:r>
            <a:r>
              <a:rPr kern="1200" spc="-40" dirty="0">
                <a:solidFill>
                  <a:prstClr val="black"/>
                </a:solidFill>
                <a:latin typeface="Cambria Math"/>
                <a:cs typeface="Cambria Math"/>
              </a:rPr>
              <a:t> </a:t>
            </a:r>
            <a:r>
              <a:rPr kern="1200" spc="-5" dirty="0">
                <a:solidFill>
                  <a:prstClr val="black"/>
                </a:solidFill>
                <a:latin typeface="Cambria Math"/>
                <a:cs typeface="Cambria Math"/>
              </a:rPr>
              <a:t>𝐢𝐝</a:t>
            </a:r>
            <a:endParaRPr kern="1200" dirty="0">
              <a:solidFill>
                <a:prstClr val="black"/>
              </a:solidFill>
              <a:latin typeface="Cambria Math"/>
              <a:cs typeface="Cambria Math"/>
            </a:endParaRPr>
          </a:p>
          <a:p>
            <a:pPr rtl="0">
              <a:spcBef>
                <a:spcPts val="20"/>
              </a:spcBef>
            </a:pPr>
            <a:endParaRPr sz="1900" kern="1200" dirty="0">
              <a:solidFill>
                <a:prstClr val="black"/>
              </a:solidFill>
              <a:latin typeface="Cambria Math"/>
              <a:cs typeface="Cambria Math"/>
            </a:endParaRPr>
          </a:p>
          <a:p>
            <a:pPr marL="12700" rtl="0"/>
            <a:r>
              <a:rPr sz="2000" kern="1200" dirty="0">
                <a:solidFill>
                  <a:prstClr val="black"/>
                </a:solidFill>
                <a:latin typeface="Cambria Math"/>
                <a:cs typeface="Cambria Math"/>
              </a:rPr>
              <a:t>𝐸</a:t>
            </a:r>
            <a:r>
              <a:rPr lang="en-US" altLang="zh-CN" sz="2000" kern="1200" dirty="0">
                <a:solidFill>
                  <a:prstClr val="black"/>
                </a:solidFill>
                <a:latin typeface="Cambria Math"/>
                <a:cs typeface="Cambria Math"/>
              </a:rPr>
              <a:t>′ </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5" dirty="0">
                <a:solidFill>
                  <a:prstClr val="black"/>
                </a:solidFill>
                <a:latin typeface="Cambria Math"/>
                <a:cs typeface="Cambria Math"/>
              </a:rPr>
              <a:t>𝜖</a:t>
            </a:r>
            <a:r>
              <a:rPr sz="2000" kern="1200" dirty="0">
                <a:solidFill>
                  <a:prstClr val="black"/>
                </a:solidFill>
                <a:latin typeface="Cambria Math"/>
                <a:cs typeface="Cambria Math"/>
              </a:rPr>
              <a:t>}</a:t>
            </a:r>
          </a:p>
          <a:p>
            <a:pPr marL="12700" rtl="0">
              <a:spcBef>
                <a:spcPts val="2305"/>
              </a:spcBef>
            </a:pPr>
            <a:r>
              <a:rPr sz="2000" kern="1200" spc="40" dirty="0">
                <a:solidFill>
                  <a:prstClr val="black"/>
                </a:solidFill>
                <a:latin typeface="Cambria Math"/>
                <a:cs typeface="Cambria Math"/>
              </a:rPr>
              <a:t>𝑇</a:t>
            </a:r>
            <a:r>
              <a:rPr sz="2000" kern="1200" dirty="0">
                <a:solidFill>
                  <a:prstClr val="black"/>
                </a:solidFill>
                <a:latin typeface="Palatino Linotype"/>
                <a:cs typeface="Palatino Linotype"/>
              </a:rPr>
              <a:t>, </a:t>
            </a:r>
            <a:r>
              <a:rPr sz="2000" kern="1200" spc="-5" dirty="0">
                <a:solidFill>
                  <a:prstClr val="black"/>
                </a:solidFill>
                <a:latin typeface="Cambria Math"/>
                <a:cs typeface="Cambria Math"/>
              </a:rPr>
              <a:t>𝑇</a:t>
            </a:r>
            <a:r>
              <a:rPr lang="en-US" altLang="zh-CN" sz="2000" kern="1200" dirty="0">
                <a:solidFill>
                  <a:prstClr val="black"/>
                </a:solidFill>
                <a:latin typeface="Cambria Math"/>
                <a:cs typeface="Cambria Math"/>
              </a:rPr>
              <a:t>′</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p>
        </p:txBody>
      </p:sp>
      <p:sp>
        <p:nvSpPr>
          <p:cNvPr id="15" name="object 12">
            <a:extLst>
              <a:ext uri="{FF2B5EF4-FFF2-40B4-BE49-F238E27FC236}">
                <a16:creationId xmlns:a16="http://schemas.microsoft.com/office/drawing/2014/main" id="{99929F5C-F914-4BDC-59C4-2E2203EE3DC6}"/>
              </a:ext>
            </a:extLst>
          </p:cNvPr>
          <p:cNvSpPr txBox="1"/>
          <p:nvPr/>
        </p:nvSpPr>
        <p:spPr bwMode="auto">
          <a:xfrm>
            <a:off x="707390" y="2894076"/>
            <a:ext cx="3362325" cy="923330"/>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2570" algn="l"/>
                <a:tab pos="243204" algn="l"/>
                <a:tab pos="1840864" algn="l"/>
              </a:tabLst>
            </a:pPr>
            <a:r>
              <a:rPr sz="2000" b="1" kern="1200" spc="-5" dirty="0">
                <a:solidFill>
                  <a:srgbClr val="0432FF"/>
                </a:solidFill>
                <a:latin typeface="Palatino Linotype"/>
                <a:cs typeface="Palatino Linotype"/>
              </a:rPr>
              <a:t>FIR</a:t>
            </a:r>
            <a:r>
              <a:rPr sz="2000" b="1" kern="1200" dirty="0">
                <a:solidFill>
                  <a:srgbClr val="0432FF"/>
                </a:solidFill>
                <a:latin typeface="Palatino Linotype"/>
                <a:cs typeface="Palatino Linotype"/>
              </a:rPr>
              <a:t>ST </a:t>
            </a:r>
            <a:r>
              <a:rPr sz="2000" b="1" kern="1200" spc="-5" dirty="0">
                <a:solidFill>
                  <a:srgbClr val="0432FF"/>
                </a:solidFill>
                <a:latin typeface="Palatino Linotype"/>
                <a:cs typeface="Palatino Linotype"/>
              </a:rPr>
              <a:t>s</a:t>
            </a:r>
            <a:r>
              <a:rPr sz="2000" b="1" kern="1200" dirty="0">
                <a:solidFill>
                  <a:srgbClr val="0432FF"/>
                </a:solidFill>
                <a:latin typeface="Palatino Linotype"/>
                <a:cs typeface="Palatino Linotype"/>
              </a:rPr>
              <a:t>e</a:t>
            </a:r>
            <a:r>
              <a:rPr sz="2000" b="1" kern="1200" spc="-5" dirty="0">
                <a:solidFill>
                  <a:srgbClr val="0432FF"/>
                </a:solidFill>
                <a:latin typeface="Palatino Linotype"/>
                <a:cs typeface="Palatino Linotype"/>
              </a:rPr>
              <a:t>ts</a:t>
            </a:r>
            <a:r>
              <a:rPr sz="2000" b="1" kern="1200" dirty="0">
                <a:solidFill>
                  <a:srgbClr val="0432FF"/>
                </a:solidFill>
                <a:latin typeface="Palatino Linotype"/>
                <a:cs typeface="Palatino Linotype"/>
              </a:rPr>
              <a:t>:	</a:t>
            </a:r>
            <a:r>
              <a:rPr sz="2000" kern="1200" spc="75" dirty="0">
                <a:solidFill>
                  <a:prstClr val="black"/>
                </a:solidFill>
                <a:latin typeface="Cambria Math"/>
                <a:cs typeface="Cambria Math"/>
              </a:rPr>
              <a:t>𝐸</a:t>
            </a:r>
            <a:r>
              <a:rPr sz="2000" kern="1200" dirty="0">
                <a:solidFill>
                  <a:prstClr val="black"/>
                </a:solidFill>
                <a:latin typeface="Palatino Linotype"/>
                <a:cs typeface="Palatino Linotype"/>
              </a:rPr>
              <a:t>, </a:t>
            </a:r>
            <a:r>
              <a:rPr sz="2000" kern="1200" spc="40" dirty="0">
                <a:solidFill>
                  <a:prstClr val="black"/>
                </a:solidFill>
                <a:latin typeface="Cambria Math"/>
                <a:cs typeface="Cambria Math"/>
              </a:rPr>
              <a:t>𝑇</a:t>
            </a:r>
            <a:r>
              <a:rPr sz="2000" kern="1200" dirty="0">
                <a:solidFill>
                  <a:prstClr val="black"/>
                </a:solidFill>
                <a:latin typeface="Palatino Linotype"/>
                <a:cs typeface="Palatino Linotype"/>
              </a:rPr>
              <a:t>, </a:t>
            </a:r>
            <a:r>
              <a:rPr sz="2000" kern="1200" spc="80" dirty="0">
                <a:solidFill>
                  <a:prstClr val="black"/>
                </a:solidFill>
                <a:latin typeface="Cambria Math"/>
                <a:cs typeface="Cambria Math"/>
              </a:rPr>
              <a:t>𝐹</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𝐢𝐝}</a:t>
            </a:r>
          </a:p>
          <a:p>
            <a:pPr marL="243204" indent="-230504" rtl="0">
              <a:spcBef>
                <a:spcPts val="2300"/>
              </a:spcBef>
              <a:buClr>
                <a:srgbClr val="000000"/>
              </a:buClr>
              <a:buFont typeface="Arial MT"/>
              <a:buChar char="•"/>
              <a:tabLst>
                <a:tab pos="242570" algn="l"/>
                <a:tab pos="243204" algn="l"/>
                <a:tab pos="2185670" algn="l"/>
              </a:tabLst>
            </a:pPr>
            <a:r>
              <a:rPr sz="2000" b="1" kern="1200" spc="-5" dirty="0">
                <a:solidFill>
                  <a:srgbClr val="0432FF"/>
                </a:solidFill>
                <a:latin typeface="Palatino Linotype"/>
                <a:cs typeface="Palatino Linotype"/>
              </a:rPr>
              <a:t>FO</a:t>
            </a:r>
            <a:r>
              <a:rPr sz="2000" b="1" kern="1200" dirty="0">
                <a:solidFill>
                  <a:srgbClr val="0432FF"/>
                </a:solidFill>
                <a:latin typeface="Palatino Linotype"/>
                <a:cs typeface="Palatino Linotype"/>
              </a:rPr>
              <a:t>LL</a:t>
            </a:r>
            <a:r>
              <a:rPr sz="2000" b="1" kern="1200" spc="-5" dirty="0">
                <a:solidFill>
                  <a:srgbClr val="0432FF"/>
                </a:solidFill>
                <a:latin typeface="Palatino Linotype"/>
                <a:cs typeface="Palatino Linotype"/>
              </a:rPr>
              <a:t>O</a:t>
            </a:r>
            <a:r>
              <a:rPr sz="2000" b="1" kern="1200" dirty="0">
                <a:solidFill>
                  <a:srgbClr val="0432FF"/>
                </a:solidFill>
                <a:latin typeface="Palatino Linotype"/>
                <a:cs typeface="Palatino Linotype"/>
              </a:rPr>
              <a:t>W </a:t>
            </a:r>
            <a:r>
              <a:rPr sz="2000" b="1" kern="1200" spc="-5" dirty="0">
                <a:solidFill>
                  <a:srgbClr val="0432FF"/>
                </a:solidFill>
                <a:latin typeface="Palatino Linotype"/>
                <a:cs typeface="Palatino Linotype"/>
              </a:rPr>
              <a:t>s</a:t>
            </a:r>
            <a:r>
              <a:rPr sz="2000" b="1" kern="1200" dirty="0">
                <a:solidFill>
                  <a:srgbClr val="0432FF"/>
                </a:solidFill>
                <a:latin typeface="Palatino Linotype"/>
                <a:cs typeface="Palatino Linotype"/>
              </a:rPr>
              <a:t>e</a:t>
            </a:r>
            <a:r>
              <a:rPr sz="2000" b="1" kern="1200" spc="-5" dirty="0">
                <a:solidFill>
                  <a:srgbClr val="0432FF"/>
                </a:solidFill>
                <a:latin typeface="Palatino Linotype"/>
                <a:cs typeface="Palatino Linotype"/>
              </a:rPr>
              <a:t>ts</a:t>
            </a:r>
            <a:r>
              <a:rPr sz="2000" b="1" kern="1200" dirty="0">
                <a:solidFill>
                  <a:srgbClr val="0432FF"/>
                </a:solidFill>
                <a:latin typeface="Palatino Linotype"/>
                <a:cs typeface="Palatino Linotype"/>
              </a:rPr>
              <a:t>:	</a:t>
            </a:r>
            <a:r>
              <a:rPr sz="2000" kern="1200" spc="75" dirty="0">
                <a:solidFill>
                  <a:prstClr val="black"/>
                </a:solidFill>
                <a:latin typeface="Cambria Math"/>
                <a:cs typeface="Cambria Math"/>
              </a:rPr>
              <a:t>𝐸</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𝐸</a:t>
            </a:r>
            <a:r>
              <a:rPr lang="en-US" altLang="zh-CN" sz="2000" kern="1200" dirty="0">
                <a:solidFill>
                  <a:prstClr val="black"/>
                </a:solidFill>
                <a:latin typeface="Cambria Math"/>
                <a:cs typeface="Cambria Math"/>
              </a:rPr>
              <a:t>′</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p>
        </p:txBody>
      </p:sp>
      <p:sp>
        <p:nvSpPr>
          <p:cNvPr id="16" name="object 13">
            <a:extLst>
              <a:ext uri="{FF2B5EF4-FFF2-40B4-BE49-F238E27FC236}">
                <a16:creationId xmlns:a16="http://schemas.microsoft.com/office/drawing/2014/main" id="{9BD565AA-2EDA-BE7D-9DE8-22A90C5CB2A5}"/>
              </a:ext>
            </a:extLst>
          </p:cNvPr>
          <p:cNvSpPr txBox="1"/>
          <p:nvPr/>
        </p:nvSpPr>
        <p:spPr bwMode="auto">
          <a:xfrm>
            <a:off x="6193790" y="2894076"/>
            <a:ext cx="1345565" cy="927735"/>
          </a:xfrm>
          <a:prstGeom prst="rect">
            <a:avLst/>
          </a:prstGeom>
        </p:spPr>
        <p:txBody>
          <a:bodyPr vert="horz" wrap="square" lIns="0" tIns="12700" rIns="0" bIns="0" rtlCol="0">
            <a:spAutoFit/>
          </a:bodyPr>
          <a:lstStyle/>
          <a:p>
            <a:pPr marL="12700" rtl="0">
              <a:spcBef>
                <a:spcPts val="100"/>
              </a:spcBef>
            </a:pPr>
            <a:r>
              <a:rPr sz="2000" kern="1200" spc="-5" dirty="0">
                <a:solidFill>
                  <a:prstClr val="black"/>
                </a:solidFill>
                <a:latin typeface="Cambria Math"/>
                <a:cs typeface="Cambria Math"/>
              </a:rPr>
              <a:t>𝑇</a:t>
            </a:r>
            <a:r>
              <a:rPr lang="en-US" altLang="zh-CN" sz="2000" kern="1200" dirty="0">
                <a:solidFill>
                  <a:prstClr val="black"/>
                </a:solidFill>
                <a:latin typeface="Cambria Math"/>
                <a:cs typeface="Cambria Math"/>
              </a:rPr>
              <a:t>′ </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5" dirty="0">
                <a:solidFill>
                  <a:prstClr val="black"/>
                </a:solidFill>
                <a:latin typeface="Cambria Math"/>
                <a:cs typeface="Cambria Math"/>
              </a:rPr>
              <a:t>𝜖</a:t>
            </a:r>
            <a:r>
              <a:rPr sz="2000" kern="1200" dirty="0">
                <a:solidFill>
                  <a:prstClr val="black"/>
                </a:solidFill>
                <a:latin typeface="Cambria Math"/>
                <a:cs typeface="Cambria Math"/>
              </a:rPr>
              <a:t>}</a:t>
            </a:r>
          </a:p>
          <a:p>
            <a:pPr marL="12700" rtl="0">
              <a:spcBef>
                <a:spcPts val="2300"/>
              </a:spcBef>
            </a:pPr>
            <a:r>
              <a:rPr sz="2000" kern="1200" spc="80" dirty="0">
                <a:solidFill>
                  <a:prstClr val="black"/>
                </a:solidFill>
                <a:latin typeface="Cambria Math"/>
                <a:cs typeface="Cambria Math"/>
              </a:rPr>
              <a:t>𝐹</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10" dirty="0">
                <a:solidFill>
                  <a:prstClr val="black"/>
                </a:solidFill>
                <a:latin typeface="Cambria Math"/>
                <a:cs typeface="Cambria Math"/>
              </a:rPr>
              <a:t>)</a:t>
            </a:r>
            <a:r>
              <a:rPr sz="2000" kern="1200" dirty="0">
                <a:solidFill>
                  <a:prstClr val="black"/>
                </a:solidFill>
                <a:latin typeface="Cambria Math"/>
                <a:cs typeface="Cambria Math"/>
              </a:rPr>
              <a:t>}</a:t>
            </a:r>
          </a:p>
        </p:txBody>
      </p:sp>
    </p:spTree>
    <p:extLst>
      <p:ext uri="{BB962C8B-B14F-4D97-AF65-F5344CB8AC3E}">
        <p14:creationId xmlns:p14="http://schemas.microsoft.com/office/powerpoint/2010/main" val="22724796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78</a:t>
            </a:fld>
            <a:endParaRPr lang="en-US"/>
          </a:p>
        </p:txBody>
      </p:sp>
      <p:sp>
        <p:nvSpPr>
          <p:cNvPr id="11" name="object 2">
            <a:extLst>
              <a:ext uri="{FF2B5EF4-FFF2-40B4-BE49-F238E27FC236}">
                <a16:creationId xmlns:a16="http://schemas.microsoft.com/office/drawing/2014/main" id="{FAE9C305-4BCC-2F2F-F6BD-99118D1FD51A}"/>
              </a:ext>
            </a:extLst>
          </p:cNvPr>
          <p:cNvSpPr txBox="1">
            <a:spLocks/>
          </p:cNvSpPr>
          <p:nvPr/>
        </p:nvSpPr>
        <p:spPr>
          <a:xfrm>
            <a:off x="707390" y="524763"/>
            <a:ext cx="625792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dirty="0">
                <a:ln>
                  <a:noFill/>
                </a:ln>
                <a:solidFill>
                  <a:sysClr val="windowText" lastClr="000000"/>
                </a:solidFill>
                <a:effectLst/>
                <a:uLnTx/>
                <a:uFillTx/>
                <a:latin typeface="Palatino Linotype"/>
                <a:ea typeface="+mj-ea"/>
              </a:rPr>
              <a:t>Conflicts</a:t>
            </a:r>
            <a:r>
              <a:rPr kumimoji="0" lang="en-US" sz="4000" b="1" i="0" u="none" strike="noStrike" kern="0" cap="none" spc="-2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in</a:t>
            </a:r>
            <a:r>
              <a:rPr kumimoji="0" lang="en-US" sz="4000" b="1" i="0" u="none" strike="noStrike" kern="0" cap="none" spc="-3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Parsing</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65" normalizeH="0" baseline="0" noProof="0" dirty="0">
                <a:ln>
                  <a:noFill/>
                </a:ln>
                <a:solidFill>
                  <a:sysClr val="windowText" lastClr="000000"/>
                </a:solidFill>
                <a:effectLst/>
                <a:uLnTx/>
                <a:uFillTx/>
                <a:latin typeface="Palatino Linotype"/>
                <a:ea typeface="+mj-ea"/>
              </a:rPr>
              <a:t>Tables</a:t>
            </a:r>
          </a:p>
        </p:txBody>
      </p:sp>
      <p:sp>
        <p:nvSpPr>
          <p:cNvPr id="12" name="object 3">
            <a:extLst>
              <a:ext uri="{FF2B5EF4-FFF2-40B4-BE49-F238E27FC236}">
                <a16:creationId xmlns:a16="http://schemas.microsoft.com/office/drawing/2014/main" id="{2EA50B11-5B13-9205-05BC-FF4D4B380410}"/>
              </a:ext>
            </a:extLst>
          </p:cNvPr>
          <p:cNvSpPr txBox="1"/>
          <p:nvPr/>
        </p:nvSpPr>
        <p:spPr>
          <a:xfrm>
            <a:off x="694690" y="1497076"/>
            <a:ext cx="6280785" cy="1359346"/>
          </a:xfrm>
          <a:prstGeom prst="rect">
            <a:avLst/>
          </a:prstGeom>
        </p:spPr>
        <p:txBody>
          <a:bodyPr vert="horz" wrap="square" lIns="0" tIns="12700" rIns="0" bIns="0" rtlCol="0">
            <a:spAutoFit/>
          </a:bodyPr>
          <a:lstStyle/>
          <a:p>
            <a:pPr marL="255904" indent="-230504" rtl="0">
              <a:spcBef>
                <a:spcPts val="100"/>
              </a:spcBef>
              <a:buClr>
                <a:srgbClr val="000000"/>
              </a:buClr>
              <a:buFont typeface="Arial MT"/>
              <a:buChar char="•"/>
              <a:tabLst>
                <a:tab pos="255270" algn="l"/>
                <a:tab pos="255904" algn="l"/>
                <a:tab pos="3682365" algn="l"/>
                <a:tab pos="5511165" algn="l"/>
              </a:tabLst>
            </a:pPr>
            <a:r>
              <a:rPr sz="2200" b="1" kern="1200" spc="-5" dirty="0">
                <a:solidFill>
                  <a:srgbClr val="0432FF"/>
                </a:solidFill>
                <a:latin typeface="Palatino Linotype"/>
                <a:cs typeface="Palatino Linotype"/>
              </a:rPr>
              <a:t>Grammar: </a:t>
            </a:r>
            <a:r>
              <a:rPr sz="2200" kern="1200" dirty="0">
                <a:solidFill>
                  <a:prstClr val="black"/>
                </a:solidFill>
                <a:latin typeface="Cambria Math"/>
                <a:cs typeface="Cambria Math"/>
              </a:rPr>
              <a:t>𝑆</a:t>
            </a:r>
            <a:r>
              <a:rPr sz="2200" kern="1200" spc="16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25" dirty="0">
                <a:solidFill>
                  <a:prstClr val="black"/>
                </a:solidFill>
                <a:latin typeface="Cambria Math"/>
                <a:cs typeface="Cambria Math"/>
              </a:rPr>
              <a:t> </a:t>
            </a:r>
            <a:r>
              <a:rPr sz="2200" kern="1200" spc="20" dirty="0">
                <a:solidFill>
                  <a:prstClr val="black"/>
                </a:solidFill>
                <a:latin typeface="Cambria Math"/>
                <a:cs typeface="Cambria Math"/>
              </a:rPr>
              <a:t>𝐢𝐸𝐭</a:t>
            </a:r>
            <a:r>
              <a:rPr lang="zh-CN" altLang="en-US" sz="2200" kern="1200" spc="20" dirty="0">
                <a:solidFill>
                  <a:prstClr val="black"/>
                </a:solidFill>
                <a:latin typeface="Cambria Math"/>
                <a:cs typeface="Cambria Math"/>
              </a:rPr>
              <a:t>𝑆</a:t>
            </a:r>
            <a:r>
              <a:rPr sz="2200" kern="1200" spc="20" dirty="0">
                <a:solidFill>
                  <a:prstClr val="black"/>
                </a:solidFill>
                <a:latin typeface="Cambria Math"/>
                <a:cs typeface="Cambria Math"/>
              </a:rPr>
              <a:t>𝑆</a:t>
            </a:r>
            <a:r>
              <a:rPr lang="en-US" altLang="zh-CN" sz="2400" kern="1200" dirty="0">
                <a:solidFill>
                  <a:prstClr val="black"/>
                </a:solidFill>
                <a:latin typeface="Cambria Math"/>
                <a:cs typeface="Cambria Math"/>
              </a:rPr>
              <a:t>′ </a:t>
            </a:r>
            <a:r>
              <a:rPr sz="2200" kern="1200" spc="20" dirty="0">
                <a:solidFill>
                  <a:prstClr val="black"/>
                </a:solidFill>
                <a:latin typeface="Cambria Math"/>
                <a:cs typeface="Cambria Math"/>
              </a:rPr>
              <a:t>|</a:t>
            </a:r>
            <a:r>
              <a:rPr sz="2200" kern="1200" spc="5" dirty="0">
                <a:solidFill>
                  <a:prstClr val="black"/>
                </a:solidFill>
                <a:latin typeface="Cambria Math"/>
                <a:cs typeface="Cambria Math"/>
              </a:rPr>
              <a:t> </a:t>
            </a:r>
            <a:r>
              <a:rPr sz="2200" kern="1200" dirty="0">
                <a:solidFill>
                  <a:prstClr val="black"/>
                </a:solidFill>
                <a:latin typeface="Cambria Math"/>
                <a:cs typeface="Cambria Math"/>
              </a:rPr>
              <a:t>𝐚	</a:t>
            </a:r>
            <a:r>
              <a:rPr sz="2200" kern="1200" spc="5" dirty="0">
                <a:solidFill>
                  <a:prstClr val="black"/>
                </a:solidFill>
                <a:latin typeface="Cambria Math"/>
                <a:cs typeface="Cambria Math"/>
              </a:rPr>
              <a:t>𝑆</a:t>
            </a:r>
            <a:r>
              <a:rPr lang="en-US" altLang="zh-CN" sz="2400" kern="1200" dirty="0">
                <a:solidFill>
                  <a:prstClr val="black"/>
                </a:solidFill>
                <a:latin typeface="Cambria Math"/>
                <a:cs typeface="Cambria Math"/>
              </a:rPr>
              <a:t>′</a:t>
            </a:r>
            <a:r>
              <a:rPr sz="2400" kern="1200" spc="525" baseline="27777"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25" dirty="0">
                <a:solidFill>
                  <a:prstClr val="black"/>
                </a:solidFill>
                <a:latin typeface="Cambria Math"/>
                <a:cs typeface="Cambria Math"/>
              </a:rPr>
              <a:t> </a:t>
            </a:r>
            <a:r>
              <a:rPr sz="2200" kern="1200" dirty="0">
                <a:solidFill>
                  <a:srgbClr val="FF0000"/>
                </a:solidFill>
                <a:latin typeface="Cambria Math"/>
                <a:cs typeface="Cambria Math"/>
              </a:rPr>
              <a:t>𝐞𝑆</a:t>
            </a:r>
            <a:r>
              <a:rPr sz="2200" kern="1200" spc="40" dirty="0">
                <a:solidFill>
                  <a:srgbClr val="FF0000"/>
                </a:solidFill>
                <a:latin typeface="Cambria Math"/>
                <a:cs typeface="Cambria Math"/>
              </a:rPr>
              <a:t> </a:t>
            </a:r>
            <a:r>
              <a:rPr sz="2200" kern="1200" dirty="0">
                <a:solidFill>
                  <a:prstClr val="black"/>
                </a:solidFill>
                <a:latin typeface="Cambria Math"/>
                <a:cs typeface="Cambria Math"/>
              </a:rPr>
              <a:t>|</a:t>
            </a:r>
            <a:r>
              <a:rPr sz="2200" kern="1200" spc="5" dirty="0">
                <a:solidFill>
                  <a:prstClr val="black"/>
                </a:solidFill>
                <a:latin typeface="Cambria Math"/>
                <a:cs typeface="Cambria Math"/>
              </a:rPr>
              <a:t> </a:t>
            </a:r>
            <a:r>
              <a:rPr sz="2200" kern="1200" dirty="0">
                <a:solidFill>
                  <a:srgbClr val="FF0000"/>
                </a:solidFill>
                <a:latin typeface="Cambria Math"/>
                <a:cs typeface="Cambria Math"/>
              </a:rPr>
              <a:t>𝜖	</a:t>
            </a:r>
            <a:r>
              <a:rPr sz="2200" kern="1200" dirty="0">
                <a:solidFill>
                  <a:prstClr val="black"/>
                </a:solidFill>
                <a:latin typeface="Cambria Math"/>
                <a:cs typeface="Cambria Math"/>
              </a:rPr>
              <a:t>𝐸</a:t>
            </a:r>
            <a:r>
              <a:rPr sz="2200" kern="1200" spc="16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80" dirty="0">
                <a:solidFill>
                  <a:prstClr val="black"/>
                </a:solidFill>
                <a:latin typeface="Cambria Math"/>
                <a:cs typeface="Cambria Math"/>
              </a:rPr>
              <a:t> </a:t>
            </a:r>
            <a:r>
              <a:rPr sz="2200" kern="1200" dirty="0">
                <a:solidFill>
                  <a:prstClr val="black"/>
                </a:solidFill>
                <a:latin typeface="Cambria Math"/>
                <a:cs typeface="Cambria Math"/>
              </a:rPr>
              <a:t>𝐛</a:t>
            </a:r>
          </a:p>
          <a:p>
            <a:pPr marL="711200" lvl="1" indent="-228600" rtl="0">
              <a:spcBef>
                <a:spcPts val="1645"/>
              </a:spcBef>
              <a:buClr>
                <a:srgbClr val="000000"/>
              </a:buClr>
              <a:buFont typeface="Wingdings"/>
              <a:buChar char=""/>
              <a:tabLst>
                <a:tab pos="711200" algn="l"/>
              </a:tabLst>
            </a:pPr>
            <a:r>
              <a:rPr kern="1200" spc="-5" dirty="0">
                <a:solidFill>
                  <a:srgbClr val="FF0000"/>
                </a:solidFill>
                <a:latin typeface="Cambria Math"/>
                <a:cs typeface="Cambria Math"/>
              </a:rPr>
              <a:t>FIRST(𝐞𝑆)</a:t>
            </a:r>
            <a:r>
              <a:rPr kern="1200" spc="114" dirty="0">
                <a:solidFill>
                  <a:srgbClr val="FF0000"/>
                </a:solidFill>
                <a:latin typeface="Cambria Math"/>
                <a:cs typeface="Cambria Math"/>
              </a:rPr>
              <a:t> </a:t>
            </a:r>
            <a:r>
              <a:rPr kern="1200" dirty="0">
                <a:solidFill>
                  <a:srgbClr val="FF0000"/>
                </a:solidFill>
                <a:latin typeface="Cambria Math"/>
                <a:cs typeface="Cambria Math"/>
              </a:rPr>
              <a:t>=</a:t>
            </a:r>
            <a:r>
              <a:rPr kern="1200" spc="500" dirty="0">
                <a:solidFill>
                  <a:srgbClr val="FF0000"/>
                </a:solidFill>
                <a:latin typeface="Cambria Math"/>
                <a:cs typeface="Cambria Math"/>
              </a:rPr>
              <a:t> </a:t>
            </a:r>
            <a:r>
              <a:rPr kern="1200" dirty="0">
                <a:solidFill>
                  <a:srgbClr val="FF0000"/>
                </a:solidFill>
                <a:latin typeface="Cambria Math"/>
                <a:cs typeface="Cambria Math"/>
              </a:rPr>
              <a:t>{𝐞}</a:t>
            </a:r>
            <a:r>
              <a:rPr kern="1200" dirty="0">
                <a:solidFill>
                  <a:prstClr val="black"/>
                </a:solidFill>
                <a:latin typeface="Palatino Linotype"/>
                <a:cs typeface="Palatino Linotype"/>
              </a:rPr>
              <a:t>,</a:t>
            </a:r>
            <a:r>
              <a:rPr kern="1200" spc="-5" dirty="0">
                <a:solidFill>
                  <a:prstClr val="black"/>
                </a:solidFill>
                <a:latin typeface="Palatino Linotype"/>
                <a:cs typeface="Palatino Linotype"/>
              </a:rPr>
              <a:t> so </a:t>
            </a:r>
            <a:r>
              <a:rPr kern="1200" spc="-20" dirty="0">
                <a:solidFill>
                  <a:prstClr val="black"/>
                </a:solidFill>
                <a:latin typeface="Palatino Linotype"/>
                <a:cs typeface="Palatino Linotype"/>
              </a:rPr>
              <a:t>we</a:t>
            </a:r>
            <a:r>
              <a:rPr kern="1200" dirty="0">
                <a:solidFill>
                  <a:prstClr val="black"/>
                </a:solidFill>
                <a:latin typeface="Palatino Linotype"/>
                <a:cs typeface="Palatino Linotype"/>
              </a:rPr>
              <a:t> add</a:t>
            </a:r>
            <a:r>
              <a:rPr kern="1200" spc="-5" dirty="0">
                <a:solidFill>
                  <a:prstClr val="black"/>
                </a:solidFill>
                <a:latin typeface="Palatino Linotype"/>
                <a:cs typeface="Palatino Linotype"/>
              </a:rPr>
              <a:t> </a:t>
            </a:r>
            <a:r>
              <a:rPr kern="1200" spc="-5" dirty="0">
                <a:solidFill>
                  <a:srgbClr val="FF0000"/>
                </a:solidFill>
                <a:latin typeface="Cambria Math"/>
                <a:cs typeface="Cambria Math"/>
              </a:rPr>
              <a:t>𝑆</a:t>
            </a:r>
            <a:r>
              <a:rPr lang="en-US" altLang="zh-CN" kern="1200" spc="-5" dirty="0">
                <a:solidFill>
                  <a:srgbClr val="FF0000"/>
                </a:solidFill>
                <a:latin typeface="Cambria Math"/>
                <a:cs typeface="Cambria Math"/>
              </a:rPr>
              <a:t>′</a:t>
            </a:r>
            <a:r>
              <a:rPr kern="1200" spc="100" dirty="0">
                <a:solidFill>
                  <a:srgbClr val="FF0000"/>
                </a:solidFill>
                <a:latin typeface="Cambria Math"/>
                <a:cs typeface="Cambria Math"/>
              </a:rPr>
              <a:t> </a:t>
            </a:r>
            <a:r>
              <a:rPr kern="1200" dirty="0">
                <a:solidFill>
                  <a:srgbClr val="FF0000"/>
                </a:solidFill>
                <a:latin typeface="Cambria Math"/>
                <a:cs typeface="Cambria Math"/>
              </a:rPr>
              <a:t>→</a:t>
            </a:r>
            <a:r>
              <a:rPr kern="1200" spc="105" dirty="0">
                <a:solidFill>
                  <a:srgbClr val="FF0000"/>
                </a:solidFill>
                <a:latin typeface="Cambria Math"/>
                <a:cs typeface="Cambria Math"/>
              </a:rPr>
              <a:t> </a:t>
            </a:r>
            <a:r>
              <a:rPr kern="1200" dirty="0">
                <a:solidFill>
                  <a:srgbClr val="FF0000"/>
                </a:solidFill>
                <a:latin typeface="Cambria Math"/>
                <a:cs typeface="Cambria Math"/>
              </a:rPr>
              <a:t>𝐞𝑆</a:t>
            </a:r>
            <a:r>
              <a:rPr kern="1200" spc="80" dirty="0">
                <a:solidFill>
                  <a:srgbClr val="FF0000"/>
                </a:solidFill>
                <a:latin typeface="Cambria Math"/>
                <a:cs typeface="Cambria Math"/>
              </a:rPr>
              <a:t>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 </a:t>
            </a:r>
            <a:r>
              <a:rPr kern="1200" spc="5" dirty="0">
                <a:solidFill>
                  <a:prstClr val="black"/>
                </a:solidFill>
                <a:latin typeface="Cambria Math"/>
                <a:cs typeface="Cambria Math"/>
              </a:rPr>
              <a:t>𝑀[𝑆</a:t>
            </a:r>
            <a:r>
              <a:rPr lang="en-US" altLang="zh-CN" sz="1800" kern="1200" dirty="0">
                <a:solidFill>
                  <a:prstClr val="black"/>
                </a:solidFill>
                <a:latin typeface="Cambria Math"/>
                <a:cs typeface="Cambria Math"/>
              </a:rPr>
              <a:t>′</a:t>
            </a:r>
            <a:r>
              <a:rPr kern="1200" spc="5" dirty="0">
                <a:solidFill>
                  <a:prstClr val="black"/>
                </a:solidFill>
                <a:latin typeface="Cambria Math"/>
                <a:cs typeface="Cambria Math"/>
              </a:rPr>
              <a:t>,</a:t>
            </a:r>
            <a:r>
              <a:rPr kern="1200" spc="-95" dirty="0">
                <a:solidFill>
                  <a:prstClr val="black"/>
                </a:solidFill>
                <a:latin typeface="Cambria Math"/>
                <a:cs typeface="Cambria Math"/>
              </a:rPr>
              <a:t> </a:t>
            </a:r>
            <a:r>
              <a:rPr kern="1200" dirty="0">
                <a:solidFill>
                  <a:prstClr val="black"/>
                </a:solidFill>
                <a:latin typeface="Cambria Math"/>
                <a:cs typeface="Cambria Math"/>
              </a:rPr>
              <a:t>𝐞]</a:t>
            </a:r>
          </a:p>
          <a:p>
            <a:pPr marL="711200" lvl="1" indent="-228600" rtl="0">
              <a:spcBef>
                <a:spcPts val="1660"/>
              </a:spcBef>
              <a:buClr>
                <a:srgbClr val="000000"/>
              </a:buClr>
              <a:buFont typeface="Wingdings"/>
              <a:buChar char=""/>
              <a:tabLst>
                <a:tab pos="711200" algn="l"/>
              </a:tabLst>
            </a:pPr>
            <a:r>
              <a:rPr kern="1200" spc="-10" dirty="0">
                <a:solidFill>
                  <a:srgbClr val="FF0000"/>
                </a:solidFill>
                <a:latin typeface="Cambria Math"/>
                <a:cs typeface="Cambria Math"/>
              </a:rPr>
              <a:t>FOLLOW(𝑆</a:t>
            </a:r>
            <a:r>
              <a:rPr lang="en-US" altLang="zh-CN" kern="1200" spc="-10" dirty="0">
                <a:solidFill>
                  <a:srgbClr val="FF0000"/>
                </a:solidFill>
                <a:latin typeface="Cambria Math"/>
                <a:cs typeface="Cambria Math"/>
              </a:rPr>
              <a:t>′</a:t>
            </a:r>
            <a:r>
              <a:rPr kern="1200" spc="-10" dirty="0">
                <a:solidFill>
                  <a:srgbClr val="FF0000"/>
                </a:solidFill>
                <a:latin typeface="Cambria Math"/>
                <a:cs typeface="Cambria Math"/>
              </a:rPr>
              <a:t>)</a:t>
            </a:r>
            <a:r>
              <a:rPr kern="1200" spc="100" dirty="0">
                <a:solidFill>
                  <a:srgbClr val="FF0000"/>
                </a:solidFill>
                <a:latin typeface="Cambria Math"/>
                <a:cs typeface="Cambria Math"/>
              </a:rPr>
              <a:t> </a:t>
            </a:r>
            <a:r>
              <a:rPr kern="1200" dirty="0">
                <a:solidFill>
                  <a:srgbClr val="FF0000"/>
                </a:solidFill>
                <a:latin typeface="Cambria Math"/>
                <a:cs typeface="Cambria Math"/>
              </a:rPr>
              <a:t>=</a:t>
            </a:r>
            <a:r>
              <a:rPr kern="1200" spc="100" dirty="0">
                <a:solidFill>
                  <a:srgbClr val="FF0000"/>
                </a:solidFill>
                <a:latin typeface="Cambria Math"/>
                <a:cs typeface="Cambria Math"/>
              </a:rPr>
              <a:t> </a:t>
            </a:r>
            <a:r>
              <a:rPr kern="1200" dirty="0">
                <a:solidFill>
                  <a:srgbClr val="FF0000"/>
                </a:solidFill>
                <a:latin typeface="Cambria Math"/>
                <a:cs typeface="Cambria Math"/>
              </a:rPr>
              <a:t>{$,</a:t>
            </a:r>
            <a:r>
              <a:rPr kern="1200" spc="-95" dirty="0">
                <a:solidFill>
                  <a:srgbClr val="FF0000"/>
                </a:solidFill>
                <a:latin typeface="Cambria Math"/>
                <a:cs typeface="Cambria Math"/>
              </a:rPr>
              <a:t> </a:t>
            </a:r>
            <a:r>
              <a:rPr kern="1200" dirty="0">
                <a:solidFill>
                  <a:srgbClr val="FF0000"/>
                </a:solidFill>
                <a:latin typeface="Cambria Math"/>
                <a:cs typeface="Cambria Math"/>
              </a:rPr>
              <a:t>𝐞}</a:t>
            </a:r>
            <a:r>
              <a:rPr kern="1200" dirty="0">
                <a:solidFill>
                  <a:prstClr val="black"/>
                </a:solidFill>
                <a:latin typeface="Palatino Linotype"/>
                <a:cs typeface="Palatino Linotype"/>
              </a:rPr>
              <a:t>,</a:t>
            </a:r>
            <a:r>
              <a:rPr kern="1200" spc="-5" dirty="0">
                <a:solidFill>
                  <a:prstClr val="black"/>
                </a:solidFill>
                <a:latin typeface="Palatino Linotype"/>
                <a:cs typeface="Palatino Linotype"/>
              </a:rPr>
              <a:t> so</a:t>
            </a:r>
            <a:r>
              <a:rPr kern="1200" dirty="0">
                <a:solidFill>
                  <a:prstClr val="black"/>
                </a:solidFill>
                <a:latin typeface="Palatino Linotype"/>
                <a:cs typeface="Palatino Linotype"/>
              </a:rPr>
              <a:t> </a:t>
            </a:r>
            <a:r>
              <a:rPr kern="1200" spc="-20" dirty="0">
                <a:solidFill>
                  <a:prstClr val="black"/>
                </a:solidFill>
                <a:latin typeface="Palatino Linotype"/>
                <a:cs typeface="Palatino Linotype"/>
              </a:rPr>
              <a:t>we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add </a:t>
            </a:r>
            <a:r>
              <a:rPr kern="1200" spc="-5" dirty="0">
                <a:solidFill>
                  <a:srgbClr val="FF0000"/>
                </a:solidFill>
                <a:latin typeface="Cambria Math"/>
                <a:cs typeface="Cambria Math"/>
              </a:rPr>
              <a:t>𝑆</a:t>
            </a:r>
            <a:r>
              <a:rPr lang="en-US" altLang="zh-CN" kern="1200" spc="-5" dirty="0">
                <a:solidFill>
                  <a:srgbClr val="FF0000"/>
                </a:solidFill>
                <a:latin typeface="Cambria Math"/>
                <a:cs typeface="Cambria Math"/>
              </a:rPr>
              <a:t>′</a:t>
            </a:r>
            <a:r>
              <a:rPr kern="1200" spc="100" dirty="0">
                <a:solidFill>
                  <a:srgbClr val="FF0000"/>
                </a:solidFill>
                <a:latin typeface="Cambria Math"/>
                <a:cs typeface="Cambria Math"/>
              </a:rPr>
              <a:t> </a:t>
            </a:r>
            <a:r>
              <a:rPr kern="1200" dirty="0">
                <a:solidFill>
                  <a:srgbClr val="FF0000"/>
                </a:solidFill>
                <a:latin typeface="Cambria Math"/>
                <a:cs typeface="Cambria Math"/>
              </a:rPr>
              <a:t>→</a:t>
            </a:r>
            <a:r>
              <a:rPr kern="1200" spc="105" dirty="0">
                <a:solidFill>
                  <a:srgbClr val="FF0000"/>
                </a:solidFill>
                <a:latin typeface="Cambria Math"/>
                <a:cs typeface="Cambria Math"/>
              </a:rPr>
              <a:t> </a:t>
            </a:r>
            <a:r>
              <a:rPr kern="1200" dirty="0">
                <a:solidFill>
                  <a:srgbClr val="FF0000"/>
                </a:solidFill>
                <a:latin typeface="Cambria Math"/>
                <a:cs typeface="Cambria Math"/>
              </a:rPr>
              <a:t>𝜖</a:t>
            </a:r>
            <a:r>
              <a:rPr kern="1200" spc="105" dirty="0">
                <a:solidFill>
                  <a:srgbClr val="FF0000"/>
                </a:solidFill>
                <a:latin typeface="Cambria Math"/>
                <a:cs typeface="Cambria Math"/>
              </a:rPr>
              <a:t> </a:t>
            </a:r>
            <a:r>
              <a:rPr kern="1200" dirty="0">
                <a:solidFill>
                  <a:prstClr val="black"/>
                </a:solidFill>
                <a:latin typeface="Palatino Linotype"/>
                <a:cs typeface="Palatino Linotype"/>
              </a:rPr>
              <a:t>to </a:t>
            </a:r>
            <a:r>
              <a:rPr kern="1200" spc="5" dirty="0">
                <a:solidFill>
                  <a:prstClr val="black"/>
                </a:solidFill>
                <a:latin typeface="Cambria Math"/>
                <a:cs typeface="Cambria Math"/>
              </a:rPr>
              <a:t>𝑀[𝑆</a:t>
            </a:r>
            <a:r>
              <a:rPr lang="en-US" altLang="zh-CN" sz="1800" kern="1200" dirty="0">
                <a:solidFill>
                  <a:prstClr val="black"/>
                </a:solidFill>
                <a:latin typeface="Cambria Math"/>
                <a:cs typeface="Cambria Math"/>
              </a:rPr>
              <a:t>′</a:t>
            </a:r>
            <a:r>
              <a:rPr kern="1200" spc="5" dirty="0">
                <a:solidFill>
                  <a:prstClr val="black"/>
                </a:solidFill>
                <a:latin typeface="Cambria Math"/>
                <a:cs typeface="Cambria Math"/>
              </a:rPr>
              <a:t>,</a:t>
            </a:r>
            <a:r>
              <a:rPr kern="1200" spc="-100" dirty="0">
                <a:solidFill>
                  <a:prstClr val="black"/>
                </a:solidFill>
                <a:latin typeface="Cambria Math"/>
                <a:cs typeface="Cambria Math"/>
              </a:rPr>
              <a:t> </a:t>
            </a:r>
            <a:r>
              <a:rPr kern="1200" dirty="0">
                <a:solidFill>
                  <a:prstClr val="black"/>
                </a:solidFill>
                <a:latin typeface="Cambria Math"/>
                <a:cs typeface="Cambria Math"/>
              </a:rPr>
              <a:t>𝐞]</a:t>
            </a:r>
          </a:p>
        </p:txBody>
      </p:sp>
      <p:grpSp>
        <p:nvGrpSpPr>
          <p:cNvPr id="13" name="object 4">
            <a:extLst>
              <a:ext uri="{FF2B5EF4-FFF2-40B4-BE49-F238E27FC236}">
                <a16:creationId xmlns:a16="http://schemas.microsoft.com/office/drawing/2014/main" id="{D1800F89-EC07-16FE-D601-957F5E4AE345}"/>
              </a:ext>
            </a:extLst>
          </p:cNvPr>
          <p:cNvGrpSpPr/>
          <p:nvPr/>
        </p:nvGrpSpPr>
        <p:grpSpPr>
          <a:xfrm>
            <a:off x="1077277" y="3140968"/>
            <a:ext cx="6989445" cy="2094864"/>
            <a:chOff x="1066050" y="3084649"/>
            <a:chExt cx="6989445" cy="2094864"/>
          </a:xfrm>
        </p:grpSpPr>
        <p:pic>
          <p:nvPicPr>
            <p:cNvPr id="14" name="object 5">
              <a:extLst>
                <a:ext uri="{FF2B5EF4-FFF2-40B4-BE49-F238E27FC236}">
                  <a16:creationId xmlns:a16="http://schemas.microsoft.com/office/drawing/2014/main" id="{21335626-9636-5AC6-9C86-8C90EE833B9B}"/>
                </a:ext>
              </a:extLst>
            </p:cNvPr>
            <p:cNvPicPr/>
            <p:nvPr/>
          </p:nvPicPr>
          <p:blipFill>
            <a:blip r:embed="rId3" cstate="print"/>
            <a:stretch>
              <a:fillRect/>
            </a:stretch>
          </p:blipFill>
          <p:spPr>
            <a:xfrm>
              <a:off x="1066050" y="3084649"/>
              <a:ext cx="6989310" cy="2094535"/>
            </a:xfrm>
            <a:prstGeom prst="rect">
              <a:avLst/>
            </a:prstGeom>
          </p:spPr>
        </p:pic>
        <p:sp>
          <p:nvSpPr>
            <p:cNvPr id="15" name="object 6">
              <a:extLst>
                <a:ext uri="{FF2B5EF4-FFF2-40B4-BE49-F238E27FC236}">
                  <a16:creationId xmlns:a16="http://schemas.microsoft.com/office/drawing/2014/main" id="{748F616F-23FB-959E-B9B6-898B081178A5}"/>
                </a:ext>
              </a:extLst>
            </p:cNvPr>
            <p:cNvSpPr/>
            <p:nvPr/>
          </p:nvSpPr>
          <p:spPr>
            <a:xfrm>
              <a:off x="3908850" y="4168466"/>
              <a:ext cx="1326515" cy="725170"/>
            </a:xfrm>
            <a:custGeom>
              <a:avLst/>
              <a:gdLst/>
              <a:ahLst/>
              <a:cxnLst/>
              <a:rect l="l" t="t" r="r" b="b"/>
              <a:pathLst>
                <a:path w="1326514" h="725170">
                  <a:moveTo>
                    <a:pt x="0" y="362464"/>
                  </a:moveTo>
                  <a:lnTo>
                    <a:pt x="10684" y="297311"/>
                  </a:lnTo>
                  <a:lnTo>
                    <a:pt x="41488" y="235988"/>
                  </a:lnTo>
                  <a:lnTo>
                    <a:pt x="90538" y="179521"/>
                  </a:lnTo>
                  <a:lnTo>
                    <a:pt x="121321" y="153428"/>
                  </a:lnTo>
                  <a:lnTo>
                    <a:pt x="155963" y="128933"/>
                  </a:lnTo>
                  <a:lnTo>
                    <a:pt x="194230" y="106163"/>
                  </a:lnTo>
                  <a:lnTo>
                    <a:pt x="235889" y="85247"/>
                  </a:lnTo>
                  <a:lnTo>
                    <a:pt x="280705" y="66312"/>
                  </a:lnTo>
                  <a:lnTo>
                    <a:pt x="328443" y="49487"/>
                  </a:lnTo>
                  <a:lnTo>
                    <a:pt x="378870" y="34899"/>
                  </a:lnTo>
                  <a:lnTo>
                    <a:pt x="431752" y="22676"/>
                  </a:lnTo>
                  <a:lnTo>
                    <a:pt x="486855" y="12947"/>
                  </a:lnTo>
                  <a:lnTo>
                    <a:pt x="543944" y="5839"/>
                  </a:lnTo>
                  <a:lnTo>
                    <a:pt x="602786" y="1481"/>
                  </a:lnTo>
                  <a:lnTo>
                    <a:pt x="663146" y="0"/>
                  </a:lnTo>
                  <a:lnTo>
                    <a:pt x="723505" y="1481"/>
                  </a:lnTo>
                  <a:lnTo>
                    <a:pt x="782347" y="5839"/>
                  </a:lnTo>
                  <a:lnTo>
                    <a:pt x="839436" y="12947"/>
                  </a:lnTo>
                  <a:lnTo>
                    <a:pt x="894538" y="22676"/>
                  </a:lnTo>
                  <a:lnTo>
                    <a:pt x="947420" y="34899"/>
                  </a:lnTo>
                  <a:lnTo>
                    <a:pt x="997848" y="49487"/>
                  </a:lnTo>
                  <a:lnTo>
                    <a:pt x="1045586" y="66312"/>
                  </a:lnTo>
                  <a:lnTo>
                    <a:pt x="1090402" y="85247"/>
                  </a:lnTo>
                  <a:lnTo>
                    <a:pt x="1132060" y="106163"/>
                  </a:lnTo>
                  <a:lnTo>
                    <a:pt x="1170328" y="128933"/>
                  </a:lnTo>
                  <a:lnTo>
                    <a:pt x="1204970" y="153428"/>
                  </a:lnTo>
                  <a:lnTo>
                    <a:pt x="1235753" y="179521"/>
                  </a:lnTo>
                  <a:lnTo>
                    <a:pt x="1262442" y="207084"/>
                  </a:lnTo>
                  <a:lnTo>
                    <a:pt x="1302603" y="266107"/>
                  </a:lnTo>
                  <a:lnTo>
                    <a:pt x="1323581" y="329472"/>
                  </a:lnTo>
                  <a:lnTo>
                    <a:pt x="1326292" y="362464"/>
                  </a:lnTo>
                  <a:lnTo>
                    <a:pt x="1323581" y="395456"/>
                  </a:lnTo>
                  <a:lnTo>
                    <a:pt x="1302603" y="458821"/>
                  </a:lnTo>
                  <a:lnTo>
                    <a:pt x="1262442" y="517844"/>
                  </a:lnTo>
                  <a:lnTo>
                    <a:pt x="1235753" y="545407"/>
                  </a:lnTo>
                  <a:lnTo>
                    <a:pt x="1204970" y="571500"/>
                  </a:lnTo>
                  <a:lnTo>
                    <a:pt x="1170328" y="595995"/>
                  </a:lnTo>
                  <a:lnTo>
                    <a:pt x="1132060" y="618765"/>
                  </a:lnTo>
                  <a:lnTo>
                    <a:pt x="1090402" y="639681"/>
                  </a:lnTo>
                  <a:lnTo>
                    <a:pt x="1045586" y="658616"/>
                  </a:lnTo>
                  <a:lnTo>
                    <a:pt x="997848" y="675441"/>
                  </a:lnTo>
                  <a:lnTo>
                    <a:pt x="947420" y="690029"/>
                  </a:lnTo>
                  <a:lnTo>
                    <a:pt x="894538" y="702252"/>
                  </a:lnTo>
                  <a:lnTo>
                    <a:pt x="839436" y="711981"/>
                  </a:lnTo>
                  <a:lnTo>
                    <a:pt x="782347" y="719089"/>
                  </a:lnTo>
                  <a:lnTo>
                    <a:pt x="723505" y="723447"/>
                  </a:lnTo>
                  <a:lnTo>
                    <a:pt x="663146" y="724929"/>
                  </a:lnTo>
                  <a:lnTo>
                    <a:pt x="602786" y="723447"/>
                  </a:lnTo>
                  <a:lnTo>
                    <a:pt x="543944" y="719089"/>
                  </a:lnTo>
                  <a:lnTo>
                    <a:pt x="486855" y="711981"/>
                  </a:lnTo>
                  <a:lnTo>
                    <a:pt x="431752" y="702252"/>
                  </a:lnTo>
                  <a:lnTo>
                    <a:pt x="378870" y="690029"/>
                  </a:lnTo>
                  <a:lnTo>
                    <a:pt x="328443" y="675441"/>
                  </a:lnTo>
                  <a:lnTo>
                    <a:pt x="280705" y="658616"/>
                  </a:lnTo>
                  <a:lnTo>
                    <a:pt x="235889" y="639681"/>
                  </a:lnTo>
                  <a:lnTo>
                    <a:pt x="194230" y="618765"/>
                  </a:lnTo>
                  <a:lnTo>
                    <a:pt x="155963" y="595995"/>
                  </a:lnTo>
                  <a:lnTo>
                    <a:pt x="121321" y="571500"/>
                  </a:lnTo>
                  <a:lnTo>
                    <a:pt x="90538" y="545407"/>
                  </a:lnTo>
                  <a:lnTo>
                    <a:pt x="63849" y="517844"/>
                  </a:lnTo>
                  <a:lnTo>
                    <a:pt x="23688" y="458821"/>
                  </a:lnTo>
                  <a:lnTo>
                    <a:pt x="2710" y="395456"/>
                  </a:lnTo>
                  <a:lnTo>
                    <a:pt x="0" y="362464"/>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6" name="object 7">
            <a:extLst>
              <a:ext uri="{FF2B5EF4-FFF2-40B4-BE49-F238E27FC236}">
                <a16:creationId xmlns:a16="http://schemas.microsoft.com/office/drawing/2014/main" id="{4C11C4EA-9159-EEB4-BC9D-A3B31D561C29}"/>
              </a:ext>
            </a:extLst>
          </p:cNvPr>
          <p:cNvSpPr txBox="1"/>
          <p:nvPr/>
        </p:nvSpPr>
        <p:spPr>
          <a:xfrm>
            <a:off x="992657" y="5419615"/>
            <a:ext cx="7158990" cy="786765"/>
          </a:xfrm>
          <a:prstGeom prst="rect">
            <a:avLst/>
          </a:prstGeom>
          <a:solidFill>
            <a:srgbClr val="FFF2CC"/>
          </a:solidFill>
          <a:ln w="9525">
            <a:solidFill>
              <a:srgbClr val="000000"/>
            </a:solidFill>
          </a:ln>
        </p:spPr>
        <p:txBody>
          <a:bodyPr vert="horz" wrap="square" lIns="0" tIns="57150" rIns="0" bIns="0" rtlCol="0">
            <a:spAutoFit/>
          </a:bodyPr>
          <a:lstStyle/>
          <a:p>
            <a:pPr marL="377190" indent="-285750" rtl="0">
              <a:spcBef>
                <a:spcPts val="450"/>
              </a:spcBef>
              <a:buFont typeface="Arial MT"/>
              <a:buChar char="•"/>
              <a:tabLst>
                <a:tab pos="376555" algn="l"/>
                <a:tab pos="377190" algn="l"/>
              </a:tabLst>
            </a:pPr>
            <a:r>
              <a:rPr kern="1200" dirty="0">
                <a:solidFill>
                  <a:srgbClr val="FF0000"/>
                </a:solidFill>
                <a:latin typeface="Palatino Linotype"/>
                <a:cs typeface="Palatino Linotype"/>
              </a:rPr>
              <a:t>LL(1)</a:t>
            </a:r>
            <a:r>
              <a:rPr kern="1200" spc="-10" dirty="0">
                <a:solidFill>
                  <a:srgbClr val="FF0000"/>
                </a:solidFill>
                <a:latin typeface="Palatino Linotype"/>
                <a:cs typeface="Palatino Linotype"/>
              </a:rPr>
              <a:t> </a:t>
            </a:r>
            <a:r>
              <a:rPr kern="1200" spc="-5" dirty="0">
                <a:solidFill>
                  <a:srgbClr val="FF0000"/>
                </a:solidFill>
                <a:latin typeface="Palatino Linotype"/>
                <a:cs typeface="Palatino Linotype"/>
              </a:rPr>
              <a:t>grammar </a:t>
            </a:r>
            <a:r>
              <a:rPr kern="1200" dirty="0">
                <a:solidFill>
                  <a:srgbClr val="FF0000"/>
                </a:solidFill>
                <a:latin typeface="Palatino Linotype"/>
                <a:cs typeface="Palatino Linotype"/>
              </a:rPr>
              <a:t>is</a:t>
            </a:r>
            <a:r>
              <a:rPr kern="1200" spc="-10" dirty="0">
                <a:solidFill>
                  <a:srgbClr val="FF0000"/>
                </a:solidFill>
                <a:latin typeface="Palatino Linotype"/>
                <a:cs typeface="Palatino Linotype"/>
              </a:rPr>
              <a:t> never </a:t>
            </a:r>
            <a:r>
              <a:rPr kern="1200" spc="-5" dirty="0">
                <a:solidFill>
                  <a:srgbClr val="FF0000"/>
                </a:solidFill>
                <a:latin typeface="Palatino Linotype"/>
                <a:cs typeface="Palatino Linotype"/>
              </a:rPr>
              <a:t>ambiguous.</a:t>
            </a:r>
            <a:endParaRPr kern="1200">
              <a:solidFill>
                <a:prstClr val="black"/>
              </a:solidFill>
              <a:latin typeface="Palatino Linotype"/>
              <a:cs typeface="Palatino Linotype"/>
            </a:endParaRPr>
          </a:p>
          <a:p>
            <a:pPr marL="377190" indent="-285750" rtl="0">
              <a:spcBef>
                <a:spcPts val="459"/>
              </a:spcBef>
              <a:buFont typeface="Arial MT"/>
              <a:buChar char="•"/>
              <a:tabLst>
                <a:tab pos="376555" algn="l"/>
                <a:tab pos="377190" algn="l"/>
              </a:tabLst>
            </a:pPr>
            <a:r>
              <a:rPr kern="1200" spc="-5" dirty="0">
                <a:solidFill>
                  <a:srgbClr val="FF0000"/>
                </a:solidFill>
                <a:latin typeface="Palatino Linotype"/>
                <a:cs typeface="Palatino Linotype"/>
              </a:rPr>
              <a:t>This grammar</a:t>
            </a:r>
            <a:r>
              <a:rPr kern="1200" dirty="0">
                <a:solidFill>
                  <a:srgbClr val="FF0000"/>
                </a:solidFill>
                <a:latin typeface="Palatino Linotype"/>
                <a:cs typeface="Palatino Linotype"/>
              </a:rPr>
              <a:t> is</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not LL(1). </a:t>
            </a:r>
            <a:r>
              <a:rPr kern="1200" spc="-5" dirty="0">
                <a:solidFill>
                  <a:srgbClr val="FF0000"/>
                </a:solidFill>
                <a:latin typeface="Palatino Linotype"/>
                <a:cs typeface="Palatino Linotype"/>
              </a:rPr>
              <a:t>The</a:t>
            </a:r>
            <a:r>
              <a:rPr kern="1200" dirty="0">
                <a:solidFill>
                  <a:srgbClr val="FF0000"/>
                </a:solidFill>
                <a:latin typeface="Palatino Linotype"/>
                <a:cs typeface="Palatino Linotype"/>
              </a:rPr>
              <a:t> </a:t>
            </a:r>
            <a:r>
              <a:rPr kern="1200" spc="-5" dirty="0">
                <a:solidFill>
                  <a:srgbClr val="FF0000"/>
                </a:solidFill>
                <a:latin typeface="Palatino Linotype"/>
                <a:cs typeface="Palatino Linotype"/>
              </a:rPr>
              <a:t>language</a:t>
            </a:r>
            <a:r>
              <a:rPr kern="1200" dirty="0">
                <a:solidFill>
                  <a:srgbClr val="FF0000"/>
                </a:solidFill>
                <a:latin typeface="Palatino Linotype"/>
                <a:cs typeface="Palatino Linotype"/>
              </a:rPr>
              <a:t> has</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no LL(1) </a:t>
            </a:r>
            <a:r>
              <a:rPr kern="1200" spc="-5" dirty="0">
                <a:solidFill>
                  <a:srgbClr val="FF0000"/>
                </a:solidFill>
                <a:latin typeface="Palatino Linotype"/>
                <a:cs typeface="Palatino Linotype"/>
              </a:rPr>
              <a:t>grammar</a:t>
            </a:r>
            <a:r>
              <a:rPr kern="1200" dirty="0">
                <a:solidFill>
                  <a:srgbClr val="FF0000"/>
                </a:solidFill>
                <a:latin typeface="Palatino Linotype"/>
                <a:cs typeface="Palatino Linotype"/>
              </a:rPr>
              <a:t> </a:t>
            </a:r>
            <a:r>
              <a:rPr kern="1200" spc="-5" dirty="0">
                <a:solidFill>
                  <a:srgbClr val="FF0000"/>
                </a:solidFill>
                <a:latin typeface="Palatino Linotype"/>
                <a:cs typeface="Palatino Linotype"/>
              </a:rPr>
              <a:t>!!!</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40178947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79</a:t>
            </a:fld>
            <a:endParaRPr lang="en-US"/>
          </a:p>
        </p:txBody>
      </p:sp>
      <p:sp>
        <p:nvSpPr>
          <p:cNvPr id="11" name="object 2">
            <a:extLst>
              <a:ext uri="{FF2B5EF4-FFF2-40B4-BE49-F238E27FC236}">
                <a16:creationId xmlns:a16="http://schemas.microsoft.com/office/drawing/2014/main" id="{D7EB6A93-F7FF-77B9-F5E9-AAA18B9766DB}"/>
              </a:ext>
            </a:extLst>
          </p:cNvPr>
          <p:cNvSpPr txBox="1">
            <a:spLocks/>
          </p:cNvSpPr>
          <p:nvPr/>
        </p:nvSpPr>
        <p:spPr>
          <a:xfrm>
            <a:off x="707390" y="524763"/>
            <a:ext cx="625792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Conflicts</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in</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65" normalizeH="0" baseline="0" noProof="0">
                <a:ln>
                  <a:noFill/>
                </a:ln>
                <a:solidFill>
                  <a:sysClr val="windowText" lastClr="000000"/>
                </a:solidFill>
                <a:effectLst/>
                <a:uLnTx/>
                <a:uFillTx/>
                <a:latin typeface="Palatino Linotype"/>
                <a:ea typeface="+mj-ea"/>
              </a:rPr>
              <a:t>Tables</a:t>
            </a:r>
            <a:endParaRPr kumimoji="0" lang="en-US" sz="4000" b="1" i="0" u="none" strike="noStrike" kern="0" cap="none" spc="-65"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287DA218-93B8-95D1-86EC-0801380A83CE}"/>
              </a:ext>
            </a:extLst>
          </p:cNvPr>
          <p:cNvSpPr txBox="1"/>
          <p:nvPr/>
        </p:nvSpPr>
        <p:spPr>
          <a:xfrm>
            <a:off x="694690" y="1497076"/>
            <a:ext cx="6280785" cy="1359346"/>
          </a:xfrm>
          <a:prstGeom prst="rect">
            <a:avLst/>
          </a:prstGeom>
        </p:spPr>
        <p:txBody>
          <a:bodyPr vert="horz" wrap="square" lIns="0" tIns="12700" rIns="0" bIns="0" rtlCol="0">
            <a:spAutoFit/>
          </a:bodyPr>
          <a:lstStyle/>
          <a:p>
            <a:pPr marL="255904" indent="-230504" rtl="0">
              <a:spcBef>
                <a:spcPts val="100"/>
              </a:spcBef>
              <a:buClr>
                <a:srgbClr val="000000"/>
              </a:buClr>
              <a:buFont typeface="Arial MT"/>
              <a:buChar char="•"/>
              <a:tabLst>
                <a:tab pos="255270" algn="l"/>
                <a:tab pos="255904" algn="l"/>
                <a:tab pos="3682365" algn="l"/>
                <a:tab pos="5511165" algn="l"/>
              </a:tabLst>
            </a:pPr>
            <a:r>
              <a:rPr sz="2200" b="1" kern="1200" spc="-5" dirty="0">
                <a:solidFill>
                  <a:srgbClr val="0432FF"/>
                </a:solidFill>
                <a:latin typeface="Palatino Linotype"/>
                <a:cs typeface="Palatino Linotype"/>
              </a:rPr>
              <a:t>Grammar: </a:t>
            </a:r>
            <a:r>
              <a:rPr sz="2200" kern="1200" dirty="0">
                <a:solidFill>
                  <a:prstClr val="black"/>
                </a:solidFill>
                <a:latin typeface="Cambria Math"/>
                <a:cs typeface="Cambria Math"/>
              </a:rPr>
              <a:t>𝑆</a:t>
            </a:r>
            <a:r>
              <a:rPr sz="2200" kern="1200" spc="16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25" dirty="0">
                <a:solidFill>
                  <a:prstClr val="black"/>
                </a:solidFill>
                <a:latin typeface="Cambria Math"/>
                <a:cs typeface="Cambria Math"/>
              </a:rPr>
              <a:t> </a:t>
            </a:r>
            <a:r>
              <a:rPr sz="2200" kern="1200" spc="20" dirty="0">
                <a:solidFill>
                  <a:prstClr val="black"/>
                </a:solidFill>
                <a:latin typeface="Cambria Math"/>
                <a:cs typeface="Cambria Math"/>
              </a:rPr>
              <a:t>𝐢𝐸𝐭𝑆𝑆</a:t>
            </a:r>
            <a:r>
              <a:rPr lang="en-US" altLang="zh-CN" sz="2400" kern="1200" dirty="0">
                <a:solidFill>
                  <a:prstClr val="black"/>
                </a:solidFill>
                <a:latin typeface="Cambria Math"/>
                <a:cs typeface="Cambria Math"/>
              </a:rPr>
              <a:t>′ </a:t>
            </a:r>
            <a:r>
              <a:rPr sz="2200" kern="1200" spc="20" dirty="0">
                <a:solidFill>
                  <a:prstClr val="black"/>
                </a:solidFill>
                <a:latin typeface="Cambria Math"/>
                <a:cs typeface="Cambria Math"/>
              </a:rPr>
              <a:t>|</a:t>
            </a:r>
            <a:r>
              <a:rPr sz="2200" kern="1200" spc="5" dirty="0">
                <a:solidFill>
                  <a:prstClr val="black"/>
                </a:solidFill>
                <a:latin typeface="Cambria Math"/>
                <a:cs typeface="Cambria Math"/>
              </a:rPr>
              <a:t> </a:t>
            </a:r>
            <a:r>
              <a:rPr sz="2200" kern="1200" dirty="0">
                <a:solidFill>
                  <a:prstClr val="black"/>
                </a:solidFill>
                <a:latin typeface="Cambria Math"/>
                <a:cs typeface="Cambria Math"/>
              </a:rPr>
              <a:t>𝐚	</a:t>
            </a:r>
            <a:r>
              <a:rPr sz="2200" kern="1200" spc="5" dirty="0">
                <a:solidFill>
                  <a:prstClr val="black"/>
                </a:solidFill>
                <a:latin typeface="Cambria Math"/>
                <a:cs typeface="Cambria Math"/>
              </a:rPr>
              <a:t>𝑆</a:t>
            </a:r>
            <a:r>
              <a:rPr lang="en-US" altLang="zh-CN" sz="2400" kern="1200" dirty="0">
                <a:solidFill>
                  <a:prstClr val="black"/>
                </a:solidFill>
                <a:latin typeface="Cambria Math"/>
                <a:cs typeface="Cambria Math"/>
              </a:rPr>
              <a:t>′</a:t>
            </a:r>
            <a:r>
              <a:rPr sz="2400" kern="1200" spc="525" baseline="27777"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25" dirty="0">
                <a:solidFill>
                  <a:prstClr val="black"/>
                </a:solidFill>
                <a:latin typeface="Cambria Math"/>
                <a:cs typeface="Cambria Math"/>
              </a:rPr>
              <a:t> </a:t>
            </a:r>
            <a:r>
              <a:rPr sz="2200" kern="1200" dirty="0">
                <a:solidFill>
                  <a:srgbClr val="FF0000"/>
                </a:solidFill>
                <a:latin typeface="Cambria Math"/>
                <a:cs typeface="Cambria Math"/>
              </a:rPr>
              <a:t>𝐞𝑆</a:t>
            </a:r>
            <a:r>
              <a:rPr sz="2200" kern="1200" spc="40" dirty="0">
                <a:solidFill>
                  <a:srgbClr val="FF0000"/>
                </a:solidFill>
                <a:latin typeface="Cambria Math"/>
                <a:cs typeface="Cambria Math"/>
              </a:rPr>
              <a:t> </a:t>
            </a:r>
            <a:r>
              <a:rPr sz="2200" kern="1200" dirty="0">
                <a:solidFill>
                  <a:prstClr val="black"/>
                </a:solidFill>
                <a:latin typeface="Cambria Math"/>
                <a:cs typeface="Cambria Math"/>
              </a:rPr>
              <a:t>|</a:t>
            </a:r>
            <a:r>
              <a:rPr sz="2200" kern="1200" spc="5" dirty="0">
                <a:solidFill>
                  <a:prstClr val="black"/>
                </a:solidFill>
                <a:latin typeface="Cambria Math"/>
                <a:cs typeface="Cambria Math"/>
              </a:rPr>
              <a:t> </a:t>
            </a:r>
            <a:r>
              <a:rPr sz="2200" kern="1200" dirty="0">
                <a:solidFill>
                  <a:srgbClr val="FF0000"/>
                </a:solidFill>
                <a:latin typeface="Cambria Math"/>
                <a:cs typeface="Cambria Math"/>
              </a:rPr>
              <a:t>𝜖	</a:t>
            </a:r>
            <a:r>
              <a:rPr sz="2200" kern="1200" dirty="0">
                <a:solidFill>
                  <a:prstClr val="black"/>
                </a:solidFill>
                <a:latin typeface="Cambria Math"/>
                <a:cs typeface="Cambria Math"/>
              </a:rPr>
              <a:t>𝐸</a:t>
            </a:r>
            <a:r>
              <a:rPr sz="2200" kern="1200" spc="16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80" dirty="0">
                <a:solidFill>
                  <a:prstClr val="black"/>
                </a:solidFill>
                <a:latin typeface="Cambria Math"/>
                <a:cs typeface="Cambria Math"/>
              </a:rPr>
              <a:t> </a:t>
            </a:r>
            <a:r>
              <a:rPr sz="2200" kern="1200" dirty="0">
                <a:solidFill>
                  <a:prstClr val="black"/>
                </a:solidFill>
                <a:latin typeface="Cambria Math"/>
                <a:cs typeface="Cambria Math"/>
              </a:rPr>
              <a:t>𝐛</a:t>
            </a:r>
          </a:p>
          <a:p>
            <a:pPr marL="711200" lvl="1" indent="-228600" rtl="0">
              <a:spcBef>
                <a:spcPts val="1645"/>
              </a:spcBef>
              <a:buClr>
                <a:srgbClr val="000000"/>
              </a:buClr>
              <a:buFont typeface="Wingdings"/>
              <a:buChar char=""/>
              <a:tabLst>
                <a:tab pos="711200" algn="l"/>
              </a:tabLst>
            </a:pPr>
            <a:r>
              <a:rPr kern="1200" spc="-5" dirty="0">
                <a:solidFill>
                  <a:srgbClr val="FF0000"/>
                </a:solidFill>
                <a:latin typeface="Cambria Math"/>
                <a:cs typeface="Cambria Math"/>
              </a:rPr>
              <a:t>FIRST(𝐞𝑆)</a:t>
            </a:r>
            <a:r>
              <a:rPr kern="1200" spc="114" dirty="0">
                <a:solidFill>
                  <a:srgbClr val="FF0000"/>
                </a:solidFill>
                <a:latin typeface="Cambria Math"/>
                <a:cs typeface="Cambria Math"/>
              </a:rPr>
              <a:t> </a:t>
            </a:r>
            <a:r>
              <a:rPr kern="1200" dirty="0">
                <a:solidFill>
                  <a:srgbClr val="FF0000"/>
                </a:solidFill>
                <a:latin typeface="Cambria Math"/>
                <a:cs typeface="Cambria Math"/>
              </a:rPr>
              <a:t>=</a:t>
            </a:r>
            <a:r>
              <a:rPr kern="1200" spc="500" dirty="0">
                <a:solidFill>
                  <a:srgbClr val="FF0000"/>
                </a:solidFill>
                <a:latin typeface="Cambria Math"/>
                <a:cs typeface="Cambria Math"/>
              </a:rPr>
              <a:t> </a:t>
            </a:r>
            <a:r>
              <a:rPr kern="1200" dirty="0">
                <a:solidFill>
                  <a:srgbClr val="FF0000"/>
                </a:solidFill>
                <a:latin typeface="Cambria Math"/>
                <a:cs typeface="Cambria Math"/>
              </a:rPr>
              <a:t>{𝐞}</a:t>
            </a:r>
            <a:r>
              <a:rPr kern="1200" dirty="0">
                <a:solidFill>
                  <a:prstClr val="black"/>
                </a:solidFill>
                <a:latin typeface="Palatino Linotype"/>
                <a:cs typeface="Palatino Linotype"/>
              </a:rPr>
              <a:t>,</a:t>
            </a:r>
            <a:r>
              <a:rPr kern="1200" spc="-5" dirty="0">
                <a:solidFill>
                  <a:prstClr val="black"/>
                </a:solidFill>
                <a:latin typeface="Palatino Linotype"/>
                <a:cs typeface="Palatino Linotype"/>
              </a:rPr>
              <a:t> so </a:t>
            </a:r>
            <a:r>
              <a:rPr kern="1200" spc="-20" dirty="0">
                <a:solidFill>
                  <a:prstClr val="black"/>
                </a:solidFill>
                <a:latin typeface="Palatino Linotype"/>
                <a:cs typeface="Palatino Linotype"/>
              </a:rPr>
              <a:t>we</a:t>
            </a:r>
            <a:r>
              <a:rPr kern="1200" dirty="0">
                <a:solidFill>
                  <a:prstClr val="black"/>
                </a:solidFill>
                <a:latin typeface="Palatino Linotype"/>
                <a:cs typeface="Palatino Linotype"/>
              </a:rPr>
              <a:t> add</a:t>
            </a:r>
            <a:r>
              <a:rPr kern="1200" spc="-5" dirty="0">
                <a:solidFill>
                  <a:prstClr val="black"/>
                </a:solidFill>
                <a:latin typeface="Palatino Linotype"/>
                <a:cs typeface="Palatino Linotype"/>
              </a:rPr>
              <a:t> </a:t>
            </a:r>
            <a:r>
              <a:rPr kern="1200" spc="-5" dirty="0">
                <a:solidFill>
                  <a:srgbClr val="FF0000"/>
                </a:solidFill>
                <a:latin typeface="Cambria Math"/>
                <a:cs typeface="Cambria Math"/>
              </a:rPr>
              <a:t>𝑆</a:t>
            </a:r>
            <a:r>
              <a:rPr lang="en-US" altLang="zh-CN" kern="1200" spc="-5" dirty="0">
                <a:solidFill>
                  <a:srgbClr val="FF0000"/>
                </a:solidFill>
                <a:latin typeface="Cambria Math"/>
                <a:cs typeface="Cambria Math"/>
              </a:rPr>
              <a:t>′</a:t>
            </a:r>
            <a:r>
              <a:rPr kern="1200" spc="100" dirty="0">
                <a:solidFill>
                  <a:srgbClr val="FF0000"/>
                </a:solidFill>
                <a:latin typeface="Cambria Math"/>
                <a:cs typeface="Cambria Math"/>
              </a:rPr>
              <a:t> </a:t>
            </a:r>
            <a:r>
              <a:rPr kern="1200" dirty="0">
                <a:solidFill>
                  <a:srgbClr val="FF0000"/>
                </a:solidFill>
                <a:latin typeface="Cambria Math"/>
                <a:cs typeface="Cambria Math"/>
              </a:rPr>
              <a:t>→</a:t>
            </a:r>
            <a:r>
              <a:rPr kern="1200" spc="105" dirty="0">
                <a:solidFill>
                  <a:srgbClr val="FF0000"/>
                </a:solidFill>
                <a:latin typeface="Cambria Math"/>
                <a:cs typeface="Cambria Math"/>
              </a:rPr>
              <a:t> </a:t>
            </a:r>
            <a:r>
              <a:rPr kern="1200" dirty="0">
                <a:solidFill>
                  <a:srgbClr val="FF0000"/>
                </a:solidFill>
                <a:latin typeface="Cambria Math"/>
                <a:cs typeface="Cambria Math"/>
              </a:rPr>
              <a:t>𝐞𝑆</a:t>
            </a:r>
            <a:r>
              <a:rPr kern="1200" spc="80" dirty="0">
                <a:solidFill>
                  <a:srgbClr val="FF0000"/>
                </a:solidFill>
                <a:latin typeface="Cambria Math"/>
                <a:cs typeface="Cambria Math"/>
              </a:rPr>
              <a:t>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 </a:t>
            </a:r>
            <a:r>
              <a:rPr kern="1200" spc="5" dirty="0">
                <a:solidFill>
                  <a:prstClr val="black"/>
                </a:solidFill>
                <a:latin typeface="Cambria Math"/>
                <a:cs typeface="Cambria Math"/>
              </a:rPr>
              <a:t>𝑀[𝑆’,</a:t>
            </a:r>
            <a:r>
              <a:rPr kern="1200" spc="-95" dirty="0">
                <a:solidFill>
                  <a:prstClr val="black"/>
                </a:solidFill>
                <a:latin typeface="Cambria Math"/>
                <a:cs typeface="Cambria Math"/>
              </a:rPr>
              <a:t> </a:t>
            </a:r>
            <a:r>
              <a:rPr kern="1200" dirty="0">
                <a:solidFill>
                  <a:prstClr val="black"/>
                </a:solidFill>
                <a:latin typeface="Cambria Math"/>
                <a:cs typeface="Cambria Math"/>
              </a:rPr>
              <a:t>𝐞]</a:t>
            </a:r>
          </a:p>
          <a:p>
            <a:pPr marL="711200" lvl="1" indent="-228600" rtl="0">
              <a:spcBef>
                <a:spcPts val="1660"/>
              </a:spcBef>
              <a:buClr>
                <a:srgbClr val="000000"/>
              </a:buClr>
              <a:buFont typeface="Wingdings"/>
              <a:buChar char=""/>
              <a:tabLst>
                <a:tab pos="711200" algn="l"/>
              </a:tabLst>
            </a:pPr>
            <a:r>
              <a:rPr kern="1200" spc="-10" dirty="0">
                <a:solidFill>
                  <a:srgbClr val="FF0000"/>
                </a:solidFill>
                <a:latin typeface="Cambria Math"/>
                <a:cs typeface="Cambria Math"/>
              </a:rPr>
              <a:t>FOLLOW(𝑆</a:t>
            </a:r>
            <a:r>
              <a:rPr lang="en-US" altLang="zh-CN" kern="1200" spc="-10" dirty="0">
                <a:solidFill>
                  <a:srgbClr val="FF0000"/>
                </a:solidFill>
                <a:latin typeface="Cambria Math"/>
                <a:cs typeface="Cambria Math"/>
              </a:rPr>
              <a:t>′</a:t>
            </a:r>
            <a:r>
              <a:rPr kern="1200" spc="-10" dirty="0">
                <a:solidFill>
                  <a:srgbClr val="FF0000"/>
                </a:solidFill>
                <a:latin typeface="Cambria Math"/>
                <a:cs typeface="Cambria Math"/>
              </a:rPr>
              <a:t>)</a:t>
            </a:r>
            <a:r>
              <a:rPr kern="1200" spc="100" dirty="0">
                <a:solidFill>
                  <a:srgbClr val="FF0000"/>
                </a:solidFill>
                <a:latin typeface="Cambria Math"/>
                <a:cs typeface="Cambria Math"/>
              </a:rPr>
              <a:t> </a:t>
            </a:r>
            <a:r>
              <a:rPr kern="1200" dirty="0">
                <a:solidFill>
                  <a:srgbClr val="FF0000"/>
                </a:solidFill>
                <a:latin typeface="Cambria Math"/>
                <a:cs typeface="Cambria Math"/>
              </a:rPr>
              <a:t>=</a:t>
            </a:r>
            <a:r>
              <a:rPr kern="1200" spc="100" dirty="0">
                <a:solidFill>
                  <a:srgbClr val="FF0000"/>
                </a:solidFill>
                <a:latin typeface="Cambria Math"/>
                <a:cs typeface="Cambria Math"/>
              </a:rPr>
              <a:t> </a:t>
            </a:r>
            <a:r>
              <a:rPr kern="1200" dirty="0">
                <a:solidFill>
                  <a:srgbClr val="FF0000"/>
                </a:solidFill>
                <a:latin typeface="Cambria Math"/>
                <a:cs typeface="Cambria Math"/>
              </a:rPr>
              <a:t>{$,</a:t>
            </a:r>
            <a:r>
              <a:rPr kern="1200" spc="-95" dirty="0">
                <a:solidFill>
                  <a:srgbClr val="FF0000"/>
                </a:solidFill>
                <a:latin typeface="Cambria Math"/>
                <a:cs typeface="Cambria Math"/>
              </a:rPr>
              <a:t> </a:t>
            </a:r>
            <a:r>
              <a:rPr kern="1200" dirty="0">
                <a:solidFill>
                  <a:srgbClr val="FF0000"/>
                </a:solidFill>
                <a:latin typeface="Cambria Math"/>
                <a:cs typeface="Cambria Math"/>
              </a:rPr>
              <a:t>𝐞}</a:t>
            </a:r>
            <a:r>
              <a:rPr kern="1200" dirty="0">
                <a:solidFill>
                  <a:prstClr val="black"/>
                </a:solidFill>
                <a:latin typeface="Palatino Linotype"/>
                <a:cs typeface="Palatino Linotype"/>
              </a:rPr>
              <a:t>,</a:t>
            </a:r>
            <a:r>
              <a:rPr kern="1200" spc="-5" dirty="0">
                <a:solidFill>
                  <a:prstClr val="black"/>
                </a:solidFill>
                <a:latin typeface="Palatino Linotype"/>
                <a:cs typeface="Palatino Linotype"/>
              </a:rPr>
              <a:t> so</a:t>
            </a:r>
            <a:r>
              <a:rPr kern="1200" dirty="0">
                <a:solidFill>
                  <a:prstClr val="black"/>
                </a:solidFill>
                <a:latin typeface="Palatino Linotype"/>
                <a:cs typeface="Palatino Linotype"/>
              </a:rPr>
              <a:t> </a:t>
            </a:r>
            <a:r>
              <a:rPr kern="1200" spc="-20" dirty="0">
                <a:solidFill>
                  <a:prstClr val="black"/>
                </a:solidFill>
                <a:latin typeface="Palatino Linotype"/>
                <a:cs typeface="Palatino Linotype"/>
              </a:rPr>
              <a:t>we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add </a:t>
            </a:r>
            <a:r>
              <a:rPr kern="1200" spc="-5" dirty="0">
                <a:solidFill>
                  <a:srgbClr val="FF0000"/>
                </a:solidFill>
                <a:latin typeface="Cambria Math"/>
                <a:cs typeface="Cambria Math"/>
              </a:rPr>
              <a:t>𝑆</a:t>
            </a:r>
            <a:r>
              <a:rPr lang="en-US" altLang="zh-CN" kern="1200" spc="-5" dirty="0">
                <a:solidFill>
                  <a:srgbClr val="FF0000"/>
                </a:solidFill>
                <a:latin typeface="Cambria Math"/>
                <a:cs typeface="Cambria Math"/>
              </a:rPr>
              <a:t>′</a:t>
            </a:r>
            <a:r>
              <a:rPr kern="1200" spc="100" dirty="0">
                <a:solidFill>
                  <a:srgbClr val="FF0000"/>
                </a:solidFill>
                <a:latin typeface="Cambria Math"/>
                <a:cs typeface="Cambria Math"/>
              </a:rPr>
              <a:t> </a:t>
            </a:r>
            <a:r>
              <a:rPr kern="1200" dirty="0">
                <a:solidFill>
                  <a:srgbClr val="FF0000"/>
                </a:solidFill>
                <a:latin typeface="Cambria Math"/>
                <a:cs typeface="Cambria Math"/>
              </a:rPr>
              <a:t>→</a:t>
            </a:r>
            <a:r>
              <a:rPr kern="1200" spc="105" dirty="0">
                <a:solidFill>
                  <a:srgbClr val="FF0000"/>
                </a:solidFill>
                <a:latin typeface="Cambria Math"/>
                <a:cs typeface="Cambria Math"/>
              </a:rPr>
              <a:t> </a:t>
            </a:r>
            <a:r>
              <a:rPr kern="1200" dirty="0">
                <a:solidFill>
                  <a:srgbClr val="FF0000"/>
                </a:solidFill>
                <a:latin typeface="Cambria Math"/>
                <a:cs typeface="Cambria Math"/>
              </a:rPr>
              <a:t>𝜖</a:t>
            </a:r>
            <a:r>
              <a:rPr kern="1200" spc="105" dirty="0">
                <a:solidFill>
                  <a:srgbClr val="FF0000"/>
                </a:solidFill>
                <a:latin typeface="Cambria Math"/>
                <a:cs typeface="Cambria Math"/>
              </a:rPr>
              <a:t> </a:t>
            </a:r>
            <a:r>
              <a:rPr kern="1200" dirty="0">
                <a:solidFill>
                  <a:prstClr val="black"/>
                </a:solidFill>
                <a:latin typeface="Palatino Linotype"/>
                <a:cs typeface="Palatino Linotype"/>
              </a:rPr>
              <a:t>to </a:t>
            </a:r>
            <a:r>
              <a:rPr kern="1200" spc="5" dirty="0">
                <a:solidFill>
                  <a:prstClr val="black"/>
                </a:solidFill>
                <a:latin typeface="Cambria Math"/>
                <a:cs typeface="Cambria Math"/>
              </a:rPr>
              <a:t>𝑀[𝑆’,</a:t>
            </a:r>
            <a:r>
              <a:rPr kern="1200" spc="-100" dirty="0">
                <a:solidFill>
                  <a:prstClr val="black"/>
                </a:solidFill>
                <a:latin typeface="Cambria Math"/>
                <a:cs typeface="Cambria Math"/>
              </a:rPr>
              <a:t> </a:t>
            </a:r>
            <a:r>
              <a:rPr kern="1200" dirty="0">
                <a:solidFill>
                  <a:prstClr val="black"/>
                </a:solidFill>
                <a:latin typeface="Cambria Math"/>
                <a:cs typeface="Cambria Math"/>
              </a:rPr>
              <a:t>𝐞]</a:t>
            </a:r>
          </a:p>
        </p:txBody>
      </p:sp>
      <p:grpSp>
        <p:nvGrpSpPr>
          <p:cNvPr id="13" name="object 4">
            <a:extLst>
              <a:ext uri="{FF2B5EF4-FFF2-40B4-BE49-F238E27FC236}">
                <a16:creationId xmlns:a16="http://schemas.microsoft.com/office/drawing/2014/main" id="{9A43D545-F02E-E425-DF91-74345BDD7C60}"/>
              </a:ext>
            </a:extLst>
          </p:cNvPr>
          <p:cNvGrpSpPr/>
          <p:nvPr/>
        </p:nvGrpSpPr>
        <p:grpSpPr>
          <a:xfrm>
            <a:off x="1066050" y="3084649"/>
            <a:ext cx="6989445" cy="2094864"/>
            <a:chOff x="1066050" y="3084649"/>
            <a:chExt cx="6989445" cy="2094864"/>
          </a:xfrm>
        </p:grpSpPr>
        <p:pic>
          <p:nvPicPr>
            <p:cNvPr id="14" name="object 5">
              <a:extLst>
                <a:ext uri="{FF2B5EF4-FFF2-40B4-BE49-F238E27FC236}">
                  <a16:creationId xmlns:a16="http://schemas.microsoft.com/office/drawing/2014/main" id="{F011DB5B-CA9A-9610-5144-8259DAC56C9E}"/>
                </a:ext>
              </a:extLst>
            </p:cNvPr>
            <p:cNvPicPr/>
            <p:nvPr/>
          </p:nvPicPr>
          <p:blipFill>
            <a:blip r:embed="rId3" cstate="print"/>
            <a:stretch>
              <a:fillRect/>
            </a:stretch>
          </p:blipFill>
          <p:spPr>
            <a:xfrm>
              <a:off x="1066050" y="3084649"/>
              <a:ext cx="6989310" cy="2094535"/>
            </a:xfrm>
            <a:prstGeom prst="rect">
              <a:avLst/>
            </a:prstGeom>
          </p:spPr>
        </p:pic>
        <p:sp>
          <p:nvSpPr>
            <p:cNvPr id="15" name="object 6">
              <a:extLst>
                <a:ext uri="{FF2B5EF4-FFF2-40B4-BE49-F238E27FC236}">
                  <a16:creationId xmlns:a16="http://schemas.microsoft.com/office/drawing/2014/main" id="{7204F8BE-A4A3-5D1F-6ACB-F009F662909C}"/>
                </a:ext>
              </a:extLst>
            </p:cNvPr>
            <p:cNvSpPr/>
            <p:nvPr/>
          </p:nvSpPr>
          <p:spPr>
            <a:xfrm>
              <a:off x="4135394" y="4382530"/>
              <a:ext cx="824230" cy="0"/>
            </a:xfrm>
            <a:custGeom>
              <a:avLst/>
              <a:gdLst/>
              <a:ahLst/>
              <a:cxnLst/>
              <a:rect l="l" t="t" r="r" b="b"/>
              <a:pathLst>
                <a:path w="824229">
                  <a:moveTo>
                    <a:pt x="0" y="0"/>
                  </a:moveTo>
                  <a:lnTo>
                    <a:pt x="823783" y="1"/>
                  </a:lnTo>
                </a:path>
              </a:pathLst>
            </a:custGeom>
            <a:ln w="381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6" name="object 7">
            <a:extLst>
              <a:ext uri="{FF2B5EF4-FFF2-40B4-BE49-F238E27FC236}">
                <a16:creationId xmlns:a16="http://schemas.microsoft.com/office/drawing/2014/main" id="{1C25017F-70C8-9D04-8D65-84657A2CC334}"/>
              </a:ext>
            </a:extLst>
          </p:cNvPr>
          <p:cNvSpPr txBox="1"/>
          <p:nvPr/>
        </p:nvSpPr>
        <p:spPr>
          <a:xfrm>
            <a:off x="992657" y="5418000"/>
            <a:ext cx="7158990" cy="735330"/>
          </a:xfrm>
          <a:prstGeom prst="rect">
            <a:avLst/>
          </a:prstGeom>
          <a:solidFill>
            <a:srgbClr val="FFF2CC"/>
          </a:solidFill>
          <a:ln w="9525">
            <a:solidFill>
              <a:srgbClr val="000000"/>
            </a:solidFill>
          </a:ln>
        </p:spPr>
        <p:txBody>
          <a:bodyPr vert="horz" wrap="square" lIns="0" tIns="59055" rIns="0" bIns="0" rtlCol="0">
            <a:spAutoFit/>
          </a:bodyPr>
          <a:lstStyle/>
          <a:p>
            <a:pPr marL="91440" rtl="0">
              <a:spcBef>
                <a:spcPts val="465"/>
              </a:spcBef>
            </a:pPr>
            <a:r>
              <a:rPr b="1" kern="1200" spc="-5" dirty="0">
                <a:solidFill>
                  <a:srgbClr val="0432FF"/>
                </a:solidFill>
                <a:latin typeface="Palatino Linotype"/>
                <a:cs typeface="Palatino Linotype"/>
              </a:rPr>
              <a:t>Solution:</a:t>
            </a:r>
            <a:r>
              <a:rPr b="1" kern="1200" spc="5" dirty="0">
                <a:solidFill>
                  <a:srgbClr val="0432FF"/>
                </a:solidFill>
                <a:latin typeface="Palatino Linotype"/>
                <a:cs typeface="Palatino Linotype"/>
              </a:rPr>
              <a:t> </a:t>
            </a:r>
            <a:r>
              <a:rPr kern="1200" spc="-5" dirty="0">
                <a:solidFill>
                  <a:srgbClr val="0432FF"/>
                </a:solidFill>
                <a:latin typeface="Palatino Linotype"/>
                <a:cs typeface="Palatino Linotype"/>
              </a:rPr>
              <a:t>Choose</a:t>
            </a:r>
            <a:r>
              <a:rPr kern="1200" spc="5" dirty="0">
                <a:solidFill>
                  <a:srgbClr val="0432FF"/>
                </a:solidFill>
                <a:latin typeface="Palatino Linotype"/>
                <a:cs typeface="Palatino Linotype"/>
              </a:rPr>
              <a:t> </a:t>
            </a:r>
            <a:r>
              <a:rPr kern="1200" spc="-5" dirty="0">
                <a:solidFill>
                  <a:srgbClr val="0432FF"/>
                </a:solidFill>
                <a:latin typeface="Cambria Math"/>
                <a:cs typeface="Cambria Math"/>
              </a:rPr>
              <a:t>𝑆’</a:t>
            </a:r>
            <a:r>
              <a:rPr kern="1200" spc="110" dirty="0">
                <a:solidFill>
                  <a:srgbClr val="0432FF"/>
                </a:solidFill>
                <a:latin typeface="Cambria Math"/>
                <a:cs typeface="Cambria Math"/>
              </a:rPr>
              <a:t> </a:t>
            </a:r>
            <a:r>
              <a:rPr kern="1200" dirty="0">
                <a:solidFill>
                  <a:srgbClr val="0432FF"/>
                </a:solidFill>
                <a:latin typeface="Cambria Math"/>
                <a:cs typeface="Cambria Math"/>
              </a:rPr>
              <a:t>→</a:t>
            </a:r>
            <a:r>
              <a:rPr kern="1200" spc="114" dirty="0">
                <a:solidFill>
                  <a:srgbClr val="0432FF"/>
                </a:solidFill>
                <a:latin typeface="Cambria Math"/>
                <a:cs typeface="Cambria Math"/>
              </a:rPr>
              <a:t> </a:t>
            </a:r>
            <a:r>
              <a:rPr kern="1200" spc="-5" dirty="0">
                <a:solidFill>
                  <a:srgbClr val="0432FF"/>
                </a:solidFill>
                <a:latin typeface="Cambria Math"/>
                <a:cs typeface="Cambria Math"/>
              </a:rPr>
              <a:t>𝑒𝑠</a:t>
            </a:r>
            <a:r>
              <a:rPr kern="1200" spc="100" dirty="0">
                <a:solidFill>
                  <a:srgbClr val="0432FF"/>
                </a:solidFill>
                <a:latin typeface="Cambria Math"/>
                <a:cs typeface="Cambria Math"/>
              </a:rPr>
              <a:t> </a:t>
            </a:r>
            <a:r>
              <a:rPr kern="1200" dirty="0">
                <a:solidFill>
                  <a:srgbClr val="0432FF"/>
                </a:solidFill>
                <a:latin typeface="Palatino Linotype"/>
                <a:cs typeface="Palatino Linotype"/>
              </a:rPr>
              <a:t>to</a:t>
            </a:r>
            <a:r>
              <a:rPr kern="1200" spc="5" dirty="0">
                <a:solidFill>
                  <a:srgbClr val="0432FF"/>
                </a:solidFill>
                <a:latin typeface="Palatino Linotype"/>
                <a:cs typeface="Palatino Linotype"/>
              </a:rPr>
              <a:t> </a:t>
            </a:r>
            <a:r>
              <a:rPr kern="1200" spc="-10" dirty="0">
                <a:solidFill>
                  <a:srgbClr val="0432FF"/>
                </a:solidFill>
                <a:latin typeface="Palatino Linotype"/>
                <a:cs typeface="Palatino Linotype"/>
              </a:rPr>
              <a:t>resolve</a:t>
            </a:r>
            <a:r>
              <a:rPr kern="1200" spc="5" dirty="0">
                <a:solidFill>
                  <a:srgbClr val="0432FF"/>
                </a:solidFill>
                <a:latin typeface="Palatino Linotype"/>
                <a:cs typeface="Palatino Linotype"/>
              </a:rPr>
              <a:t> </a:t>
            </a:r>
            <a:r>
              <a:rPr kern="1200" spc="-5" dirty="0">
                <a:solidFill>
                  <a:srgbClr val="0432FF"/>
                </a:solidFill>
                <a:latin typeface="Palatino Linotype"/>
                <a:cs typeface="Palatino Linotype"/>
              </a:rPr>
              <a:t>ambiguity</a:t>
            </a:r>
            <a:r>
              <a:rPr kern="1200" spc="5" dirty="0">
                <a:solidFill>
                  <a:srgbClr val="0432FF"/>
                </a:solidFill>
                <a:latin typeface="Palatino Linotype"/>
                <a:cs typeface="Palatino Linotype"/>
              </a:rPr>
              <a:t> </a:t>
            </a:r>
            <a:r>
              <a:rPr kern="1200" spc="-5" dirty="0">
                <a:solidFill>
                  <a:srgbClr val="0432FF"/>
                </a:solidFill>
                <a:latin typeface="Palatino Linotype"/>
                <a:cs typeface="Palatino Linotype"/>
              </a:rPr>
              <a:t>(associating</a:t>
            </a:r>
            <a:r>
              <a:rPr kern="1200" dirty="0">
                <a:solidFill>
                  <a:srgbClr val="0432FF"/>
                </a:solidFill>
                <a:latin typeface="Palatino Linotype"/>
                <a:cs typeface="Palatino Linotype"/>
              </a:rPr>
              <a:t> an</a:t>
            </a:r>
            <a:r>
              <a:rPr kern="1200" spc="5" dirty="0">
                <a:solidFill>
                  <a:srgbClr val="0432FF"/>
                </a:solidFill>
                <a:latin typeface="Palatino Linotype"/>
                <a:cs typeface="Palatino Linotype"/>
              </a:rPr>
              <a:t> </a:t>
            </a:r>
            <a:r>
              <a:rPr b="1" kern="1200" spc="-5" dirty="0">
                <a:solidFill>
                  <a:srgbClr val="0432FF"/>
                </a:solidFill>
                <a:latin typeface="Consolas"/>
                <a:cs typeface="Consolas"/>
              </a:rPr>
              <a:t>else</a:t>
            </a:r>
            <a:endParaRPr kern="1200" dirty="0">
              <a:solidFill>
                <a:prstClr val="black"/>
              </a:solidFill>
              <a:latin typeface="Consolas"/>
              <a:cs typeface="Consolas"/>
            </a:endParaRPr>
          </a:p>
          <a:p>
            <a:pPr marL="91440" rtl="0">
              <a:spcBef>
                <a:spcPts val="430"/>
              </a:spcBef>
            </a:pPr>
            <a:r>
              <a:rPr kern="1200" spc="-5" dirty="0">
                <a:solidFill>
                  <a:srgbClr val="0432FF"/>
                </a:solidFill>
                <a:latin typeface="Palatino Linotype"/>
                <a:cs typeface="Palatino Linotype"/>
              </a:rPr>
              <a:t>with</a:t>
            </a:r>
            <a:r>
              <a:rPr kern="1200" spc="-15" dirty="0">
                <a:solidFill>
                  <a:srgbClr val="0432FF"/>
                </a:solidFill>
                <a:latin typeface="Palatino Linotype"/>
                <a:cs typeface="Palatino Linotype"/>
              </a:rPr>
              <a:t> </a:t>
            </a:r>
            <a:r>
              <a:rPr kern="1200" dirty="0">
                <a:solidFill>
                  <a:srgbClr val="0432FF"/>
                </a:solidFill>
                <a:latin typeface="Palatino Linotype"/>
                <a:cs typeface="Palatino Linotype"/>
              </a:rPr>
              <a:t>the</a:t>
            </a:r>
            <a:r>
              <a:rPr kern="1200" spc="-10" dirty="0">
                <a:solidFill>
                  <a:srgbClr val="0432FF"/>
                </a:solidFill>
                <a:latin typeface="Palatino Linotype"/>
                <a:cs typeface="Palatino Linotype"/>
              </a:rPr>
              <a:t> </a:t>
            </a:r>
            <a:r>
              <a:rPr kern="1200" spc="-5" dirty="0">
                <a:solidFill>
                  <a:srgbClr val="0432FF"/>
                </a:solidFill>
                <a:latin typeface="Palatino Linotype"/>
                <a:cs typeface="Palatino Linotype"/>
              </a:rPr>
              <a:t>closest</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previous</a:t>
            </a:r>
            <a:r>
              <a:rPr kern="1200" spc="-15" dirty="0">
                <a:solidFill>
                  <a:srgbClr val="0432FF"/>
                </a:solidFill>
                <a:latin typeface="Palatino Linotype"/>
                <a:cs typeface="Palatino Linotype"/>
              </a:rPr>
              <a:t> </a:t>
            </a:r>
            <a:r>
              <a:rPr b="1" kern="1200" spc="-5" dirty="0">
                <a:solidFill>
                  <a:srgbClr val="0432FF"/>
                </a:solidFill>
                <a:latin typeface="Consolas"/>
                <a:cs typeface="Consolas"/>
              </a:rPr>
              <a:t>then</a:t>
            </a:r>
            <a:r>
              <a:rPr kern="1200" spc="-5" dirty="0">
                <a:solidFill>
                  <a:srgbClr val="0432FF"/>
                </a:solidFill>
                <a:latin typeface="Palatino Linotype"/>
                <a:cs typeface="Palatino Linotype"/>
              </a:rPr>
              <a:t>)</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12197855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80</a:t>
            </a:fld>
            <a:endParaRPr lang="en-US"/>
          </a:p>
        </p:txBody>
      </p:sp>
      <p:sp>
        <p:nvSpPr>
          <p:cNvPr id="10" name="object 2">
            <a:extLst>
              <a:ext uri="{FF2B5EF4-FFF2-40B4-BE49-F238E27FC236}">
                <a16:creationId xmlns:a16="http://schemas.microsoft.com/office/drawing/2014/main" id="{DB9BE80E-8F52-F0A8-04E8-9602F0F4A980}"/>
              </a:ext>
            </a:extLst>
          </p:cNvPr>
          <p:cNvSpPr txBox="1">
            <a:spLocks/>
          </p:cNvSpPr>
          <p:nvPr/>
        </p:nvSpPr>
        <p:spPr>
          <a:xfrm>
            <a:off x="1465262" y="393699"/>
            <a:ext cx="6213475" cy="1181100"/>
          </a:xfrm>
          <a:prstGeom prst="rect">
            <a:avLst/>
          </a:prstGeom>
        </p:spPr>
        <p:txBody>
          <a:bodyPr vert="horz" wrap="square" lIns="0" tIns="83820" rIns="0" bIns="0" rtlCol="0">
            <a:spAutoFit/>
          </a:bodyPr>
          <a:lstStyle>
            <a:lvl1pPr>
              <a:defRPr sz="4000" b="1" i="0">
                <a:solidFill>
                  <a:schemeClr val="tx1"/>
                </a:solidFill>
                <a:latin typeface="Palatino Linotype"/>
                <a:ea typeface="+mj-ea"/>
                <a:cs typeface="Palatino Linotype"/>
              </a:defRPr>
            </a:lvl1pPr>
          </a:lstStyle>
          <a:p>
            <a:pPr marL="805180" marR="5080" lvl="0" indent="-793115" defTabSz="914400" eaLnBrk="1" fontAlgn="auto" latinLnBrk="0" hangingPunct="1">
              <a:lnSpc>
                <a:spcPts val="4300"/>
              </a:lnSpc>
              <a:spcBef>
                <a:spcPts val="66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Recursive-Descent Parsing </a:t>
            </a:r>
            <a:r>
              <a:rPr kumimoji="0" lang="en-US" sz="4000" b="1" i="0" u="none" strike="noStrike" kern="0" cap="none" spc="-98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for</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LL(1)</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Grammars</a:t>
            </a:r>
          </a:p>
        </p:txBody>
      </p:sp>
      <p:grpSp>
        <p:nvGrpSpPr>
          <p:cNvPr id="11" name="object 3">
            <a:extLst>
              <a:ext uri="{FF2B5EF4-FFF2-40B4-BE49-F238E27FC236}">
                <a16:creationId xmlns:a16="http://schemas.microsoft.com/office/drawing/2014/main" id="{1531E11B-1E75-1E9C-3A7B-813124EEE7C2}"/>
              </a:ext>
            </a:extLst>
          </p:cNvPr>
          <p:cNvGrpSpPr/>
          <p:nvPr/>
        </p:nvGrpSpPr>
        <p:grpSpPr>
          <a:xfrm>
            <a:off x="1093046" y="2051789"/>
            <a:ext cx="6942455" cy="2898140"/>
            <a:chOff x="1093046" y="2051789"/>
            <a:chExt cx="6942455" cy="2898140"/>
          </a:xfrm>
        </p:grpSpPr>
        <p:pic>
          <p:nvPicPr>
            <p:cNvPr id="12" name="object 4">
              <a:extLst>
                <a:ext uri="{FF2B5EF4-FFF2-40B4-BE49-F238E27FC236}">
                  <a16:creationId xmlns:a16="http://schemas.microsoft.com/office/drawing/2014/main" id="{CA0E2823-4763-9B84-FF8D-729EB4291445}"/>
                </a:ext>
              </a:extLst>
            </p:cNvPr>
            <p:cNvPicPr/>
            <p:nvPr/>
          </p:nvPicPr>
          <p:blipFill>
            <a:blip r:embed="rId3" cstate="print"/>
            <a:stretch>
              <a:fillRect/>
            </a:stretch>
          </p:blipFill>
          <p:spPr>
            <a:xfrm>
              <a:off x="1093046" y="2051789"/>
              <a:ext cx="6941982" cy="2897799"/>
            </a:xfrm>
            <a:prstGeom prst="rect">
              <a:avLst/>
            </a:prstGeom>
          </p:spPr>
        </p:pic>
        <p:sp>
          <p:nvSpPr>
            <p:cNvPr id="13" name="object 5">
              <a:extLst>
                <a:ext uri="{FF2B5EF4-FFF2-40B4-BE49-F238E27FC236}">
                  <a16:creationId xmlns:a16="http://schemas.microsoft.com/office/drawing/2014/main" id="{90533553-A3BF-785E-4163-2DEF534953CA}"/>
                </a:ext>
              </a:extLst>
            </p:cNvPr>
            <p:cNvSpPr/>
            <p:nvPr/>
          </p:nvSpPr>
          <p:spPr>
            <a:xfrm>
              <a:off x="2093193" y="2317004"/>
              <a:ext cx="5130165" cy="292735"/>
            </a:xfrm>
            <a:custGeom>
              <a:avLst/>
              <a:gdLst/>
              <a:ahLst/>
              <a:cxnLst/>
              <a:rect l="l" t="t" r="r" b="b"/>
              <a:pathLst>
                <a:path w="5130165" h="292735">
                  <a:moveTo>
                    <a:pt x="0" y="0"/>
                  </a:moveTo>
                  <a:lnTo>
                    <a:pt x="5129600" y="0"/>
                  </a:lnTo>
                  <a:lnTo>
                    <a:pt x="5129600" y="292330"/>
                  </a:lnTo>
                  <a:lnTo>
                    <a:pt x="0" y="29233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4" name="object 6">
            <a:extLst>
              <a:ext uri="{FF2B5EF4-FFF2-40B4-BE49-F238E27FC236}">
                <a16:creationId xmlns:a16="http://schemas.microsoft.com/office/drawing/2014/main" id="{157C726B-04C9-4C08-C4E1-B62C93401B7B}"/>
              </a:ext>
            </a:extLst>
          </p:cNvPr>
          <p:cNvSpPr txBox="1"/>
          <p:nvPr/>
        </p:nvSpPr>
        <p:spPr>
          <a:xfrm>
            <a:off x="800614" y="5274876"/>
            <a:ext cx="7723505" cy="734695"/>
          </a:xfrm>
          <a:prstGeom prst="rect">
            <a:avLst/>
          </a:prstGeom>
          <a:solidFill>
            <a:srgbClr val="FFF2CC"/>
          </a:solidFill>
          <a:ln w="9525">
            <a:solidFill>
              <a:srgbClr val="000000"/>
            </a:solidFill>
          </a:ln>
        </p:spPr>
        <p:txBody>
          <a:bodyPr vert="horz" wrap="square" lIns="0" tIns="59055" rIns="0" bIns="0" rtlCol="0">
            <a:spAutoFit/>
          </a:bodyPr>
          <a:lstStyle/>
          <a:p>
            <a:pPr marL="90805" rtl="0">
              <a:spcBef>
                <a:spcPts val="465"/>
              </a:spcBef>
            </a:pPr>
            <a:r>
              <a:rPr kern="1200" dirty="0">
                <a:solidFill>
                  <a:srgbClr val="FF0000"/>
                </a:solidFill>
                <a:latin typeface="Palatino Linotype"/>
                <a:cs typeface="Palatino Linotype"/>
              </a:rPr>
              <a:t>Replace</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line</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1</a:t>
            </a:r>
            <a:r>
              <a:rPr kern="1200" spc="-5" dirty="0">
                <a:solidFill>
                  <a:srgbClr val="FF0000"/>
                </a:solidFill>
                <a:latin typeface="Palatino Linotype"/>
                <a:cs typeface="Palatino Linotype"/>
              </a:rPr>
              <a:t> with: </a:t>
            </a:r>
            <a:r>
              <a:rPr kern="1200" spc="-5" dirty="0">
                <a:solidFill>
                  <a:srgbClr val="0432FF"/>
                </a:solidFill>
                <a:latin typeface="Palatino Linotype"/>
                <a:cs typeface="Palatino Linotype"/>
              </a:rPr>
              <a:t>Choose </a:t>
            </a:r>
            <a:r>
              <a:rPr i="1" kern="1200" dirty="0">
                <a:solidFill>
                  <a:srgbClr val="0432FF"/>
                </a:solidFill>
                <a:latin typeface="Palatino Linotype"/>
                <a:cs typeface="Palatino Linotype"/>
              </a:rPr>
              <a:t>A</a:t>
            </a:r>
            <a:r>
              <a:rPr kern="1200" dirty="0">
                <a:solidFill>
                  <a:srgbClr val="0432FF"/>
                </a:solidFill>
                <a:latin typeface="Palatino Linotype"/>
                <a:cs typeface="Palatino Linotype"/>
              </a:rPr>
              <a:t>-production</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according</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to</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the</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parse</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table</a:t>
            </a:r>
            <a:endParaRPr kern="1200" dirty="0">
              <a:solidFill>
                <a:prstClr val="black"/>
              </a:solidFill>
              <a:latin typeface="Palatino Linotype"/>
              <a:cs typeface="Palatino Linotype"/>
            </a:endParaRPr>
          </a:p>
          <a:p>
            <a:pPr marL="377190" indent="-286385" rtl="0">
              <a:spcBef>
                <a:spcPts val="430"/>
              </a:spcBef>
              <a:buFont typeface="Arial MT"/>
              <a:buChar char="•"/>
              <a:tabLst>
                <a:tab pos="376555" algn="l"/>
                <a:tab pos="377190" algn="l"/>
              </a:tabLst>
            </a:pPr>
            <a:r>
              <a:rPr kern="1200" spc="-5" dirty="0">
                <a:solidFill>
                  <a:prstClr val="black"/>
                </a:solidFill>
                <a:latin typeface="Palatino Linotype"/>
                <a:cs typeface="Palatino Linotype"/>
              </a:rPr>
              <a:t>Assume </a:t>
            </a:r>
            <a:r>
              <a:rPr kern="1200" dirty="0">
                <a:solidFill>
                  <a:prstClr val="black"/>
                </a:solidFill>
                <a:latin typeface="Palatino Linotype"/>
                <a:cs typeface="Palatino Linotype"/>
              </a:rPr>
              <a:t>input</a:t>
            </a:r>
            <a:r>
              <a:rPr kern="1200" spc="-5" dirty="0">
                <a:solidFill>
                  <a:prstClr val="black"/>
                </a:solidFill>
                <a:latin typeface="Palatino Linotype"/>
                <a:cs typeface="Palatino Linotype"/>
              </a:rPr>
              <a:t> symbol </a:t>
            </a:r>
            <a:r>
              <a:rPr kern="1200"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spc="20" dirty="0">
                <a:solidFill>
                  <a:prstClr val="black"/>
                </a:solidFill>
                <a:latin typeface="Cambria Math"/>
                <a:cs typeface="Cambria Math"/>
              </a:rPr>
              <a:t>𝑎</a:t>
            </a:r>
            <a:r>
              <a:rPr kern="1200" spc="20" dirty="0">
                <a:solidFill>
                  <a:prstClr val="black"/>
                </a:solidFill>
                <a:latin typeface="Palatino Linotype"/>
                <a:cs typeface="Palatino Linotype"/>
              </a:rPr>
              <a:t>,</a:t>
            </a:r>
            <a:r>
              <a:rPr kern="1200" dirty="0">
                <a:solidFill>
                  <a:prstClr val="black"/>
                </a:solidFill>
                <a:latin typeface="Palatino Linotype"/>
                <a:cs typeface="Palatino Linotype"/>
              </a:rPr>
              <a:t> then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choice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 production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spc="10" dirty="0">
                <a:solidFill>
                  <a:prstClr val="black"/>
                </a:solidFill>
                <a:latin typeface="Cambria Math"/>
                <a:cs typeface="Cambria Math"/>
              </a:rPr>
              <a:t>𝑀[𝐴,</a:t>
            </a:r>
            <a:r>
              <a:rPr kern="1200" spc="-95" dirty="0">
                <a:solidFill>
                  <a:prstClr val="black"/>
                </a:solidFill>
                <a:latin typeface="Cambria Math"/>
                <a:cs typeface="Cambria Math"/>
              </a:rPr>
              <a:t> </a:t>
            </a:r>
            <a:r>
              <a:rPr kern="1200" spc="20" dirty="0">
                <a:solidFill>
                  <a:prstClr val="black"/>
                </a:solidFill>
                <a:latin typeface="Cambria Math"/>
                <a:cs typeface="Cambria Math"/>
              </a:rPr>
              <a:t>𝑎]</a:t>
            </a:r>
            <a:endParaRPr kern="1200" dirty="0">
              <a:solidFill>
                <a:prstClr val="black"/>
              </a:solidFill>
              <a:latin typeface="Cambria Math"/>
              <a:cs typeface="Cambria Math"/>
            </a:endParaRPr>
          </a:p>
        </p:txBody>
      </p:sp>
    </p:spTree>
    <p:extLst>
      <p:ext uri="{BB962C8B-B14F-4D97-AF65-F5344CB8AC3E}">
        <p14:creationId xmlns:p14="http://schemas.microsoft.com/office/powerpoint/2010/main" val="24248107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81</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6">
            <a:extLst>
              <a:ext uri="{FF2B5EF4-FFF2-40B4-BE49-F238E27FC236}">
                <a16:creationId xmlns:a16="http://schemas.microsoft.com/office/drawing/2014/main" id="{B357E768-5A8B-717E-C513-1622196C44BC}"/>
              </a:ext>
            </a:extLst>
          </p:cNvPr>
          <p:cNvSpPr txBox="1"/>
          <p:nvPr/>
        </p:nvSpPr>
        <p:spPr>
          <a:xfrm>
            <a:off x="4932040" y="3573016"/>
            <a:ext cx="3989070" cy="925894"/>
          </a:xfrm>
          <a:prstGeom prst="rect">
            <a:avLst/>
          </a:prstGeom>
          <a:ln w="12700">
            <a:solidFill>
              <a:srgbClr val="7F7F7F"/>
            </a:solidFill>
          </a:ln>
        </p:spPr>
        <p:txBody>
          <a:bodyPr vert="horz" wrap="square" lIns="0" tIns="152400" rIns="0" bIns="0" rtlCol="0">
            <a:spAutoFit/>
          </a:bodyPr>
          <a:lstStyle/>
          <a:p>
            <a:pPr marL="440055" indent="-286385">
              <a:lnSpc>
                <a:spcPct val="100000"/>
              </a:lnSpc>
              <a:spcBef>
                <a:spcPts val="1200"/>
              </a:spcBef>
              <a:buFont typeface="Arial MT"/>
              <a:buChar char="•"/>
              <a:tabLst>
                <a:tab pos="440055" algn="l"/>
                <a:tab pos="440690" algn="l"/>
              </a:tabLst>
            </a:pPr>
            <a:r>
              <a:rPr sz="1800" spc="-5" dirty="0">
                <a:solidFill>
                  <a:schemeClr val="bg2">
                    <a:lumMod val="50000"/>
                  </a:schemeClr>
                </a:solidFill>
                <a:latin typeface="Palatino Linotype"/>
                <a:cs typeface="Palatino Linotype"/>
              </a:rPr>
              <a:t>Recursive-descent</a:t>
            </a:r>
            <a:r>
              <a:rPr sz="1800" spc="-30"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parsing</a:t>
            </a:r>
          </a:p>
          <a:p>
            <a:pPr marL="440055" indent="-286385">
              <a:lnSpc>
                <a:spcPct val="100000"/>
              </a:lnSpc>
              <a:spcBef>
                <a:spcPts val="1730"/>
              </a:spcBef>
              <a:buFont typeface="Arial MT"/>
              <a:buChar char="•"/>
              <a:tabLst>
                <a:tab pos="440055" algn="l"/>
                <a:tab pos="440690" algn="l"/>
              </a:tabLst>
            </a:pPr>
            <a:r>
              <a:rPr sz="1800" spc="-5" dirty="0">
                <a:latin typeface="Palatino Linotype"/>
                <a:cs typeface="Palatino Linotype"/>
              </a:rPr>
              <a:t>Non-recursive</a:t>
            </a:r>
            <a:r>
              <a:rPr sz="1800" spc="-20" dirty="0">
                <a:latin typeface="Palatino Linotype"/>
                <a:cs typeface="Palatino Linotype"/>
              </a:rPr>
              <a:t> </a:t>
            </a:r>
            <a:r>
              <a:rPr sz="1800" spc="-5" dirty="0">
                <a:latin typeface="Palatino Linotype"/>
                <a:cs typeface="Palatino Linotype"/>
              </a:rPr>
              <a:t>predictive</a:t>
            </a:r>
            <a:r>
              <a:rPr sz="1800" spc="-20" dirty="0">
                <a:latin typeface="Palatino Linotype"/>
                <a:cs typeface="Palatino Linotype"/>
              </a:rPr>
              <a:t> </a:t>
            </a:r>
            <a:r>
              <a:rPr sz="1800" dirty="0">
                <a:latin typeface="Palatino Linotype"/>
                <a:cs typeface="Palatino Linotype"/>
              </a:rPr>
              <a:t>parsing</a:t>
            </a:r>
          </a:p>
        </p:txBody>
      </p:sp>
      <p:sp>
        <p:nvSpPr>
          <p:cNvPr id="6" name="object 7">
            <a:extLst>
              <a:ext uri="{FF2B5EF4-FFF2-40B4-BE49-F238E27FC236}">
                <a16:creationId xmlns:a16="http://schemas.microsoft.com/office/drawing/2014/main" id="{538EDAB8-F560-0BF3-AE0F-451C23EBB874}"/>
              </a:ext>
            </a:extLst>
          </p:cNvPr>
          <p:cNvSpPr/>
          <p:nvPr/>
        </p:nvSpPr>
        <p:spPr>
          <a:xfrm>
            <a:off x="3571245" y="4103589"/>
            <a:ext cx="1368425" cy="137160"/>
          </a:xfrm>
          <a:custGeom>
            <a:avLst/>
            <a:gdLst/>
            <a:ahLst/>
            <a:cxnLst/>
            <a:rect l="l" t="t" r="r" b="b"/>
            <a:pathLst>
              <a:path w="1368425" h="137160">
                <a:moveTo>
                  <a:pt x="1368254" y="136692"/>
                </a:moveTo>
                <a:lnTo>
                  <a:pt x="0" y="0"/>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38251974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82</a:t>
            </a:fld>
            <a:endParaRPr lang="en-US"/>
          </a:p>
        </p:txBody>
      </p:sp>
      <p:sp>
        <p:nvSpPr>
          <p:cNvPr id="11" name="object 2">
            <a:extLst>
              <a:ext uri="{FF2B5EF4-FFF2-40B4-BE49-F238E27FC236}">
                <a16:creationId xmlns:a16="http://schemas.microsoft.com/office/drawing/2014/main" id="{40347996-27B0-C49F-0D25-6CE440E48E94}"/>
              </a:ext>
            </a:extLst>
          </p:cNvPr>
          <p:cNvSpPr txBox="1">
            <a:spLocks/>
          </p:cNvSpPr>
          <p:nvPr/>
        </p:nvSpPr>
        <p:spPr>
          <a:xfrm>
            <a:off x="707390" y="541019"/>
            <a:ext cx="7445375" cy="60452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800" b="1" i="0" u="none" strike="noStrike" kern="0" cap="none" spc="-5" normalizeH="0" baseline="0" noProof="0">
                <a:ln>
                  <a:noFill/>
                </a:ln>
                <a:solidFill>
                  <a:sysClr val="windowText" lastClr="000000"/>
                </a:solidFill>
                <a:effectLst/>
                <a:uLnTx/>
                <a:uFillTx/>
                <a:latin typeface="Palatino Linotype"/>
                <a:ea typeface="+mj-ea"/>
              </a:rPr>
              <a:t>Non-Recursive</a:t>
            </a:r>
            <a:r>
              <a:rPr kumimoji="0" lang="en-US" sz="3800" b="1" i="0" u="none" strike="noStrike" kern="0" cap="none" spc="0" normalizeH="0" baseline="0" noProof="0">
                <a:ln>
                  <a:noFill/>
                </a:ln>
                <a:solidFill>
                  <a:sysClr val="windowText" lastClr="000000"/>
                </a:solidFill>
                <a:effectLst/>
                <a:uLnTx/>
                <a:uFillTx/>
                <a:latin typeface="Palatino Linotype"/>
                <a:ea typeface="+mj-ea"/>
              </a:rPr>
              <a:t> </a:t>
            </a:r>
            <a:r>
              <a:rPr kumimoji="0" lang="en-US" sz="3800" b="1" i="0" u="none" strike="noStrike" kern="0" cap="none" spc="-5" normalizeH="0" baseline="0" noProof="0">
                <a:ln>
                  <a:noFill/>
                </a:ln>
                <a:solidFill>
                  <a:sysClr val="windowText" lastClr="000000"/>
                </a:solidFill>
                <a:effectLst/>
                <a:uLnTx/>
                <a:uFillTx/>
                <a:latin typeface="Palatino Linotype"/>
                <a:ea typeface="+mj-ea"/>
              </a:rPr>
              <a:t>Predictive</a:t>
            </a:r>
            <a:r>
              <a:rPr kumimoji="0" lang="en-US" sz="3800" b="1" i="0" u="none" strike="noStrike" kern="0" cap="none" spc="0" normalizeH="0" baseline="0" noProof="0">
                <a:ln>
                  <a:noFill/>
                </a:ln>
                <a:solidFill>
                  <a:sysClr val="windowText" lastClr="000000"/>
                </a:solidFill>
                <a:effectLst/>
                <a:uLnTx/>
                <a:uFillTx/>
                <a:latin typeface="Palatino Linotype"/>
                <a:ea typeface="+mj-ea"/>
              </a:rPr>
              <a:t> </a:t>
            </a:r>
            <a:r>
              <a:rPr kumimoji="0" lang="en-US" sz="3800" b="1" i="0" u="none" strike="noStrike" kern="0" cap="none" spc="-5" normalizeH="0" baseline="0" noProof="0">
                <a:ln>
                  <a:noFill/>
                </a:ln>
                <a:solidFill>
                  <a:sysClr val="windowText" lastClr="000000"/>
                </a:solidFill>
                <a:effectLst/>
                <a:uLnTx/>
                <a:uFillTx/>
                <a:latin typeface="Palatino Linotype"/>
                <a:ea typeface="+mj-ea"/>
              </a:rPr>
              <a:t>Parsing</a:t>
            </a:r>
            <a:endParaRPr kumimoji="0" lang="en-US" sz="3800" b="1" i="0" u="none" strike="noStrike" kern="0" cap="none" spc="0" normalizeH="0" baseline="0" noProof="0">
              <a:ln>
                <a:noFill/>
              </a:ln>
              <a:solidFill>
                <a:sysClr val="windowText" lastClr="000000"/>
              </a:solidFill>
              <a:effectLst/>
              <a:uLnTx/>
              <a:uFillTx/>
              <a:latin typeface="Palatino Linotype"/>
              <a:ea typeface="+mj-ea"/>
            </a:endParaRPr>
          </a:p>
        </p:txBody>
      </p:sp>
      <p:grpSp>
        <p:nvGrpSpPr>
          <p:cNvPr id="12" name="object 3">
            <a:extLst>
              <a:ext uri="{FF2B5EF4-FFF2-40B4-BE49-F238E27FC236}">
                <a16:creationId xmlns:a16="http://schemas.microsoft.com/office/drawing/2014/main" id="{68015EE5-7D81-3C75-4455-EEDCACA4574A}"/>
              </a:ext>
            </a:extLst>
          </p:cNvPr>
          <p:cNvGrpSpPr/>
          <p:nvPr/>
        </p:nvGrpSpPr>
        <p:grpSpPr>
          <a:xfrm>
            <a:off x="959320" y="1661452"/>
            <a:ext cx="7075805" cy="2898140"/>
            <a:chOff x="959320" y="1661452"/>
            <a:chExt cx="7075805" cy="2898140"/>
          </a:xfrm>
        </p:grpSpPr>
        <p:pic>
          <p:nvPicPr>
            <p:cNvPr id="13" name="object 4">
              <a:extLst>
                <a:ext uri="{FF2B5EF4-FFF2-40B4-BE49-F238E27FC236}">
                  <a16:creationId xmlns:a16="http://schemas.microsoft.com/office/drawing/2014/main" id="{2AA71535-AB4D-69BD-AA69-0979FD861472}"/>
                </a:ext>
              </a:extLst>
            </p:cNvPr>
            <p:cNvPicPr/>
            <p:nvPr/>
          </p:nvPicPr>
          <p:blipFill>
            <a:blip r:embed="rId3" cstate="print"/>
            <a:stretch>
              <a:fillRect/>
            </a:stretch>
          </p:blipFill>
          <p:spPr>
            <a:xfrm>
              <a:off x="1093046" y="1661452"/>
              <a:ext cx="6941982" cy="2897799"/>
            </a:xfrm>
            <a:prstGeom prst="rect">
              <a:avLst/>
            </a:prstGeom>
          </p:spPr>
        </p:pic>
        <p:sp>
          <p:nvSpPr>
            <p:cNvPr id="14" name="object 5">
              <a:extLst>
                <a:ext uri="{FF2B5EF4-FFF2-40B4-BE49-F238E27FC236}">
                  <a16:creationId xmlns:a16="http://schemas.microsoft.com/office/drawing/2014/main" id="{FC4FAB52-148C-D4A3-4D4E-E117FB978B0A}"/>
                </a:ext>
              </a:extLst>
            </p:cNvPr>
            <p:cNvSpPr/>
            <p:nvPr/>
          </p:nvSpPr>
          <p:spPr>
            <a:xfrm>
              <a:off x="965670" y="2810060"/>
              <a:ext cx="5130165" cy="292735"/>
            </a:xfrm>
            <a:custGeom>
              <a:avLst/>
              <a:gdLst/>
              <a:ahLst/>
              <a:cxnLst/>
              <a:rect l="l" t="t" r="r" b="b"/>
              <a:pathLst>
                <a:path w="5130165" h="292735">
                  <a:moveTo>
                    <a:pt x="0" y="0"/>
                  </a:moveTo>
                  <a:lnTo>
                    <a:pt x="5129600" y="0"/>
                  </a:lnTo>
                  <a:lnTo>
                    <a:pt x="5129600" y="292330"/>
                  </a:lnTo>
                  <a:lnTo>
                    <a:pt x="0" y="29233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15" name="object 6">
            <a:extLst>
              <a:ext uri="{FF2B5EF4-FFF2-40B4-BE49-F238E27FC236}">
                <a16:creationId xmlns:a16="http://schemas.microsoft.com/office/drawing/2014/main" id="{281E1C97-7454-BB71-C4B3-2AA7737BC06B}"/>
              </a:ext>
            </a:extLst>
          </p:cNvPr>
          <p:cNvPicPr/>
          <p:nvPr/>
        </p:nvPicPr>
        <p:blipFill>
          <a:blip r:embed="rId4" cstate="print"/>
          <a:stretch>
            <a:fillRect/>
          </a:stretch>
        </p:blipFill>
        <p:spPr>
          <a:xfrm>
            <a:off x="1219022" y="4934043"/>
            <a:ext cx="1060264" cy="1060265"/>
          </a:xfrm>
          <a:prstGeom prst="rect">
            <a:avLst/>
          </a:prstGeom>
        </p:spPr>
      </p:pic>
      <p:sp>
        <p:nvSpPr>
          <p:cNvPr id="16" name="object 7">
            <a:extLst>
              <a:ext uri="{FF2B5EF4-FFF2-40B4-BE49-F238E27FC236}">
                <a16:creationId xmlns:a16="http://schemas.microsoft.com/office/drawing/2014/main" id="{EEE2E029-E213-56D4-84A3-50D8A52BA1AA}"/>
              </a:ext>
            </a:extLst>
          </p:cNvPr>
          <p:cNvSpPr txBox="1"/>
          <p:nvPr/>
        </p:nvSpPr>
        <p:spPr>
          <a:xfrm>
            <a:off x="2764789" y="5056123"/>
            <a:ext cx="4627880" cy="708660"/>
          </a:xfrm>
          <a:prstGeom prst="rect">
            <a:avLst/>
          </a:prstGeom>
        </p:spPr>
        <p:txBody>
          <a:bodyPr vert="horz" wrap="square" lIns="0" tIns="12700" rIns="0" bIns="0" rtlCol="0">
            <a:spAutoFit/>
          </a:bodyPr>
          <a:lstStyle/>
          <a:p>
            <a:pPr marL="12700" marR="5080" rtl="0">
              <a:lnSpc>
                <a:spcPct val="124400"/>
              </a:lnSpc>
              <a:spcBef>
                <a:spcPts val="100"/>
              </a:spcBef>
            </a:pPr>
            <a:r>
              <a:rPr kern="1200" spc="-5" dirty="0">
                <a:solidFill>
                  <a:srgbClr val="FF0000"/>
                </a:solidFill>
                <a:latin typeface="Palatino Linotype"/>
                <a:cs typeface="Palatino Linotype"/>
              </a:rPr>
              <a:t>Recursive-descent </a:t>
            </a:r>
            <a:r>
              <a:rPr kern="1200" dirty="0">
                <a:solidFill>
                  <a:srgbClr val="FF0000"/>
                </a:solidFill>
                <a:latin typeface="Palatino Linotype"/>
                <a:cs typeface="Palatino Linotype"/>
              </a:rPr>
              <a:t>parsing has </a:t>
            </a:r>
            <a:r>
              <a:rPr kern="1200" spc="-5" dirty="0">
                <a:solidFill>
                  <a:srgbClr val="FF0000"/>
                </a:solidFill>
                <a:latin typeface="Palatino Linotype"/>
                <a:cs typeface="Palatino Linotype"/>
              </a:rPr>
              <a:t>recursive calls. </a:t>
            </a:r>
            <a:r>
              <a:rPr kern="1200" spc="-434" dirty="0">
                <a:solidFill>
                  <a:srgbClr val="FF0000"/>
                </a:solidFill>
                <a:latin typeface="Palatino Linotype"/>
                <a:cs typeface="Palatino Linotype"/>
              </a:rPr>
              <a:t> </a:t>
            </a:r>
            <a:r>
              <a:rPr kern="1200" spc="-5" dirty="0">
                <a:solidFill>
                  <a:srgbClr val="FF0000"/>
                </a:solidFill>
                <a:latin typeface="Palatino Linotype"/>
                <a:cs typeface="Palatino Linotype"/>
              </a:rPr>
              <a:t>Can </a:t>
            </a:r>
            <a:r>
              <a:rPr kern="1200" spc="-20" dirty="0">
                <a:solidFill>
                  <a:srgbClr val="FF0000"/>
                </a:solidFill>
                <a:latin typeface="Palatino Linotype"/>
                <a:cs typeface="Palatino Linotype"/>
              </a:rPr>
              <a:t>we</a:t>
            </a:r>
            <a:r>
              <a:rPr kern="1200" spc="-5" dirty="0">
                <a:solidFill>
                  <a:srgbClr val="FF0000"/>
                </a:solidFill>
                <a:latin typeface="Palatino Linotype"/>
                <a:cs typeface="Palatino Linotype"/>
              </a:rPr>
              <a:t> design</a:t>
            </a:r>
            <a:r>
              <a:rPr kern="1200" dirty="0">
                <a:solidFill>
                  <a:srgbClr val="FF0000"/>
                </a:solidFill>
                <a:latin typeface="Palatino Linotype"/>
                <a:cs typeface="Palatino Linotype"/>
              </a:rPr>
              <a:t> a</a:t>
            </a:r>
            <a:r>
              <a:rPr kern="1200" spc="-5" dirty="0">
                <a:solidFill>
                  <a:srgbClr val="FF0000"/>
                </a:solidFill>
                <a:latin typeface="Palatino Linotype"/>
                <a:cs typeface="Palatino Linotype"/>
              </a:rPr>
              <a:t> non-recursive</a:t>
            </a:r>
            <a:r>
              <a:rPr kern="1200" dirty="0">
                <a:solidFill>
                  <a:srgbClr val="FF0000"/>
                </a:solidFill>
                <a:latin typeface="Palatino Linotype"/>
                <a:cs typeface="Palatino Linotype"/>
              </a:rPr>
              <a:t> parser?</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33626998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83</a:t>
            </a:fld>
            <a:endParaRPr lang="en-US"/>
          </a:p>
        </p:txBody>
      </p:sp>
      <p:sp>
        <p:nvSpPr>
          <p:cNvPr id="20" name="object 2">
            <a:extLst>
              <a:ext uri="{FF2B5EF4-FFF2-40B4-BE49-F238E27FC236}">
                <a16:creationId xmlns:a16="http://schemas.microsoft.com/office/drawing/2014/main" id="{2D7EAE0C-7528-B480-C695-BD6316808028}"/>
              </a:ext>
            </a:extLst>
          </p:cNvPr>
          <p:cNvSpPr txBox="1">
            <a:spLocks/>
          </p:cNvSpPr>
          <p:nvPr/>
        </p:nvSpPr>
        <p:spPr>
          <a:xfrm>
            <a:off x="707390" y="541019"/>
            <a:ext cx="7445375" cy="60452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800" b="1" i="0" u="none" strike="noStrike" kern="0" cap="none" spc="-5" normalizeH="0" baseline="0" noProof="0">
                <a:ln>
                  <a:noFill/>
                </a:ln>
                <a:solidFill>
                  <a:sysClr val="windowText" lastClr="000000"/>
                </a:solidFill>
                <a:effectLst/>
                <a:uLnTx/>
                <a:uFillTx/>
                <a:latin typeface="Palatino Linotype"/>
                <a:ea typeface="+mj-ea"/>
              </a:rPr>
              <a:t>Non-Recursive</a:t>
            </a:r>
            <a:r>
              <a:rPr kumimoji="0" lang="en-US" sz="3800" b="1" i="0" u="none" strike="noStrike" kern="0" cap="none" spc="0" normalizeH="0" baseline="0" noProof="0">
                <a:ln>
                  <a:noFill/>
                </a:ln>
                <a:solidFill>
                  <a:sysClr val="windowText" lastClr="000000"/>
                </a:solidFill>
                <a:effectLst/>
                <a:uLnTx/>
                <a:uFillTx/>
                <a:latin typeface="Palatino Linotype"/>
                <a:ea typeface="+mj-ea"/>
              </a:rPr>
              <a:t> </a:t>
            </a:r>
            <a:r>
              <a:rPr kumimoji="0" lang="en-US" sz="3800" b="1" i="0" u="none" strike="noStrike" kern="0" cap="none" spc="-5" normalizeH="0" baseline="0" noProof="0">
                <a:ln>
                  <a:noFill/>
                </a:ln>
                <a:solidFill>
                  <a:sysClr val="windowText" lastClr="000000"/>
                </a:solidFill>
                <a:effectLst/>
                <a:uLnTx/>
                <a:uFillTx/>
                <a:latin typeface="Palatino Linotype"/>
                <a:ea typeface="+mj-ea"/>
              </a:rPr>
              <a:t>Predictive</a:t>
            </a:r>
            <a:r>
              <a:rPr kumimoji="0" lang="en-US" sz="3800" b="1" i="0" u="none" strike="noStrike" kern="0" cap="none" spc="0" normalizeH="0" baseline="0" noProof="0">
                <a:ln>
                  <a:noFill/>
                </a:ln>
                <a:solidFill>
                  <a:sysClr val="windowText" lastClr="000000"/>
                </a:solidFill>
                <a:effectLst/>
                <a:uLnTx/>
                <a:uFillTx/>
                <a:latin typeface="Palatino Linotype"/>
                <a:ea typeface="+mj-ea"/>
              </a:rPr>
              <a:t> </a:t>
            </a:r>
            <a:r>
              <a:rPr kumimoji="0" lang="en-US" sz="3800" b="1" i="0" u="none" strike="noStrike" kern="0" cap="none" spc="-5" normalizeH="0" baseline="0" noProof="0">
                <a:ln>
                  <a:noFill/>
                </a:ln>
                <a:solidFill>
                  <a:sysClr val="windowText" lastClr="000000"/>
                </a:solidFill>
                <a:effectLst/>
                <a:uLnTx/>
                <a:uFillTx/>
                <a:latin typeface="Palatino Linotype"/>
                <a:ea typeface="+mj-ea"/>
              </a:rPr>
              <a:t>Parsing</a:t>
            </a:r>
            <a:endParaRPr kumimoji="0" lang="en-US" sz="3800" b="1" i="0" u="none" strike="noStrike" kern="0" cap="none" spc="0" normalizeH="0" baseline="0" noProof="0">
              <a:ln>
                <a:noFill/>
              </a:ln>
              <a:solidFill>
                <a:sysClr val="windowText" lastClr="000000"/>
              </a:solidFill>
              <a:effectLst/>
              <a:uLnTx/>
              <a:uFillTx/>
              <a:latin typeface="Palatino Linotype"/>
              <a:ea typeface="+mj-ea"/>
            </a:endParaRPr>
          </a:p>
        </p:txBody>
      </p:sp>
      <p:sp>
        <p:nvSpPr>
          <p:cNvPr id="21" name="object 3">
            <a:extLst>
              <a:ext uri="{FF2B5EF4-FFF2-40B4-BE49-F238E27FC236}">
                <a16:creationId xmlns:a16="http://schemas.microsoft.com/office/drawing/2014/main" id="{25D2B615-1D11-5108-A010-745AD8D1FDAA}"/>
              </a:ext>
            </a:extLst>
          </p:cNvPr>
          <p:cNvSpPr txBox="1"/>
          <p:nvPr/>
        </p:nvSpPr>
        <p:spPr>
          <a:xfrm>
            <a:off x="707390" y="1439164"/>
            <a:ext cx="7544434" cy="1969135"/>
          </a:xfrm>
          <a:prstGeom prst="rect">
            <a:avLst/>
          </a:prstGeom>
        </p:spPr>
        <p:txBody>
          <a:bodyPr vert="horz" wrap="square" lIns="0" tIns="12700" rIns="0" bIns="0" rtlCol="0">
            <a:spAutoFit/>
          </a:bodyPr>
          <a:lstStyle/>
          <a:p>
            <a:pPr marL="242570" marR="5080" indent="-230504" rtl="0">
              <a:lnSpc>
                <a:spcPct val="117300"/>
              </a:lnSpc>
              <a:spcBef>
                <a:spcPts val="100"/>
              </a:spcBef>
              <a:buFont typeface="Arial MT"/>
              <a:buChar char="•"/>
              <a:tabLst>
                <a:tab pos="242570" algn="l"/>
                <a:tab pos="243204" algn="l"/>
              </a:tabLst>
            </a:pPr>
            <a:r>
              <a:rPr sz="2200" kern="1200" dirty="0">
                <a:solidFill>
                  <a:prstClr val="black"/>
                </a:solidFill>
                <a:latin typeface="Palatino Linotype"/>
                <a:cs typeface="Palatino Linotype"/>
              </a:rPr>
              <a:t>A </a:t>
            </a:r>
            <a:r>
              <a:rPr sz="2200" kern="1200" spc="-10" dirty="0">
                <a:solidFill>
                  <a:prstClr val="black"/>
                </a:solidFill>
                <a:latin typeface="Palatino Linotype"/>
                <a:cs typeface="Palatino Linotype"/>
              </a:rPr>
              <a:t>non-recursive predictive </a:t>
            </a:r>
            <a:r>
              <a:rPr sz="2200" kern="1200" dirty="0">
                <a:solidFill>
                  <a:prstClr val="black"/>
                </a:solidFill>
                <a:latin typeface="Palatino Linotype"/>
                <a:cs typeface="Palatino Linotype"/>
              </a:rPr>
              <a:t>parser </a:t>
            </a:r>
            <a:r>
              <a:rPr sz="2200" kern="1200" spc="-5" dirty="0">
                <a:solidFill>
                  <a:prstClr val="black"/>
                </a:solidFill>
                <a:latin typeface="Palatino Linotype"/>
                <a:cs typeface="Palatino Linotype"/>
              </a:rPr>
              <a:t>can be built by </a:t>
            </a:r>
            <a:r>
              <a:rPr sz="2200" b="1" kern="1200" dirty="0">
                <a:solidFill>
                  <a:srgbClr val="FF0000"/>
                </a:solidFill>
                <a:latin typeface="Palatino Linotype"/>
                <a:cs typeface="Palatino Linotype"/>
              </a:rPr>
              <a:t>explicitly </a:t>
            </a:r>
            <a:r>
              <a:rPr sz="2200" b="1" kern="1200" spc="-535" dirty="0">
                <a:solidFill>
                  <a:srgbClr val="FF0000"/>
                </a:solidFill>
                <a:latin typeface="Palatino Linotype"/>
                <a:cs typeface="Palatino Linotype"/>
              </a:rPr>
              <a:t> </a:t>
            </a:r>
            <a:r>
              <a:rPr sz="2200" b="1" kern="1200" dirty="0">
                <a:solidFill>
                  <a:srgbClr val="FF0000"/>
                </a:solidFill>
                <a:latin typeface="Palatino Linotype"/>
                <a:cs typeface="Palatino Linotype"/>
              </a:rPr>
              <a:t>maintaining</a:t>
            </a:r>
            <a:r>
              <a:rPr sz="2200" b="1" kern="1200" spc="-5" dirty="0">
                <a:solidFill>
                  <a:srgbClr val="FF0000"/>
                </a:solidFill>
                <a:latin typeface="Palatino Linotype"/>
                <a:cs typeface="Palatino Linotype"/>
              </a:rPr>
              <a:t> </a:t>
            </a:r>
            <a:r>
              <a:rPr sz="2200" b="1" kern="1200" dirty="0">
                <a:solidFill>
                  <a:srgbClr val="FF0000"/>
                </a:solidFill>
                <a:latin typeface="Palatino Linotype"/>
                <a:cs typeface="Palatino Linotype"/>
              </a:rPr>
              <a:t>a </a:t>
            </a:r>
            <a:r>
              <a:rPr sz="2200" b="1" kern="1200" spc="-5" dirty="0">
                <a:solidFill>
                  <a:srgbClr val="FF0000"/>
                </a:solidFill>
                <a:latin typeface="Palatino Linotype"/>
                <a:cs typeface="Palatino Linotype"/>
              </a:rPr>
              <a:t>stack</a:t>
            </a:r>
            <a:r>
              <a:rPr sz="2200" b="1" kern="1200" spc="5" dirty="0">
                <a:solidFill>
                  <a:srgbClr val="FF0000"/>
                </a:solidFill>
                <a:latin typeface="Palatino Linotype"/>
                <a:cs typeface="Palatino Linotype"/>
              </a:rPr>
              <a:t> </a:t>
            </a:r>
            <a:r>
              <a:rPr sz="2200" kern="1200" spc="-5" dirty="0">
                <a:solidFill>
                  <a:prstClr val="black"/>
                </a:solidFill>
                <a:latin typeface="Palatino Linotype"/>
                <a:cs typeface="Palatino Linotype"/>
              </a:rPr>
              <a:t>(not implicitly</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via</a:t>
            </a:r>
            <a:r>
              <a:rPr sz="2200" kern="1200" dirty="0">
                <a:solidFill>
                  <a:prstClr val="black"/>
                </a:solidFill>
                <a:latin typeface="Palatino Linotype"/>
                <a:cs typeface="Palatino Linotype"/>
              </a:rPr>
              <a:t> </a:t>
            </a:r>
            <a:r>
              <a:rPr sz="2200" kern="1200" spc="-10" dirty="0">
                <a:solidFill>
                  <a:prstClr val="black"/>
                </a:solidFill>
                <a:latin typeface="Palatino Linotype"/>
                <a:cs typeface="Palatino Linotype"/>
              </a:rPr>
              <a:t>recursive</a:t>
            </a:r>
            <a:r>
              <a:rPr sz="2200" kern="1200" spc="-5" dirty="0">
                <a:solidFill>
                  <a:prstClr val="black"/>
                </a:solidFill>
                <a:latin typeface="Palatino Linotype"/>
                <a:cs typeface="Palatino Linotype"/>
              </a:rPr>
              <a:t> calls)</a:t>
            </a:r>
            <a:endParaRPr sz="2200" kern="1200" dirty="0">
              <a:solidFill>
                <a:prstClr val="black"/>
              </a:solidFill>
              <a:latin typeface="Palatino Linotype"/>
              <a:cs typeface="Palatino Linotype"/>
            </a:endParaRPr>
          </a:p>
          <a:p>
            <a:pPr marL="698500" lvl="1" indent="-228600" rtl="0">
              <a:spcBef>
                <a:spcPts val="1165"/>
              </a:spcBef>
              <a:buClr>
                <a:srgbClr val="000000"/>
              </a:buClr>
              <a:buFont typeface="Wingdings"/>
              <a:buChar char=""/>
              <a:tabLst>
                <a:tab pos="698500" algn="l"/>
              </a:tabLst>
            </a:pPr>
            <a:r>
              <a:rPr b="1" kern="1200" spc="-5" dirty="0">
                <a:solidFill>
                  <a:srgbClr val="0432FF"/>
                </a:solidFill>
                <a:latin typeface="Palatino Linotype"/>
                <a:cs typeface="Palatino Linotype"/>
              </a:rPr>
              <a:t>Input buffer </a:t>
            </a:r>
            <a:r>
              <a:rPr kern="1200" dirty="0">
                <a:solidFill>
                  <a:prstClr val="black"/>
                </a:solidFill>
                <a:latin typeface="Palatino Linotype"/>
                <a:cs typeface="Palatino Linotype"/>
              </a:rPr>
              <a:t>contains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string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be parsed, ending</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with</a:t>
            </a:r>
            <a:r>
              <a:rPr kern="1200" dirty="0">
                <a:solidFill>
                  <a:prstClr val="black"/>
                </a:solidFill>
                <a:latin typeface="Palatino Linotype"/>
                <a:cs typeface="Palatino Linotype"/>
              </a:rPr>
              <a:t> </a:t>
            </a:r>
            <a:r>
              <a:rPr kern="1200" dirty="0">
                <a:solidFill>
                  <a:prstClr val="black"/>
                </a:solidFill>
                <a:latin typeface="Cambria Math"/>
                <a:cs typeface="Cambria Math"/>
              </a:rPr>
              <a:t>$</a:t>
            </a:r>
          </a:p>
          <a:p>
            <a:pPr marL="698500" marR="26034" lvl="1" indent="-228600" rtl="0">
              <a:lnSpc>
                <a:spcPct val="120000"/>
              </a:lnSpc>
              <a:spcBef>
                <a:spcPts val="600"/>
              </a:spcBef>
              <a:buClr>
                <a:srgbClr val="000000"/>
              </a:buClr>
              <a:buFont typeface="Wingdings"/>
              <a:buChar char=""/>
              <a:tabLst>
                <a:tab pos="698500" algn="l"/>
              </a:tabLst>
            </a:pPr>
            <a:r>
              <a:rPr b="1" kern="1200" dirty="0">
                <a:solidFill>
                  <a:srgbClr val="0432FF"/>
                </a:solidFill>
                <a:latin typeface="Palatino Linotype"/>
                <a:cs typeface="Palatino Linotype"/>
              </a:rPr>
              <a:t>Stack </a:t>
            </a:r>
            <a:r>
              <a:rPr kern="1200" dirty="0">
                <a:solidFill>
                  <a:prstClr val="black"/>
                </a:solidFill>
                <a:latin typeface="Palatino Linotype"/>
                <a:cs typeface="Palatino Linotype"/>
              </a:rPr>
              <a:t>holds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 </a:t>
            </a:r>
            <a:r>
              <a:rPr kern="1200" spc="-5" dirty="0">
                <a:solidFill>
                  <a:prstClr val="black"/>
                </a:solidFill>
                <a:latin typeface="Palatino Linotype"/>
                <a:cs typeface="Palatino Linotype"/>
              </a:rPr>
              <a:t>sequence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of </a:t>
            </a:r>
            <a:r>
              <a:rPr kern="1200" spc="-5" dirty="0">
                <a:solidFill>
                  <a:prstClr val="black"/>
                </a:solidFill>
                <a:latin typeface="Palatino Linotype"/>
                <a:cs typeface="Palatino Linotype"/>
              </a:rPr>
              <a:t>grammar</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symbols</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with</a:t>
            </a:r>
            <a:r>
              <a:rPr kern="1200" dirty="0">
                <a:solidFill>
                  <a:prstClr val="black"/>
                </a:solidFill>
                <a:latin typeface="Palatino Linotype"/>
                <a:cs typeface="Palatino Linotype"/>
              </a:rPr>
              <a:t> $ at the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bottom. </a:t>
            </a:r>
            <a:r>
              <a:rPr kern="1200" dirty="0">
                <a:solidFill>
                  <a:prstClr val="black"/>
                </a:solidFill>
                <a:latin typeface="Palatino Linotype"/>
                <a:cs typeface="Palatino Linotype"/>
              </a:rPr>
              <a:t> </a:t>
            </a:r>
            <a:r>
              <a:rPr kern="1200" spc="-20" dirty="0">
                <a:solidFill>
                  <a:prstClr val="black"/>
                </a:solidFill>
                <a:latin typeface="Palatino Linotype"/>
                <a:cs typeface="Palatino Linotype"/>
              </a:rPr>
              <a:t>Initially,</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stack </a:t>
            </a:r>
            <a:r>
              <a:rPr kern="1200" dirty="0">
                <a:solidFill>
                  <a:prstClr val="black"/>
                </a:solidFill>
                <a:latin typeface="Palatino Linotype"/>
                <a:cs typeface="Palatino Linotype"/>
              </a:rPr>
              <a:t>contains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only</a:t>
            </a:r>
            <a:r>
              <a:rPr kern="1200" spc="-5" dirty="0">
                <a:solidFill>
                  <a:prstClr val="black"/>
                </a:solidFill>
                <a:latin typeface="Palatino Linotype"/>
                <a:cs typeface="Palatino Linotype"/>
              </a:rPr>
              <a:t> </a:t>
            </a:r>
            <a:r>
              <a:rPr kern="1200" dirty="0">
                <a:solidFill>
                  <a:prstClr val="black"/>
                </a:solidFill>
                <a:latin typeface="Cambria Math"/>
                <a:cs typeface="Cambria Math"/>
              </a:rPr>
              <a:t>$</a:t>
            </a:r>
            <a:r>
              <a:rPr kern="1200" spc="50" dirty="0">
                <a:solidFill>
                  <a:prstClr val="black"/>
                </a:solidFill>
                <a:latin typeface="Cambria Math"/>
                <a:cs typeface="Cambria Math"/>
              </a:rPr>
              <a:t> </a:t>
            </a:r>
            <a:r>
              <a:rPr kern="1200" dirty="0">
                <a:solidFill>
                  <a:prstClr val="black"/>
                </a:solidFill>
                <a:latin typeface="Palatino Linotype"/>
                <a:cs typeface="Palatino Linotype"/>
              </a:rPr>
              <a:t>and the</a:t>
            </a:r>
            <a:r>
              <a:rPr kern="1200" spc="-5" dirty="0">
                <a:solidFill>
                  <a:prstClr val="black"/>
                </a:solidFill>
                <a:latin typeface="Palatino Linotype"/>
                <a:cs typeface="Palatino Linotype"/>
              </a:rPr>
              <a:t> start symbol</a:t>
            </a:r>
            <a:r>
              <a:rPr kern="1200" dirty="0">
                <a:solidFill>
                  <a:prstClr val="black"/>
                </a:solidFill>
                <a:latin typeface="Palatino Linotype"/>
                <a:cs typeface="Palatino Linotype"/>
              </a:rPr>
              <a:t> </a:t>
            </a:r>
            <a:r>
              <a:rPr kern="1200" dirty="0">
                <a:solidFill>
                  <a:prstClr val="black"/>
                </a:solidFill>
                <a:latin typeface="Cambria Math"/>
                <a:cs typeface="Cambria Math"/>
              </a:rPr>
              <a:t>𝑆</a:t>
            </a:r>
            <a:r>
              <a:rPr kern="1200" spc="80" dirty="0">
                <a:solidFill>
                  <a:prstClr val="black"/>
                </a:solidFill>
                <a:latin typeface="Cambria Math"/>
                <a:cs typeface="Cambria Math"/>
              </a:rPr>
              <a:t> </a:t>
            </a:r>
            <a:r>
              <a:rPr kern="1200" dirty="0">
                <a:solidFill>
                  <a:prstClr val="black"/>
                </a:solidFill>
                <a:latin typeface="Palatino Linotype"/>
                <a:cs typeface="Palatino Linotype"/>
              </a:rPr>
              <a:t>on top of </a:t>
            </a:r>
            <a:r>
              <a:rPr kern="1200" dirty="0">
                <a:solidFill>
                  <a:prstClr val="black"/>
                </a:solidFill>
                <a:latin typeface="Cambria Math"/>
                <a:cs typeface="Cambria Math"/>
              </a:rPr>
              <a:t>$</a:t>
            </a:r>
          </a:p>
        </p:txBody>
      </p:sp>
      <p:pic>
        <p:nvPicPr>
          <p:cNvPr id="22" name="object 4">
            <a:extLst>
              <a:ext uri="{FF2B5EF4-FFF2-40B4-BE49-F238E27FC236}">
                <a16:creationId xmlns:a16="http://schemas.microsoft.com/office/drawing/2014/main" id="{D9189F3D-68A1-9705-7333-DD03B2764654}"/>
              </a:ext>
            </a:extLst>
          </p:cNvPr>
          <p:cNvPicPr/>
          <p:nvPr/>
        </p:nvPicPr>
        <p:blipFill>
          <a:blip r:embed="rId3" cstate="print"/>
          <a:stretch>
            <a:fillRect/>
          </a:stretch>
        </p:blipFill>
        <p:spPr>
          <a:xfrm>
            <a:off x="2398451" y="3710290"/>
            <a:ext cx="4407927" cy="2578309"/>
          </a:xfrm>
          <a:prstGeom prst="rect">
            <a:avLst/>
          </a:prstGeom>
        </p:spPr>
      </p:pic>
    </p:spTree>
    <p:extLst>
      <p:ext uri="{BB962C8B-B14F-4D97-AF65-F5344CB8AC3E}">
        <p14:creationId xmlns:p14="http://schemas.microsoft.com/office/powerpoint/2010/main" val="11692316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84</a:t>
            </a:fld>
            <a:endParaRPr lang="en-US"/>
          </a:p>
        </p:txBody>
      </p:sp>
      <p:sp>
        <p:nvSpPr>
          <p:cNvPr id="12" name="object 2">
            <a:extLst>
              <a:ext uri="{FF2B5EF4-FFF2-40B4-BE49-F238E27FC236}">
                <a16:creationId xmlns:a16="http://schemas.microsoft.com/office/drawing/2014/main" id="{273A1F17-400C-9E50-2E62-938261590C6E}"/>
              </a:ext>
            </a:extLst>
          </p:cNvPr>
          <p:cNvSpPr txBox="1">
            <a:spLocks/>
          </p:cNvSpPr>
          <p:nvPr/>
        </p:nvSpPr>
        <p:spPr>
          <a:xfrm>
            <a:off x="707390" y="524763"/>
            <a:ext cx="745744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35" normalizeH="0" baseline="0" noProof="0">
                <a:ln>
                  <a:noFill/>
                </a:ln>
                <a:solidFill>
                  <a:sysClr val="windowText" lastClr="000000"/>
                </a:solidFill>
                <a:effectLst/>
                <a:uLnTx/>
                <a:uFillTx/>
                <a:latin typeface="Palatino Linotype"/>
                <a:ea typeface="+mj-ea"/>
              </a:rPr>
              <a:t>Table-Driven</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Predictive</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3" name="object 3">
            <a:extLst>
              <a:ext uri="{FF2B5EF4-FFF2-40B4-BE49-F238E27FC236}">
                <a16:creationId xmlns:a16="http://schemas.microsoft.com/office/drawing/2014/main" id="{7F32115F-89F3-8183-0A16-686E78A1ED9B}"/>
              </a:ext>
            </a:extLst>
          </p:cNvPr>
          <p:cNvSpPr txBox="1"/>
          <p:nvPr/>
        </p:nvSpPr>
        <p:spPr>
          <a:xfrm>
            <a:off x="707390" y="1524508"/>
            <a:ext cx="7797800" cy="1372870"/>
          </a:xfrm>
          <a:prstGeom prst="rect">
            <a:avLst/>
          </a:prstGeom>
        </p:spPr>
        <p:txBody>
          <a:bodyPr vert="horz" wrap="square" lIns="0" tIns="146685" rIns="0" bIns="0" rtlCol="0">
            <a:spAutoFit/>
          </a:bodyPr>
          <a:lstStyle/>
          <a:p>
            <a:pPr marL="243204" indent="-230504" rtl="0">
              <a:spcBef>
                <a:spcPts val="1155"/>
              </a:spcBef>
              <a:buClr>
                <a:srgbClr val="000000"/>
              </a:buClr>
              <a:buFont typeface="Arial MT"/>
              <a:buChar char="•"/>
              <a:tabLst>
                <a:tab pos="242570" algn="l"/>
                <a:tab pos="243204" algn="l"/>
              </a:tabLst>
            </a:pPr>
            <a:r>
              <a:rPr sz="2200" b="1" kern="1200" dirty="0">
                <a:solidFill>
                  <a:srgbClr val="FF0000"/>
                </a:solidFill>
                <a:latin typeface="Palatino Linotype"/>
                <a:cs typeface="Palatino Linotype"/>
              </a:rPr>
              <a:t>Input: </a:t>
            </a:r>
            <a:r>
              <a:rPr sz="2200" kern="1200" dirty="0">
                <a:solidFill>
                  <a:prstClr val="black"/>
                </a:solidFill>
                <a:latin typeface="Palatino Linotype"/>
                <a:cs typeface="Palatino Linotype"/>
              </a:rPr>
              <a:t>A</a:t>
            </a:r>
            <a:r>
              <a:rPr sz="2200" kern="1200" spc="-125" dirty="0">
                <a:solidFill>
                  <a:prstClr val="black"/>
                </a:solidFill>
                <a:latin typeface="Palatino Linotype"/>
                <a:cs typeface="Palatino Linotype"/>
              </a:rPr>
              <a:t> </a:t>
            </a:r>
            <a:r>
              <a:rPr sz="2200" kern="1200" spc="-5" dirty="0">
                <a:solidFill>
                  <a:prstClr val="black"/>
                </a:solidFill>
                <a:latin typeface="Palatino Linotype"/>
                <a:cs typeface="Palatino Linotype"/>
              </a:rPr>
              <a:t>string</a:t>
            </a:r>
            <a:r>
              <a:rPr sz="2200" kern="1200" dirty="0">
                <a:solidFill>
                  <a:prstClr val="black"/>
                </a:solidFill>
                <a:latin typeface="Palatino Linotype"/>
                <a:cs typeface="Palatino Linotype"/>
              </a:rPr>
              <a:t> </a:t>
            </a:r>
            <a:r>
              <a:rPr sz="2200" kern="1200" dirty="0">
                <a:solidFill>
                  <a:prstClr val="black"/>
                </a:solidFill>
                <a:latin typeface="Cambria Math"/>
                <a:cs typeface="Cambria Math"/>
              </a:rPr>
              <a:t>𝜔</a:t>
            </a:r>
            <a:r>
              <a:rPr sz="2200" kern="1200" spc="114" dirty="0">
                <a:solidFill>
                  <a:prstClr val="black"/>
                </a:solidFill>
                <a:latin typeface="Cambria Math"/>
                <a:cs typeface="Cambria Math"/>
              </a:rPr>
              <a:t> </a:t>
            </a:r>
            <a:r>
              <a:rPr sz="2200" kern="1200" spc="-5" dirty="0">
                <a:solidFill>
                  <a:prstClr val="black"/>
                </a:solidFill>
                <a:latin typeface="Palatino Linotype"/>
                <a:cs typeface="Palatino Linotype"/>
              </a:rPr>
              <a:t>and</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a </a:t>
            </a:r>
            <a:r>
              <a:rPr sz="2200" kern="1200" spc="-5" dirty="0">
                <a:solidFill>
                  <a:prstClr val="black"/>
                </a:solidFill>
                <a:latin typeface="Palatino Linotype"/>
                <a:cs typeface="Palatino Linotype"/>
              </a:rPr>
              <a:t>parsing</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table </a:t>
            </a:r>
            <a:r>
              <a:rPr sz="2200" kern="1200" dirty="0">
                <a:solidFill>
                  <a:prstClr val="black"/>
                </a:solidFill>
                <a:latin typeface="Cambria Math"/>
                <a:cs typeface="Cambria Math"/>
              </a:rPr>
              <a:t>𝑀</a:t>
            </a:r>
            <a:r>
              <a:rPr sz="2200" kern="1200" spc="120" dirty="0">
                <a:solidFill>
                  <a:prstClr val="black"/>
                </a:solidFill>
                <a:latin typeface="Cambria Math"/>
                <a:cs typeface="Cambria Math"/>
              </a:rPr>
              <a:t> </a:t>
            </a:r>
            <a:r>
              <a:rPr sz="2200" kern="1200" spc="-5" dirty="0">
                <a:solidFill>
                  <a:prstClr val="black"/>
                </a:solidFill>
                <a:latin typeface="Palatino Linotype"/>
                <a:cs typeface="Palatino Linotype"/>
              </a:rPr>
              <a:t>for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grammar</a:t>
            </a:r>
            <a:r>
              <a:rPr sz="2200" kern="1200" spc="5" dirty="0">
                <a:solidFill>
                  <a:prstClr val="black"/>
                </a:solidFill>
                <a:latin typeface="Palatino Linotype"/>
                <a:cs typeface="Palatino Linotype"/>
              </a:rPr>
              <a:t> </a:t>
            </a:r>
            <a:r>
              <a:rPr sz="2200" kern="1200" dirty="0">
                <a:solidFill>
                  <a:prstClr val="black"/>
                </a:solidFill>
                <a:latin typeface="Cambria Math"/>
                <a:cs typeface="Cambria Math"/>
              </a:rPr>
              <a:t>𝐺</a:t>
            </a:r>
            <a:endParaRPr sz="2200" kern="1200">
              <a:solidFill>
                <a:prstClr val="black"/>
              </a:solidFill>
              <a:latin typeface="Cambria Math"/>
              <a:cs typeface="Cambria Math"/>
            </a:endParaRPr>
          </a:p>
          <a:p>
            <a:pPr marL="242570" marR="5080" indent="-230504" rtl="0">
              <a:lnSpc>
                <a:spcPct val="121800"/>
              </a:lnSpc>
              <a:spcBef>
                <a:spcPts val="480"/>
              </a:spcBef>
              <a:buClr>
                <a:srgbClr val="000000"/>
              </a:buClr>
              <a:buFont typeface="Arial MT"/>
              <a:buChar char="•"/>
              <a:tabLst>
                <a:tab pos="242570" algn="l"/>
                <a:tab pos="243204" algn="l"/>
              </a:tabLst>
            </a:pPr>
            <a:r>
              <a:rPr sz="2200" b="1" kern="1200" dirty="0">
                <a:solidFill>
                  <a:srgbClr val="FF0000"/>
                </a:solidFill>
                <a:latin typeface="Palatino Linotype"/>
                <a:cs typeface="Palatino Linotype"/>
              </a:rPr>
              <a:t>Output: </a:t>
            </a:r>
            <a:r>
              <a:rPr sz="2200" kern="1200" spc="-5" dirty="0">
                <a:solidFill>
                  <a:prstClr val="black"/>
                </a:solidFill>
                <a:latin typeface="Palatino Linotype"/>
                <a:cs typeface="Palatino Linotype"/>
              </a:rPr>
              <a:t>If</a:t>
            </a:r>
            <a:r>
              <a:rPr sz="2200" kern="1200" spc="75" dirty="0">
                <a:solidFill>
                  <a:prstClr val="black"/>
                </a:solidFill>
                <a:latin typeface="Palatino Linotype"/>
                <a:cs typeface="Palatino Linotype"/>
              </a:rPr>
              <a:t> </a:t>
            </a:r>
            <a:r>
              <a:rPr sz="2200" kern="1200" dirty="0">
                <a:solidFill>
                  <a:prstClr val="black"/>
                </a:solidFill>
                <a:latin typeface="Cambria Math"/>
                <a:cs typeface="Cambria Math"/>
              </a:rPr>
              <a:t>𝜔</a:t>
            </a:r>
            <a:r>
              <a:rPr sz="2200" kern="1200" spc="185" dirty="0">
                <a:solidFill>
                  <a:prstClr val="black"/>
                </a:solidFill>
                <a:latin typeface="Cambria Math"/>
                <a:cs typeface="Cambria Math"/>
              </a:rPr>
              <a:t> </a:t>
            </a:r>
            <a:r>
              <a:rPr sz="2200" kern="1200" spc="-5" dirty="0">
                <a:solidFill>
                  <a:prstClr val="black"/>
                </a:solidFill>
                <a:latin typeface="Palatino Linotype"/>
                <a:cs typeface="Palatino Linotype"/>
              </a:rPr>
              <a:t>is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in</a:t>
            </a:r>
            <a:r>
              <a:rPr sz="2200" kern="1200" spc="65" dirty="0">
                <a:solidFill>
                  <a:prstClr val="black"/>
                </a:solidFill>
                <a:latin typeface="Palatino Linotype"/>
                <a:cs typeface="Palatino Linotype"/>
              </a:rPr>
              <a:t> </a:t>
            </a:r>
            <a:r>
              <a:rPr sz="2200" kern="1200" spc="40" dirty="0">
                <a:solidFill>
                  <a:prstClr val="black"/>
                </a:solidFill>
                <a:latin typeface="Cambria Math"/>
                <a:cs typeface="Cambria Math"/>
              </a:rPr>
              <a:t>𝐿(𝐺)</a:t>
            </a:r>
            <a:r>
              <a:rPr sz="2200" kern="1200" spc="40" dirty="0">
                <a:solidFill>
                  <a:prstClr val="black"/>
                </a:solidFill>
                <a:latin typeface="Palatino Linotype"/>
                <a:cs typeface="Palatino Linotype"/>
              </a:rPr>
              <a:t>,</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a </a:t>
            </a:r>
            <a:r>
              <a:rPr sz="2200" kern="1200" spc="-5" dirty="0">
                <a:solidFill>
                  <a:prstClr val="black"/>
                </a:solidFill>
                <a:latin typeface="Palatino Linotype"/>
                <a:cs typeface="Palatino Linotype"/>
              </a:rPr>
              <a:t>leftmost </a:t>
            </a:r>
            <a:r>
              <a:rPr sz="2200" kern="1200" spc="-10" dirty="0">
                <a:solidFill>
                  <a:prstClr val="black"/>
                </a:solidFill>
                <a:latin typeface="Palatino Linotype"/>
                <a:cs typeface="Palatino Linotype"/>
              </a:rPr>
              <a:t>derivation </a:t>
            </a:r>
            <a:r>
              <a:rPr sz="2200" kern="1200" spc="-5" dirty="0">
                <a:solidFill>
                  <a:prstClr val="black"/>
                </a:solidFill>
                <a:latin typeface="Palatino Linotype"/>
                <a:cs typeface="Palatino Linotype"/>
              </a:rPr>
              <a:t>of</a:t>
            </a:r>
            <a:r>
              <a:rPr sz="2200" kern="1200" spc="75" dirty="0">
                <a:solidFill>
                  <a:prstClr val="black"/>
                </a:solidFill>
                <a:latin typeface="Palatino Linotype"/>
                <a:cs typeface="Palatino Linotype"/>
              </a:rPr>
              <a:t> </a:t>
            </a:r>
            <a:r>
              <a:rPr sz="2200" kern="1200" spc="60" dirty="0">
                <a:solidFill>
                  <a:prstClr val="black"/>
                </a:solidFill>
                <a:latin typeface="Cambria Math"/>
                <a:cs typeface="Cambria Math"/>
              </a:rPr>
              <a:t>𝜔</a:t>
            </a:r>
            <a:r>
              <a:rPr sz="2200" kern="1200" spc="60" dirty="0">
                <a:solidFill>
                  <a:prstClr val="black"/>
                </a:solidFill>
                <a:latin typeface="Palatino Linotype"/>
                <a:cs typeface="Palatino Linotype"/>
              </a:rPr>
              <a:t>;</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otherwise, </a:t>
            </a:r>
            <a:r>
              <a:rPr sz="2200" kern="1200" spc="-535" dirty="0">
                <a:solidFill>
                  <a:prstClr val="black"/>
                </a:solidFill>
                <a:latin typeface="Palatino Linotype"/>
                <a:cs typeface="Palatino Linotype"/>
              </a:rPr>
              <a:t> </a:t>
            </a:r>
            <a:r>
              <a:rPr sz="2200" kern="1200" dirty="0">
                <a:solidFill>
                  <a:prstClr val="black"/>
                </a:solidFill>
                <a:latin typeface="Palatino Linotype"/>
                <a:cs typeface="Palatino Linotype"/>
              </a:rPr>
              <a:t>an</a:t>
            </a:r>
            <a:r>
              <a:rPr sz="2200" kern="1200" spc="-15" dirty="0">
                <a:solidFill>
                  <a:prstClr val="black"/>
                </a:solidFill>
                <a:latin typeface="Palatino Linotype"/>
                <a:cs typeface="Palatino Linotype"/>
              </a:rPr>
              <a:t> </a:t>
            </a:r>
            <a:r>
              <a:rPr sz="2200" kern="1200" dirty="0">
                <a:solidFill>
                  <a:prstClr val="black"/>
                </a:solidFill>
                <a:latin typeface="Palatino Linotype"/>
                <a:cs typeface="Palatino Linotype"/>
              </a:rPr>
              <a:t>error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indication</a:t>
            </a:r>
            <a:endParaRPr sz="2200" kern="1200">
              <a:solidFill>
                <a:prstClr val="black"/>
              </a:solidFill>
              <a:latin typeface="Palatino Linotype"/>
              <a:cs typeface="Palatino Linotype"/>
            </a:endParaRPr>
          </a:p>
        </p:txBody>
      </p:sp>
      <p:pic>
        <p:nvPicPr>
          <p:cNvPr id="14" name="object 4">
            <a:extLst>
              <a:ext uri="{FF2B5EF4-FFF2-40B4-BE49-F238E27FC236}">
                <a16:creationId xmlns:a16="http://schemas.microsoft.com/office/drawing/2014/main" id="{9FB07BFF-A2E2-674A-5D6A-5F58DBDB3B72}"/>
              </a:ext>
            </a:extLst>
          </p:cNvPr>
          <p:cNvPicPr/>
          <p:nvPr/>
        </p:nvPicPr>
        <p:blipFill>
          <a:blip r:embed="rId3" cstate="print"/>
          <a:stretch>
            <a:fillRect/>
          </a:stretch>
        </p:blipFill>
        <p:spPr>
          <a:xfrm>
            <a:off x="925162" y="3425623"/>
            <a:ext cx="4407928" cy="2578310"/>
          </a:xfrm>
          <a:prstGeom prst="rect">
            <a:avLst/>
          </a:prstGeom>
        </p:spPr>
      </p:pic>
      <p:sp>
        <p:nvSpPr>
          <p:cNvPr id="15" name="object 5">
            <a:extLst>
              <a:ext uri="{FF2B5EF4-FFF2-40B4-BE49-F238E27FC236}">
                <a16:creationId xmlns:a16="http://schemas.microsoft.com/office/drawing/2014/main" id="{61D63147-82CA-EF72-7F0F-375CB875FBE5}"/>
              </a:ext>
            </a:extLst>
          </p:cNvPr>
          <p:cNvSpPr txBox="1"/>
          <p:nvPr/>
        </p:nvSpPr>
        <p:spPr>
          <a:xfrm>
            <a:off x="5502874" y="3673236"/>
            <a:ext cx="2949575" cy="1788160"/>
          </a:xfrm>
          <a:prstGeom prst="rect">
            <a:avLst/>
          </a:prstGeom>
          <a:solidFill>
            <a:srgbClr val="FFF2CC"/>
          </a:solidFill>
          <a:ln w="9525">
            <a:solidFill>
              <a:srgbClr val="000000"/>
            </a:solidFill>
          </a:ln>
        </p:spPr>
        <p:txBody>
          <a:bodyPr vert="horz" wrap="square" lIns="0" tIns="13335" rIns="0" bIns="0" rtlCol="0">
            <a:spAutoFit/>
          </a:bodyPr>
          <a:lstStyle/>
          <a:p>
            <a:pPr marL="91440" marR="284480" rtl="0">
              <a:lnSpc>
                <a:spcPts val="3310"/>
              </a:lnSpc>
              <a:spcBef>
                <a:spcPts val="105"/>
              </a:spcBef>
            </a:pPr>
            <a:r>
              <a:rPr b="1" kern="1200" spc="-5" dirty="0">
                <a:solidFill>
                  <a:srgbClr val="FF0000"/>
                </a:solidFill>
                <a:latin typeface="Palatino Linotype"/>
                <a:cs typeface="Palatino Linotype"/>
              </a:rPr>
              <a:t>Initially</a:t>
            </a:r>
            <a:r>
              <a:rPr kern="1200" spc="-5" dirty="0">
                <a:solidFill>
                  <a:prstClr val="black"/>
                </a:solidFill>
                <a:latin typeface="Palatino Linotype"/>
                <a:cs typeface="Palatino Linotype"/>
              </a:rPr>
              <a:t>,</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input</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buffer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contains</a:t>
            </a:r>
            <a:r>
              <a:rPr kern="1200" spc="-10" dirty="0">
                <a:solidFill>
                  <a:prstClr val="black"/>
                </a:solidFill>
                <a:latin typeface="Palatino Linotype"/>
                <a:cs typeface="Palatino Linotype"/>
              </a:rPr>
              <a:t> </a:t>
            </a:r>
            <a:r>
              <a:rPr kern="1200" spc="-5" dirty="0">
                <a:solidFill>
                  <a:srgbClr val="FF0000"/>
                </a:solidFill>
                <a:latin typeface="Cambria Math"/>
                <a:cs typeface="Cambria Math"/>
              </a:rPr>
              <a:t>𝜔$</a:t>
            </a:r>
            <a:r>
              <a:rPr kern="1200" spc="-5" dirty="0">
                <a:solidFill>
                  <a:prstClr val="black"/>
                </a:solidFill>
                <a:latin typeface="Palatino Linotype"/>
                <a:cs typeface="Palatino Linotype"/>
              </a:rPr>
              <a:t>.</a:t>
            </a:r>
            <a:endParaRPr kern="1200">
              <a:solidFill>
                <a:prstClr val="black"/>
              </a:solidFill>
              <a:latin typeface="Palatino Linotype"/>
              <a:cs typeface="Palatino Linotype"/>
            </a:endParaRPr>
          </a:p>
          <a:p>
            <a:pPr marL="91440" marR="27305" rtl="0">
              <a:lnSpc>
                <a:spcPct val="152200"/>
              </a:lnSpc>
              <a:spcBef>
                <a:spcPts val="204"/>
              </a:spcBef>
            </a:pPr>
            <a:r>
              <a:rPr kern="1200" spc="-5" dirty="0">
                <a:solidFill>
                  <a:prstClr val="black"/>
                </a:solidFill>
                <a:latin typeface="Palatino Linotype"/>
                <a:cs typeface="Palatino Linotype"/>
              </a:rPr>
              <a:t>The start symbol </a:t>
            </a:r>
            <a:r>
              <a:rPr kern="1200" dirty="0">
                <a:solidFill>
                  <a:prstClr val="black"/>
                </a:solidFill>
                <a:latin typeface="Cambria Math"/>
                <a:cs typeface="Cambria Math"/>
              </a:rPr>
              <a:t>𝑆 </a:t>
            </a:r>
            <a:r>
              <a:rPr kern="1200" dirty="0">
                <a:solidFill>
                  <a:prstClr val="black"/>
                </a:solidFill>
                <a:latin typeface="Palatino Linotype"/>
                <a:cs typeface="Palatino Linotype"/>
              </a:rPr>
              <a:t>of </a:t>
            </a:r>
            <a:r>
              <a:rPr kern="1200" dirty="0">
                <a:solidFill>
                  <a:prstClr val="black"/>
                </a:solidFill>
                <a:latin typeface="Cambria Math"/>
                <a:cs typeface="Cambria Math"/>
              </a:rPr>
              <a:t>𝐺</a:t>
            </a:r>
            <a:r>
              <a:rPr kern="1200" spc="395" dirty="0">
                <a:solidFill>
                  <a:prstClr val="black"/>
                </a:solidFill>
                <a:latin typeface="Cambria Math"/>
                <a:cs typeface="Cambria Math"/>
              </a:rPr>
              <a:t> </a:t>
            </a:r>
            <a:r>
              <a:rPr kern="1200" dirty="0">
                <a:solidFill>
                  <a:prstClr val="black"/>
                </a:solidFill>
                <a:latin typeface="Palatino Linotype"/>
                <a:cs typeface="Palatino Linotype"/>
              </a:rPr>
              <a:t>is </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on</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top</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stack,</a:t>
            </a:r>
            <a:r>
              <a:rPr kern="1200" spc="-15" dirty="0">
                <a:solidFill>
                  <a:prstClr val="black"/>
                </a:solidFill>
                <a:latin typeface="Palatino Linotype"/>
                <a:cs typeface="Palatino Linotype"/>
              </a:rPr>
              <a:t> </a:t>
            </a:r>
            <a:r>
              <a:rPr kern="1200" spc="-10" dirty="0">
                <a:solidFill>
                  <a:prstClr val="black"/>
                </a:solidFill>
                <a:latin typeface="Palatino Linotype"/>
                <a:cs typeface="Palatino Linotype"/>
              </a:rPr>
              <a:t>above</a:t>
            </a:r>
            <a:r>
              <a:rPr kern="1200" spc="60" dirty="0">
                <a:solidFill>
                  <a:prstClr val="black"/>
                </a:solidFill>
                <a:latin typeface="Palatino Linotype"/>
                <a:cs typeface="Palatino Linotype"/>
              </a:rPr>
              <a:t> </a:t>
            </a:r>
            <a:r>
              <a:rPr kern="1200" spc="35" dirty="0">
                <a:solidFill>
                  <a:prstClr val="black"/>
                </a:solidFill>
                <a:latin typeface="Cambria Math"/>
                <a:cs typeface="Cambria Math"/>
              </a:rPr>
              <a:t>$</a:t>
            </a:r>
            <a:r>
              <a:rPr kern="1200" spc="35" dirty="0">
                <a:solidFill>
                  <a:prstClr val="black"/>
                </a:solidFill>
                <a:latin typeface="Palatino Linotype"/>
                <a:cs typeface="Palatino Linotype"/>
              </a:rPr>
              <a:t>.</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5470489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85</a:t>
            </a:fld>
            <a:endParaRPr lang="en-US"/>
          </a:p>
        </p:txBody>
      </p:sp>
      <p:pic>
        <p:nvPicPr>
          <p:cNvPr id="10" name="object 2">
            <a:extLst>
              <a:ext uri="{FF2B5EF4-FFF2-40B4-BE49-F238E27FC236}">
                <a16:creationId xmlns:a16="http://schemas.microsoft.com/office/drawing/2014/main" id="{16100BDE-5772-29D1-053B-6F4211956032}"/>
              </a:ext>
            </a:extLst>
          </p:cNvPr>
          <p:cNvPicPr/>
          <p:nvPr/>
        </p:nvPicPr>
        <p:blipFill>
          <a:blip r:embed="rId3" cstate="print"/>
          <a:stretch>
            <a:fillRect/>
          </a:stretch>
        </p:blipFill>
        <p:spPr>
          <a:xfrm>
            <a:off x="5033033" y="314427"/>
            <a:ext cx="3891179" cy="2276052"/>
          </a:xfrm>
          <a:prstGeom prst="rect">
            <a:avLst/>
          </a:prstGeom>
        </p:spPr>
      </p:pic>
      <p:sp>
        <p:nvSpPr>
          <p:cNvPr id="11" name="object 3">
            <a:extLst>
              <a:ext uri="{FF2B5EF4-FFF2-40B4-BE49-F238E27FC236}">
                <a16:creationId xmlns:a16="http://schemas.microsoft.com/office/drawing/2014/main" id="{A7F675A3-5D86-4F66-A5EF-44AD44E52438}"/>
              </a:ext>
            </a:extLst>
          </p:cNvPr>
          <p:cNvSpPr txBox="1">
            <a:spLocks/>
          </p:cNvSpPr>
          <p:nvPr/>
        </p:nvSpPr>
        <p:spPr>
          <a:xfrm>
            <a:off x="707390" y="524763"/>
            <a:ext cx="43319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hlinkClick r:id="rId4" action="ppaction://hlinkpres?slideindex=23&amp;slidetitle=PowerPoint 演示文稿"/>
              </a:rPr>
              <a:t>Parsing</a:t>
            </a:r>
            <a:r>
              <a:rPr kumimoji="0" lang="en-US" sz="4000" b="1" i="0" u="none" strike="noStrike" kern="0" cap="none" spc="-60" normalizeH="0" baseline="0" noProof="0" dirty="0">
                <a:ln>
                  <a:noFill/>
                </a:ln>
                <a:solidFill>
                  <a:sysClr val="windowText" lastClr="000000"/>
                </a:solidFill>
                <a:effectLst/>
                <a:uLnTx/>
                <a:uFillTx/>
                <a:latin typeface="Palatino Linotype"/>
                <a:ea typeface="+mj-ea"/>
                <a:hlinkClick r:id="rId4" action="ppaction://hlinkpres?slideindex=23&amp;slidetitle=PowerPoint 演示文稿"/>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hlinkClick r:id="rId4" action="ppaction://hlinkpres?slideindex=23&amp;slidetitle=PowerPoint 演示文稿"/>
              </a:rPr>
              <a:t>Algorithm</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2" name="object 4">
            <a:extLst>
              <a:ext uri="{FF2B5EF4-FFF2-40B4-BE49-F238E27FC236}">
                <a16:creationId xmlns:a16="http://schemas.microsoft.com/office/drawing/2014/main" id="{888E7B71-39EC-D0A2-BC70-65C54CDAF56C}"/>
              </a:ext>
            </a:extLst>
          </p:cNvPr>
          <p:cNvSpPr/>
          <p:nvPr/>
        </p:nvSpPr>
        <p:spPr>
          <a:xfrm>
            <a:off x="2801442" y="3693159"/>
            <a:ext cx="47625" cy="201930"/>
          </a:xfrm>
          <a:custGeom>
            <a:avLst/>
            <a:gdLst/>
            <a:ahLst/>
            <a:cxnLst/>
            <a:rect l="l" t="t" r="r" b="b"/>
            <a:pathLst>
              <a:path w="47625" h="201929">
                <a:moveTo>
                  <a:pt x="47028" y="0"/>
                </a:moveTo>
                <a:lnTo>
                  <a:pt x="0" y="0"/>
                </a:lnTo>
                <a:lnTo>
                  <a:pt x="0" y="8890"/>
                </a:lnTo>
                <a:lnTo>
                  <a:pt x="29527" y="8890"/>
                </a:lnTo>
                <a:lnTo>
                  <a:pt x="29527" y="193040"/>
                </a:lnTo>
                <a:lnTo>
                  <a:pt x="0" y="193040"/>
                </a:lnTo>
                <a:lnTo>
                  <a:pt x="0" y="201930"/>
                </a:lnTo>
                <a:lnTo>
                  <a:pt x="47028" y="201930"/>
                </a:lnTo>
                <a:lnTo>
                  <a:pt x="47028" y="193040"/>
                </a:lnTo>
                <a:lnTo>
                  <a:pt x="47028" y="8890"/>
                </a:lnTo>
                <a:lnTo>
                  <a:pt x="47028"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3" name="object 5">
            <a:extLst>
              <a:ext uri="{FF2B5EF4-FFF2-40B4-BE49-F238E27FC236}">
                <a16:creationId xmlns:a16="http://schemas.microsoft.com/office/drawing/2014/main" id="{83A5D02E-E773-6CB7-BC73-7432A145A005}"/>
              </a:ext>
            </a:extLst>
          </p:cNvPr>
          <p:cNvSpPr/>
          <p:nvPr/>
        </p:nvSpPr>
        <p:spPr>
          <a:xfrm>
            <a:off x="2394038" y="3693159"/>
            <a:ext cx="47625" cy="201930"/>
          </a:xfrm>
          <a:custGeom>
            <a:avLst/>
            <a:gdLst/>
            <a:ahLst/>
            <a:cxnLst/>
            <a:rect l="l" t="t" r="r" b="b"/>
            <a:pathLst>
              <a:path w="47625" h="201929">
                <a:moveTo>
                  <a:pt x="47015" y="0"/>
                </a:moveTo>
                <a:lnTo>
                  <a:pt x="0" y="0"/>
                </a:lnTo>
                <a:lnTo>
                  <a:pt x="0" y="8890"/>
                </a:lnTo>
                <a:lnTo>
                  <a:pt x="0" y="193040"/>
                </a:lnTo>
                <a:lnTo>
                  <a:pt x="0" y="201930"/>
                </a:lnTo>
                <a:lnTo>
                  <a:pt x="47015" y="201930"/>
                </a:lnTo>
                <a:lnTo>
                  <a:pt x="47015" y="193040"/>
                </a:lnTo>
                <a:lnTo>
                  <a:pt x="17500" y="193040"/>
                </a:lnTo>
                <a:lnTo>
                  <a:pt x="17500" y="8890"/>
                </a:lnTo>
                <a:lnTo>
                  <a:pt x="47015" y="8890"/>
                </a:lnTo>
                <a:lnTo>
                  <a:pt x="47015"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4" name="object 6">
            <a:extLst>
              <a:ext uri="{FF2B5EF4-FFF2-40B4-BE49-F238E27FC236}">
                <a16:creationId xmlns:a16="http://schemas.microsoft.com/office/drawing/2014/main" id="{F2CCE5DA-48D3-147D-3124-75EC92C8C47D}"/>
              </a:ext>
            </a:extLst>
          </p:cNvPr>
          <p:cNvSpPr txBox="1"/>
          <p:nvPr/>
        </p:nvSpPr>
        <p:spPr>
          <a:xfrm>
            <a:off x="681990" y="1551431"/>
            <a:ext cx="7750809" cy="4433265"/>
          </a:xfrm>
          <a:prstGeom prst="rect">
            <a:avLst/>
          </a:prstGeom>
        </p:spPr>
        <p:txBody>
          <a:bodyPr vert="horz" wrap="square" lIns="0" tIns="82550" rIns="0" bIns="0" rtlCol="0">
            <a:spAutoFit/>
          </a:bodyPr>
          <a:lstStyle/>
          <a:p>
            <a:pPr marL="552450" indent="-514350" rtl="0">
              <a:spcBef>
                <a:spcPts val="650"/>
              </a:spcBef>
              <a:buClr>
                <a:srgbClr val="000000"/>
              </a:buClr>
              <a:buFontTx/>
              <a:buAutoNum type="arabicPeriod"/>
              <a:tabLst>
                <a:tab pos="551815" algn="l"/>
                <a:tab pos="552450" algn="l"/>
              </a:tabLst>
            </a:pPr>
            <a:r>
              <a:rPr sz="1700" kern="1200" dirty="0">
                <a:solidFill>
                  <a:srgbClr val="0432FF"/>
                </a:solidFill>
                <a:latin typeface="Palatino Linotype"/>
                <a:cs typeface="Palatino Linotype"/>
              </a:rPr>
              <a:t>let</a:t>
            </a:r>
            <a:r>
              <a:rPr sz="1700" kern="1200" spc="-15" dirty="0">
                <a:solidFill>
                  <a:srgbClr val="0432FF"/>
                </a:solidFill>
                <a:latin typeface="Palatino Linotype"/>
                <a:cs typeface="Palatino Linotype"/>
              </a:rPr>
              <a:t> </a:t>
            </a:r>
            <a:r>
              <a:rPr sz="1700" kern="1200" dirty="0">
                <a:solidFill>
                  <a:srgbClr val="FF0000"/>
                </a:solidFill>
                <a:latin typeface="Cambria Math"/>
                <a:cs typeface="Cambria Math"/>
              </a:rPr>
              <a:t>𝑎</a:t>
            </a:r>
            <a:r>
              <a:rPr sz="1700" kern="1200" spc="85" dirty="0">
                <a:solidFill>
                  <a:srgbClr val="FF0000"/>
                </a:solidFill>
                <a:latin typeface="Cambria Math"/>
                <a:cs typeface="Cambria Math"/>
              </a:rPr>
              <a:t> </a:t>
            </a:r>
            <a:r>
              <a:rPr sz="1700" kern="1200" spc="-5" dirty="0">
                <a:solidFill>
                  <a:prstClr val="black"/>
                </a:solidFill>
                <a:latin typeface="Palatino Linotype"/>
                <a:cs typeface="Palatino Linotype"/>
              </a:rPr>
              <a:t>be</a:t>
            </a:r>
            <a:r>
              <a:rPr sz="1700" kern="1200" spc="-15" dirty="0">
                <a:solidFill>
                  <a:prstClr val="black"/>
                </a:solidFill>
                <a:latin typeface="Palatino Linotype"/>
                <a:cs typeface="Palatino Linotype"/>
              </a:rPr>
              <a:t> </a:t>
            </a:r>
            <a:r>
              <a:rPr sz="1700" kern="1200" spc="-5" dirty="0">
                <a:solidFill>
                  <a:prstClr val="black"/>
                </a:solidFill>
                <a:latin typeface="Palatino Linotype"/>
                <a:cs typeface="Palatino Linotype"/>
              </a:rPr>
              <a:t>the</a:t>
            </a:r>
            <a:r>
              <a:rPr sz="1700" kern="1200" spc="-10" dirty="0">
                <a:solidFill>
                  <a:prstClr val="black"/>
                </a:solidFill>
                <a:latin typeface="Palatino Linotype"/>
                <a:cs typeface="Palatino Linotype"/>
              </a:rPr>
              <a:t> </a:t>
            </a:r>
            <a:r>
              <a:rPr sz="1700" kern="1200" dirty="0">
                <a:solidFill>
                  <a:srgbClr val="FF0000"/>
                </a:solidFill>
                <a:latin typeface="Palatino Linotype"/>
                <a:cs typeface="Palatino Linotype"/>
              </a:rPr>
              <a:t>first</a:t>
            </a:r>
            <a:r>
              <a:rPr sz="1700" kern="1200" spc="-15" dirty="0">
                <a:solidFill>
                  <a:srgbClr val="FF0000"/>
                </a:solidFill>
                <a:latin typeface="Palatino Linotype"/>
                <a:cs typeface="Palatino Linotype"/>
              </a:rPr>
              <a:t> </a:t>
            </a:r>
            <a:r>
              <a:rPr sz="1700" kern="1200" spc="-5" dirty="0">
                <a:solidFill>
                  <a:srgbClr val="FF0000"/>
                </a:solidFill>
                <a:latin typeface="Palatino Linotype"/>
                <a:cs typeface="Palatino Linotype"/>
              </a:rPr>
              <a:t>symbol of</a:t>
            </a:r>
            <a:r>
              <a:rPr sz="1700" kern="1200" spc="-10" dirty="0">
                <a:solidFill>
                  <a:srgbClr val="FF0000"/>
                </a:solidFill>
                <a:latin typeface="Palatino Linotype"/>
                <a:cs typeface="Palatino Linotype"/>
              </a:rPr>
              <a:t> </a:t>
            </a:r>
            <a:r>
              <a:rPr sz="1700" kern="1200" spc="20" dirty="0">
                <a:solidFill>
                  <a:srgbClr val="FF0000"/>
                </a:solidFill>
                <a:latin typeface="Cambria Math"/>
                <a:cs typeface="Cambria Math"/>
              </a:rPr>
              <a:t>𝜔</a:t>
            </a:r>
            <a:r>
              <a:rPr sz="1700" kern="1200" spc="20" dirty="0">
                <a:solidFill>
                  <a:prstClr val="black"/>
                </a:solidFill>
                <a:latin typeface="Palatino Linotype"/>
                <a:cs typeface="Palatino Linotype"/>
              </a:rPr>
              <a:t>;</a:t>
            </a:r>
            <a:endParaRPr sz="1700" kern="1200" dirty="0">
              <a:solidFill>
                <a:prstClr val="black"/>
              </a:solidFill>
              <a:latin typeface="Palatino Linotype"/>
              <a:cs typeface="Palatino Linotype"/>
            </a:endParaRPr>
          </a:p>
          <a:p>
            <a:pPr marL="552450" indent="-514350" rtl="0">
              <a:spcBef>
                <a:spcPts val="555"/>
              </a:spcBef>
              <a:buClr>
                <a:srgbClr val="000000"/>
              </a:buClr>
              <a:buFontTx/>
              <a:buAutoNum type="arabicPeriod"/>
              <a:tabLst>
                <a:tab pos="551815" algn="l"/>
                <a:tab pos="552450" algn="l"/>
              </a:tabLst>
            </a:pPr>
            <a:r>
              <a:rPr sz="1700" kern="1200" dirty="0">
                <a:solidFill>
                  <a:srgbClr val="0432FF"/>
                </a:solidFill>
                <a:latin typeface="Palatino Linotype"/>
                <a:cs typeface="Palatino Linotype"/>
              </a:rPr>
              <a:t>let</a:t>
            </a:r>
            <a:r>
              <a:rPr sz="1700" kern="1200" spc="-15" dirty="0">
                <a:solidFill>
                  <a:srgbClr val="0432FF"/>
                </a:solidFill>
                <a:latin typeface="Palatino Linotype"/>
                <a:cs typeface="Palatino Linotype"/>
              </a:rPr>
              <a:t> </a:t>
            </a:r>
            <a:r>
              <a:rPr sz="1700" kern="1200" dirty="0">
                <a:solidFill>
                  <a:srgbClr val="FF0000"/>
                </a:solidFill>
                <a:latin typeface="Cambria Math"/>
                <a:cs typeface="Cambria Math"/>
              </a:rPr>
              <a:t>𝑋</a:t>
            </a:r>
            <a:r>
              <a:rPr sz="1700" kern="1200" spc="90" dirty="0">
                <a:solidFill>
                  <a:srgbClr val="FF0000"/>
                </a:solidFill>
                <a:latin typeface="Cambria Math"/>
                <a:cs typeface="Cambria Math"/>
              </a:rPr>
              <a:t> </a:t>
            </a:r>
            <a:r>
              <a:rPr sz="1700" kern="1200" spc="-5" dirty="0">
                <a:solidFill>
                  <a:prstClr val="black"/>
                </a:solidFill>
                <a:latin typeface="Palatino Linotype"/>
                <a:cs typeface="Palatino Linotype"/>
              </a:rPr>
              <a:t>be</a:t>
            </a:r>
            <a:r>
              <a:rPr sz="1700" kern="1200" spc="-10" dirty="0">
                <a:solidFill>
                  <a:prstClr val="black"/>
                </a:solidFill>
                <a:latin typeface="Palatino Linotype"/>
                <a:cs typeface="Palatino Linotype"/>
              </a:rPr>
              <a:t> </a:t>
            </a:r>
            <a:r>
              <a:rPr sz="1700" kern="1200" spc="-5" dirty="0">
                <a:solidFill>
                  <a:prstClr val="black"/>
                </a:solidFill>
                <a:latin typeface="Palatino Linotype"/>
                <a:cs typeface="Palatino Linotype"/>
              </a:rPr>
              <a:t>the</a:t>
            </a:r>
            <a:r>
              <a:rPr sz="1700" kern="1200" spc="-10" dirty="0">
                <a:solidFill>
                  <a:prstClr val="black"/>
                </a:solidFill>
                <a:latin typeface="Palatino Linotype"/>
                <a:cs typeface="Palatino Linotype"/>
              </a:rPr>
              <a:t> </a:t>
            </a:r>
            <a:r>
              <a:rPr sz="1700" kern="1200" spc="-5" dirty="0">
                <a:solidFill>
                  <a:srgbClr val="FF0000"/>
                </a:solidFill>
                <a:latin typeface="Palatino Linotype"/>
                <a:cs typeface="Palatino Linotype"/>
              </a:rPr>
              <a:t>top</a:t>
            </a:r>
            <a:r>
              <a:rPr sz="1700" kern="1200" spc="-10" dirty="0">
                <a:solidFill>
                  <a:srgbClr val="FF0000"/>
                </a:solidFill>
                <a:latin typeface="Palatino Linotype"/>
                <a:cs typeface="Palatino Linotype"/>
              </a:rPr>
              <a:t> </a:t>
            </a:r>
            <a:r>
              <a:rPr sz="1700" kern="1200" spc="-5" dirty="0">
                <a:solidFill>
                  <a:srgbClr val="FF0000"/>
                </a:solidFill>
                <a:latin typeface="Palatino Linotype"/>
                <a:cs typeface="Palatino Linotype"/>
              </a:rPr>
              <a:t>stack symbol</a:t>
            </a:r>
            <a:r>
              <a:rPr sz="1700" kern="1200" spc="-5" dirty="0">
                <a:solidFill>
                  <a:prstClr val="black"/>
                </a:solidFill>
                <a:latin typeface="Palatino Linotype"/>
                <a:cs typeface="Palatino Linotype"/>
              </a:rPr>
              <a:t>;</a:t>
            </a:r>
            <a:endParaRPr sz="1700" kern="1200" dirty="0">
              <a:solidFill>
                <a:prstClr val="black"/>
              </a:solidFill>
              <a:latin typeface="Palatino Linotype"/>
              <a:cs typeface="Palatino Linotype"/>
            </a:endParaRPr>
          </a:p>
          <a:p>
            <a:pPr marL="552450" indent="-514350" rtl="0">
              <a:spcBef>
                <a:spcPts val="645"/>
              </a:spcBef>
              <a:buClr>
                <a:srgbClr val="000000"/>
              </a:buClr>
              <a:buFontTx/>
              <a:buAutoNum type="arabicPeriod"/>
              <a:tabLst>
                <a:tab pos="551815" algn="l"/>
                <a:tab pos="552450" algn="l"/>
              </a:tabLst>
            </a:pPr>
            <a:r>
              <a:rPr sz="1700" kern="1200" spc="-5" dirty="0">
                <a:solidFill>
                  <a:srgbClr val="0432FF"/>
                </a:solidFill>
                <a:latin typeface="Palatino Linotype"/>
                <a:cs typeface="Palatino Linotype"/>
              </a:rPr>
              <a:t>while</a:t>
            </a:r>
            <a:r>
              <a:rPr sz="1700" kern="1200" spc="-10" dirty="0">
                <a:solidFill>
                  <a:srgbClr val="0432FF"/>
                </a:solidFill>
                <a:latin typeface="Palatino Linotype"/>
                <a:cs typeface="Palatino Linotype"/>
              </a:rPr>
              <a:t> </a:t>
            </a:r>
            <a:r>
              <a:rPr sz="1700" kern="1200" dirty="0">
                <a:solidFill>
                  <a:prstClr val="black"/>
                </a:solidFill>
                <a:latin typeface="Palatino Linotype"/>
                <a:cs typeface="Palatino Linotype"/>
              </a:rPr>
              <a:t>(</a:t>
            </a:r>
            <a:r>
              <a:rPr sz="1700" kern="1200" spc="-10" dirty="0">
                <a:solidFill>
                  <a:prstClr val="black"/>
                </a:solidFill>
                <a:latin typeface="Palatino Linotype"/>
                <a:cs typeface="Palatino Linotype"/>
              </a:rPr>
              <a:t> </a:t>
            </a:r>
            <a:r>
              <a:rPr sz="1700" kern="1200" dirty="0">
                <a:solidFill>
                  <a:srgbClr val="FF0000"/>
                </a:solidFill>
                <a:latin typeface="Cambria Math"/>
                <a:cs typeface="Cambria Math"/>
              </a:rPr>
              <a:t>𝑋</a:t>
            </a:r>
            <a:r>
              <a:rPr sz="1700" kern="1200" spc="135" dirty="0">
                <a:solidFill>
                  <a:srgbClr val="FF0000"/>
                </a:solidFill>
                <a:latin typeface="Cambria Math"/>
                <a:cs typeface="Cambria Math"/>
              </a:rPr>
              <a:t> </a:t>
            </a:r>
            <a:r>
              <a:rPr sz="1700" kern="1200" dirty="0">
                <a:solidFill>
                  <a:srgbClr val="FF0000"/>
                </a:solidFill>
                <a:latin typeface="Cambria Math"/>
                <a:cs typeface="Cambria Math"/>
              </a:rPr>
              <a:t>≠</a:t>
            </a:r>
            <a:r>
              <a:rPr sz="1700" kern="1200" spc="95" dirty="0">
                <a:solidFill>
                  <a:srgbClr val="FF0000"/>
                </a:solidFill>
                <a:latin typeface="Cambria Math"/>
                <a:cs typeface="Cambria Math"/>
              </a:rPr>
              <a:t> </a:t>
            </a:r>
            <a:r>
              <a:rPr sz="1700" kern="1200" dirty="0">
                <a:solidFill>
                  <a:srgbClr val="FF0000"/>
                </a:solidFill>
                <a:latin typeface="Cambria Math"/>
                <a:cs typeface="Cambria Math"/>
              </a:rPr>
              <a:t>$</a:t>
            </a:r>
            <a:r>
              <a:rPr sz="1700" kern="1200" spc="50" dirty="0">
                <a:solidFill>
                  <a:srgbClr val="FF0000"/>
                </a:solidFill>
                <a:latin typeface="Cambria Math"/>
                <a:cs typeface="Cambria Math"/>
              </a:rPr>
              <a:t> </a:t>
            </a:r>
            <a:r>
              <a:rPr sz="1700" kern="1200" dirty="0">
                <a:solidFill>
                  <a:prstClr val="black"/>
                </a:solidFill>
                <a:latin typeface="Palatino Linotype"/>
                <a:cs typeface="Palatino Linotype"/>
              </a:rPr>
              <a:t>)</a:t>
            </a:r>
            <a:r>
              <a:rPr sz="1700" kern="1200" spc="-10" dirty="0">
                <a:solidFill>
                  <a:prstClr val="black"/>
                </a:solidFill>
                <a:latin typeface="Palatino Linotype"/>
                <a:cs typeface="Palatino Linotype"/>
              </a:rPr>
              <a:t> </a:t>
            </a:r>
            <a:r>
              <a:rPr sz="1700" kern="1200" dirty="0">
                <a:solidFill>
                  <a:prstClr val="black"/>
                </a:solidFill>
                <a:latin typeface="Palatino Linotype"/>
                <a:cs typeface="Palatino Linotype"/>
              </a:rPr>
              <a:t>{</a:t>
            </a:r>
            <a:r>
              <a:rPr sz="1700" kern="1200" spc="-10" dirty="0">
                <a:solidFill>
                  <a:prstClr val="black"/>
                </a:solidFill>
                <a:latin typeface="Palatino Linotype"/>
                <a:cs typeface="Palatino Linotype"/>
              </a:rPr>
              <a:t> </a:t>
            </a:r>
            <a:r>
              <a:rPr sz="1700" kern="1200" dirty="0">
                <a:solidFill>
                  <a:srgbClr val="00B050"/>
                </a:solidFill>
                <a:latin typeface="Palatino Linotype"/>
                <a:cs typeface="Palatino Linotype"/>
              </a:rPr>
              <a:t>/*</a:t>
            </a:r>
            <a:r>
              <a:rPr sz="1700" kern="1200" spc="-5" dirty="0">
                <a:solidFill>
                  <a:srgbClr val="00B050"/>
                </a:solidFill>
                <a:latin typeface="Palatino Linotype"/>
                <a:cs typeface="Palatino Linotype"/>
              </a:rPr>
              <a:t> stack</a:t>
            </a:r>
            <a:r>
              <a:rPr sz="1700" kern="1200" dirty="0">
                <a:solidFill>
                  <a:srgbClr val="00B050"/>
                </a:solidFill>
                <a:latin typeface="Palatino Linotype"/>
                <a:cs typeface="Palatino Linotype"/>
              </a:rPr>
              <a:t> is</a:t>
            </a:r>
            <a:r>
              <a:rPr sz="1700" kern="1200" spc="-5" dirty="0">
                <a:solidFill>
                  <a:srgbClr val="00B050"/>
                </a:solidFill>
                <a:latin typeface="Palatino Linotype"/>
                <a:cs typeface="Palatino Linotype"/>
              </a:rPr>
              <a:t> not</a:t>
            </a:r>
            <a:r>
              <a:rPr sz="1700" kern="1200" spc="-10" dirty="0">
                <a:solidFill>
                  <a:srgbClr val="00B050"/>
                </a:solidFill>
                <a:latin typeface="Palatino Linotype"/>
                <a:cs typeface="Palatino Linotype"/>
              </a:rPr>
              <a:t> </a:t>
            </a:r>
            <a:r>
              <a:rPr sz="1700" kern="1200" spc="-5" dirty="0">
                <a:solidFill>
                  <a:srgbClr val="00B050"/>
                </a:solidFill>
                <a:latin typeface="Palatino Linotype"/>
                <a:cs typeface="Palatino Linotype"/>
              </a:rPr>
              <a:t>empty </a:t>
            </a:r>
            <a:r>
              <a:rPr sz="1700" kern="1200" dirty="0">
                <a:solidFill>
                  <a:srgbClr val="00B050"/>
                </a:solidFill>
                <a:latin typeface="Palatino Linotype"/>
                <a:cs typeface="Palatino Linotype"/>
              </a:rPr>
              <a:t>*/</a:t>
            </a:r>
            <a:endParaRPr sz="1700" kern="1200" dirty="0">
              <a:solidFill>
                <a:prstClr val="black"/>
              </a:solidFill>
              <a:latin typeface="Palatino Linotype"/>
              <a:cs typeface="Palatino Linotype"/>
            </a:endParaRPr>
          </a:p>
          <a:p>
            <a:pPr marL="768350" indent="-730250" rtl="0">
              <a:spcBef>
                <a:spcPts val="575"/>
              </a:spcBef>
              <a:buClr>
                <a:srgbClr val="000000"/>
              </a:buClr>
              <a:buFontTx/>
              <a:buAutoNum type="arabicPeriod"/>
              <a:tabLst>
                <a:tab pos="767715" algn="l"/>
                <a:tab pos="768350" algn="l"/>
              </a:tabLst>
            </a:pPr>
            <a:r>
              <a:rPr sz="1700" kern="1200" dirty="0">
                <a:solidFill>
                  <a:srgbClr val="0432FF"/>
                </a:solidFill>
                <a:latin typeface="Palatino Linotype"/>
                <a:cs typeface="Palatino Linotype"/>
              </a:rPr>
              <a:t>if</a:t>
            </a:r>
            <a:r>
              <a:rPr sz="1700" kern="1200" spc="-10" dirty="0">
                <a:solidFill>
                  <a:srgbClr val="0432FF"/>
                </a:solidFill>
                <a:latin typeface="Palatino Linotype"/>
                <a:cs typeface="Palatino Linotype"/>
              </a:rPr>
              <a:t> </a:t>
            </a:r>
            <a:r>
              <a:rPr sz="1700" kern="1200" dirty="0">
                <a:solidFill>
                  <a:prstClr val="black"/>
                </a:solidFill>
                <a:latin typeface="Palatino Linotype"/>
                <a:cs typeface="Palatino Linotype"/>
              </a:rPr>
              <a:t>(</a:t>
            </a:r>
            <a:r>
              <a:rPr sz="1700" kern="1200" spc="-5" dirty="0">
                <a:solidFill>
                  <a:prstClr val="black"/>
                </a:solidFill>
                <a:latin typeface="Palatino Linotype"/>
                <a:cs typeface="Palatino Linotype"/>
              </a:rPr>
              <a:t> </a:t>
            </a:r>
            <a:r>
              <a:rPr sz="1700" kern="1200" dirty="0">
                <a:solidFill>
                  <a:srgbClr val="FF0000"/>
                </a:solidFill>
                <a:latin typeface="Cambria Math"/>
                <a:cs typeface="Cambria Math"/>
              </a:rPr>
              <a:t>𝑋</a:t>
            </a:r>
            <a:r>
              <a:rPr sz="1700" kern="1200" spc="140" dirty="0">
                <a:solidFill>
                  <a:srgbClr val="FF0000"/>
                </a:solidFill>
                <a:latin typeface="Cambria Math"/>
                <a:cs typeface="Cambria Math"/>
              </a:rPr>
              <a:t> </a:t>
            </a:r>
            <a:r>
              <a:rPr sz="1700" kern="1200" dirty="0">
                <a:solidFill>
                  <a:srgbClr val="FF0000"/>
                </a:solidFill>
                <a:latin typeface="Cambria Math"/>
                <a:cs typeface="Cambria Math"/>
              </a:rPr>
              <a:t>=</a:t>
            </a:r>
            <a:r>
              <a:rPr sz="1700" kern="1200" spc="100" dirty="0">
                <a:solidFill>
                  <a:srgbClr val="FF0000"/>
                </a:solidFill>
                <a:latin typeface="Cambria Math"/>
                <a:cs typeface="Cambria Math"/>
              </a:rPr>
              <a:t> </a:t>
            </a:r>
            <a:r>
              <a:rPr sz="1700" kern="1200" dirty="0">
                <a:solidFill>
                  <a:srgbClr val="FF0000"/>
                </a:solidFill>
                <a:latin typeface="Cambria Math"/>
                <a:cs typeface="Cambria Math"/>
              </a:rPr>
              <a:t>𝑎</a:t>
            </a:r>
            <a:r>
              <a:rPr sz="1700" kern="1200" spc="90" dirty="0">
                <a:solidFill>
                  <a:srgbClr val="FF0000"/>
                </a:solidFill>
                <a:latin typeface="Cambria Math"/>
                <a:cs typeface="Cambria Math"/>
              </a:rPr>
              <a:t> </a:t>
            </a:r>
            <a:r>
              <a:rPr sz="1700" kern="1200" dirty="0">
                <a:solidFill>
                  <a:prstClr val="black"/>
                </a:solidFill>
                <a:latin typeface="Palatino Linotype"/>
                <a:cs typeface="Palatino Linotype"/>
              </a:rPr>
              <a:t>)</a:t>
            </a:r>
            <a:r>
              <a:rPr sz="1700" kern="1200" spc="-5" dirty="0">
                <a:solidFill>
                  <a:prstClr val="black"/>
                </a:solidFill>
                <a:latin typeface="Palatino Linotype"/>
                <a:cs typeface="Palatino Linotype"/>
              </a:rPr>
              <a:t> pop</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the stack</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and</a:t>
            </a:r>
            <a:r>
              <a:rPr sz="1700" kern="1200" spc="-10" dirty="0">
                <a:solidFill>
                  <a:prstClr val="black"/>
                </a:solidFill>
                <a:latin typeface="Palatino Linotype"/>
                <a:cs typeface="Palatino Linotype"/>
              </a:rPr>
              <a:t> </a:t>
            </a:r>
            <a:r>
              <a:rPr sz="1700" kern="1200" dirty="0">
                <a:solidFill>
                  <a:srgbClr val="0432FF"/>
                </a:solidFill>
                <a:latin typeface="Palatino Linotype"/>
                <a:cs typeface="Palatino Linotype"/>
              </a:rPr>
              <a:t>let</a:t>
            </a:r>
            <a:r>
              <a:rPr sz="1700" kern="1200" spc="-5" dirty="0">
                <a:solidFill>
                  <a:srgbClr val="0432FF"/>
                </a:solidFill>
                <a:latin typeface="Palatino Linotype"/>
                <a:cs typeface="Palatino Linotype"/>
              </a:rPr>
              <a:t> </a:t>
            </a:r>
            <a:r>
              <a:rPr sz="1700" kern="1200" dirty="0">
                <a:solidFill>
                  <a:srgbClr val="FF0000"/>
                </a:solidFill>
                <a:latin typeface="Cambria Math"/>
                <a:cs typeface="Cambria Math"/>
              </a:rPr>
              <a:t>𝑎</a:t>
            </a:r>
            <a:r>
              <a:rPr sz="1700" kern="1200" spc="95" dirty="0">
                <a:solidFill>
                  <a:srgbClr val="FF0000"/>
                </a:solidFill>
                <a:latin typeface="Cambria Math"/>
                <a:cs typeface="Cambria Math"/>
              </a:rPr>
              <a:t> </a:t>
            </a:r>
            <a:r>
              <a:rPr sz="1700" kern="1200" spc="-5" dirty="0">
                <a:solidFill>
                  <a:prstClr val="black"/>
                </a:solidFill>
                <a:latin typeface="Palatino Linotype"/>
                <a:cs typeface="Palatino Linotype"/>
              </a:rPr>
              <a:t>be the</a:t>
            </a:r>
            <a:r>
              <a:rPr sz="1700" kern="1200" spc="-10" dirty="0">
                <a:solidFill>
                  <a:prstClr val="black"/>
                </a:solidFill>
                <a:latin typeface="Palatino Linotype"/>
                <a:cs typeface="Palatino Linotype"/>
              </a:rPr>
              <a:t> </a:t>
            </a:r>
            <a:r>
              <a:rPr sz="1700" kern="1200" spc="-5" dirty="0">
                <a:solidFill>
                  <a:srgbClr val="FF0000"/>
                </a:solidFill>
                <a:latin typeface="Palatino Linotype"/>
                <a:cs typeface="Palatino Linotype"/>
              </a:rPr>
              <a:t>next symbol</a:t>
            </a:r>
            <a:r>
              <a:rPr sz="1700" kern="1200" spc="5" dirty="0">
                <a:solidFill>
                  <a:srgbClr val="FF0000"/>
                </a:solidFill>
                <a:latin typeface="Palatino Linotype"/>
                <a:cs typeface="Palatino Linotype"/>
              </a:rPr>
              <a:t> </a:t>
            </a:r>
            <a:r>
              <a:rPr sz="1700" kern="1200" spc="-5" dirty="0">
                <a:solidFill>
                  <a:srgbClr val="FF0000"/>
                </a:solidFill>
                <a:latin typeface="Palatino Linotype"/>
                <a:cs typeface="Palatino Linotype"/>
              </a:rPr>
              <a:t>of </a:t>
            </a:r>
            <a:r>
              <a:rPr sz="1700" kern="1200" spc="20" dirty="0">
                <a:solidFill>
                  <a:srgbClr val="FF0000"/>
                </a:solidFill>
                <a:latin typeface="Cambria Math"/>
                <a:cs typeface="Cambria Math"/>
              </a:rPr>
              <a:t>𝜔</a:t>
            </a:r>
            <a:r>
              <a:rPr sz="1700" kern="1200" spc="20" dirty="0">
                <a:solidFill>
                  <a:prstClr val="black"/>
                </a:solidFill>
                <a:latin typeface="Palatino Linotype"/>
                <a:cs typeface="Palatino Linotype"/>
              </a:rPr>
              <a:t>;</a:t>
            </a:r>
            <a:endParaRPr sz="1700" kern="1200" dirty="0">
              <a:solidFill>
                <a:prstClr val="black"/>
              </a:solidFill>
              <a:latin typeface="Palatino Linotype"/>
              <a:cs typeface="Palatino Linotype"/>
            </a:endParaRPr>
          </a:p>
          <a:p>
            <a:pPr marL="768350" indent="-730250" rtl="0">
              <a:spcBef>
                <a:spcPts val="650"/>
              </a:spcBef>
              <a:buClr>
                <a:srgbClr val="000000"/>
              </a:buClr>
              <a:buFontTx/>
              <a:buAutoNum type="arabicPeriod"/>
              <a:tabLst>
                <a:tab pos="767715" algn="l"/>
                <a:tab pos="768350" algn="l"/>
                <a:tab pos="3790315" algn="l"/>
              </a:tabLst>
            </a:pPr>
            <a:r>
              <a:rPr sz="1700" kern="1200" dirty="0">
                <a:solidFill>
                  <a:srgbClr val="0432FF"/>
                </a:solidFill>
                <a:latin typeface="Palatino Linotype"/>
                <a:cs typeface="Palatino Linotype"/>
              </a:rPr>
              <a:t>else if </a:t>
            </a:r>
            <a:r>
              <a:rPr sz="1700" kern="1200" dirty="0">
                <a:solidFill>
                  <a:prstClr val="black"/>
                </a:solidFill>
                <a:latin typeface="Palatino Linotype"/>
                <a:cs typeface="Palatino Linotype"/>
              </a:rPr>
              <a:t>(</a:t>
            </a:r>
            <a:r>
              <a:rPr sz="1700" kern="1200" spc="5" dirty="0">
                <a:solidFill>
                  <a:prstClr val="black"/>
                </a:solidFill>
                <a:latin typeface="Palatino Linotype"/>
                <a:cs typeface="Palatino Linotype"/>
              </a:rPr>
              <a:t> </a:t>
            </a:r>
            <a:r>
              <a:rPr sz="1700" kern="1200" dirty="0">
                <a:solidFill>
                  <a:srgbClr val="FF0000"/>
                </a:solidFill>
                <a:latin typeface="Cambria Math"/>
                <a:cs typeface="Cambria Math"/>
              </a:rPr>
              <a:t>𝑋</a:t>
            </a:r>
            <a:r>
              <a:rPr sz="1700" kern="1200" spc="105" dirty="0">
                <a:solidFill>
                  <a:srgbClr val="FF0000"/>
                </a:solidFill>
                <a:latin typeface="Cambria Math"/>
                <a:cs typeface="Cambria Math"/>
              </a:rPr>
              <a:t> </a:t>
            </a:r>
            <a:r>
              <a:rPr sz="1700" kern="1200" dirty="0">
                <a:solidFill>
                  <a:prstClr val="black"/>
                </a:solidFill>
                <a:latin typeface="Palatino Linotype"/>
                <a:cs typeface="Palatino Linotype"/>
              </a:rPr>
              <a:t>is</a:t>
            </a:r>
            <a:r>
              <a:rPr sz="1700" kern="1200" spc="5" dirty="0">
                <a:solidFill>
                  <a:prstClr val="black"/>
                </a:solidFill>
                <a:latin typeface="Palatino Linotype"/>
                <a:cs typeface="Palatino Linotype"/>
              </a:rPr>
              <a:t> </a:t>
            </a:r>
            <a:r>
              <a:rPr sz="1700" kern="1200" dirty="0">
                <a:solidFill>
                  <a:prstClr val="black"/>
                </a:solidFill>
                <a:latin typeface="Palatino Linotype"/>
                <a:cs typeface="Palatino Linotype"/>
              </a:rPr>
              <a:t>a</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terminal)</a:t>
            </a:r>
            <a:r>
              <a:rPr sz="1700" kern="1200" spc="5" dirty="0">
                <a:solidFill>
                  <a:prstClr val="black"/>
                </a:solidFill>
                <a:latin typeface="Palatino Linotype"/>
                <a:cs typeface="Palatino Linotype"/>
              </a:rPr>
              <a:t> </a:t>
            </a:r>
            <a:r>
              <a:rPr sz="1700" i="1" kern="1200" spc="-10" dirty="0">
                <a:solidFill>
                  <a:srgbClr val="FF0000"/>
                </a:solidFill>
                <a:latin typeface="Palatino Linotype"/>
                <a:cs typeface="Palatino Linotype"/>
              </a:rPr>
              <a:t>error</a:t>
            </a:r>
            <a:r>
              <a:rPr sz="1700" kern="1200" spc="-10" dirty="0">
                <a:solidFill>
                  <a:srgbClr val="FF0000"/>
                </a:solidFill>
                <a:latin typeface="Palatino Linotype"/>
                <a:cs typeface="Palatino Linotype"/>
              </a:rPr>
              <a:t>()</a:t>
            </a:r>
            <a:r>
              <a:rPr sz="1700" kern="1200" spc="-10" dirty="0">
                <a:solidFill>
                  <a:prstClr val="black"/>
                </a:solidFill>
                <a:latin typeface="Palatino Linotype"/>
                <a:cs typeface="Palatino Linotype"/>
              </a:rPr>
              <a:t>;	</a:t>
            </a:r>
            <a:r>
              <a:rPr sz="1700" kern="1200" dirty="0">
                <a:solidFill>
                  <a:srgbClr val="00B050"/>
                </a:solidFill>
                <a:latin typeface="Palatino Linotype"/>
                <a:cs typeface="Palatino Linotype"/>
              </a:rPr>
              <a:t>/*</a:t>
            </a:r>
            <a:r>
              <a:rPr sz="1700" kern="1200" spc="-10" dirty="0">
                <a:solidFill>
                  <a:srgbClr val="00B050"/>
                </a:solidFill>
                <a:latin typeface="Palatino Linotype"/>
                <a:cs typeface="Palatino Linotype"/>
              </a:rPr>
              <a:t> </a:t>
            </a:r>
            <a:r>
              <a:rPr sz="1700" kern="1200" dirty="0">
                <a:solidFill>
                  <a:srgbClr val="00B050"/>
                </a:solidFill>
                <a:latin typeface="Cambria Math"/>
                <a:cs typeface="Cambria Math"/>
              </a:rPr>
              <a:t>𝑋</a:t>
            </a:r>
            <a:r>
              <a:rPr sz="1700" kern="1200" spc="90" dirty="0">
                <a:solidFill>
                  <a:srgbClr val="00B050"/>
                </a:solidFill>
                <a:latin typeface="Cambria Math"/>
                <a:cs typeface="Cambria Math"/>
              </a:rPr>
              <a:t> </a:t>
            </a:r>
            <a:r>
              <a:rPr sz="1700" kern="1200" spc="-5" dirty="0">
                <a:solidFill>
                  <a:srgbClr val="00B050"/>
                </a:solidFill>
                <a:latin typeface="Palatino Linotype"/>
                <a:cs typeface="Palatino Linotype"/>
              </a:rPr>
              <a:t>can</a:t>
            </a:r>
            <a:r>
              <a:rPr sz="1700" kern="1200" spc="-15" dirty="0">
                <a:solidFill>
                  <a:srgbClr val="00B050"/>
                </a:solidFill>
                <a:latin typeface="Palatino Linotype"/>
                <a:cs typeface="Palatino Linotype"/>
              </a:rPr>
              <a:t> </a:t>
            </a:r>
            <a:r>
              <a:rPr sz="1700" kern="1200" spc="-5" dirty="0">
                <a:solidFill>
                  <a:srgbClr val="00B050"/>
                </a:solidFill>
                <a:latin typeface="Palatino Linotype"/>
                <a:cs typeface="Palatino Linotype"/>
              </a:rPr>
              <a:t>only</a:t>
            </a:r>
            <a:r>
              <a:rPr sz="1700" kern="1200" spc="-10" dirty="0">
                <a:solidFill>
                  <a:srgbClr val="00B050"/>
                </a:solidFill>
                <a:latin typeface="Palatino Linotype"/>
                <a:cs typeface="Palatino Linotype"/>
              </a:rPr>
              <a:t> </a:t>
            </a:r>
            <a:r>
              <a:rPr sz="1700" kern="1200" spc="-5" dirty="0">
                <a:solidFill>
                  <a:srgbClr val="00B050"/>
                </a:solidFill>
                <a:latin typeface="Palatino Linotype"/>
                <a:cs typeface="Palatino Linotype"/>
              </a:rPr>
              <a:t>match</a:t>
            </a:r>
            <a:r>
              <a:rPr sz="1700" kern="1200" spc="-10" dirty="0">
                <a:solidFill>
                  <a:srgbClr val="00B050"/>
                </a:solidFill>
                <a:latin typeface="Palatino Linotype"/>
                <a:cs typeface="Palatino Linotype"/>
              </a:rPr>
              <a:t> </a:t>
            </a:r>
            <a:r>
              <a:rPr sz="1700" kern="1200" dirty="0">
                <a:solidFill>
                  <a:srgbClr val="00B050"/>
                </a:solidFill>
                <a:latin typeface="Cambria Math"/>
                <a:cs typeface="Cambria Math"/>
              </a:rPr>
              <a:t>𝑎</a:t>
            </a:r>
            <a:r>
              <a:rPr sz="1700" kern="1200" spc="85" dirty="0">
                <a:solidFill>
                  <a:srgbClr val="00B050"/>
                </a:solidFill>
                <a:latin typeface="Cambria Math"/>
                <a:cs typeface="Cambria Math"/>
              </a:rPr>
              <a:t> </a:t>
            </a:r>
            <a:r>
              <a:rPr sz="1700" kern="1200" dirty="0">
                <a:solidFill>
                  <a:srgbClr val="00B050"/>
                </a:solidFill>
                <a:latin typeface="Palatino Linotype"/>
                <a:cs typeface="Palatino Linotype"/>
              </a:rPr>
              <a:t>*/</a:t>
            </a:r>
            <a:endParaRPr sz="1700" kern="1200" dirty="0">
              <a:solidFill>
                <a:prstClr val="black"/>
              </a:solidFill>
              <a:latin typeface="Palatino Linotype"/>
              <a:cs typeface="Palatino Linotype"/>
            </a:endParaRPr>
          </a:p>
          <a:p>
            <a:pPr marL="768350" indent="-730250" rtl="0">
              <a:spcBef>
                <a:spcPts val="575"/>
              </a:spcBef>
              <a:buClr>
                <a:srgbClr val="000000"/>
              </a:buClr>
              <a:buFontTx/>
              <a:buAutoNum type="arabicPeriod"/>
              <a:tabLst>
                <a:tab pos="767715" algn="l"/>
                <a:tab pos="768350" algn="l"/>
              </a:tabLst>
            </a:pPr>
            <a:r>
              <a:rPr sz="1700" kern="1200" dirty="0">
                <a:solidFill>
                  <a:srgbClr val="0432FF"/>
                </a:solidFill>
                <a:latin typeface="Palatino Linotype"/>
                <a:cs typeface="Palatino Linotype"/>
              </a:rPr>
              <a:t>else</a:t>
            </a:r>
            <a:r>
              <a:rPr sz="1700" kern="1200" spc="-10" dirty="0">
                <a:solidFill>
                  <a:srgbClr val="0432FF"/>
                </a:solidFill>
                <a:latin typeface="Palatino Linotype"/>
                <a:cs typeface="Palatino Linotype"/>
              </a:rPr>
              <a:t> </a:t>
            </a:r>
            <a:r>
              <a:rPr sz="1700" kern="1200" dirty="0">
                <a:solidFill>
                  <a:srgbClr val="0432FF"/>
                </a:solidFill>
                <a:latin typeface="Palatino Linotype"/>
                <a:cs typeface="Palatino Linotype"/>
              </a:rPr>
              <a:t>if</a:t>
            </a:r>
            <a:r>
              <a:rPr sz="1700" kern="1200" spc="-10" dirty="0">
                <a:solidFill>
                  <a:srgbClr val="0432FF"/>
                </a:solidFill>
                <a:latin typeface="Palatino Linotype"/>
                <a:cs typeface="Palatino Linotype"/>
              </a:rPr>
              <a:t> </a:t>
            </a:r>
            <a:r>
              <a:rPr sz="1700" kern="1200" dirty="0">
                <a:solidFill>
                  <a:prstClr val="black"/>
                </a:solidFill>
                <a:latin typeface="Palatino Linotype"/>
                <a:cs typeface="Palatino Linotype"/>
              </a:rPr>
              <a:t>(</a:t>
            </a:r>
            <a:r>
              <a:rPr sz="1700" kern="1200" spc="-5" dirty="0">
                <a:solidFill>
                  <a:prstClr val="black"/>
                </a:solidFill>
                <a:latin typeface="Palatino Linotype"/>
                <a:cs typeface="Palatino Linotype"/>
              </a:rPr>
              <a:t> </a:t>
            </a:r>
            <a:r>
              <a:rPr sz="1700" kern="1200" spc="20" dirty="0">
                <a:solidFill>
                  <a:srgbClr val="FF0000"/>
                </a:solidFill>
                <a:latin typeface="Cambria Math"/>
                <a:cs typeface="Cambria Math"/>
              </a:rPr>
              <a:t>𝑀[𝑋,</a:t>
            </a:r>
            <a:r>
              <a:rPr sz="1700" kern="1200" spc="-90" dirty="0">
                <a:solidFill>
                  <a:srgbClr val="FF0000"/>
                </a:solidFill>
                <a:latin typeface="Cambria Math"/>
                <a:cs typeface="Cambria Math"/>
              </a:rPr>
              <a:t> </a:t>
            </a:r>
            <a:r>
              <a:rPr sz="1700" kern="1200" spc="20" dirty="0">
                <a:solidFill>
                  <a:srgbClr val="FF0000"/>
                </a:solidFill>
                <a:latin typeface="Cambria Math"/>
                <a:cs typeface="Cambria Math"/>
              </a:rPr>
              <a:t>𝑎]</a:t>
            </a:r>
            <a:r>
              <a:rPr sz="1700" kern="1200" spc="50" dirty="0">
                <a:solidFill>
                  <a:srgbClr val="FF0000"/>
                </a:solidFill>
                <a:latin typeface="Cambria Math"/>
                <a:cs typeface="Cambria Math"/>
              </a:rPr>
              <a:t> </a:t>
            </a:r>
            <a:r>
              <a:rPr sz="1700" kern="1200" dirty="0">
                <a:solidFill>
                  <a:prstClr val="black"/>
                </a:solidFill>
                <a:latin typeface="Palatino Linotype"/>
                <a:cs typeface="Palatino Linotype"/>
              </a:rPr>
              <a:t>is</a:t>
            </a:r>
            <a:r>
              <a:rPr sz="1700" kern="1200" spc="-5" dirty="0">
                <a:solidFill>
                  <a:prstClr val="black"/>
                </a:solidFill>
                <a:latin typeface="Palatino Linotype"/>
                <a:cs typeface="Palatino Linotype"/>
              </a:rPr>
              <a:t> </a:t>
            </a:r>
            <a:r>
              <a:rPr sz="1700" kern="1200" dirty="0">
                <a:solidFill>
                  <a:prstClr val="black"/>
                </a:solidFill>
                <a:latin typeface="Palatino Linotype"/>
                <a:cs typeface="Palatino Linotype"/>
              </a:rPr>
              <a:t>an</a:t>
            </a:r>
            <a:r>
              <a:rPr sz="1700" kern="1200" spc="-5" dirty="0">
                <a:solidFill>
                  <a:prstClr val="black"/>
                </a:solidFill>
                <a:latin typeface="Palatino Linotype"/>
                <a:cs typeface="Palatino Linotype"/>
              </a:rPr>
              <a:t> error entry</a:t>
            </a:r>
            <a:r>
              <a:rPr sz="1700" kern="1200" dirty="0">
                <a:solidFill>
                  <a:prstClr val="black"/>
                </a:solidFill>
                <a:latin typeface="Palatino Linotype"/>
                <a:cs typeface="Palatino Linotype"/>
              </a:rPr>
              <a:t> )</a:t>
            </a:r>
            <a:r>
              <a:rPr sz="1700" kern="1200" spc="-10" dirty="0">
                <a:solidFill>
                  <a:prstClr val="black"/>
                </a:solidFill>
                <a:latin typeface="Palatino Linotype"/>
                <a:cs typeface="Palatino Linotype"/>
              </a:rPr>
              <a:t> </a:t>
            </a:r>
            <a:r>
              <a:rPr sz="1700" i="1" kern="1200" spc="-10" dirty="0">
                <a:solidFill>
                  <a:srgbClr val="FF0000"/>
                </a:solidFill>
                <a:latin typeface="Palatino Linotype"/>
                <a:cs typeface="Palatino Linotype"/>
              </a:rPr>
              <a:t>error</a:t>
            </a:r>
            <a:r>
              <a:rPr sz="1700" kern="1200" spc="-10" dirty="0">
                <a:solidFill>
                  <a:srgbClr val="FF0000"/>
                </a:solidFill>
                <a:latin typeface="Palatino Linotype"/>
                <a:cs typeface="Palatino Linotype"/>
              </a:rPr>
              <a:t>()</a:t>
            </a:r>
            <a:r>
              <a:rPr sz="1700" kern="1200" spc="-10" dirty="0">
                <a:solidFill>
                  <a:prstClr val="black"/>
                </a:solidFill>
                <a:latin typeface="Palatino Linotype"/>
                <a:cs typeface="Palatino Linotype"/>
              </a:rPr>
              <a:t>;</a:t>
            </a:r>
            <a:endParaRPr sz="1700" kern="1200" dirty="0">
              <a:solidFill>
                <a:prstClr val="black"/>
              </a:solidFill>
              <a:latin typeface="Palatino Linotype"/>
              <a:cs typeface="Palatino Linotype"/>
            </a:endParaRPr>
          </a:p>
          <a:p>
            <a:pPr marL="38100" rtl="0">
              <a:spcBef>
                <a:spcPts val="555"/>
              </a:spcBef>
              <a:tabLst>
                <a:tab pos="767715" algn="l"/>
                <a:tab pos="2249805" algn="l"/>
              </a:tabLst>
            </a:pPr>
            <a:r>
              <a:rPr sz="1700" kern="1200" dirty="0">
                <a:solidFill>
                  <a:prstClr val="black"/>
                </a:solidFill>
                <a:latin typeface="Palatino Linotype"/>
                <a:cs typeface="Palatino Linotype"/>
              </a:rPr>
              <a:t>7.	</a:t>
            </a:r>
            <a:r>
              <a:rPr sz="1700" kern="1200" spc="-5" dirty="0">
                <a:solidFill>
                  <a:srgbClr val="0432FF"/>
                </a:solidFill>
                <a:latin typeface="Palatino Linotype"/>
                <a:cs typeface="Palatino Linotype"/>
              </a:rPr>
              <a:t>e</a:t>
            </a:r>
            <a:r>
              <a:rPr sz="1700" kern="1200" spc="5" dirty="0">
                <a:solidFill>
                  <a:srgbClr val="0432FF"/>
                </a:solidFill>
                <a:latin typeface="Palatino Linotype"/>
                <a:cs typeface="Palatino Linotype"/>
              </a:rPr>
              <a:t>l</a:t>
            </a:r>
            <a:r>
              <a:rPr sz="1700" kern="1200" dirty="0">
                <a:solidFill>
                  <a:srgbClr val="0432FF"/>
                </a:solidFill>
                <a:latin typeface="Palatino Linotype"/>
                <a:cs typeface="Palatino Linotype"/>
              </a:rPr>
              <a:t>se</a:t>
            </a:r>
            <a:r>
              <a:rPr sz="1700" kern="1200" spc="-5" dirty="0">
                <a:solidFill>
                  <a:srgbClr val="0432FF"/>
                </a:solidFill>
                <a:latin typeface="Palatino Linotype"/>
                <a:cs typeface="Palatino Linotype"/>
              </a:rPr>
              <a:t> </a:t>
            </a:r>
            <a:r>
              <a:rPr sz="1700" kern="1200" spc="5" dirty="0">
                <a:solidFill>
                  <a:srgbClr val="0432FF"/>
                </a:solidFill>
                <a:latin typeface="Palatino Linotype"/>
                <a:cs typeface="Palatino Linotype"/>
              </a:rPr>
              <a:t>i</a:t>
            </a:r>
            <a:r>
              <a:rPr sz="1700" kern="1200" dirty="0">
                <a:solidFill>
                  <a:srgbClr val="0432FF"/>
                </a:solidFill>
                <a:latin typeface="Palatino Linotype"/>
                <a:cs typeface="Palatino Linotype"/>
              </a:rPr>
              <a:t>f</a:t>
            </a:r>
            <a:r>
              <a:rPr sz="1700" kern="1200" spc="-5" dirty="0">
                <a:solidFill>
                  <a:srgbClr val="0432FF"/>
                </a:solidFill>
                <a:latin typeface="Palatino Linotype"/>
                <a:cs typeface="Palatino Linotype"/>
              </a:rPr>
              <a:t> </a:t>
            </a:r>
            <a:r>
              <a:rPr sz="1700" kern="1200" dirty="0">
                <a:solidFill>
                  <a:prstClr val="black"/>
                </a:solidFill>
                <a:latin typeface="Palatino Linotype"/>
                <a:cs typeface="Palatino Linotype"/>
              </a:rPr>
              <a:t>(</a:t>
            </a:r>
            <a:r>
              <a:rPr sz="1700" kern="1200" spc="-5" dirty="0">
                <a:solidFill>
                  <a:prstClr val="black"/>
                </a:solidFill>
                <a:latin typeface="Palatino Linotype"/>
                <a:cs typeface="Palatino Linotype"/>
              </a:rPr>
              <a:t> </a:t>
            </a:r>
            <a:r>
              <a:rPr sz="1700" kern="1200" dirty="0">
                <a:solidFill>
                  <a:srgbClr val="FF0000"/>
                </a:solidFill>
                <a:latin typeface="Cambria Math"/>
                <a:cs typeface="Cambria Math"/>
              </a:rPr>
              <a:t>𝑀 </a:t>
            </a:r>
            <a:r>
              <a:rPr sz="1700" kern="1200" spc="-110" dirty="0">
                <a:solidFill>
                  <a:srgbClr val="FF0000"/>
                </a:solidFill>
                <a:latin typeface="Cambria Math"/>
                <a:cs typeface="Cambria Math"/>
              </a:rPr>
              <a:t> </a:t>
            </a:r>
            <a:r>
              <a:rPr sz="1700" kern="1200" spc="45" dirty="0">
                <a:solidFill>
                  <a:srgbClr val="FF0000"/>
                </a:solidFill>
                <a:latin typeface="Cambria Math"/>
                <a:cs typeface="Cambria Math"/>
              </a:rPr>
              <a:t>𝑋</a:t>
            </a:r>
            <a:r>
              <a:rPr sz="1700" kern="1200" dirty="0">
                <a:solidFill>
                  <a:srgbClr val="FF0000"/>
                </a:solidFill>
                <a:latin typeface="Cambria Math"/>
                <a:cs typeface="Cambria Math"/>
              </a:rPr>
              <a:t>,</a:t>
            </a:r>
            <a:r>
              <a:rPr sz="1700" kern="1200" spc="-90" dirty="0">
                <a:solidFill>
                  <a:srgbClr val="FF0000"/>
                </a:solidFill>
                <a:latin typeface="Cambria Math"/>
                <a:cs typeface="Cambria Math"/>
              </a:rPr>
              <a:t> </a:t>
            </a:r>
            <a:r>
              <a:rPr sz="1700" kern="1200" dirty="0">
                <a:solidFill>
                  <a:srgbClr val="FF0000"/>
                </a:solidFill>
                <a:latin typeface="Cambria Math"/>
                <a:cs typeface="Cambria Math"/>
              </a:rPr>
              <a:t>𝑎	</a:t>
            </a:r>
            <a:r>
              <a:rPr sz="1700" kern="1200" dirty="0">
                <a:solidFill>
                  <a:prstClr val="black"/>
                </a:solidFill>
                <a:latin typeface="Cambria Math"/>
                <a:cs typeface="Cambria Math"/>
              </a:rPr>
              <a:t>= </a:t>
            </a:r>
            <a:r>
              <a:rPr sz="1700" kern="1200" spc="100" dirty="0">
                <a:solidFill>
                  <a:prstClr val="black"/>
                </a:solidFill>
                <a:latin typeface="Cambria Math"/>
                <a:cs typeface="Cambria Math"/>
              </a:rPr>
              <a:t> </a:t>
            </a:r>
            <a:r>
              <a:rPr sz="1700" kern="1200" dirty="0">
                <a:solidFill>
                  <a:prstClr val="black"/>
                </a:solidFill>
                <a:latin typeface="Cambria Math"/>
                <a:cs typeface="Cambria Math"/>
              </a:rPr>
              <a:t>𝑋</a:t>
            </a:r>
            <a:r>
              <a:rPr sz="1700" kern="1200" spc="140" dirty="0">
                <a:solidFill>
                  <a:prstClr val="black"/>
                </a:solidFill>
                <a:latin typeface="Cambria Math"/>
                <a:cs typeface="Cambria Math"/>
              </a:rPr>
              <a:t> </a:t>
            </a:r>
            <a:r>
              <a:rPr sz="1700" kern="1200" dirty="0">
                <a:solidFill>
                  <a:prstClr val="black"/>
                </a:solidFill>
                <a:latin typeface="Cambria Math"/>
                <a:cs typeface="Cambria Math"/>
              </a:rPr>
              <a:t>→</a:t>
            </a:r>
            <a:r>
              <a:rPr sz="1700" kern="1200" spc="95" dirty="0">
                <a:solidFill>
                  <a:prstClr val="black"/>
                </a:solidFill>
                <a:latin typeface="Cambria Math"/>
                <a:cs typeface="Cambria Math"/>
              </a:rPr>
              <a:t> </a:t>
            </a:r>
            <a:r>
              <a:rPr sz="1700" kern="1200" spc="-320" dirty="0">
                <a:solidFill>
                  <a:prstClr val="black"/>
                </a:solidFill>
                <a:latin typeface="Cambria Math"/>
                <a:cs typeface="Cambria Math"/>
              </a:rPr>
              <a:t>𝑌</a:t>
            </a:r>
            <a:r>
              <a:rPr kern="1200" spc="165" baseline="-16203" dirty="0">
                <a:solidFill>
                  <a:prstClr val="black"/>
                </a:solidFill>
                <a:latin typeface="Cambria Math"/>
                <a:cs typeface="Cambria Math"/>
              </a:rPr>
              <a:t>1</a:t>
            </a:r>
            <a:r>
              <a:rPr sz="1700" kern="1200" spc="-280" dirty="0">
                <a:solidFill>
                  <a:prstClr val="black"/>
                </a:solidFill>
                <a:latin typeface="Cambria Math"/>
                <a:cs typeface="Cambria Math"/>
              </a:rPr>
              <a:t>𝑌</a:t>
            </a:r>
            <a:r>
              <a:rPr kern="1200" spc="37" baseline="-16203" dirty="0">
                <a:solidFill>
                  <a:prstClr val="black"/>
                </a:solidFill>
                <a:latin typeface="Cambria Math"/>
                <a:cs typeface="Cambria Math"/>
              </a:rPr>
              <a:t>2</a:t>
            </a:r>
            <a:r>
              <a:rPr kern="1200" spc="157" baseline="-16203" dirty="0">
                <a:solidFill>
                  <a:prstClr val="black"/>
                </a:solidFill>
                <a:latin typeface="Cambria Math"/>
                <a:cs typeface="Cambria Math"/>
              </a:rPr>
              <a:t> </a:t>
            </a:r>
            <a:r>
              <a:rPr sz="1700" kern="1200" dirty="0">
                <a:solidFill>
                  <a:prstClr val="black"/>
                </a:solidFill>
                <a:latin typeface="Cambria Math"/>
                <a:cs typeface="Cambria Math"/>
              </a:rPr>
              <a:t>…</a:t>
            </a:r>
            <a:r>
              <a:rPr sz="1700" kern="1200" spc="-95" dirty="0">
                <a:solidFill>
                  <a:prstClr val="black"/>
                </a:solidFill>
                <a:latin typeface="Cambria Math"/>
                <a:cs typeface="Cambria Math"/>
              </a:rPr>
              <a:t> </a:t>
            </a:r>
            <a:r>
              <a:rPr sz="1700" kern="1200" spc="-280" dirty="0">
                <a:solidFill>
                  <a:prstClr val="black"/>
                </a:solidFill>
                <a:latin typeface="Cambria Math"/>
                <a:cs typeface="Cambria Math"/>
              </a:rPr>
              <a:t>𝑌</a:t>
            </a:r>
            <a:r>
              <a:rPr kern="1200" spc="172" baseline="-16203" dirty="0">
                <a:solidFill>
                  <a:prstClr val="black"/>
                </a:solidFill>
                <a:latin typeface="Cambria Math"/>
                <a:cs typeface="Cambria Math"/>
              </a:rPr>
              <a:t>𝑘</a:t>
            </a:r>
            <a:r>
              <a:rPr kern="1200" baseline="-16203" dirty="0">
                <a:solidFill>
                  <a:prstClr val="black"/>
                </a:solidFill>
                <a:latin typeface="Cambria Math"/>
                <a:cs typeface="Cambria Math"/>
              </a:rPr>
              <a:t> </a:t>
            </a:r>
            <a:r>
              <a:rPr kern="1200" spc="37" baseline="-16203" dirty="0">
                <a:solidFill>
                  <a:prstClr val="black"/>
                </a:solidFill>
                <a:latin typeface="Cambria Math"/>
                <a:cs typeface="Cambria Math"/>
              </a:rPr>
              <a:t> </a:t>
            </a:r>
            <a:r>
              <a:rPr sz="1700" kern="1200" dirty="0">
                <a:solidFill>
                  <a:prstClr val="black"/>
                </a:solidFill>
                <a:latin typeface="Palatino Linotype"/>
                <a:cs typeface="Palatino Linotype"/>
              </a:rPr>
              <a:t>)</a:t>
            </a:r>
            <a:r>
              <a:rPr sz="1700" kern="1200" spc="-5" dirty="0">
                <a:solidFill>
                  <a:prstClr val="black"/>
                </a:solidFill>
                <a:latin typeface="Palatino Linotype"/>
                <a:cs typeface="Palatino Linotype"/>
              </a:rPr>
              <a:t> </a:t>
            </a:r>
            <a:r>
              <a:rPr sz="1700" kern="1200" dirty="0">
                <a:solidFill>
                  <a:prstClr val="black"/>
                </a:solidFill>
                <a:latin typeface="Palatino Linotype"/>
                <a:cs typeface="Palatino Linotype"/>
              </a:rPr>
              <a:t>{</a:t>
            </a:r>
          </a:p>
          <a:p>
            <a:pPr marL="984250" indent="-946150" rtl="0">
              <a:spcBef>
                <a:spcPts val="645"/>
              </a:spcBef>
              <a:buFontTx/>
              <a:buAutoNum type="arabicPeriod" startAt="8"/>
              <a:tabLst>
                <a:tab pos="983615" algn="l"/>
                <a:tab pos="984250" algn="l"/>
              </a:tabLst>
            </a:pPr>
            <a:r>
              <a:rPr sz="1700" kern="1200" spc="-5" dirty="0">
                <a:solidFill>
                  <a:prstClr val="black"/>
                </a:solidFill>
                <a:latin typeface="Palatino Linotype"/>
                <a:cs typeface="Palatino Linotype"/>
              </a:rPr>
              <a:t>out</a:t>
            </a:r>
            <a:r>
              <a:rPr sz="1700" kern="1200" dirty="0">
                <a:solidFill>
                  <a:prstClr val="black"/>
                </a:solidFill>
                <a:latin typeface="Palatino Linotype"/>
                <a:cs typeface="Palatino Linotype"/>
              </a:rPr>
              <a:t>p</a:t>
            </a:r>
            <a:r>
              <a:rPr sz="1700" kern="1200" spc="-5" dirty="0">
                <a:solidFill>
                  <a:prstClr val="black"/>
                </a:solidFill>
                <a:latin typeface="Palatino Linotype"/>
                <a:cs typeface="Palatino Linotype"/>
              </a:rPr>
              <a:t>u</a:t>
            </a:r>
            <a:r>
              <a:rPr sz="1700" kern="1200" dirty="0">
                <a:solidFill>
                  <a:prstClr val="black"/>
                </a:solidFill>
                <a:latin typeface="Palatino Linotype"/>
                <a:cs typeface="Palatino Linotype"/>
              </a:rPr>
              <a:t>t</a:t>
            </a:r>
            <a:r>
              <a:rPr sz="1700" kern="1200" spc="-5" dirty="0">
                <a:solidFill>
                  <a:prstClr val="black"/>
                </a:solidFill>
                <a:latin typeface="Palatino Linotype"/>
                <a:cs typeface="Palatino Linotype"/>
              </a:rPr>
              <a:t> th</a:t>
            </a:r>
            <a:r>
              <a:rPr sz="1700" kern="1200" dirty="0">
                <a:solidFill>
                  <a:prstClr val="black"/>
                </a:solidFill>
                <a:latin typeface="Palatino Linotype"/>
                <a:cs typeface="Palatino Linotype"/>
              </a:rPr>
              <a:t>e</a:t>
            </a:r>
            <a:r>
              <a:rPr sz="1700" kern="1200" spc="-5" dirty="0">
                <a:solidFill>
                  <a:prstClr val="black"/>
                </a:solidFill>
                <a:latin typeface="Palatino Linotype"/>
                <a:cs typeface="Palatino Linotype"/>
              </a:rPr>
              <a:t> </a:t>
            </a:r>
            <a:r>
              <a:rPr sz="1700" kern="1200" dirty="0">
                <a:solidFill>
                  <a:prstClr val="black"/>
                </a:solidFill>
                <a:latin typeface="Palatino Linotype"/>
                <a:cs typeface="Palatino Linotype"/>
              </a:rPr>
              <a:t>pr</a:t>
            </a:r>
            <a:r>
              <a:rPr sz="1700" kern="1200" spc="-5" dirty="0">
                <a:solidFill>
                  <a:prstClr val="black"/>
                </a:solidFill>
                <a:latin typeface="Palatino Linotype"/>
                <a:cs typeface="Palatino Linotype"/>
              </a:rPr>
              <a:t>oduct</a:t>
            </a:r>
            <a:r>
              <a:rPr sz="1700" kern="1200" spc="5" dirty="0">
                <a:solidFill>
                  <a:prstClr val="black"/>
                </a:solidFill>
                <a:latin typeface="Palatino Linotype"/>
                <a:cs typeface="Palatino Linotype"/>
              </a:rPr>
              <a:t>i</a:t>
            </a:r>
            <a:r>
              <a:rPr sz="1700" kern="1200" spc="-5" dirty="0">
                <a:solidFill>
                  <a:prstClr val="black"/>
                </a:solidFill>
                <a:latin typeface="Palatino Linotype"/>
                <a:cs typeface="Palatino Linotype"/>
              </a:rPr>
              <a:t>o</a:t>
            </a:r>
            <a:r>
              <a:rPr sz="1700" kern="1200" dirty="0">
                <a:solidFill>
                  <a:prstClr val="black"/>
                </a:solidFill>
                <a:latin typeface="Palatino Linotype"/>
                <a:cs typeface="Palatino Linotype"/>
              </a:rPr>
              <a:t>n</a:t>
            </a:r>
            <a:r>
              <a:rPr sz="1700" kern="1200" spc="-5" dirty="0">
                <a:solidFill>
                  <a:prstClr val="black"/>
                </a:solidFill>
                <a:latin typeface="Palatino Linotype"/>
                <a:cs typeface="Palatino Linotype"/>
              </a:rPr>
              <a:t> </a:t>
            </a:r>
            <a:r>
              <a:rPr sz="1700" kern="1200" dirty="0">
                <a:solidFill>
                  <a:prstClr val="black"/>
                </a:solidFill>
                <a:latin typeface="Cambria Math"/>
                <a:cs typeface="Cambria Math"/>
              </a:rPr>
              <a:t>𝑋</a:t>
            </a:r>
            <a:r>
              <a:rPr sz="1700" kern="1200" spc="140" dirty="0">
                <a:solidFill>
                  <a:prstClr val="black"/>
                </a:solidFill>
                <a:latin typeface="Cambria Math"/>
                <a:cs typeface="Cambria Math"/>
              </a:rPr>
              <a:t> </a:t>
            </a:r>
            <a:r>
              <a:rPr sz="1700" kern="1200" dirty="0">
                <a:solidFill>
                  <a:prstClr val="black"/>
                </a:solidFill>
                <a:latin typeface="Cambria Math"/>
                <a:cs typeface="Cambria Math"/>
              </a:rPr>
              <a:t>→</a:t>
            </a:r>
            <a:r>
              <a:rPr sz="1700" kern="1200" spc="95" dirty="0">
                <a:solidFill>
                  <a:prstClr val="black"/>
                </a:solidFill>
                <a:latin typeface="Cambria Math"/>
                <a:cs typeface="Cambria Math"/>
              </a:rPr>
              <a:t> </a:t>
            </a:r>
            <a:r>
              <a:rPr sz="1700" kern="1200" spc="-320" dirty="0">
                <a:solidFill>
                  <a:prstClr val="black"/>
                </a:solidFill>
                <a:latin typeface="Cambria Math"/>
                <a:cs typeface="Cambria Math"/>
              </a:rPr>
              <a:t>𝑌</a:t>
            </a:r>
            <a:r>
              <a:rPr kern="1200" spc="165" baseline="-16203" dirty="0">
                <a:solidFill>
                  <a:prstClr val="black"/>
                </a:solidFill>
                <a:latin typeface="Cambria Math"/>
                <a:cs typeface="Cambria Math"/>
              </a:rPr>
              <a:t>1</a:t>
            </a:r>
            <a:r>
              <a:rPr sz="1700" kern="1200" spc="-280" dirty="0">
                <a:solidFill>
                  <a:prstClr val="black"/>
                </a:solidFill>
                <a:latin typeface="Cambria Math"/>
                <a:cs typeface="Cambria Math"/>
              </a:rPr>
              <a:t>𝑌</a:t>
            </a:r>
            <a:r>
              <a:rPr kern="1200" spc="37" baseline="-16203" dirty="0">
                <a:solidFill>
                  <a:prstClr val="black"/>
                </a:solidFill>
                <a:latin typeface="Cambria Math"/>
                <a:cs typeface="Cambria Math"/>
              </a:rPr>
              <a:t>2</a:t>
            </a:r>
            <a:r>
              <a:rPr kern="1200" spc="157" baseline="-16203" dirty="0">
                <a:solidFill>
                  <a:prstClr val="black"/>
                </a:solidFill>
                <a:latin typeface="Cambria Math"/>
                <a:cs typeface="Cambria Math"/>
              </a:rPr>
              <a:t> </a:t>
            </a:r>
            <a:r>
              <a:rPr sz="1700" kern="1200" dirty="0">
                <a:solidFill>
                  <a:prstClr val="black"/>
                </a:solidFill>
                <a:latin typeface="Cambria Math"/>
                <a:cs typeface="Cambria Math"/>
              </a:rPr>
              <a:t>…</a:t>
            </a:r>
            <a:r>
              <a:rPr sz="1700" kern="1200" spc="-95" dirty="0">
                <a:solidFill>
                  <a:prstClr val="black"/>
                </a:solidFill>
                <a:latin typeface="Cambria Math"/>
                <a:cs typeface="Cambria Math"/>
              </a:rPr>
              <a:t> </a:t>
            </a:r>
            <a:r>
              <a:rPr sz="1700" kern="1200" spc="-280" dirty="0">
                <a:solidFill>
                  <a:prstClr val="black"/>
                </a:solidFill>
                <a:latin typeface="Cambria Math"/>
                <a:cs typeface="Cambria Math"/>
              </a:rPr>
              <a:t>𝑌</a:t>
            </a:r>
            <a:r>
              <a:rPr kern="1200" spc="172" baseline="-16203" dirty="0">
                <a:solidFill>
                  <a:prstClr val="black"/>
                </a:solidFill>
                <a:latin typeface="Cambria Math"/>
                <a:cs typeface="Cambria Math"/>
              </a:rPr>
              <a:t>𝑘</a:t>
            </a:r>
            <a:r>
              <a:rPr kern="1200" spc="-202" baseline="-16203" dirty="0">
                <a:solidFill>
                  <a:prstClr val="black"/>
                </a:solidFill>
                <a:latin typeface="Cambria Math"/>
                <a:cs typeface="Cambria Math"/>
              </a:rPr>
              <a:t> </a:t>
            </a:r>
            <a:r>
              <a:rPr sz="1700" kern="1200" dirty="0">
                <a:solidFill>
                  <a:prstClr val="black"/>
                </a:solidFill>
                <a:latin typeface="Palatino Linotype"/>
                <a:cs typeface="Palatino Linotype"/>
              </a:rPr>
              <a:t>;</a:t>
            </a:r>
          </a:p>
          <a:p>
            <a:pPr marL="984250" indent="-946150" rtl="0">
              <a:spcBef>
                <a:spcPts val="575"/>
              </a:spcBef>
              <a:buFontTx/>
              <a:buAutoNum type="arabicPeriod" startAt="8"/>
              <a:tabLst>
                <a:tab pos="983615" algn="l"/>
                <a:tab pos="984250" algn="l"/>
              </a:tabLst>
            </a:pPr>
            <a:r>
              <a:rPr sz="1700" kern="1200" spc="-5" dirty="0">
                <a:solidFill>
                  <a:prstClr val="black"/>
                </a:solidFill>
                <a:latin typeface="Palatino Linotype"/>
                <a:cs typeface="Palatino Linotype"/>
              </a:rPr>
              <a:t>pop</a:t>
            </a:r>
            <a:r>
              <a:rPr sz="1700" kern="1200" spc="-20" dirty="0">
                <a:solidFill>
                  <a:prstClr val="black"/>
                </a:solidFill>
                <a:latin typeface="Palatino Linotype"/>
                <a:cs typeface="Palatino Linotype"/>
              </a:rPr>
              <a:t> </a:t>
            </a:r>
            <a:r>
              <a:rPr sz="1700" kern="1200" spc="-5" dirty="0">
                <a:solidFill>
                  <a:prstClr val="black"/>
                </a:solidFill>
                <a:latin typeface="Palatino Linotype"/>
                <a:cs typeface="Palatino Linotype"/>
              </a:rPr>
              <a:t>the</a:t>
            </a:r>
            <a:r>
              <a:rPr sz="1700" kern="1200" spc="-25" dirty="0">
                <a:solidFill>
                  <a:prstClr val="black"/>
                </a:solidFill>
                <a:latin typeface="Palatino Linotype"/>
                <a:cs typeface="Palatino Linotype"/>
              </a:rPr>
              <a:t> </a:t>
            </a:r>
            <a:r>
              <a:rPr sz="1700" kern="1200" spc="-5" dirty="0">
                <a:solidFill>
                  <a:prstClr val="black"/>
                </a:solidFill>
                <a:latin typeface="Palatino Linotype"/>
                <a:cs typeface="Palatino Linotype"/>
              </a:rPr>
              <a:t>stack;</a:t>
            </a:r>
            <a:endParaRPr sz="1700" kern="1200" dirty="0">
              <a:solidFill>
                <a:prstClr val="black"/>
              </a:solidFill>
              <a:latin typeface="Palatino Linotype"/>
              <a:cs typeface="Palatino Linotype"/>
            </a:endParaRPr>
          </a:p>
          <a:p>
            <a:pPr marL="984250" indent="-946150" rtl="0">
              <a:spcBef>
                <a:spcPts val="650"/>
              </a:spcBef>
              <a:buFontTx/>
              <a:buAutoNum type="arabicPeriod" startAt="8"/>
              <a:tabLst>
                <a:tab pos="983615" algn="l"/>
                <a:tab pos="984250" algn="l"/>
              </a:tabLst>
            </a:pPr>
            <a:r>
              <a:rPr sz="1700" kern="1200" dirty="0">
                <a:solidFill>
                  <a:prstClr val="black"/>
                </a:solidFill>
                <a:latin typeface="Palatino Linotype"/>
                <a:cs typeface="Palatino Linotype"/>
              </a:rPr>
              <a:t>push</a:t>
            </a:r>
            <a:r>
              <a:rPr sz="1700" kern="1200" spc="-5" dirty="0">
                <a:solidFill>
                  <a:prstClr val="black"/>
                </a:solidFill>
                <a:latin typeface="Palatino Linotype"/>
                <a:cs typeface="Palatino Linotype"/>
              </a:rPr>
              <a:t> </a:t>
            </a:r>
            <a:r>
              <a:rPr sz="1700" kern="1200" spc="-110" dirty="0">
                <a:solidFill>
                  <a:srgbClr val="FF0000"/>
                </a:solidFill>
                <a:latin typeface="Cambria Math"/>
                <a:cs typeface="Cambria Math"/>
              </a:rPr>
              <a:t>𝑌</a:t>
            </a:r>
            <a:r>
              <a:rPr kern="1200" spc="-165" baseline="-16203" dirty="0">
                <a:solidFill>
                  <a:srgbClr val="FF0000"/>
                </a:solidFill>
                <a:latin typeface="Cambria Math"/>
                <a:cs typeface="Cambria Math"/>
              </a:rPr>
              <a:t>𝑘</a:t>
            </a:r>
            <a:r>
              <a:rPr kern="1200" spc="-202" baseline="-16203" dirty="0">
                <a:solidFill>
                  <a:srgbClr val="FF0000"/>
                </a:solidFill>
                <a:latin typeface="Cambria Math"/>
                <a:cs typeface="Cambria Math"/>
              </a:rPr>
              <a:t> </a:t>
            </a:r>
            <a:r>
              <a:rPr sz="1700" kern="1200" dirty="0">
                <a:solidFill>
                  <a:srgbClr val="FF0000"/>
                </a:solidFill>
                <a:latin typeface="Palatino Linotype"/>
                <a:cs typeface="Palatino Linotype"/>
              </a:rPr>
              <a:t>, </a:t>
            </a:r>
            <a:r>
              <a:rPr sz="1700" kern="1200" spc="50" dirty="0">
                <a:solidFill>
                  <a:srgbClr val="FF0000"/>
                </a:solidFill>
                <a:latin typeface="Cambria Math"/>
                <a:cs typeface="Cambria Math"/>
              </a:rPr>
              <a:t>𝑌</a:t>
            </a:r>
            <a:r>
              <a:rPr kern="1200" spc="75" baseline="-16203" dirty="0">
                <a:solidFill>
                  <a:srgbClr val="FF0000"/>
                </a:solidFill>
                <a:latin typeface="Cambria Math"/>
                <a:cs typeface="Cambria Math"/>
              </a:rPr>
              <a:t>𝑘</a:t>
            </a:r>
            <a:r>
              <a:rPr lang="en-US" altLang="zh-CN" kern="1200" spc="75" baseline="-16203" dirty="0">
                <a:solidFill>
                  <a:srgbClr val="FF0000"/>
                </a:solidFill>
                <a:latin typeface="Cambria Math"/>
                <a:cs typeface="Cambria Math"/>
              </a:rPr>
              <a:t>-</a:t>
            </a:r>
            <a:r>
              <a:rPr kern="1200" spc="75" baseline="-16203" dirty="0">
                <a:solidFill>
                  <a:srgbClr val="FF0000"/>
                </a:solidFill>
                <a:latin typeface="Cambria Math"/>
                <a:cs typeface="Cambria Math"/>
              </a:rPr>
              <a:t>1</a:t>
            </a:r>
            <a:r>
              <a:rPr sz="1700" kern="1200" spc="50" dirty="0">
                <a:solidFill>
                  <a:srgbClr val="FF0000"/>
                </a:solidFill>
                <a:latin typeface="Palatino Linotype"/>
                <a:cs typeface="Palatino Linotype"/>
              </a:rPr>
              <a:t>,</a:t>
            </a:r>
            <a:r>
              <a:rPr sz="1700" kern="1200" spc="5" dirty="0">
                <a:solidFill>
                  <a:srgbClr val="FF0000"/>
                </a:solidFill>
                <a:latin typeface="Palatino Linotype"/>
                <a:cs typeface="Palatino Linotype"/>
              </a:rPr>
              <a:t> </a:t>
            </a:r>
            <a:r>
              <a:rPr sz="1700" kern="1200" dirty="0">
                <a:solidFill>
                  <a:srgbClr val="FF0000"/>
                </a:solidFill>
                <a:latin typeface="Palatino Linotype"/>
                <a:cs typeface="Palatino Linotype"/>
              </a:rPr>
              <a:t>…, </a:t>
            </a:r>
            <a:r>
              <a:rPr sz="1700" kern="1200" spc="-150" dirty="0">
                <a:solidFill>
                  <a:srgbClr val="FF0000"/>
                </a:solidFill>
                <a:latin typeface="Cambria Math"/>
                <a:cs typeface="Cambria Math"/>
              </a:rPr>
              <a:t>𝑌</a:t>
            </a:r>
            <a:r>
              <a:rPr kern="1200" spc="-225" baseline="-16203" dirty="0">
                <a:solidFill>
                  <a:srgbClr val="FF0000"/>
                </a:solidFill>
                <a:latin typeface="Cambria Math"/>
                <a:cs typeface="Cambria Math"/>
              </a:rPr>
              <a:t>1</a:t>
            </a:r>
            <a:r>
              <a:rPr kern="1200" spc="37" baseline="-16203" dirty="0">
                <a:solidFill>
                  <a:srgbClr val="FF0000"/>
                </a:solidFill>
                <a:latin typeface="Cambria Math"/>
                <a:cs typeface="Cambria Math"/>
              </a:rPr>
              <a:t> </a:t>
            </a:r>
            <a:r>
              <a:rPr sz="1700" kern="1200" spc="-5" dirty="0">
                <a:solidFill>
                  <a:prstClr val="black"/>
                </a:solidFill>
                <a:latin typeface="Palatino Linotype"/>
                <a:cs typeface="Palatino Linotype"/>
              </a:rPr>
              <a:t>onto the</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stack,</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with </a:t>
            </a:r>
            <a:r>
              <a:rPr sz="1700" kern="1200" spc="-150" dirty="0">
                <a:solidFill>
                  <a:prstClr val="black"/>
                </a:solidFill>
                <a:latin typeface="Cambria Math"/>
                <a:cs typeface="Cambria Math"/>
              </a:rPr>
              <a:t>𝑌</a:t>
            </a:r>
            <a:r>
              <a:rPr kern="1200" spc="-225" baseline="-16203" dirty="0">
                <a:solidFill>
                  <a:prstClr val="black"/>
                </a:solidFill>
                <a:latin typeface="Cambria Math"/>
                <a:cs typeface="Cambria Math"/>
              </a:rPr>
              <a:t>1</a:t>
            </a:r>
            <a:r>
              <a:rPr kern="1200" spc="209" baseline="-16203" dirty="0">
                <a:solidFill>
                  <a:prstClr val="black"/>
                </a:solidFill>
                <a:latin typeface="Cambria Math"/>
                <a:cs typeface="Cambria Math"/>
              </a:rPr>
              <a:t> </a:t>
            </a:r>
            <a:r>
              <a:rPr sz="1700" kern="1200" spc="-5" dirty="0">
                <a:solidFill>
                  <a:prstClr val="black"/>
                </a:solidFill>
                <a:latin typeface="Palatino Linotype"/>
                <a:cs typeface="Palatino Linotype"/>
              </a:rPr>
              <a:t>on</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top;</a:t>
            </a:r>
            <a:r>
              <a:rPr sz="1700" kern="1200" spc="425" dirty="0">
                <a:solidFill>
                  <a:prstClr val="black"/>
                </a:solidFill>
                <a:latin typeface="Palatino Linotype"/>
                <a:cs typeface="Palatino Linotype"/>
              </a:rPr>
              <a:t> </a:t>
            </a:r>
            <a:r>
              <a:rPr sz="1700" kern="1200" dirty="0">
                <a:solidFill>
                  <a:srgbClr val="00B050"/>
                </a:solidFill>
                <a:latin typeface="Palatino Linotype"/>
                <a:cs typeface="Palatino Linotype"/>
              </a:rPr>
              <a:t>/*</a:t>
            </a:r>
            <a:r>
              <a:rPr sz="1700" kern="1200" spc="5" dirty="0">
                <a:solidFill>
                  <a:srgbClr val="00B050"/>
                </a:solidFill>
                <a:latin typeface="Palatino Linotype"/>
                <a:cs typeface="Palatino Linotype"/>
              </a:rPr>
              <a:t> </a:t>
            </a:r>
            <a:r>
              <a:rPr sz="1700" kern="1200" spc="-5" dirty="0">
                <a:solidFill>
                  <a:srgbClr val="00B050"/>
                </a:solidFill>
                <a:latin typeface="Palatino Linotype"/>
                <a:cs typeface="Palatino Linotype"/>
              </a:rPr>
              <a:t>order</a:t>
            </a:r>
            <a:r>
              <a:rPr sz="1700" kern="1200" dirty="0">
                <a:solidFill>
                  <a:srgbClr val="00B050"/>
                </a:solidFill>
                <a:latin typeface="Palatino Linotype"/>
                <a:cs typeface="Palatino Linotype"/>
              </a:rPr>
              <a:t> is</a:t>
            </a:r>
            <a:r>
              <a:rPr sz="1700" kern="1200" spc="5" dirty="0">
                <a:solidFill>
                  <a:srgbClr val="00B050"/>
                </a:solidFill>
                <a:latin typeface="Palatino Linotype"/>
                <a:cs typeface="Palatino Linotype"/>
              </a:rPr>
              <a:t> </a:t>
            </a:r>
            <a:r>
              <a:rPr sz="1700" kern="1200" spc="-5" dirty="0">
                <a:solidFill>
                  <a:srgbClr val="00B050"/>
                </a:solidFill>
                <a:latin typeface="Palatino Linotype"/>
                <a:cs typeface="Palatino Linotype"/>
              </a:rPr>
              <a:t>critical</a:t>
            </a:r>
            <a:r>
              <a:rPr sz="1700" kern="1200" spc="5" dirty="0">
                <a:solidFill>
                  <a:srgbClr val="00B050"/>
                </a:solidFill>
                <a:latin typeface="Palatino Linotype"/>
                <a:cs typeface="Palatino Linotype"/>
              </a:rPr>
              <a:t> </a:t>
            </a:r>
            <a:r>
              <a:rPr sz="1700" kern="1200" dirty="0">
                <a:solidFill>
                  <a:srgbClr val="00B050"/>
                </a:solidFill>
                <a:latin typeface="Palatino Linotype"/>
                <a:cs typeface="Palatino Linotype"/>
              </a:rPr>
              <a:t>*/</a:t>
            </a:r>
            <a:endParaRPr sz="1700" kern="1200" dirty="0">
              <a:solidFill>
                <a:prstClr val="black"/>
              </a:solidFill>
              <a:latin typeface="Palatino Linotype"/>
              <a:cs typeface="Palatino Linotype"/>
            </a:endParaRPr>
          </a:p>
          <a:p>
            <a:pPr marL="38100" rtl="0">
              <a:spcBef>
                <a:spcPts val="575"/>
              </a:spcBef>
              <a:tabLst>
                <a:tab pos="767715" algn="l"/>
              </a:tabLst>
            </a:pPr>
            <a:r>
              <a:rPr sz="1700" kern="1200" dirty="0">
                <a:solidFill>
                  <a:prstClr val="black"/>
                </a:solidFill>
                <a:latin typeface="Palatino Linotype"/>
                <a:cs typeface="Palatino Linotype"/>
              </a:rPr>
              <a:t>11.	}</a:t>
            </a:r>
          </a:p>
          <a:p>
            <a:pPr marL="38100" rtl="0">
              <a:spcBef>
                <a:spcPts val="555"/>
              </a:spcBef>
              <a:tabLst>
                <a:tab pos="767715" algn="l"/>
              </a:tabLst>
            </a:pPr>
            <a:r>
              <a:rPr sz="1700" kern="1200" dirty="0">
                <a:solidFill>
                  <a:prstClr val="black"/>
                </a:solidFill>
                <a:latin typeface="Palatino Linotype"/>
                <a:cs typeface="Palatino Linotype"/>
              </a:rPr>
              <a:t>12.	</a:t>
            </a:r>
            <a:r>
              <a:rPr sz="1700" kern="1200" dirty="0">
                <a:solidFill>
                  <a:srgbClr val="0432FF"/>
                </a:solidFill>
                <a:latin typeface="Palatino Linotype"/>
                <a:cs typeface="Palatino Linotype"/>
              </a:rPr>
              <a:t>let</a:t>
            </a:r>
            <a:r>
              <a:rPr sz="1700" kern="1200" spc="-15" dirty="0">
                <a:solidFill>
                  <a:srgbClr val="0432FF"/>
                </a:solidFill>
                <a:latin typeface="Palatino Linotype"/>
                <a:cs typeface="Palatino Linotype"/>
              </a:rPr>
              <a:t> </a:t>
            </a:r>
            <a:r>
              <a:rPr sz="1700" kern="1200" dirty="0">
                <a:solidFill>
                  <a:srgbClr val="FF0000"/>
                </a:solidFill>
                <a:latin typeface="Cambria Math"/>
                <a:cs typeface="Cambria Math"/>
              </a:rPr>
              <a:t>𝑋</a:t>
            </a:r>
            <a:r>
              <a:rPr sz="1700" kern="1200" spc="90" dirty="0">
                <a:solidFill>
                  <a:srgbClr val="FF0000"/>
                </a:solidFill>
                <a:latin typeface="Cambria Math"/>
                <a:cs typeface="Cambria Math"/>
              </a:rPr>
              <a:t> </a:t>
            </a:r>
            <a:r>
              <a:rPr sz="1700" kern="1200" spc="-5" dirty="0">
                <a:solidFill>
                  <a:prstClr val="black"/>
                </a:solidFill>
                <a:latin typeface="Palatino Linotype"/>
                <a:cs typeface="Palatino Linotype"/>
              </a:rPr>
              <a:t>be</a:t>
            </a:r>
            <a:r>
              <a:rPr sz="1700" kern="1200" spc="-10" dirty="0">
                <a:solidFill>
                  <a:prstClr val="black"/>
                </a:solidFill>
                <a:latin typeface="Palatino Linotype"/>
                <a:cs typeface="Palatino Linotype"/>
              </a:rPr>
              <a:t> </a:t>
            </a:r>
            <a:r>
              <a:rPr sz="1700" kern="1200" spc="-5" dirty="0">
                <a:solidFill>
                  <a:prstClr val="black"/>
                </a:solidFill>
                <a:latin typeface="Palatino Linotype"/>
                <a:cs typeface="Palatino Linotype"/>
              </a:rPr>
              <a:t>the</a:t>
            </a:r>
            <a:r>
              <a:rPr sz="1700" kern="1200" spc="-10" dirty="0">
                <a:solidFill>
                  <a:prstClr val="black"/>
                </a:solidFill>
                <a:latin typeface="Palatino Linotype"/>
                <a:cs typeface="Palatino Linotype"/>
              </a:rPr>
              <a:t> </a:t>
            </a:r>
            <a:r>
              <a:rPr sz="1700" kern="1200" spc="-5" dirty="0">
                <a:solidFill>
                  <a:prstClr val="black"/>
                </a:solidFill>
                <a:latin typeface="Palatino Linotype"/>
                <a:cs typeface="Palatino Linotype"/>
              </a:rPr>
              <a:t>top</a:t>
            </a:r>
            <a:r>
              <a:rPr sz="1700" kern="1200" spc="-10" dirty="0">
                <a:solidFill>
                  <a:prstClr val="black"/>
                </a:solidFill>
                <a:latin typeface="Palatino Linotype"/>
                <a:cs typeface="Palatino Linotype"/>
              </a:rPr>
              <a:t> </a:t>
            </a:r>
            <a:r>
              <a:rPr sz="1700" kern="1200" spc="-5" dirty="0">
                <a:solidFill>
                  <a:prstClr val="black"/>
                </a:solidFill>
                <a:latin typeface="Palatino Linotype"/>
                <a:cs typeface="Palatino Linotype"/>
              </a:rPr>
              <a:t>stack symbol;</a:t>
            </a:r>
            <a:endParaRPr sz="1700" kern="1200" dirty="0">
              <a:solidFill>
                <a:prstClr val="black"/>
              </a:solidFill>
              <a:latin typeface="Palatino Linotype"/>
              <a:cs typeface="Palatino Linotype"/>
            </a:endParaRPr>
          </a:p>
          <a:p>
            <a:pPr marL="38100" rtl="0">
              <a:spcBef>
                <a:spcPts val="645"/>
              </a:spcBef>
              <a:tabLst>
                <a:tab pos="551815" algn="l"/>
              </a:tabLst>
            </a:pPr>
            <a:r>
              <a:rPr sz="1700" kern="1200" dirty="0">
                <a:solidFill>
                  <a:prstClr val="black"/>
                </a:solidFill>
                <a:latin typeface="Palatino Linotype"/>
                <a:cs typeface="Palatino Linotype"/>
              </a:rPr>
              <a:t>13.	}</a:t>
            </a:r>
          </a:p>
        </p:txBody>
      </p:sp>
    </p:spTree>
    <p:extLst>
      <p:ext uri="{BB962C8B-B14F-4D97-AF65-F5344CB8AC3E}">
        <p14:creationId xmlns:p14="http://schemas.microsoft.com/office/powerpoint/2010/main" val="4673674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86</a:t>
            </a:fld>
            <a:endParaRPr lang="en-US"/>
          </a:p>
        </p:txBody>
      </p:sp>
      <p:sp>
        <p:nvSpPr>
          <p:cNvPr id="14" name="object 2">
            <a:extLst>
              <a:ext uri="{FF2B5EF4-FFF2-40B4-BE49-F238E27FC236}">
                <a16:creationId xmlns:a16="http://schemas.microsoft.com/office/drawing/2014/main" id="{85F3D6E9-2637-B9C7-25AE-3CE69F23AC59}"/>
              </a:ext>
            </a:extLst>
          </p:cNvPr>
          <p:cNvSpPr txBox="1">
            <a:spLocks/>
          </p:cNvSpPr>
          <p:nvPr/>
        </p:nvSpPr>
        <p:spPr>
          <a:xfrm>
            <a:off x="707390" y="524763"/>
            <a:ext cx="20275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a:t>
            </a:r>
            <a:r>
              <a:rPr kumimoji="0" lang="en-US" sz="4000" b="1" i="0" u="none" strike="noStrike" kern="0" cap="none" spc="5" normalizeH="0" baseline="0" noProof="0">
                <a:ln>
                  <a:noFill/>
                </a:ln>
                <a:solidFill>
                  <a:sysClr val="windowText" lastClr="000000"/>
                </a:solidFill>
                <a:effectLst/>
                <a:uLnTx/>
                <a:uFillTx/>
                <a:latin typeface="Palatino Linotype"/>
                <a:ea typeface="+mj-ea"/>
              </a:rPr>
              <a:t>m</a:t>
            </a:r>
            <a:r>
              <a:rPr kumimoji="0" lang="en-US" sz="4000" b="1" i="0" u="none" strike="noStrike" kern="0" cap="none" spc="-10" normalizeH="0" baseline="0" noProof="0">
                <a:ln>
                  <a:noFill/>
                </a:ln>
                <a:solidFill>
                  <a:sysClr val="windowText" lastClr="000000"/>
                </a:solidFill>
                <a:effectLst/>
                <a:uLnTx/>
                <a:uFillTx/>
                <a:latin typeface="Palatino Linotype"/>
                <a:ea typeface="+mj-ea"/>
              </a:rPr>
              <a:t>p</a:t>
            </a:r>
            <a:r>
              <a:rPr kumimoji="0" lang="en-US" sz="4000" b="1" i="0" u="none" strike="noStrike" kern="0" cap="none" spc="5" normalizeH="0" baseline="0" noProof="0">
                <a:ln>
                  <a:noFill/>
                </a:ln>
                <a:solidFill>
                  <a:sysClr val="windowText" lastClr="000000"/>
                </a:solidFill>
                <a:effectLst/>
                <a:uLnTx/>
                <a:uFillTx/>
                <a:latin typeface="Palatino Linotype"/>
                <a:ea typeface="+mj-ea"/>
              </a:rPr>
              <a:t>l</a:t>
            </a:r>
            <a:r>
              <a:rPr kumimoji="0" lang="en-US" sz="4000" b="1" i="0" u="none" strike="noStrike" kern="0" cap="none" spc="0" normalizeH="0" baseline="0" noProof="0">
                <a:ln>
                  <a:noFill/>
                </a:ln>
                <a:solidFill>
                  <a:sysClr val="windowText" lastClr="000000"/>
                </a:solidFill>
                <a:effectLst/>
                <a:uLnTx/>
                <a:uFillTx/>
                <a:latin typeface="Palatino Linotype"/>
                <a:ea typeface="+mj-ea"/>
              </a:rPr>
              <a:t>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pic>
        <p:nvPicPr>
          <p:cNvPr id="15" name="object 3">
            <a:extLst>
              <a:ext uri="{FF2B5EF4-FFF2-40B4-BE49-F238E27FC236}">
                <a16:creationId xmlns:a16="http://schemas.microsoft.com/office/drawing/2014/main" id="{8AB61C53-0DD3-E137-46E0-A39F67130F7A}"/>
              </a:ext>
            </a:extLst>
          </p:cNvPr>
          <p:cNvPicPr/>
          <p:nvPr/>
        </p:nvPicPr>
        <p:blipFill>
          <a:blip r:embed="rId3" cstate="print"/>
          <a:stretch>
            <a:fillRect/>
          </a:stretch>
        </p:blipFill>
        <p:spPr>
          <a:xfrm>
            <a:off x="3441953" y="387099"/>
            <a:ext cx="4438998" cy="670420"/>
          </a:xfrm>
          <a:prstGeom prst="rect">
            <a:avLst/>
          </a:prstGeom>
        </p:spPr>
      </p:pic>
      <p:pic>
        <p:nvPicPr>
          <p:cNvPr id="16" name="object 4">
            <a:extLst>
              <a:ext uri="{FF2B5EF4-FFF2-40B4-BE49-F238E27FC236}">
                <a16:creationId xmlns:a16="http://schemas.microsoft.com/office/drawing/2014/main" id="{17909029-8437-FE01-5737-0E5CB0910535}"/>
              </a:ext>
            </a:extLst>
          </p:cNvPr>
          <p:cNvPicPr/>
          <p:nvPr/>
        </p:nvPicPr>
        <p:blipFill>
          <a:blip r:embed="rId4" cstate="print"/>
          <a:stretch>
            <a:fillRect/>
          </a:stretch>
        </p:blipFill>
        <p:spPr>
          <a:xfrm>
            <a:off x="757354" y="1536728"/>
            <a:ext cx="5932070" cy="1932706"/>
          </a:xfrm>
          <a:prstGeom prst="rect">
            <a:avLst/>
          </a:prstGeom>
        </p:spPr>
      </p:pic>
      <p:sp>
        <p:nvSpPr>
          <p:cNvPr id="17" name="object 5">
            <a:extLst>
              <a:ext uri="{FF2B5EF4-FFF2-40B4-BE49-F238E27FC236}">
                <a16:creationId xmlns:a16="http://schemas.microsoft.com/office/drawing/2014/main" id="{EC73CE4E-B1B1-8BDA-D393-6CC28A523539}"/>
              </a:ext>
            </a:extLst>
          </p:cNvPr>
          <p:cNvSpPr txBox="1"/>
          <p:nvPr/>
        </p:nvSpPr>
        <p:spPr>
          <a:xfrm>
            <a:off x="7150386" y="2046732"/>
            <a:ext cx="1574800" cy="787400"/>
          </a:xfrm>
          <a:prstGeom prst="rect">
            <a:avLst/>
          </a:prstGeom>
        </p:spPr>
        <p:txBody>
          <a:bodyPr vert="horz" wrap="square" lIns="0" tIns="88900" rIns="0" bIns="0" rtlCol="0">
            <a:spAutoFit/>
          </a:bodyPr>
          <a:lstStyle/>
          <a:p>
            <a:pPr marL="12700" rtl="0">
              <a:spcBef>
                <a:spcPts val="700"/>
              </a:spcBef>
            </a:pPr>
            <a:r>
              <a:rPr sz="2000" b="1" kern="1200" spc="-5" dirty="0">
                <a:solidFill>
                  <a:srgbClr val="FF0000"/>
                </a:solidFill>
                <a:latin typeface="Palatino Linotype"/>
                <a:cs typeface="Palatino Linotype"/>
              </a:rPr>
              <a:t>Input:</a:t>
            </a:r>
            <a:endParaRPr sz="2000" kern="1200">
              <a:solidFill>
                <a:prstClr val="black"/>
              </a:solidFill>
              <a:latin typeface="Palatino Linotype"/>
              <a:cs typeface="Palatino Linotype"/>
            </a:endParaRPr>
          </a:p>
          <a:p>
            <a:pPr marL="81280" rtl="0">
              <a:spcBef>
                <a:spcPts val="600"/>
              </a:spcBef>
            </a:pPr>
            <a:r>
              <a:rPr sz="2000" kern="1200" dirty="0">
                <a:solidFill>
                  <a:srgbClr val="0432FF"/>
                </a:solidFill>
                <a:latin typeface="Cambria Math"/>
                <a:cs typeface="Cambria Math"/>
              </a:rPr>
              <a:t>𝐢𝐝</a:t>
            </a:r>
            <a:r>
              <a:rPr sz="2000" kern="1200" spc="415"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420" dirty="0">
                <a:solidFill>
                  <a:srgbClr val="0432FF"/>
                </a:solidFill>
                <a:latin typeface="Cambria Math"/>
                <a:cs typeface="Cambria Math"/>
              </a:rPr>
              <a:t> </a:t>
            </a:r>
            <a:r>
              <a:rPr sz="2000" kern="1200" dirty="0">
                <a:solidFill>
                  <a:srgbClr val="0432FF"/>
                </a:solidFill>
                <a:latin typeface="Cambria Math"/>
                <a:cs typeface="Cambria Math"/>
              </a:rPr>
              <a:t>𝐢𝐝</a:t>
            </a:r>
            <a:r>
              <a:rPr sz="2000" kern="1200" spc="415"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415" dirty="0">
                <a:solidFill>
                  <a:srgbClr val="0432FF"/>
                </a:solidFill>
                <a:latin typeface="Cambria Math"/>
                <a:cs typeface="Cambria Math"/>
              </a:rPr>
              <a:t> </a:t>
            </a:r>
            <a:r>
              <a:rPr sz="2000" kern="1200" dirty="0">
                <a:solidFill>
                  <a:srgbClr val="0432FF"/>
                </a:solidFill>
                <a:latin typeface="Cambria Math"/>
                <a:cs typeface="Cambria Math"/>
              </a:rPr>
              <a:t>𝐢𝐝</a:t>
            </a:r>
            <a:endParaRPr sz="2000" kern="1200">
              <a:solidFill>
                <a:prstClr val="black"/>
              </a:solidFill>
              <a:latin typeface="Cambria Math"/>
              <a:cs typeface="Cambria Math"/>
            </a:endParaRPr>
          </a:p>
        </p:txBody>
      </p:sp>
      <p:grpSp>
        <p:nvGrpSpPr>
          <p:cNvPr id="18" name="object 6">
            <a:extLst>
              <a:ext uri="{FF2B5EF4-FFF2-40B4-BE49-F238E27FC236}">
                <a16:creationId xmlns:a16="http://schemas.microsoft.com/office/drawing/2014/main" id="{68450691-75EE-11C2-F677-CF1F228BBDCB}"/>
              </a:ext>
            </a:extLst>
          </p:cNvPr>
          <p:cNvGrpSpPr/>
          <p:nvPr/>
        </p:nvGrpSpPr>
        <p:grpSpPr>
          <a:xfrm>
            <a:off x="750271" y="3827495"/>
            <a:ext cx="5111115" cy="2237105"/>
            <a:chOff x="750271" y="3827495"/>
            <a:chExt cx="5111115" cy="2237105"/>
          </a:xfrm>
        </p:grpSpPr>
        <p:pic>
          <p:nvPicPr>
            <p:cNvPr id="19" name="object 7">
              <a:extLst>
                <a:ext uri="{FF2B5EF4-FFF2-40B4-BE49-F238E27FC236}">
                  <a16:creationId xmlns:a16="http://schemas.microsoft.com/office/drawing/2014/main" id="{DA09567B-0C90-20DA-24AB-CC4B71E33402}"/>
                </a:ext>
              </a:extLst>
            </p:cNvPr>
            <p:cNvPicPr/>
            <p:nvPr/>
          </p:nvPicPr>
          <p:blipFill>
            <a:blip r:embed="rId5" cstate="print"/>
            <a:stretch>
              <a:fillRect/>
            </a:stretch>
          </p:blipFill>
          <p:spPr>
            <a:xfrm>
              <a:off x="786516" y="3827495"/>
              <a:ext cx="5074455" cy="2098489"/>
            </a:xfrm>
            <a:prstGeom prst="rect">
              <a:avLst/>
            </a:prstGeom>
          </p:spPr>
        </p:pic>
        <p:sp>
          <p:nvSpPr>
            <p:cNvPr id="20" name="object 8">
              <a:extLst>
                <a:ext uri="{FF2B5EF4-FFF2-40B4-BE49-F238E27FC236}">
                  <a16:creationId xmlns:a16="http://schemas.microsoft.com/office/drawing/2014/main" id="{DFB3160F-00D6-3DBA-FDB8-E9766C7EBBC6}"/>
                </a:ext>
              </a:extLst>
            </p:cNvPr>
            <p:cNvSpPr/>
            <p:nvPr/>
          </p:nvSpPr>
          <p:spPr>
            <a:xfrm>
              <a:off x="756621" y="4248150"/>
              <a:ext cx="567690" cy="1809750"/>
            </a:xfrm>
            <a:custGeom>
              <a:avLst/>
              <a:gdLst/>
              <a:ahLst/>
              <a:cxnLst/>
              <a:rect l="l" t="t" r="r" b="b"/>
              <a:pathLst>
                <a:path w="567690" h="1809750">
                  <a:moveTo>
                    <a:pt x="0" y="0"/>
                  </a:moveTo>
                  <a:lnTo>
                    <a:pt x="567353" y="0"/>
                  </a:lnTo>
                  <a:lnTo>
                    <a:pt x="567353" y="1809750"/>
                  </a:lnTo>
                  <a:lnTo>
                    <a:pt x="0" y="180975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1" name="object 9">
              <a:extLst>
                <a:ext uri="{FF2B5EF4-FFF2-40B4-BE49-F238E27FC236}">
                  <a16:creationId xmlns:a16="http://schemas.microsoft.com/office/drawing/2014/main" id="{CA32917B-9CB6-873E-0DEF-DE0E38B7689A}"/>
                </a:ext>
              </a:extLst>
            </p:cNvPr>
            <p:cNvSpPr/>
            <p:nvPr/>
          </p:nvSpPr>
          <p:spPr>
            <a:xfrm>
              <a:off x="2009776" y="4200767"/>
              <a:ext cx="647700" cy="1809750"/>
            </a:xfrm>
            <a:custGeom>
              <a:avLst/>
              <a:gdLst/>
              <a:ahLst/>
              <a:cxnLst/>
              <a:rect l="l" t="t" r="r" b="b"/>
              <a:pathLst>
                <a:path w="647700" h="1809750">
                  <a:moveTo>
                    <a:pt x="0" y="0"/>
                  </a:moveTo>
                  <a:lnTo>
                    <a:pt x="647700" y="0"/>
                  </a:lnTo>
                  <a:lnTo>
                    <a:pt x="647700" y="1809750"/>
                  </a:lnTo>
                  <a:lnTo>
                    <a:pt x="0" y="180975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2" name="object 10">
            <a:extLst>
              <a:ext uri="{FF2B5EF4-FFF2-40B4-BE49-F238E27FC236}">
                <a16:creationId xmlns:a16="http://schemas.microsoft.com/office/drawing/2014/main" id="{1E67C92B-9685-0CF5-2F2F-08DFBD16C518}"/>
              </a:ext>
            </a:extLst>
          </p:cNvPr>
          <p:cNvSpPr txBox="1"/>
          <p:nvPr/>
        </p:nvSpPr>
        <p:spPr>
          <a:xfrm>
            <a:off x="6396101" y="3812540"/>
            <a:ext cx="2181860" cy="2104390"/>
          </a:xfrm>
          <a:prstGeom prst="rect">
            <a:avLst/>
          </a:prstGeom>
        </p:spPr>
        <p:txBody>
          <a:bodyPr vert="horz" wrap="square" lIns="0" tIns="12700" rIns="0" bIns="0" rtlCol="0">
            <a:spAutoFit/>
          </a:bodyPr>
          <a:lstStyle/>
          <a:p>
            <a:pPr algn="ctr" rtl="0">
              <a:lnSpc>
                <a:spcPts val="2135"/>
              </a:lnSpc>
              <a:spcBef>
                <a:spcPts val="100"/>
              </a:spcBef>
            </a:pPr>
            <a:r>
              <a:rPr kern="1200" spc="-5" dirty="0">
                <a:solidFill>
                  <a:srgbClr val="FF0000"/>
                </a:solidFill>
                <a:latin typeface="Palatino Linotype"/>
                <a:cs typeface="Palatino Linotype"/>
              </a:rPr>
              <a:t>Matched</a:t>
            </a:r>
            <a:r>
              <a:rPr kern="1200" spc="-30" dirty="0">
                <a:solidFill>
                  <a:srgbClr val="FF0000"/>
                </a:solidFill>
                <a:latin typeface="Palatino Linotype"/>
                <a:cs typeface="Palatino Linotype"/>
              </a:rPr>
              <a:t> </a:t>
            </a:r>
            <a:r>
              <a:rPr kern="1200" dirty="0">
                <a:solidFill>
                  <a:srgbClr val="FF0000"/>
                </a:solidFill>
                <a:latin typeface="Palatino Linotype"/>
                <a:cs typeface="Palatino Linotype"/>
              </a:rPr>
              <a:t>part</a:t>
            </a:r>
            <a:endParaRPr kern="1200">
              <a:solidFill>
                <a:prstClr val="black"/>
              </a:solidFill>
              <a:latin typeface="Palatino Linotype"/>
              <a:cs typeface="Palatino Linotype"/>
            </a:endParaRPr>
          </a:p>
          <a:p>
            <a:pPr algn="ctr" rtl="0">
              <a:lnSpc>
                <a:spcPts val="2135"/>
              </a:lnSpc>
            </a:pPr>
            <a:r>
              <a:rPr kern="1200" dirty="0">
                <a:solidFill>
                  <a:srgbClr val="FF0000"/>
                </a:solidFill>
                <a:latin typeface="Palatino Linotype"/>
                <a:cs typeface="Palatino Linotype"/>
              </a:rPr>
              <a:t>+</a:t>
            </a:r>
            <a:endParaRPr kern="1200">
              <a:solidFill>
                <a:prstClr val="black"/>
              </a:solidFill>
              <a:latin typeface="Palatino Linotype"/>
              <a:cs typeface="Palatino Linotype"/>
            </a:endParaRPr>
          </a:p>
          <a:p>
            <a:pPr marL="48260" marR="40640" indent="368300" rtl="0">
              <a:lnSpc>
                <a:spcPct val="101099"/>
              </a:lnSpc>
              <a:spcBef>
                <a:spcPts val="25"/>
              </a:spcBef>
            </a:pPr>
            <a:r>
              <a:rPr kern="1200" dirty="0">
                <a:solidFill>
                  <a:srgbClr val="FF0000"/>
                </a:solidFill>
                <a:latin typeface="Palatino Linotype"/>
                <a:cs typeface="Palatino Linotype"/>
              </a:rPr>
              <a:t>Stack content </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(from</a:t>
            </a:r>
            <a:r>
              <a:rPr kern="1200" spc="-30" dirty="0">
                <a:solidFill>
                  <a:srgbClr val="FF0000"/>
                </a:solidFill>
                <a:latin typeface="Palatino Linotype"/>
                <a:cs typeface="Palatino Linotype"/>
              </a:rPr>
              <a:t> </a:t>
            </a:r>
            <a:r>
              <a:rPr kern="1200" dirty="0">
                <a:solidFill>
                  <a:srgbClr val="FF0000"/>
                </a:solidFill>
                <a:latin typeface="Palatino Linotype"/>
                <a:cs typeface="Palatino Linotype"/>
              </a:rPr>
              <a:t>top</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to</a:t>
            </a:r>
            <a:r>
              <a:rPr kern="1200" spc="-25" dirty="0">
                <a:solidFill>
                  <a:srgbClr val="FF0000"/>
                </a:solidFill>
                <a:latin typeface="Palatino Linotype"/>
                <a:cs typeface="Palatino Linotype"/>
              </a:rPr>
              <a:t> </a:t>
            </a:r>
            <a:r>
              <a:rPr kern="1200" spc="-5" dirty="0">
                <a:solidFill>
                  <a:srgbClr val="FF0000"/>
                </a:solidFill>
                <a:latin typeface="Palatino Linotype"/>
                <a:cs typeface="Palatino Linotype"/>
              </a:rPr>
              <a:t>bottom)</a:t>
            </a:r>
            <a:endParaRPr kern="1200">
              <a:solidFill>
                <a:prstClr val="black"/>
              </a:solidFill>
              <a:latin typeface="Palatino Linotype"/>
              <a:cs typeface="Palatino Linotype"/>
            </a:endParaRPr>
          </a:p>
          <a:p>
            <a:pPr algn="ctr" rtl="0">
              <a:lnSpc>
                <a:spcPts val="2110"/>
              </a:lnSpc>
            </a:pPr>
            <a:r>
              <a:rPr kern="1200" dirty="0">
                <a:solidFill>
                  <a:srgbClr val="FF0000"/>
                </a:solidFill>
                <a:latin typeface="Palatino Linotype"/>
                <a:cs typeface="Palatino Linotype"/>
              </a:rPr>
              <a:t>=</a:t>
            </a:r>
            <a:endParaRPr kern="1200">
              <a:solidFill>
                <a:prstClr val="black"/>
              </a:solidFill>
              <a:latin typeface="Palatino Linotype"/>
              <a:cs typeface="Palatino Linotype"/>
            </a:endParaRPr>
          </a:p>
          <a:p>
            <a:pPr algn="ctr" rtl="0">
              <a:spcBef>
                <a:spcPts val="20"/>
              </a:spcBef>
            </a:pPr>
            <a:r>
              <a:rPr kern="1200" dirty="0">
                <a:solidFill>
                  <a:srgbClr val="FF0000"/>
                </a:solidFill>
                <a:latin typeface="Palatino Linotype"/>
                <a:cs typeface="Palatino Linotype"/>
              </a:rPr>
              <a:t>A</a:t>
            </a:r>
            <a:r>
              <a:rPr kern="1200" spc="-105" dirty="0">
                <a:solidFill>
                  <a:srgbClr val="FF0000"/>
                </a:solidFill>
                <a:latin typeface="Palatino Linotype"/>
                <a:cs typeface="Palatino Linotype"/>
              </a:rPr>
              <a:t> </a:t>
            </a:r>
            <a:r>
              <a:rPr kern="1200" dirty="0">
                <a:solidFill>
                  <a:srgbClr val="FF0000"/>
                </a:solidFill>
                <a:latin typeface="Palatino Linotype"/>
                <a:cs typeface="Palatino Linotype"/>
              </a:rPr>
              <a:t>left-</a:t>
            </a:r>
            <a:r>
              <a:rPr kern="1200" spc="-5" dirty="0">
                <a:solidFill>
                  <a:srgbClr val="FF0000"/>
                </a:solidFill>
                <a:latin typeface="Palatino Linotype"/>
                <a:cs typeface="Palatino Linotype"/>
              </a:rPr>
              <a:t>s</a:t>
            </a:r>
            <a:r>
              <a:rPr kern="1200" dirty="0">
                <a:solidFill>
                  <a:srgbClr val="FF0000"/>
                </a:solidFill>
                <a:latin typeface="Palatino Linotype"/>
                <a:cs typeface="Palatino Linotype"/>
              </a:rPr>
              <a:t>entential form</a:t>
            </a:r>
            <a:endParaRPr kern="1200">
              <a:solidFill>
                <a:prstClr val="black"/>
              </a:solidFill>
              <a:latin typeface="Palatino Linotype"/>
              <a:cs typeface="Palatino Linotype"/>
            </a:endParaRPr>
          </a:p>
          <a:p>
            <a:pPr algn="ctr" rtl="0">
              <a:spcBef>
                <a:spcPts val="1250"/>
              </a:spcBef>
            </a:pPr>
            <a:r>
              <a:rPr kern="1200" dirty="0">
                <a:solidFill>
                  <a:srgbClr val="FF0000"/>
                </a:solidFill>
                <a:latin typeface="SimSun"/>
                <a:cs typeface="SimSun"/>
              </a:rPr>
              <a:t>总是最左句型</a:t>
            </a:r>
            <a:endParaRPr kern="1200">
              <a:solidFill>
                <a:prstClr val="black"/>
              </a:solidFill>
              <a:latin typeface="SimSun"/>
              <a:cs typeface="SimSun"/>
            </a:endParaRPr>
          </a:p>
        </p:txBody>
      </p:sp>
    </p:spTree>
    <p:extLst>
      <p:ext uri="{BB962C8B-B14F-4D97-AF65-F5344CB8AC3E}">
        <p14:creationId xmlns:p14="http://schemas.microsoft.com/office/powerpoint/2010/main" val="16689069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87</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Bottom-Up Parsing </a:t>
            </a:r>
            <a:r>
              <a:rPr lang="en-US" altLang="zh-CN" sz="2600" kern="1200" dirty="0">
                <a:solidFill>
                  <a:schemeClr val="bg2">
                    <a:lumMod val="50000"/>
                  </a:schemeClr>
                </a:solidFill>
                <a:latin typeface="Palatino Linotype"/>
                <a:cs typeface="Palatino Linotype"/>
              </a:rPr>
              <a:t>(Recall &amp; A Detailed Look)</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Tree>
    <p:extLst>
      <p:ext uri="{BB962C8B-B14F-4D97-AF65-F5344CB8AC3E}">
        <p14:creationId xmlns:p14="http://schemas.microsoft.com/office/powerpoint/2010/main" val="3087308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88</a:t>
            </a:fld>
            <a:endParaRPr lang="en-US"/>
          </a:p>
        </p:txBody>
      </p:sp>
      <p:sp>
        <p:nvSpPr>
          <p:cNvPr id="11" name="object 2">
            <a:extLst>
              <a:ext uri="{FF2B5EF4-FFF2-40B4-BE49-F238E27FC236}">
                <a16:creationId xmlns:a16="http://schemas.microsoft.com/office/drawing/2014/main" id="{4FE9A7FF-2697-9A52-E675-F5E67DEBF8F3}"/>
              </a:ext>
            </a:extLst>
          </p:cNvPr>
          <p:cNvSpPr txBox="1">
            <a:spLocks/>
          </p:cNvSpPr>
          <p:nvPr/>
        </p:nvSpPr>
        <p:spPr>
          <a:xfrm>
            <a:off x="707390" y="524763"/>
            <a:ext cx="446913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Bottom-Up</a:t>
            </a:r>
            <a:r>
              <a:rPr kumimoji="0" lang="en-US" sz="4000" b="1" i="0" u="none" strike="noStrike" kern="0" cap="none" spc="-7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D809EE0C-EC20-88D5-CAC8-9CB783B9CD29}"/>
              </a:ext>
            </a:extLst>
          </p:cNvPr>
          <p:cNvSpPr txBox="1"/>
          <p:nvPr/>
        </p:nvSpPr>
        <p:spPr>
          <a:xfrm>
            <a:off x="707390" y="1610867"/>
            <a:ext cx="7539990" cy="2616200"/>
          </a:xfrm>
          <a:prstGeom prst="rect">
            <a:avLst/>
          </a:prstGeom>
        </p:spPr>
        <p:txBody>
          <a:bodyPr vert="horz" wrap="square" lIns="0" tIns="5080" rIns="0" bIns="0" rtlCol="0">
            <a:spAutoFit/>
          </a:bodyPr>
          <a:lstStyle/>
          <a:p>
            <a:pPr marL="242570" marR="5080" indent="-230504" rtl="0">
              <a:lnSpc>
                <a:spcPct val="118500"/>
              </a:lnSpc>
              <a:spcBef>
                <a:spcPts val="40"/>
              </a:spcBef>
              <a:buClr>
                <a:srgbClr val="000000"/>
              </a:buClr>
              <a:buFont typeface="Arial MT"/>
              <a:buChar char="•"/>
              <a:tabLst>
                <a:tab pos="242570" algn="l"/>
                <a:tab pos="243204" algn="l"/>
              </a:tabLst>
            </a:pPr>
            <a:r>
              <a:rPr sz="2000" b="1" kern="1200" spc="-5" dirty="0">
                <a:solidFill>
                  <a:srgbClr val="FF0000"/>
                </a:solidFill>
                <a:latin typeface="Palatino Linotype"/>
                <a:cs typeface="Palatino Linotype"/>
              </a:rPr>
              <a:t>Problem definition:</a:t>
            </a:r>
            <a:r>
              <a:rPr sz="2000" b="1" kern="1200" dirty="0">
                <a:solidFill>
                  <a:srgbClr val="FF0000"/>
                </a:solidFill>
                <a:latin typeface="Palatino Linotype"/>
                <a:cs typeface="Palatino Linotype"/>
              </a:rPr>
              <a:t> </a:t>
            </a:r>
            <a:r>
              <a:rPr sz="2000" kern="1200" spc="-5" dirty="0">
                <a:solidFill>
                  <a:prstClr val="black"/>
                </a:solidFill>
                <a:latin typeface="Palatino Linotype"/>
                <a:cs typeface="Palatino Linotype"/>
              </a:rPr>
              <a:t>Constructing</a:t>
            </a:r>
            <a:r>
              <a:rPr sz="2000" kern="1200" dirty="0">
                <a:solidFill>
                  <a:prstClr val="black"/>
                </a:solidFill>
                <a:latin typeface="Palatino Linotype"/>
                <a:cs typeface="Palatino Linotype"/>
              </a:rPr>
              <a:t> a</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parse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tree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for </a:t>
            </a:r>
            <a:r>
              <a:rPr sz="2000" kern="1200" dirty="0">
                <a:solidFill>
                  <a:prstClr val="black"/>
                </a:solidFill>
                <a:latin typeface="Palatino Linotype"/>
                <a:cs typeface="Palatino Linotype"/>
              </a:rPr>
              <a:t>an </a:t>
            </a:r>
            <a:r>
              <a:rPr sz="2000" kern="1200" spc="-5" dirty="0">
                <a:solidFill>
                  <a:prstClr val="black"/>
                </a:solidFill>
                <a:latin typeface="Palatino Linotype"/>
                <a:cs typeface="Palatino Linotype"/>
              </a:rPr>
              <a:t>input string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beginning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10" dirty="0">
                <a:solidFill>
                  <a:prstClr val="black"/>
                </a:solidFill>
                <a:latin typeface="Palatino Linotype"/>
                <a:cs typeface="Palatino Linotype"/>
              </a:rPr>
              <a:t>leaves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t>
            </a:r>
            <a:r>
              <a:rPr sz="2000" kern="1200" spc="-5" dirty="0">
                <a:solidFill>
                  <a:srgbClr val="FF0000"/>
                </a:solidFill>
                <a:latin typeface="Palatino Linotype"/>
                <a:cs typeface="Palatino Linotype"/>
              </a:rPr>
              <a:t>terminals</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10" dirty="0">
                <a:solidFill>
                  <a:prstClr val="black"/>
                </a:solidFill>
                <a:latin typeface="Palatino Linotype"/>
                <a:cs typeface="Palatino Linotype"/>
              </a:rPr>
              <a:t>working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up </a:t>
            </a:r>
            <a:r>
              <a:rPr sz="2000" kern="1200" spc="-15" dirty="0">
                <a:solidFill>
                  <a:prstClr val="black"/>
                </a:solidFill>
                <a:latin typeface="Palatino Linotype"/>
                <a:cs typeface="Palatino Linotype"/>
              </a:rPr>
              <a:t>towards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root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a:t>
            </a:r>
            <a:r>
              <a:rPr sz="2000" kern="1200" spc="-5" dirty="0">
                <a:solidFill>
                  <a:srgbClr val="FF0000"/>
                </a:solidFill>
                <a:latin typeface="Palatino Linotype"/>
                <a:cs typeface="Palatino Linotype"/>
              </a:rPr>
              <a:t>start symbol</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of the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grammar</a:t>
            </a:r>
            <a:r>
              <a:rPr sz="2000" kern="1200" spc="-5" dirty="0">
                <a:solidFill>
                  <a:prstClr val="black"/>
                </a:solidFill>
                <a:latin typeface="Palatino Linotype"/>
                <a:cs typeface="Palatino Linotype"/>
              </a:rPr>
              <a:t>)</a:t>
            </a:r>
            <a:endParaRPr sz="2000" kern="1200" dirty="0">
              <a:solidFill>
                <a:prstClr val="black"/>
              </a:solidFill>
              <a:latin typeface="Palatino Linotype"/>
              <a:cs typeface="Palatino Linotype"/>
            </a:endParaRPr>
          </a:p>
          <a:p>
            <a:pPr marL="698500" lvl="1" indent="-228600" rtl="0">
              <a:spcBef>
                <a:spcPts val="1695"/>
              </a:spcBef>
              <a:buFont typeface="Wingdings"/>
              <a:buChar char=""/>
              <a:tabLst>
                <a:tab pos="697865" algn="l"/>
                <a:tab pos="698500" algn="l"/>
              </a:tabLst>
            </a:pPr>
            <a:r>
              <a:rPr sz="1600" kern="1200" spc="-10" dirty="0">
                <a:solidFill>
                  <a:prstClr val="black"/>
                </a:solidFill>
                <a:latin typeface="Palatino Linotype"/>
                <a:cs typeface="Palatino Linotype"/>
              </a:rPr>
              <a:t>Equivalent</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to</a:t>
            </a:r>
            <a:r>
              <a:rPr sz="1600" kern="1200" spc="10" dirty="0">
                <a:solidFill>
                  <a:prstClr val="black"/>
                </a:solidFill>
                <a:latin typeface="Palatino Linotype"/>
                <a:cs typeface="Palatino Linotype"/>
              </a:rPr>
              <a:t> </a:t>
            </a:r>
            <a:r>
              <a:rPr sz="1600" kern="1200" spc="-5" dirty="0">
                <a:solidFill>
                  <a:srgbClr val="FF0000"/>
                </a:solidFill>
                <a:latin typeface="Palatino Linotype"/>
                <a:cs typeface="Palatino Linotype"/>
              </a:rPr>
              <a:t>finding</a:t>
            </a:r>
            <a:r>
              <a:rPr sz="1600" kern="1200" dirty="0">
                <a:solidFill>
                  <a:srgbClr val="FF0000"/>
                </a:solidFill>
                <a:latin typeface="Palatino Linotype"/>
                <a:cs typeface="Palatino Linotype"/>
              </a:rPr>
              <a:t> a</a:t>
            </a:r>
            <a:r>
              <a:rPr sz="1600" kern="1200" spc="10" dirty="0">
                <a:solidFill>
                  <a:srgbClr val="FF0000"/>
                </a:solidFill>
                <a:latin typeface="Palatino Linotype"/>
                <a:cs typeface="Palatino Linotype"/>
              </a:rPr>
              <a:t> </a:t>
            </a:r>
            <a:r>
              <a:rPr sz="1600" kern="1200" spc="-5" dirty="0">
                <a:solidFill>
                  <a:srgbClr val="FF0000"/>
                </a:solidFill>
                <a:latin typeface="Palatino Linotype"/>
                <a:cs typeface="Palatino Linotype"/>
              </a:rPr>
              <a:t>rightmost</a:t>
            </a:r>
            <a:r>
              <a:rPr sz="1600" kern="1200" spc="10" dirty="0">
                <a:solidFill>
                  <a:srgbClr val="FF0000"/>
                </a:solidFill>
                <a:latin typeface="Palatino Linotype"/>
                <a:cs typeface="Palatino Linotype"/>
              </a:rPr>
              <a:t> </a:t>
            </a:r>
            <a:r>
              <a:rPr sz="1600" kern="1200" spc="-10" dirty="0">
                <a:solidFill>
                  <a:srgbClr val="FF0000"/>
                </a:solidFill>
                <a:latin typeface="Palatino Linotype"/>
                <a:cs typeface="Palatino Linotype"/>
              </a:rPr>
              <a:t>derivation</a:t>
            </a:r>
            <a:r>
              <a:rPr sz="1600" kern="1200" spc="10" dirty="0">
                <a:solidFill>
                  <a:srgbClr val="FF0000"/>
                </a:solidFill>
                <a:latin typeface="Palatino Linotype"/>
                <a:cs typeface="Palatino Linotype"/>
              </a:rPr>
              <a:t> </a:t>
            </a:r>
            <a:r>
              <a:rPr sz="1600" kern="1200" spc="-5" dirty="0">
                <a:solidFill>
                  <a:srgbClr val="FF0000"/>
                </a:solidFill>
                <a:latin typeface="Palatino Linotype"/>
                <a:cs typeface="Palatino Linotype"/>
              </a:rPr>
              <a:t>(in</a:t>
            </a:r>
            <a:r>
              <a:rPr sz="1600" kern="1200" spc="15" dirty="0">
                <a:solidFill>
                  <a:srgbClr val="FF0000"/>
                </a:solidFill>
                <a:latin typeface="Palatino Linotype"/>
                <a:cs typeface="Palatino Linotype"/>
              </a:rPr>
              <a:t> </a:t>
            </a:r>
            <a:r>
              <a:rPr sz="1600" kern="1200" spc="-10" dirty="0">
                <a:solidFill>
                  <a:srgbClr val="FF0000"/>
                </a:solidFill>
                <a:latin typeface="Palatino Linotype"/>
                <a:cs typeface="Palatino Linotype"/>
              </a:rPr>
              <a:t>reverse)</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for</a:t>
            </a:r>
            <a:r>
              <a:rPr sz="1600" kern="1200" spc="15" dirty="0">
                <a:solidFill>
                  <a:srgbClr val="FF0000"/>
                </a:solidFill>
                <a:latin typeface="Palatino Linotype"/>
                <a:cs typeface="Palatino Linotype"/>
              </a:rPr>
              <a:t> </a:t>
            </a:r>
            <a:r>
              <a:rPr sz="1600" kern="1200" dirty="0">
                <a:solidFill>
                  <a:srgbClr val="FF0000"/>
                </a:solidFill>
                <a:latin typeface="Palatino Linotype"/>
                <a:cs typeface="Palatino Linotype"/>
              </a:rPr>
              <a:t>an</a:t>
            </a:r>
            <a:r>
              <a:rPr sz="1600" kern="1200" spc="15" dirty="0">
                <a:solidFill>
                  <a:srgbClr val="FF0000"/>
                </a:solidFill>
                <a:latin typeface="Palatino Linotype"/>
                <a:cs typeface="Palatino Linotype"/>
              </a:rPr>
              <a:t> </a:t>
            </a:r>
            <a:r>
              <a:rPr sz="1600" kern="1200" spc="-5" dirty="0">
                <a:solidFill>
                  <a:srgbClr val="FF0000"/>
                </a:solidFill>
                <a:latin typeface="Palatino Linotype"/>
                <a:cs typeface="Palatino Linotype"/>
              </a:rPr>
              <a:t>input</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string</a:t>
            </a:r>
            <a:endParaRPr sz="1600" kern="1200" dirty="0">
              <a:solidFill>
                <a:prstClr val="black"/>
              </a:solidFill>
              <a:latin typeface="Palatino Linotype"/>
              <a:cs typeface="Palatino Linotype"/>
            </a:endParaRPr>
          </a:p>
          <a:p>
            <a:pPr lvl="1" rtl="0">
              <a:spcBef>
                <a:spcPts val="15"/>
              </a:spcBef>
              <a:buFont typeface="Wingdings"/>
              <a:buChar char=""/>
            </a:pPr>
            <a:endParaRPr sz="1700" kern="1200" dirty="0">
              <a:solidFill>
                <a:prstClr val="black"/>
              </a:solidFill>
              <a:latin typeface="Palatino Linotype"/>
              <a:cs typeface="Palatino Linotype"/>
            </a:endParaRPr>
          </a:p>
          <a:p>
            <a:pPr marL="242570" marR="60325" indent="-230504" rtl="0">
              <a:lnSpc>
                <a:spcPct val="119000"/>
              </a:lnSpc>
              <a:buClr>
                <a:srgbClr val="000000"/>
              </a:buClr>
              <a:buFont typeface="Arial MT"/>
              <a:buChar char="•"/>
              <a:tabLst>
                <a:tab pos="242570" algn="l"/>
                <a:tab pos="243204" algn="l"/>
              </a:tabLst>
            </a:pPr>
            <a:r>
              <a:rPr sz="2100" kern="1200" spc="-5" dirty="0">
                <a:solidFill>
                  <a:srgbClr val="0432FF"/>
                </a:solidFill>
                <a:latin typeface="Palatino Linotype"/>
                <a:cs typeface="Palatino Linotype"/>
              </a:rPr>
              <a:t>Shift-reduce</a:t>
            </a:r>
            <a:r>
              <a:rPr sz="2100" kern="1200" spc="-15" dirty="0">
                <a:solidFill>
                  <a:srgbClr val="0432FF"/>
                </a:solidFill>
                <a:latin typeface="Palatino Linotype"/>
                <a:cs typeface="Palatino Linotype"/>
              </a:rPr>
              <a:t> </a:t>
            </a:r>
            <a:r>
              <a:rPr sz="2100" kern="1200" spc="-5" dirty="0">
                <a:solidFill>
                  <a:srgbClr val="0432FF"/>
                </a:solidFill>
                <a:latin typeface="Palatino Linotype"/>
                <a:cs typeface="Palatino Linotype"/>
              </a:rPr>
              <a:t>parsing</a:t>
            </a:r>
            <a:r>
              <a:rPr sz="2100" kern="1200" spc="-15" dirty="0">
                <a:solidFill>
                  <a:srgbClr val="0432FF"/>
                </a:solidFill>
                <a:latin typeface="Palatino Linotype"/>
                <a:cs typeface="Palatino Linotype"/>
              </a:rPr>
              <a:t> </a:t>
            </a:r>
            <a:r>
              <a:rPr sz="2100" kern="1200" dirty="0">
                <a:solidFill>
                  <a:srgbClr val="0432FF"/>
                </a:solidFill>
                <a:latin typeface="Palatino Linotype"/>
                <a:cs typeface="Palatino Linotype"/>
              </a:rPr>
              <a:t>(</a:t>
            </a:r>
            <a:r>
              <a:rPr sz="2100" kern="1200" dirty="0">
                <a:solidFill>
                  <a:srgbClr val="0432FF"/>
                </a:solidFill>
                <a:latin typeface="SimSun"/>
                <a:cs typeface="SimSun"/>
              </a:rPr>
              <a:t>移入-归约分析技术</a:t>
            </a:r>
            <a:r>
              <a:rPr sz="2100" kern="1200" dirty="0">
                <a:solidFill>
                  <a:srgbClr val="0432FF"/>
                </a:solidFill>
                <a:latin typeface="Palatino Linotype"/>
                <a:cs typeface="Palatino Linotype"/>
              </a:rPr>
              <a:t>) </a:t>
            </a:r>
            <a:r>
              <a:rPr sz="2100" kern="1200" dirty="0">
                <a:solidFill>
                  <a:prstClr val="black"/>
                </a:solidFill>
                <a:latin typeface="Palatino Linotype"/>
                <a:cs typeface="Palatino Linotype"/>
              </a:rPr>
              <a:t>is a </a:t>
            </a:r>
            <a:r>
              <a:rPr sz="2100" kern="1200" spc="-5" dirty="0">
                <a:solidFill>
                  <a:srgbClr val="FF0000"/>
                </a:solidFill>
                <a:latin typeface="Palatino Linotype"/>
                <a:cs typeface="Palatino Linotype"/>
              </a:rPr>
              <a:t>general style </a:t>
            </a:r>
            <a:r>
              <a:rPr sz="2100" kern="1200" dirty="0">
                <a:solidFill>
                  <a:prstClr val="black"/>
                </a:solidFill>
                <a:latin typeface="Palatino Linotype"/>
                <a:cs typeface="Palatino Linotype"/>
              </a:rPr>
              <a:t>of </a:t>
            </a:r>
            <a:r>
              <a:rPr sz="2100" kern="1200" spc="-509" dirty="0">
                <a:solidFill>
                  <a:prstClr val="black"/>
                </a:solidFill>
                <a:latin typeface="Palatino Linotype"/>
                <a:cs typeface="Palatino Linotype"/>
              </a:rPr>
              <a:t> </a:t>
            </a:r>
            <a:r>
              <a:rPr sz="2100" kern="1200" spc="-5" dirty="0">
                <a:solidFill>
                  <a:prstClr val="black"/>
                </a:solidFill>
                <a:latin typeface="Palatino Linotype"/>
                <a:cs typeface="Palatino Linotype"/>
              </a:rPr>
              <a:t>bottom-up</a:t>
            </a:r>
            <a:r>
              <a:rPr sz="2100" kern="1200" dirty="0">
                <a:solidFill>
                  <a:prstClr val="black"/>
                </a:solidFill>
                <a:latin typeface="Palatino Linotype"/>
                <a:cs typeface="Palatino Linotype"/>
              </a:rPr>
              <a:t> </a:t>
            </a:r>
            <a:r>
              <a:rPr sz="2100" kern="1200" spc="-5" dirty="0">
                <a:solidFill>
                  <a:prstClr val="black"/>
                </a:solidFill>
                <a:latin typeface="Palatino Linotype"/>
                <a:cs typeface="Palatino Linotype"/>
              </a:rPr>
              <a:t>parsing</a:t>
            </a:r>
            <a:r>
              <a:rPr sz="2100" kern="1200" spc="-10" dirty="0">
                <a:solidFill>
                  <a:prstClr val="black"/>
                </a:solidFill>
                <a:latin typeface="Palatino Linotype"/>
                <a:cs typeface="Palatino Linotype"/>
              </a:rPr>
              <a:t> </a:t>
            </a:r>
            <a:r>
              <a:rPr sz="2100" kern="1200" spc="-5" dirty="0">
                <a:solidFill>
                  <a:prstClr val="black"/>
                </a:solidFill>
                <a:latin typeface="Palatino Linotype"/>
                <a:cs typeface="Palatino Linotype"/>
              </a:rPr>
              <a:t>(using</a:t>
            </a:r>
            <a:r>
              <a:rPr sz="2100" kern="1200" spc="-10" dirty="0">
                <a:solidFill>
                  <a:prstClr val="black"/>
                </a:solidFill>
                <a:latin typeface="Palatino Linotype"/>
                <a:cs typeface="Palatino Linotype"/>
              </a:rPr>
              <a:t> </a:t>
            </a:r>
            <a:r>
              <a:rPr sz="2100" kern="1200" dirty="0">
                <a:solidFill>
                  <a:prstClr val="black"/>
                </a:solidFill>
                <a:latin typeface="Palatino Linotype"/>
                <a:cs typeface="Palatino Linotype"/>
              </a:rPr>
              <a:t>a</a:t>
            </a:r>
            <a:r>
              <a:rPr sz="2100" kern="1200" spc="-5" dirty="0">
                <a:solidFill>
                  <a:prstClr val="black"/>
                </a:solidFill>
                <a:latin typeface="Palatino Linotype"/>
                <a:cs typeface="Palatino Linotype"/>
              </a:rPr>
              <a:t> </a:t>
            </a:r>
            <a:r>
              <a:rPr sz="2100" kern="1200" dirty="0">
                <a:solidFill>
                  <a:srgbClr val="FF0000"/>
                </a:solidFill>
                <a:latin typeface="Palatino Linotype"/>
                <a:cs typeface="Palatino Linotype"/>
              </a:rPr>
              <a:t>stack</a:t>
            </a:r>
            <a:r>
              <a:rPr sz="2100" kern="1200" spc="-5" dirty="0">
                <a:solidFill>
                  <a:srgbClr val="FF0000"/>
                </a:solidFill>
                <a:latin typeface="Palatino Linotype"/>
                <a:cs typeface="Palatino Linotype"/>
              </a:rPr>
              <a:t> </a:t>
            </a:r>
            <a:r>
              <a:rPr sz="2100" kern="1200" dirty="0">
                <a:solidFill>
                  <a:prstClr val="black"/>
                </a:solidFill>
                <a:latin typeface="Palatino Linotype"/>
                <a:cs typeface="Palatino Linotype"/>
              </a:rPr>
              <a:t>to hold </a:t>
            </a:r>
            <a:r>
              <a:rPr sz="2100" kern="1200" spc="-5" dirty="0">
                <a:solidFill>
                  <a:prstClr val="black"/>
                </a:solidFill>
                <a:latin typeface="Palatino Linotype"/>
                <a:cs typeface="Palatino Linotype"/>
              </a:rPr>
              <a:t>grammar symbols)</a:t>
            </a:r>
            <a:endParaRPr sz="2100" kern="1200" dirty="0">
              <a:solidFill>
                <a:prstClr val="black"/>
              </a:solidFill>
              <a:latin typeface="Palatino Linotype"/>
              <a:cs typeface="Palatino Linotype"/>
            </a:endParaRPr>
          </a:p>
        </p:txBody>
      </p:sp>
      <p:pic>
        <p:nvPicPr>
          <p:cNvPr id="13" name="object 4">
            <a:extLst>
              <a:ext uri="{FF2B5EF4-FFF2-40B4-BE49-F238E27FC236}">
                <a16:creationId xmlns:a16="http://schemas.microsoft.com/office/drawing/2014/main" id="{7C7B18EF-D999-46D0-B475-FF2013E45A23}"/>
              </a:ext>
            </a:extLst>
          </p:cNvPr>
          <p:cNvPicPr/>
          <p:nvPr/>
        </p:nvPicPr>
        <p:blipFill>
          <a:blip r:embed="rId3" cstate="print"/>
          <a:stretch>
            <a:fillRect/>
          </a:stretch>
        </p:blipFill>
        <p:spPr>
          <a:xfrm>
            <a:off x="944756" y="4626823"/>
            <a:ext cx="7254487" cy="1910364"/>
          </a:xfrm>
          <a:prstGeom prst="rect">
            <a:avLst/>
          </a:prstGeom>
        </p:spPr>
      </p:pic>
      <p:grpSp>
        <p:nvGrpSpPr>
          <p:cNvPr id="14" name="object 5">
            <a:extLst>
              <a:ext uri="{FF2B5EF4-FFF2-40B4-BE49-F238E27FC236}">
                <a16:creationId xmlns:a16="http://schemas.microsoft.com/office/drawing/2014/main" id="{1BBE1C69-DC28-0FFB-6E3C-9E270B791A16}"/>
              </a:ext>
            </a:extLst>
          </p:cNvPr>
          <p:cNvGrpSpPr/>
          <p:nvPr/>
        </p:nvGrpSpPr>
        <p:grpSpPr>
          <a:xfrm>
            <a:off x="6250682" y="327027"/>
            <a:ext cx="1572260" cy="1149985"/>
            <a:chOff x="6250682" y="327027"/>
            <a:chExt cx="1572260" cy="1149985"/>
          </a:xfrm>
        </p:grpSpPr>
        <p:pic>
          <p:nvPicPr>
            <p:cNvPr id="15" name="object 6">
              <a:extLst>
                <a:ext uri="{FF2B5EF4-FFF2-40B4-BE49-F238E27FC236}">
                  <a16:creationId xmlns:a16="http://schemas.microsoft.com/office/drawing/2014/main" id="{16975A19-B34A-3C83-4790-8C2A699B62FD}"/>
                </a:ext>
              </a:extLst>
            </p:cNvPr>
            <p:cNvPicPr/>
            <p:nvPr/>
          </p:nvPicPr>
          <p:blipFill>
            <a:blip r:embed="rId4" cstate="print"/>
            <a:stretch>
              <a:fillRect/>
            </a:stretch>
          </p:blipFill>
          <p:spPr>
            <a:xfrm>
              <a:off x="6331180" y="449876"/>
              <a:ext cx="1314430" cy="920758"/>
            </a:xfrm>
            <a:prstGeom prst="rect">
              <a:avLst/>
            </a:prstGeom>
          </p:spPr>
        </p:pic>
        <p:sp>
          <p:nvSpPr>
            <p:cNvPr id="16" name="object 7">
              <a:extLst>
                <a:ext uri="{FF2B5EF4-FFF2-40B4-BE49-F238E27FC236}">
                  <a16:creationId xmlns:a16="http://schemas.microsoft.com/office/drawing/2014/main" id="{D1D14379-453D-ECC0-3C0C-46334F7AE4D0}"/>
                </a:ext>
              </a:extLst>
            </p:cNvPr>
            <p:cNvSpPr/>
            <p:nvPr/>
          </p:nvSpPr>
          <p:spPr>
            <a:xfrm>
              <a:off x="6255444" y="331790"/>
              <a:ext cx="1562735" cy="1140460"/>
            </a:xfrm>
            <a:custGeom>
              <a:avLst/>
              <a:gdLst/>
              <a:ahLst/>
              <a:cxnLst/>
              <a:rect l="l" t="t" r="r" b="b"/>
              <a:pathLst>
                <a:path w="1562734" h="1140460">
                  <a:moveTo>
                    <a:pt x="0" y="0"/>
                  </a:moveTo>
                  <a:lnTo>
                    <a:pt x="1562426" y="0"/>
                  </a:lnTo>
                  <a:lnTo>
                    <a:pt x="1562426" y="1139933"/>
                  </a:lnTo>
                  <a:lnTo>
                    <a:pt x="0" y="1139933"/>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13395594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89</a:t>
            </a:fld>
            <a:endParaRPr lang="en-US"/>
          </a:p>
        </p:txBody>
      </p:sp>
      <p:sp>
        <p:nvSpPr>
          <p:cNvPr id="9" name="object 2">
            <a:extLst>
              <a:ext uri="{FF2B5EF4-FFF2-40B4-BE49-F238E27FC236}">
                <a16:creationId xmlns:a16="http://schemas.microsoft.com/office/drawing/2014/main" id="{2DE49154-F0B7-B961-4014-12941B0D3840}"/>
              </a:ext>
            </a:extLst>
          </p:cNvPr>
          <p:cNvSpPr txBox="1">
            <a:spLocks/>
          </p:cNvSpPr>
          <p:nvPr/>
        </p:nvSpPr>
        <p:spPr>
          <a:xfrm>
            <a:off x="707390" y="524763"/>
            <a:ext cx="41287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Reductions</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归约</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0" name="object 3">
            <a:extLst>
              <a:ext uri="{FF2B5EF4-FFF2-40B4-BE49-F238E27FC236}">
                <a16:creationId xmlns:a16="http://schemas.microsoft.com/office/drawing/2014/main" id="{C1B470EB-3E25-436A-9472-314438E4EB97}"/>
              </a:ext>
            </a:extLst>
          </p:cNvPr>
          <p:cNvSpPr txBox="1"/>
          <p:nvPr/>
        </p:nvSpPr>
        <p:spPr>
          <a:xfrm>
            <a:off x="707390" y="1430019"/>
            <a:ext cx="7582534" cy="2250440"/>
          </a:xfrm>
          <a:prstGeom prst="rect">
            <a:avLst/>
          </a:prstGeom>
        </p:spPr>
        <p:txBody>
          <a:bodyPr vert="horz" wrap="square" lIns="0" tIns="12700" rIns="0" bIns="0" rtlCol="0">
            <a:spAutoFit/>
          </a:bodyPr>
          <a:lstStyle/>
          <a:p>
            <a:pPr marL="242570" marR="5080" indent="-230504" algn="just" rtl="0">
              <a:lnSpc>
                <a:spcPct val="118200"/>
              </a:lnSpc>
              <a:spcBef>
                <a:spcPts val="100"/>
              </a:spcBef>
              <a:buFont typeface="Arial MT"/>
              <a:buChar char="•"/>
              <a:tabLst>
                <a:tab pos="243204" algn="l"/>
              </a:tabLst>
            </a:pPr>
            <a:r>
              <a:rPr sz="2200" kern="1200" spc="-5" dirty="0">
                <a:solidFill>
                  <a:prstClr val="black"/>
                </a:solidFill>
                <a:latin typeface="Palatino Linotype"/>
                <a:cs typeface="Palatino Linotype"/>
              </a:rPr>
              <a:t>Bottom-up parsing can be seen </a:t>
            </a:r>
            <a:r>
              <a:rPr sz="2200" kern="1200" dirty="0">
                <a:solidFill>
                  <a:prstClr val="black"/>
                </a:solidFill>
                <a:latin typeface="Palatino Linotype"/>
                <a:cs typeface="Palatino Linotype"/>
              </a:rPr>
              <a:t>as a </a:t>
            </a:r>
            <a:r>
              <a:rPr sz="2200" kern="1200" spc="-5" dirty="0">
                <a:solidFill>
                  <a:prstClr val="black"/>
                </a:solidFill>
                <a:latin typeface="Palatino Linotype"/>
                <a:cs typeface="Palatino Linotype"/>
              </a:rPr>
              <a:t>process of </a:t>
            </a:r>
            <a:r>
              <a:rPr sz="2200" kern="1200" spc="-5" dirty="0">
                <a:solidFill>
                  <a:srgbClr val="0432FF"/>
                </a:solidFill>
                <a:latin typeface="Palatino Linotype"/>
                <a:cs typeface="Palatino Linotype"/>
              </a:rPr>
              <a:t>“reducing” </a:t>
            </a:r>
            <a:r>
              <a:rPr sz="2200" kern="1200" dirty="0">
                <a:solidFill>
                  <a:srgbClr val="0432FF"/>
                </a:solidFill>
                <a:latin typeface="Palatino Linotype"/>
                <a:cs typeface="Palatino Linotype"/>
              </a:rPr>
              <a:t>a </a:t>
            </a:r>
            <a:r>
              <a:rPr sz="2200" kern="1200" spc="-535" dirty="0">
                <a:solidFill>
                  <a:srgbClr val="0432FF"/>
                </a:solidFill>
                <a:latin typeface="Palatino Linotype"/>
                <a:cs typeface="Palatino Linotype"/>
              </a:rPr>
              <a:t> </a:t>
            </a:r>
            <a:r>
              <a:rPr sz="2200" kern="1200" spc="-5" dirty="0">
                <a:solidFill>
                  <a:srgbClr val="0432FF"/>
                </a:solidFill>
                <a:latin typeface="Palatino Linotype"/>
                <a:cs typeface="Palatino Linotype"/>
              </a:rPr>
              <a:t>string</a:t>
            </a:r>
            <a:r>
              <a:rPr sz="2200" kern="1200" spc="-10" dirty="0">
                <a:solidFill>
                  <a:srgbClr val="0432FF"/>
                </a:solidFill>
                <a:latin typeface="Palatino Linotype"/>
                <a:cs typeface="Palatino Linotype"/>
              </a:rPr>
              <a:t> </a:t>
            </a:r>
            <a:r>
              <a:rPr sz="2200" kern="1200" dirty="0">
                <a:solidFill>
                  <a:srgbClr val="0432FF"/>
                </a:solidFill>
                <a:latin typeface="Cambria Math"/>
                <a:cs typeface="Cambria Math"/>
              </a:rPr>
              <a:t>𝜔</a:t>
            </a:r>
            <a:r>
              <a:rPr sz="2200" kern="1200" spc="114" dirty="0">
                <a:solidFill>
                  <a:srgbClr val="0432FF"/>
                </a:solidFill>
                <a:latin typeface="Cambria Math"/>
                <a:cs typeface="Cambria Math"/>
              </a:rPr>
              <a:t> </a:t>
            </a:r>
            <a:r>
              <a:rPr sz="2200" kern="1200" spc="-5" dirty="0">
                <a:solidFill>
                  <a:srgbClr val="0432FF"/>
                </a:solidFill>
                <a:latin typeface="Palatino Linotype"/>
                <a:cs typeface="Palatino Linotype"/>
              </a:rPr>
              <a:t>to the </a:t>
            </a:r>
            <a:r>
              <a:rPr sz="2200" kern="1200" dirty="0">
                <a:solidFill>
                  <a:srgbClr val="0432FF"/>
                </a:solidFill>
                <a:latin typeface="Palatino Linotype"/>
                <a:cs typeface="Palatino Linotype"/>
              </a:rPr>
              <a:t>start</a:t>
            </a:r>
            <a:r>
              <a:rPr sz="2200" kern="1200" spc="-5" dirty="0">
                <a:solidFill>
                  <a:srgbClr val="0432FF"/>
                </a:solidFill>
                <a:latin typeface="Palatino Linotype"/>
                <a:cs typeface="Palatino Linotype"/>
              </a:rPr>
              <a:t> symbol of</a:t>
            </a:r>
            <a:r>
              <a:rPr sz="2200" kern="1200" dirty="0">
                <a:solidFill>
                  <a:srgbClr val="0432FF"/>
                </a:solidFill>
                <a:latin typeface="Palatino Linotype"/>
                <a:cs typeface="Palatino Linotype"/>
              </a:rPr>
              <a:t> </a:t>
            </a:r>
            <a:r>
              <a:rPr sz="2200" kern="1200" spc="-5" dirty="0">
                <a:solidFill>
                  <a:srgbClr val="0432FF"/>
                </a:solidFill>
                <a:latin typeface="Palatino Linotype"/>
                <a:cs typeface="Palatino Linotype"/>
              </a:rPr>
              <a:t>the grammar</a:t>
            </a:r>
            <a:endParaRPr sz="2200" kern="1200">
              <a:solidFill>
                <a:prstClr val="black"/>
              </a:solidFill>
              <a:latin typeface="Palatino Linotype"/>
              <a:cs typeface="Palatino Linotype"/>
            </a:endParaRPr>
          </a:p>
          <a:p>
            <a:pPr marL="242570" marR="5715" indent="-230504" algn="just" rtl="0">
              <a:lnSpc>
                <a:spcPct val="119100"/>
              </a:lnSpc>
              <a:spcBef>
                <a:spcPts val="1845"/>
              </a:spcBef>
              <a:buFont typeface="Arial MT"/>
              <a:buChar char="•"/>
              <a:tabLst>
                <a:tab pos="243204" algn="l"/>
              </a:tabLst>
            </a:pPr>
            <a:r>
              <a:rPr sz="2200" kern="1200" dirty="0">
                <a:solidFill>
                  <a:prstClr val="black"/>
                </a:solidFill>
                <a:latin typeface="Palatino Linotype"/>
                <a:cs typeface="Palatino Linotype"/>
              </a:rPr>
              <a:t>At </a:t>
            </a:r>
            <a:r>
              <a:rPr sz="2200" kern="1200" spc="-5" dirty="0">
                <a:solidFill>
                  <a:prstClr val="black"/>
                </a:solidFill>
                <a:latin typeface="Palatino Linotype"/>
                <a:cs typeface="Palatino Linotype"/>
              </a:rPr>
              <a:t>each </a:t>
            </a:r>
            <a:r>
              <a:rPr sz="2200" i="1" kern="1200" spc="-10" dirty="0">
                <a:solidFill>
                  <a:srgbClr val="FF0000"/>
                </a:solidFill>
                <a:latin typeface="Palatino Linotype"/>
                <a:cs typeface="Palatino Linotype"/>
              </a:rPr>
              <a:t>reduction </a:t>
            </a:r>
            <a:r>
              <a:rPr sz="2200" kern="1200" spc="-5" dirty="0">
                <a:solidFill>
                  <a:srgbClr val="FF0000"/>
                </a:solidFill>
                <a:latin typeface="Palatino Linotype"/>
                <a:cs typeface="Palatino Linotype"/>
              </a:rPr>
              <a:t>step</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a </a:t>
            </a:r>
            <a:r>
              <a:rPr sz="2200" kern="1200" spc="-5" dirty="0">
                <a:solidFill>
                  <a:prstClr val="black"/>
                </a:solidFill>
                <a:latin typeface="Palatino Linotype"/>
                <a:cs typeface="Palatino Linotype"/>
              </a:rPr>
              <a:t>specific substring </a:t>
            </a:r>
            <a:r>
              <a:rPr sz="2200" kern="1200" dirty="0">
                <a:solidFill>
                  <a:prstClr val="black"/>
                </a:solidFill>
                <a:latin typeface="Palatino Linotype"/>
                <a:cs typeface="Palatino Linotype"/>
              </a:rPr>
              <a:t>(</a:t>
            </a:r>
            <a:r>
              <a:rPr sz="2200" kern="1200" dirty="0">
                <a:solidFill>
                  <a:srgbClr val="FF0000"/>
                </a:solidFill>
                <a:latin typeface="Palatino Linotype"/>
                <a:cs typeface="Palatino Linotype"/>
              </a:rPr>
              <a:t>at </a:t>
            </a:r>
            <a:r>
              <a:rPr sz="2200" kern="1200" spc="-5" dirty="0">
                <a:solidFill>
                  <a:srgbClr val="FF0000"/>
                </a:solidFill>
                <a:latin typeface="Palatino Linotype"/>
                <a:cs typeface="Palatino Linotype"/>
              </a:rPr>
              <a:t>the top of the </a:t>
            </a:r>
            <a:r>
              <a:rPr sz="2200" kern="1200" dirty="0">
                <a:solidFill>
                  <a:srgbClr val="FF0000"/>
                </a:solidFill>
                <a:latin typeface="Palatino Linotype"/>
                <a:cs typeface="Palatino Linotype"/>
              </a:rPr>
              <a:t> </a:t>
            </a:r>
            <a:r>
              <a:rPr sz="2200" kern="1200" spc="-5" dirty="0">
                <a:solidFill>
                  <a:srgbClr val="FF0000"/>
                </a:solidFill>
                <a:latin typeface="Palatino Linotype"/>
                <a:cs typeface="Palatino Linotype"/>
              </a:rPr>
              <a:t>stack</a:t>
            </a:r>
            <a:r>
              <a:rPr sz="2200" kern="1200" spc="-5" dirty="0">
                <a:solidFill>
                  <a:prstClr val="black"/>
                </a:solidFill>
                <a:latin typeface="Palatino Linotype"/>
                <a:cs typeface="Palatino Linotype"/>
              </a:rPr>
              <a:t>) matching the body of </a:t>
            </a:r>
            <a:r>
              <a:rPr sz="2200" kern="1200" dirty="0">
                <a:solidFill>
                  <a:prstClr val="black"/>
                </a:solidFill>
                <a:latin typeface="Palatino Linotype"/>
                <a:cs typeface="Palatino Linotype"/>
              </a:rPr>
              <a:t>a </a:t>
            </a:r>
            <a:r>
              <a:rPr sz="2200" kern="1200" spc="-5" dirty="0">
                <a:solidFill>
                  <a:prstClr val="black"/>
                </a:solidFill>
                <a:latin typeface="Palatino Linotype"/>
                <a:cs typeface="Palatino Linotype"/>
              </a:rPr>
              <a:t>production is replaced by the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head</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of</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the</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production</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a:t>
            </a:r>
            <a:r>
              <a:rPr sz="2200" kern="1200" spc="-5" dirty="0">
                <a:solidFill>
                  <a:srgbClr val="FF0000"/>
                </a:solidFill>
                <a:latin typeface="Palatino Linotype"/>
                <a:cs typeface="Palatino Linotype"/>
              </a:rPr>
              <a:t>the</a:t>
            </a:r>
            <a:r>
              <a:rPr sz="2200" kern="1200" dirty="0">
                <a:solidFill>
                  <a:srgbClr val="FF0000"/>
                </a:solidFill>
                <a:latin typeface="Palatino Linotype"/>
                <a:cs typeface="Palatino Linotype"/>
              </a:rPr>
              <a:t> </a:t>
            </a:r>
            <a:r>
              <a:rPr sz="2200" kern="1200" spc="-10" dirty="0">
                <a:solidFill>
                  <a:srgbClr val="FF0000"/>
                </a:solidFill>
                <a:latin typeface="Palatino Linotype"/>
                <a:cs typeface="Palatino Linotype"/>
              </a:rPr>
              <a:t>reverse</a:t>
            </a:r>
            <a:r>
              <a:rPr sz="2200" kern="1200" spc="-5" dirty="0">
                <a:solidFill>
                  <a:srgbClr val="FF0000"/>
                </a:solidFill>
                <a:latin typeface="Palatino Linotype"/>
                <a:cs typeface="Palatino Linotype"/>
              </a:rPr>
              <a:t> of</a:t>
            </a:r>
            <a:r>
              <a:rPr sz="2200" kern="1200" dirty="0">
                <a:solidFill>
                  <a:srgbClr val="FF0000"/>
                </a:solidFill>
                <a:latin typeface="Palatino Linotype"/>
                <a:cs typeface="Palatino Linotype"/>
              </a:rPr>
              <a:t> a</a:t>
            </a:r>
            <a:r>
              <a:rPr sz="2200" kern="1200" spc="5" dirty="0">
                <a:solidFill>
                  <a:srgbClr val="FF0000"/>
                </a:solidFill>
                <a:latin typeface="Palatino Linotype"/>
                <a:cs typeface="Palatino Linotype"/>
              </a:rPr>
              <a:t> </a:t>
            </a:r>
            <a:r>
              <a:rPr sz="2200" kern="1200" spc="-5" dirty="0">
                <a:solidFill>
                  <a:srgbClr val="FF0000"/>
                </a:solidFill>
                <a:latin typeface="Palatino Linotype"/>
                <a:cs typeface="Palatino Linotype"/>
              </a:rPr>
              <a:t>step</a:t>
            </a:r>
            <a:r>
              <a:rPr sz="2200" kern="1200" dirty="0">
                <a:solidFill>
                  <a:srgbClr val="FF0000"/>
                </a:solidFill>
                <a:latin typeface="Palatino Linotype"/>
                <a:cs typeface="Palatino Linotype"/>
              </a:rPr>
              <a:t> </a:t>
            </a:r>
            <a:r>
              <a:rPr sz="2200" kern="1200" spc="-5" dirty="0">
                <a:solidFill>
                  <a:srgbClr val="FF0000"/>
                </a:solidFill>
                <a:latin typeface="Palatino Linotype"/>
                <a:cs typeface="Palatino Linotype"/>
              </a:rPr>
              <a:t>in </a:t>
            </a:r>
            <a:r>
              <a:rPr sz="2200" kern="1200" spc="-10" dirty="0">
                <a:solidFill>
                  <a:srgbClr val="FF0000"/>
                </a:solidFill>
                <a:latin typeface="Palatino Linotype"/>
                <a:cs typeface="Palatino Linotype"/>
              </a:rPr>
              <a:t>derivation</a:t>
            </a:r>
            <a:r>
              <a:rPr sz="2200" kern="1200" spc="-10" dirty="0">
                <a:solidFill>
                  <a:prstClr val="black"/>
                </a:solidFill>
                <a:latin typeface="Palatino Linotype"/>
                <a:cs typeface="Palatino Linotype"/>
              </a:rPr>
              <a:t>)</a:t>
            </a:r>
            <a:endParaRPr sz="2200" kern="1200">
              <a:solidFill>
                <a:prstClr val="black"/>
              </a:solidFill>
              <a:latin typeface="Palatino Linotype"/>
              <a:cs typeface="Palatino Linotype"/>
            </a:endParaRPr>
          </a:p>
        </p:txBody>
      </p:sp>
      <p:pic>
        <p:nvPicPr>
          <p:cNvPr id="11" name="object 4">
            <a:extLst>
              <a:ext uri="{FF2B5EF4-FFF2-40B4-BE49-F238E27FC236}">
                <a16:creationId xmlns:a16="http://schemas.microsoft.com/office/drawing/2014/main" id="{404B0EA7-B2E8-C846-B6A8-FF85223B5CF4}"/>
              </a:ext>
            </a:extLst>
          </p:cNvPr>
          <p:cNvPicPr/>
          <p:nvPr/>
        </p:nvPicPr>
        <p:blipFill>
          <a:blip r:embed="rId3" cstate="print"/>
          <a:stretch>
            <a:fillRect/>
          </a:stretch>
        </p:blipFill>
        <p:spPr>
          <a:xfrm>
            <a:off x="988841" y="4161549"/>
            <a:ext cx="7141825" cy="1748718"/>
          </a:xfrm>
          <a:prstGeom prst="rect">
            <a:avLst/>
          </a:prstGeom>
        </p:spPr>
      </p:pic>
      <p:sp>
        <p:nvSpPr>
          <p:cNvPr id="12" name="object 5">
            <a:extLst>
              <a:ext uri="{FF2B5EF4-FFF2-40B4-BE49-F238E27FC236}">
                <a16:creationId xmlns:a16="http://schemas.microsoft.com/office/drawing/2014/main" id="{2D2135A9-62E7-5E64-3683-E6666138210B}"/>
              </a:ext>
            </a:extLst>
          </p:cNvPr>
          <p:cNvSpPr txBox="1"/>
          <p:nvPr/>
        </p:nvSpPr>
        <p:spPr>
          <a:xfrm>
            <a:off x="887090" y="5398268"/>
            <a:ext cx="4737735" cy="723900"/>
          </a:xfrm>
          <a:prstGeom prst="rect">
            <a:avLst/>
          </a:prstGeom>
          <a:solidFill>
            <a:srgbClr val="FFF2CC"/>
          </a:solidFill>
          <a:ln w="9525">
            <a:solidFill>
              <a:srgbClr val="000000"/>
            </a:solidFill>
          </a:ln>
        </p:spPr>
        <p:txBody>
          <a:bodyPr vert="horz" wrap="square" lIns="0" tIns="33020" rIns="0" bIns="0" rtlCol="0">
            <a:spAutoFit/>
          </a:bodyPr>
          <a:lstStyle/>
          <a:p>
            <a:pPr marL="90805" rtl="0">
              <a:spcBef>
                <a:spcPts val="260"/>
              </a:spcBef>
            </a:pPr>
            <a:r>
              <a:rPr b="1" kern="1200" dirty="0">
                <a:solidFill>
                  <a:srgbClr val="0432FF"/>
                </a:solidFill>
                <a:latin typeface="Palatino Linotype"/>
                <a:cs typeface="Palatino Linotype"/>
              </a:rPr>
              <a:t>Key</a:t>
            </a:r>
            <a:r>
              <a:rPr b="1" kern="1200" spc="-5" dirty="0">
                <a:solidFill>
                  <a:srgbClr val="0432FF"/>
                </a:solidFill>
                <a:latin typeface="Palatino Linotype"/>
                <a:cs typeface="Palatino Linotype"/>
              </a:rPr>
              <a:t> decisions</a:t>
            </a:r>
            <a:r>
              <a:rPr b="1" kern="1200" dirty="0">
                <a:solidFill>
                  <a:srgbClr val="0432FF"/>
                </a:solidFill>
                <a:latin typeface="Palatino Linotype"/>
                <a:cs typeface="Palatino Linotype"/>
              </a:rPr>
              <a:t> in </a:t>
            </a:r>
            <a:r>
              <a:rPr b="1" kern="1200" spc="-5" dirty="0">
                <a:solidFill>
                  <a:srgbClr val="0432FF"/>
                </a:solidFill>
                <a:latin typeface="Palatino Linotype"/>
                <a:cs typeface="Palatino Linotype"/>
              </a:rPr>
              <a:t>bottom-up</a:t>
            </a:r>
            <a:r>
              <a:rPr b="1" kern="1200" dirty="0">
                <a:solidFill>
                  <a:srgbClr val="0432FF"/>
                </a:solidFill>
                <a:latin typeface="Palatino Linotype"/>
                <a:cs typeface="Palatino Linotype"/>
              </a:rPr>
              <a:t> </a:t>
            </a:r>
            <a:r>
              <a:rPr b="1" kern="1200" spc="-5" dirty="0">
                <a:solidFill>
                  <a:srgbClr val="0432FF"/>
                </a:solidFill>
                <a:latin typeface="Palatino Linotype"/>
                <a:cs typeface="Palatino Linotype"/>
              </a:rPr>
              <a:t>parsing:</a:t>
            </a:r>
            <a:endParaRPr kern="1200">
              <a:solidFill>
                <a:prstClr val="black"/>
              </a:solidFill>
              <a:latin typeface="Palatino Linotype"/>
              <a:cs typeface="Palatino Linotype"/>
            </a:endParaRPr>
          </a:p>
          <a:p>
            <a:pPr marL="90805" rtl="0">
              <a:spcBef>
                <a:spcPts val="530"/>
              </a:spcBef>
            </a:pPr>
            <a:r>
              <a:rPr kern="1200" dirty="0">
                <a:solidFill>
                  <a:srgbClr val="FF0000"/>
                </a:solidFill>
                <a:latin typeface="Palatino Linotype"/>
                <a:cs typeface="Palatino Linotype"/>
              </a:rPr>
              <a:t>When</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to</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reduce?</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What</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production</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to</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apply?</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19927469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90</a:t>
            </a:fld>
            <a:endParaRPr lang="en-US"/>
          </a:p>
        </p:txBody>
      </p:sp>
      <p:sp>
        <p:nvSpPr>
          <p:cNvPr id="15" name="object 2">
            <a:extLst>
              <a:ext uri="{FF2B5EF4-FFF2-40B4-BE49-F238E27FC236}">
                <a16:creationId xmlns:a16="http://schemas.microsoft.com/office/drawing/2014/main" id="{FD4CD8FA-75CD-0711-6929-FAB8EF7618DA}"/>
              </a:ext>
            </a:extLst>
          </p:cNvPr>
          <p:cNvSpPr txBox="1">
            <a:spLocks/>
          </p:cNvSpPr>
          <p:nvPr/>
        </p:nvSpPr>
        <p:spPr>
          <a:xfrm>
            <a:off x="707390" y="524763"/>
            <a:ext cx="59836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dirty="0">
                <a:ln>
                  <a:noFill/>
                </a:ln>
                <a:solidFill>
                  <a:sysClr val="windowText" lastClr="000000"/>
                </a:solidFill>
                <a:effectLst/>
                <a:uLnTx/>
                <a:uFillTx/>
                <a:latin typeface="Palatino Linotype"/>
                <a:ea typeface="+mj-ea"/>
              </a:rPr>
              <a:t>Illustration</a:t>
            </a:r>
            <a:r>
              <a:rPr kumimoji="0" lang="en-US" sz="4000" b="1" i="0" u="none" strike="noStrike" kern="0" cap="none" spc="-3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of</a:t>
            </a:r>
            <a:r>
              <a:rPr kumimoji="0" lang="en-US" sz="40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Challenges</a:t>
            </a:r>
          </a:p>
        </p:txBody>
      </p:sp>
      <p:sp>
        <p:nvSpPr>
          <p:cNvPr id="16" name="object 3">
            <a:extLst>
              <a:ext uri="{FF2B5EF4-FFF2-40B4-BE49-F238E27FC236}">
                <a16:creationId xmlns:a16="http://schemas.microsoft.com/office/drawing/2014/main" id="{45CD5234-81F6-0B66-6409-AC0EAC8E93C2}"/>
              </a:ext>
            </a:extLst>
          </p:cNvPr>
          <p:cNvSpPr txBox="1"/>
          <p:nvPr/>
        </p:nvSpPr>
        <p:spPr>
          <a:xfrm>
            <a:off x="707390" y="3659349"/>
            <a:ext cx="7409815" cy="2465705"/>
          </a:xfrm>
          <a:prstGeom prst="rect">
            <a:avLst/>
          </a:prstGeom>
        </p:spPr>
        <p:txBody>
          <a:bodyPr vert="horz" wrap="square" lIns="0" tIns="152400" rIns="0" bIns="0" rtlCol="0">
            <a:spAutoFit/>
          </a:bodyPr>
          <a:lstStyle/>
          <a:p>
            <a:pPr marL="243204" indent="-230504" rtl="0">
              <a:spcBef>
                <a:spcPts val="1200"/>
              </a:spcBef>
              <a:buFont typeface="Arial MT"/>
              <a:buChar char="•"/>
              <a:tabLst>
                <a:tab pos="242570" algn="l"/>
                <a:tab pos="243204" algn="l"/>
              </a:tabLst>
            </a:pPr>
            <a:r>
              <a:rPr sz="2000" kern="1200" spc="-5" dirty="0">
                <a:solidFill>
                  <a:prstClr val="black"/>
                </a:solidFill>
                <a:latin typeface="Palatino Linotype"/>
                <a:cs typeface="Palatino Linotype"/>
              </a:rPr>
              <a:t>For</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sentential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form </a:t>
            </a:r>
            <a:r>
              <a:rPr sz="2000" kern="1200" dirty="0">
                <a:solidFill>
                  <a:srgbClr val="FF0000"/>
                </a:solidFill>
                <a:latin typeface="Cambria Math"/>
                <a:cs typeface="Cambria Math"/>
              </a:rPr>
              <a:t>𝑇</a:t>
            </a:r>
            <a:r>
              <a:rPr sz="2000" kern="1200" spc="45" dirty="0">
                <a:solidFill>
                  <a:srgbClr val="FF0000"/>
                </a:solidFill>
                <a:latin typeface="Cambria Math"/>
                <a:cs typeface="Cambria Math"/>
              </a:rPr>
              <a:t> </a:t>
            </a:r>
            <a:r>
              <a:rPr sz="2000" kern="1200" dirty="0">
                <a:solidFill>
                  <a:srgbClr val="FF0000"/>
                </a:solidFill>
                <a:latin typeface="Cambria Math"/>
                <a:cs typeface="Cambria Math"/>
              </a:rPr>
              <a:t>∗ 𝐢𝐝</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there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are</a:t>
            </a:r>
            <a:r>
              <a:rPr sz="2000" kern="1200" dirty="0">
                <a:solidFill>
                  <a:prstClr val="black"/>
                </a:solidFill>
                <a:latin typeface="Palatino Linotype"/>
                <a:cs typeface="Palatino Linotype"/>
              </a:rPr>
              <a:t> </a:t>
            </a:r>
            <a:r>
              <a:rPr sz="2000" kern="1200" spc="-15" dirty="0">
                <a:solidFill>
                  <a:prstClr val="black"/>
                </a:solidFill>
                <a:latin typeface="Palatino Linotype"/>
                <a:cs typeface="Palatino Linotype"/>
              </a:rPr>
              <a:t>two</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applicable </a:t>
            </a:r>
            <a:r>
              <a:rPr sz="2000" kern="1200" spc="-5" dirty="0">
                <a:solidFill>
                  <a:prstClr val="black"/>
                </a:solidFill>
                <a:latin typeface="Palatino Linotype"/>
                <a:cs typeface="Palatino Linotype"/>
              </a:rPr>
              <a:t>productions:</a:t>
            </a:r>
            <a:endParaRPr sz="2000" kern="1200" dirty="0">
              <a:solidFill>
                <a:prstClr val="black"/>
              </a:solidFill>
              <a:latin typeface="Palatino Linotype"/>
              <a:cs typeface="Palatino Linotype"/>
            </a:endParaRPr>
          </a:p>
          <a:p>
            <a:pPr marL="698500" lvl="1" indent="-228600" rtl="0">
              <a:spcBef>
                <a:spcPts val="995"/>
              </a:spcBef>
              <a:buFont typeface="Wingdings"/>
              <a:buChar char=""/>
              <a:tabLst>
                <a:tab pos="698500" algn="l"/>
              </a:tabLst>
            </a:pPr>
            <a:r>
              <a:rPr kern="1200" dirty="0">
                <a:solidFill>
                  <a:prstClr val="black"/>
                </a:solidFill>
                <a:latin typeface="Cambria Math"/>
                <a:cs typeface="Cambria Math"/>
              </a:rPr>
              <a:t>𝑇</a:t>
            </a:r>
            <a:r>
              <a:rPr kern="1200" spc="80" dirty="0">
                <a:solidFill>
                  <a:prstClr val="black"/>
                </a:solidFill>
                <a:latin typeface="Cambria Math"/>
                <a:cs typeface="Cambria Math"/>
              </a:rPr>
              <a:t> </a:t>
            </a:r>
            <a:r>
              <a:rPr kern="1200" dirty="0">
                <a:solidFill>
                  <a:prstClr val="black"/>
                </a:solidFill>
                <a:latin typeface="Palatino Linotype"/>
                <a:cs typeface="Palatino Linotype"/>
              </a:rPr>
              <a:t>is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body</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10" dirty="0">
                <a:solidFill>
                  <a:prstClr val="black"/>
                </a:solidFill>
                <a:latin typeface="Palatino Linotype"/>
                <a:cs typeface="Palatino Linotype"/>
              </a:rPr>
              <a:t> </a:t>
            </a:r>
            <a:r>
              <a:rPr kern="1200" dirty="0">
                <a:solidFill>
                  <a:prstClr val="black"/>
                </a:solidFill>
                <a:latin typeface="Cambria Math"/>
                <a:cs typeface="Cambria Math"/>
              </a:rPr>
              <a:t>𝐸</a:t>
            </a:r>
            <a:r>
              <a:rPr kern="1200" spc="160" dirty="0">
                <a:solidFill>
                  <a:prstClr val="black"/>
                </a:solidFill>
                <a:latin typeface="Cambria Math"/>
                <a:cs typeface="Cambria Math"/>
              </a:rPr>
              <a:t> </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dirty="0">
                <a:solidFill>
                  <a:prstClr val="black"/>
                </a:solidFill>
                <a:latin typeface="Cambria Math"/>
                <a:cs typeface="Cambria Math"/>
              </a:rPr>
              <a:t>𝑇</a:t>
            </a:r>
          </a:p>
          <a:p>
            <a:pPr marL="698500" lvl="1" indent="-228600" rtl="0">
              <a:spcBef>
                <a:spcPts val="1030"/>
              </a:spcBef>
              <a:buFont typeface="Wingdings"/>
              <a:buChar char=""/>
              <a:tabLst>
                <a:tab pos="698500" algn="l"/>
              </a:tabLst>
            </a:pPr>
            <a:r>
              <a:rPr kern="1200" spc="-5" dirty="0">
                <a:solidFill>
                  <a:prstClr val="black"/>
                </a:solidFill>
                <a:latin typeface="Cambria Math"/>
                <a:cs typeface="Cambria Math"/>
              </a:rPr>
              <a:t>𝐢𝐝</a:t>
            </a:r>
            <a:r>
              <a:rPr kern="1200" spc="35" dirty="0">
                <a:solidFill>
                  <a:prstClr val="black"/>
                </a:solidFill>
                <a:latin typeface="Cambria Math"/>
                <a:cs typeface="Cambria Math"/>
              </a:rPr>
              <a:t> </a:t>
            </a:r>
            <a:r>
              <a:rPr kern="1200" dirty="0">
                <a:solidFill>
                  <a:prstClr val="black"/>
                </a:solidFill>
                <a:latin typeface="Palatino Linotype"/>
                <a:cs typeface="Palatino Linotype"/>
              </a:rPr>
              <a:t>is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body</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10" dirty="0">
                <a:solidFill>
                  <a:prstClr val="black"/>
                </a:solidFill>
                <a:latin typeface="Palatino Linotype"/>
                <a:cs typeface="Palatino Linotype"/>
              </a:rPr>
              <a:t> </a:t>
            </a:r>
            <a:r>
              <a:rPr kern="1200" dirty="0">
                <a:solidFill>
                  <a:prstClr val="black"/>
                </a:solidFill>
                <a:latin typeface="Cambria Math"/>
                <a:cs typeface="Cambria Math"/>
              </a:rPr>
              <a:t>𝐹</a:t>
            </a:r>
            <a:r>
              <a:rPr kern="1200" spc="155" dirty="0">
                <a:solidFill>
                  <a:prstClr val="black"/>
                </a:solidFill>
                <a:latin typeface="Cambria Math"/>
                <a:cs typeface="Cambria Math"/>
              </a:rPr>
              <a:t> </a:t>
            </a:r>
            <a:r>
              <a:rPr kern="1200" dirty="0">
                <a:solidFill>
                  <a:prstClr val="black"/>
                </a:solidFill>
                <a:latin typeface="Cambria Math"/>
                <a:cs typeface="Cambria Math"/>
              </a:rPr>
              <a:t>→</a:t>
            </a:r>
            <a:r>
              <a:rPr kern="1200" spc="90" dirty="0">
                <a:solidFill>
                  <a:prstClr val="black"/>
                </a:solidFill>
                <a:latin typeface="Cambria Math"/>
                <a:cs typeface="Cambria Math"/>
              </a:rPr>
              <a:t> </a:t>
            </a:r>
            <a:r>
              <a:rPr kern="1200" spc="-5" dirty="0">
                <a:solidFill>
                  <a:prstClr val="black"/>
                </a:solidFill>
                <a:latin typeface="Cambria Math"/>
                <a:cs typeface="Cambria Math"/>
              </a:rPr>
              <a:t>𝐢𝐝</a:t>
            </a:r>
            <a:endParaRPr kern="1200" dirty="0">
              <a:solidFill>
                <a:prstClr val="black"/>
              </a:solidFill>
              <a:latin typeface="Cambria Math"/>
              <a:cs typeface="Cambria Math"/>
            </a:endParaRPr>
          </a:p>
          <a:p>
            <a:pPr marL="243204" indent="-230504" rtl="0">
              <a:spcBef>
                <a:spcPts val="1050"/>
              </a:spcBef>
              <a:buFont typeface="Arial MT"/>
              <a:buChar char="•"/>
              <a:tabLst>
                <a:tab pos="242570" algn="l"/>
                <a:tab pos="243204" algn="l"/>
              </a:tabLst>
            </a:pPr>
            <a:r>
              <a:rPr sz="2000" kern="1200" spc="-5" dirty="0">
                <a:solidFill>
                  <a:prstClr val="black"/>
                </a:solidFill>
                <a:latin typeface="Palatino Linotype"/>
                <a:cs typeface="Palatino Linotype"/>
              </a:rPr>
              <a:t>Why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reducing </a:t>
            </a:r>
            <a:r>
              <a:rPr sz="2000" kern="1200" dirty="0">
                <a:solidFill>
                  <a:prstClr val="black"/>
                </a:solidFill>
                <a:latin typeface="Cambria Math"/>
                <a:cs typeface="Cambria Math"/>
              </a:rPr>
              <a:t>𝐢𝐝</a:t>
            </a:r>
            <a:r>
              <a:rPr sz="2000" kern="1200" spc="60" dirty="0">
                <a:solidFill>
                  <a:prstClr val="black"/>
                </a:solidFill>
                <a:latin typeface="Cambria Math"/>
                <a:cs typeface="Cambria Math"/>
              </a:rPr>
              <a:t> </a:t>
            </a:r>
            <a:r>
              <a:rPr sz="2000" kern="1200" spc="-5" dirty="0">
                <a:solidFill>
                  <a:prstClr val="black"/>
                </a:solidFill>
                <a:latin typeface="Palatino Linotype"/>
                <a:cs typeface="Palatino Linotype"/>
              </a:rPr>
              <a:t>to </a:t>
            </a:r>
            <a:r>
              <a:rPr sz="2000" kern="1200" spc="40" dirty="0">
                <a:solidFill>
                  <a:prstClr val="black"/>
                </a:solidFill>
                <a:latin typeface="Cambria Math"/>
                <a:cs typeface="Cambria Math"/>
              </a:rPr>
              <a:t>𝐹</a:t>
            </a:r>
            <a:r>
              <a:rPr sz="2000" kern="1200" spc="40"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instead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reducing</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𝑇</a:t>
            </a:r>
            <a:r>
              <a:rPr sz="2000" kern="1200" spc="100" dirty="0">
                <a:solidFill>
                  <a:prstClr val="black"/>
                </a:solidFill>
                <a:latin typeface="Cambria Math"/>
                <a:cs typeface="Cambria Math"/>
              </a:rPr>
              <a:t> </a:t>
            </a:r>
            <a:r>
              <a:rPr sz="2000" kern="1200" spc="-5" dirty="0">
                <a:solidFill>
                  <a:prstClr val="black"/>
                </a:solidFill>
                <a:latin typeface="Palatino Linotype"/>
                <a:cs typeface="Palatino Linotype"/>
              </a:rPr>
              <a:t>to </a:t>
            </a:r>
            <a:r>
              <a:rPr sz="2000" kern="1200" spc="35" dirty="0">
                <a:solidFill>
                  <a:prstClr val="black"/>
                </a:solidFill>
                <a:latin typeface="Cambria Math"/>
                <a:cs typeface="Cambria Math"/>
              </a:rPr>
              <a:t>𝐸</a:t>
            </a:r>
            <a:r>
              <a:rPr sz="2000" kern="1200" spc="35" dirty="0">
                <a:solidFill>
                  <a:prstClr val="black"/>
                </a:solidFill>
                <a:latin typeface="Palatino Linotype"/>
                <a:cs typeface="Palatino Linotype"/>
              </a:rPr>
              <a:t>?</a:t>
            </a:r>
            <a:endParaRPr sz="2000" kern="1200" dirty="0">
              <a:solidFill>
                <a:prstClr val="black"/>
              </a:solidFill>
              <a:latin typeface="Palatino Linotype"/>
              <a:cs typeface="Palatino Linotype"/>
            </a:endParaRPr>
          </a:p>
          <a:p>
            <a:pPr marL="698500" lvl="1" indent="-228600" rtl="0">
              <a:spcBef>
                <a:spcPts val="1095"/>
              </a:spcBef>
              <a:buClr>
                <a:srgbClr val="000000"/>
              </a:buClr>
              <a:buFont typeface="Wingdings"/>
              <a:buChar char=""/>
              <a:tabLst>
                <a:tab pos="697865" algn="l"/>
                <a:tab pos="698500" algn="l"/>
              </a:tabLst>
            </a:pPr>
            <a:r>
              <a:rPr sz="1600" b="1" kern="1200" spc="-5" dirty="0">
                <a:solidFill>
                  <a:srgbClr val="0432FF"/>
                </a:solidFill>
                <a:latin typeface="Palatino Linotype"/>
                <a:cs typeface="Palatino Linotype"/>
              </a:rPr>
              <a:t>Reason:</a:t>
            </a:r>
            <a:r>
              <a:rPr sz="1600" b="1" kern="1200" dirty="0">
                <a:solidFill>
                  <a:srgbClr val="0432FF"/>
                </a:solidFill>
                <a:latin typeface="Palatino Linotype"/>
                <a:cs typeface="Palatino Linotype"/>
              </a:rPr>
              <a:t> </a:t>
            </a:r>
            <a:r>
              <a:rPr sz="1600" kern="1200" spc="-5" dirty="0">
                <a:solidFill>
                  <a:prstClr val="black"/>
                </a:solidFill>
                <a:latin typeface="Palatino Linotype"/>
                <a:cs typeface="Palatino Linotype"/>
              </a:rPr>
              <a:t>If</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reducing</a:t>
            </a:r>
            <a:r>
              <a:rPr sz="1600" kern="1200" dirty="0">
                <a:solidFill>
                  <a:prstClr val="black"/>
                </a:solidFill>
                <a:latin typeface="Palatino Linotype"/>
                <a:cs typeface="Palatino Linotype"/>
              </a:rPr>
              <a:t> </a:t>
            </a:r>
            <a:r>
              <a:rPr sz="1600" kern="1200" dirty="0">
                <a:solidFill>
                  <a:prstClr val="black"/>
                </a:solidFill>
                <a:latin typeface="Cambria Math"/>
                <a:cs typeface="Cambria Math"/>
              </a:rPr>
              <a:t>𝑇</a:t>
            </a:r>
            <a:r>
              <a:rPr sz="1600" kern="1200" spc="80" dirty="0">
                <a:solidFill>
                  <a:prstClr val="black"/>
                </a:solidFill>
                <a:latin typeface="Cambria Math"/>
                <a:cs typeface="Cambria Math"/>
              </a:rPr>
              <a:t> </a:t>
            </a:r>
            <a:r>
              <a:rPr sz="1600" kern="1200"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spc="30" dirty="0">
                <a:solidFill>
                  <a:prstClr val="black"/>
                </a:solidFill>
                <a:latin typeface="Cambria Math"/>
                <a:cs typeface="Cambria Math"/>
              </a:rPr>
              <a:t>𝐸</a:t>
            </a:r>
            <a:r>
              <a:rPr sz="1600" kern="1200" spc="30" dirty="0">
                <a:solidFill>
                  <a:prstClr val="black"/>
                </a:solidFill>
                <a:latin typeface="Palatino Linotype"/>
                <a:cs typeface="Palatino Linotype"/>
              </a:rPr>
              <a:t>,</a:t>
            </a:r>
            <a:r>
              <a:rPr sz="1600" kern="1200" dirty="0">
                <a:solidFill>
                  <a:prstClr val="black"/>
                </a:solidFill>
                <a:latin typeface="Palatino Linotype"/>
                <a:cs typeface="Palatino Linotype"/>
              </a:rPr>
              <a:t> </a:t>
            </a:r>
            <a:r>
              <a:rPr sz="1600" kern="1200" dirty="0">
                <a:solidFill>
                  <a:prstClr val="black"/>
                </a:solidFill>
                <a:latin typeface="Cambria Math"/>
                <a:cs typeface="Cambria Math"/>
              </a:rPr>
              <a:t>𝐸</a:t>
            </a:r>
            <a:r>
              <a:rPr sz="1600" kern="1200" spc="7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45" dirty="0">
                <a:solidFill>
                  <a:prstClr val="black"/>
                </a:solidFill>
                <a:latin typeface="Cambria Math"/>
                <a:cs typeface="Cambria Math"/>
              </a:rPr>
              <a:t> </a:t>
            </a:r>
            <a:r>
              <a:rPr sz="1600" kern="1200" spc="-5" dirty="0">
                <a:solidFill>
                  <a:prstClr val="black"/>
                </a:solidFill>
                <a:latin typeface="Palatino Linotype"/>
                <a:cs typeface="Palatino Linotype"/>
              </a:rPr>
              <a:t>is </a:t>
            </a:r>
            <a:r>
              <a:rPr sz="1600" kern="1200" dirty="0">
                <a:solidFill>
                  <a:prstClr val="black"/>
                </a:solidFill>
                <a:latin typeface="Palatino Linotype"/>
                <a:cs typeface="Palatino Linotype"/>
              </a:rPr>
              <a:t>no</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longer</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a </a:t>
            </a:r>
            <a:r>
              <a:rPr sz="1600" kern="1200" spc="-5" dirty="0">
                <a:solidFill>
                  <a:prstClr val="black"/>
                </a:solidFill>
                <a:latin typeface="Palatino Linotype"/>
                <a:cs typeface="Palatino Linotype"/>
              </a:rPr>
              <a:t>sentential</a:t>
            </a:r>
            <a:r>
              <a:rPr sz="1600" kern="1200" dirty="0">
                <a:solidFill>
                  <a:prstClr val="black"/>
                </a:solidFill>
                <a:latin typeface="Palatino Linotype"/>
                <a:cs typeface="Palatino Linotype"/>
              </a:rPr>
              <a:t> form</a:t>
            </a:r>
          </a:p>
          <a:p>
            <a:pPr marL="698500" lvl="1" indent="-228600" rtl="0">
              <a:spcBef>
                <a:spcPts val="985"/>
              </a:spcBef>
              <a:buClr>
                <a:srgbClr val="000000"/>
              </a:buClr>
              <a:buFont typeface="Wingdings"/>
              <a:buChar char=""/>
              <a:tabLst>
                <a:tab pos="697865" algn="l"/>
                <a:tab pos="698500" algn="l"/>
              </a:tabLst>
            </a:pPr>
            <a:r>
              <a:rPr sz="1600" b="1" kern="1200" spc="-5" dirty="0">
                <a:solidFill>
                  <a:srgbClr val="FF0000"/>
                </a:solidFill>
                <a:latin typeface="Palatino Linotype"/>
                <a:cs typeface="Palatino Linotype"/>
              </a:rPr>
              <a:t>Challenge: </a:t>
            </a:r>
            <a:r>
              <a:rPr sz="1600" kern="1200" dirty="0">
                <a:solidFill>
                  <a:prstClr val="black"/>
                </a:solidFill>
                <a:latin typeface="Palatino Linotype"/>
                <a:cs typeface="Palatino Linotype"/>
              </a:rPr>
              <a:t>how </a:t>
            </a:r>
            <a:r>
              <a:rPr sz="1600" kern="1200" spc="-5" dirty="0">
                <a:solidFill>
                  <a:prstClr val="black"/>
                </a:solidFill>
                <a:latin typeface="Palatino Linotype"/>
                <a:cs typeface="Palatino Linotype"/>
              </a:rPr>
              <a:t>do</a:t>
            </a:r>
            <a:r>
              <a:rPr sz="1600" kern="1200" dirty="0">
                <a:solidFill>
                  <a:prstClr val="black"/>
                </a:solidFill>
                <a:latin typeface="Palatino Linotype"/>
                <a:cs typeface="Palatino Linotype"/>
              </a:rPr>
              <a:t> </a:t>
            </a:r>
            <a:r>
              <a:rPr sz="1600" kern="1200" spc="-15" dirty="0">
                <a:solidFill>
                  <a:prstClr val="black"/>
                </a:solidFill>
                <a:latin typeface="Palatino Linotype"/>
                <a:cs typeface="Palatino Linotype"/>
              </a:rPr>
              <a:t>we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know this</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before</a:t>
            </a:r>
            <a:r>
              <a:rPr sz="1600" kern="1200" spc="-5" dirty="0">
                <a:solidFill>
                  <a:prstClr val="black"/>
                </a:solidFill>
                <a:latin typeface="Palatino Linotype"/>
                <a:cs typeface="Palatino Linotype"/>
              </a:rPr>
              <a:t> making choices?</a:t>
            </a:r>
            <a:endParaRPr sz="1600" kern="1200" dirty="0">
              <a:solidFill>
                <a:prstClr val="black"/>
              </a:solidFill>
              <a:latin typeface="Palatino Linotype"/>
              <a:cs typeface="Palatino Linotype"/>
            </a:endParaRPr>
          </a:p>
        </p:txBody>
      </p:sp>
      <p:grpSp>
        <p:nvGrpSpPr>
          <p:cNvPr id="17" name="object 4">
            <a:extLst>
              <a:ext uri="{FF2B5EF4-FFF2-40B4-BE49-F238E27FC236}">
                <a16:creationId xmlns:a16="http://schemas.microsoft.com/office/drawing/2014/main" id="{84FAE9E7-6CEB-E651-F135-DA7995CD8DFE}"/>
              </a:ext>
            </a:extLst>
          </p:cNvPr>
          <p:cNvGrpSpPr/>
          <p:nvPr/>
        </p:nvGrpSpPr>
        <p:grpSpPr>
          <a:xfrm>
            <a:off x="782895" y="1603153"/>
            <a:ext cx="7141845" cy="1967230"/>
            <a:chOff x="782895" y="1603153"/>
            <a:chExt cx="7141845" cy="1967230"/>
          </a:xfrm>
        </p:grpSpPr>
        <p:pic>
          <p:nvPicPr>
            <p:cNvPr id="18" name="object 5">
              <a:extLst>
                <a:ext uri="{FF2B5EF4-FFF2-40B4-BE49-F238E27FC236}">
                  <a16:creationId xmlns:a16="http://schemas.microsoft.com/office/drawing/2014/main" id="{732C928E-0190-8EE1-0920-3793A9D51E98}"/>
                </a:ext>
              </a:extLst>
            </p:cNvPr>
            <p:cNvPicPr/>
            <p:nvPr/>
          </p:nvPicPr>
          <p:blipFill>
            <a:blip r:embed="rId3" cstate="print"/>
            <a:stretch>
              <a:fillRect/>
            </a:stretch>
          </p:blipFill>
          <p:spPr>
            <a:xfrm>
              <a:off x="782895" y="1821278"/>
              <a:ext cx="7141824" cy="1748718"/>
            </a:xfrm>
            <a:prstGeom prst="rect">
              <a:avLst/>
            </a:prstGeom>
          </p:spPr>
        </p:pic>
        <p:sp>
          <p:nvSpPr>
            <p:cNvPr id="19" name="object 6">
              <a:extLst>
                <a:ext uri="{FF2B5EF4-FFF2-40B4-BE49-F238E27FC236}">
                  <a16:creationId xmlns:a16="http://schemas.microsoft.com/office/drawing/2014/main" id="{1A3685AE-7293-5681-62D8-7E158A340EC1}"/>
                </a:ext>
              </a:extLst>
            </p:cNvPr>
            <p:cNvSpPr/>
            <p:nvPr/>
          </p:nvSpPr>
          <p:spPr>
            <a:xfrm>
              <a:off x="3179805" y="1733108"/>
              <a:ext cx="1153795" cy="326390"/>
            </a:xfrm>
            <a:custGeom>
              <a:avLst/>
              <a:gdLst/>
              <a:ahLst/>
              <a:cxnLst/>
              <a:rect l="l" t="t" r="r" b="b"/>
              <a:pathLst>
                <a:path w="1153795" h="326389">
                  <a:moveTo>
                    <a:pt x="0" y="0"/>
                  </a:moveTo>
                  <a:lnTo>
                    <a:pt x="1153298" y="0"/>
                  </a:lnTo>
                  <a:lnTo>
                    <a:pt x="1153298" y="326351"/>
                  </a:lnTo>
                  <a:lnTo>
                    <a:pt x="0" y="326351"/>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7">
              <a:extLst>
                <a:ext uri="{FF2B5EF4-FFF2-40B4-BE49-F238E27FC236}">
                  <a16:creationId xmlns:a16="http://schemas.microsoft.com/office/drawing/2014/main" id="{06E5A47C-7636-E464-8973-358224837094}"/>
                </a:ext>
              </a:extLst>
            </p:cNvPr>
            <p:cNvSpPr/>
            <p:nvPr/>
          </p:nvSpPr>
          <p:spPr>
            <a:xfrm>
              <a:off x="5121397" y="1609503"/>
              <a:ext cx="326390" cy="1153795"/>
            </a:xfrm>
            <a:custGeom>
              <a:avLst/>
              <a:gdLst/>
              <a:ahLst/>
              <a:cxnLst/>
              <a:rect l="l" t="t" r="r" b="b"/>
              <a:pathLst>
                <a:path w="326389" h="1153795">
                  <a:moveTo>
                    <a:pt x="326351" y="0"/>
                  </a:moveTo>
                  <a:lnTo>
                    <a:pt x="326351" y="1153298"/>
                  </a:lnTo>
                  <a:lnTo>
                    <a:pt x="0" y="1153298"/>
                  </a:lnTo>
                  <a:lnTo>
                    <a:pt x="0" y="0"/>
                  </a:lnTo>
                  <a:lnTo>
                    <a:pt x="326351" y="0"/>
                  </a:lnTo>
                  <a:close/>
                </a:path>
              </a:pathLst>
            </a:custGeom>
            <a:ln w="12700">
              <a:solidFill>
                <a:srgbClr val="0432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pSp>
        <p:nvGrpSpPr>
          <p:cNvPr id="21" name="object 8">
            <a:extLst>
              <a:ext uri="{FF2B5EF4-FFF2-40B4-BE49-F238E27FC236}">
                <a16:creationId xmlns:a16="http://schemas.microsoft.com/office/drawing/2014/main" id="{1A5E3D2D-1A83-8CC4-5608-2C038C1F037C}"/>
              </a:ext>
            </a:extLst>
          </p:cNvPr>
          <p:cNvGrpSpPr/>
          <p:nvPr/>
        </p:nvGrpSpPr>
        <p:grpSpPr>
          <a:xfrm>
            <a:off x="7166132" y="327027"/>
            <a:ext cx="1572260" cy="1149985"/>
            <a:chOff x="7166132" y="327027"/>
            <a:chExt cx="1572260" cy="1149985"/>
          </a:xfrm>
        </p:grpSpPr>
        <p:pic>
          <p:nvPicPr>
            <p:cNvPr id="22" name="object 9">
              <a:extLst>
                <a:ext uri="{FF2B5EF4-FFF2-40B4-BE49-F238E27FC236}">
                  <a16:creationId xmlns:a16="http://schemas.microsoft.com/office/drawing/2014/main" id="{B62E0BDE-7E87-AC36-5623-60D407D80B8D}"/>
                </a:ext>
              </a:extLst>
            </p:cNvPr>
            <p:cNvPicPr/>
            <p:nvPr/>
          </p:nvPicPr>
          <p:blipFill>
            <a:blip r:embed="rId4" cstate="print"/>
            <a:stretch>
              <a:fillRect/>
            </a:stretch>
          </p:blipFill>
          <p:spPr>
            <a:xfrm>
              <a:off x="7246630" y="449876"/>
              <a:ext cx="1314429" cy="920758"/>
            </a:xfrm>
            <a:prstGeom prst="rect">
              <a:avLst/>
            </a:prstGeom>
          </p:spPr>
        </p:pic>
        <p:sp>
          <p:nvSpPr>
            <p:cNvPr id="23" name="object 10">
              <a:extLst>
                <a:ext uri="{FF2B5EF4-FFF2-40B4-BE49-F238E27FC236}">
                  <a16:creationId xmlns:a16="http://schemas.microsoft.com/office/drawing/2014/main" id="{3814E0D9-3E00-8D71-3280-987A04AF3F80}"/>
                </a:ext>
              </a:extLst>
            </p:cNvPr>
            <p:cNvSpPr/>
            <p:nvPr/>
          </p:nvSpPr>
          <p:spPr>
            <a:xfrm>
              <a:off x="7170894" y="331790"/>
              <a:ext cx="1562735" cy="1140460"/>
            </a:xfrm>
            <a:custGeom>
              <a:avLst/>
              <a:gdLst/>
              <a:ahLst/>
              <a:cxnLst/>
              <a:rect l="l" t="t" r="r" b="b"/>
              <a:pathLst>
                <a:path w="1562734" h="1140460">
                  <a:moveTo>
                    <a:pt x="0" y="0"/>
                  </a:moveTo>
                  <a:lnTo>
                    <a:pt x="1562426" y="0"/>
                  </a:lnTo>
                  <a:lnTo>
                    <a:pt x="1562426" y="1139933"/>
                  </a:lnTo>
                  <a:lnTo>
                    <a:pt x="0" y="1139933"/>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24" name="object 11">
            <a:extLst>
              <a:ext uri="{FF2B5EF4-FFF2-40B4-BE49-F238E27FC236}">
                <a16:creationId xmlns:a16="http://schemas.microsoft.com/office/drawing/2014/main" id="{D296957F-694B-0168-3FCA-A9E1BB12A4C9}"/>
              </a:ext>
            </a:extLst>
          </p:cNvPr>
          <p:cNvPicPr/>
          <p:nvPr/>
        </p:nvPicPr>
        <p:blipFill>
          <a:blip r:embed="rId5" cstate="print"/>
          <a:stretch>
            <a:fillRect/>
          </a:stretch>
        </p:blipFill>
        <p:spPr>
          <a:xfrm>
            <a:off x="7356212" y="4934043"/>
            <a:ext cx="1060264" cy="1060265"/>
          </a:xfrm>
          <a:prstGeom prst="rect">
            <a:avLst/>
          </a:prstGeom>
        </p:spPr>
      </p:pic>
    </p:spTree>
    <p:extLst>
      <p:ext uri="{BB962C8B-B14F-4D97-AF65-F5344CB8AC3E}">
        <p14:creationId xmlns:p14="http://schemas.microsoft.com/office/powerpoint/2010/main" val="37839850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91</a:t>
            </a:fld>
            <a:endParaRPr lang="en-US"/>
          </a:p>
        </p:txBody>
      </p:sp>
      <p:sp>
        <p:nvSpPr>
          <p:cNvPr id="10" name="object 2">
            <a:extLst>
              <a:ext uri="{FF2B5EF4-FFF2-40B4-BE49-F238E27FC236}">
                <a16:creationId xmlns:a16="http://schemas.microsoft.com/office/drawing/2014/main" id="{8CE40244-578D-88FA-9DCD-8134454E0A13}"/>
              </a:ext>
            </a:extLst>
          </p:cNvPr>
          <p:cNvSpPr txBox="1">
            <a:spLocks/>
          </p:cNvSpPr>
          <p:nvPr/>
        </p:nvSpPr>
        <p:spPr>
          <a:xfrm>
            <a:off x="707390" y="524763"/>
            <a:ext cx="345694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Handles</a:t>
            </a:r>
            <a:r>
              <a:rPr kumimoji="0" lang="en-US" sz="4000" b="1" i="0" u="none" strike="noStrike" kern="0" cap="none" spc="-7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句柄</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1" name="object 3">
            <a:extLst>
              <a:ext uri="{FF2B5EF4-FFF2-40B4-BE49-F238E27FC236}">
                <a16:creationId xmlns:a16="http://schemas.microsoft.com/office/drawing/2014/main" id="{359E5CD7-B00D-E1FF-82E5-4D73CFE04816}"/>
              </a:ext>
            </a:extLst>
          </p:cNvPr>
          <p:cNvSpPr txBox="1"/>
          <p:nvPr/>
        </p:nvSpPr>
        <p:spPr>
          <a:xfrm>
            <a:off x="707390" y="1571244"/>
            <a:ext cx="7813040" cy="2171700"/>
          </a:xfrm>
          <a:prstGeom prst="rect">
            <a:avLst/>
          </a:prstGeom>
        </p:spPr>
        <p:txBody>
          <a:bodyPr vert="horz" wrap="square" lIns="0" tIns="18415" rIns="0" bIns="0" rtlCol="0">
            <a:spAutoFit/>
          </a:bodyPr>
          <a:lstStyle/>
          <a:p>
            <a:pPr marL="242570" marR="121920" indent="-230504" rtl="0">
              <a:lnSpc>
                <a:spcPct val="131000"/>
              </a:lnSpc>
              <a:spcBef>
                <a:spcPts val="145"/>
              </a:spcBef>
              <a:buFont typeface="Arial MT"/>
              <a:buChar char="•"/>
              <a:tabLst>
                <a:tab pos="242570" algn="l"/>
                <a:tab pos="243204" algn="l"/>
              </a:tabLst>
            </a:pPr>
            <a:r>
              <a:rPr sz="2000" kern="1200" spc="-25" dirty="0">
                <a:solidFill>
                  <a:prstClr val="black"/>
                </a:solidFill>
                <a:latin typeface="Palatino Linotype"/>
                <a:cs typeface="Palatino Linotype"/>
              </a:rPr>
              <a:t>Informally,</a:t>
            </a:r>
            <a:r>
              <a:rPr sz="2000" kern="1200" dirty="0">
                <a:solidFill>
                  <a:prstClr val="black"/>
                </a:solidFill>
                <a:latin typeface="Palatino Linotype"/>
                <a:cs typeface="Palatino Linotype"/>
              </a:rPr>
              <a:t> </a:t>
            </a:r>
            <a:r>
              <a:rPr sz="2000" kern="1200" dirty="0">
                <a:solidFill>
                  <a:srgbClr val="FF0000"/>
                </a:solidFill>
                <a:latin typeface="Palatino Linotype"/>
                <a:cs typeface="Palatino Linotype"/>
              </a:rPr>
              <a:t>a</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substring</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that</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matches</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the</a:t>
            </a:r>
            <a:r>
              <a:rPr sz="2000" kern="1200" spc="5" dirty="0">
                <a:solidFill>
                  <a:srgbClr val="FF0000"/>
                </a:solidFill>
                <a:latin typeface="Palatino Linotype"/>
                <a:cs typeface="Palatino Linotype"/>
              </a:rPr>
              <a:t> </a:t>
            </a:r>
            <a:r>
              <a:rPr sz="2000" kern="1200" dirty="0">
                <a:solidFill>
                  <a:srgbClr val="FF0000"/>
                </a:solidFill>
                <a:latin typeface="Palatino Linotype"/>
                <a:cs typeface="Palatino Linotype"/>
              </a:rPr>
              <a:t>body</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of </a:t>
            </a:r>
            <a:r>
              <a:rPr sz="2000" kern="1200" dirty="0">
                <a:solidFill>
                  <a:srgbClr val="FF0000"/>
                </a:solidFill>
                <a:latin typeface="Palatino Linotype"/>
                <a:cs typeface="Palatino Linotype"/>
              </a:rPr>
              <a:t>a</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production</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and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whose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reduction represents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one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step along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10" dirty="0">
                <a:solidFill>
                  <a:prstClr val="black"/>
                </a:solidFill>
                <a:latin typeface="Palatino Linotype"/>
                <a:cs typeface="Palatino Linotype"/>
              </a:rPr>
              <a:t>reverse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rightmost</a:t>
            </a:r>
            <a:r>
              <a:rPr sz="2000" kern="1200" spc="-10" dirty="0">
                <a:solidFill>
                  <a:prstClr val="black"/>
                </a:solidFill>
                <a:latin typeface="Palatino Linotype"/>
                <a:cs typeface="Palatino Linotype"/>
              </a:rPr>
              <a:t> derivation</a:t>
            </a:r>
            <a:endParaRPr sz="2000" kern="1200" dirty="0">
              <a:solidFill>
                <a:prstClr val="black"/>
              </a:solidFill>
              <a:latin typeface="Palatino Linotype"/>
              <a:cs typeface="Palatino Linotype"/>
            </a:endParaRPr>
          </a:p>
          <a:p>
            <a:pPr marL="242570" marR="5080" indent="-230504" rtl="0">
              <a:lnSpc>
                <a:spcPct val="130000"/>
              </a:lnSpc>
              <a:spcBef>
                <a:spcPts val="1180"/>
              </a:spcBef>
              <a:buFont typeface="Arial MT"/>
              <a:buChar char="•"/>
              <a:tabLst>
                <a:tab pos="242570" algn="l"/>
                <a:tab pos="243204" algn="l"/>
                <a:tab pos="3553460" algn="l"/>
              </a:tabLst>
            </a:pPr>
            <a:r>
              <a:rPr sz="2000" kern="1200" spc="-25" dirty="0">
                <a:solidFill>
                  <a:prstClr val="black"/>
                </a:solidFill>
                <a:latin typeface="Palatino Linotype"/>
                <a:cs typeface="Palatino Linotype"/>
              </a:rPr>
              <a:t>Formally,</a:t>
            </a:r>
            <a:r>
              <a:rPr sz="2000" kern="1200" dirty="0">
                <a:solidFill>
                  <a:prstClr val="black"/>
                </a:solidFill>
                <a:latin typeface="Palatino Linotype"/>
                <a:cs typeface="Palatino Linotype"/>
              </a:rPr>
              <a:t> if	,</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then</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a:t>
            </a:r>
            <a:r>
              <a:rPr sz="2000" kern="1200" spc="35" dirty="0">
                <a:solidFill>
                  <a:prstClr val="black"/>
                </a:solidFill>
                <a:latin typeface="Palatino Linotype"/>
                <a:cs typeface="Palatino Linotype"/>
              </a:rPr>
              <a:t> </a:t>
            </a:r>
            <a:r>
              <a:rPr sz="2000" kern="1200" dirty="0">
                <a:solidFill>
                  <a:prstClr val="black"/>
                </a:solidFill>
                <a:latin typeface="Cambria Math"/>
                <a:cs typeface="Cambria Math"/>
              </a:rPr>
              <a:t>𝐴</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0" dirty="0">
                <a:solidFill>
                  <a:prstClr val="black"/>
                </a:solidFill>
                <a:latin typeface="Cambria Math"/>
                <a:cs typeface="Cambria Math"/>
              </a:rPr>
              <a:t> </a:t>
            </a:r>
            <a:r>
              <a:rPr sz="2000" kern="1200" dirty="0">
                <a:solidFill>
                  <a:prstClr val="black"/>
                </a:solidFill>
                <a:latin typeface="Cambria Math"/>
                <a:cs typeface="Cambria Math"/>
              </a:rPr>
              <a:t>𝛽</a:t>
            </a:r>
            <a:r>
              <a:rPr sz="2000" kern="1200" spc="160" dirty="0">
                <a:solidFill>
                  <a:prstClr val="black"/>
                </a:solidFill>
                <a:latin typeface="Cambria Math"/>
                <a:cs typeface="Cambria Math"/>
              </a:rPr>
              <a:t> </a:t>
            </a:r>
            <a:r>
              <a:rPr sz="2000" kern="1200" spc="-5" dirty="0">
                <a:solidFill>
                  <a:prstClr val="black"/>
                </a:solidFill>
                <a:latin typeface="Palatino Linotype"/>
                <a:cs typeface="Palatino Linotype"/>
              </a:rPr>
              <a:t>(or</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simply</a:t>
            </a:r>
            <a:r>
              <a:rPr sz="2000" kern="1200" spc="40" dirty="0">
                <a:solidFill>
                  <a:prstClr val="black"/>
                </a:solidFill>
                <a:latin typeface="Palatino Linotype"/>
                <a:cs typeface="Palatino Linotype"/>
              </a:rPr>
              <a:t> </a:t>
            </a:r>
            <a:r>
              <a:rPr sz="2000" kern="1200" spc="55" dirty="0">
                <a:solidFill>
                  <a:prstClr val="black"/>
                </a:solidFill>
                <a:latin typeface="Cambria Math"/>
                <a:cs typeface="Cambria Math"/>
              </a:rPr>
              <a:t>𝛽</a:t>
            </a:r>
            <a:r>
              <a:rPr sz="2000" kern="1200" spc="55" dirty="0">
                <a:solidFill>
                  <a:prstClr val="black"/>
                </a:solidFill>
                <a:latin typeface="Palatino Linotype"/>
                <a:cs typeface="Palatino Linotype"/>
              </a:rPr>
              <a:t>)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in</a:t>
            </a:r>
            <a:r>
              <a:rPr sz="2000" kern="1200" spc="-5" dirty="0">
                <a:solidFill>
                  <a:prstClr val="black"/>
                </a:solidFill>
                <a:latin typeface="Palatino Linotype"/>
                <a:cs typeface="Palatino Linotype"/>
              </a:rPr>
              <a:t> 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position following</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𝛼</a:t>
            </a:r>
            <a:r>
              <a:rPr sz="2000" kern="1200" spc="125" dirty="0">
                <a:solidFill>
                  <a:prstClr val="black"/>
                </a:solidFill>
                <a:latin typeface="Cambria Math"/>
                <a:cs typeface="Cambria Math"/>
              </a:rPr>
              <a:t> </a:t>
            </a:r>
            <a:r>
              <a:rPr sz="2000" kern="1200" dirty="0">
                <a:solidFill>
                  <a:prstClr val="black"/>
                </a:solidFill>
                <a:latin typeface="Palatino Linotype"/>
                <a:cs typeface="Palatino Linotype"/>
              </a:rPr>
              <a:t>is a</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handle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sentential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form</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𝛼𝛽𝜔</a:t>
            </a:r>
          </a:p>
        </p:txBody>
      </p:sp>
      <p:pic>
        <p:nvPicPr>
          <p:cNvPr id="12" name="object 4">
            <a:extLst>
              <a:ext uri="{FF2B5EF4-FFF2-40B4-BE49-F238E27FC236}">
                <a16:creationId xmlns:a16="http://schemas.microsoft.com/office/drawing/2014/main" id="{DA0303E8-A398-8120-C087-36085238E4FB}"/>
              </a:ext>
            </a:extLst>
          </p:cNvPr>
          <p:cNvPicPr/>
          <p:nvPr/>
        </p:nvPicPr>
        <p:blipFill>
          <a:blip r:embed="rId3" cstate="print"/>
          <a:stretch>
            <a:fillRect/>
          </a:stretch>
        </p:blipFill>
        <p:spPr>
          <a:xfrm>
            <a:off x="2481086" y="3031919"/>
            <a:ext cx="1705567" cy="345376"/>
          </a:xfrm>
          <a:prstGeom prst="rect">
            <a:avLst/>
          </a:prstGeom>
        </p:spPr>
      </p:pic>
      <p:pic>
        <p:nvPicPr>
          <p:cNvPr id="13" name="object 5">
            <a:extLst>
              <a:ext uri="{FF2B5EF4-FFF2-40B4-BE49-F238E27FC236}">
                <a16:creationId xmlns:a16="http://schemas.microsoft.com/office/drawing/2014/main" id="{E8E165DD-8E45-E5B3-7384-D054B42A5454}"/>
              </a:ext>
            </a:extLst>
          </p:cNvPr>
          <p:cNvPicPr/>
          <p:nvPr/>
        </p:nvPicPr>
        <p:blipFill>
          <a:blip r:embed="rId4" cstate="print"/>
          <a:stretch>
            <a:fillRect/>
          </a:stretch>
        </p:blipFill>
        <p:spPr>
          <a:xfrm>
            <a:off x="5028117" y="175708"/>
            <a:ext cx="2180108" cy="1212631"/>
          </a:xfrm>
          <a:prstGeom prst="rect">
            <a:avLst/>
          </a:prstGeom>
        </p:spPr>
      </p:pic>
      <p:pic>
        <p:nvPicPr>
          <p:cNvPr id="14" name="object 6">
            <a:extLst>
              <a:ext uri="{FF2B5EF4-FFF2-40B4-BE49-F238E27FC236}">
                <a16:creationId xmlns:a16="http://schemas.microsoft.com/office/drawing/2014/main" id="{D06942F8-9058-DBFB-2AF6-46349BBDB822}"/>
              </a:ext>
            </a:extLst>
          </p:cNvPr>
          <p:cNvPicPr/>
          <p:nvPr/>
        </p:nvPicPr>
        <p:blipFill>
          <a:blip r:embed="rId5" cstate="print"/>
          <a:stretch>
            <a:fillRect/>
          </a:stretch>
        </p:blipFill>
        <p:spPr>
          <a:xfrm>
            <a:off x="1477383" y="4300289"/>
            <a:ext cx="6092255" cy="1378571"/>
          </a:xfrm>
          <a:prstGeom prst="rect">
            <a:avLst/>
          </a:prstGeom>
        </p:spPr>
      </p:pic>
    </p:spTree>
    <p:extLst>
      <p:ext uri="{BB962C8B-B14F-4D97-AF65-F5344CB8AC3E}">
        <p14:creationId xmlns:p14="http://schemas.microsoft.com/office/powerpoint/2010/main" val="36533256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92</a:t>
            </a:fld>
            <a:endParaRPr lang="en-US"/>
          </a:p>
        </p:txBody>
      </p:sp>
      <p:sp>
        <p:nvSpPr>
          <p:cNvPr id="14" name="object 2">
            <a:extLst>
              <a:ext uri="{FF2B5EF4-FFF2-40B4-BE49-F238E27FC236}">
                <a16:creationId xmlns:a16="http://schemas.microsoft.com/office/drawing/2014/main" id="{A2D7ED03-F131-E22C-287A-237A58A8BF88}"/>
              </a:ext>
            </a:extLst>
          </p:cNvPr>
          <p:cNvSpPr/>
          <p:nvPr/>
        </p:nvSpPr>
        <p:spPr>
          <a:xfrm>
            <a:off x="5132161" y="4065458"/>
            <a:ext cx="3614420" cy="1077595"/>
          </a:xfrm>
          <a:custGeom>
            <a:avLst/>
            <a:gdLst/>
            <a:ahLst/>
            <a:cxnLst/>
            <a:rect l="l" t="t" r="r" b="b"/>
            <a:pathLst>
              <a:path w="3614420" h="1077595">
                <a:moveTo>
                  <a:pt x="3613960" y="0"/>
                </a:moveTo>
                <a:lnTo>
                  <a:pt x="0" y="0"/>
                </a:lnTo>
                <a:lnTo>
                  <a:pt x="0" y="1077217"/>
                </a:lnTo>
                <a:lnTo>
                  <a:pt x="3613960" y="1077217"/>
                </a:lnTo>
                <a:lnTo>
                  <a:pt x="3613960" y="0"/>
                </a:lnTo>
                <a:close/>
              </a:path>
            </a:pathLst>
          </a:custGeom>
          <a:solidFill>
            <a:srgbClr val="FFF2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3">
            <a:extLst>
              <a:ext uri="{FF2B5EF4-FFF2-40B4-BE49-F238E27FC236}">
                <a16:creationId xmlns:a16="http://schemas.microsoft.com/office/drawing/2014/main" id="{13CC5CDC-72B5-AA45-F58C-FBC7F2848B8D}"/>
              </a:ext>
            </a:extLst>
          </p:cNvPr>
          <p:cNvSpPr txBox="1"/>
          <p:nvPr/>
        </p:nvSpPr>
        <p:spPr>
          <a:xfrm>
            <a:off x="5132161" y="4065458"/>
            <a:ext cx="3614420" cy="1077595"/>
          </a:xfrm>
          <a:prstGeom prst="rect">
            <a:avLst/>
          </a:prstGeom>
          <a:ln w="9525">
            <a:solidFill>
              <a:srgbClr val="000000"/>
            </a:solidFill>
          </a:ln>
        </p:spPr>
        <p:txBody>
          <a:bodyPr vert="horz" wrap="square" lIns="0" tIns="33655" rIns="0" bIns="0" rtlCol="0">
            <a:spAutoFit/>
          </a:bodyPr>
          <a:lstStyle/>
          <a:p>
            <a:pPr marL="91440" rtl="0">
              <a:spcBef>
                <a:spcPts val="265"/>
              </a:spcBef>
            </a:pPr>
            <a:r>
              <a:rPr b="1" kern="1200" spc="-5" dirty="0">
                <a:solidFill>
                  <a:srgbClr val="FF0000"/>
                </a:solidFill>
                <a:latin typeface="Palatino Linotype"/>
                <a:cs typeface="Palatino Linotype"/>
              </a:rPr>
              <a:t>In</a:t>
            </a:r>
            <a:r>
              <a:rPr b="1" kern="1200" spc="-25" dirty="0">
                <a:solidFill>
                  <a:srgbClr val="FF0000"/>
                </a:solidFill>
                <a:latin typeface="Palatino Linotype"/>
                <a:cs typeface="Palatino Linotype"/>
              </a:rPr>
              <a:t> </a:t>
            </a:r>
            <a:r>
              <a:rPr b="1" kern="1200" spc="-5" dirty="0">
                <a:solidFill>
                  <a:srgbClr val="FF0000"/>
                </a:solidFill>
                <a:latin typeface="Palatino Linotype"/>
                <a:cs typeface="Palatino Linotype"/>
              </a:rPr>
              <a:t>every</a:t>
            </a:r>
            <a:r>
              <a:rPr b="1" kern="1200" spc="-30" dirty="0">
                <a:solidFill>
                  <a:srgbClr val="FF0000"/>
                </a:solidFill>
                <a:latin typeface="Palatino Linotype"/>
                <a:cs typeface="Palatino Linotype"/>
              </a:rPr>
              <a:t> </a:t>
            </a:r>
            <a:r>
              <a:rPr b="1" kern="1200" dirty="0">
                <a:solidFill>
                  <a:srgbClr val="FF0000"/>
                </a:solidFill>
                <a:latin typeface="Palatino Linotype"/>
                <a:cs typeface="Palatino Linotype"/>
              </a:rPr>
              <a:t>step:</a:t>
            </a:r>
            <a:endParaRPr kern="1200">
              <a:solidFill>
                <a:prstClr val="black"/>
              </a:solidFill>
              <a:latin typeface="Palatino Linotype"/>
              <a:cs typeface="Palatino Linotype"/>
            </a:endParaRPr>
          </a:p>
          <a:p>
            <a:pPr marL="377190" indent="-285750" rtl="0">
              <a:spcBef>
                <a:spcPts val="530"/>
              </a:spcBef>
              <a:buFont typeface="Arial MT"/>
              <a:buChar char="•"/>
              <a:tabLst>
                <a:tab pos="376555" algn="l"/>
                <a:tab pos="377190" algn="l"/>
              </a:tabLst>
            </a:pPr>
            <a:r>
              <a:rPr kern="1200" dirty="0">
                <a:solidFill>
                  <a:prstClr val="black"/>
                </a:solidFill>
                <a:latin typeface="Palatino Linotype"/>
                <a:cs typeface="Palatino Linotype"/>
              </a:rPr>
              <a:t>Locate</a:t>
            </a:r>
            <a:r>
              <a:rPr kern="1200" spc="-30"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30" dirty="0">
                <a:solidFill>
                  <a:prstClr val="black"/>
                </a:solidFill>
                <a:latin typeface="Palatino Linotype"/>
                <a:cs typeface="Palatino Linotype"/>
              </a:rPr>
              <a:t> </a:t>
            </a:r>
            <a:r>
              <a:rPr kern="1200" dirty="0">
                <a:solidFill>
                  <a:prstClr val="black"/>
                </a:solidFill>
                <a:latin typeface="Palatino Linotype"/>
                <a:cs typeface="Palatino Linotype"/>
              </a:rPr>
              <a:t>handle</a:t>
            </a:r>
            <a:endParaRPr kern="1200">
              <a:solidFill>
                <a:prstClr val="black"/>
              </a:solidFill>
              <a:latin typeface="Palatino Linotype"/>
              <a:cs typeface="Palatino Linotype"/>
            </a:endParaRPr>
          </a:p>
          <a:p>
            <a:pPr marL="377190" indent="-285750" rtl="0">
              <a:spcBef>
                <a:spcPts val="650"/>
              </a:spcBef>
              <a:buFont typeface="Arial MT"/>
              <a:buChar char="•"/>
              <a:tabLst>
                <a:tab pos="376555" algn="l"/>
                <a:tab pos="377190" algn="l"/>
              </a:tabLst>
            </a:pPr>
            <a:r>
              <a:rPr kern="1200" dirty="0">
                <a:solidFill>
                  <a:prstClr val="black"/>
                </a:solidFill>
                <a:latin typeface="Palatino Linotype"/>
                <a:cs typeface="Palatino Linotype"/>
              </a:rPr>
              <a:t>Replace</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it</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by</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production</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head</a:t>
            </a:r>
            <a:endParaRPr kern="1200">
              <a:solidFill>
                <a:prstClr val="black"/>
              </a:solidFill>
              <a:latin typeface="Palatino Linotype"/>
              <a:cs typeface="Palatino Linotype"/>
            </a:endParaRPr>
          </a:p>
        </p:txBody>
      </p:sp>
      <p:sp>
        <p:nvSpPr>
          <p:cNvPr id="16" name="object 4">
            <a:extLst>
              <a:ext uri="{FF2B5EF4-FFF2-40B4-BE49-F238E27FC236}">
                <a16:creationId xmlns:a16="http://schemas.microsoft.com/office/drawing/2014/main" id="{40D146AB-E085-407A-DF2F-1854F97A19B9}"/>
              </a:ext>
            </a:extLst>
          </p:cNvPr>
          <p:cNvSpPr txBox="1">
            <a:spLocks/>
          </p:cNvSpPr>
          <p:nvPr/>
        </p:nvSpPr>
        <p:spPr>
          <a:xfrm>
            <a:off x="707390" y="524763"/>
            <a:ext cx="626681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Handle</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Pruning</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句柄剪枝</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7" name="object 5">
            <a:extLst>
              <a:ext uri="{FF2B5EF4-FFF2-40B4-BE49-F238E27FC236}">
                <a16:creationId xmlns:a16="http://schemas.microsoft.com/office/drawing/2014/main" id="{F9E93947-6A0F-4757-A4B1-B3326CA4CC91}"/>
              </a:ext>
            </a:extLst>
          </p:cNvPr>
          <p:cNvSpPr txBox="1"/>
          <p:nvPr/>
        </p:nvSpPr>
        <p:spPr>
          <a:xfrm>
            <a:off x="681990" y="1479804"/>
            <a:ext cx="7578725" cy="2668270"/>
          </a:xfrm>
          <a:prstGeom prst="rect">
            <a:avLst/>
          </a:prstGeom>
        </p:spPr>
        <p:txBody>
          <a:bodyPr vert="horz" wrap="square" lIns="0" tIns="12700" rIns="0" bIns="0" rtlCol="0">
            <a:spAutoFit/>
          </a:bodyPr>
          <a:lstStyle/>
          <a:p>
            <a:pPr marL="267970" marR="30480" indent="-230504" rtl="0">
              <a:lnSpc>
                <a:spcPct val="117000"/>
              </a:lnSpc>
              <a:spcBef>
                <a:spcPts val="100"/>
              </a:spcBef>
              <a:buFont typeface="Arial MT"/>
              <a:buChar char="•"/>
              <a:tabLst>
                <a:tab pos="267970" algn="l"/>
                <a:tab pos="268605" algn="l"/>
              </a:tabLst>
            </a:pPr>
            <a:r>
              <a:rPr sz="2000" kern="1200" dirty="0">
                <a:solidFill>
                  <a:prstClr val="black"/>
                </a:solidFill>
                <a:latin typeface="Palatino Linotype"/>
                <a:cs typeface="Palatino Linotype"/>
              </a:rPr>
              <a:t>In</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right-sentential</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form (</a:t>
            </a:r>
            <a:r>
              <a:rPr sz="2000" kern="1200" dirty="0">
                <a:solidFill>
                  <a:prstClr val="black"/>
                </a:solidFill>
                <a:latin typeface="SimSun"/>
                <a:cs typeface="SimSun"/>
              </a:rPr>
              <a:t>最右句型</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srgbClr val="0432FF"/>
                </a:solidFill>
                <a:latin typeface="Palatino Linotype"/>
                <a:cs typeface="Palatino Linotype"/>
              </a:rPr>
              <a:t>the</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string</a:t>
            </a:r>
            <a:r>
              <a:rPr sz="2000" kern="1200" spc="5" dirty="0">
                <a:solidFill>
                  <a:srgbClr val="0432FF"/>
                </a:solidFill>
                <a:latin typeface="Palatino Linotype"/>
                <a:cs typeface="Palatino Linotype"/>
              </a:rPr>
              <a:t> </a:t>
            </a:r>
            <a:r>
              <a:rPr sz="2000" kern="1200" spc="-5" dirty="0">
                <a:solidFill>
                  <a:srgbClr val="0432FF"/>
                </a:solidFill>
                <a:latin typeface="Palatino Linotype"/>
                <a:cs typeface="Palatino Linotype"/>
              </a:rPr>
              <a:t>to the</a:t>
            </a:r>
            <a:r>
              <a:rPr sz="2000" kern="1200" spc="5" dirty="0">
                <a:solidFill>
                  <a:srgbClr val="0432FF"/>
                </a:solidFill>
                <a:latin typeface="Palatino Linotype"/>
                <a:cs typeface="Palatino Linotype"/>
              </a:rPr>
              <a:t> </a:t>
            </a:r>
            <a:r>
              <a:rPr sz="2000" kern="1200" spc="-5" dirty="0">
                <a:solidFill>
                  <a:srgbClr val="0432FF"/>
                </a:solidFill>
                <a:latin typeface="Palatino Linotype"/>
                <a:cs typeface="Palatino Linotype"/>
              </a:rPr>
              <a:t>right of the </a:t>
            </a:r>
            <a:r>
              <a:rPr sz="2000" kern="1200" spc="-484" dirty="0">
                <a:solidFill>
                  <a:srgbClr val="0432FF"/>
                </a:solidFill>
                <a:latin typeface="Palatino Linotype"/>
                <a:cs typeface="Palatino Linotype"/>
              </a:rPr>
              <a:t> </a:t>
            </a:r>
            <a:r>
              <a:rPr sz="2000" kern="1200" spc="-5" dirty="0">
                <a:solidFill>
                  <a:srgbClr val="0432FF"/>
                </a:solidFill>
                <a:latin typeface="Palatino Linotype"/>
                <a:cs typeface="Palatino Linotype"/>
              </a:rPr>
              <a:t>handle must contain </a:t>
            </a:r>
            <a:r>
              <a:rPr sz="2000" kern="1200" spc="-5" dirty="0">
                <a:solidFill>
                  <a:srgbClr val="FF0000"/>
                </a:solidFill>
                <a:latin typeface="Palatino Linotype"/>
                <a:cs typeface="Palatino Linotype"/>
              </a:rPr>
              <a:t>only</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terminal</a:t>
            </a:r>
            <a:r>
              <a:rPr sz="2000" kern="1200" spc="5" dirty="0">
                <a:solidFill>
                  <a:srgbClr val="FF0000"/>
                </a:solidFill>
                <a:latin typeface="Palatino Linotype"/>
                <a:cs typeface="Palatino Linotype"/>
              </a:rPr>
              <a:t> </a:t>
            </a:r>
            <a:r>
              <a:rPr sz="2000" kern="1200" dirty="0">
                <a:solidFill>
                  <a:srgbClr val="FF0000"/>
                </a:solidFill>
                <a:latin typeface="Palatino Linotype"/>
                <a:cs typeface="Palatino Linotype"/>
              </a:rPr>
              <a:t>symbols</a:t>
            </a:r>
            <a:endParaRPr sz="2000" kern="1200" dirty="0">
              <a:solidFill>
                <a:prstClr val="black"/>
              </a:solidFill>
              <a:latin typeface="Palatino Linotype"/>
              <a:cs typeface="Palatino Linotype"/>
            </a:endParaRPr>
          </a:p>
          <a:p>
            <a:pPr marL="267970" marR="121920" indent="-230504" rtl="0">
              <a:lnSpc>
                <a:spcPct val="120000"/>
              </a:lnSpc>
              <a:spcBef>
                <a:spcPts val="1820"/>
              </a:spcBef>
              <a:buFont typeface="Arial MT"/>
              <a:buChar char="•"/>
              <a:tabLst>
                <a:tab pos="267970" algn="l"/>
                <a:tab pos="268605" algn="l"/>
              </a:tabLst>
            </a:pPr>
            <a:r>
              <a:rPr sz="2000" kern="1200" dirty="0">
                <a:solidFill>
                  <a:prstClr val="black"/>
                </a:solidFill>
                <a:latin typeface="Palatino Linotype"/>
                <a:cs typeface="Palatino Linotype"/>
              </a:rPr>
              <a:t>If</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grammar</a:t>
            </a:r>
            <a:r>
              <a:rPr sz="2000" kern="1200" dirty="0">
                <a:solidFill>
                  <a:prstClr val="black"/>
                </a:solidFill>
                <a:latin typeface="Palatino Linotype"/>
                <a:cs typeface="Palatino Linotype"/>
              </a:rPr>
              <a:t> is </a:t>
            </a:r>
            <a:r>
              <a:rPr sz="2000" kern="1200" spc="-5" dirty="0">
                <a:solidFill>
                  <a:srgbClr val="FF0000"/>
                </a:solidFill>
                <a:latin typeface="Palatino Linotype"/>
                <a:cs typeface="Palatino Linotype"/>
              </a:rPr>
              <a:t>unambiguous</a:t>
            </a:r>
            <a:r>
              <a:rPr sz="2000" kern="1200" spc="-5" dirty="0">
                <a:solidFill>
                  <a:prstClr val="black"/>
                </a:solidFill>
                <a:latin typeface="Palatino Linotype"/>
                <a:cs typeface="Palatino Linotype"/>
              </a:rPr>
              <a:t>,</a:t>
            </a:r>
            <a:r>
              <a:rPr sz="2000" kern="1200" spc="5" dirty="0">
                <a:solidFill>
                  <a:prstClr val="black"/>
                </a:solidFill>
                <a:latin typeface="Palatino Linotype"/>
                <a:cs typeface="Palatino Linotype"/>
              </a:rPr>
              <a:t> </a:t>
            </a:r>
            <a:r>
              <a:rPr sz="2000" kern="1200" spc="-10" dirty="0">
                <a:solidFill>
                  <a:prstClr val="black"/>
                </a:solidFill>
                <a:latin typeface="Palatino Linotype"/>
                <a:cs typeface="Palatino Linotype"/>
              </a:rPr>
              <a:t>every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right-sentential</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form of the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grammar</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has</a:t>
            </a:r>
            <a:r>
              <a:rPr sz="2000" kern="1200" dirty="0">
                <a:solidFill>
                  <a:prstClr val="black"/>
                </a:solidFill>
                <a:latin typeface="Palatino Linotype"/>
                <a:cs typeface="Palatino Linotype"/>
              </a:rPr>
              <a:t> </a:t>
            </a:r>
            <a:r>
              <a:rPr sz="2000" kern="1200" dirty="0">
                <a:solidFill>
                  <a:srgbClr val="FF0000"/>
                </a:solidFill>
                <a:latin typeface="Palatino Linotype"/>
                <a:cs typeface="Palatino Linotype"/>
              </a:rPr>
              <a:t>exactly </a:t>
            </a:r>
            <a:r>
              <a:rPr sz="2000" kern="1200" spc="-5" dirty="0">
                <a:solidFill>
                  <a:srgbClr val="FF0000"/>
                </a:solidFill>
                <a:latin typeface="Palatino Linotype"/>
                <a:cs typeface="Palatino Linotype"/>
              </a:rPr>
              <a:t>one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handle</a:t>
            </a:r>
            <a:r>
              <a:rPr sz="1950" kern="1200" spc="-7" baseline="25641" dirty="0">
                <a:solidFill>
                  <a:prstClr val="black"/>
                </a:solidFill>
                <a:latin typeface="Palatino Linotype"/>
                <a:cs typeface="Palatino Linotype"/>
              </a:rPr>
              <a:t>*</a:t>
            </a:r>
            <a:endParaRPr sz="1950" kern="1200" baseline="25641" dirty="0">
              <a:solidFill>
                <a:prstClr val="black"/>
              </a:solidFill>
              <a:latin typeface="Palatino Linotype"/>
              <a:cs typeface="Palatino Linotype"/>
            </a:endParaRPr>
          </a:p>
          <a:p>
            <a:pPr marL="267970" marR="454025" indent="-230504" rtl="0">
              <a:lnSpc>
                <a:spcPct val="121000"/>
              </a:lnSpc>
              <a:spcBef>
                <a:spcPts val="1805"/>
              </a:spcBef>
              <a:buFont typeface="Arial MT"/>
              <a:buChar char="•"/>
              <a:tabLst>
                <a:tab pos="267970" algn="l"/>
                <a:tab pos="268605" algn="l"/>
              </a:tabLst>
            </a:pP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rightmost </a:t>
            </a:r>
            <a:r>
              <a:rPr sz="2000" kern="1200" spc="-10" dirty="0">
                <a:solidFill>
                  <a:prstClr val="black"/>
                </a:solidFill>
                <a:latin typeface="Palatino Linotype"/>
                <a:cs typeface="Palatino Linotype"/>
              </a:rPr>
              <a:t>derivation </a:t>
            </a:r>
            <a:r>
              <a:rPr sz="2000" kern="1200" dirty="0">
                <a:solidFill>
                  <a:prstClr val="black"/>
                </a:solidFill>
                <a:latin typeface="Palatino Linotype"/>
                <a:cs typeface="Palatino Linotype"/>
              </a:rPr>
              <a:t>in </a:t>
            </a:r>
            <a:r>
              <a:rPr sz="2000" kern="1200" spc="-10" dirty="0">
                <a:solidFill>
                  <a:prstClr val="black"/>
                </a:solidFill>
                <a:latin typeface="Palatino Linotype"/>
                <a:cs typeface="Palatino Linotype"/>
              </a:rPr>
              <a:t>reverse </a:t>
            </a:r>
            <a:r>
              <a:rPr sz="2000" kern="1200" spc="-5" dirty="0">
                <a:solidFill>
                  <a:prstClr val="black"/>
                </a:solidFill>
                <a:latin typeface="Palatino Linotype"/>
                <a:cs typeface="Palatino Linotype"/>
              </a:rPr>
              <a:t>(bottom-up parsing) can </a:t>
            </a:r>
            <a:r>
              <a:rPr sz="2000" kern="1200" dirty="0">
                <a:solidFill>
                  <a:prstClr val="black"/>
                </a:solidFill>
                <a:latin typeface="Palatino Linotype"/>
                <a:cs typeface="Palatino Linotype"/>
              </a:rPr>
              <a:t>be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obtained</a:t>
            </a:r>
            <a:r>
              <a:rPr sz="2000" kern="1200" dirty="0">
                <a:solidFill>
                  <a:prstClr val="black"/>
                </a:solidFill>
                <a:latin typeface="Palatino Linotype"/>
                <a:cs typeface="Palatino Linotype"/>
              </a:rPr>
              <a:t> by</a:t>
            </a:r>
            <a:r>
              <a:rPr sz="2000" kern="1200" spc="-5" dirty="0">
                <a:solidFill>
                  <a:prstClr val="black"/>
                </a:solidFill>
                <a:latin typeface="Palatino Linotype"/>
                <a:cs typeface="Palatino Linotype"/>
              </a:rPr>
              <a:t> </a:t>
            </a:r>
            <a:r>
              <a:rPr sz="2000" b="1" kern="1200" spc="-5" dirty="0">
                <a:solidFill>
                  <a:srgbClr val="FF0000"/>
                </a:solidFill>
                <a:latin typeface="Palatino Linotype"/>
                <a:cs typeface="Palatino Linotype"/>
              </a:rPr>
              <a:t>“handle</a:t>
            </a:r>
            <a:r>
              <a:rPr sz="2000" b="1" kern="1200" dirty="0">
                <a:solidFill>
                  <a:srgbClr val="FF0000"/>
                </a:solidFill>
                <a:latin typeface="Palatino Linotype"/>
                <a:cs typeface="Palatino Linotype"/>
              </a:rPr>
              <a:t> </a:t>
            </a:r>
            <a:r>
              <a:rPr sz="2000" b="1" kern="1200" spc="-5" dirty="0">
                <a:solidFill>
                  <a:srgbClr val="FF0000"/>
                </a:solidFill>
                <a:latin typeface="Palatino Linotype"/>
                <a:cs typeface="Palatino Linotype"/>
              </a:rPr>
              <a:t>pruning”</a:t>
            </a:r>
            <a:endParaRPr sz="2000" kern="1200" dirty="0">
              <a:solidFill>
                <a:prstClr val="black"/>
              </a:solidFill>
              <a:latin typeface="Palatino Linotype"/>
              <a:cs typeface="Palatino Linotype"/>
            </a:endParaRPr>
          </a:p>
        </p:txBody>
      </p:sp>
      <p:pic>
        <p:nvPicPr>
          <p:cNvPr id="18" name="object 6">
            <a:extLst>
              <a:ext uri="{FF2B5EF4-FFF2-40B4-BE49-F238E27FC236}">
                <a16:creationId xmlns:a16="http://schemas.microsoft.com/office/drawing/2014/main" id="{1FC4206F-09EA-83CE-9393-3E455DDAC809}"/>
              </a:ext>
            </a:extLst>
          </p:cNvPr>
          <p:cNvPicPr/>
          <p:nvPr/>
        </p:nvPicPr>
        <p:blipFill>
          <a:blip r:embed="rId3" cstate="print"/>
          <a:stretch>
            <a:fillRect/>
          </a:stretch>
        </p:blipFill>
        <p:spPr>
          <a:xfrm>
            <a:off x="7217908" y="434184"/>
            <a:ext cx="1687324" cy="938531"/>
          </a:xfrm>
          <a:prstGeom prst="rect">
            <a:avLst/>
          </a:prstGeom>
        </p:spPr>
      </p:pic>
      <p:grpSp>
        <p:nvGrpSpPr>
          <p:cNvPr id="19" name="object 7">
            <a:extLst>
              <a:ext uri="{FF2B5EF4-FFF2-40B4-BE49-F238E27FC236}">
                <a16:creationId xmlns:a16="http://schemas.microsoft.com/office/drawing/2014/main" id="{F8808717-8091-A0A0-5EC8-481721AA6061}"/>
              </a:ext>
            </a:extLst>
          </p:cNvPr>
          <p:cNvGrpSpPr/>
          <p:nvPr/>
        </p:nvGrpSpPr>
        <p:grpSpPr>
          <a:xfrm>
            <a:off x="796308" y="4814079"/>
            <a:ext cx="5503545" cy="927100"/>
            <a:chOff x="796308" y="4814079"/>
            <a:chExt cx="5503545" cy="927100"/>
          </a:xfrm>
        </p:grpSpPr>
        <p:pic>
          <p:nvPicPr>
            <p:cNvPr id="20" name="object 8">
              <a:extLst>
                <a:ext uri="{FF2B5EF4-FFF2-40B4-BE49-F238E27FC236}">
                  <a16:creationId xmlns:a16="http://schemas.microsoft.com/office/drawing/2014/main" id="{0F2E31AC-4086-D632-8D2F-2A29FC3FAF1D}"/>
                </a:ext>
              </a:extLst>
            </p:cNvPr>
            <p:cNvPicPr/>
            <p:nvPr/>
          </p:nvPicPr>
          <p:blipFill>
            <a:blip r:embed="rId4" cstate="print"/>
            <a:stretch>
              <a:fillRect/>
            </a:stretch>
          </p:blipFill>
          <p:spPr>
            <a:xfrm>
              <a:off x="796308" y="5330708"/>
              <a:ext cx="5503240" cy="410068"/>
            </a:xfrm>
            <a:prstGeom prst="rect">
              <a:avLst/>
            </a:prstGeom>
          </p:spPr>
        </p:pic>
        <p:sp>
          <p:nvSpPr>
            <p:cNvPr id="21" name="object 9">
              <a:extLst>
                <a:ext uri="{FF2B5EF4-FFF2-40B4-BE49-F238E27FC236}">
                  <a16:creationId xmlns:a16="http://schemas.microsoft.com/office/drawing/2014/main" id="{068CB6B8-A1B6-020D-C9A7-3BAFAC171661}"/>
                </a:ext>
              </a:extLst>
            </p:cNvPr>
            <p:cNvSpPr/>
            <p:nvPr/>
          </p:nvSpPr>
          <p:spPr>
            <a:xfrm>
              <a:off x="842543" y="4814087"/>
              <a:ext cx="4784090" cy="515620"/>
            </a:xfrm>
            <a:custGeom>
              <a:avLst/>
              <a:gdLst/>
              <a:ahLst/>
              <a:cxnLst/>
              <a:rect l="l" t="t" r="r" b="b"/>
              <a:pathLst>
                <a:path w="4784090" h="515620">
                  <a:moveTo>
                    <a:pt x="555967" y="501142"/>
                  </a:moveTo>
                  <a:lnTo>
                    <a:pt x="515112" y="415137"/>
                  </a:lnTo>
                  <a:lnTo>
                    <a:pt x="512508" y="409676"/>
                  </a:lnTo>
                  <a:lnTo>
                    <a:pt x="493534" y="370357"/>
                  </a:lnTo>
                  <a:lnTo>
                    <a:pt x="490867" y="364820"/>
                  </a:lnTo>
                  <a:lnTo>
                    <a:pt x="469328" y="321030"/>
                  </a:lnTo>
                  <a:lnTo>
                    <a:pt x="450850" y="284429"/>
                  </a:lnTo>
                  <a:lnTo>
                    <a:pt x="447941" y="278663"/>
                  </a:lnTo>
                  <a:lnTo>
                    <a:pt x="429831" y="244017"/>
                  </a:lnTo>
                  <a:lnTo>
                    <a:pt x="426732" y="238086"/>
                  </a:lnTo>
                  <a:lnTo>
                    <a:pt x="409105" y="205790"/>
                  </a:lnTo>
                  <a:lnTo>
                    <a:pt x="388721" y="170129"/>
                  </a:lnTo>
                  <a:lnTo>
                    <a:pt x="368757" y="137388"/>
                  </a:lnTo>
                  <a:lnTo>
                    <a:pt x="349288" y="107950"/>
                  </a:lnTo>
                  <a:lnTo>
                    <a:pt x="344424" y="100711"/>
                  </a:lnTo>
                  <a:lnTo>
                    <a:pt x="330466" y="82169"/>
                  </a:lnTo>
                  <a:lnTo>
                    <a:pt x="324599" y="74358"/>
                  </a:lnTo>
                  <a:lnTo>
                    <a:pt x="312521" y="60439"/>
                  </a:lnTo>
                  <a:lnTo>
                    <a:pt x="282219" y="30810"/>
                  </a:lnTo>
                  <a:lnTo>
                    <a:pt x="276644" y="26466"/>
                  </a:lnTo>
                  <a:lnTo>
                    <a:pt x="276352" y="26238"/>
                  </a:lnTo>
                  <a:lnTo>
                    <a:pt x="272465" y="23698"/>
                  </a:lnTo>
                  <a:lnTo>
                    <a:pt x="272072" y="23431"/>
                  </a:lnTo>
                  <a:lnTo>
                    <a:pt x="269659" y="21856"/>
                  </a:lnTo>
                  <a:lnTo>
                    <a:pt x="228714" y="8547"/>
                  </a:lnTo>
                  <a:lnTo>
                    <a:pt x="218922" y="10020"/>
                  </a:lnTo>
                  <a:lnTo>
                    <a:pt x="182943" y="37604"/>
                  </a:lnTo>
                  <a:lnTo>
                    <a:pt x="158534" y="75590"/>
                  </a:lnTo>
                  <a:lnTo>
                    <a:pt x="127838" y="143154"/>
                  </a:lnTo>
                  <a:lnTo>
                    <a:pt x="113220" y="182079"/>
                  </a:lnTo>
                  <a:lnTo>
                    <a:pt x="99110" y="223139"/>
                  </a:lnTo>
                  <a:lnTo>
                    <a:pt x="85547" y="265366"/>
                  </a:lnTo>
                  <a:lnTo>
                    <a:pt x="72555" y="307746"/>
                  </a:lnTo>
                  <a:lnTo>
                    <a:pt x="60172" y="349300"/>
                  </a:lnTo>
                  <a:lnTo>
                    <a:pt x="48437" y="389051"/>
                  </a:lnTo>
                  <a:lnTo>
                    <a:pt x="37401" y="425932"/>
                  </a:lnTo>
                  <a:lnTo>
                    <a:pt x="32156" y="443014"/>
                  </a:lnTo>
                  <a:lnTo>
                    <a:pt x="27101" y="458990"/>
                  </a:lnTo>
                  <a:lnTo>
                    <a:pt x="22250" y="473760"/>
                  </a:lnTo>
                  <a:lnTo>
                    <a:pt x="22098" y="474205"/>
                  </a:lnTo>
                  <a:lnTo>
                    <a:pt x="12560" y="408673"/>
                  </a:lnTo>
                  <a:lnTo>
                    <a:pt x="9334" y="406273"/>
                  </a:lnTo>
                  <a:lnTo>
                    <a:pt x="2400" y="407276"/>
                  </a:lnTo>
                  <a:lnTo>
                    <a:pt x="0" y="410502"/>
                  </a:lnTo>
                  <a:lnTo>
                    <a:pt x="14770" y="512038"/>
                  </a:lnTo>
                  <a:lnTo>
                    <a:pt x="27000" y="502564"/>
                  </a:lnTo>
                  <a:lnTo>
                    <a:pt x="95885" y="449199"/>
                  </a:lnTo>
                  <a:lnTo>
                    <a:pt x="96393" y="445211"/>
                  </a:lnTo>
                  <a:lnTo>
                    <a:pt x="92100" y="439661"/>
                  </a:lnTo>
                  <a:lnTo>
                    <a:pt x="88112" y="439153"/>
                  </a:lnTo>
                  <a:lnTo>
                    <a:pt x="32842" y="481965"/>
                  </a:lnTo>
                  <a:lnTo>
                    <a:pt x="34264" y="477862"/>
                  </a:lnTo>
                  <a:lnTo>
                    <a:pt x="49542" y="429641"/>
                  </a:lnTo>
                  <a:lnTo>
                    <a:pt x="61683" y="389026"/>
                  </a:lnTo>
                  <a:lnTo>
                    <a:pt x="72339" y="352920"/>
                  </a:lnTo>
                  <a:lnTo>
                    <a:pt x="84696" y="311442"/>
                  </a:lnTo>
                  <a:lnTo>
                    <a:pt x="97650" y="269201"/>
                  </a:lnTo>
                  <a:lnTo>
                    <a:pt x="111150" y="227215"/>
                  </a:lnTo>
                  <a:lnTo>
                    <a:pt x="125145" y="186461"/>
                  </a:lnTo>
                  <a:lnTo>
                    <a:pt x="139598" y="147967"/>
                  </a:lnTo>
                  <a:lnTo>
                    <a:pt x="154482" y="112661"/>
                  </a:lnTo>
                  <a:lnTo>
                    <a:pt x="162039" y="96596"/>
                  </a:lnTo>
                  <a:lnTo>
                    <a:pt x="169646" y="81749"/>
                  </a:lnTo>
                  <a:lnTo>
                    <a:pt x="177317" y="68237"/>
                  </a:lnTo>
                  <a:lnTo>
                    <a:pt x="185013" y="56210"/>
                  </a:lnTo>
                  <a:lnTo>
                    <a:pt x="185115" y="56032"/>
                  </a:lnTo>
                  <a:lnTo>
                    <a:pt x="185254" y="55854"/>
                  </a:lnTo>
                  <a:lnTo>
                    <a:pt x="192684" y="45796"/>
                  </a:lnTo>
                  <a:lnTo>
                    <a:pt x="192836" y="45593"/>
                  </a:lnTo>
                  <a:lnTo>
                    <a:pt x="192646" y="45796"/>
                  </a:lnTo>
                  <a:lnTo>
                    <a:pt x="192989" y="45377"/>
                  </a:lnTo>
                  <a:lnTo>
                    <a:pt x="192836" y="45593"/>
                  </a:lnTo>
                  <a:lnTo>
                    <a:pt x="193027" y="45377"/>
                  </a:lnTo>
                  <a:lnTo>
                    <a:pt x="200279" y="37147"/>
                  </a:lnTo>
                  <a:lnTo>
                    <a:pt x="200494" y="36906"/>
                  </a:lnTo>
                  <a:lnTo>
                    <a:pt x="200787" y="36626"/>
                  </a:lnTo>
                  <a:lnTo>
                    <a:pt x="207733" y="30353"/>
                  </a:lnTo>
                  <a:lnTo>
                    <a:pt x="208026" y="30086"/>
                  </a:lnTo>
                  <a:lnTo>
                    <a:pt x="208508" y="29768"/>
                  </a:lnTo>
                  <a:lnTo>
                    <a:pt x="214985" y="25476"/>
                  </a:lnTo>
                  <a:lnTo>
                    <a:pt x="215341" y="25234"/>
                  </a:lnTo>
                  <a:lnTo>
                    <a:pt x="216166" y="24892"/>
                  </a:lnTo>
                  <a:lnTo>
                    <a:pt x="222059" y="22466"/>
                  </a:lnTo>
                  <a:lnTo>
                    <a:pt x="222338" y="22352"/>
                  </a:lnTo>
                  <a:lnTo>
                    <a:pt x="224294" y="22059"/>
                  </a:lnTo>
                  <a:lnTo>
                    <a:pt x="229222" y="21310"/>
                  </a:lnTo>
                  <a:lnTo>
                    <a:pt x="236461" y="21818"/>
                  </a:lnTo>
                  <a:lnTo>
                    <a:pt x="244144" y="23596"/>
                  </a:lnTo>
                  <a:lnTo>
                    <a:pt x="252133" y="26644"/>
                  </a:lnTo>
                  <a:lnTo>
                    <a:pt x="252387" y="26784"/>
                  </a:lnTo>
                  <a:lnTo>
                    <a:pt x="260413" y="30975"/>
                  </a:lnTo>
                  <a:lnTo>
                    <a:pt x="260629" y="31127"/>
                  </a:lnTo>
                  <a:lnTo>
                    <a:pt x="268947" y="36576"/>
                  </a:lnTo>
                  <a:lnTo>
                    <a:pt x="269138" y="36715"/>
                  </a:lnTo>
                  <a:lnTo>
                    <a:pt x="277749" y="43421"/>
                  </a:lnTo>
                  <a:lnTo>
                    <a:pt x="277888" y="43548"/>
                  </a:lnTo>
                  <a:lnTo>
                    <a:pt x="286727" y="51460"/>
                  </a:lnTo>
                  <a:lnTo>
                    <a:pt x="314718" y="82346"/>
                  </a:lnTo>
                  <a:lnTo>
                    <a:pt x="353834" y="137426"/>
                  </a:lnTo>
                  <a:lnTo>
                    <a:pt x="353949" y="137604"/>
                  </a:lnTo>
                  <a:lnTo>
                    <a:pt x="374103" y="170218"/>
                  </a:lnTo>
                  <a:lnTo>
                    <a:pt x="394677" y="205879"/>
                  </a:lnTo>
                  <a:lnTo>
                    <a:pt x="415544" y="244094"/>
                  </a:lnTo>
                  <a:lnTo>
                    <a:pt x="436638" y="284454"/>
                  </a:lnTo>
                  <a:lnTo>
                    <a:pt x="457974" y="326720"/>
                  </a:lnTo>
                  <a:lnTo>
                    <a:pt x="479437" y="370357"/>
                  </a:lnTo>
                  <a:lnTo>
                    <a:pt x="501053" y="415150"/>
                  </a:lnTo>
                  <a:lnTo>
                    <a:pt x="544499" y="506590"/>
                  </a:lnTo>
                  <a:lnTo>
                    <a:pt x="555967" y="501142"/>
                  </a:lnTo>
                  <a:close/>
                </a:path>
                <a:path w="4784090" h="515620">
                  <a:moveTo>
                    <a:pt x="1209586" y="504266"/>
                  </a:moveTo>
                  <a:lnTo>
                    <a:pt x="1168730" y="418274"/>
                  </a:lnTo>
                  <a:lnTo>
                    <a:pt x="1166126" y="412800"/>
                  </a:lnTo>
                  <a:lnTo>
                    <a:pt x="1144485" y="367944"/>
                  </a:lnTo>
                  <a:lnTo>
                    <a:pt x="1125715" y="329793"/>
                  </a:lnTo>
                  <a:lnTo>
                    <a:pt x="1122946" y="324154"/>
                  </a:lnTo>
                  <a:lnTo>
                    <a:pt x="1104468" y="287553"/>
                  </a:lnTo>
                  <a:lnTo>
                    <a:pt x="1101559" y="281787"/>
                  </a:lnTo>
                  <a:lnTo>
                    <a:pt x="1083449" y="247142"/>
                  </a:lnTo>
                  <a:lnTo>
                    <a:pt x="1080350" y="241211"/>
                  </a:lnTo>
                  <a:lnTo>
                    <a:pt x="1062723" y="208927"/>
                  </a:lnTo>
                  <a:lnTo>
                    <a:pt x="1059370" y="202780"/>
                  </a:lnTo>
                  <a:lnTo>
                    <a:pt x="1038631" y="166839"/>
                  </a:lnTo>
                  <a:lnTo>
                    <a:pt x="1018184" y="133743"/>
                  </a:lnTo>
                  <a:lnTo>
                    <a:pt x="1002906" y="111074"/>
                  </a:lnTo>
                  <a:lnTo>
                    <a:pt x="998042" y="103847"/>
                  </a:lnTo>
                  <a:lnTo>
                    <a:pt x="984084" y="85305"/>
                  </a:lnTo>
                  <a:lnTo>
                    <a:pt x="978217" y="77495"/>
                  </a:lnTo>
                  <a:lnTo>
                    <a:pt x="966139" y="63576"/>
                  </a:lnTo>
                  <a:lnTo>
                    <a:pt x="958773" y="55079"/>
                  </a:lnTo>
                  <a:lnTo>
                    <a:pt x="958151" y="54457"/>
                  </a:lnTo>
                  <a:lnTo>
                    <a:pt x="950112" y="46405"/>
                  </a:lnTo>
                  <a:lnTo>
                    <a:pt x="949083" y="45364"/>
                  </a:lnTo>
                  <a:lnTo>
                    <a:pt x="942581" y="39547"/>
                  </a:lnTo>
                  <a:lnTo>
                    <a:pt x="939507" y="36791"/>
                  </a:lnTo>
                  <a:lnTo>
                    <a:pt x="925690" y="26568"/>
                  </a:lnTo>
                  <a:lnTo>
                    <a:pt x="923277" y="24980"/>
                  </a:lnTo>
                  <a:lnTo>
                    <a:pt x="923048" y="24841"/>
                  </a:lnTo>
                  <a:lnTo>
                    <a:pt x="922299" y="24345"/>
                  </a:lnTo>
                  <a:lnTo>
                    <a:pt x="920470" y="23139"/>
                  </a:lnTo>
                  <a:lnTo>
                    <a:pt x="910983" y="18173"/>
                  </a:lnTo>
                  <a:lnTo>
                    <a:pt x="901484" y="14554"/>
                  </a:lnTo>
                  <a:lnTo>
                    <a:pt x="891971" y="12344"/>
                  </a:lnTo>
                  <a:lnTo>
                    <a:pt x="882332" y="11684"/>
                  </a:lnTo>
                  <a:lnTo>
                    <a:pt x="872540" y="13144"/>
                  </a:lnTo>
                  <a:lnTo>
                    <a:pt x="836561" y="40741"/>
                  </a:lnTo>
                  <a:lnTo>
                    <a:pt x="812152" y="78727"/>
                  </a:lnTo>
                  <a:lnTo>
                    <a:pt x="781469" y="146278"/>
                  </a:lnTo>
                  <a:lnTo>
                    <a:pt x="766838" y="185216"/>
                  </a:lnTo>
                  <a:lnTo>
                    <a:pt x="752729" y="226275"/>
                  </a:lnTo>
                  <a:lnTo>
                    <a:pt x="739165" y="268490"/>
                  </a:lnTo>
                  <a:lnTo>
                    <a:pt x="726173" y="310870"/>
                  </a:lnTo>
                  <a:lnTo>
                    <a:pt x="713790" y="352425"/>
                  </a:lnTo>
                  <a:lnTo>
                    <a:pt x="702056" y="392163"/>
                  </a:lnTo>
                  <a:lnTo>
                    <a:pt x="691019" y="429069"/>
                  </a:lnTo>
                  <a:lnTo>
                    <a:pt x="685774" y="446138"/>
                  </a:lnTo>
                  <a:lnTo>
                    <a:pt x="680720" y="462127"/>
                  </a:lnTo>
                  <a:lnTo>
                    <a:pt x="675868" y="476885"/>
                  </a:lnTo>
                  <a:lnTo>
                    <a:pt x="675716" y="477329"/>
                  </a:lnTo>
                  <a:lnTo>
                    <a:pt x="671233" y="490296"/>
                  </a:lnTo>
                  <a:lnTo>
                    <a:pt x="667156" y="501269"/>
                  </a:lnTo>
                  <a:lnTo>
                    <a:pt x="671220" y="490296"/>
                  </a:lnTo>
                  <a:lnTo>
                    <a:pt x="675716" y="477329"/>
                  </a:lnTo>
                  <a:lnTo>
                    <a:pt x="666178" y="411797"/>
                  </a:lnTo>
                  <a:lnTo>
                    <a:pt x="662952" y="409397"/>
                  </a:lnTo>
                  <a:lnTo>
                    <a:pt x="656018" y="410413"/>
                  </a:lnTo>
                  <a:lnTo>
                    <a:pt x="653618" y="413626"/>
                  </a:lnTo>
                  <a:lnTo>
                    <a:pt x="668388" y="515175"/>
                  </a:lnTo>
                  <a:lnTo>
                    <a:pt x="680618" y="505688"/>
                  </a:lnTo>
                  <a:lnTo>
                    <a:pt x="749503" y="452323"/>
                  </a:lnTo>
                  <a:lnTo>
                    <a:pt x="750011" y="448335"/>
                  </a:lnTo>
                  <a:lnTo>
                    <a:pt x="745718" y="442798"/>
                  </a:lnTo>
                  <a:lnTo>
                    <a:pt x="741730" y="442290"/>
                  </a:lnTo>
                  <a:lnTo>
                    <a:pt x="686473" y="485101"/>
                  </a:lnTo>
                  <a:lnTo>
                    <a:pt x="687882" y="480999"/>
                  </a:lnTo>
                  <a:lnTo>
                    <a:pt x="699058" y="446138"/>
                  </a:lnTo>
                  <a:lnTo>
                    <a:pt x="703173" y="432777"/>
                  </a:lnTo>
                  <a:lnTo>
                    <a:pt x="704278" y="429069"/>
                  </a:lnTo>
                  <a:lnTo>
                    <a:pt x="715302" y="392163"/>
                  </a:lnTo>
                  <a:lnTo>
                    <a:pt x="725957" y="356057"/>
                  </a:lnTo>
                  <a:lnTo>
                    <a:pt x="738314" y="314579"/>
                  </a:lnTo>
                  <a:lnTo>
                    <a:pt x="751268" y="272338"/>
                  </a:lnTo>
                  <a:lnTo>
                    <a:pt x="764768" y="230339"/>
                  </a:lnTo>
                  <a:lnTo>
                    <a:pt x="778764" y="189585"/>
                  </a:lnTo>
                  <a:lnTo>
                    <a:pt x="793216" y="151104"/>
                  </a:lnTo>
                  <a:lnTo>
                    <a:pt x="808101" y="115798"/>
                  </a:lnTo>
                  <a:lnTo>
                    <a:pt x="815657" y="99733"/>
                  </a:lnTo>
                  <a:lnTo>
                    <a:pt x="823277" y="84874"/>
                  </a:lnTo>
                  <a:lnTo>
                    <a:pt x="830935" y="71361"/>
                  </a:lnTo>
                  <a:lnTo>
                    <a:pt x="838631" y="59334"/>
                  </a:lnTo>
                  <a:lnTo>
                    <a:pt x="838847" y="58991"/>
                  </a:lnTo>
                  <a:lnTo>
                    <a:pt x="838733" y="59182"/>
                  </a:lnTo>
                  <a:lnTo>
                    <a:pt x="838873" y="58991"/>
                  </a:lnTo>
                  <a:lnTo>
                    <a:pt x="846302" y="48933"/>
                  </a:lnTo>
                  <a:lnTo>
                    <a:pt x="846455" y="48717"/>
                  </a:lnTo>
                  <a:lnTo>
                    <a:pt x="846264" y="48933"/>
                  </a:lnTo>
                  <a:lnTo>
                    <a:pt x="846620" y="48501"/>
                  </a:lnTo>
                  <a:lnTo>
                    <a:pt x="846455" y="48717"/>
                  </a:lnTo>
                  <a:lnTo>
                    <a:pt x="846645" y="48501"/>
                  </a:lnTo>
                  <a:lnTo>
                    <a:pt x="853897" y="40271"/>
                  </a:lnTo>
                  <a:lnTo>
                    <a:pt x="854113" y="40030"/>
                  </a:lnTo>
                  <a:lnTo>
                    <a:pt x="854417" y="39763"/>
                  </a:lnTo>
                  <a:lnTo>
                    <a:pt x="861364" y="33477"/>
                  </a:lnTo>
                  <a:lnTo>
                    <a:pt x="861656" y="33210"/>
                  </a:lnTo>
                  <a:lnTo>
                    <a:pt x="862126" y="32893"/>
                  </a:lnTo>
                  <a:lnTo>
                    <a:pt x="868603" y="28600"/>
                  </a:lnTo>
                  <a:lnTo>
                    <a:pt x="868959" y="28359"/>
                  </a:lnTo>
                  <a:lnTo>
                    <a:pt x="869784" y="28016"/>
                  </a:lnTo>
                  <a:lnTo>
                    <a:pt x="875677" y="25590"/>
                  </a:lnTo>
                  <a:lnTo>
                    <a:pt x="875944" y="25476"/>
                  </a:lnTo>
                  <a:lnTo>
                    <a:pt x="877912" y="25184"/>
                  </a:lnTo>
                  <a:lnTo>
                    <a:pt x="882827" y="24447"/>
                  </a:lnTo>
                  <a:lnTo>
                    <a:pt x="890079" y="24955"/>
                  </a:lnTo>
                  <a:lnTo>
                    <a:pt x="897763" y="26720"/>
                  </a:lnTo>
                  <a:lnTo>
                    <a:pt x="905764" y="29781"/>
                  </a:lnTo>
                  <a:lnTo>
                    <a:pt x="906005" y="29908"/>
                  </a:lnTo>
                  <a:lnTo>
                    <a:pt x="914031" y="34112"/>
                  </a:lnTo>
                  <a:lnTo>
                    <a:pt x="914247" y="34251"/>
                  </a:lnTo>
                  <a:lnTo>
                    <a:pt x="922566" y="39700"/>
                  </a:lnTo>
                  <a:lnTo>
                    <a:pt x="922756" y="39852"/>
                  </a:lnTo>
                  <a:lnTo>
                    <a:pt x="931354" y="46545"/>
                  </a:lnTo>
                  <a:lnTo>
                    <a:pt x="931506" y="46685"/>
                  </a:lnTo>
                  <a:lnTo>
                    <a:pt x="940346" y="54584"/>
                  </a:lnTo>
                  <a:lnTo>
                    <a:pt x="940460" y="54711"/>
                  </a:lnTo>
                  <a:lnTo>
                    <a:pt x="949452" y="63728"/>
                  </a:lnTo>
                  <a:lnTo>
                    <a:pt x="949591" y="63893"/>
                  </a:lnTo>
                  <a:lnTo>
                    <a:pt x="968336" y="85483"/>
                  </a:lnTo>
                  <a:lnTo>
                    <a:pt x="1007440" y="140525"/>
                  </a:lnTo>
                  <a:lnTo>
                    <a:pt x="1007567" y="140728"/>
                  </a:lnTo>
                  <a:lnTo>
                    <a:pt x="1027734" y="173367"/>
                  </a:lnTo>
                  <a:lnTo>
                    <a:pt x="1048296" y="209003"/>
                  </a:lnTo>
                  <a:lnTo>
                    <a:pt x="1069162" y="247218"/>
                  </a:lnTo>
                  <a:lnTo>
                    <a:pt x="1090256" y="287591"/>
                  </a:lnTo>
                  <a:lnTo>
                    <a:pt x="1111567" y="329819"/>
                  </a:lnTo>
                  <a:lnTo>
                    <a:pt x="1133055" y="373481"/>
                  </a:lnTo>
                  <a:lnTo>
                    <a:pt x="1154671" y="418274"/>
                  </a:lnTo>
                  <a:lnTo>
                    <a:pt x="1198118" y="509714"/>
                  </a:lnTo>
                  <a:lnTo>
                    <a:pt x="1209586" y="504266"/>
                  </a:lnTo>
                  <a:close/>
                </a:path>
                <a:path w="4784090" h="515620">
                  <a:moveTo>
                    <a:pt x="1644510" y="24955"/>
                  </a:moveTo>
                  <a:lnTo>
                    <a:pt x="1644370" y="24892"/>
                  </a:lnTo>
                  <a:lnTo>
                    <a:pt x="1643367" y="24371"/>
                  </a:lnTo>
                  <a:lnTo>
                    <a:pt x="1640217" y="22733"/>
                  </a:lnTo>
                  <a:lnTo>
                    <a:pt x="1628609" y="17919"/>
                  </a:lnTo>
                  <a:lnTo>
                    <a:pt x="1617065" y="14427"/>
                  </a:lnTo>
                  <a:lnTo>
                    <a:pt x="1605610" y="12319"/>
                  </a:lnTo>
                  <a:lnTo>
                    <a:pt x="1594129" y="11696"/>
                  </a:lnTo>
                  <a:lnTo>
                    <a:pt x="1582559" y="13068"/>
                  </a:lnTo>
                  <a:lnTo>
                    <a:pt x="1538693" y="39865"/>
                  </a:lnTo>
                  <a:lnTo>
                    <a:pt x="1508277" y="77368"/>
                  </a:lnTo>
                  <a:lnTo>
                    <a:pt x="1469999" y="144132"/>
                  </a:lnTo>
                  <a:lnTo>
                    <a:pt x="1451762" y="182600"/>
                  </a:lnTo>
                  <a:lnTo>
                    <a:pt x="1434172" y="223177"/>
                  </a:lnTo>
                  <a:lnTo>
                    <a:pt x="1417256" y="264871"/>
                  </a:lnTo>
                  <a:lnTo>
                    <a:pt x="1401051" y="306743"/>
                  </a:lnTo>
                  <a:lnTo>
                    <a:pt x="1385620" y="347764"/>
                  </a:lnTo>
                  <a:lnTo>
                    <a:pt x="1371003" y="386994"/>
                  </a:lnTo>
                  <a:lnTo>
                    <a:pt x="1357249" y="423430"/>
                  </a:lnTo>
                  <a:lnTo>
                    <a:pt x="1350721" y="440283"/>
                  </a:lnTo>
                  <a:lnTo>
                    <a:pt x="1344409" y="456095"/>
                  </a:lnTo>
                  <a:lnTo>
                    <a:pt x="1338389" y="470623"/>
                  </a:lnTo>
                  <a:lnTo>
                    <a:pt x="1338021" y="471449"/>
                  </a:lnTo>
                  <a:lnTo>
                    <a:pt x="1334338" y="405752"/>
                  </a:lnTo>
                  <a:lnTo>
                    <a:pt x="1331341" y="403072"/>
                  </a:lnTo>
                  <a:lnTo>
                    <a:pt x="1324330" y="403466"/>
                  </a:lnTo>
                  <a:lnTo>
                    <a:pt x="1321650" y="406463"/>
                  </a:lnTo>
                  <a:lnTo>
                    <a:pt x="1327416" y="508914"/>
                  </a:lnTo>
                  <a:lnTo>
                    <a:pt x="1340700" y="500380"/>
                  </a:lnTo>
                  <a:lnTo>
                    <a:pt x="1413751" y="453466"/>
                  </a:lnTo>
                  <a:lnTo>
                    <a:pt x="1414614" y="449541"/>
                  </a:lnTo>
                  <a:lnTo>
                    <a:pt x="1410817" y="443636"/>
                  </a:lnTo>
                  <a:lnTo>
                    <a:pt x="1406893" y="442785"/>
                  </a:lnTo>
                  <a:lnTo>
                    <a:pt x="1347838" y="480695"/>
                  </a:lnTo>
                  <a:lnTo>
                    <a:pt x="1350048" y="475653"/>
                  </a:lnTo>
                  <a:lnTo>
                    <a:pt x="1352143" y="470623"/>
                  </a:lnTo>
                  <a:lnTo>
                    <a:pt x="1356182" y="460883"/>
                  </a:lnTo>
                  <a:lnTo>
                    <a:pt x="1358099" y="456057"/>
                  </a:lnTo>
                  <a:lnTo>
                    <a:pt x="1362532" y="444957"/>
                  </a:lnTo>
                  <a:lnTo>
                    <a:pt x="1364335" y="440283"/>
                  </a:lnTo>
                  <a:lnTo>
                    <a:pt x="1369110" y="428002"/>
                  </a:lnTo>
                  <a:lnTo>
                    <a:pt x="1370825" y="423430"/>
                  </a:lnTo>
                  <a:lnTo>
                    <a:pt x="1382890" y="391477"/>
                  </a:lnTo>
                  <a:lnTo>
                    <a:pt x="1384554" y="386994"/>
                  </a:lnTo>
                  <a:lnTo>
                    <a:pt x="1397508" y="352234"/>
                  </a:lnTo>
                  <a:lnTo>
                    <a:pt x="1412913" y="311289"/>
                  </a:lnTo>
                  <a:lnTo>
                    <a:pt x="1429080" y="269506"/>
                  </a:lnTo>
                  <a:lnTo>
                    <a:pt x="1445856" y="228155"/>
                  </a:lnTo>
                  <a:lnTo>
                    <a:pt x="1463294" y="187947"/>
                  </a:lnTo>
                  <a:lnTo>
                    <a:pt x="1481277" y="149974"/>
                  </a:lnTo>
                  <a:lnTo>
                    <a:pt x="1499819" y="115138"/>
                  </a:lnTo>
                  <a:lnTo>
                    <a:pt x="1509217" y="99288"/>
                  </a:lnTo>
                  <a:lnTo>
                    <a:pt x="1518704" y="84645"/>
                  </a:lnTo>
                  <a:lnTo>
                    <a:pt x="1528241" y="71310"/>
                  </a:lnTo>
                  <a:lnTo>
                    <a:pt x="1537830" y="59423"/>
                  </a:lnTo>
                  <a:lnTo>
                    <a:pt x="1537957" y="59270"/>
                  </a:lnTo>
                  <a:lnTo>
                    <a:pt x="1538135" y="59080"/>
                  </a:lnTo>
                  <a:lnTo>
                    <a:pt x="1547418" y="49123"/>
                  </a:lnTo>
                  <a:lnTo>
                    <a:pt x="1547596" y="48933"/>
                  </a:lnTo>
                  <a:lnTo>
                    <a:pt x="1547393" y="49123"/>
                  </a:lnTo>
                  <a:lnTo>
                    <a:pt x="1547787" y="48729"/>
                  </a:lnTo>
                  <a:lnTo>
                    <a:pt x="1547596" y="48933"/>
                  </a:lnTo>
                  <a:lnTo>
                    <a:pt x="1547825" y="48729"/>
                  </a:lnTo>
                  <a:lnTo>
                    <a:pt x="1556969" y="40500"/>
                  </a:lnTo>
                  <a:lnTo>
                    <a:pt x="1557197" y="40297"/>
                  </a:lnTo>
                  <a:lnTo>
                    <a:pt x="1557528" y="40068"/>
                  </a:lnTo>
                  <a:lnTo>
                    <a:pt x="1566430" y="33680"/>
                  </a:lnTo>
                  <a:lnTo>
                    <a:pt x="1566722" y="33477"/>
                  </a:lnTo>
                  <a:lnTo>
                    <a:pt x="1585087" y="25603"/>
                  </a:lnTo>
                  <a:lnTo>
                    <a:pt x="1585315" y="25527"/>
                  </a:lnTo>
                  <a:lnTo>
                    <a:pt x="1586953" y="25336"/>
                  </a:lnTo>
                  <a:lnTo>
                    <a:pt x="1594523" y="24434"/>
                  </a:lnTo>
                  <a:lnTo>
                    <a:pt x="1604098" y="24955"/>
                  </a:lnTo>
                  <a:lnTo>
                    <a:pt x="1604276" y="24955"/>
                  </a:lnTo>
                  <a:lnTo>
                    <a:pt x="1644510" y="24955"/>
                  </a:lnTo>
                  <a:close/>
                </a:path>
                <a:path w="4784090" h="515620">
                  <a:moveTo>
                    <a:pt x="2000135" y="497573"/>
                  </a:moveTo>
                  <a:lnTo>
                    <a:pt x="1945982" y="407250"/>
                  </a:lnTo>
                  <a:lnTo>
                    <a:pt x="1923034" y="369582"/>
                  </a:lnTo>
                  <a:lnTo>
                    <a:pt x="1918995" y="362953"/>
                  </a:lnTo>
                  <a:lnTo>
                    <a:pt x="1896338" y="326440"/>
                  </a:lnTo>
                  <a:lnTo>
                    <a:pt x="1892160" y="319722"/>
                  </a:lnTo>
                  <a:lnTo>
                    <a:pt x="1869871" y="284746"/>
                  </a:lnTo>
                  <a:lnTo>
                    <a:pt x="1865503" y="277876"/>
                  </a:lnTo>
                  <a:lnTo>
                    <a:pt x="1843722" y="244856"/>
                  </a:lnTo>
                  <a:lnTo>
                    <a:pt x="1839074" y="237807"/>
                  </a:lnTo>
                  <a:lnTo>
                    <a:pt x="1817928" y="207124"/>
                  </a:lnTo>
                  <a:lnTo>
                    <a:pt x="1792579" y="171907"/>
                  </a:lnTo>
                  <a:lnTo>
                    <a:pt x="1767763" y="139585"/>
                  </a:lnTo>
                  <a:lnTo>
                    <a:pt x="1736483" y="102158"/>
                  </a:lnTo>
                  <a:lnTo>
                    <a:pt x="1698028" y="63576"/>
                  </a:lnTo>
                  <a:lnTo>
                    <a:pt x="1688134" y="54546"/>
                  </a:lnTo>
                  <a:lnTo>
                    <a:pt x="1687601" y="54051"/>
                  </a:lnTo>
                  <a:lnTo>
                    <a:pt x="1678165" y="46558"/>
                  </a:lnTo>
                  <a:lnTo>
                    <a:pt x="1675574" y="44500"/>
                  </a:lnTo>
                  <a:lnTo>
                    <a:pt x="1668856" y="39738"/>
                  </a:lnTo>
                  <a:lnTo>
                    <a:pt x="1663700" y="36080"/>
                  </a:lnTo>
                  <a:lnTo>
                    <a:pt x="1660537" y="34124"/>
                  </a:lnTo>
                  <a:lnTo>
                    <a:pt x="1653476" y="29768"/>
                  </a:lnTo>
                  <a:lnTo>
                    <a:pt x="1651914" y="28803"/>
                  </a:lnTo>
                  <a:lnTo>
                    <a:pt x="1648155" y="26847"/>
                  </a:lnTo>
                  <a:lnTo>
                    <a:pt x="1647825" y="26682"/>
                  </a:lnTo>
                  <a:lnTo>
                    <a:pt x="1644548" y="24980"/>
                  </a:lnTo>
                  <a:lnTo>
                    <a:pt x="1604505" y="24980"/>
                  </a:lnTo>
                  <a:lnTo>
                    <a:pt x="1604225" y="24980"/>
                  </a:lnTo>
                  <a:lnTo>
                    <a:pt x="1614068" y="26784"/>
                  </a:lnTo>
                  <a:lnTo>
                    <a:pt x="1656689" y="46672"/>
                  </a:lnTo>
                  <a:lnTo>
                    <a:pt x="1656829" y="46774"/>
                  </a:lnTo>
                  <a:lnTo>
                    <a:pt x="1667941" y="54660"/>
                  </a:lnTo>
                  <a:lnTo>
                    <a:pt x="1668068" y="54762"/>
                  </a:lnTo>
                  <a:lnTo>
                    <a:pt x="1679359" y="63728"/>
                  </a:lnTo>
                  <a:lnTo>
                    <a:pt x="1679498" y="63868"/>
                  </a:lnTo>
                  <a:lnTo>
                    <a:pt x="1702904" y="85229"/>
                  </a:lnTo>
                  <a:lnTo>
                    <a:pt x="1703044" y="85382"/>
                  </a:lnTo>
                  <a:lnTo>
                    <a:pt x="1727047" y="110667"/>
                  </a:lnTo>
                  <a:lnTo>
                    <a:pt x="1751749" y="139712"/>
                  </a:lnTo>
                  <a:lnTo>
                    <a:pt x="1776920" y="171983"/>
                  </a:lnTo>
                  <a:lnTo>
                    <a:pt x="1802498" y="207124"/>
                  </a:lnTo>
                  <a:lnTo>
                    <a:pt x="1802599" y="207251"/>
                  </a:lnTo>
                  <a:lnTo>
                    <a:pt x="1828507" y="244881"/>
                  </a:lnTo>
                  <a:lnTo>
                    <a:pt x="1854835" y="284784"/>
                  </a:lnTo>
                  <a:lnTo>
                    <a:pt x="1881428" y="326504"/>
                  </a:lnTo>
                  <a:lnTo>
                    <a:pt x="1908162" y="369582"/>
                  </a:lnTo>
                  <a:lnTo>
                    <a:pt x="1935099" y="413804"/>
                  </a:lnTo>
                  <a:lnTo>
                    <a:pt x="1989251" y="504101"/>
                  </a:lnTo>
                  <a:lnTo>
                    <a:pt x="2000135" y="497573"/>
                  </a:lnTo>
                  <a:close/>
                </a:path>
                <a:path w="4784090" h="515620">
                  <a:moveTo>
                    <a:pt x="2725229" y="497687"/>
                  </a:moveTo>
                  <a:lnTo>
                    <a:pt x="2679560" y="411162"/>
                  </a:lnTo>
                  <a:lnTo>
                    <a:pt x="2676423" y="405218"/>
                  </a:lnTo>
                  <a:lnTo>
                    <a:pt x="2655341" y="365887"/>
                  </a:lnTo>
                  <a:lnTo>
                    <a:pt x="2652115" y="359867"/>
                  </a:lnTo>
                  <a:lnTo>
                    <a:pt x="2631262" y="321716"/>
                  </a:lnTo>
                  <a:lnTo>
                    <a:pt x="2627922" y="315595"/>
                  </a:lnTo>
                  <a:lnTo>
                    <a:pt x="2607411" y="279019"/>
                  </a:lnTo>
                  <a:lnTo>
                    <a:pt x="2583815" y="238175"/>
                  </a:lnTo>
                  <a:lnTo>
                    <a:pt x="2560548" y="199542"/>
                  </a:lnTo>
                  <a:lnTo>
                    <a:pt x="2537676" y="163487"/>
                  </a:lnTo>
                  <a:lnTo>
                    <a:pt x="2515273" y="130390"/>
                  </a:lnTo>
                  <a:lnTo>
                    <a:pt x="2487638" y="92875"/>
                  </a:lnTo>
                  <a:lnTo>
                    <a:pt x="2472334" y="74561"/>
                  </a:lnTo>
                  <a:lnTo>
                    <a:pt x="2465387" y="66243"/>
                  </a:lnTo>
                  <a:lnTo>
                    <a:pt x="2434234" y="35191"/>
                  </a:lnTo>
                  <a:lnTo>
                    <a:pt x="2425776" y="28232"/>
                  </a:lnTo>
                  <a:lnTo>
                    <a:pt x="2421966" y="25158"/>
                  </a:lnTo>
                  <a:lnTo>
                    <a:pt x="2418207" y="22529"/>
                  </a:lnTo>
                  <a:lnTo>
                    <a:pt x="2411895" y="18097"/>
                  </a:lnTo>
                  <a:lnTo>
                    <a:pt x="2411311" y="17691"/>
                  </a:lnTo>
                  <a:lnTo>
                    <a:pt x="2407081" y="15189"/>
                  </a:lnTo>
                  <a:lnTo>
                    <a:pt x="2406726" y="14986"/>
                  </a:lnTo>
                  <a:lnTo>
                    <a:pt x="2403881" y="13309"/>
                  </a:lnTo>
                  <a:lnTo>
                    <a:pt x="2358580" y="0"/>
                  </a:lnTo>
                  <a:lnTo>
                    <a:pt x="2347887" y="1447"/>
                  </a:lnTo>
                  <a:lnTo>
                    <a:pt x="2307945" y="29095"/>
                  </a:lnTo>
                  <a:lnTo>
                    <a:pt x="2280539" y="67475"/>
                  </a:lnTo>
                  <a:lnTo>
                    <a:pt x="2246058" y="135801"/>
                  </a:lnTo>
                  <a:lnTo>
                    <a:pt x="2229637" y="175171"/>
                  </a:lnTo>
                  <a:lnTo>
                    <a:pt x="2213787" y="216687"/>
                  </a:lnTo>
                  <a:lnTo>
                    <a:pt x="2198547" y="259372"/>
                  </a:lnTo>
                  <a:lnTo>
                    <a:pt x="2183942" y="302221"/>
                  </a:lnTo>
                  <a:lnTo>
                    <a:pt x="2170049" y="344220"/>
                  </a:lnTo>
                  <a:lnTo>
                    <a:pt x="2156866" y="384390"/>
                  </a:lnTo>
                  <a:lnTo>
                    <a:pt x="2144471" y="421703"/>
                  </a:lnTo>
                  <a:lnTo>
                    <a:pt x="2138578" y="438962"/>
                  </a:lnTo>
                  <a:lnTo>
                    <a:pt x="2132914" y="455117"/>
                  </a:lnTo>
                  <a:lnTo>
                    <a:pt x="2127440" y="470077"/>
                  </a:lnTo>
                  <a:lnTo>
                    <a:pt x="2127021" y="471195"/>
                  </a:lnTo>
                  <a:lnTo>
                    <a:pt x="2120049" y="405536"/>
                  </a:lnTo>
                  <a:lnTo>
                    <a:pt x="2116912" y="403009"/>
                  </a:lnTo>
                  <a:lnTo>
                    <a:pt x="2109940" y="403745"/>
                  </a:lnTo>
                  <a:lnTo>
                    <a:pt x="2107412" y="406869"/>
                  </a:lnTo>
                  <a:lnTo>
                    <a:pt x="2118245" y="508914"/>
                  </a:lnTo>
                  <a:lnTo>
                    <a:pt x="2130945" y="499833"/>
                  </a:lnTo>
                  <a:lnTo>
                    <a:pt x="2201735" y="449249"/>
                  </a:lnTo>
                  <a:lnTo>
                    <a:pt x="2202396" y="445287"/>
                  </a:lnTo>
                  <a:lnTo>
                    <a:pt x="2198319" y="439585"/>
                  </a:lnTo>
                  <a:lnTo>
                    <a:pt x="2194356" y="438924"/>
                  </a:lnTo>
                  <a:lnTo>
                    <a:pt x="2137372" y="479640"/>
                  </a:lnTo>
                  <a:lnTo>
                    <a:pt x="2139340" y="474548"/>
                  </a:lnTo>
                  <a:lnTo>
                    <a:pt x="2140978" y="470027"/>
                  </a:lnTo>
                  <a:lnTo>
                    <a:pt x="2144852" y="459435"/>
                  </a:lnTo>
                  <a:lnTo>
                    <a:pt x="2146376" y="455117"/>
                  </a:lnTo>
                  <a:lnTo>
                    <a:pt x="2150580" y="443141"/>
                  </a:lnTo>
                  <a:lnTo>
                    <a:pt x="2152002" y="438962"/>
                  </a:lnTo>
                  <a:lnTo>
                    <a:pt x="2156498" y="425780"/>
                  </a:lnTo>
                  <a:lnTo>
                    <a:pt x="2157857" y="421703"/>
                  </a:lnTo>
                  <a:lnTo>
                    <a:pt x="2168918" y="388378"/>
                  </a:lnTo>
                  <a:lnTo>
                    <a:pt x="2170239" y="384390"/>
                  </a:lnTo>
                  <a:lnTo>
                    <a:pt x="2182101" y="348221"/>
                  </a:lnTo>
                  <a:lnTo>
                    <a:pt x="2195982" y="306285"/>
                  </a:lnTo>
                  <a:lnTo>
                    <a:pt x="2210524" y="263601"/>
                  </a:lnTo>
                  <a:lnTo>
                    <a:pt x="2225675" y="221145"/>
                  </a:lnTo>
                  <a:lnTo>
                    <a:pt x="2241397" y="179971"/>
                  </a:lnTo>
                  <a:lnTo>
                    <a:pt x="2257615" y="141071"/>
                  </a:lnTo>
                  <a:lnTo>
                    <a:pt x="2274328" y="105384"/>
                  </a:lnTo>
                  <a:lnTo>
                    <a:pt x="2282812" y="89154"/>
                  </a:lnTo>
                  <a:lnTo>
                    <a:pt x="2291359" y="74142"/>
                  </a:lnTo>
                  <a:lnTo>
                    <a:pt x="2299970" y="60477"/>
                  </a:lnTo>
                  <a:lnTo>
                    <a:pt x="2308606" y="48310"/>
                  </a:lnTo>
                  <a:lnTo>
                    <a:pt x="2308733" y="48145"/>
                  </a:lnTo>
                  <a:lnTo>
                    <a:pt x="2308593" y="48310"/>
                  </a:lnTo>
                  <a:lnTo>
                    <a:pt x="2308860" y="47967"/>
                  </a:lnTo>
                  <a:lnTo>
                    <a:pt x="2308733" y="48145"/>
                  </a:lnTo>
                  <a:lnTo>
                    <a:pt x="2308872" y="47967"/>
                  </a:lnTo>
                  <a:lnTo>
                    <a:pt x="2317242" y="37782"/>
                  </a:lnTo>
                  <a:lnTo>
                    <a:pt x="2317394" y="37592"/>
                  </a:lnTo>
                  <a:lnTo>
                    <a:pt x="2317204" y="37782"/>
                  </a:lnTo>
                  <a:lnTo>
                    <a:pt x="2317585" y="37363"/>
                  </a:lnTo>
                  <a:lnTo>
                    <a:pt x="2317394" y="37592"/>
                  </a:lnTo>
                  <a:lnTo>
                    <a:pt x="2317610" y="37363"/>
                  </a:lnTo>
                  <a:lnTo>
                    <a:pt x="2325713" y="29095"/>
                  </a:lnTo>
                  <a:lnTo>
                    <a:pt x="2326030" y="28765"/>
                  </a:lnTo>
                  <a:lnTo>
                    <a:pt x="2326348" y="28511"/>
                  </a:lnTo>
                  <a:lnTo>
                    <a:pt x="2334272" y="22059"/>
                  </a:lnTo>
                  <a:lnTo>
                    <a:pt x="2359025" y="12750"/>
                  </a:lnTo>
                  <a:lnTo>
                    <a:pt x="2367432" y="13284"/>
                  </a:lnTo>
                  <a:lnTo>
                    <a:pt x="2376259" y="15113"/>
                  </a:lnTo>
                  <a:lnTo>
                    <a:pt x="2385364" y="18249"/>
                  </a:lnTo>
                  <a:lnTo>
                    <a:pt x="2385606" y="18364"/>
                  </a:lnTo>
                  <a:lnTo>
                    <a:pt x="2394762" y="22669"/>
                  </a:lnTo>
                  <a:lnTo>
                    <a:pt x="2394978" y="22796"/>
                  </a:lnTo>
                  <a:lnTo>
                    <a:pt x="2404440" y="28384"/>
                  </a:lnTo>
                  <a:lnTo>
                    <a:pt x="2404618" y="28498"/>
                  </a:lnTo>
                  <a:lnTo>
                    <a:pt x="2414333" y="35318"/>
                  </a:lnTo>
                  <a:lnTo>
                    <a:pt x="2414486" y="35445"/>
                  </a:lnTo>
                  <a:lnTo>
                    <a:pt x="2424341" y="43383"/>
                  </a:lnTo>
                  <a:lnTo>
                    <a:pt x="2434717" y="52730"/>
                  </a:lnTo>
                  <a:lnTo>
                    <a:pt x="2434869" y="52882"/>
                  </a:lnTo>
                  <a:lnTo>
                    <a:pt x="2455926" y="74739"/>
                  </a:lnTo>
                  <a:lnTo>
                    <a:pt x="2455786" y="74561"/>
                  </a:lnTo>
                  <a:lnTo>
                    <a:pt x="2456091" y="74891"/>
                  </a:lnTo>
                  <a:lnTo>
                    <a:pt x="2477681" y="100761"/>
                  </a:lnTo>
                  <a:lnTo>
                    <a:pt x="2477770" y="100888"/>
                  </a:lnTo>
                  <a:lnTo>
                    <a:pt x="2499944" y="130517"/>
                  </a:lnTo>
                  <a:lnTo>
                    <a:pt x="2522639" y="163563"/>
                  </a:lnTo>
                  <a:lnTo>
                    <a:pt x="2545740" y="199631"/>
                  </a:lnTo>
                  <a:lnTo>
                    <a:pt x="2569146" y="238213"/>
                  </a:lnTo>
                  <a:lnTo>
                    <a:pt x="2592882" y="279095"/>
                  </a:lnTo>
                  <a:lnTo>
                    <a:pt x="2616797" y="321741"/>
                  </a:lnTo>
                  <a:lnTo>
                    <a:pt x="2640927" y="365887"/>
                  </a:lnTo>
                  <a:lnTo>
                    <a:pt x="2665196" y="411162"/>
                  </a:lnTo>
                  <a:lnTo>
                    <a:pt x="2714002" y="503605"/>
                  </a:lnTo>
                  <a:lnTo>
                    <a:pt x="2725229" y="497687"/>
                  </a:lnTo>
                  <a:close/>
                </a:path>
                <a:path w="4784090" h="515620">
                  <a:moveTo>
                    <a:pt x="3272155" y="13296"/>
                  </a:moveTo>
                  <a:lnTo>
                    <a:pt x="3270618" y="12700"/>
                  </a:lnTo>
                  <a:lnTo>
                    <a:pt x="3266427" y="11061"/>
                  </a:lnTo>
                  <a:lnTo>
                    <a:pt x="3250946" y="6223"/>
                  </a:lnTo>
                  <a:lnTo>
                    <a:pt x="3235629" y="2730"/>
                  </a:lnTo>
                  <a:lnTo>
                    <a:pt x="3220504" y="635"/>
                  </a:lnTo>
                  <a:lnTo>
                    <a:pt x="3205492" y="12"/>
                  </a:lnTo>
                  <a:lnTo>
                    <a:pt x="3190494" y="1358"/>
                  </a:lnTo>
                  <a:lnTo>
                    <a:pt x="3146514" y="18630"/>
                  </a:lnTo>
                  <a:lnTo>
                    <a:pt x="3104705" y="52285"/>
                  </a:lnTo>
                  <a:lnTo>
                    <a:pt x="3077908" y="81965"/>
                  </a:lnTo>
                  <a:lnTo>
                    <a:pt x="3039224" y="134848"/>
                  </a:lnTo>
                  <a:lnTo>
                    <a:pt x="3014446" y="174244"/>
                  </a:lnTo>
                  <a:lnTo>
                    <a:pt x="2990545" y="215798"/>
                  </a:lnTo>
                  <a:lnTo>
                    <a:pt x="2967571" y="258508"/>
                  </a:lnTo>
                  <a:lnTo>
                    <a:pt x="2945574" y="301371"/>
                  </a:lnTo>
                  <a:lnTo>
                    <a:pt x="2924606" y="343395"/>
                  </a:lnTo>
                  <a:lnTo>
                    <a:pt x="2904756" y="383552"/>
                  </a:lnTo>
                  <a:lnTo>
                    <a:pt x="2886087" y="420852"/>
                  </a:lnTo>
                  <a:lnTo>
                    <a:pt x="2877223" y="438086"/>
                  </a:lnTo>
                  <a:lnTo>
                    <a:pt x="2868650" y="454279"/>
                  </a:lnTo>
                  <a:lnTo>
                    <a:pt x="2860484" y="469125"/>
                  </a:lnTo>
                  <a:lnTo>
                    <a:pt x="2858439" y="472655"/>
                  </a:lnTo>
                  <a:lnTo>
                    <a:pt x="2863011" y="407441"/>
                  </a:lnTo>
                  <a:lnTo>
                    <a:pt x="2860383" y="404406"/>
                  </a:lnTo>
                  <a:lnTo>
                    <a:pt x="2853385" y="403910"/>
                  </a:lnTo>
                  <a:lnTo>
                    <a:pt x="2850350" y="406552"/>
                  </a:lnTo>
                  <a:lnTo>
                    <a:pt x="2843174" y="508901"/>
                  </a:lnTo>
                  <a:lnTo>
                    <a:pt x="2857525" y="502069"/>
                  </a:lnTo>
                  <a:lnTo>
                    <a:pt x="2935795" y="464769"/>
                  </a:lnTo>
                  <a:lnTo>
                    <a:pt x="2937141" y="460984"/>
                  </a:lnTo>
                  <a:lnTo>
                    <a:pt x="2934131" y="454647"/>
                  </a:lnTo>
                  <a:lnTo>
                    <a:pt x="2930334" y="453301"/>
                  </a:lnTo>
                  <a:lnTo>
                    <a:pt x="2866783" y="483590"/>
                  </a:lnTo>
                  <a:lnTo>
                    <a:pt x="2871508" y="475437"/>
                  </a:lnTo>
                  <a:lnTo>
                    <a:pt x="2874975" y="469125"/>
                  </a:lnTo>
                  <a:lnTo>
                    <a:pt x="2879839" y="460311"/>
                  </a:lnTo>
                  <a:lnTo>
                    <a:pt x="2883052" y="454228"/>
                  </a:lnTo>
                  <a:lnTo>
                    <a:pt x="2888462" y="444004"/>
                  </a:lnTo>
                  <a:lnTo>
                    <a:pt x="2891498" y="438086"/>
                  </a:lnTo>
                  <a:lnTo>
                    <a:pt x="2897403" y="426631"/>
                  </a:lnTo>
                  <a:lnTo>
                    <a:pt x="2900286" y="420852"/>
                  </a:lnTo>
                  <a:lnTo>
                    <a:pt x="2916123" y="389216"/>
                  </a:lnTo>
                  <a:lnTo>
                    <a:pt x="2918930" y="383552"/>
                  </a:lnTo>
                  <a:lnTo>
                    <a:pt x="2935973" y="349059"/>
                  </a:lnTo>
                  <a:lnTo>
                    <a:pt x="2956890" y="307136"/>
                  </a:lnTo>
                  <a:lnTo>
                    <a:pt x="2978785" y="264464"/>
                  </a:lnTo>
                  <a:lnTo>
                    <a:pt x="3001607" y="222046"/>
                  </a:lnTo>
                  <a:lnTo>
                    <a:pt x="3025279" y="180898"/>
                  </a:lnTo>
                  <a:lnTo>
                    <a:pt x="3049701" y="142036"/>
                  </a:lnTo>
                  <a:lnTo>
                    <a:pt x="3074873" y="106375"/>
                  </a:lnTo>
                  <a:lnTo>
                    <a:pt x="3087636" y="90144"/>
                  </a:lnTo>
                  <a:lnTo>
                    <a:pt x="3113532" y="61442"/>
                  </a:lnTo>
                  <a:lnTo>
                    <a:pt x="3126943" y="48933"/>
                  </a:lnTo>
                  <a:lnTo>
                    <a:pt x="3139732" y="38595"/>
                  </a:lnTo>
                  <a:lnTo>
                    <a:pt x="3139910" y="38442"/>
                  </a:lnTo>
                  <a:lnTo>
                    <a:pt x="3140164" y="38277"/>
                  </a:lnTo>
                  <a:lnTo>
                    <a:pt x="3152889" y="29654"/>
                  </a:lnTo>
                  <a:lnTo>
                    <a:pt x="3153118" y="29502"/>
                  </a:lnTo>
                  <a:lnTo>
                    <a:pt x="3153435" y="29324"/>
                  </a:lnTo>
                  <a:lnTo>
                    <a:pt x="3166046" y="22517"/>
                  </a:lnTo>
                  <a:lnTo>
                    <a:pt x="3166300" y="22377"/>
                  </a:lnTo>
                  <a:lnTo>
                    <a:pt x="3166745" y="22199"/>
                  </a:lnTo>
                  <a:lnTo>
                    <a:pt x="3179203" y="17259"/>
                  </a:lnTo>
                  <a:lnTo>
                    <a:pt x="3179457" y="17157"/>
                  </a:lnTo>
                  <a:lnTo>
                    <a:pt x="3180105" y="16992"/>
                  </a:lnTo>
                  <a:lnTo>
                    <a:pt x="3192411" y="13970"/>
                  </a:lnTo>
                  <a:lnTo>
                    <a:pt x="3192576" y="13919"/>
                  </a:lnTo>
                  <a:lnTo>
                    <a:pt x="3193885" y="13804"/>
                  </a:lnTo>
                  <a:lnTo>
                    <a:pt x="3205797" y="12738"/>
                  </a:lnTo>
                  <a:lnTo>
                    <a:pt x="3219373" y="13296"/>
                  </a:lnTo>
                  <a:lnTo>
                    <a:pt x="3219526" y="13296"/>
                  </a:lnTo>
                  <a:lnTo>
                    <a:pt x="3272155" y="13296"/>
                  </a:lnTo>
                  <a:close/>
                </a:path>
                <a:path w="4784090" h="515620">
                  <a:moveTo>
                    <a:pt x="3754323" y="496697"/>
                  </a:moveTo>
                  <a:lnTo>
                    <a:pt x="3687064" y="412153"/>
                  </a:lnTo>
                  <a:lnTo>
                    <a:pt x="3680764" y="404228"/>
                  </a:lnTo>
                  <a:lnTo>
                    <a:pt x="3650589" y="366877"/>
                  </a:lnTo>
                  <a:lnTo>
                    <a:pt x="3644125" y="358876"/>
                  </a:lnTo>
                  <a:lnTo>
                    <a:pt x="3607676" y="314604"/>
                  </a:lnTo>
                  <a:lnTo>
                    <a:pt x="3578441" y="280022"/>
                  </a:lnTo>
                  <a:lnTo>
                    <a:pt x="3571481" y="271780"/>
                  </a:lnTo>
                  <a:lnTo>
                    <a:pt x="3542957" y="239166"/>
                  </a:lnTo>
                  <a:lnTo>
                    <a:pt x="3535591" y="230759"/>
                  </a:lnTo>
                  <a:lnTo>
                    <a:pt x="3507968" y="200533"/>
                  </a:lnTo>
                  <a:lnTo>
                    <a:pt x="3500082" y="191897"/>
                  </a:lnTo>
                  <a:lnTo>
                    <a:pt x="3473589" y="164477"/>
                  </a:lnTo>
                  <a:lnTo>
                    <a:pt x="3465004" y="155575"/>
                  </a:lnTo>
                  <a:lnTo>
                    <a:pt x="3439960" y="131368"/>
                  </a:lnTo>
                  <a:lnTo>
                    <a:pt x="3430409" y="122135"/>
                  </a:lnTo>
                  <a:lnTo>
                    <a:pt x="3407206" y="101574"/>
                  </a:lnTo>
                  <a:lnTo>
                    <a:pt x="3396361" y="91948"/>
                  </a:lnTo>
                  <a:lnTo>
                    <a:pt x="3375596" y="75463"/>
                  </a:lnTo>
                  <a:lnTo>
                    <a:pt x="3362909" y="65379"/>
                  </a:lnTo>
                  <a:lnTo>
                    <a:pt x="3345510" y="53403"/>
                  </a:lnTo>
                  <a:lnTo>
                    <a:pt x="3305835" y="28790"/>
                  </a:lnTo>
                  <a:lnTo>
                    <a:pt x="3297923" y="24561"/>
                  </a:lnTo>
                  <a:lnTo>
                    <a:pt x="3272180" y="13309"/>
                  </a:lnTo>
                  <a:lnTo>
                    <a:pt x="3219678" y="13309"/>
                  </a:lnTo>
                  <a:lnTo>
                    <a:pt x="3219526" y="13309"/>
                  </a:lnTo>
                  <a:lnTo>
                    <a:pt x="3233343" y="15227"/>
                  </a:lnTo>
                  <a:lnTo>
                    <a:pt x="3233509" y="15265"/>
                  </a:lnTo>
                  <a:lnTo>
                    <a:pt x="3247618" y="18491"/>
                  </a:lnTo>
                  <a:lnTo>
                    <a:pt x="3247390" y="18415"/>
                  </a:lnTo>
                  <a:lnTo>
                    <a:pt x="3247872" y="18542"/>
                  </a:lnTo>
                  <a:lnTo>
                    <a:pt x="3262223" y="23050"/>
                  </a:lnTo>
                  <a:lnTo>
                    <a:pt x="3262388" y="23114"/>
                  </a:lnTo>
                  <a:lnTo>
                    <a:pt x="3277070" y="28867"/>
                  </a:lnTo>
                  <a:lnTo>
                    <a:pt x="3277247" y="28943"/>
                  </a:lnTo>
                  <a:lnTo>
                    <a:pt x="3292246" y="35928"/>
                  </a:lnTo>
                  <a:lnTo>
                    <a:pt x="3292386" y="36004"/>
                  </a:lnTo>
                  <a:lnTo>
                    <a:pt x="3307651" y="44157"/>
                  </a:lnTo>
                  <a:lnTo>
                    <a:pt x="3307778" y="44234"/>
                  </a:lnTo>
                  <a:lnTo>
                    <a:pt x="3323272" y="53517"/>
                  </a:lnTo>
                  <a:lnTo>
                    <a:pt x="3323425" y="53619"/>
                  </a:lnTo>
                  <a:lnTo>
                    <a:pt x="3355340" y="75590"/>
                  </a:lnTo>
                  <a:lnTo>
                    <a:pt x="3388195" y="101688"/>
                  </a:lnTo>
                  <a:lnTo>
                    <a:pt x="3421786" y="131470"/>
                  </a:lnTo>
                  <a:lnTo>
                    <a:pt x="3455936" y="164477"/>
                  </a:lnTo>
                  <a:lnTo>
                    <a:pt x="3456089" y="164630"/>
                  </a:lnTo>
                  <a:lnTo>
                    <a:pt x="3490760" y="200533"/>
                  </a:lnTo>
                  <a:lnTo>
                    <a:pt x="3490874" y="200660"/>
                  </a:lnTo>
                  <a:lnTo>
                    <a:pt x="3526104" y="239204"/>
                  </a:lnTo>
                  <a:lnTo>
                    <a:pt x="3561842" y="280060"/>
                  </a:lnTo>
                  <a:lnTo>
                    <a:pt x="3597897" y="322707"/>
                  </a:lnTo>
                  <a:lnTo>
                    <a:pt x="3634308" y="366928"/>
                  </a:lnTo>
                  <a:lnTo>
                    <a:pt x="3670858" y="412178"/>
                  </a:lnTo>
                  <a:lnTo>
                    <a:pt x="3744379" y="504596"/>
                  </a:lnTo>
                  <a:lnTo>
                    <a:pt x="3754323" y="496697"/>
                  </a:lnTo>
                  <a:close/>
                </a:path>
                <a:path w="4784090" h="515620">
                  <a:moveTo>
                    <a:pt x="4301883" y="19558"/>
                  </a:moveTo>
                  <a:lnTo>
                    <a:pt x="4300347" y="18961"/>
                  </a:lnTo>
                  <a:lnTo>
                    <a:pt x="4296156" y="17322"/>
                  </a:lnTo>
                  <a:lnTo>
                    <a:pt x="4280674" y="12484"/>
                  </a:lnTo>
                  <a:lnTo>
                    <a:pt x="4265358" y="8991"/>
                  </a:lnTo>
                  <a:lnTo>
                    <a:pt x="4250233" y="6896"/>
                  </a:lnTo>
                  <a:lnTo>
                    <a:pt x="4235234" y="6273"/>
                  </a:lnTo>
                  <a:lnTo>
                    <a:pt x="4220222" y="7620"/>
                  </a:lnTo>
                  <a:lnTo>
                    <a:pt x="4176242" y="24892"/>
                  </a:lnTo>
                  <a:lnTo>
                    <a:pt x="4134447" y="58547"/>
                  </a:lnTo>
                  <a:lnTo>
                    <a:pt x="4107637" y="88226"/>
                  </a:lnTo>
                  <a:lnTo>
                    <a:pt x="4068953" y="141109"/>
                  </a:lnTo>
                  <a:lnTo>
                    <a:pt x="4044188" y="180505"/>
                  </a:lnTo>
                  <a:lnTo>
                    <a:pt x="4020286" y="222059"/>
                  </a:lnTo>
                  <a:lnTo>
                    <a:pt x="3997299" y="264769"/>
                  </a:lnTo>
                  <a:lnTo>
                    <a:pt x="3975303" y="307632"/>
                  </a:lnTo>
                  <a:lnTo>
                    <a:pt x="3954335" y="349656"/>
                  </a:lnTo>
                  <a:lnTo>
                    <a:pt x="3934472" y="389839"/>
                  </a:lnTo>
                  <a:lnTo>
                    <a:pt x="3915791" y="427164"/>
                  </a:lnTo>
                  <a:lnTo>
                    <a:pt x="3906951" y="444347"/>
                  </a:lnTo>
                  <a:lnTo>
                    <a:pt x="3898379" y="460540"/>
                  </a:lnTo>
                  <a:lnTo>
                    <a:pt x="3890213" y="475386"/>
                  </a:lnTo>
                  <a:lnTo>
                    <a:pt x="3888168" y="478917"/>
                  </a:lnTo>
                  <a:lnTo>
                    <a:pt x="3892740" y="413702"/>
                  </a:lnTo>
                  <a:lnTo>
                    <a:pt x="3890111" y="410667"/>
                  </a:lnTo>
                  <a:lnTo>
                    <a:pt x="3883114" y="410171"/>
                  </a:lnTo>
                  <a:lnTo>
                    <a:pt x="3880078" y="412813"/>
                  </a:lnTo>
                  <a:lnTo>
                    <a:pt x="3872903" y="515162"/>
                  </a:lnTo>
                  <a:lnTo>
                    <a:pt x="3887254" y="508330"/>
                  </a:lnTo>
                  <a:lnTo>
                    <a:pt x="3965537" y="471030"/>
                  </a:lnTo>
                  <a:lnTo>
                    <a:pt x="3966870" y="467245"/>
                  </a:lnTo>
                  <a:lnTo>
                    <a:pt x="3963860" y="460908"/>
                  </a:lnTo>
                  <a:lnTo>
                    <a:pt x="3960076" y="459562"/>
                  </a:lnTo>
                  <a:lnTo>
                    <a:pt x="3896512" y="489851"/>
                  </a:lnTo>
                  <a:lnTo>
                    <a:pt x="3901236" y="481698"/>
                  </a:lnTo>
                  <a:lnTo>
                    <a:pt x="3904716" y="475386"/>
                  </a:lnTo>
                  <a:lnTo>
                    <a:pt x="3909568" y="466572"/>
                  </a:lnTo>
                  <a:lnTo>
                    <a:pt x="3912781" y="460489"/>
                  </a:lnTo>
                  <a:lnTo>
                    <a:pt x="3918191" y="450253"/>
                  </a:lnTo>
                  <a:lnTo>
                    <a:pt x="3921226" y="444347"/>
                  </a:lnTo>
                  <a:lnTo>
                    <a:pt x="3927132" y="432892"/>
                  </a:lnTo>
                  <a:lnTo>
                    <a:pt x="3945852" y="395478"/>
                  </a:lnTo>
                  <a:lnTo>
                    <a:pt x="3948658" y="389813"/>
                  </a:lnTo>
                  <a:lnTo>
                    <a:pt x="3965714" y="355320"/>
                  </a:lnTo>
                  <a:lnTo>
                    <a:pt x="3986619" y="313397"/>
                  </a:lnTo>
                  <a:lnTo>
                    <a:pt x="4008513" y="270725"/>
                  </a:lnTo>
                  <a:lnTo>
                    <a:pt x="4031335" y="228307"/>
                  </a:lnTo>
                  <a:lnTo>
                    <a:pt x="4055008" y="187159"/>
                  </a:lnTo>
                  <a:lnTo>
                    <a:pt x="4079430" y="148297"/>
                  </a:lnTo>
                  <a:lnTo>
                    <a:pt x="4104602" y="112636"/>
                  </a:lnTo>
                  <a:lnTo>
                    <a:pt x="4117365" y="96405"/>
                  </a:lnTo>
                  <a:lnTo>
                    <a:pt x="4130268" y="81381"/>
                  </a:lnTo>
                  <a:lnTo>
                    <a:pt x="4143260" y="67703"/>
                  </a:lnTo>
                  <a:lnTo>
                    <a:pt x="4156341" y="55486"/>
                  </a:lnTo>
                  <a:lnTo>
                    <a:pt x="4156481" y="55346"/>
                  </a:lnTo>
                  <a:lnTo>
                    <a:pt x="4156684" y="55194"/>
                  </a:lnTo>
                  <a:lnTo>
                    <a:pt x="4169460" y="44856"/>
                  </a:lnTo>
                  <a:lnTo>
                    <a:pt x="4169651" y="44704"/>
                  </a:lnTo>
                  <a:lnTo>
                    <a:pt x="4169422" y="44856"/>
                  </a:lnTo>
                  <a:lnTo>
                    <a:pt x="4169854" y="44538"/>
                  </a:lnTo>
                  <a:lnTo>
                    <a:pt x="4169651" y="44704"/>
                  </a:lnTo>
                  <a:lnTo>
                    <a:pt x="4169892" y="44538"/>
                  </a:lnTo>
                  <a:lnTo>
                    <a:pt x="4182618" y="35915"/>
                  </a:lnTo>
                  <a:lnTo>
                    <a:pt x="4182834" y="35763"/>
                  </a:lnTo>
                  <a:lnTo>
                    <a:pt x="4183176" y="35585"/>
                  </a:lnTo>
                  <a:lnTo>
                    <a:pt x="4195775" y="28778"/>
                  </a:lnTo>
                  <a:lnTo>
                    <a:pt x="4196029" y="28638"/>
                  </a:lnTo>
                  <a:lnTo>
                    <a:pt x="4196473" y="28460"/>
                  </a:lnTo>
                  <a:lnTo>
                    <a:pt x="4208932" y="23520"/>
                  </a:lnTo>
                  <a:lnTo>
                    <a:pt x="4209186" y="23418"/>
                  </a:lnTo>
                  <a:lnTo>
                    <a:pt x="4209834" y="23253"/>
                  </a:lnTo>
                  <a:lnTo>
                    <a:pt x="4222140" y="20231"/>
                  </a:lnTo>
                  <a:lnTo>
                    <a:pt x="4222318" y="20180"/>
                  </a:lnTo>
                  <a:lnTo>
                    <a:pt x="4223601" y="20066"/>
                  </a:lnTo>
                  <a:lnTo>
                    <a:pt x="4235526" y="18999"/>
                  </a:lnTo>
                  <a:lnTo>
                    <a:pt x="4249090" y="19558"/>
                  </a:lnTo>
                  <a:lnTo>
                    <a:pt x="4249255" y="19558"/>
                  </a:lnTo>
                  <a:lnTo>
                    <a:pt x="4301883" y="19558"/>
                  </a:lnTo>
                  <a:close/>
                </a:path>
                <a:path w="4784090" h="515620">
                  <a:moveTo>
                    <a:pt x="4784052" y="502958"/>
                  </a:moveTo>
                  <a:lnTo>
                    <a:pt x="4710493" y="410489"/>
                  </a:lnTo>
                  <a:lnTo>
                    <a:pt x="4680331" y="373138"/>
                  </a:lnTo>
                  <a:lnTo>
                    <a:pt x="4673854" y="365137"/>
                  </a:lnTo>
                  <a:lnTo>
                    <a:pt x="4644085" y="328968"/>
                  </a:lnTo>
                  <a:lnTo>
                    <a:pt x="4637417" y="320865"/>
                  </a:lnTo>
                  <a:lnTo>
                    <a:pt x="4608169" y="286283"/>
                  </a:lnTo>
                  <a:lnTo>
                    <a:pt x="4601210" y="278041"/>
                  </a:lnTo>
                  <a:lnTo>
                    <a:pt x="4572686" y="245427"/>
                  </a:lnTo>
                  <a:lnTo>
                    <a:pt x="4565320" y="237020"/>
                  </a:lnTo>
                  <a:lnTo>
                    <a:pt x="4537697" y="206794"/>
                  </a:lnTo>
                  <a:lnTo>
                    <a:pt x="4529810" y="198158"/>
                  </a:lnTo>
                  <a:lnTo>
                    <a:pt x="4503331" y="170738"/>
                  </a:lnTo>
                  <a:lnTo>
                    <a:pt x="4494733" y="161836"/>
                  </a:lnTo>
                  <a:lnTo>
                    <a:pt x="4469689" y="137629"/>
                  </a:lnTo>
                  <a:lnTo>
                    <a:pt x="4460138" y="128397"/>
                  </a:lnTo>
                  <a:lnTo>
                    <a:pt x="4436948" y="107835"/>
                  </a:lnTo>
                  <a:lnTo>
                    <a:pt x="4426089" y="98209"/>
                  </a:lnTo>
                  <a:lnTo>
                    <a:pt x="4405325" y="81724"/>
                  </a:lnTo>
                  <a:lnTo>
                    <a:pt x="4392638" y="71640"/>
                  </a:lnTo>
                  <a:lnTo>
                    <a:pt x="4375239" y="59664"/>
                  </a:lnTo>
                  <a:lnTo>
                    <a:pt x="4361700" y="50342"/>
                  </a:lnTo>
                  <a:lnTo>
                    <a:pt x="4359872" y="49098"/>
                  </a:lnTo>
                  <a:lnTo>
                    <a:pt x="4348213" y="42100"/>
                  </a:lnTo>
                  <a:lnTo>
                    <a:pt x="4343654" y="39370"/>
                  </a:lnTo>
                  <a:lnTo>
                    <a:pt x="4335564" y="35052"/>
                  </a:lnTo>
                  <a:lnTo>
                    <a:pt x="4327652" y="30822"/>
                  </a:lnTo>
                  <a:lnTo>
                    <a:pt x="4301909" y="19570"/>
                  </a:lnTo>
                  <a:lnTo>
                    <a:pt x="4249407" y="19570"/>
                  </a:lnTo>
                  <a:lnTo>
                    <a:pt x="4249191" y="19570"/>
                  </a:lnTo>
                  <a:lnTo>
                    <a:pt x="4263072" y="21488"/>
                  </a:lnTo>
                  <a:lnTo>
                    <a:pt x="4263237" y="21526"/>
                  </a:lnTo>
                  <a:lnTo>
                    <a:pt x="4277372" y="24752"/>
                  </a:lnTo>
                  <a:lnTo>
                    <a:pt x="4321988" y="42189"/>
                  </a:lnTo>
                  <a:lnTo>
                    <a:pt x="4322115" y="42265"/>
                  </a:lnTo>
                  <a:lnTo>
                    <a:pt x="4337380" y="50419"/>
                  </a:lnTo>
                  <a:lnTo>
                    <a:pt x="4337507" y="50495"/>
                  </a:lnTo>
                  <a:lnTo>
                    <a:pt x="4353001" y="59778"/>
                  </a:lnTo>
                  <a:lnTo>
                    <a:pt x="4353153" y="59880"/>
                  </a:lnTo>
                  <a:lnTo>
                    <a:pt x="4385094" y="81864"/>
                  </a:lnTo>
                  <a:lnTo>
                    <a:pt x="4385234" y="81978"/>
                  </a:lnTo>
                  <a:lnTo>
                    <a:pt x="4417936" y="107950"/>
                  </a:lnTo>
                  <a:lnTo>
                    <a:pt x="4451528" y="137731"/>
                  </a:lnTo>
                  <a:lnTo>
                    <a:pt x="4485767" y="170827"/>
                  </a:lnTo>
                  <a:lnTo>
                    <a:pt x="4520552" y="206857"/>
                  </a:lnTo>
                  <a:lnTo>
                    <a:pt x="4555807" y="245427"/>
                  </a:lnTo>
                  <a:lnTo>
                    <a:pt x="4591545" y="286283"/>
                  </a:lnTo>
                  <a:lnTo>
                    <a:pt x="4627689" y="329031"/>
                  </a:lnTo>
                  <a:lnTo>
                    <a:pt x="4664037" y="373189"/>
                  </a:lnTo>
                  <a:lnTo>
                    <a:pt x="4700600" y="418452"/>
                  </a:lnTo>
                  <a:lnTo>
                    <a:pt x="4774108" y="510857"/>
                  </a:lnTo>
                  <a:lnTo>
                    <a:pt x="4784052" y="502958"/>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2" name="object 10">
            <a:extLst>
              <a:ext uri="{FF2B5EF4-FFF2-40B4-BE49-F238E27FC236}">
                <a16:creationId xmlns:a16="http://schemas.microsoft.com/office/drawing/2014/main" id="{2B5C84FD-19B4-C32B-41C6-6D4C53A4C0EF}"/>
              </a:ext>
            </a:extLst>
          </p:cNvPr>
          <p:cNvSpPr txBox="1"/>
          <p:nvPr/>
        </p:nvSpPr>
        <p:spPr>
          <a:xfrm>
            <a:off x="707390" y="5966459"/>
            <a:ext cx="7106284" cy="228268"/>
          </a:xfrm>
          <a:prstGeom prst="rect">
            <a:avLst/>
          </a:prstGeom>
        </p:spPr>
        <p:txBody>
          <a:bodyPr vert="horz" wrap="square" lIns="0" tIns="12700" rIns="0" bIns="0" rtlCol="0">
            <a:spAutoFit/>
          </a:bodyPr>
          <a:lstStyle/>
          <a:p>
            <a:pPr marL="12700" rtl="0">
              <a:spcBef>
                <a:spcPts val="100"/>
              </a:spcBef>
            </a:pPr>
            <a:r>
              <a:rPr sz="1400" kern="1200" dirty="0">
                <a:solidFill>
                  <a:schemeClr val="bg2">
                    <a:lumMod val="50000"/>
                  </a:schemeClr>
                </a:solidFill>
                <a:latin typeface="Palatino Linotype"/>
                <a:cs typeface="Palatino Linotype"/>
              </a:rPr>
              <a:t>*</a:t>
            </a:r>
            <a:r>
              <a:rPr sz="1400" kern="1200" spc="5" dirty="0">
                <a:solidFill>
                  <a:schemeClr val="bg2">
                    <a:lumMod val="50000"/>
                  </a:schemeClr>
                </a:solidFill>
                <a:latin typeface="Palatino Linotype"/>
                <a:cs typeface="Palatino Linotype"/>
              </a:rPr>
              <a:t> </a:t>
            </a:r>
            <a:r>
              <a:rPr sz="1400" kern="1200" spc="-10" dirty="0">
                <a:solidFill>
                  <a:schemeClr val="bg2">
                    <a:lumMod val="50000"/>
                  </a:schemeClr>
                </a:solidFill>
                <a:latin typeface="Palatino Linotype"/>
                <a:cs typeface="Palatino Linotype"/>
              </a:rPr>
              <a:t>Given</a:t>
            </a:r>
            <a:r>
              <a:rPr sz="1400" kern="1200" dirty="0">
                <a:solidFill>
                  <a:schemeClr val="bg2">
                    <a:lumMod val="50000"/>
                  </a:schemeClr>
                </a:solidFill>
                <a:latin typeface="Palatino Linotype"/>
                <a:cs typeface="Palatino Linotype"/>
              </a:rPr>
              <a:t> an unambiguous</a:t>
            </a:r>
            <a:r>
              <a:rPr sz="1400" kern="1200" spc="-10" dirty="0">
                <a:solidFill>
                  <a:schemeClr val="bg2">
                    <a:lumMod val="50000"/>
                  </a:schemeClr>
                </a:solidFill>
                <a:latin typeface="Palatino Linotype"/>
                <a:cs typeface="Palatino Linotype"/>
              </a:rPr>
              <a:t> grammar,</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a</a:t>
            </a:r>
            <a:r>
              <a:rPr sz="1400" kern="1200" spc="5"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right-sentential</a:t>
            </a:r>
            <a:r>
              <a:rPr sz="1400" kern="1200" spc="1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form</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can</a:t>
            </a:r>
            <a:r>
              <a:rPr sz="1400" kern="1200" spc="-5" dirty="0">
                <a:solidFill>
                  <a:schemeClr val="bg2">
                    <a:lumMod val="50000"/>
                  </a:schemeClr>
                </a:solidFill>
                <a:latin typeface="Palatino Linotype"/>
                <a:cs typeface="Palatino Linotype"/>
              </a:rPr>
              <a:t> only</a:t>
            </a:r>
            <a:r>
              <a:rPr sz="1400" kern="1200" dirty="0">
                <a:solidFill>
                  <a:schemeClr val="bg2">
                    <a:lumMod val="50000"/>
                  </a:schemeClr>
                </a:solidFill>
                <a:latin typeface="Palatino Linotype"/>
                <a:cs typeface="Palatino Linotype"/>
              </a:rPr>
              <a:t> be</a:t>
            </a:r>
            <a:r>
              <a:rPr sz="1400" kern="1200" spc="5" dirty="0">
                <a:solidFill>
                  <a:schemeClr val="bg2">
                    <a:lumMod val="50000"/>
                  </a:schemeClr>
                </a:solidFill>
                <a:latin typeface="Palatino Linotype"/>
                <a:cs typeface="Palatino Linotype"/>
              </a:rPr>
              <a:t> </a:t>
            </a:r>
            <a:r>
              <a:rPr sz="1400" kern="1200" spc="-10" dirty="0">
                <a:solidFill>
                  <a:schemeClr val="bg2">
                    <a:lumMod val="50000"/>
                  </a:schemeClr>
                </a:solidFill>
                <a:latin typeface="Palatino Linotype"/>
                <a:cs typeface="Palatino Linotype"/>
              </a:rPr>
              <a:t>derived </a:t>
            </a:r>
            <a:r>
              <a:rPr sz="1400" kern="1200" dirty="0">
                <a:solidFill>
                  <a:schemeClr val="bg2">
                    <a:lumMod val="50000"/>
                  </a:schemeClr>
                </a:solidFill>
                <a:latin typeface="Palatino Linotype"/>
                <a:cs typeface="Palatino Linotype"/>
              </a:rPr>
              <a:t>in </a:t>
            </a:r>
            <a:r>
              <a:rPr sz="1400" kern="1200" spc="-5" dirty="0">
                <a:solidFill>
                  <a:schemeClr val="bg2">
                    <a:lumMod val="50000"/>
                  </a:schemeClr>
                </a:solidFill>
                <a:latin typeface="Palatino Linotype"/>
                <a:cs typeface="Palatino Linotype"/>
              </a:rPr>
              <a:t>one</a:t>
            </a:r>
            <a:r>
              <a:rPr sz="1400" kern="1200" spc="5" dirty="0">
                <a:solidFill>
                  <a:schemeClr val="bg2">
                    <a:lumMod val="50000"/>
                  </a:schemeClr>
                </a:solidFill>
                <a:latin typeface="Palatino Linotype"/>
                <a:cs typeface="Palatino Linotype"/>
              </a:rPr>
              <a:t> </a:t>
            </a:r>
            <a:r>
              <a:rPr sz="1400" kern="1200" spc="-15" dirty="0">
                <a:solidFill>
                  <a:schemeClr val="bg2">
                    <a:lumMod val="50000"/>
                  </a:schemeClr>
                </a:solidFill>
                <a:latin typeface="Palatino Linotype"/>
                <a:cs typeface="Palatino Linotype"/>
              </a:rPr>
              <a:t>way</a:t>
            </a:r>
            <a:endParaRPr sz="1400" kern="1200" dirty="0">
              <a:solidFill>
                <a:schemeClr val="bg2">
                  <a:lumMod val="50000"/>
                </a:schemeClr>
              </a:solidFill>
              <a:latin typeface="Palatino Linotype"/>
              <a:cs typeface="Palatino Linotype"/>
            </a:endParaRPr>
          </a:p>
        </p:txBody>
      </p:sp>
    </p:spTree>
    <p:extLst>
      <p:ext uri="{BB962C8B-B14F-4D97-AF65-F5344CB8AC3E}">
        <p14:creationId xmlns:p14="http://schemas.microsoft.com/office/powerpoint/2010/main" val="13611182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93</a:t>
            </a:fld>
            <a:endParaRPr lang="en-US"/>
          </a:p>
        </p:txBody>
      </p:sp>
      <p:sp>
        <p:nvSpPr>
          <p:cNvPr id="7" name="object 2">
            <a:extLst>
              <a:ext uri="{FF2B5EF4-FFF2-40B4-BE49-F238E27FC236}">
                <a16:creationId xmlns:a16="http://schemas.microsoft.com/office/drawing/2014/main" id="{17CC45EB-1B72-4447-7EBA-5A691B1FEA94}"/>
              </a:ext>
            </a:extLst>
          </p:cNvPr>
          <p:cNvSpPr txBox="1">
            <a:spLocks/>
          </p:cNvSpPr>
          <p:nvPr/>
        </p:nvSpPr>
        <p:spPr>
          <a:xfrm>
            <a:off x="707390" y="524763"/>
            <a:ext cx="49434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Shift-Reduce</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06B3468-2324-926C-E5CD-4951EED26D5D}"/>
              </a:ext>
            </a:extLst>
          </p:cNvPr>
          <p:cNvSpPr txBox="1"/>
          <p:nvPr/>
        </p:nvSpPr>
        <p:spPr>
          <a:xfrm>
            <a:off x="707390" y="1590547"/>
            <a:ext cx="7367905" cy="3279775"/>
          </a:xfrm>
          <a:prstGeom prst="rect">
            <a:avLst/>
          </a:prstGeom>
        </p:spPr>
        <p:txBody>
          <a:bodyPr vert="horz" wrap="square" lIns="0" tIns="12700" rIns="0" bIns="0" rtlCol="0">
            <a:spAutoFit/>
          </a:bodyPr>
          <a:lstStyle/>
          <a:p>
            <a:pPr marL="242570" marR="200660" indent="-230504" rtl="0">
              <a:lnSpc>
                <a:spcPct val="118300"/>
              </a:lnSpc>
              <a:spcBef>
                <a:spcPts val="100"/>
              </a:spcBef>
              <a:buFont typeface="Arial MT"/>
              <a:buChar char="•"/>
              <a:tabLst>
                <a:tab pos="243204" algn="l"/>
              </a:tabLst>
            </a:pPr>
            <a:r>
              <a:rPr sz="2400" kern="1200" spc="-5" dirty="0">
                <a:solidFill>
                  <a:prstClr val="black"/>
                </a:solidFill>
                <a:latin typeface="Palatino Linotype"/>
                <a:cs typeface="Palatino Linotype"/>
              </a:rPr>
              <a:t>Shift-reduce parsing</a:t>
            </a:r>
            <a:r>
              <a:rPr sz="2400" kern="1200" dirty="0">
                <a:solidFill>
                  <a:prstClr val="black"/>
                </a:solidFill>
                <a:latin typeface="Palatino Linotype"/>
                <a:cs typeface="Palatino Linotype"/>
              </a:rPr>
              <a:t> is</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a general </a:t>
            </a:r>
            <a:r>
              <a:rPr sz="2400" kern="1200" spc="-5" dirty="0">
                <a:solidFill>
                  <a:prstClr val="black"/>
                </a:solidFill>
                <a:latin typeface="Palatino Linotype"/>
                <a:cs typeface="Palatino Linotype"/>
              </a:rPr>
              <a:t>style</a:t>
            </a:r>
            <a:r>
              <a:rPr sz="2400" kern="1200" dirty="0">
                <a:solidFill>
                  <a:prstClr val="black"/>
                </a:solidFill>
                <a:latin typeface="Palatino Linotype"/>
                <a:cs typeface="Palatino Linotype"/>
              </a:rPr>
              <a:t> of bottom-up </a:t>
            </a:r>
            <a:r>
              <a:rPr sz="2400" kern="1200" spc="-585" dirty="0">
                <a:solidFill>
                  <a:prstClr val="black"/>
                </a:solidFill>
                <a:latin typeface="Palatino Linotype"/>
                <a:cs typeface="Palatino Linotype"/>
              </a:rPr>
              <a:t> </a:t>
            </a:r>
            <a:r>
              <a:rPr sz="2400" kern="1200" spc="-5" dirty="0">
                <a:solidFill>
                  <a:prstClr val="black"/>
                </a:solidFill>
                <a:latin typeface="Palatino Linotype"/>
                <a:cs typeface="Palatino Linotype"/>
              </a:rPr>
              <a:t>parsing </a:t>
            </a:r>
            <a:r>
              <a:rPr sz="2400" kern="1200" dirty="0">
                <a:solidFill>
                  <a:prstClr val="black"/>
                </a:solidFill>
                <a:latin typeface="Palatino Linotype"/>
                <a:cs typeface="Palatino Linotype"/>
              </a:rPr>
              <a:t>in </a:t>
            </a:r>
            <a:r>
              <a:rPr sz="2400" kern="1200" spc="-5" dirty="0">
                <a:solidFill>
                  <a:prstClr val="black"/>
                </a:solidFill>
                <a:latin typeface="Palatino Linotype"/>
                <a:cs typeface="Palatino Linotype"/>
              </a:rPr>
              <a:t>which:</a:t>
            </a:r>
            <a:endParaRPr sz="2400" kern="1200" dirty="0">
              <a:solidFill>
                <a:prstClr val="black"/>
              </a:solidFill>
              <a:latin typeface="Palatino Linotype"/>
              <a:cs typeface="Palatino Linotype"/>
            </a:endParaRPr>
          </a:p>
          <a:p>
            <a:pPr rtl="0">
              <a:spcBef>
                <a:spcPts val="45"/>
              </a:spcBef>
              <a:buFont typeface="Arial MT"/>
              <a:buChar char="•"/>
            </a:pPr>
            <a:endParaRPr sz="2200" kern="1200" dirty="0">
              <a:solidFill>
                <a:prstClr val="black"/>
              </a:solidFill>
              <a:latin typeface="Palatino Linotype"/>
              <a:cs typeface="Palatino Linotype"/>
            </a:endParaRPr>
          </a:p>
          <a:p>
            <a:pPr marL="698500" lvl="1" indent="-228600" rtl="0">
              <a:buFont typeface="Wingdings"/>
              <a:buChar char=""/>
              <a:tabLst>
                <a:tab pos="698500" algn="l"/>
              </a:tabLst>
            </a:pPr>
            <a:r>
              <a:rPr sz="2000" kern="1200" dirty="0">
                <a:solidFill>
                  <a:prstClr val="black"/>
                </a:solidFill>
                <a:latin typeface="Palatino Linotype"/>
                <a:cs typeface="Palatino Linotype"/>
              </a:rPr>
              <a:t>A</a:t>
            </a:r>
            <a:r>
              <a:rPr sz="2000" kern="1200" spc="-120" dirty="0">
                <a:solidFill>
                  <a:prstClr val="black"/>
                </a:solidFill>
                <a:latin typeface="Palatino Linotype"/>
                <a:cs typeface="Palatino Linotype"/>
              </a:rPr>
              <a:t> </a:t>
            </a:r>
            <a:r>
              <a:rPr sz="2000" b="1" kern="1200" spc="-5" dirty="0">
                <a:solidFill>
                  <a:srgbClr val="0432FF"/>
                </a:solidFill>
                <a:latin typeface="Palatino Linotype"/>
                <a:cs typeface="Palatino Linotype"/>
              </a:rPr>
              <a:t>st</a:t>
            </a:r>
            <a:r>
              <a:rPr sz="2000" b="1" kern="1200" dirty="0">
                <a:solidFill>
                  <a:srgbClr val="0432FF"/>
                </a:solidFill>
                <a:latin typeface="Palatino Linotype"/>
                <a:cs typeface="Palatino Linotype"/>
              </a:rPr>
              <a:t>a</a:t>
            </a:r>
            <a:r>
              <a:rPr sz="2000" b="1" kern="1200" spc="-5" dirty="0">
                <a:solidFill>
                  <a:srgbClr val="0432FF"/>
                </a:solidFill>
                <a:latin typeface="Palatino Linotype"/>
                <a:cs typeface="Palatino Linotype"/>
              </a:rPr>
              <a:t>c</a:t>
            </a:r>
            <a:r>
              <a:rPr sz="2000" b="1" kern="1200" dirty="0">
                <a:solidFill>
                  <a:srgbClr val="0432FF"/>
                </a:solidFill>
                <a:latin typeface="Palatino Linotype"/>
                <a:cs typeface="Palatino Linotype"/>
              </a:rPr>
              <a:t>k </a:t>
            </a:r>
            <a:r>
              <a:rPr sz="2000" kern="1200" spc="-5" dirty="0">
                <a:solidFill>
                  <a:prstClr val="black"/>
                </a:solidFill>
                <a:latin typeface="Palatino Linotype"/>
                <a:cs typeface="Palatino Linotype"/>
              </a:rPr>
              <a:t>ho</a:t>
            </a:r>
            <a:r>
              <a:rPr sz="2000" kern="1200" spc="5" dirty="0">
                <a:solidFill>
                  <a:prstClr val="black"/>
                </a:solidFill>
                <a:latin typeface="Palatino Linotype"/>
                <a:cs typeface="Palatino Linotype"/>
              </a:rPr>
              <a:t>l</a:t>
            </a:r>
            <a:r>
              <a:rPr sz="2000" kern="1200" dirty="0">
                <a:solidFill>
                  <a:prstClr val="black"/>
                </a:solidFill>
                <a:latin typeface="Palatino Linotype"/>
                <a:cs typeface="Palatino Linotype"/>
              </a:rPr>
              <a:t>ds g</a:t>
            </a:r>
            <a:r>
              <a:rPr sz="2000" kern="1200" spc="-5" dirty="0">
                <a:solidFill>
                  <a:prstClr val="black"/>
                </a:solidFill>
                <a:latin typeface="Palatino Linotype"/>
                <a:cs typeface="Palatino Linotype"/>
              </a:rPr>
              <a:t>r</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mm</a:t>
            </a:r>
            <a:r>
              <a:rPr sz="2000" kern="1200" dirty="0">
                <a:solidFill>
                  <a:prstClr val="black"/>
                </a:solidFill>
                <a:latin typeface="Palatino Linotype"/>
                <a:cs typeface="Palatino Linotype"/>
              </a:rPr>
              <a:t>ar</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sy</a:t>
            </a:r>
            <a:r>
              <a:rPr sz="2000" kern="1200" spc="-5" dirty="0">
                <a:solidFill>
                  <a:prstClr val="black"/>
                </a:solidFill>
                <a:latin typeface="Palatino Linotype"/>
                <a:cs typeface="Palatino Linotype"/>
              </a:rPr>
              <a:t>m</a:t>
            </a:r>
            <a:r>
              <a:rPr sz="2000" kern="1200" spc="5" dirty="0">
                <a:solidFill>
                  <a:prstClr val="black"/>
                </a:solidFill>
                <a:latin typeface="Palatino Linotype"/>
                <a:cs typeface="Palatino Linotype"/>
              </a:rPr>
              <a:t>b</a:t>
            </a:r>
            <a:r>
              <a:rPr sz="2000" kern="1200" spc="-5" dirty="0">
                <a:solidFill>
                  <a:prstClr val="black"/>
                </a:solidFill>
                <a:latin typeface="Palatino Linotype"/>
                <a:cs typeface="Palatino Linotype"/>
              </a:rPr>
              <a:t>o</a:t>
            </a:r>
            <a:r>
              <a:rPr sz="2000" kern="1200" spc="5" dirty="0">
                <a:solidFill>
                  <a:prstClr val="black"/>
                </a:solidFill>
                <a:latin typeface="Palatino Linotype"/>
                <a:cs typeface="Palatino Linotype"/>
              </a:rPr>
              <a:t>l</a:t>
            </a:r>
            <a:r>
              <a:rPr sz="2000" kern="1200" dirty="0">
                <a:solidFill>
                  <a:prstClr val="black"/>
                </a:solidFill>
                <a:latin typeface="Palatino Linotype"/>
                <a:cs typeface="Palatino Linotype"/>
              </a:rPr>
              <a:t>s</a:t>
            </a:r>
          </a:p>
          <a:p>
            <a:pPr lvl="1" rtl="0">
              <a:spcBef>
                <a:spcPts val="5"/>
              </a:spcBef>
              <a:buFont typeface="Wingdings"/>
              <a:buChar char=""/>
            </a:pPr>
            <a:endParaRPr sz="2150" kern="1200" dirty="0">
              <a:solidFill>
                <a:prstClr val="black"/>
              </a:solidFill>
              <a:latin typeface="Palatino Linotype"/>
              <a:cs typeface="Palatino Linotype"/>
            </a:endParaRPr>
          </a:p>
          <a:p>
            <a:pPr marL="698500" lvl="1" indent="-228600" rtl="0">
              <a:buFont typeface="Wingdings"/>
              <a:buChar char=""/>
              <a:tabLst>
                <a:tab pos="698500" algn="l"/>
              </a:tabLst>
            </a:pPr>
            <a:r>
              <a:rPr sz="2000" kern="1200" spc="-5" dirty="0">
                <a:solidFill>
                  <a:prstClr val="black"/>
                </a:solidFill>
                <a:latin typeface="Palatino Linotype"/>
                <a:cs typeface="Palatino Linotype"/>
              </a:rPr>
              <a:t>An </a:t>
            </a:r>
            <a:r>
              <a:rPr sz="2000" b="1" kern="1200" spc="-5" dirty="0">
                <a:solidFill>
                  <a:srgbClr val="0432FF"/>
                </a:solidFill>
                <a:latin typeface="Palatino Linotype"/>
                <a:cs typeface="Palatino Linotype"/>
              </a:rPr>
              <a:t>input</a:t>
            </a:r>
            <a:r>
              <a:rPr sz="2000" b="1" kern="1200" dirty="0">
                <a:solidFill>
                  <a:srgbClr val="0432FF"/>
                </a:solidFill>
                <a:latin typeface="Palatino Linotype"/>
                <a:cs typeface="Palatino Linotype"/>
              </a:rPr>
              <a:t> </a:t>
            </a:r>
            <a:r>
              <a:rPr sz="2000" b="1" kern="1200" spc="-5" dirty="0">
                <a:solidFill>
                  <a:srgbClr val="0432FF"/>
                </a:solidFill>
                <a:latin typeface="Palatino Linotype"/>
                <a:cs typeface="Palatino Linotype"/>
              </a:rPr>
              <a:t>buffer</a:t>
            </a:r>
            <a:r>
              <a:rPr sz="2000" b="1" kern="1200" dirty="0">
                <a:solidFill>
                  <a:srgbClr val="0432FF"/>
                </a:solidFill>
                <a:latin typeface="Palatino Linotype"/>
                <a:cs typeface="Palatino Linotype"/>
              </a:rPr>
              <a:t> </a:t>
            </a:r>
            <a:r>
              <a:rPr sz="2000" kern="1200" spc="-5" dirty="0">
                <a:solidFill>
                  <a:prstClr val="black"/>
                </a:solidFill>
                <a:latin typeface="Palatino Linotype"/>
                <a:cs typeface="Palatino Linotype"/>
              </a:rPr>
              <a:t>holds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rest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string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to</a:t>
            </a:r>
            <a:r>
              <a:rPr sz="2000" kern="1200" dirty="0">
                <a:solidFill>
                  <a:prstClr val="black"/>
                </a:solidFill>
                <a:latin typeface="Palatino Linotype"/>
                <a:cs typeface="Palatino Linotype"/>
              </a:rPr>
              <a:t> be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parsed</a:t>
            </a:r>
            <a:endParaRPr sz="2000" kern="1200" dirty="0">
              <a:solidFill>
                <a:prstClr val="black"/>
              </a:solidFill>
              <a:latin typeface="Palatino Linotype"/>
              <a:cs typeface="Palatino Linotype"/>
            </a:endParaRPr>
          </a:p>
          <a:p>
            <a:pPr marL="698500" marR="5080" lvl="1" indent="-228600" rtl="0">
              <a:lnSpc>
                <a:spcPct val="120000"/>
              </a:lnSpc>
              <a:spcBef>
                <a:spcPts val="2330"/>
              </a:spcBef>
              <a:buFont typeface="Wingdings"/>
              <a:buChar char=""/>
              <a:tabLst>
                <a:tab pos="698500" algn="l"/>
              </a:tabLst>
            </a:pP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srgbClr val="0432FF"/>
                </a:solidFill>
                <a:latin typeface="Palatino Linotype"/>
                <a:cs typeface="Palatino Linotype"/>
              </a:rPr>
              <a:t>stack</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content (from bottom to top)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5" dirty="0">
                <a:solidFill>
                  <a:srgbClr val="0432FF"/>
                </a:solidFill>
                <a:latin typeface="Palatino Linotype"/>
                <a:cs typeface="Palatino Linotype"/>
              </a:rPr>
              <a:t>the</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input buffer </a:t>
            </a:r>
            <a:r>
              <a:rPr sz="2000" kern="1200" spc="-484" dirty="0">
                <a:solidFill>
                  <a:srgbClr val="0432FF"/>
                </a:solidFill>
                <a:latin typeface="Palatino Linotype"/>
                <a:cs typeface="Palatino Linotype"/>
              </a:rPr>
              <a:t> </a:t>
            </a:r>
            <a:r>
              <a:rPr sz="2000" kern="1200" spc="-5" dirty="0">
                <a:solidFill>
                  <a:srgbClr val="0432FF"/>
                </a:solidFill>
                <a:latin typeface="Palatino Linotype"/>
                <a:cs typeface="Palatino Linotype"/>
              </a:rPr>
              <a:t>content </a:t>
            </a:r>
            <a:r>
              <a:rPr sz="2000" kern="1200" spc="-5" dirty="0">
                <a:solidFill>
                  <a:prstClr val="black"/>
                </a:solidFill>
                <a:latin typeface="Palatino Linotype"/>
                <a:cs typeface="Palatino Linotype"/>
              </a:rPr>
              <a:t>form </a:t>
            </a:r>
            <a:r>
              <a:rPr sz="2000" kern="1200" dirty="0">
                <a:solidFill>
                  <a:prstClr val="black"/>
                </a:solidFill>
                <a:latin typeface="Palatino Linotype"/>
                <a:cs typeface="Palatino Linotype"/>
              </a:rPr>
              <a:t>a </a:t>
            </a:r>
            <a:r>
              <a:rPr sz="2000" kern="1200" spc="-5" dirty="0">
                <a:solidFill>
                  <a:srgbClr val="FF0000"/>
                </a:solidFill>
                <a:latin typeface="Palatino Linotype"/>
                <a:cs typeface="Palatino Linotype"/>
              </a:rPr>
              <a:t>right-sentential</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form </a:t>
            </a:r>
            <a:r>
              <a:rPr sz="2000" kern="1200" spc="-5" dirty="0">
                <a:solidFill>
                  <a:prstClr val="black"/>
                </a:solidFill>
                <a:latin typeface="Palatino Linotype"/>
                <a:cs typeface="Palatino Linotype"/>
              </a:rPr>
              <a:t>(assuming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no errors)</a:t>
            </a:r>
            <a:endParaRPr sz="2000" kern="1200" dirty="0">
              <a:solidFill>
                <a:prstClr val="black"/>
              </a:solidFill>
              <a:latin typeface="Palatino Linotype"/>
              <a:cs typeface="Palatino Linotype"/>
            </a:endParaRPr>
          </a:p>
        </p:txBody>
      </p:sp>
    </p:spTree>
    <p:extLst>
      <p:ext uri="{BB962C8B-B14F-4D97-AF65-F5344CB8AC3E}">
        <p14:creationId xmlns:p14="http://schemas.microsoft.com/office/powerpoint/2010/main" val="40429802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 name="object 5">
            <a:extLst>
              <a:ext uri="{FF2B5EF4-FFF2-40B4-BE49-F238E27FC236}">
                <a16:creationId xmlns:a16="http://schemas.microsoft.com/office/drawing/2014/main" id="{32946EE7-C958-E105-A56D-B32241B38797}"/>
              </a:ext>
            </a:extLst>
          </p:cNvPr>
          <p:cNvSpPr txBox="1"/>
          <p:nvPr/>
        </p:nvSpPr>
        <p:spPr>
          <a:xfrm>
            <a:off x="643890" y="1915667"/>
            <a:ext cx="7188834" cy="4265295"/>
          </a:xfrm>
          <a:prstGeom prst="rect">
            <a:avLst/>
          </a:prstGeom>
        </p:spPr>
        <p:txBody>
          <a:bodyPr vert="horz" wrap="square" lIns="0" tIns="12700" rIns="0" bIns="0" rtlCol="0">
            <a:spAutoFit/>
          </a:bodyPr>
          <a:lstStyle/>
          <a:p>
            <a:pPr marL="76200" rtl="0">
              <a:spcBef>
                <a:spcPts val="100"/>
              </a:spcBef>
            </a:pPr>
            <a:r>
              <a:rPr sz="2000" b="1" kern="1200" spc="-5" dirty="0">
                <a:solidFill>
                  <a:srgbClr val="FF0000"/>
                </a:solidFill>
                <a:latin typeface="Palatino Linotype"/>
                <a:cs typeface="Palatino Linotype"/>
              </a:rPr>
              <a:t>Initial</a:t>
            </a:r>
            <a:r>
              <a:rPr sz="2000" b="1" kern="1200" spc="-35" dirty="0">
                <a:solidFill>
                  <a:srgbClr val="FF0000"/>
                </a:solidFill>
                <a:latin typeface="Palatino Linotype"/>
                <a:cs typeface="Palatino Linotype"/>
              </a:rPr>
              <a:t> </a:t>
            </a:r>
            <a:r>
              <a:rPr sz="2000" b="1" kern="1200" spc="-5" dirty="0">
                <a:solidFill>
                  <a:srgbClr val="FF0000"/>
                </a:solidFill>
                <a:latin typeface="Palatino Linotype"/>
                <a:cs typeface="Palatino Linotype"/>
              </a:rPr>
              <a:t>status:</a:t>
            </a:r>
            <a:endParaRPr sz="2000" kern="1200" dirty="0">
              <a:solidFill>
                <a:prstClr val="black"/>
              </a:solidFill>
              <a:latin typeface="Palatino Linotype"/>
              <a:cs typeface="Palatino Linotype"/>
            </a:endParaRPr>
          </a:p>
          <a:p>
            <a:pPr rtl="0">
              <a:spcBef>
                <a:spcPts val="45"/>
              </a:spcBef>
            </a:pPr>
            <a:endParaRPr sz="3850" kern="1200" dirty="0">
              <a:solidFill>
                <a:prstClr val="black"/>
              </a:solidFill>
              <a:latin typeface="Palatino Linotype"/>
              <a:cs typeface="Palatino Linotype"/>
            </a:endParaRPr>
          </a:p>
          <a:p>
            <a:pPr marL="76200" rtl="0"/>
            <a:r>
              <a:rPr b="1" kern="1200" spc="-5" dirty="0">
                <a:solidFill>
                  <a:srgbClr val="FF0000"/>
                </a:solidFill>
                <a:latin typeface="Palatino Linotype"/>
                <a:cs typeface="Palatino Linotype"/>
              </a:rPr>
              <a:t>Shift-reduce</a:t>
            </a:r>
            <a:r>
              <a:rPr b="1" kern="1200" spc="-10" dirty="0">
                <a:solidFill>
                  <a:srgbClr val="FF0000"/>
                </a:solidFill>
                <a:latin typeface="Palatino Linotype"/>
                <a:cs typeface="Palatino Linotype"/>
              </a:rPr>
              <a:t> </a:t>
            </a:r>
            <a:r>
              <a:rPr b="1" kern="1200" spc="-5" dirty="0">
                <a:solidFill>
                  <a:srgbClr val="FF0000"/>
                </a:solidFill>
                <a:latin typeface="Palatino Linotype"/>
                <a:cs typeface="Palatino Linotype"/>
              </a:rPr>
              <a:t>process:</a:t>
            </a:r>
            <a:endParaRPr kern="1200" dirty="0">
              <a:solidFill>
                <a:prstClr val="black"/>
              </a:solidFill>
              <a:latin typeface="Palatino Linotype"/>
              <a:cs typeface="Palatino Linotype"/>
            </a:endParaRPr>
          </a:p>
          <a:p>
            <a:pPr marL="361950" marR="181610" indent="-285750" rtl="0">
              <a:lnSpc>
                <a:spcPct val="120000"/>
              </a:lnSpc>
              <a:spcBef>
                <a:spcPts val="1225"/>
              </a:spcBef>
              <a:buFont typeface="Arial MT"/>
              <a:buChar char="•"/>
              <a:tabLst>
                <a:tab pos="361315" algn="l"/>
                <a:tab pos="361950" algn="l"/>
              </a:tabLst>
            </a:pPr>
            <a:r>
              <a:rPr kern="1200" spc="-5" dirty="0">
                <a:solidFill>
                  <a:prstClr val="black"/>
                </a:solidFill>
                <a:latin typeface="Palatino Linotype"/>
                <a:cs typeface="Palatino Linotype"/>
              </a:rPr>
              <a:t>The </a:t>
            </a:r>
            <a:r>
              <a:rPr kern="1200" dirty="0">
                <a:solidFill>
                  <a:prstClr val="black"/>
                </a:solidFill>
                <a:latin typeface="Palatino Linotype"/>
                <a:cs typeface="Palatino Linotype"/>
              </a:rPr>
              <a:t>parser </a:t>
            </a:r>
            <a:r>
              <a:rPr b="1" kern="1200" spc="-5" dirty="0">
                <a:solidFill>
                  <a:srgbClr val="FF0000"/>
                </a:solidFill>
                <a:latin typeface="Palatino Linotype"/>
                <a:cs typeface="Palatino Linotype"/>
              </a:rPr>
              <a:t>shifts</a:t>
            </a:r>
            <a:r>
              <a:rPr b="1" kern="1200" dirty="0">
                <a:solidFill>
                  <a:srgbClr val="FF0000"/>
                </a:solidFill>
                <a:latin typeface="Palatino Linotype"/>
                <a:cs typeface="Palatino Linotype"/>
              </a:rPr>
              <a:t> </a:t>
            </a:r>
            <a:r>
              <a:rPr kern="1200" dirty="0">
                <a:solidFill>
                  <a:srgbClr val="0432FF"/>
                </a:solidFill>
                <a:latin typeface="Palatino Linotype"/>
                <a:cs typeface="Palatino Linotype"/>
              </a:rPr>
              <a:t>zero or </a:t>
            </a:r>
            <a:r>
              <a:rPr kern="1200" spc="-5" dirty="0">
                <a:solidFill>
                  <a:srgbClr val="0432FF"/>
                </a:solidFill>
                <a:latin typeface="Palatino Linotype"/>
                <a:cs typeface="Palatino Linotype"/>
              </a:rPr>
              <a:t>more</a:t>
            </a:r>
            <a:r>
              <a:rPr kern="1200" dirty="0">
                <a:solidFill>
                  <a:srgbClr val="0432FF"/>
                </a:solidFill>
                <a:latin typeface="Palatino Linotype"/>
                <a:cs typeface="Palatino Linotype"/>
              </a:rPr>
              <a:t> input </a:t>
            </a:r>
            <a:r>
              <a:rPr kern="1200" spc="-5" dirty="0">
                <a:solidFill>
                  <a:srgbClr val="0432FF"/>
                </a:solidFill>
                <a:latin typeface="Palatino Linotype"/>
                <a:cs typeface="Palatino Linotype"/>
              </a:rPr>
              <a:t>symbols </a:t>
            </a:r>
            <a:r>
              <a:rPr kern="1200" dirty="0">
                <a:solidFill>
                  <a:srgbClr val="0432FF"/>
                </a:solidFill>
                <a:latin typeface="Palatino Linotype"/>
                <a:cs typeface="Palatino Linotype"/>
              </a:rPr>
              <a:t>onto the </a:t>
            </a:r>
            <a:r>
              <a:rPr kern="1200" spc="-5" dirty="0">
                <a:solidFill>
                  <a:srgbClr val="0432FF"/>
                </a:solidFill>
                <a:latin typeface="Palatino Linotype"/>
                <a:cs typeface="Palatino Linotype"/>
              </a:rPr>
              <a:t>stack</a:t>
            </a:r>
            <a:r>
              <a:rPr kern="1200" spc="-5" dirty="0">
                <a:solidFill>
                  <a:prstClr val="black"/>
                </a:solidFill>
                <a:latin typeface="Palatino Linotype"/>
                <a:cs typeface="Palatino Linotype"/>
              </a:rPr>
              <a:t>,</a:t>
            </a:r>
            <a:r>
              <a:rPr kern="1200" dirty="0">
                <a:solidFill>
                  <a:prstClr val="black"/>
                </a:solidFill>
                <a:latin typeface="Palatino Linotype"/>
                <a:cs typeface="Palatino Linotype"/>
              </a:rPr>
              <a:t> until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it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ready</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to reduce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 </a:t>
            </a:r>
            <a:r>
              <a:rPr kern="1200" spc="-5" dirty="0">
                <a:solidFill>
                  <a:prstClr val="black"/>
                </a:solidFill>
                <a:latin typeface="Palatino Linotype"/>
                <a:cs typeface="Palatino Linotype"/>
              </a:rPr>
              <a:t>string</a:t>
            </a:r>
            <a:r>
              <a:rPr kern="1200" spc="-10" dirty="0">
                <a:solidFill>
                  <a:prstClr val="black"/>
                </a:solidFill>
                <a:latin typeface="Palatino Linotype"/>
                <a:cs typeface="Palatino Linotype"/>
              </a:rPr>
              <a:t> </a:t>
            </a:r>
            <a:r>
              <a:rPr kern="1200" dirty="0">
                <a:solidFill>
                  <a:prstClr val="black"/>
                </a:solidFill>
                <a:latin typeface="Cambria Math"/>
                <a:cs typeface="Cambria Math"/>
              </a:rPr>
              <a:t>𝛽</a:t>
            </a:r>
            <a:r>
              <a:rPr kern="1200" spc="100" dirty="0">
                <a:solidFill>
                  <a:prstClr val="black"/>
                </a:solidFill>
                <a:latin typeface="Cambria Math"/>
                <a:cs typeface="Cambria Math"/>
              </a:rPr>
              <a:t> </a:t>
            </a:r>
            <a:r>
              <a:rPr kern="1200" dirty="0">
                <a:solidFill>
                  <a:prstClr val="black"/>
                </a:solidFill>
                <a:latin typeface="Palatino Linotype"/>
                <a:cs typeface="Palatino Linotype"/>
              </a:rPr>
              <a:t>(</a:t>
            </a:r>
            <a:r>
              <a:rPr kern="1200" dirty="0">
                <a:solidFill>
                  <a:srgbClr val="FF0000"/>
                </a:solidFill>
                <a:latin typeface="Palatino Linotype"/>
                <a:cs typeface="Palatino Linotype"/>
              </a:rPr>
              <a:t>a</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handle</a:t>
            </a:r>
            <a:r>
              <a:rPr kern="1200" dirty="0">
                <a:solidFill>
                  <a:prstClr val="black"/>
                </a:solidFill>
                <a:latin typeface="Palatino Linotype"/>
                <a:cs typeface="Palatino Linotype"/>
              </a:rPr>
              <a:t>) on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top</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of the</a:t>
            </a:r>
            <a:r>
              <a:rPr kern="1200" spc="-5" dirty="0">
                <a:solidFill>
                  <a:prstClr val="black"/>
                </a:solidFill>
                <a:latin typeface="Palatino Linotype"/>
                <a:cs typeface="Palatino Linotype"/>
              </a:rPr>
              <a:t> stack</a:t>
            </a:r>
            <a:r>
              <a:rPr kern="1200" spc="-7" baseline="23148" dirty="0">
                <a:solidFill>
                  <a:prstClr val="black"/>
                </a:solidFill>
                <a:latin typeface="Palatino Linotype"/>
                <a:cs typeface="Palatino Linotype"/>
              </a:rPr>
              <a:t>*</a:t>
            </a:r>
            <a:endParaRPr kern="1200" baseline="23148" dirty="0">
              <a:solidFill>
                <a:prstClr val="black"/>
              </a:solidFill>
              <a:latin typeface="Palatino Linotype"/>
              <a:cs typeface="Palatino Linotype"/>
            </a:endParaRPr>
          </a:p>
          <a:p>
            <a:pPr marL="361950" indent="-285750" rtl="0">
              <a:spcBef>
                <a:spcPts val="1630"/>
              </a:spcBef>
              <a:buFont typeface="Arial MT"/>
              <a:buChar char="•"/>
              <a:tabLst>
                <a:tab pos="361315" algn="l"/>
                <a:tab pos="361950" algn="l"/>
              </a:tabLst>
            </a:pPr>
            <a:r>
              <a:rPr b="1" kern="1200" dirty="0">
                <a:solidFill>
                  <a:srgbClr val="FF0000"/>
                </a:solidFill>
                <a:latin typeface="Palatino Linotype"/>
                <a:cs typeface="Palatino Linotype"/>
              </a:rPr>
              <a:t>Reduce</a:t>
            </a:r>
            <a:r>
              <a:rPr b="1" kern="1200" spc="-10" dirty="0">
                <a:solidFill>
                  <a:srgbClr val="FF0000"/>
                </a:solidFill>
                <a:latin typeface="Palatino Linotype"/>
                <a:cs typeface="Palatino Linotype"/>
              </a:rPr>
              <a:t> </a:t>
            </a:r>
            <a:r>
              <a:rPr kern="1200" dirty="0">
                <a:solidFill>
                  <a:prstClr val="black"/>
                </a:solidFill>
                <a:latin typeface="Cambria Math"/>
                <a:cs typeface="Cambria Math"/>
              </a:rPr>
              <a:t>𝛽</a:t>
            </a:r>
            <a:r>
              <a:rPr kern="1200" spc="90" dirty="0">
                <a:solidFill>
                  <a:prstClr val="black"/>
                </a:solidFill>
                <a:latin typeface="Cambria Math"/>
                <a:cs typeface="Cambria Math"/>
              </a:rPr>
              <a:t> </a:t>
            </a:r>
            <a:r>
              <a:rPr kern="1200" dirty="0">
                <a:solidFill>
                  <a:prstClr val="black"/>
                </a:solidFill>
                <a:latin typeface="Palatino Linotype"/>
                <a:cs typeface="Palatino Linotype"/>
              </a:rPr>
              <a:t>to</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head</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appropriate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production</a:t>
            </a:r>
          </a:p>
          <a:p>
            <a:pPr rtl="0">
              <a:spcBef>
                <a:spcPts val="65"/>
              </a:spcBef>
            </a:pPr>
            <a:endParaRPr sz="2300" kern="1200" dirty="0">
              <a:solidFill>
                <a:prstClr val="black"/>
              </a:solidFill>
              <a:latin typeface="Palatino Linotype"/>
              <a:cs typeface="Palatino Linotype"/>
            </a:endParaRPr>
          </a:p>
          <a:p>
            <a:pPr marL="75565" marR="347980" rtl="0">
              <a:lnSpc>
                <a:spcPct val="120000"/>
              </a:lnSpc>
            </a:pPr>
            <a:r>
              <a:rPr b="1" kern="1200" spc="-5" dirty="0">
                <a:solidFill>
                  <a:srgbClr val="FF0000"/>
                </a:solidFill>
                <a:latin typeface="Palatino Linotype"/>
                <a:cs typeface="Palatino Linotype"/>
              </a:rPr>
              <a:t>The</a:t>
            </a:r>
            <a:r>
              <a:rPr b="1" kern="1200" dirty="0">
                <a:solidFill>
                  <a:srgbClr val="FF0000"/>
                </a:solidFill>
                <a:latin typeface="Palatino Linotype"/>
                <a:cs typeface="Palatino Linotype"/>
              </a:rPr>
              <a:t> </a:t>
            </a:r>
            <a:r>
              <a:rPr b="1" kern="1200" spc="-5" dirty="0">
                <a:solidFill>
                  <a:srgbClr val="FF0000"/>
                </a:solidFill>
                <a:latin typeface="Palatino Linotype"/>
                <a:cs typeface="Palatino Linotype"/>
              </a:rPr>
              <a:t>parser repeats</a:t>
            </a:r>
            <a:r>
              <a:rPr b="1" kern="1200" dirty="0">
                <a:solidFill>
                  <a:srgbClr val="FF0000"/>
                </a:solidFill>
                <a:latin typeface="Palatino Linotype"/>
                <a:cs typeface="Palatino Linotype"/>
              </a:rPr>
              <a:t> the </a:t>
            </a:r>
            <a:r>
              <a:rPr b="1" kern="1200" spc="-5" dirty="0">
                <a:solidFill>
                  <a:srgbClr val="FF0000"/>
                </a:solidFill>
                <a:latin typeface="Palatino Linotype"/>
                <a:cs typeface="Palatino Linotype"/>
              </a:rPr>
              <a:t>above</a:t>
            </a:r>
            <a:r>
              <a:rPr b="1" kern="1200" dirty="0">
                <a:solidFill>
                  <a:srgbClr val="FF0000"/>
                </a:solidFill>
                <a:latin typeface="Palatino Linotype"/>
                <a:cs typeface="Palatino Linotype"/>
              </a:rPr>
              <a:t> </a:t>
            </a:r>
            <a:r>
              <a:rPr b="1" kern="1200" spc="-5" dirty="0">
                <a:solidFill>
                  <a:srgbClr val="FF0000"/>
                </a:solidFill>
                <a:latin typeface="Palatino Linotype"/>
                <a:cs typeface="Palatino Linotype"/>
              </a:rPr>
              <a:t>cycle</a:t>
            </a:r>
            <a:r>
              <a:rPr b="1" kern="1200" dirty="0">
                <a:solidFill>
                  <a:srgbClr val="FF0000"/>
                </a:solidFill>
                <a:latin typeface="Palatino Linotype"/>
                <a:cs typeface="Palatino Linotype"/>
              </a:rPr>
              <a:t> </a:t>
            </a:r>
            <a:r>
              <a:rPr kern="1200" dirty="0">
                <a:solidFill>
                  <a:prstClr val="black"/>
                </a:solidFill>
                <a:latin typeface="Palatino Linotype"/>
                <a:cs typeface="Palatino Linotype"/>
              </a:rPr>
              <a:t>until it has</a:t>
            </a:r>
            <a:r>
              <a:rPr kern="1200" spc="-5" dirty="0">
                <a:solidFill>
                  <a:prstClr val="black"/>
                </a:solidFill>
                <a:latin typeface="Palatino Linotype"/>
                <a:cs typeface="Palatino Linotype"/>
              </a:rPr>
              <a:t> </a:t>
            </a:r>
            <a:r>
              <a:rPr kern="1200" dirty="0">
                <a:solidFill>
                  <a:srgbClr val="0432FF"/>
                </a:solidFill>
                <a:latin typeface="Palatino Linotype"/>
                <a:cs typeface="Palatino Linotype"/>
              </a:rPr>
              <a:t>detected an error </a:t>
            </a:r>
            <a:r>
              <a:rPr kern="1200" dirty="0">
                <a:solidFill>
                  <a:prstClr val="black"/>
                </a:solidFill>
                <a:latin typeface="Palatino Linotype"/>
                <a:cs typeface="Palatino Linotype"/>
              </a:rPr>
              <a:t>or </a:t>
            </a:r>
            <a:r>
              <a:rPr kern="1200" spc="-434" dirty="0">
                <a:solidFill>
                  <a:prstClr val="black"/>
                </a:solidFill>
                <a:latin typeface="Palatino Linotype"/>
                <a:cs typeface="Palatino Linotype"/>
              </a:rPr>
              <a:t> </a:t>
            </a:r>
            <a:r>
              <a:rPr kern="1200" dirty="0">
                <a:solidFill>
                  <a:srgbClr val="0432FF"/>
                </a:solidFill>
                <a:latin typeface="Palatino Linotype"/>
                <a:cs typeface="Palatino Linotype"/>
              </a:rPr>
              <a:t>the</a:t>
            </a:r>
            <a:r>
              <a:rPr kern="1200" spc="-5" dirty="0">
                <a:solidFill>
                  <a:srgbClr val="0432FF"/>
                </a:solidFill>
                <a:latin typeface="Palatino Linotype"/>
                <a:cs typeface="Palatino Linotype"/>
              </a:rPr>
              <a:t> stack </a:t>
            </a:r>
            <a:r>
              <a:rPr kern="1200" dirty="0">
                <a:solidFill>
                  <a:srgbClr val="0432FF"/>
                </a:solidFill>
                <a:latin typeface="Palatino Linotype"/>
                <a:cs typeface="Palatino Linotype"/>
              </a:rPr>
              <a:t>contains</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the </a:t>
            </a:r>
            <a:r>
              <a:rPr kern="1200" spc="-5" dirty="0">
                <a:solidFill>
                  <a:srgbClr val="0432FF"/>
                </a:solidFill>
                <a:latin typeface="Palatino Linotype"/>
                <a:cs typeface="Palatino Linotype"/>
              </a:rPr>
              <a:t>start symbol</a:t>
            </a:r>
            <a:r>
              <a:rPr kern="1200" dirty="0">
                <a:solidFill>
                  <a:srgbClr val="0432FF"/>
                </a:solidFill>
                <a:latin typeface="Palatino Linotype"/>
                <a:cs typeface="Palatino Linotype"/>
              </a:rPr>
              <a:t> and input is</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empty</a:t>
            </a:r>
            <a:endParaRPr kern="1200" dirty="0">
              <a:solidFill>
                <a:prstClr val="black"/>
              </a:solidFill>
              <a:latin typeface="Palatino Linotype"/>
              <a:cs typeface="Palatino Linotype"/>
            </a:endParaRPr>
          </a:p>
          <a:p>
            <a:pPr rtl="0">
              <a:spcBef>
                <a:spcPts val="45"/>
              </a:spcBef>
            </a:pPr>
            <a:endParaRPr sz="2450" kern="1200" dirty="0">
              <a:solidFill>
                <a:prstClr val="black"/>
              </a:solidFill>
              <a:latin typeface="Palatino Linotype"/>
              <a:cs typeface="Palatino Linotype"/>
            </a:endParaRPr>
          </a:p>
          <a:p>
            <a:pPr marL="76200" rtl="0"/>
            <a:r>
              <a:rPr sz="1350" kern="1200" baseline="24691" dirty="0">
                <a:solidFill>
                  <a:schemeClr val="bg2">
                    <a:lumMod val="50000"/>
                  </a:schemeClr>
                </a:solidFill>
                <a:latin typeface="Palatino Linotype"/>
                <a:cs typeface="Palatino Linotype"/>
              </a:rPr>
              <a:t>*</a:t>
            </a:r>
            <a:r>
              <a:rPr sz="1350" kern="1200" spc="30" baseline="24691"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During </a:t>
            </a:r>
            <a:r>
              <a:rPr sz="1400" kern="1200" spc="-5" dirty="0">
                <a:solidFill>
                  <a:schemeClr val="bg2">
                    <a:lumMod val="50000"/>
                  </a:schemeClr>
                </a:solidFill>
                <a:latin typeface="Palatino Linotype"/>
                <a:cs typeface="Palatino Linotype"/>
              </a:rPr>
              <a:t>shift-reduce</a:t>
            </a:r>
            <a:r>
              <a:rPr sz="1400" kern="1200" spc="5"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parsing,</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the</a:t>
            </a:r>
            <a:r>
              <a:rPr sz="1400" kern="1200" spc="5"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handle</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will</a:t>
            </a:r>
            <a:r>
              <a:rPr sz="1400" kern="1200" spc="10" dirty="0">
                <a:solidFill>
                  <a:schemeClr val="bg2">
                    <a:lumMod val="50000"/>
                  </a:schemeClr>
                </a:solidFill>
                <a:latin typeface="Palatino Linotype"/>
                <a:cs typeface="Palatino Linotype"/>
              </a:rPr>
              <a:t> </a:t>
            </a:r>
            <a:r>
              <a:rPr sz="1400" kern="1200" spc="-10" dirty="0">
                <a:solidFill>
                  <a:schemeClr val="bg2">
                    <a:lumMod val="50000"/>
                  </a:schemeClr>
                </a:solidFill>
                <a:latin typeface="Palatino Linotype"/>
                <a:cs typeface="Palatino Linotype"/>
              </a:rPr>
              <a:t>always</a:t>
            </a:r>
            <a:r>
              <a:rPr sz="1400" kern="1200" spc="-5" dirty="0">
                <a:solidFill>
                  <a:schemeClr val="bg2">
                    <a:lumMod val="50000"/>
                  </a:schemeClr>
                </a:solidFill>
                <a:latin typeface="Palatino Linotype"/>
                <a:cs typeface="Palatino Linotype"/>
              </a:rPr>
              <a:t> </a:t>
            </a:r>
            <a:r>
              <a:rPr sz="1400" u="sng" kern="1200" spc="-5" dirty="0">
                <a:solidFill>
                  <a:schemeClr val="bg2">
                    <a:lumMod val="50000"/>
                  </a:schemeClr>
                </a:solidFill>
                <a:uFill>
                  <a:solidFill>
                    <a:srgbClr val="A6A6A6"/>
                  </a:solidFill>
                </a:uFill>
                <a:latin typeface="Palatino Linotype"/>
                <a:cs typeface="Palatino Linotype"/>
              </a:rPr>
              <a:t>eventually</a:t>
            </a:r>
            <a:r>
              <a:rPr sz="1400" kern="120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appear</a:t>
            </a:r>
            <a:r>
              <a:rPr sz="1400" kern="120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on</a:t>
            </a:r>
            <a:r>
              <a:rPr sz="1400" kern="1200" dirty="0">
                <a:solidFill>
                  <a:schemeClr val="bg2">
                    <a:lumMod val="50000"/>
                  </a:schemeClr>
                </a:solidFill>
                <a:latin typeface="Palatino Linotype"/>
                <a:cs typeface="Palatino Linotype"/>
              </a:rPr>
              <a:t> top </a:t>
            </a:r>
            <a:r>
              <a:rPr sz="1400" kern="1200" spc="-5" dirty="0">
                <a:solidFill>
                  <a:schemeClr val="bg2">
                    <a:lumMod val="50000"/>
                  </a:schemeClr>
                </a:solidFill>
                <a:latin typeface="Palatino Linotype"/>
                <a:cs typeface="Palatino Linotype"/>
              </a:rPr>
              <a:t>of</a:t>
            </a:r>
            <a:r>
              <a:rPr sz="1400" kern="1200" dirty="0">
                <a:solidFill>
                  <a:schemeClr val="bg2">
                    <a:lumMod val="50000"/>
                  </a:schemeClr>
                </a:solidFill>
                <a:latin typeface="Palatino Linotype"/>
                <a:cs typeface="Palatino Linotype"/>
              </a:rPr>
              <a:t> the</a:t>
            </a:r>
            <a:r>
              <a:rPr sz="1400" kern="1200" spc="5"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stack</a:t>
            </a:r>
            <a:endParaRPr sz="1400" kern="1200" dirty="0">
              <a:solidFill>
                <a:schemeClr val="bg2">
                  <a:lumMod val="50000"/>
                </a:schemeClr>
              </a:solidFill>
              <a:latin typeface="Palatino Linotype"/>
              <a:cs typeface="Palatino Linotype"/>
            </a:endParaRPr>
          </a:p>
        </p:txBody>
      </p:sp>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94</a:t>
            </a:fld>
            <a:endParaRPr lang="en-US"/>
          </a:p>
        </p:txBody>
      </p:sp>
      <p:pic>
        <p:nvPicPr>
          <p:cNvPr id="10" name="object 2">
            <a:extLst>
              <a:ext uri="{FF2B5EF4-FFF2-40B4-BE49-F238E27FC236}">
                <a16:creationId xmlns:a16="http://schemas.microsoft.com/office/drawing/2014/main" id="{5CA5E639-21F5-D698-7C62-D10F136FC4A5}"/>
              </a:ext>
            </a:extLst>
          </p:cNvPr>
          <p:cNvPicPr/>
          <p:nvPr/>
        </p:nvPicPr>
        <p:blipFill>
          <a:blip r:embed="rId3" cstate="print"/>
          <a:stretch>
            <a:fillRect/>
          </a:stretch>
        </p:blipFill>
        <p:spPr>
          <a:xfrm>
            <a:off x="7629821" y="3441355"/>
            <a:ext cx="1085810" cy="1019632"/>
          </a:xfrm>
          <a:prstGeom prst="rect">
            <a:avLst/>
          </a:prstGeom>
        </p:spPr>
      </p:pic>
      <p:sp>
        <p:nvSpPr>
          <p:cNvPr id="11" name="object 3">
            <a:extLst>
              <a:ext uri="{FF2B5EF4-FFF2-40B4-BE49-F238E27FC236}">
                <a16:creationId xmlns:a16="http://schemas.microsoft.com/office/drawing/2014/main" id="{22C06376-E08B-CB23-DB1A-CF79C0CE2236}"/>
              </a:ext>
            </a:extLst>
          </p:cNvPr>
          <p:cNvSpPr txBox="1">
            <a:spLocks/>
          </p:cNvSpPr>
          <p:nvPr/>
        </p:nvSpPr>
        <p:spPr>
          <a:xfrm>
            <a:off x="707390" y="524763"/>
            <a:ext cx="49434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Shift-Reduce</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graphicFrame>
        <p:nvGraphicFramePr>
          <p:cNvPr id="12" name="object 4">
            <a:extLst>
              <a:ext uri="{FF2B5EF4-FFF2-40B4-BE49-F238E27FC236}">
                <a16:creationId xmlns:a16="http://schemas.microsoft.com/office/drawing/2014/main" id="{6680658D-ABCC-F7B8-367B-C5AE7A23E899}"/>
              </a:ext>
            </a:extLst>
          </p:cNvPr>
          <p:cNvGraphicFramePr>
            <a:graphicFrameLocks noGrp="1"/>
          </p:cNvGraphicFramePr>
          <p:nvPr>
            <p:extLst>
              <p:ext uri="{D42A27DB-BD31-4B8C-83A1-F6EECF244321}">
                <p14:modId xmlns:p14="http://schemas.microsoft.com/office/powerpoint/2010/main" val="3469371855"/>
              </p:ext>
            </p:extLst>
          </p:nvPr>
        </p:nvGraphicFramePr>
        <p:xfrm>
          <a:off x="2818982" y="1717252"/>
          <a:ext cx="2908300" cy="741680"/>
        </p:xfrm>
        <a:graphic>
          <a:graphicData uri="http://schemas.openxmlformats.org/drawingml/2006/table">
            <a:tbl>
              <a:tblPr firstRow="1" bandRow="1"/>
              <a:tblGrid>
                <a:gridCol w="1454150">
                  <a:extLst>
                    <a:ext uri="{9D8B030D-6E8A-4147-A177-3AD203B41FA5}">
                      <a16:colId xmlns:a16="http://schemas.microsoft.com/office/drawing/2014/main" val="20000"/>
                    </a:ext>
                  </a:extLst>
                </a:gridCol>
                <a:gridCol w="1454150">
                  <a:extLst>
                    <a:ext uri="{9D8B030D-6E8A-4147-A177-3AD203B41FA5}">
                      <a16:colId xmlns:a16="http://schemas.microsoft.com/office/drawing/2014/main" val="20001"/>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800" b="1" spc="-10" dirty="0">
                          <a:latin typeface="Palatino Linotype"/>
                          <a:cs typeface="Palatino Linotype"/>
                        </a:rPr>
                        <a:t>S</a:t>
                      </a:r>
                      <a:r>
                        <a:rPr sz="1400" b="1" spc="-10" dirty="0">
                          <a:latin typeface="Palatino Linotype"/>
                          <a:cs typeface="Palatino Linotype"/>
                        </a:rPr>
                        <a:t>TACK</a:t>
                      </a:r>
                      <a:endParaRPr sz="1400">
                        <a:latin typeface="Palatino Linotype"/>
                        <a:cs typeface="Palatino Linotype"/>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417830">
                        <a:lnSpc>
                          <a:spcPct val="100000"/>
                        </a:lnSpc>
                        <a:spcBef>
                          <a:spcPts val="250"/>
                        </a:spcBef>
                      </a:pPr>
                      <a:r>
                        <a:rPr sz="1800" b="1" spc="15" dirty="0">
                          <a:latin typeface="Palatino Linotype"/>
                          <a:cs typeface="Palatino Linotype"/>
                        </a:rPr>
                        <a:t>I</a:t>
                      </a:r>
                      <a:r>
                        <a:rPr sz="1400" b="1" spc="15" dirty="0">
                          <a:latin typeface="Palatino Linotype"/>
                          <a:cs typeface="Palatino Linotype"/>
                        </a:rPr>
                        <a:t>NPUT</a:t>
                      </a:r>
                      <a:endParaRPr sz="1400">
                        <a:latin typeface="Palatino Linotype"/>
                        <a:cs typeface="Palatino Linotype"/>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9530" algn="ctr">
                        <a:lnSpc>
                          <a:spcPct val="100000"/>
                        </a:lnSpc>
                        <a:spcBef>
                          <a:spcPts val="260"/>
                        </a:spcBef>
                      </a:pPr>
                      <a:r>
                        <a:rPr sz="1800" dirty="0">
                          <a:latin typeface="Cambria Math"/>
                          <a:cs typeface="Cambria Math"/>
                        </a:rPr>
                        <a:t>$</a:t>
                      </a:r>
                      <a:endParaRPr sz="1800">
                        <a:latin typeface="Cambria Math"/>
                        <a:cs typeface="Cambria Math"/>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9530" algn="ctr">
                        <a:lnSpc>
                          <a:spcPct val="100000"/>
                        </a:lnSpc>
                        <a:spcBef>
                          <a:spcPts val="260"/>
                        </a:spcBef>
                      </a:pPr>
                      <a:r>
                        <a:rPr lang="zh-CN" altLang="en-US" sz="1800" spc="-40" dirty="0">
                          <a:latin typeface="Cambria Math"/>
                          <a:cs typeface="Cambria Math"/>
                        </a:rPr>
                        <a:t>𝜔</a:t>
                      </a:r>
                      <a:r>
                        <a:rPr sz="1800" spc="-40" dirty="0">
                          <a:latin typeface="Cambria Math"/>
                          <a:cs typeface="Cambria Math"/>
                        </a:rPr>
                        <a:t>$</a:t>
                      </a:r>
                      <a:endParaRPr sz="1800" dirty="0">
                        <a:latin typeface="Cambria Math"/>
                        <a:cs typeface="Cambria Math"/>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14" name="object 6">
            <a:extLst>
              <a:ext uri="{FF2B5EF4-FFF2-40B4-BE49-F238E27FC236}">
                <a16:creationId xmlns:a16="http://schemas.microsoft.com/office/drawing/2014/main" id="{9BCBFFA5-E708-1E0B-2F6C-988C0D9C42C5}"/>
              </a:ext>
            </a:extLst>
          </p:cNvPr>
          <p:cNvGraphicFramePr>
            <a:graphicFrameLocks noGrp="1"/>
          </p:cNvGraphicFramePr>
          <p:nvPr/>
        </p:nvGraphicFramePr>
        <p:xfrm>
          <a:off x="6959158" y="647458"/>
          <a:ext cx="1351280" cy="1879600"/>
        </p:xfrm>
        <a:graphic>
          <a:graphicData uri="http://schemas.openxmlformats.org/drawingml/2006/table">
            <a:tbl>
              <a:tblPr firstRow="1" bandRow="1"/>
              <a:tblGrid>
                <a:gridCol w="1351280">
                  <a:extLst>
                    <a:ext uri="{9D8B030D-6E8A-4147-A177-3AD203B41FA5}">
                      <a16:colId xmlns:a16="http://schemas.microsoft.com/office/drawing/2014/main" val="20000"/>
                    </a:ext>
                  </a:extLst>
                </a:gridCol>
              </a:tblGrid>
              <a:tr h="3962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2000" b="1" spc="-5" dirty="0">
                          <a:solidFill>
                            <a:srgbClr val="FF0000"/>
                          </a:solidFill>
                          <a:latin typeface="Palatino Linotype"/>
                          <a:cs typeface="Palatino Linotype"/>
                        </a:rPr>
                        <a:t>Actions:</a:t>
                      </a:r>
                      <a:endParaRPr sz="2000">
                        <a:latin typeface="Palatino Linotype"/>
                        <a:cs typeface="Palatino Linotype"/>
                      </a:endParaRPr>
                    </a:p>
                  </a:txBody>
                  <a:tcPr marL="0" marR="0" marT="336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800" dirty="0">
                          <a:latin typeface="Palatino Linotype"/>
                          <a:cs typeface="Palatino Linotype"/>
                        </a:rPr>
                        <a:t>Shift</a:t>
                      </a: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9"/>
                        </a:spcBef>
                      </a:pPr>
                      <a:r>
                        <a:rPr sz="1800" spc="-5" dirty="0">
                          <a:latin typeface="Palatino Linotype"/>
                          <a:cs typeface="Palatino Linotype"/>
                        </a:rPr>
                        <a:t>Reduce</a:t>
                      </a:r>
                      <a:endParaRPr sz="1800">
                        <a:latin typeface="Palatino Linotype"/>
                        <a:cs typeface="Palatino Linotype"/>
                      </a:endParaRPr>
                    </a:p>
                  </a:txBody>
                  <a:tcPr marL="0" marR="0" marT="3301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800" spc="-5" dirty="0">
                          <a:latin typeface="Palatino Linotype"/>
                          <a:cs typeface="Palatino Linotype"/>
                        </a:rPr>
                        <a:t>Accept</a:t>
                      </a:r>
                      <a:endParaRPr sz="1800">
                        <a:latin typeface="Palatino Linotype"/>
                        <a:cs typeface="Palatino Linotype"/>
                      </a:endParaRPr>
                    </a:p>
                  </a:txBody>
                  <a:tcPr marL="0" marR="0" marT="336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800" dirty="0">
                          <a:latin typeface="Palatino Linotype"/>
                          <a:cs typeface="Palatino Linotype"/>
                        </a:rPr>
                        <a:t>Error</a:t>
                      </a: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846558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95</a:t>
            </a:fld>
            <a:endParaRPr lang="en-US"/>
          </a:p>
        </p:txBody>
      </p:sp>
      <p:sp>
        <p:nvSpPr>
          <p:cNvPr id="11" name="object 2">
            <a:extLst>
              <a:ext uri="{FF2B5EF4-FFF2-40B4-BE49-F238E27FC236}">
                <a16:creationId xmlns:a16="http://schemas.microsoft.com/office/drawing/2014/main" id="{31A21F25-4785-D8DD-B502-3D95FCDAED79}"/>
              </a:ext>
            </a:extLst>
          </p:cNvPr>
          <p:cNvSpPr txBox="1"/>
          <p:nvPr/>
        </p:nvSpPr>
        <p:spPr>
          <a:xfrm>
            <a:off x="707390" y="524763"/>
            <a:ext cx="2027555" cy="635000"/>
          </a:xfrm>
          <a:prstGeom prst="rect">
            <a:avLst/>
          </a:prstGeom>
        </p:spPr>
        <p:txBody>
          <a:bodyPr vert="horz" wrap="square" lIns="0" tIns="12700" rIns="0" bIns="0" rtlCol="0">
            <a:spAutoFit/>
          </a:bodyPr>
          <a:lstStyle/>
          <a:p>
            <a:pPr marL="12700" rtl="0">
              <a:spcBef>
                <a:spcPts val="100"/>
              </a:spcBef>
            </a:pPr>
            <a:r>
              <a:rPr sz="4000" b="1" kern="1200" dirty="0">
                <a:solidFill>
                  <a:prstClr val="black"/>
                </a:solidFill>
                <a:latin typeface="Palatino Linotype"/>
                <a:cs typeface="Palatino Linotype"/>
              </a:rPr>
              <a:t>Exa</a:t>
            </a:r>
            <a:r>
              <a:rPr sz="4000" b="1" kern="1200" spc="5" dirty="0">
                <a:solidFill>
                  <a:prstClr val="black"/>
                </a:solidFill>
                <a:latin typeface="Palatino Linotype"/>
                <a:cs typeface="Palatino Linotype"/>
              </a:rPr>
              <a:t>m</a:t>
            </a:r>
            <a:r>
              <a:rPr sz="4000" b="1" kern="1200" spc="-10" dirty="0">
                <a:solidFill>
                  <a:prstClr val="black"/>
                </a:solidFill>
                <a:latin typeface="Palatino Linotype"/>
                <a:cs typeface="Palatino Linotype"/>
              </a:rPr>
              <a:t>p</a:t>
            </a:r>
            <a:r>
              <a:rPr sz="4000" b="1" kern="1200" spc="5" dirty="0">
                <a:solidFill>
                  <a:prstClr val="black"/>
                </a:solidFill>
                <a:latin typeface="Palatino Linotype"/>
                <a:cs typeface="Palatino Linotype"/>
              </a:rPr>
              <a:t>l</a:t>
            </a:r>
            <a:r>
              <a:rPr sz="4000" b="1" kern="1200" dirty="0">
                <a:solidFill>
                  <a:prstClr val="black"/>
                </a:solidFill>
                <a:latin typeface="Palatino Linotype"/>
                <a:cs typeface="Palatino Linotype"/>
              </a:rPr>
              <a:t>e</a:t>
            </a:r>
            <a:endParaRPr sz="4000" kern="1200">
              <a:solidFill>
                <a:prstClr val="black"/>
              </a:solidFill>
              <a:latin typeface="Palatino Linotype"/>
              <a:cs typeface="Palatino Linotype"/>
            </a:endParaRPr>
          </a:p>
        </p:txBody>
      </p:sp>
      <p:pic>
        <p:nvPicPr>
          <p:cNvPr id="12" name="object 3">
            <a:extLst>
              <a:ext uri="{FF2B5EF4-FFF2-40B4-BE49-F238E27FC236}">
                <a16:creationId xmlns:a16="http://schemas.microsoft.com/office/drawing/2014/main" id="{A4B510AD-033E-A459-58E8-49DECF244C9D}"/>
              </a:ext>
            </a:extLst>
          </p:cNvPr>
          <p:cNvPicPr/>
          <p:nvPr/>
        </p:nvPicPr>
        <p:blipFill>
          <a:blip r:embed="rId3" cstate="print"/>
          <a:stretch>
            <a:fillRect/>
          </a:stretch>
        </p:blipFill>
        <p:spPr>
          <a:xfrm>
            <a:off x="722384" y="2489560"/>
            <a:ext cx="6013050" cy="3065681"/>
          </a:xfrm>
          <a:prstGeom prst="rect">
            <a:avLst/>
          </a:prstGeom>
        </p:spPr>
      </p:pic>
      <p:grpSp>
        <p:nvGrpSpPr>
          <p:cNvPr id="13" name="object 4">
            <a:extLst>
              <a:ext uri="{FF2B5EF4-FFF2-40B4-BE49-F238E27FC236}">
                <a16:creationId xmlns:a16="http://schemas.microsoft.com/office/drawing/2014/main" id="{B39B1938-0742-3EF9-F9F6-65510BCC189F}"/>
              </a:ext>
            </a:extLst>
          </p:cNvPr>
          <p:cNvGrpSpPr/>
          <p:nvPr/>
        </p:nvGrpSpPr>
        <p:grpSpPr>
          <a:xfrm>
            <a:off x="7152679" y="1792014"/>
            <a:ext cx="1572260" cy="1149985"/>
            <a:chOff x="7152679" y="1792014"/>
            <a:chExt cx="1572260" cy="1149985"/>
          </a:xfrm>
        </p:grpSpPr>
        <p:pic>
          <p:nvPicPr>
            <p:cNvPr id="14" name="object 5">
              <a:extLst>
                <a:ext uri="{FF2B5EF4-FFF2-40B4-BE49-F238E27FC236}">
                  <a16:creationId xmlns:a16="http://schemas.microsoft.com/office/drawing/2014/main" id="{3DD08A4A-079B-A3C9-6A7C-FECBDBE7A75D}"/>
                </a:ext>
              </a:extLst>
            </p:cNvPr>
            <p:cNvPicPr/>
            <p:nvPr/>
          </p:nvPicPr>
          <p:blipFill>
            <a:blip r:embed="rId4" cstate="print"/>
            <a:stretch>
              <a:fillRect/>
            </a:stretch>
          </p:blipFill>
          <p:spPr>
            <a:xfrm>
              <a:off x="7233178" y="1914863"/>
              <a:ext cx="1314429" cy="920758"/>
            </a:xfrm>
            <a:prstGeom prst="rect">
              <a:avLst/>
            </a:prstGeom>
          </p:spPr>
        </p:pic>
        <p:sp>
          <p:nvSpPr>
            <p:cNvPr id="15" name="object 6">
              <a:extLst>
                <a:ext uri="{FF2B5EF4-FFF2-40B4-BE49-F238E27FC236}">
                  <a16:creationId xmlns:a16="http://schemas.microsoft.com/office/drawing/2014/main" id="{028D300A-CA92-142E-C5F2-CED63BF442EE}"/>
                </a:ext>
              </a:extLst>
            </p:cNvPr>
            <p:cNvSpPr/>
            <p:nvPr/>
          </p:nvSpPr>
          <p:spPr>
            <a:xfrm>
              <a:off x="7157442" y="1796776"/>
              <a:ext cx="1562735" cy="1140460"/>
            </a:xfrm>
            <a:custGeom>
              <a:avLst/>
              <a:gdLst/>
              <a:ahLst/>
              <a:cxnLst/>
              <a:rect l="l" t="t" r="r" b="b"/>
              <a:pathLst>
                <a:path w="1562734" h="1140460">
                  <a:moveTo>
                    <a:pt x="0" y="0"/>
                  </a:moveTo>
                  <a:lnTo>
                    <a:pt x="1562426" y="0"/>
                  </a:lnTo>
                  <a:lnTo>
                    <a:pt x="1562426" y="1139933"/>
                  </a:lnTo>
                  <a:lnTo>
                    <a:pt x="0" y="1139933"/>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6" name="object 7">
            <a:extLst>
              <a:ext uri="{FF2B5EF4-FFF2-40B4-BE49-F238E27FC236}">
                <a16:creationId xmlns:a16="http://schemas.microsoft.com/office/drawing/2014/main" id="{B0797D9F-45E0-9975-BFC6-61F77F53376D}"/>
              </a:ext>
            </a:extLst>
          </p:cNvPr>
          <p:cNvSpPr txBox="1"/>
          <p:nvPr/>
        </p:nvSpPr>
        <p:spPr>
          <a:xfrm>
            <a:off x="681990" y="1821179"/>
            <a:ext cx="3654425" cy="330200"/>
          </a:xfrm>
          <a:prstGeom prst="rect">
            <a:avLst/>
          </a:prstGeom>
        </p:spPr>
        <p:txBody>
          <a:bodyPr vert="horz" wrap="square" lIns="0" tIns="12700" rIns="0" bIns="0" rtlCol="0">
            <a:spAutoFit/>
          </a:bodyPr>
          <a:lstStyle/>
          <a:p>
            <a:pPr marL="38100" rtl="0">
              <a:spcBef>
                <a:spcPts val="100"/>
              </a:spcBef>
            </a:pPr>
            <a:r>
              <a:rPr sz="2000" kern="1200" spc="-10" dirty="0">
                <a:solidFill>
                  <a:srgbClr val="FF0000"/>
                </a:solidFill>
                <a:latin typeface="Palatino Linotype"/>
                <a:cs typeface="Palatino Linotype"/>
              </a:rPr>
              <a:t>Parsing </a:t>
            </a:r>
            <a:r>
              <a:rPr sz="2000" kern="1200" spc="-5" dirty="0">
                <a:solidFill>
                  <a:srgbClr val="FF0000"/>
                </a:solidFill>
                <a:latin typeface="Palatino Linotype"/>
                <a:cs typeface="Palatino Linotype"/>
              </a:rPr>
              <a:t>steps</a:t>
            </a:r>
            <a:r>
              <a:rPr sz="2000" kern="1200" spc="-10" dirty="0">
                <a:solidFill>
                  <a:srgbClr val="FF0000"/>
                </a:solidFill>
                <a:latin typeface="Palatino Linotype"/>
                <a:cs typeface="Palatino Linotype"/>
              </a:rPr>
              <a:t> </a:t>
            </a:r>
            <a:r>
              <a:rPr sz="2000" kern="1200" spc="-5" dirty="0">
                <a:solidFill>
                  <a:srgbClr val="FF0000"/>
                </a:solidFill>
                <a:latin typeface="Palatino Linotype"/>
                <a:cs typeface="Palatino Linotype"/>
              </a:rPr>
              <a:t>on</a:t>
            </a:r>
            <a:r>
              <a:rPr sz="2000" kern="1200" spc="-10" dirty="0">
                <a:solidFill>
                  <a:srgbClr val="FF0000"/>
                </a:solidFill>
                <a:latin typeface="Palatino Linotype"/>
                <a:cs typeface="Palatino Linotype"/>
              </a:rPr>
              <a:t> </a:t>
            </a:r>
            <a:r>
              <a:rPr sz="2000" kern="1200" spc="-5" dirty="0">
                <a:solidFill>
                  <a:srgbClr val="FF0000"/>
                </a:solidFill>
                <a:latin typeface="Palatino Linotype"/>
                <a:cs typeface="Palatino Linotype"/>
              </a:rPr>
              <a:t>input</a:t>
            </a:r>
            <a:r>
              <a:rPr sz="2000" kern="1200" spc="-15" dirty="0">
                <a:solidFill>
                  <a:srgbClr val="FF0000"/>
                </a:solidFill>
                <a:latin typeface="Palatino Linotype"/>
                <a:cs typeface="Palatino Linotype"/>
              </a:rPr>
              <a:t> </a:t>
            </a:r>
            <a:r>
              <a:rPr sz="2000" kern="1200" dirty="0">
                <a:solidFill>
                  <a:srgbClr val="0432FF"/>
                </a:solidFill>
                <a:latin typeface="Cambria Math"/>
                <a:cs typeface="Cambria Math"/>
              </a:rPr>
              <a:t>𝐢𝐝</a:t>
            </a:r>
            <a:r>
              <a:rPr sz="1950" kern="1200" baseline="-17094" dirty="0">
                <a:solidFill>
                  <a:srgbClr val="0432FF"/>
                </a:solidFill>
                <a:latin typeface="Cambria Math"/>
                <a:cs typeface="Cambria Math"/>
              </a:rPr>
              <a:t>1  </a:t>
            </a:r>
            <a:r>
              <a:rPr sz="1950" kern="1200" spc="37" baseline="-17094"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425" dirty="0">
                <a:solidFill>
                  <a:srgbClr val="0432FF"/>
                </a:solidFill>
                <a:latin typeface="Cambria Math"/>
                <a:cs typeface="Cambria Math"/>
              </a:rPr>
              <a:t> </a:t>
            </a:r>
            <a:r>
              <a:rPr sz="2000" kern="1200" dirty="0">
                <a:solidFill>
                  <a:srgbClr val="0432FF"/>
                </a:solidFill>
                <a:latin typeface="Cambria Math"/>
                <a:cs typeface="Cambria Math"/>
              </a:rPr>
              <a:t>𝐢𝐝</a:t>
            </a:r>
            <a:r>
              <a:rPr sz="1950" kern="1200" baseline="-17094" dirty="0">
                <a:solidFill>
                  <a:srgbClr val="0432FF"/>
                </a:solidFill>
                <a:latin typeface="Cambria Math"/>
                <a:cs typeface="Cambria Math"/>
              </a:rPr>
              <a:t>2</a:t>
            </a:r>
            <a:endParaRPr sz="1950" kern="1200" baseline="-17094">
              <a:solidFill>
                <a:prstClr val="black"/>
              </a:solidFill>
              <a:latin typeface="Cambria Math"/>
              <a:cs typeface="Cambria Math"/>
            </a:endParaRPr>
          </a:p>
        </p:txBody>
      </p:sp>
    </p:spTree>
    <p:extLst>
      <p:ext uri="{BB962C8B-B14F-4D97-AF65-F5344CB8AC3E}">
        <p14:creationId xmlns:p14="http://schemas.microsoft.com/office/powerpoint/2010/main" val="5882666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96</a:t>
            </a:fld>
            <a:endParaRPr lang="en-US"/>
          </a:p>
        </p:txBody>
      </p:sp>
      <p:pic>
        <p:nvPicPr>
          <p:cNvPr id="12" name="object 2">
            <a:extLst>
              <a:ext uri="{FF2B5EF4-FFF2-40B4-BE49-F238E27FC236}">
                <a16:creationId xmlns:a16="http://schemas.microsoft.com/office/drawing/2014/main" id="{8B29C595-0258-BD89-9AD6-B37F10B4BF86}"/>
              </a:ext>
            </a:extLst>
          </p:cNvPr>
          <p:cNvPicPr/>
          <p:nvPr/>
        </p:nvPicPr>
        <p:blipFill>
          <a:blip r:embed="rId3" cstate="print"/>
          <a:stretch>
            <a:fillRect/>
          </a:stretch>
        </p:blipFill>
        <p:spPr>
          <a:xfrm>
            <a:off x="762418" y="2447443"/>
            <a:ext cx="3829923" cy="416830"/>
          </a:xfrm>
          <a:prstGeom prst="rect">
            <a:avLst/>
          </a:prstGeom>
        </p:spPr>
      </p:pic>
      <p:sp>
        <p:nvSpPr>
          <p:cNvPr id="13" name="object 3">
            <a:extLst>
              <a:ext uri="{FF2B5EF4-FFF2-40B4-BE49-F238E27FC236}">
                <a16:creationId xmlns:a16="http://schemas.microsoft.com/office/drawing/2014/main" id="{81E9A970-3B34-BAB8-BAA4-8DFF90EF561D}"/>
              </a:ext>
            </a:extLst>
          </p:cNvPr>
          <p:cNvSpPr txBox="1">
            <a:spLocks/>
          </p:cNvSpPr>
          <p:nvPr/>
        </p:nvSpPr>
        <p:spPr>
          <a:xfrm>
            <a:off x="707390" y="606044"/>
            <a:ext cx="7593965" cy="4826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000" b="1" i="0" u="none" strike="noStrike" kern="0" cap="none" spc="0" normalizeH="0" baseline="0" noProof="0" dirty="0">
                <a:ln>
                  <a:noFill/>
                </a:ln>
                <a:effectLst/>
                <a:uLnTx/>
                <a:uFillTx/>
                <a:latin typeface="Palatino Linotype"/>
                <a:ea typeface="+mj-ea"/>
              </a:rPr>
              <a:t>Why</a:t>
            </a:r>
            <a:r>
              <a:rPr kumimoji="0" lang="en-US" sz="3000" b="1" i="0" u="none" strike="noStrike" kern="0" cap="none" spc="-20" normalizeH="0" baseline="0" noProof="0" dirty="0">
                <a:ln>
                  <a:noFill/>
                </a:ln>
                <a:effectLst/>
                <a:uLnTx/>
                <a:uFillTx/>
                <a:latin typeface="Palatino Linotype"/>
                <a:ea typeface="+mj-ea"/>
              </a:rPr>
              <a:t> </a:t>
            </a:r>
            <a:r>
              <a:rPr kumimoji="0" lang="en-US" sz="3000" b="1" i="0" u="none" strike="noStrike" kern="0" cap="none" spc="0" normalizeH="0" baseline="0" noProof="0" dirty="0">
                <a:ln>
                  <a:noFill/>
                </a:ln>
                <a:effectLst/>
                <a:uLnTx/>
                <a:uFillTx/>
                <a:latin typeface="Palatino Linotype"/>
                <a:ea typeface="+mj-ea"/>
              </a:rPr>
              <a:t>Handles </a:t>
            </a:r>
            <a:r>
              <a:rPr kumimoji="0" lang="en-US" sz="3000" b="1" i="0" u="none" strike="noStrike" kern="0" cap="none" spc="-5" normalizeH="0" baseline="0" noProof="0" dirty="0">
                <a:ln>
                  <a:noFill/>
                </a:ln>
                <a:effectLst/>
                <a:uLnTx/>
                <a:uFillTx/>
                <a:latin typeface="Palatino Linotype"/>
                <a:ea typeface="+mj-ea"/>
              </a:rPr>
              <a:t>Always</a:t>
            </a:r>
            <a:r>
              <a:rPr kumimoji="0" lang="en-US" sz="3000" b="1" i="0" u="none" strike="noStrike" kern="0" cap="none" spc="0" normalizeH="0" baseline="0" noProof="0" dirty="0">
                <a:ln>
                  <a:noFill/>
                </a:ln>
                <a:effectLst/>
                <a:uLnTx/>
                <a:uFillTx/>
                <a:latin typeface="Palatino Linotype"/>
                <a:ea typeface="+mj-ea"/>
              </a:rPr>
              <a:t> Appear</a:t>
            </a:r>
            <a:r>
              <a:rPr kumimoji="0" lang="en-US" sz="3000" b="1" i="0" u="none" strike="noStrike" kern="0" cap="none" spc="-15" normalizeH="0" baseline="0" noProof="0" dirty="0">
                <a:ln>
                  <a:noFill/>
                </a:ln>
                <a:effectLst/>
                <a:uLnTx/>
                <a:uFillTx/>
                <a:latin typeface="Palatino Linotype"/>
                <a:ea typeface="+mj-ea"/>
              </a:rPr>
              <a:t> </a:t>
            </a:r>
            <a:r>
              <a:rPr kumimoji="0" lang="en-US" sz="3000" b="1" i="0" u="none" strike="noStrike" kern="0" cap="none" spc="0" normalizeH="0" baseline="0" noProof="0" dirty="0">
                <a:ln>
                  <a:noFill/>
                </a:ln>
                <a:effectLst/>
                <a:uLnTx/>
                <a:uFillTx/>
                <a:latin typeface="Palatino Linotype"/>
                <a:ea typeface="+mj-ea"/>
              </a:rPr>
              <a:t>at</a:t>
            </a:r>
            <a:r>
              <a:rPr kumimoji="0" lang="en-US" sz="3000" b="1" i="0" u="none" strike="noStrike" kern="0" cap="none" spc="-5" normalizeH="0" baseline="0" noProof="0" dirty="0">
                <a:ln>
                  <a:noFill/>
                </a:ln>
                <a:effectLst/>
                <a:uLnTx/>
                <a:uFillTx/>
                <a:latin typeface="Palatino Linotype"/>
                <a:ea typeface="+mj-ea"/>
              </a:rPr>
              <a:t> </a:t>
            </a:r>
            <a:r>
              <a:rPr kumimoji="0" lang="en-US" sz="3000" b="1" i="0" u="none" strike="noStrike" kern="0" cap="none" spc="0" normalizeH="0" baseline="0" noProof="0" dirty="0">
                <a:ln>
                  <a:noFill/>
                </a:ln>
                <a:effectLst/>
                <a:uLnTx/>
                <a:uFillTx/>
                <a:latin typeface="Palatino Linotype"/>
                <a:ea typeface="+mj-ea"/>
              </a:rPr>
              <a:t>Stack </a:t>
            </a:r>
            <a:r>
              <a:rPr kumimoji="0" lang="en-US" sz="3000" b="1" i="0" u="none" strike="noStrike" kern="0" cap="none" spc="-75" normalizeH="0" baseline="0" noProof="0" dirty="0">
                <a:ln>
                  <a:noFill/>
                </a:ln>
                <a:effectLst/>
                <a:uLnTx/>
                <a:uFillTx/>
                <a:latin typeface="Palatino Linotype"/>
                <a:ea typeface="+mj-ea"/>
              </a:rPr>
              <a:t>Top?</a:t>
            </a:r>
            <a:endParaRPr kumimoji="0" lang="en-US" sz="3000" b="1" i="0" u="none" strike="noStrike" kern="0" cap="none" spc="0" normalizeH="0" baseline="0" noProof="0" dirty="0">
              <a:ln>
                <a:noFill/>
              </a:ln>
              <a:effectLst/>
              <a:uLnTx/>
              <a:uFillTx/>
              <a:latin typeface="Palatino Linotype"/>
              <a:ea typeface="+mj-ea"/>
            </a:endParaRPr>
          </a:p>
        </p:txBody>
      </p:sp>
      <p:sp>
        <p:nvSpPr>
          <p:cNvPr id="14" name="object 4">
            <a:extLst>
              <a:ext uri="{FF2B5EF4-FFF2-40B4-BE49-F238E27FC236}">
                <a16:creationId xmlns:a16="http://schemas.microsoft.com/office/drawing/2014/main" id="{B0B3ACE4-954D-E844-08E9-03153888CAE0}"/>
              </a:ext>
            </a:extLst>
          </p:cNvPr>
          <p:cNvSpPr txBox="1"/>
          <p:nvPr/>
        </p:nvSpPr>
        <p:spPr>
          <a:xfrm>
            <a:off x="694690" y="1449323"/>
            <a:ext cx="7121525" cy="732790"/>
          </a:xfrm>
          <a:prstGeom prst="rect">
            <a:avLst/>
          </a:prstGeom>
        </p:spPr>
        <p:txBody>
          <a:bodyPr vert="horz" wrap="square" lIns="0" tIns="12700" rIns="0" bIns="0" rtlCol="0">
            <a:spAutoFit/>
          </a:bodyPr>
          <a:lstStyle/>
          <a:p>
            <a:pPr marL="25400" marR="17780" rtl="0">
              <a:lnSpc>
                <a:spcPct val="115999"/>
              </a:lnSpc>
              <a:spcBef>
                <a:spcPts val="100"/>
              </a:spcBef>
            </a:pPr>
            <a:r>
              <a:rPr sz="2000" b="1" kern="1200" spc="-5" dirty="0">
                <a:solidFill>
                  <a:srgbClr val="FF0000"/>
                </a:solidFill>
                <a:latin typeface="Palatino Linotype"/>
                <a:cs typeface="Palatino Linotype"/>
              </a:rPr>
              <a:t>(Analysis </a:t>
            </a:r>
            <a:r>
              <a:rPr sz="2000" b="1" kern="1200" dirty="0">
                <a:solidFill>
                  <a:srgbClr val="FF0000"/>
                </a:solidFill>
                <a:latin typeface="Palatino Linotype"/>
                <a:cs typeface="Palatino Linotype"/>
              </a:rPr>
              <a:t>by </a:t>
            </a:r>
            <a:r>
              <a:rPr sz="2000" b="1" kern="1200" spc="-5" dirty="0">
                <a:solidFill>
                  <a:srgbClr val="FF0000"/>
                </a:solidFill>
                <a:latin typeface="Palatino Linotype"/>
                <a:cs typeface="Palatino Linotype"/>
              </a:rPr>
              <a:t>enumeration) </a:t>
            </a:r>
            <a:r>
              <a:rPr sz="2000" kern="1200" spc="-5" dirty="0">
                <a:solidFill>
                  <a:prstClr val="black"/>
                </a:solidFill>
                <a:latin typeface="Palatino Linotype"/>
                <a:cs typeface="Palatino Linotype"/>
              </a:rPr>
              <a:t>Consider the</a:t>
            </a:r>
            <a:r>
              <a:rPr sz="2000" kern="1200" dirty="0">
                <a:solidFill>
                  <a:prstClr val="black"/>
                </a:solidFill>
                <a:latin typeface="Palatino Linotype"/>
                <a:cs typeface="Palatino Linotype"/>
              </a:rPr>
              <a:t> possible </a:t>
            </a:r>
            <a:r>
              <a:rPr sz="2000" kern="1200" spc="-5" dirty="0">
                <a:solidFill>
                  <a:prstClr val="black"/>
                </a:solidFill>
                <a:latin typeface="Palatino Linotype"/>
                <a:cs typeface="Palatino Linotype"/>
              </a:rPr>
              <a:t>forms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a:t>
            </a:r>
            <a:r>
              <a:rPr sz="2000" kern="1200" spc="-15" dirty="0">
                <a:solidFill>
                  <a:prstClr val="black"/>
                </a:solidFill>
                <a:latin typeface="Palatino Linotype"/>
                <a:cs typeface="Palatino Linotype"/>
              </a:rPr>
              <a:t>two </a:t>
            </a:r>
            <a:r>
              <a:rPr sz="2000" kern="1200" spc="-484" dirty="0">
                <a:solidFill>
                  <a:prstClr val="black"/>
                </a:solidFill>
                <a:latin typeface="Palatino Linotype"/>
                <a:cs typeface="Palatino Linotype"/>
              </a:rPr>
              <a:t> </a:t>
            </a:r>
            <a:r>
              <a:rPr sz="2000" kern="1200" spc="-10" dirty="0">
                <a:solidFill>
                  <a:prstClr val="black"/>
                </a:solidFill>
                <a:latin typeface="Palatino Linotype"/>
                <a:cs typeface="Palatino Linotype"/>
              </a:rPr>
              <a:t>successive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steps</a:t>
            </a:r>
            <a:r>
              <a:rPr sz="2000" kern="1200" dirty="0">
                <a:solidFill>
                  <a:prstClr val="black"/>
                </a:solidFill>
                <a:latin typeface="Palatino Linotype"/>
                <a:cs typeface="Palatino Linotype"/>
              </a:rPr>
              <a:t> in</a:t>
            </a:r>
            <a:r>
              <a:rPr sz="2000" kern="1200" spc="-5" dirty="0">
                <a:solidFill>
                  <a:prstClr val="black"/>
                </a:solidFill>
                <a:latin typeface="Palatino Linotype"/>
                <a:cs typeface="Palatino Linotype"/>
              </a:rPr>
              <a:t> any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rightmost</a:t>
            </a:r>
            <a:r>
              <a:rPr sz="2000" kern="1200" dirty="0">
                <a:solidFill>
                  <a:prstClr val="black"/>
                </a:solidFill>
                <a:latin typeface="Palatino Linotype"/>
                <a:cs typeface="Palatino Linotype"/>
              </a:rPr>
              <a:t> </a:t>
            </a:r>
            <a:r>
              <a:rPr sz="2000" kern="1200" spc="-10" dirty="0">
                <a:solidFill>
                  <a:prstClr val="black"/>
                </a:solidFill>
                <a:latin typeface="Palatino Linotype"/>
                <a:cs typeface="Palatino Linotype"/>
              </a:rPr>
              <a:t>derivation</a:t>
            </a:r>
            <a:r>
              <a:rPr sz="1950" kern="1200" spc="-15" baseline="25641" dirty="0">
                <a:solidFill>
                  <a:prstClr val="black"/>
                </a:solidFill>
                <a:latin typeface="Palatino Linotype"/>
                <a:cs typeface="Palatino Linotype"/>
              </a:rPr>
              <a:t>*</a:t>
            </a:r>
            <a:endParaRPr sz="1950" kern="1200" baseline="25641" dirty="0">
              <a:solidFill>
                <a:prstClr val="black"/>
              </a:solidFill>
              <a:latin typeface="Palatino Linotype"/>
              <a:cs typeface="Palatino Linotype"/>
            </a:endParaRPr>
          </a:p>
        </p:txBody>
      </p:sp>
      <p:sp>
        <p:nvSpPr>
          <p:cNvPr id="15" name="object 5">
            <a:extLst>
              <a:ext uri="{FF2B5EF4-FFF2-40B4-BE49-F238E27FC236}">
                <a16:creationId xmlns:a16="http://schemas.microsoft.com/office/drawing/2014/main" id="{17C9C0CB-2788-E060-C2CC-555126B74C60}"/>
              </a:ext>
            </a:extLst>
          </p:cNvPr>
          <p:cNvSpPr txBox="1"/>
          <p:nvPr/>
        </p:nvSpPr>
        <p:spPr>
          <a:xfrm>
            <a:off x="707390" y="5963411"/>
            <a:ext cx="5023485" cy="238760"/>
          </a:xfrm>
          <a:prstGeom prst="rect">
            <a:avLst/>
          </a:prstGeom>
        </p:spPr>
        <p:txBody>
          <a:bodyPr vert="horz" wrap="square" lIns="0" tIns="12700" rIns="0" bIns="0" rtlCol="0">
            <a:spAutoFit/>
          </a:bodyPr>
          <a:lstStyle/>
          <a:p>
            <a:pPr marL="12700" rtl="0">
              <a:spcBef>
                <a:spcPts val="100"/>
              </a:spcBef>
            </a:pPr>
            <a:r>
              <a:rPr sz="1350" kern="1200" baseline="24691" dirty="0">
                <a:solidFill>
                  <a:srgbClr val="A6A6A6"/>
                </a:solidFill>
                <a:latin typeface="Palatino Linotype"/>
                <a:cs typeface="Palatino Linotype"/>
              </a:rPr>
              <a:t>*</a:t>
            </a:r>
            <a:r>
              <a:rPr sz="1350" kern="1200" spc="30" baseline="24691" dirty="0">
                <a:solidFill>
                  <a:srgbClr val="A6A6A6"/>
                </a:solidFill>
                <a:latin typeface="Palatino Linotype"/>
                <a:cs typeface="Palatino Linotype"/>
              </a:rPr>
              <a:t> </a:t>
            </a:r>
            <a:r>
              <a:rPr sz="1400" kern="1200" spc="-5" dirty="0">
                <a:solidFill>
                  <a:srgbClr val="A6A6A6"/>
                </a:solidFill>
                <a:latin typeface="Palatino Linotype"/>
                <a:cs typeface="Palatino Linotype"/>
              </a:rPr>
              <a:t>The</a:t>
            </a:r>
            <a:r>
              <a:rPr sz="1400" kern="1200" dirty="0">
                <a:solidFill>
                  <a:srgbClr val="A6A6A6"/>
                </a:solidFill>
                <a:latin typeface="Palatino Linotype"/>
                <a:cs typeface="Palatino Linotype"/>
              </a:rPr>
              <a:t> </a:t>
            </a:r>
            <a:r>
              <a:rPr sz="1400" kern="1200" spc="-5" dirty="0">
                <a:solidFill>
                  <a:srgbClr val="A6A6A6"/>
                </a:solidFill>
                <a:latin typeface="Palatino Linotype"/>
                <a:cs typeface="Palatino Linotype"/>
              </a:rPr>
              <a:t>analysis </a:t>
            </a:r>
            <a:r>
              <a:rPr sz="1400" kern="1200" dirty="0">
                <a:solidFill>
                  <a:srgbClr val="A6A6A6"/>
                </a:solidFill>
                <a:latin typeface="Palatino Linotype"/>
                <a:cs typeface="Palatino Linotype"/>
              </a:rPr>
              <a:t>is</a:t>
            </a:r>
            <a:r>
              <a:rPr sz="1400" kern="1200" spc="-10" dirty="0">
                <a:solidFill>
                  <a:srgbClr val="A6A6A6"/>
                </a:solidFill>
                <a:latin typeface="Palatino Linotype"/>
                <a:cs typeface="Palatino Linotype"/>
              </a:rPr>
              <a:t> </a:t>
            </a:r>
            <a:r>
              <a:rPr sz="1400" kern="1200" dirty="0">
                <a:solidFill>
                  <a:srgbClr val="A6A6A6"/>
                </a:solidFill>
                <a:latin typeface="Palatino Linotype"/>
                <a:cs typeface="Palatino Linotype"/>
              </a:rPr>
              <a:t>trivial</a:t>
            </a:r>
            <a:r>
              <a:rPr sz="1400" kern="1200" spc="5" dirty="0">
                <a:solidFill>
                  <a:srgbClr val="A6A6A6"/>
                </a:solidFill>
                <a:latin typeface="Palatino Linotype"/>
                <a:cs typeface="Palatino Linotype"/>
              </a:rPr>
              <a:t> </a:t>
            </a:r>
            <a:r>
              <a:rPr sz="1400" kern="1200" spc="-5" dirty="0">
                <a:solidFill>
                  <a:srgbClr val="A6A6A6"/>
                </a:solidFill>
                <a:latin typeface="Palatino Linotype"/>
                <a:cs typeface="Palatino Linotype"/>
              </a:rPr>
              <a:t>when</a:t>
            </a:r>
            <a:r>
              <a:rPr sz="1400" kern="1200" dirty="0">
                <a:solidFill>
                  <a:srgbClr val="A6A6A6"/>
                </a:solidFill>
                <a:latin typeface="Palatino Linotype"/>
                <a:cs typeface="Palatino Linotype"/>
              </a:rPr>
              <a:t> </a:t>
            </a:r>
            <a:r>
              <a:rPr sz="1400" kern="1200" spc="-5" dirty="0">
                <a:solidFill>
                  <a:srgbClr val="A6A6A6"/>
                </a:solidFill>
                <a:latin typeface="Palatino Linotype"/>
                <a:cs typeface="Palatino Linotype"/>
              </a:rPr>
              <a:t>there</a:t>
            </a:r>
            <a:r>
              <a:rPr sz="1400" kern="1200" dirty="0">
                <a:solidFill>
                  <a:srgbClr val="A6A6A6"/>
                </a:solidFill>
                <a:latin typeface="Palatino Linotype"/>
                <a:cs typeface="Palatino Linotype"/>
              </a:rPr>
              <a:t> is</a:t>
            </a:r>
            <a:r>
              <a:rPr sz="1400" kern="1200" spc="-5" dirty="0">
                <a:solidFill>
                  <a:srgbClr val="A6A6A6"/>
                </a:solidFill>
                <a:latin typeface="Palatino Linotype"/>
                <a:cs typeface="Palatino Linotype"/>
              </a:rPr>
              <a:t> only one</a:t>
            </a:r>
            <a:r>
              <a:rPr sz="1400" kern="1200" dirty="0">
                <a:solidFill>
                  <a:srgbClr val="A6A6A6"/>
                </a:solidFill>
                <a:latin typeface="Palatino Linotype"/>
                <a:cs typeface="Palatino Linotype"/>
              </a:rPr>
              <a:t> </a:t>
            </a:r>
            <a:r>
              <a:rPr sz="1400" kern="1200" spc="-5" dirty="0">
                <a:solidFill>
                  <a:srgbClr val="A6A6A6"/>
                </a:solidFill>
                <a:latin typeface="Palatino Linotype"/>
                <a:cs typeface="Palatino Linotype"/>
              </a:rPr>
              <a:t>step</a:t>
            </a:r>
            <a:r>
              <a:rPr sz="1400" kern="1200" dirty="0">
                <a:solidFill>
                  <a:srgbClr val="A6A6A6"/>
                </a:solidFill>
                <a:latin typeface="Palatino Linotype"/>
                <a:cs typeface="Palatino Linotype"/>
              </a:rPr>
              <a:t> </a:t>
            </a:r>
            <a:r>
              <a:rPr sz="1400" kern="1200" spc="-5" dirty="0">
                <a:solidFill>
                  <a:srgbClr val="A6A6A6"/>
                </a:solidFill>
                <a:latin typeface="Palatino Linotype"/>
                <a:cs typeface="Palatino Linotype"/>
              </a:rPr>
              <a:t>of derivation</a:t>
            </a:r>
            <a:endParaRPr sz="1400" kern="1200">
              <a:solidFill>
                <a:prstClr val="black"/>
              </a:solidFill>
              <a:latin typeface="Palatino Linotype"/>
              <a:cs typeface="Palatino Linotype"/>
            </a:endParaRPr>
          </a:p>
        </p:txBody>
      </p:sp>
      <p:sp>
        <p:nvSpPr>
          <p:cNvPr id="16" name="object 6">
            <a:extLst>
              <a:ext uri="{FF2B5EF4-FFF2-40B4-BE49-F238E27FC236}">
                <a16:creationId xmlns:a16="http://schemas.microsoft.com/office/drawing/2014/main" id="{172A217A-397A-539B-F1C8-681CC1BBAC28}"/>
              </a:ext>
            </a:extLst>
          </p:cNvPr>
          <p:cNvSpPr txBox="1"/>
          <p:nvPr/>
        </p:nvSpPr>
        <p:spPr>
          <a:xfrm>
            <a:off x="725698" y="3050607"/>
            <a:ext cx="7635875" cy="918210"/>
          </a:xfrm>
          <a:prstGeom prst="rect">
            <a:avLst/>
          </a:prstGeom>
          <a:solidFill>
            <a:srgbClr val="FFF2CC"/>
          </a:solidFill>
          <a:ln w="9525">
            <a:solidFill>
              <a:srgbClr val="000000"/>
            </a:solidFill>
          </a:ln>
        </p:spPr>
        <p:txBody>
          <a:bodyPr vert="horz" wrap="square" lIns="0" tIns="17145" rIns="0" bIns="0" rtlCol="0">
            <a:spAutoFit/>
          </a:bodyPr>
          <a:lstStyle/>
          <a:p>
            <a:pPr marL="434340" marR="627380" indent="-342900" rtl="0">
              <a:lnSpc>
                <a:spcPct val="112000"/>
              </a:lnSpc>
              <a:spcBef>
                <a:spcPts val="135"/>
              </a:spcBef>
              <a:buFont typeface="Arial MT"/>
              <a:buChar char="•"/>
              <a:tabLst>
                <a:tab pos="433705" algn="l"/>
                <a:tab pos="434340" algn="l"/>
              </a:tabLst>
            </a:pPr>
            <a:r>
              <a:rPr sz="1500" b="1" kern="1200" spc="-5" dirty="0">
                <a:solidFill>
                  <a:srgbClr val="0432FF"/>
                </a:solidFill>
                <a:latin typeface="Palatino Linotype"/>
                <a:cs typeface="Palatino Linotype"/>
              </a:rPr>
              <a:t>Step</a:t>
            </a:r>
            <a:r>
              <a:rPr sz="1500" b="1" kern="1200" dirty="0">
                <a:solidFill>
                  <a:srgbClr val="0432FF"/>
                </a:solidFill>
                <a:latin typeface="Palatino Linotype"/>
                <a:cs typeface="Palatino Linotype"/>
              </a:rPr>
              <a:t> 1:</a:t>
            </a:r>
            <a:r>
              <a:rPr sz="1500" b="1" kern="1200" spc="10" dirty="0">
                <a:solidFill>
                  <a:srgbClr val="0432FF"/>
                </a:solidFill>
                <a:latin typeface="Palatino Linotype"/>
                <a:cs typeface="Palatino Linotype"/>
              </a:rPr>
              <a:t> </a:t>
            </a:r>
            <a:r>
              <a:rPr sz="1500" kern="1200" spc="-5" dirty="0">
                <a:solidFill>
                  <a:prstClr val="black"/>
                </a:solidFill>
                <a:latin typeface="Palatino Linotype"/>
                <a:cs typeface="Palatino Linotype"/>
              </a:rPr>
              <a:t>the </a:t>
            </a:r>
            <a:r>
              <a:rPr sz="1500" kern="1200" spc="-5" dirty="0">
                <a:solidFill>
                  <a:srgbClr val="FF0000"/>
                </a:solidFill>
                <a:latin typeface="Palatino Linotype"/>
                <a:cs typeface="Palatino Linotype"/>
              </a:rPr>
              <a:t>rightmost</a:t>
            </a:r>
            <a:r>
              <a:rPr sz="1500" kern="1200" spc="5" dirty="0">
                <a:solidFill>
                  <a:srgbClr val="FF0000"/>
                </a:solidFill>
                <a:latin typeface="Palatino Linotype"/>
                <a:cs typeface="Palatino Linotype"/>
              </a:rPr>
              <a:t> </a:t>
            </a:r>
            <a:r>
              <a:rPr sz="1500" kern="1200" spc="-5" dirty="0">
                <a:solidFill>
                  <a:srgbClr val="FF0000"/>
                </a:solidFill>
                <a:latin typeface="Palatino Linotype"/>
                <a:cs typeface="Palatino Linotype"/>
              </a:rPr>
              <a:t>nonterminal</a:t>
            </a:r>
            <a:r>
              <a:rPr sz="1500" kern="1200" spc="5" dirty="0">
                <a:solidFill>
                  <a:srgbClr val="FF0000"/>
                </a:solidFill>
                <a:latin typeface="Palatino Linotype"/>
                <a:cs typeface="Palatino Linotype"/>
              </a:rPr>
              <a:t> </a:t>
            </a:r>
            <a:r>
              <a:rPr sz="1500" kern="1200" dirty="0">
                <a:solidFill>
                  <a:srgbClr val="FF0000"/>
                </a:solidFill>
                <a:latin typeface="Cambria Math"/>
                <a:cs typeface="Cambria Math"/>
              </a:rPr>
              <a:t>𝐴</a:t>
            </a:r>
            <a:r>
              <a:rPr sz="1500" kern="1200" spc="65" dirty="0">
                <a:solidFill>
                  <a:srgbClr val="FF0000"/>
                </a:solidFill>
                <a:latin typeface="Cambria Math"/>
                <a:cs typeface="Cambria Math"/>
              </a:rPr>
              <a:t> </a:t>
            </a:r>
            <a:r>
              <a:rPr sz="1500" kern="1200"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replaced</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by</a:t>
            </a:r>
            <a:r>
              <a:rPr sz="1500" kern="1200" spc="5" dirty="0">
                <a:solidFill>
                  <a:prstClr val="black"/>
                </a:solidFill>
                <a:latin typeface="Palatino Linotype"/>
                <a:cs typeface="Palatino Linotype"/>
              </a:rPr>
              <a:t> </a:t>
            </a:r>
            <a:r>
              <a:rPr sz="1500" kern="1200" dirty="0">
                <a:solidFill>
                  <a:srgbClr val="FF0000"/>
                </a:solidFill>
                <a:latin typeface="Palatino Linotype"/>
                <a:cs typeface="Palatino Linotype"/>
              </a:rPr>
              <a:t>a</a:t>
            </a:r>
            <a:r>
              <a:rPr sz="1500" kern="1200" spc="10" dirty="0">
                <a:solidFill>
                  <a:srgbClr val="FF0000"/>
                </a:solidFill>
                <a:latin typeface="Palatino Linotype"/>
                <a:cs typeface="Palatino Linotype"/>
              </a:rPr>
              <a:t> </a:t>
            </a:r>
            <a:r>
              <a:rPr sz="1500" kern="1200" spc="-5" dirty="0">
                <a:solidFill>
                  <a:srgbClr val="FF0000"/>
                </a:solidFill>
                <a:latin typeface="Palatino Linotype"/>
                <a:cs typeface="Palatino Linotype"/>
              </a:rPr>
              <a:t>string</a:t>
            </a:r>
            <a:r>
              <a:rPr sz="1500" kern="1200" spc="5" dirty="0">
                <a:solidFill>
                  <a:srgbClr val="FF0000"/>
                </a:solidFill>
                <a:latin typeface="Palatino Linotype"/>
                <a:cs typeface="Palatino Linotype"/>
              </a:rPr>
              <a:t> </a:t>
            </a:r>
            <a:r>
              <a:rPr sz="1500" kern="1200" spc="-5" dirty="0">
                <a:solidFill>
                  <a:srgbClr val="FF0000"/>
                </a:solidFill>
                <a:latin typeface="Palatino Linotype"/>
                <a:cs typeface="Palatino Linotype"/>
              </a:rPr>
              <a:t>with</a:t>
            </a:r>
            <a:r>
              <a:rPr sz="1500" kern="1200" spc="10" dirty="0">
                <a:solidFill>
                  <a:srgbClr val="FF0000"/>
                </a:solidFill>
                <a:latin typeface="Palatino Linotype"/>
                <a:cs typeface="Palatino Linotype"/>
              </a:rPr>
              <a:t> </a:t>
            </a:r>
            <a:r>
              <a:rPr sz="1500" kern="1200" spc="-5" dirty="0">
                <a:solidFill>
                  <a:srgbClr val="FF0000"/>
                </a:solidFill>
                <a:latin typeface="Palatino Linotype"/>
                <a:cs typeface="Palatino Linotype"/>
              </a:rPr>
              <a:t>nonterminals</a:t>
            </a:r>
            <a:r>
              <a:rPr sz="1500" kern="1200" spc="-5" dirty="0">
                <a:solidFill>
                  <a:prstClr val="black"/>
                </a:solidFill>
                <a:latin typeface="Palatino Linotype"/>
                <a:cs typeface="Palatino Linotype"/>
              </a:rPr>
              <a:t>. </a:t>
            </a:r>
            <a:r>
              <a:rPr sz="1500" kern="1200" spc="-360" dirty="0">
                <a:solidFill>
                  <a:prstClr val="black"/>
                </a:solidFill>
                <a:latin typeface="Palatino Linotype"/>
                <a:cs typeface="Palatino Linotype"/>
              </a:rPr>
              <a:t> </a:t>
            </a:r>
            <a:r>
              <a:rPr sz="1500" kern="1200" spc="-5" dirty="0">
                <a:solidFill>
                  <a:prstClr val="black"/>
                </a:solidFill>
                <a:latin typeface="Palatino Linotype"/>
                <a:cs typeface="Palatino Linotype"/>
              </a:rPr>
              <a:t>Suppose</a:t>
            </a:r>
            <a:r>
              <a:rPr sz="1500" kern="1200" spc="-10" dirty="0">
                <a:solidFill>
                  <a:prstClr val="black"/>
                </a:solidFill>
                <a:latin typeface="Palatino Linotype"/>
                <a:cs typeface="Palatino Linotype"/>
              </a:rPr>
              <a:t> </a:t>
            </a:r>
            <a:r>
              <a:rPr sz="1500" kern="1200" dirty="0">
                <a:solidFill>
                  <a:prstClr val="black"/>
                </a:solidFill>
                <a:latin typeface="Cambria Math"/>
                <a:cs typeface="Cambria Math"/>
              </a:rPr>
              <a:t>𝐵</a:t>
            </a:r>
            <a:r>
              <a:rPr sz="1500" kern="1200" spc="85" dirty="0">
                <a:solidFill>
                  <a:prstClr val="black"/>
                </a:solidFill>
                <a:latin typeface="Cambria Math"/>
                <a:cs typeface="Cambria Math"/>
              </a:rPr>
              <a:t> </a:t>
            </a:r>
            <a:r>
              <a:rPr sz="1500" kern="1200" dirty="0">
                <a:solidFill>
                  <a:prstClr val="black"/>
                </a:solidFill>
                <a:latin typeface="Palatino Linotype"/>
                <a:cs typeface="Palatino Linotype"/>
              </a:rPr>
              <a:t>is </a:t>
            </a:r>
            <a:r>
              <a:rPr sz="1500" kern="1200" spc="-5" dirty="0">
                <a:solidFill>
                  <a:prstClr val="black"/>
                </a:solidFill>
                <a:latin typeface="Palatino Linotype"/>
                <a:cs typeface="Palatino Linotype"/>
              </a:rPr>
              <a:t>the</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rightmost nonterminal</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in </a:t>
            </a:r>
            <a:r>
              <a:rPr sz="1500" kern="1200" spc="-5" dirty="0">
                <a:solidFill>
                  <a:prstClr val="black"/>
                </a:solidFill>
                <a:latin typeface="Palatino Linotype"/>
                <a:cs typeface="Palatino Linotype"/>
              </a:rPr>
              <a:t>the</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string.</a:t>
            </a:r>
            <a:endParaRPr sz="1500" kern="1200" dirty="0">
              <a:solidFill>
                <a:prstClr val="black"/>
              </a:solidFill>
              <a:latin typeface="Palatino Linotype"/>
              <a:cs typeface="Palatino Linotype"/>
            </a:endParaRPr>
          </a:p>
          <a:p>
            <a:pPr marL="434340" indent="-342900" rtl="0">
              <a:spcBef>
                <a:spcPts val="695"/>
              </a:spcBef>
              <a:buFont typeface="Arial MT"/>
              <a:buChar char="•"/>
              <a:tabLst>
                <a:tab pos="433705" algn="l"/>
                <a:tab pos="434340" algn="l"/>
              </a:tabLst>
            </a:pPr>
            <a:r>
              <a:rPr sz="1500" b="1" kern="1200" spc="-5" dirty="0">
                <a:solidFill>
                  <a:srgbClr val="0432FF"/>
                </a:solidFill>
                <a:latin typeface="Palatino Linotype"/>
                <a:cs typeface="Palatino Linotype"/>
              </a:rPr>
              <a:t>Step</a:t>
            </a:r>
            <a:r>
              <a:rPr sz="1500" b="1" kern="1200" spc="-15" dirty="0">
                <a:solidFill>
                  <a:srgbClr val="0432FF"/>
                </a:solidFill>
                <a:latin typeface="Palatino Linotype"/>
                <a:cs typeface="Palatino Linotype"/>
              </a:rPr>
              <a:t> </a:t>
            </a:r>
            <a:r>
              <a:rPr sz="1500" b="1" kern="1200" dirty="0">
                <a:solidFill>
                  <a:srgbClr val="0432FF"/>
                </a:solidFill>
                <a:latin typeface="Palatino Linotype"/>
                <a:cs typeface="Palatino Linotype"/>
              </a:rPr>
              <a:t>2:</a:t>
            </a:r>
            <a:r>
              <a:rPr sz="1500" b="1" kern="1200" spc="-5" dirty="0">
                <a:solidFill>
                  <a:srgbClr val="0432FF"/>
                </a:solidFill>
                <a:latin typeface="Palatino Linotype"/>
                <a:cs typeface="Palatino Linotype"/>
              </a:rPr>
              <a:t> </a:t>
            </a:r>
            <a:r>
              <a:rPr sz="1500" kern="1200" dirty="0">
                <a:solidFill>
                  <a:prstClr val="black"/>
                </a:solidFill>
                <a:latin typeface="Cambria Math"/>
                <a:cs typeface="Cambria Math"/>
              </a:rPr>
              <a:t>𝐵</a:t>
            </a:r>
            <a:r>
              <a:rPr sz="1500" kern="1200" spc="80" dirty="0">
                <a:solidFill>
                  <a:prstClr val="black"/>
                </a:solidFill>
                <a:latin typeface="Cambria Math"/>
                <a:cs typeface="Cambria Math"/>
              </a:rPr>
              <a:t> </a:t>
            </a:r>
            <a:r>
              <a:rPr sz="1500" kern="1200" dirty="0">
                <a:solidFill>
                  <a:prstClr val="black"/>
                </a:solidFill>
                <a:latin typeface="Palatino Linotype"/>
                <a:cs typeface="Palatino Linotype"/>
              </a:rPr>
              <a:t>is</a:t>
            </a:r>
            <a:r>
              <a:rPr sz="1500" kern="1200" spc="-5" dirty="0">
                <a:solidFill>
                  <a:prstClr val="black"/>
                </a:solidFill>
                <a:latin typeface="Palatino Linotype"/>
                <a:cs typeface="Palatino Linotype"/>
              </a:rPr>
              <a:t> replaced</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by</a:t>
            </a:r>
            <a:r>
              <a:rPr sz="1500" kern="1200" spc="-10" dirty="0">
                <a:solidFill>
                  <a:prstClr val="black"/>
                </a:solidFill>
                <a:latin typeface="Palatino Linotype"/>
                <a:cs typeface="Palatino Linotype"/>
              </a:rPr>
              <a:t> </a:t>
            </a:r>
            <a:r>
              <a:rPr sz="1500" kern="1200" dirty="0">
                <a:solidFill>
                  <a:prstClr val="black"/>
                </a:solidFill>
                <a:latin typeface="Palatino Linotype"/>
                <a:cs typeface="Palatino Linotype"/>
              </a:rPr>
              <a:t>a</a:t>
            </a:r>
            <a:r>
              <a:rPr sz="1500" kern="1200" spc="-5" dirty="0">
                <a:solidFill>
                  <a:prstClr val="black"/>
                </a:solidFill>
                <a:latin typeface="Palatino Linotype"/>
                <a:cs typeface="Palatino Linotype"/>
              </a:rPr>
              <a:t> string </a:t>
            </a:r>
            <a:r>
              <a:rPr sz="1500" kern="1200" dirty="0">
                <a:solidFill>
                  <a:prstClr val="black"/>
                </a:solidFill>
                <a:latin typeface="Cambria Math"/>
                <a:cs typeface="Cambria Math"/>
              </a:rPr>
              <a:t>𝛾</a:t>
            </a:r>
          </a:p>
        </p:txBody>
      </p:sp>
      <p:pic>
        <p:nvPicPr>
          <p:cNvPr id="17" name="object 7">
            <a:extLst>
              <a:ext uri="{FF2B5EF4-FFF2-40B4-BE49-F238E27FC236}">
                <a16:creationId xmlns:a16="http://schemas.microsoft.com/office/drawing/2014/main" id="{A2358AE2-126A-3251-B62C-F7D9E0D24305}"/>
              </a:ext>
            </a:extLst>
          </p:cNvPr>
          <p:cNvPicPr/>
          <p:nvPr/>
        </p:nvPicPr>
        <p:blipFill>
          <a:blip r:embed="rId4" cstate="print"/>
          <a:stretch>
            <a:fillRect/>
          </a:stretch>
        </p:blipFill>
        <p:spPr>
          <a:xfrm>
            <a:off x="718441" y="4236353"/>
            <a:ext cx="4443652" cy="418548"/>
          </a:xfrm>
          <a:prstGeom prst="rect">
            <a:avLst/>
          </a:prstGeom>
        </p:spPr>
      </p:pic>
      <p:sp>
        <p:nvSpPr>
          <p:cNvPr id="18" name="object 8">
            <a:extLst>
              <a:ext uri="{FF2B5EF4-FFF2-40B4-BE49-F238E27FC236}">
                <a16:creationId xmlns:a16="http://schemas.microsoft.com/office/drawing/2014/main" id="{160C0D1C-A620-940D-62FD-1AA7D16FBD80}"/>
              </a:ext>
            </a:extLst>
          </p:cNvPr>
          <p:cNvSpPr txBox="1"/>
          <p:nvPr/>
        </p:nvSpPr>
        <p:spPr>
          <a:xfrm>
            <a:off x="742424" y="4839995"/>
            <a:ext cx="7619365" cy="918210"/>
          </a:xfrm>
          <a:prstGeom prst="rect">
            <a:avLst/>
          </a:prstGeom>
          <a:solidFill>
            <a:srgbClr val="FFF2CC"/>
          </a:solidFill>
          <a:ln w="9525">
            <a:solidFill>
              <a:srgbClr val="000000"/>
            </a:solidFill>
          </a:ln>
        </p:spPr>
        <p:txBody>
          <a:bodyPr vert="horz" wrap="square" lIns="0" tIns="44450" rIns="0" bIns="0" rtlCol="0">
            <a:spAutoFit/>
          </a:bodyPr>
          <a:lstStyle/>
          <a:p>
            <a:pPr marL="377190" indent="-286385" rtl="0">
              <a:spcBef>
                <a:spcPts val="350"/>
              </a:spcBef>
              <a:buFont typeface="Arial MT"/>
              <a:buChar char="•"/>
              <a:tabLst>
                <a:tab pos="376555" algn="l"/>
                <a:tab pos="377190" algn="l"/>
              </a:tabLst>
            </a:pPr>
            <a:r>
              <a:rPr sz="1500" b="1" kern="1200" spc="-5" dirty="0">
                <a:solidFill>
                  <a:srgbClr val="0432FF"/>
                </a:solidFill>
                <a:latin typeface="Palatino Linotype"/>
                <a:cs typeface="Palatino Linotype"/>
              </a:rPr>
              <a:t>Step</a:t>
            </a:r>
            <a:r>
              <a:rPr sz="1500" b="1" kern="1200" dirty="0">
                <a:solidFill>
                  <a:srgbClr val="0432FF"/>
                </a:solidFill>
                <a:latin typeface="Palatino Linotype"/>
                <a:cs typeface="Palatino Linotype"/>
              </a:rPr>
              <a:t> 1:</a:t>
            </a:r>
            <a:r>
              <a:rPr sz="1500" b="1" kern="1200" spc="5" dirty="0">
                <a:solidFill>
                  <a:srgbClr val="0432FF"/>
                </a:solidFill>
                <a:latin typeface="Palatino Linotype"/>
                <a:cs typeface="Palatino Linotype"/>
              </a:rPr>
              <a:t> </a:t>
            </a:r>
            <a:r>
              <a:rPr sz="1500" kern="1200" spc="-5" dirty="0">
                <a:solidFill>
                  <a:prstClr val="black"/>
                </a:solidFill>
                <a:latin typeface="Palatino Linotype"/>
                <a:cs typeface="Palatino Linotype"/>
              </a:rPr>
              <a:t>the </a:t>
            </a:r>
            <a:r>
              <a:rPr sz="1500" kern="1200" spc="-5" dirty="0">
                <a:solidFill>
                  <a:srgbClr val="FF0000"/>
                </a:solidFill>
                <a:latin typeface="Palatino Linotype"/>
                <a:cs typeface="Palatino Linotype"/>
              </a:rPr>
              <a:t>rightmost</a:t>
            </a:r>
            <a:r>
              <a:rPr sz="1500" kern="1200" dirty="0">
                <a:solidFill>
                  <a:srgbClr val="FF0000"/>
                </a:solidFill>
                <a:latin typeface="Palatino Linotype"/>
                <a:cs typeface="Palatino Linotype"/>
              </a:rPr>
              <a:t> </a:t>
            </a:r>
            <a:r>
              <a:rPr sz="1500" kern="1200" spc="-5" dirty="0">
                <a:solidFill>
                  <a:srgbClr val="FF0000"/>
                </a:solidFill>
                <a:latin typeface="Palatino Linotype"/>
                <a:cs typeface="Palatino Linotype"/>
              </a:rPr>
              <a:t>nonterminal</a:t>
            </a:r>
            <a:r>
              <a:rPr sz="1500" kern="1200" spc="5" dirty="0">
                <a:solidFill>
                  <a:srgbClr val="FF0000"/>
                </a:solidFill>
                <a:latin typeface="Palatino Linotype"/>
                <a:cs typeface="Palatino Linotype"/>
              </a:rPr>
              <a:t> </a:t>
            </a:r>
            <a:r>
              <a:rPr sz="1500" kern="1200" dirty="0">
                <a:solidFill>
                  <a:srgbClr val="FF0000"/>
                </a:solidFill>
                <a:latin typeface="Cambria Math"/>
                <a:cs typeface="Cambria Math"/>
              </a:rPr>
              <a:t>𝐴</a:t>
            </a:r>
            <a:r>
              <a:rPr sz="1500" kern="1200" spc="60" dirty="0">
                <a:solidFill>
                  <a:srgbClr val="FF0000"/>
                </a:solidFill>
                <a:latin typeface="Cambria Math"/>
                <a:cs typeface="Cambria Math"/>
              </a:rPr>
              <a:t> </a:t>
            </a:r>
            <a:r>
              <a:rPr sz="1500" kern="1200"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replaced</a:t>
            </a:r>
            <a:r>
              <a:rPr sz="1500" kern="1200" dirty="0">
                <a:solidFill>
                  <a:prstClr val="black"/>
                </a:solidFill>
                <a:latin typeface="Palatino Linotype"/>
                <a:cs typeface="Palatino Linotype"/>
              </a:rPr>
              <a:t> </a:t>
            </a:r>
            <a:r>
              <a:rPr sz="1500" kern="1200" spc="-5" dirty="0">
                <a:solidFill>
                  <a:prstClr val="black"/>
                </a:solidFill>
                <a:latin typeface="Palatino Linotype"/>
                <a:cs typeface="Palatino Linotype"/>
              </a:rPr>
              <a:t>by</a:t>
            </a:r>
            <a:r>
              <a:rPr sz="1500" kern="1200" spc="5" dirty="0">
                <a:solidFill>
                  <a:prstClr val="black"/>
                </a:solidFill>
                <a:latin typeface="Palatino Linotype"/>
                <a:cs typeface="Palatino Linotype"/>
              </a:rPr>
              <a:t> </a:t>
            </a:r>
            <a:r>
              <a:rPr sz="1500" kern="1200" dirty="0">
                <a:solidFill>
                  <a:srgbClr val="FF0000"/>
                </a:solidFill>
                <a:latin typeface="Palatino Linotype"/>
                <a:cs typeface="Palatino Linotype"/>
              </a:rPr>
              <a:t>a</a:t>
            </a:r>
            <a:r>
              <a:rPr sz="1500" kern="1200" spc="10" dirty="0">
                <a:solidFill>
                  <a:srgbClr val="FF0000"/>
                </a:solidFill>
                <a:latin typeface="Palatino Linotype"/>
                <a:cs typeface="Palatino Linotype"/>
              </a:rPr>
              <a:t> </a:t>
            </a:r>
            <a:r>
              <a:rPr sz="1500" kern="1200" spc="-5" dirty="0">
                <a:solidFill>
                  <a:srgbClr val="FF0000"/>
                </a:solidFill>
                <a:latin typeface="Palatino Linotype"/>
                <a:cs typeface="Palatino Linotype"/>
              </a:rPr>
              <a:t>string</a:t>
            </a:r>
            <a:r>
              <a:rPr sz="1500" kern="1200" spc="5" dirty="0">
                <a:solidFill>
                  <a:srgbClr val="FF0000"/>
                </a:solidFill>
                <a:latin typeface="Palatino Linotype"/>
                <a:cs typeface="Palatino Linotype"/>
              </a:rPr>
              <a:t> </a:t>
            </a:r>
            <a:r>
              <a:rPr sz="1500" kern="1200" dirty="0">
                <a:solidFill>
                  <a:srgbClr val="FF0000"/>
                </a:solidFill>
                <a:latin typeface="Cambria Math"/>
                <a:cs typeface="Cambria Math"/>
              </a:rPr>
              <a:t>𝑦</a:t>
            </a:r>
            <a:r>
              <a:rPr sz="1500" kern="1200" spc="70" dirty="0">
                <a:solidFill>
                  <a:srgbClr val="FF0000"/>
                </a:solidFill>
                <a:latin typeface="Cambria Math"/>
                <a:cs typeface="Cambria Math"/>
              </a:rPr>
              <a:t> </a:t>
            </a:r>
            <a:r>
              <a:rPr sz="1500" kern="1200" spc="-5" dirty="0">
                <a:solidFill>
                  <a:srgbClr val="FF0000"/>
                </a:solidFill>
                <a:latin typeface="Palatino Linotype"/>
                <a:cs typeface="Palatino Linotype"/>
              </a:rPr>
              <a:t>with</a:t>
            </a:r>
            <a:r>
              <a:rPr sz="1500" kern="1200" spc="5" dirty="0">
                <a:solidFill>
                  <a:srgbClr val="FF0000"/>
                </a:solidFill>
                <a:latin typeface="Palatino Linotype"/>
                <a:cs typeface="Palatino Linotype"/>
              </a:rPr>
              <a:t> </a:t>
            </a:r>
            <a:r>
              <a:rPr sz="1500" kern="1200" spc="-5" dirty="0">
                <a:solidFill>
                  <a:srgbClr val="FF0000"/>
                </a:solidFill>
                <a:latin typeface="Palatino Linotype"/>
                <a:cs typeface="Palatino Linotype"/>
              </a:rPr>
              <a:t>terminals</a:t>
            </a:r>
            <a:r>
              <a:rPr sz="1500" kern="1200" spc="5" dirty="0">
                <a:solidFill>
                  <a:srgbClr val="FF0000"/>
                </a:solidFill>
                <a:latin typeface="Palatino Linotype"/>
                <a:cs typeface="Palatino Linotype"/>
              </a:rPr>
              <a:t> </a:t>
            </a:r>
            <a:r>
              <a:rPr sz="1500" kern="1200" spc="-35" dirty="0">
                <a:solidFill>
                  <a:srgbClr val="FF0000"/>
                </a:solidFill>
                <a:latin typeface="Palatino Linotype"/>
                <a:cs typeface="Palatino Linotype"/>
              </a:rPr>
              <a:t>only</a:t>
            </a:r>
            <a:r>
              <a:rPr sz="1500" kern="1200" spc="-35" dirty="0">
                <a:solidFill>
                  <a:prstClr val="black"/>
                </a:solidFill>
                <a:latin typeface="Palatino Linotype"/>
                <a:cs typeface="Palatino Linotype"/>
              </a:rPr>
              <a:t>.</a:t>
            </a:r>
            <a:endParaRPr sz="1500" kern="1200" dirty="0">
              <a:solidFill>
                <a:prstClr val="black"/>
              </a:solidFill>
              <a:latin typeface="Palatino Linotype"/>
              <a:cs typeface="Palatino Linotype"/>
            </a:endParaRPr>
          </a:p>
          <a:p>
            <a:pPr marL="376555" marR="220345" indent="-285750" rtl="0">
              <a:lnSpc>
                <a:spcPct val="105300"/>
              </a:lnSpc>
              <a:spcBef>
                <a:spcPts val="720"/>
              </a:spcBef>
              <a:buFont typeface="Arial MT"/>
              <a:buChar char="•"/>
              <a:tabLst>
                <a:tab pos="376555" algn="l"/>
                <a:tab pos="377190" algn="l"/>
              </a:tabLst>
            </a:pPr>
            <a:r>
              <a:rPr sz="1500" b="1" kern="1200" spc="-5" dirty="0">
                <a:solidFill>
                  <a:srgbClr val="0432FF"/>
                </a:solidFill>
                <a:latin typeface="Palatino Linotype"/>
                <a:cs typeface="Palatino Linotype"/>
              </a:rPr>
              <a:t>Step</a:t>
            </a:r>
            <a:r>
              <a:rPr sz="1500" b="1" kern="1200" dirty="0">
                <a:solidFill>
                  <a:srgbClr val="0432FF"/>
                </a:solidFill>
                <a:latin typeface="Palatino Linotype"/>
                <a:cs typeface="Palatino Linotype"/>
              </a:rPr>
              <a:t> 2:</a:t>
            </a:r>
            <a:r>
              <a:rPr sz="1500" b="1" kern="1200" spc="5" dirty="0">
                <a:solidFill>
                  <a:srgbClr val="0432FF"/>
                </a:solidFill>
                <a:latin typeface="Palatino Linotype"/>
                <a:cs typeface="Palatino Linotype"/>
              </a:rPr>
              <a:t> </a:t>
            </a:r>
            <a:r>
              <a:rPr sz="1500" kern="1200" spc="-5" dirty="0">
                <a:solidFill>
                  <a:prstClr val="black"/>
                </a:solidFill>
                <a:latin typeface="Palatino Linotype"/>
                <a:cs typeface="Palatino Linotype"/>
              </a:rPr>
              <a:t>the next</a:t>
            </a:r>
            <a:r>
              <a:rPr sz="1500" kern="1200" dirty="0">
                <a:solidFill>
                  <a:prstClr val="black"/>
                </a:solidFill>
                <a:latin typeface="Palatino Linotype"/>
                <a:cs typeface="Palatino Linotype"/>
              </a:rPr>
              <a:t> </a:t>
            </a:r>
            <a:r>
              <a:rPr sz="1500" kern="1200" spc="-5" dirty="0">
                <a:solidFill>
                  <a:prstClr val="black"/>
                </a:solidFill>
                <a:latin typeface="Palatino Linotype"/>
                <a:cs typeface="Palatino Linotype"/>
              </a:rPr>
              <a:t>rightmost</a:t>
            </a:r>
            <a:r>
              <a:rPr sz="1500" kern="1200" dirty="0">
                <a:solidFill>
                  <a:prstClr val="black"/>
                </a:solidFill>
                <a:latin typeface="Palatino Linotype"/>
                <a:cs typeface="Palatino Linotype"/>
              </a:rPr>
              <a:t> </a:t>
            </a:r>
            <a:r>
              <a:rPr sz="1500" kern="1200" spc="-5" dirty="0">
                <a:solidFill>
                  <a:prstClr val="black"/>
                </a:solidFill>
                <a:latin typeface="Palatino Linotype"/>
                <a:cs typeface="Palatino Linotype"/>
              </a:rPr>
              <a:t>nonterminal</a:t>
            </a:r>
            <a:r>
              <a:rPr sz="1500" kern="1200" spc="5" dirty="0">
                <a:solidFill>
                  <a:prstClr val="black"/>
                </a:solidFill>
                <a:latin typeface="Palatino Linotype"/>
                <a:cs typeface="Palatino Linotype"/>
              </a:rPr>
              <a:t> </a:t>
            </a:r>
            <a:r>
              <a:rPr sz="1500" kern="1200" dirty="0">
                <a:solidFill>
                  <a:prstClr val="black"/>
                </a:solidFill>
                <a:latin typeface="Cambria Math"/>
                <a:cs typeface="Cambria Math"/>
              </a:rPr>
              <a:t>𝐵</a:t>
            </a:r>
            <a:r>
              <a:rPr sz="1500" kern="1200" spc="90" dirty="0">
                <a:solidFill>
                  <a:prstClr val="black"/>
                </a:solidFill>
                <a:latin typeface="Cambria Math"/>
                <a:cs typeface="Cambria Math"/>
              </a:rPr>
              <a:t> </a:t>
            </a:r>
            <a:r>
              <a:rPr sz="1500" kern="1200" spc="-5" dirty="0">
                <a:solidFill>
                  <a:prstClr val="black"/>
                </a:solidFill>
                <a:latin typeface="Palatino Linotype"/>
                <a:cs typeface="Palatino Linotype"/>
              </a:rPr>
              <a:t>(</a:t>
            </a:r>
            <a:r>
              <a:rPr sz="1500" kern="1200" spc="-5" dirty="0">
                <a:solidFill>
                  <a:srgbClr val="FF0000"/>
                </a:solidFill>
                <a:latin typeface="Palatino Linotype"/>
                <a:cs typeface="Palatino Linotype"/>
              </a:rPr>
              <a:t>somewhere to</a:t>
            </a:r>
            <a:r>
              <a:rPr sz="1500" kern="1200" spc="10" dirty="0">
                <a:solidFill>
                  <a:srgbClr val="FF0000"/>
                </a:solidFill>
                <a:latin typeface="Palatino Linotype"/>
                <a:cs typeface="Palatino Linotype"/>
              </a:rPr>
              <a:t> </a:t>
            </a:r>
            <a:r>
              <a:rPr sz="1500" kern="1200" spc="-5" dirty="0">
                <a:solidFill>
                  <a:srgbClr val="FF0000"/>
                </a:solidFill>
                <a:latin typeface="Palatino Linotype"/>
                <a:cs typeface="Palatino Linotype"/>
              </a:rPr>
              <a:t>the left</a:t>
            </a:r>
            <a:r>
              <a:rPr sz="1500" kern="1200" dirty="0">
                <a:solidFill>
                  <a:srgbClr val="FF0000"/>
                </a:solidFill>
                <a:latin typeface="Palatino Linotype"/>
                <a:cs typeface="Palatino Linotype"/>
              </a:rPr>
              <a:t> of</a:t>
            </a:r>
            <a:r>
              <a:rPr sz="1500" kern="1200" spc="5" dirty="0">
                <a:solidFill>
                  <a:srgbClr val="FF0000"/>
                </a:solidFill>
                <a:latin typeface="Palatino Linotype"/>
                <a:cs typeface="Palatino Linotype"/>
              </a:rPr>
              <a:t> </a:t>
            </a:r>
            <a:r>
              <a:rPr sz="1500" kern="1200" spc="10" dirty="0">
                <a:solidFill>
                  <a:srgbClr val="FF0000"/>
                </a:solidFill>
                <a:latin typeface="Cambria Math"/>
                <a:cs typeface="Cambria Math"/>
              </a:rPr>
              <a:t>𝑦</a:t>
            </a:r>
            <a:r>
              <a:rPr sz="1500" kern="1200" spc="10" dirty="0">
                <a:solidFill>
                  <a:prstClr val="black"/>
                </a:solidFill>
                <a:latin typeface="Palatino Linotype"/>
                <a:cs typeface="Palatino Linotype"/>
              </a:rPr>
              <a:t>)</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replaced</a:t>
            </a:r>
            <a:r>
              <a:rPr sz="1500" kern="1200" dirty="0">
                <a:solidFill>
                  <a:prstClr val="black"/>
                </a:solidFill>
                <a:latin typeface="Palatino Linotype"/>
                <a:cs typeface="Palatino Linotype"/>
              </a:rPr>
              <a:t> </a:t>
            </a:r>
            <a:r>
              <a:rPr sz="1500" kern="1200" spc="-5" dirty="0">
                <a:solidFill>
                  <a:prstClr val="black"/>
                </a:solidFill>
                <a:latin typeface="Palatino Linotype"/>
                <a:cs typeface="Palatino Linotype"/>
              </a:rPr>
              <a:t>by </a:t>
            </a:r>
            <a:r>
              <a:rPr sz="1500" kern="1200" spc="-360" dirty="0">
                <a:solidFill>
                  <a:prstClr val="black"/>
                </a:solidFill>
                <a:latin typeface="Palatino Linotype"/>
                <a:cs typeface="Palatino Linotype"/>
              </a:rPr>
              <a:t> </a:t>
            </a:r>
            <a:r>
              <a:rPr sz="1500" kern="1200" dirty="0">
                <a:solidFill>
                  <a:prstClr val="black"/>
                </a:solidFill>
                <a:latin typeface="Palatino Linotype"/>
                <a:cs typeface="Palatino Linotype"/>
              </a:rPr>
              <a:t>a</a:t>
            </a:r>
            <a:r>
              <a:rPr sz="1500" kern="1200" spc="-5" dirty="0">
                <a:solidFill>
                  <a:prstClr val="black"/>
                </a:solidFill>
                <a:latin typeface="Palatino Linotype"/>
                <a:cs typeface="Palatino Linotype"/>
              </a:rPr>
              <a:t> string</a:t>
            </a:r>
            <a:r>
              <a:rPr sz="1500" kern="1200" dirty="0">
                <a:solidFill>
                  <a:prstClr val="black"/>
                </a:solidFill>
                <a:latin typeface="Palatino Linotype"/>
                <a:cs typeface="Palatino Linotype"/>
              </a:rPr>
              <a:t> </a:t>
            </a:r>
            <a:r>
              <a:rPr sz="1500" kern="1200" dirty="0">
                <a:solidFill>
                  <a:prstClr val="black"/>
                </a:solidFill>
                <a:latin typeface="Cambria Math"/>
                <a:cs typeface="Cambria Math"/>
              </a:rPr>
              <a:t>𝛾</a:t>
            </a:r>
          </a:p>
        </p:txBody>
      </p:sp>
    </p:spTree>
    <p:extLst>
      <p:ext uri="{BB962C8B-B14F-4D97-AF65-F5344CB8AC3E}">
        <p14:creationId xmlns:p14="http://schemas.microsoft.com/office/powerpoint/2010/main" val="41474424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97</a:t>
            </a:fld>
            <a:endParaRPr lang="en-US"/>
          </a:p>
        </p:txBody>
      </p:sp>
      <p:sp>
        <p:nvSpPr>
          <p:cNvPr id="11" name="object 2">
            <a:extLst>
              <a:ext uri="{FF2B5EF4-FFF2-40B4-BE49-F238E27FC236}">
                <a16:creationId xmlns:a16="http://schemas.microsoft.com/office/drawing/2014/main" id="{B8BC4AF1-045D-718B-AB8B-0F668A996179}"/>
              </a:ext>
            </a:extLst>
          </p:cNvPr>
          <p:cNvSpPr txBox="1">
            <a:spLocks/>
          </p:cNvSpPr>
          <p:nvPr/>
        </p:nvSpPr>
        <p:spPr>
          <a:xfrm>
            <a:off x="707390" y="606044"/>
            <a:ext cx="7593965" cy="4826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000" b="1" i="0" u="none" strike="noStrike" kern="0" cap="none" spc="0" normalizeH="0" baseline="0" noProof="0" dirty="0">
                <a:ln>
                  <a:noFill/>
                </a:ln>
                <a:effectLst/>
                <a:uLnTx/>
                <a:uFillTx/>
                <a:latin typeface="Palatino Linotype"/>
                <a:ea typeface="+mj-ea"/>
              </a:rPr>
              <a:t>Why</a:t>
            </a:r>
            <a:r>
              <a:rPr kumimoji="0" lang="en-US" sz="3000" b="1" i="0" u="none" strike="noStrike" kern="0" cap="none" spc="-20" normalizeH="0" baseline="0" noProof="0" dirty="0">
                <a:ln>
                  <a:noFill/>
                </a:ln>
                <a:effectLst/>
                <a:uLnTx/>
                <a:uFillTx/>
                <a:latin typeface="Palatino Linotype"/>
                <a:ea typeface="+mj-ea"/>
              </a:rPr>
              <a:t> </a:t>
            </a:r>
            <a:r>
              <a:rPr kumimoji="0" lang="en-US" sz="3000" b="1" i="0" u="none" strike="noStrike" kern="0" cap="none" spc="0" normalizeH="0" baseline="0" noProof="0" dirty="0">
                <a:ln>
                  <a:noFill/>
                </a:ln>
                <a:effectLst/>
                <a:uLnTx/>
                <a:uFillTx/>
                <a:latin typeface="Palatino Linotype"/>
                <a:ea typeface="+mj-ea"/>
              </a:rPr>
              <a:t>Handles </a:t>
            </a:r>
            <a:r>
              <a:rPr kumimoji="0" lang="en-US" sz="3000" b="1" i="0" u="none" strike="noStrike" kern="0" cap="none" spc="-5" normalizeH="0" baseline="0" noProof="0" dirty="0">
                <a:ln>
                  <a:noFill/>
                </a:ln>
                <a:effectLst/>
                <a:uLnTx/>
                <a:uFillTx/>
                <a:latin typeface="Palatino Linotype"/>
                <a:ea typeface="+mj-ea"/>
              </a:rPr>
              <a:t>Always</a:t>
            </a:r>
            <a:r>
              <a:rPr kumimoji="0" lang="en-US" sz="3000" b="1" i="0" u="none" strike="noStrike" kern="0" cap="none" spc="0" normalizeH="0" baseline="0" noProof="0" dirty="0">
                <a:ln>
                  <a:noFill/>
                </a:ln>
                <a:effectLst/>
                <a:uLnTx/>
                <a:uFillTx/>
                <a:latin typeface="Palatino Linotype"/>
                <a:ea typeface="+mj-ea"/>
              </a:rPr>
              <a:t> Appear</a:t>
            </a:r>
            <a:r>
              <a:rPr kumimoji="0" lang="en-US" sz="3000" b="1" i="0" u="none" strike="noStrike" kern="0" cap="none" spc="-15" normalizeH="0" baseline="0" noProof="0" dirty="0">
                <a:ln>
                  <a:noFill/>
                </a:ln>
                <a:effectLst/>
                <a:uLnTx/>
                <a:uFillTx/>
                <a:latin typeface="Palatino Linotype"/>
                <a:ea typeface="+mj-ea"/>
              </a:rPr>
              <a:t> </a:t>
            </a:r>
            <a:r>
              <a:rPr kumimoji="0" lang="en-US" sz="3000" b="1" i="0" u="none" strike="noStrike" kern="0" cap="none" spc="0" normalizeH="0" baseline="0" noProof="0" dirty="0">
                <a:ln>
                  <a:noFill/>
                </a:ln>
                <a:effectLst/>
                <a:uLnTx/>
                <a:uFillTx/>
                <a:latin typeface="Palatino Linotype"/>
                <a:ea typeface="+mj-ea"/>
              </a:rPr>
              <a:t>at</a:t>
            </a:r>
            <a:r>
              <a:rPr kumimoji="0" lang="en-US" sz="3000" b="1" i="0" u="none" strike="noStrike" kern="0" cap="none" spc="-5" normalizeH="0" baseline="0" noProof="0" dirty="0">
                <a:ln>
                  <a:noFill/>
                </a:ln>
                <a:effectLst/>
                <a:uLnTx/>
                <a:uFillTx/>
                <a:latin typeface="Palatino Linotype"/>
                <a:ea typeface="+mj-ea"/>
              </a:rPr>
              <a:t> </a:t>
            </a:r>
            <a:r>
              <a:rPr kumimoji="0" lang="en-US" sz="3000" b="1" i="0" u="none" strike="noStrike" kern="0" cap="none" spc="0" normalizeH="0" baseline="0" noProof="0" dirty="0">
                <a:ln>
                  <a:noFill/>
                </a:ln>
                <a:effectLst/>
                <a:uLnTx/>
                <a:uFillTx/>
                <a:latin typeface="Palatino Linotype"/>
                <a:ea typeface="+mj-ea"/>
              </a:rPr>
              <a:t>Stack </a:t>
            </a:r>
            <a:r>
              <a:rPr kumimoji="0" lang="en-US" sz="3000" b="1" i="0" u="none" strike="noStrike" kern="0" cap="none" spc="-75" normalizeH="0" baseline="0" noProof="0" dirty="0">
                <a:ln>
                  <a:noFill/>
                </a:ln>
                <a:effectLst/>
                <a:uLnTx/>
                <a:uFillTx/>
                <a:latin typeface="Palatino Linotype"/>
                <a:ea typeface="+mj-ea"/>
              </a:rPr>
              <a:t>Top?</a:t>
            </a:r>
            <a:endParaRPr kumimoji="0" lang="en-US" sz="3000" b="1" i="0" u="none" strike="noStrike" kern="0" cap="none" spc="0" normalizeH="0" baseline="0" noProof="0" dirty="0">
              <a:ln>
                <a:noFill/>
              </a:ln>
              <a:effectLst/>
              <a:uLnTx/>
              <a:uFillTx/>
              <a:latin typeface="Palatino Linotype"/>
              <a:ea typeface="+mj-ea"/>
            </a:endParaRPr>
          </a:p>
        </p:txBody>
      </p:sp>
      <p:pic>
        <p:nvPicPr>
          <p:cNvPr id="12" name="object 3">
            <a:extLst>
              <a:ext uri="{FF2B5EF4-FFF2-40B4-BE49-F238E27FC236}">
                <a16:creationId xmlns:a16="http://schemas.microsoft.com/office/drawing/2014/main" id="{3593B4CD-A57B-320B-3835-C71F0F96D2C0}"/>
              </a:ext>
            </a:extLst>
          </p:cNvPr>
          <p:cNvPicPr/>
          <p:nvPr/>
        </p:nvPicPr>
        <p:blipFill>
          <a:blip r:embed="rId3" cstate="print"/>
          <a:stretch>
            <a:fillRect/>
          </a:stretch>
        </p:blipFill>
        <p:spPr>
          <a:xfrm>
            <a:off x="700273" y="1778537"/>
            <a:ext cx="3556117" cy="387031"/>
          </a:xfrm>
          <a:prstGeom prst="rect">
            <a:avLst/>
          </a:prstGeom>
        </p:spPr>
      </p:pic>
      <p:graphicFrame>
        <p:nvGraphicFramePr>
          <p:cNvPr id="13" name="object 4">
            <a:extLst>
              <a:ext uri="{FF2B5EF4-FFF2-40B4-BE49-F238E27FC236}">
                <a16:creationId xmlns:a16="http://schemas.microsoft.com/office/drawing/2014/main" id="{8A0D672C-89A8-E0F4-3186-16AD2D83B49F}"/>
              </a:ext>
            </a:extLst>
          </p:cNvPr>
          <p:cNvGraphicFramePr>
            <a:graphicFrameLocks noGrp="1"/>
          </p:cNvGraphicFramePr>
          <p:nvPr/>
        </p:nvGraphicFramePr>
        <p:xfrm>
          <a:off x="786900" y="2716660"/>
          <a:ext cx="3308984" cy="2860312"/>
        </p:xfrm>
        <a:graphic>
          <a:graphicData uri="http://schemas.openxmlformats.org/drawingml/2006/table">
            <a:tbl>
              <a:tblPr firstRow="1" bandRow="1"/>
              <a:tblGrid>
                <a:gridCol w="1102995">
                  <a:extLst>
                    <a:ext uri="{9D8B030D-6E8A-4147-A177-3AD203B41FA5}">
                      <a16:colId xmlns:a16="http://schemas.microsoft.com/office/drawing/2014/main" val="20000"/>
                    </a:ext>
                  </a:extLst>
                </a:gridCol>
                <a:gridCol w="1102995">
                  <a:extLst>
                    <a:ext uri="{9D8B030D-6E8A-4147-A177-3AD203B41FA5}">
                      <a16:colId xmlns:a16="http://schemas.microsoft.com/office/drawing/2014/main" val="20001"/>
                    </a:ext>
                  </a:extLst>
                </a:gridCol>
                <a:gridCol w="1102994">
                  <a:extLst>
                    <a:ext uri="{9D8B030D-6E8A-4147-A177-3AD203B41FA5}">
                      <a16:colId xmlns:a16="http://schemas.microsoft.com/office/drawing/2014/main" val="20002"/>
                    </a:ext>
                  </a:extLst>
                </a:gridCol>
              </a:tblGrid>
              <a:tr h="40861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248285" algn="r">
                        <a:lnSpc>
                          <a:spcPct val="100000"/>
                        </a:lnSpc>
                        <a:spcBef>
                          <a:spcPts val="260"/>
                        </a:spcBef>
                      </a:pPr>
                      <a:r>
                        <a:rPr sz="1600" b="1" spc="-35" dirty="0">
                          <a:latin typeface="Palatino Linotype"/>
                          <a:cs typeface="Palatino Linotype"/>
                        </a:rPr>
                        <a:t>S</a:t>
                      </a:r>
                      <a:r>
                        <a:rPr sz="1300" b="1" spc="-35" dirty="0">
                          <a:latin typeface="Palatino Linotype"/>
                          <a:cs typeface="Palatino Linotype"/>
                        </a:rPr>
                        <a:t>TACK</a:t>
                      </a:r>
                      <a:endParaRPr sz="13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905" algn="ctr">
                        <a:lnSpc>
                          <a:spcPct val="100000"/>
                        </a:lnSpc>
                        <a:spcBef>
                          <a:spcPts val="260"/>
                        </a:spcBef>
                      </a:pPr>
                      <a:r>
                        <a:rPr sz="1600" b="1" spc="-10" dirty="0">
                          <a:latin typeface="Palatino Linotype"/>
                          <a:cs typeface="Palatino Linotype"/>
                        </a:rPr>
                        <a:t>I</a:t>
                      </a:r>
                      <a:r>
                        <a:rPr sz="1300" b="1" spc="-10" dirty="0">
                          <a:latin typeface="Palatino Linotype"/>
                          <a:cs typeface="Palatino Linotype"/>
                        </a:rPr>
                        <a:t>NPUT</a:t>
                      </a:r>
                      <a:endParaRPr sz="13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905" algn="ctr">
                        <a:lnSpc>
                          <a:spcPct val="100000"/>
                        </a:lnSpc>
                        <a:spcBef>
                          <a:spcPts val="260"/>
                        </a:spcBef>
                      </a:pPr>
                      <a:r>
                        <a:rPr sz="1600" b="1" spc="-15" dirty="0">
                          <a:latin typeface="Palatino Linotype"/>
                          <a:cs typeface="Palatino Linotype"/>
                        </a:rPr>
                        <a:t>A</a:t>
                      </a:r>
                      <a:r>
                        <a:rPr sz="1300" b="1" spc="-15" dirty="0">
                          <a:latin typeface="Palatino Linotype"/>
                          <a:cs typeface="Palatino Linotype"/>
                        </a:rPr>
                        <a:t>CTION</a:t>
                      </a:r>
                      <a:endParaRPr sz="13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861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0"/>
                        </a:spcBef>
                      </a:pPr>
                      <a:r>
                        <a:rPr sz="1600" b="1" dirty="0">
                          <a:latin typeface="Palatino Linotype"/>
                          <a:cs typeface="Palatino Linotype"/>
                        </a:rPr>
                        <a:t>…</a:t>
                      </a:r>
                      <a:endParaRPr sz="16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0"/>
                        </a:spcBef>
                      </a:pPr>
                      <a:r>
                        <a:rPr sz="1600" b="1" dirty="0">
                          <a:latin typeface="Palatino Linotype"/>
                          <a:cs typeface="Palatino Linotype"/>
                        </a:rPr>
                        <a:t>…</a:t>
                      </a:r>
                      <a:endParaRPr sz="16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0"/>
                        </a:spcBef>
                      </a:pPr>
                      <a:r>
                        <a:rPr sz="1600" b="1" dirty="0">
                          <a:latin typeface="Palatino Linotype"/>
                          <a:cs typeface="Palatino Linotype"/>
                        </a:rPr>
                        <a:t>…</a:t>
                      </a:r>
                      <a:endParaRPr sz="16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861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295275">
                        <a:lnSpc>
                          <a:spcPct val="100000"/>
                        </a:lnSpc>
                        <a:spcBef>
                          <a:spcPts val="260"/>
                        </a:spcBef>
                      </a:pPr>
                      <a:r>
                        <a:rPr sz="1600" dirty="0">
                          <a:latin typeface="Cambria Math"/>
                          <a:cs typeface="Cambria Math"/>
                        </a:rPr>
                        <a:t>$𝛼𝛽</a:t>
                      </a:r>
                      <a:r>
                        <a:rPr sz="1600" dirty="0">
                          <a:solidFill>
                            <a:srgbClr val="FF0000"/>
                          </a:solidFill>
                          <a:latin typeface="Cambria Math"/>
                          <a:cs typeface="Cambria Math"/>
                        </a:rPr>
                        <a:t>𝛾</a:t>
                      </a:r>
                      <a:endParaRPr sz="1600">
                        <a:latin typeface="Cambria Math"/>
                        <a:cs typeface="Cambria Math"/>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3180" algn="ctr">
                        <a:lnSpc>
                          <a:spcPct val="100000"/>
                        </a:lnSpc>
                        <a:spcBef>
                          <a:spcPts val="260"/>
                        </a:spcBef>
                      </a:pPr>
                      <a:r>
                        <a:rPr sz="1600" dirty="0">
                          <a:latin typeface="Cambria Math"/>
                          <a:cs typeface="Cambria Math"/>
                        </a:rPr>
                        <a:t>𝑦𝑧$</a:t>
                      </a:r>
                      <a:endParaRPr sz="1600">
                        <a:latin typeface="Cambria Math"/>
                        <a:cs typeface="Cambria Math"/>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0"/>
                        </a:spcBef>
                      </a:pPr>
                      <a:r>
                        <a:rPr sz="1600" spc="-5" dirty="0">
                          <a:latin typeface="Palatino Linotype"/>
                          <a:cs typeface="Palatino Linotype"/>
                        </a:rPr>
                        <a:t>Reduce</a:t>
                      </a:r>
                      <a:endParaRPr sz="16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861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281940">
                        <a:lnSpc>
                          <a:spcPct val="100000"/>
                        </a:lnSpc>
                        <a:spcBef>
                          <a:spcPts val="254"/>
                        </a:spcBef>
                      </a:pPr>
                      <a:r>
                        <a:rPr sz="1600" dirty="0">
                          <a:latin typeface="Cambria Math"/>
                          <a:cs typeface="Cambria Math"/>
                        </a:rPr>
                        <a:t>$𝛼𝛽</a:t>
                      </a:r>
                      <a:r>
                        <a:rPr sz="1600" dirty="0">
                          <a:solidFill>
                            <a:srgbClr val="0432FF"/>
                          </a:solidFill>
                          <a:latin typeface="Cambria Math"/>
                          <a:cs typeface="Cambria Math"/>
                        </a:rPr>
                        <a:t>𝐵</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3180" algn="ctr">
                        <a:lnSpc>
                          <a:spcPct val="100000"/>
                        </a:lnSpc>
                        <a:spcBef>
                          <a:spcPts val="254"/>
                        </a:spcBef>
                      </a:pPr>
                      <a:r>
                        <a:rPr sz="1600" dirty="0">
                          <a:latin typeface="Cambria Math"/>
                          <a:cs typeface="Cambria Math"/>
                        </a:rPr>
                        <a:t>𝑦𝑧$</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Shift</a:t>
                      </a:r>
                      <a:endParaRPr sz="1600">
                        <a:latin typeface="Palatino Linotype"/>
                        <a:cs typeface="Palatino Linotype"/>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0861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273050" algn="r">
                        <a:lnSpc>
                          <a:spcPct val="100000"/>
                        </a:lnSpc>
                        <a:spcBef>
                          <a:spcPts val="254"/>
                        </a:spcBef>
                      </a:pPr>
                      <a:r>
                        <a:rPr sz="1600" dirty="0">
                          <a:latin typeface="Cambria Math"/>
                          <a:cs typeface="Cambria Math"/>
                        </a:rPr>
                        <a:t>$𝛼</a:t>
                      </a:r>
                      <a:r>
                        <a:rPr sz="1600" dirty="0">
                          <a:solidFill>
                            <a:srgbClr val="FF0000"/>
                          </a:solidFill>
                          <a:latin typeface="Cambria Math"/>
                          <a:cs typeface="Cambria Math"/>
                        </a:rPr>
                        <a:t>𝛽𝐵𝑦</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3180" algn="ctr">
                        <a:lnSpc>
                          <a:spcPct val="100000"/>
                        </a:lnSpc>
                        <a:spcBef>
                          <a:spcPts val="254"/>
                        </a:spcBef>
                      </a:pPr>
                      <a:r>
                        <a:rPr sz="1600" dirty="0">
                          <a:latin typeface="Cambria Math"/>
                          <a:cs typeface="Cambria Math"/>
                        </a:rPr>
                        <a:t>𝑧$</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5" dirty="0">
                          <a:latin typeface="Palatino Linotype"/>
                          <a:cs typeface="Palatino Linotype"/>
                        </a:rPr>
                        <a:t>Reduce</a:t>
                      </a:r>
                      <a:endParaRPr sz="1600">
                        <a:latin typeface="Palatino Linotype"/>
                        <a:cs typeface="Palatino Linotype"/>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0861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47980">
                        <a:lnSpc>
                          <a:spcPct val="100000"/>
                        </a:lnSpc>
                        <a:spcBef>
                          <a:spcPts val="254"/>
                        </a:spcBef>
                      </a:pPr>
                      <a:r>
                        <a:rPr sz="1600" dirty="0">
                          <a:latin typeface="Cambria Math"/>
                          <a:cs typeface="Cambria Math"/>
                        </a:rPr>
                        <a:t>$𝛼</a:t>
                      </a:r>
                      <a:r>
                        <a:rPr sz="1600" dirty="0">
                          <a:solidFill>
                            <a:srgbClr val="0432FF"/>
                          </a:solidFill>
                          <a:latin typeface="Cambria Math"/>
                          <a:cs typeface="Cambria Math"/>
                        </a:rPr>
                        <a:t>𝐴</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3180" algn="ctr">
                        <a:lnSpc>
                          <a:spcPct val="100000"/>
                        </a:lnSpc>
                        <a:spcBef>
                          <a:spcPts val="254"/>
                        </a:spcBef>
                      </a:pPr>
                      <a:r>
                        <a:rPr sz="1600" dirty="0">
                          <a:latin typeface="Cambria Math"/>
                          <a:cs typeface="Cambria Math"/>
                        </a:rPr>
                        <a:t>𝑧$</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Shift</a:t>
                      </a:r>
                      <a:endParaRPr sz="1600">
                        <a:latin typeface="Palatino Linotype"/>
                        <a:cs typeface="Palatino Linotype"/>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0861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b="1" dirty="0">
                          <a:latin typeface="Palatino Linotype"/>
                          <a:cs typeface="Palatino Linotype"/>
                        </a:rPr>
                        <a:t>…</a:t>
                      </a:r>
                      <a:endParaRPr sz="1600">
                        <a:latin typeface="Palatino Linotype"/>
                        <a:cs typeface="Palatino Linotype"/>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b="1" dirty="0">
                          <a:latin typeface="Palatino Linotype"/>
                          <a:cs typeface="Palatino Linotype"/>
                        </a:rPr>
                        <a:t>…</a:t>
                      </a:r>
                      <a:endParaRPr sz="1600">
                        <a:latin typeface="Palatino Linotype"/>
                        <a:cs typeface="Palatino Linotype"/>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b="1" dirty="0">
                          <a:latin typeface="Palatino Linotype"/>
                          <a:cs typeface="Palatino Linotype"/>
                        </a:rPr>
                        <a:t>…</a:t>
                      </a:r>
                      <a:endParaRPr sz="1600">
                        <a:latin typeface="Palatino Linotype"/>
                        <a:cs typeface="Palatino Linotype"/>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pic>
        <p:nvPicPr>
          <p:cNvPr id="14" name="object 5">
            <a:extLst>
              <a:ext uri="{FF2B5EF4-FFF2-40B4-BE49-F238E27FC236}">
                <a16:creationId xmlns:a16="http://schemas.microsoft.com/office/drawing/2014/main" id="{784280CE-2661-94C9-F234-60BD2806B5DD}"/>
              </a:ext>
            </a:extLst>
          </p:cNvPr>
          <p:cNvPicPr/>
          <p:nvPr/>
        </p:nvPicPr>
        <p:blipFill>
          <a:blip r:embed="rId4" cstate="print"/>
          <a:stretch>
            <a:fillRect/>
          </a:stretch>
        </p:blipFill>
        <p:spPr>
          <a:xfrm>
            <a:off x="4903398" y="1830551"/>
            <a:ext cx="3555566" cy="334898"/>
          </a:xfrm>
          <a:prstGeom prst="rect">
            <a:avLst/>
          </a:prstGeom>
        </p:spPr>
      </p:pic>
      <p:graphicFrame>
        <p:nvGraphicFramePr>
          <p:cNvPr id="15" name="object 6">
            <a:extLst>
              <a:ext uri="{FF2B5EF4-FFF2-40B4-BE49-F238E27FC236}">
                <a16:creationId xmlns:a16="http://schemas.microsoft.com/office/drawing/2014/main" id="{9B18BEB8-15BE-902A-1DF1-E9085E47F5E2}"/>
              </a:ext>
            </a:extLst>
          </p:cNvPr>
          <p:cNvGraphicFramePr>
            <a:graphicFrameLocks noGrp="1"/>
          </p:cNvGraphicFramePr>
          <p:nvPr/>
        </p:nvGraphicFramePr>
        <p:xfrm>
          <a:off x="5035115" y="2716660"/>
          <a:ext cx="3308984" cy="3440592"/>
        </p:xfrm>
        <a:graphic>
          <a:graphicData uri="http://schemas.openxmlformats.org/drawingml/2006/table">
            <a:tbl>
              <a:tblPr firstRow="1" bandRow="1"/>
              <a:tblGrid>
                <a:gridCol w="1102995">
                  <a:extLst>
                    <a:ext uri="{9D8B030D-6E8A-4147-A177-3AD203B41FA5}">
                      <a16:colId xmlns:a16="http://schemas.microsoft.com/office/drawing/2014/main" val="20000"/>
                    </a:ext>
                  </a:extLst>
                </a:gridCol>
                <a:gridCol w="1102995">
                  <a:extLst>
                    <a:ext uri="{9D8B030D-6E8A-4147-A177-3AD203B41FA5}">
                      <a16:colId xmlns:a16="http://schemas.microsoft.com/office/drawing/2014/main" val="20001"/>
                    </a:ext>
                  </a:extLst>
                </a:gridCol>
                <a:gridCol w="1102994">
                  <a:extLst>
                    <a:ext uri="{9D8B030D-6E8A-4147-A177-3AD203B41FA5}">
                      <a16:colId xmlns:a16="http://schemas.microsoft.com/office/drawing/2014/main" val="20002"/>
                    </a:ext>
                  </a:extLst>
                </a:gridCol>
              </a:tblGrid>
              <a:tr h="43007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257810">
                        <a:lnSpc>
                          <a:spcPct val="100000"/>
                        </a:lnSpc>
                        <a:spcBef>
                          <a:spcPts val="260"/>
                        </a:spcBef>
                      </a:pPr>
                      <a:r>
                        <a:rPr sz="1600" b="1" spc="-35" dirty="0">
                          <a:latin typeface="Palatino Linotype"/>
                          <a:cs typeface="Palatino Linotype"/>
                        </a:rPr>
                        <a:t>S</a:t>
                      </a:r>
                      <a:r>
                        <a:rPr sz="1300" b="1" spc="-35" dirty="0">
                          <a:latin typeface="Palatino Linotype"/>
                          <a:cs typeface="Palatino Linotype"/>
                        </a:rPr>
                        <a:t>TACK</a:t>
                      </a:r>
                      <a:endParaRPr sz="13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905" algn="ctr">
                        <a:lnSpc>
                          <a:spcPct val="100000"/>
                        </a:lnSpc>
                        <a:spcBef>
                          <a:spcPts val="260"/>
                        </a:spcBef>
                      </a:pPr>
                      <a:r>
                        <a:rPr sz="1600" b="1" spc="-10" dirty="0">
                          <a:latin typeface="Palatino Linotype"/>
                          <a:cs typeface="Palatino Linotype"/>
                        </a:rPr>
                        <a:t>I</a:t>
                      </a:r>
                      <a:r>
                        <a:rPr sz="1300" b="1" spc="-10" dirty="0">
                          <a:latin typeface="Palatino Linotype"/>
                          <a:cs typeface="Palatino Linotype"/>
                        </a:rPr>
                        <a:t>NPUT</a:t>
                      </a:r>
                      <a:endParaRPr sz="13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905" algn="ctr">
                        <a:lnSpc>
                          <a:spcPct val="100000"/>
                        </a:lnSpc>
                        <a:spcBef>
                          <a:spcPts val="260"/>
                        </a:spcBef>
                      </a:pPr>
                      <a:r>
                        <a:rPr sz="1600" b="1" spc="-15" dirty="0">
                          <a:latin typeface="Palatino Linotype"/>
                          <a:cs typeface="Palatino Linotype"/>
                        </a:rPr>
                        <a:t>A</a:t>
                      </a:r>
                      <a:r>
                        <a:rPr sz="1300" b="1" spc="-15" dirty="0">
                          <a:latin typeface="Palatino Linotype"/>
                          <a:cs typeface="Palatino Linotype"/>
                        </a:rPr>
                        <a:t>CTION</a:t>
                      </a:r>
                      <a:endParaRPr sz="13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007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0"/>
                        </a:spcBef>
                      </a:pPr>
                      <a:r>
                        <a:rPr sz="1600" b="1" dirty="0">
                          <a:latin typeface="Palatino Linotype"/>
                          <a:cs typeface="Palatino Linotype"/>
                        </a:rPr>
                        <a:t>…</a:t>
                      </a:r>
                      <a:endParaRPr sz="16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0"/>
                        </a:spcBef>
                      </a:pPr>
                      <a:r>
                        <a:rPr sz="1600" b="1" dirty="0">
                          <a:latin typeface="Palatino Linotype"/>
                          <a:cs typeface="Palatino Linotype"/>
                        </a:rPr>
                        <a:t>…</a:t>
                      </a:r>
                      <a:endParaRPr sz="16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0"/>
                        </a:spcBef>
                      </a:pPr>
                      <a:r>
                        <a:rPr sz="1600" b="1" dirty="0">
                          <a:latin typeface="Palatino Linotype"/>
                          <a:cs typeface="Palatino Linotype"/>
                        </a:rPr>
                        <a:t>…</a:t>
                      </a:r>
                      <a:endParaRPr sz="1600">
                        <a:latin typeface="Palatino Linotype"/>
                        <a:cs typeface="Palatino Linotype"/>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007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57505">
                        <a:lnSpc>
                          <a:spcPct val="100000"/>
                        </a:lnSpc>
                        <a:spcBef>
                          <a:spcPts val="254"/>
                        </a:spcBef>
                      </a:pPr>
                      <a:r>
                        <a:rPr sz="1600" dirty="0">
                          <a:latin typeface="Cambria Math"/>
                          <a:cs typeface="Cambria Math"/>
                        </a:rPr>
                        <a:t>$𝛼</a:t>
                      </a:r>
                      <a:r>
                        <a:rPr sz="1600" dirty="0">
                          <a:solidFill>
                            <a:srgbClr val="FF0000"/>
                          </a:solidFill>
                          <a:latin typeface="Cambria Math"/>
                          <a:cs typeface="Cambria Math"/>
                        </a:rPr>
                        <a:t>𝛾</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3815" algn="ctr">
                        <a:lnSpc>
                          <a:spcPct val="100000"/>
                        </a:lnSpc>
                        <a:spcBef>
                          <a:spcPts val="254"/>
                        </a:spcBef>
                      </a:pPr>
                      <a:r>
                        <a:rPr sz="1600" spc="-5" dirty="0">
                          <a:latin typeface="Cambria Math"/>
                          <a:cs typeface="Cambria Math"/>
                        </a:rPr>
                        <a:t>𝑥𝑦𝑧$</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5" dirty="0">
                          <a:latin typeface="Palatino Linotype"/>
                          <a:cs typeface="Palatino Linotype"/>
                        </a:rPr>
                        <a:t>Reduce</a:t>
                      </a:r>
                      <a:endParaRPr sz="1600">
                        <a:latin typeface="Palatino Linotype"/>
                        <a:cs typeface="Palatino Linotype"/>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3007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43535">
                        <a:lnSpc>
                          <a:spcPct val="100000"/>
                        </a:lnSpc>
                        <a:spcBef>
                          <a:spcPts val="254"/>
                        </a:spcBef>
                      </a:pPr>
                      <a:r>
                        <a:rPr sz="1600" dirty="0">
                          <a:latin typeface="Cambria Math"/>
                          <a:cs typeface="Cambria Math"/>
                        </a:rPr>
                        <a:t>$𝛼</a:t>
                      </a:r>
                      <a:r>
                        <a:rPr sz="1600" dirty="0">
                          <a:solidFill>
                            <a:srgbClr val="0432FF"/>
                          </a:solidFill>
                          <a:latin typeface="Cambria Math"/>
                          <a:cs typeface="Cambria Math"/>
                        </a:rPr>
                        <a:t>𝐵</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3815" algn="ctr">
                        <a:lnSpc>
                          <a:spcPct val="100000"/>
                        </a:lnSpc>
                        <a:spcBef>
                          <a:spcPts val="254"/>
                        </a:spcBef>
                      </a:pPr>
                      <a:r>
                        <a:rPr sz="1600" spc="-5" dirty="0">
                          <a:latin typeface="Cambria Math"/>
                          <a:cs typeface="Cambria Math"/>
                        </a:rPr>
                        <a:t>𝑥𝑦𝑧$</a:t>
                      </a:r>
                      <a:endParaRPr sz="1600">
                        <a:latin typeface="Cambria Math"/>
                        <a:cs typeface="Cambria Math"/>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Shift</a:t>
                      </a:r>
                      <a:endParaRPr sz="1600">
                        <a:latin typeface="Palatino Linotype"/>
                        <a:cs typeface="Palatino Linotype"/>
                      </a:endParaRPr>
                    </a:p>
                  </a:txBody>
                  <a:tcPr marL="0" marR="0" marT="3238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007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289560">
                        <a:lnSpc>
                          <a:spcPct val="100000"/>
                        </a:lnSpc>
                        <a:spcBef>
                          <a:spcPts val="250"/>
                        </a:spcBef>
                      </a:pPr>
                      <a:r>
                        <a:rPr sz="1600" dirty="0">
                          <a:latin typeface="Cambria Math"/>
                          <a:cs typeface="Cambria Math"/>
                        </a:rPr>
                        <a:t>$𝛼𝐵𝑥</a:t>
                      </a:r>
                      <a:endParaRPr sz="1600">
                        <a:latin typeface="Cambria Math"/>
                        <a:cs typeface="Cambria Math"/>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3180" algn="ctr">
                        <a:lnSpc>
                          <a:spcPct val="100000"/>
                        </a:lnSpc>
                        <a:spcBef>
                          <a:spcPts val="250"/>
                        </a:spcBef>
                      </a:pPr>
                      <a:r>
                        <a:rPr sz="1600" dirty="0">
                          <a:latin typeface="Cambria Math"/>
                          <a:cs typeface="Cambria Math"/>
                        </a:rPr>
                        <a:t>𝑦𝑧$</a:t>
                      </a:r>
                      <a:endParaRPr sz="1600">
                        <a:latin typeface="Cambria Math"/>
                        <a:cs typeface="Cambria Math"/>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dirty="0">
                          <a:latin typeface="Palatino Linotype"/>
                          <a:cs typeface="Palatino Linotype"/>
                        </a:rPr>
                        <a:t>Shift</a:t>
                      </a:r>
                      <a:endParaRPr sz="1600">
                        <a:latin typeface="Palatino Linotype"/>
                        <a:cs typeface="Palatino Linotype"/>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3007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233679">
                        <a:lnSpc>
                          <a:spcPct val="100000"/>
                        </a:lnSpc>
                        <a:spcBef>
                          <a:spcPts val="250"/>
                        </a:spcBef>
                      </a:pPr>
                      <a:r>
                        <a:rPr sz="1600" spc="-5" dirty="0">
                          <a:latin typeface="Cambria Math"/>
                          <a:cs typeface="Cambria Math"/>
                        </a:rPr>
                        <a:t>$𝛼𝐵𝑥</a:t>
                      </a:r>
                      <a:r>
                        <a:rPr sz="1600" spc="-5" dirty="0">
                          <a:solidFill>
                            <a:srgbClr val="FF0000"/>
                          </a:solidFill>
                          <a:latin typeface="Cambria Math"/>
                          <a:cs typeface="Cambria Math"/>
                        </a:rPr>
                        <a:t>𝑦</a:t>
                      </a:r>
                      <a:endParaRPr sz="1600">
                        <a:latin typeface="Cambria Math"/>
                        <a:cs typeface="Cambria Math"/>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3180" algn="ctr">
                        <a:lnSpc>
                          <a:spcPct val="100000"/>
                        </a:lnSpc>
                        <a:spcBef>
                          <a:spcPts val="250"/>
                        </a:spcBef>
                      </a:pPr>
                      <a:r>
                        <a:rPr sz="1600" dirty="0">
                          <a:latin typeface="Cambria Math"/>
                          <a:cs typeface="Cambria Math"/>
                        </a:rPr>
                        <a:t>𝑧$</a:t>
                      </a:r>
                      <a:endParaRPr sz="1600">
                        <a:latin typeface="Cambria Math"/>
                        <a:cs typeface="Cambria Math"/>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5" dirty="0">
                          <a:latin typeface="Palatino Linotype"/>
                          <a:cs typeface="Palatino Linotype"/>
                        </a:rPr>
                        <a:t>Reduce</a:t>
                      </a:r>
                      <a:endParaRPr sz="1600">
                        <a:latin typeface="Palatino Linotype"/>
                        <a:cs typeface="Palatino Linotype"/>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3007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227329">
                        <a:lnSpc>
                          <a:spcPct val="100000"/>
                        </a:lnSpc>
                        <a:spcBef>
                          <a:spcPts val="245"/>
                        </a:spcBef>
                      </a:pPr>
                      <a:r>
                        <a:rPr sz="1600" spc="-5" dirty="0">
                          <a:latin typeface="Cambria Math"/>
                          <a:cs typeface="Cambria Math"/>
                        </a:rPr>
                        <a:t>$𝛼𝐵𝑥</a:t>
                      </a:r>
                      <a:r>
                        <a:rPr sz="1600" spc="-5" dirty="0">
                          <a:solidFill>
                            <a:srgbClr val="0432FF"/>
                          </a:solidFill>
                          <a:latin typeface="Cambria Math"/>
                          <a:cs typeface="Cambria Math"/>
                        </a:rPr>
                        <a:t>𝐴</a:t>
                      </a:r>
                      <a:endParaRPr sz="1600">
                        <a:latin typeface="Cambria Math"/>
                        <a:cs typeface="Cambria Math"/>
                      </a:endParaRPr>
                    </a:p>
                  </a:txBody>
                  <a:tcPr marL="0" marR="0" marT="3111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3180" algn="ctr">
                        <a:lnSpc>
                          <a:spcPct val="100000"/>
                        </a:lnSpc>
                        <a:spcBef>
                          <a:spcPts val="245"/>
                        </a:spcBef>
                      </a:pPr>
                      <a:r>
                        <a:rPr sz="1600" dirty="0">
                          <a:latin typeface="Cambria Math"/>
                          <a:cs typeface="Cambria Math"/>
                        </a:rPr>
                        <a:t>𝑧$</a:t>
                      </a:r>
                      <a:endParaRPr sz="1600">
                        <a:latin typeface="Cambria Math"/>
                        <a:cs typeface="Cambria Math"/>
                      </a:endParaRPr>
                    </a:p>
                  </a:txBody>
                  <a:tcPr marL="0" marR="0" marT="3111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45"/>
                        </a:spcBef>
                      </a:pPr>
                      <a:r>
                        <a:rPr sz="1600" dirty="0">
                          <a:latin typeface="Palatino Linotype"/>
                          <a:cs typeface="Palatino Linotype"/>
                        </a:rPr>
                        <a:t>Shift</a:t>
                      </a:r>
                      <a:endParaRPr sz="1600">
                        <a:latin typeface="Palatino Linotype"/>
                        <a:cs typeface="Palatino Linotype"/>
                      </a:endParaRPr>
                    </a:p>
                  </a:txBody>
                  <a:tcPr marL="0" marR="0" marT="3111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3007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70"/>
                        </a:spcBef>
                      </a:pPr>
                      <a:r>
                        <a:rPr sz="1600" b="1" dirty="0">
                          <a:latin typeface="Palatino Linotype"/>
                          <a:cs typeface="Palatino Linotype"/>
                        </a:rPr>
                        <a:t>…</a:t>
                      </a:r>
                      <a:endParaRPr sz="1600">
                        <a:latin typeface="Palatino Linotype"/>
                        <a:cs typeface="Palatino Linotype"/>
                      </a:endParaRPr>
                    </a:p>
                  </a:txBody>
                  <a:tcPr marL="0" marR="0" marT="3429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70"/>
                        </a:spcBef>
                      </a:pPr>
                      <a:r>
                        <a:rPr sz="1600" b="1" dirty="0">
                          <a:latin typeface="Palatino Linotype"/>
                          <a:cs typeface="Palatino Linotype"/>
                        </a:rPr>
                        <a:t>…</a:t>
                      </a:r>
                      <a:endParaRPr sz="1600">
                        <a:latin typeface="Palatino Linotype"/>
                        <a:cs typeface="Palatino Linotype"/>
                      </a:endParaRPr>
                    </a:p>
                  </a:txBody>
                  <a:tcPr marL="0" marR="0" marT="3429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70"/>
                        </a:spcBef>
                      </a:pPr>
                      <a:r>
                        <a:rPr sz="1600" b="1" dirty="0">
                          <a:latin typeface="Palatino Linotype"/>
                          <a:cs typeface="Palatino Linotype"/>
                        </a:rPr>
                        <a:t>…</a:t>
                      </a:r>
                      <a:endParaRPr sz="1600">
                        <a:latin typeface="Palatino Linotype"/>
                        <a:cs typeface="Palatino Linotype"/>
                      </a:endParaRPr>
                    </a:p>
                  </a:txBody>
                  <a:tcPr marL="0" marR="0" marT="3429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6" name="object 7">
            <a:extLst>
              <a:ext uri="{FF2B5EF4-FFF2-40B4-BE49-F238E27FC236}">
                <a16:creationId xmlns:a16="http://schemas.microsoft.com/office/drawing/2014/main" id="{B4E0BD0C-65A2-DFE2-8F8B-C8B6B4B5B6A8}"/>
              </a:ext>
            </a:extLst>
          </p:cNvPr>
          <p:cNvSpPr txBox="1"/>
          <p:nvPr/>
        </p:nvSpPr>
        <p:spPr>
          <a:xfrm>
            <a:off x="770561" y="5954267"/>
            <a:ext cx="2349500" cy="228268"/>
          </a:xfrm>
          <a:prstGeom prst="rect">
            <a:avLst/>
          </a:prstGeom>
        </p:spPr>
        <p:txBody>
          <a:bodyPr vert="horz" wrap="square" lIns="0" tIns="12700" rIns="0" bIns="0" rtlCol="0">
            <a:spAutoFit/>
          </a:bodyPr>
          <a:lstStyle/>
          <a:p>
            <a:pPr marL="12700" rtl="0">
              <a:spcBef>
                <a:spcPts val="100"/>
              </a:spcBef>
            </a:pPr>
            <a:r>
              <a:rPr sz="1400" kern="1200" spc="20" dirty="0">
                <a:solidFill>
                  <a:schemeClr val="bg2">
                    <a:lumMod val="25000"/>
                  </a:schemeClr>
                </a:solidFill>
                <a:latin typeface="Cambria Math"/>
                <a:cs typeface="Cambria Math"/>
              </a:rPr>
              <a:t>𝑥</a:t>
            </a:r>
            <a:r>
              <a:rPr sz="1400" kern="1200" spc="20" dirty="0">
                <a:solidFill>
                  <a:schemeClr val="bg2">
                    <a:lumMod val="25000"/>
                  </a:schemeClr>
                </a:solidFill>
                <a:latin typeface="Palatino Linotype"/>
                <a:cs typeface="Palatino Linotype"/>
              </a:rPr>
              <a:t>,</a:t>
            </a:r>
            <a:r>
              <a:rPr sz="1400" kern="1200" spc="-10" dirty="0">
                <a:solidFill>
                  <a:schemeClr val="bg2">
                    <a:lumMod val="25000"/>
                  </a:schemeClr>
                </a:solidFill>
                <a:latin typeface="Palatino Linotype"/>
                <a:cs typeface="Palatino Linotype"/>
              </a:rPr>
              <a:t> </a:t>
            </a:r>
            <a:r>
              <a:rPr sz="1400" kern="1200" spc="10" dirty="0">
                <a:solidFill>
                  <a:schemeClr val="bg2">
                    <a:lumMod val="25000"/>
                  </a:schemeClr>
                </a:solidFill>
                <a:latin typeface="Cambria Math"/>
                <a:cs typeface="Cambria Math"/>
              </a:rPr>
              <a:t>𝑦</a:t>
            </a:r>
            <a:r>
              <a:rPr sz="1400" kern="1200" spc="10" dirty="0">
                <a:solidFill>
                  <a:schemeClr val="bg2">
                    <a:lumMod val="25000"/>
                  </a:schemeClr>
                </a:solidFill>
                <a:latin typeface="Palatino Linotype"/>
                <a:cs typeface="Palatino Linotype"/>
              </a:rPr>
              <a:t>,</a:t>
            </a:r>
            <a:r>
              <a:rPr sz="1400" kern="1200" spc="-10" dirty="0">
                <a:solidFill>
                  <a:schemeClr val="bg2">
                    <a:lumMod val="25000"/>
                  </a:schemeClr>
                </a:solidFill>
                <a:latin typeface="Palatino Linotype"/>
                <a:cs typeface="Palatino Linotype"/>
              </a:rPr>
              <a:t> </a:t>
            </a:r>
            <a:r>
              <a:rPr sz="1400" kern="1200" dirty="0">
                <a:solidFill>
                  <a:schemeClr val="bg2">
                    <a:lumMod val="25000"/>
                  </a:schemeClr>
                </a:solidFill>
                <a:latin typeface="Cambria Math"/>
                <a:cs typeface="Cambria Math"/>
              </a:rPr>
              <a:t>𝑧</a:t>
            </a:r>
            <a:r>
              <a:rPr sz="1400" kern="1200" spc="55" dirty="0">
                <a:solidFill>
                  <a:schemeClr val="bg2">
                    <a:lumMod val="25000"/>
                  </a:schemeClr>
                </a:solidFill>
                <a:latin typeface="Cambria Math"/>
                <a:cs typeface="Cambria Math"/>
              </a:rPr>
              <a:t> </a:t>
            </a:r>
            <a:r>
              <a:rPr sz="1400" kern="1200" spc="-5" dirty="0">
                <a:solidFill>
                  <a:schemeClr val="bg2">
                    <a:lumMod val="25000"/>
                  </a:schemeClr>
                </a:solidFill>
                <a:latin typeface="Palatino Linotype"/>
                <a:cs typeface="Palatino Linotype"/>
              </a:rPr>
              <a:t>are</a:t>
            </a:r>
            <a:r>
              <a:rPr sz="1400" kern="1200" spc="-10" dirty="0">
                <a:solidFill>
                  <a:schemeClr val="bg2">
                    <a:lumMod val="25000"/>
                  </a:schemeClr>
                </a:solidFill>
                <a:latin typeface="Palatino Linotype"/>
                <a:cs typeface="Palatino Linotype"/>
              </a:rPr>
              <a:t> </a:t>
            </a:r>
            <a:r>
              <a:rPr sz="1400" kern="1200" spc="-5" dirty="0">
                <a:solidFill>
                  <a:schemeClr val="bg2">
                    <a:lumMod val="25000"/>
                  </a:schemeClr>
                </a:solidFill>
                <a:latin typeface="Palatino Linotype"/>
                <a:cs typeface="Palatino Linotype"/>
              </a:rPr>
              <a:t>strings</a:t>
            </a:r>
            <a:r>
              <a:rPr sz="1400" kern="1200" spc="-15" dirty="0">
                <a:solidFill>
                  <a:schemeClr val="bg2">
                    <a:lumMod val="25000"/>
                  </a:schemeClr>
                </a:solidFill>
                <a:latin typeface="Palatino Linotype"/>
                <a:cs typeface="Palatino Linotype"/>
              </a:rPr>
              <a:t> </a:t>
            </a:r>
            <a:r>
              <a:rPr sz="1400" kern="1200" spc="-5" dirty="0">
                <a:solidFill>
                  <a:schemeClr val="bg2">
                    <a:lumMod val="25000"/>
                  </a:schemeClr>
                </a:solidFill>
                <a:latin typeface="Palatino Linotype"/>
                <a:cs typeface="Palatino Linotype"/>
              </a:rPr>
              <a:t>of</a:t>
            </a:r>
            <a:r>
              <a:rPr sz="1400" kern="1200" spc="-15" dirty="0">
                <a:solidFill>
                  <a:schemeClr val="bg2">
                    <a:lumMod val="25000"/>
                  </a:schemeClr>
                </a:solidFill>
                <a:latin typeface="Palatino Linotype"/>
                <a:cs typeface="Palatino Linotype"/>
              </a:rPr>
              <a:t> </a:t>
            </a:r>
            <a:r>
              <a:rPr sz="1400" kern="1200" dirty="0">
                <a:solidFill>
                  <a:schemeClr val="bg2">
                    <a:lumMod val="25000"/>
                  </a:schemeClr>
                </a:solidFill>
                <a:latin typeface="Palatino Linotype"/>
                <a:cs typeface="Palatino Linotype"/>
              </a:rPr>
              <a:t>terminals</a:t>
            </a:r>
          </a:p>
        </p:txBody>
      </p:sp>
    </p:spTree>
    <p:extLst>
      <p:ext uri="{BB962C8B-B14F-4D97-AF65-F5344CB8AC3E}">
        <p14:creationId xmlns:p14="http://schemas.microsoft.com/office/powerpoint/2010/main" val="32273600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98</a:t>
            </a:fld>
            <a:endParaRPr lang="en-US"/>
          </a:p>
        </p:txBody>
      </p:sp>
      <p:sp>
        <p:nvSpPr>
          <p:cNvPr id="7" name="object 2">
            <a:extLst>
              <a:ext uri="{FF2B5EF4-FFF2-40B4-BE49-F238E27FC236}">
                <a16:creationId xmlns:a16="http://schemas.microsoft.com/office/drawing/2014/main" id="{2541D998-1059-7B32-8858-268256CF6DC1}"/>
              </a:ext>
            </a:extLst>
          </p:cNvPr>
          <p:cNvSpPr txBox="1">
            <a:spLocks/>
          </p:cNvSpPr>
          <p:nvPr/>
        </p:nvSpPr>
        <p:spPr>
          <a:xfrm>
            <a:off x="615950" y="560832"/>
            <a:ext cx="7879715" cy="5588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500" b="1" i="0" u="none" strike="noStrike" kern="0" cap="none" spc="-5" normalizeH="0" baseline="0" noProof="0">
                <a:ln>
                  <a:noFill/>
                </a:ln>
                <a:solidFill>
                  <a:sysClr val="windowText" lastClr="000000"/>
                </a:solidFill>
                <a:effectLst/>
                <a:uLnTx/>
                <a:uFillTx/>
                <a:latin typeface="Palatino Linotype"/>
                <a:ea typeface="+mj-ea"/>
              </a:rPr>
              <a:t>Conflicts</a:t>
            </a:r>
            <a:r>
              <a:rPr kumimoji="0" lang="en-US" sz="3500" b="1" i="0" u="none" strike="noStrike" kern="0" cap="none" spc="-15" normalizeH="0" baseline="0" noProof="0">
                <a:ln>
                  <a:noFill/>
                </a:ln>
                <a:solidFill>
                  <a:sysClr val="windowText" lastClr="000000"/>
                </a:solidFill>
                <a:effectLst/>
                <a:uLnTx/>
                <a:uFillTx/>
                <a:latin typeface="Palatino Linotype"/>
                <a:ea typeface="+mj-ea"/>
              </a:rPr>
              <a:t> </a:t>
            </a:r>
            <a:r>
              <a:rPr kumimoji="0" lang="en-US" sz="3500" b="1" i="0" u="none" strike="noStrike" kern="0" cap="none" spc="-5" normalizeH="0" baseline="0" noProof="0">
                <a:ln>
                  <a:noFill/>
                </a:ln>
                <a:solidFill>
                  <a:sysClr val="windowText" lastClr="000000"/>
                </a:solidFill>
                <a:effectLst/>
                <a:uLnTx/>
                <a:uFillTx/>
                <a:latin typeface="Palatino Linotype"/>
                <a:ea typeface="+mj-ea"/>
              </a:rPr>
              <a:t>During Shift-Reduce</a:t>
            </a:r>
            <a:r>
              <a:rPr kumimoji="0" lang="en-US" sz="3500" b="1" i="0" u="none" strike="noStrike" kern="0" cap="none" spc="-10" normalizeH="0" baseline="0" noProof="0">
                <a:ln>
                  <a:noFill/>
                </a:ln>
                <a:solidFill>
                  <a:sysClr val="windowText" lastClr="000000"/>
                </a:solidFill>
                <a:effectLst/>
                <a:uLnTx/>
                <a:uFillTx/>
                <a:latin typeface="Palatino Linotype"/>
                <a:ea typeface="+mj-ea"/>
              </a:rPr>
              <a:t> </a:t>
            </a:r>
            <a:r>
              <a:rPr kumimoji="0" lang="en-US" sz="3500" b="1" i="0" u="none" strike="noStrike" kern="0" cap="none" spc="-5" normalizeH="0" baseline="0" noProof="0">
                <a:ln>
                  <a:noFill/>
                </a:ln>
                <a:solidFill>
                  <a:sysClr val="windowText" lastClr="000000"/>
                </a:solidFill>
                <a:effectLst/>
                <a:uLnTx/>
                <a:uFillTx/>
                <a:latin typeface="Palatino Linotype"/>
                <a:ea typeface="+mj-ea"/>
              </a:rPr>
              <a:t>Parsing</a:t>
            </a:r>
            <a:endParaRPr kumimoji="0" lang="en-US" sz="3500" b="1" i="0" u="none" strike="noStrike" kern="0" cap="none" spc="0" normalizeH="0" baseline="0" noProof="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879C3D87-62F0-9926-ACAE-A3D7A4C08163}"/>
              </a:ext>
            </a:extLst>
          </p:cNvPr>
          <p:cNvSpPr txBox="1"/>
          <p:nvPr/>
        </p:nvSpPr>
        <p:spPr>
          <a:xfrm>
            <a:off x="707390" y="1610867"/>
            <a:ext cx="7548880" cy="3434079"/>
          </a:xfrm>
          <a:prstGeom prst="rect">
            <a:avLst/>
          </a:prstGeom>
        </p:spPr>
        <p:txBody>
          <a:bodyPr vert="horz" wrap="square" lIns="0" tIns="12700" rIns="0" bIns="0" rtlCol="0">
            <a:spAutoFit/>
          </a:bodyPr>
          <a:lstStyle/>
          <a:p>
            <a:pPr marL="242570" marR="161290" indent="-230504" rtl="0">
              <a:lnSpc>
                <a:spcPct val="115999"/>
              </a:lnSpc>
              <a:spcBef>
                <a:spcPts val="100"/>
              </a:spcBef>
              <a:buClr>
                <a:srgbClr val="000000"/>
              </a:buClr>
              <a:buFont typeface="Arial MT"/>
              <a:buChar char="•"/>
              <a:tabLst>
                <a:tab pos="242570" algn="l"/>
                <a:tab pos="243204" algn="l"/>
              </a:tabLst>
            </a:pPr>
            <a:r>
              <a:rPr sz="2000" kern="1200" spc="-5" dirty="0">
                <a:solidFill>
                  <a:srgbClr val="FF0000"/>
                </a:solidFill>
                <a:latin typeface="Palatino Linotype"/>
                <a:cs typeface="Palatino Linotype"/>
              </a:rPr>
              <a:t>There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are</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context-free</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grammars</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for</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which shift-reduce</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parsing </a:t>
            </a:r>
            <a:r>
              <a:rPr sz="2000" kern="1200" spc="-484" dirty="0">
                <a:solidFill>
                  <a:srgbClr val="FF0000"/>
                </a:solidFill>
                <a:latin typeface="Palatino Linotype"/>
                <a:cs typeface="Palatino Linotype"/>
              </a:rPr>
              <a:t> </a:t>
            </a:r>
            <a:r>
              <a:rPr sz="2000" kern="1200" spc="-5" dirty="0">
                <a:solidFill>
                  <a:srgbClr val="FF0000"/>
                </a:solidFill>
                <a:latin typeface="Palatino Linotype"/>
                <a:cs typeface="Palatino Linotype"/>
              </a:rPr>
              <a:t>cannot</a:t>
            </a:r>
            <a:r>
              <a:rPr sz="2000" kern="1200" spc="-10" dirty="0">
                <a:solidFill>
                  <a:srgbClr val="FF0000"/>
                </a:solidFill>
                <a:latin typeface="Palatino Linotype"/>
                <a:cs typeface="Palatino Linotype"/>
              </a:rPr>
              <a:t> </a:t>
            </a:r>
            <a:r>
              <a:rPr sz="2000" kern="1200" dirty="0">
                <a:solidFill>
                  <a:srgbClr val="FF0000"/>
                </a:solidFill>
                <a:latin typeface="Palatino Linotype"/>
                <a:cs typeface="Palatino Linotype"/>
              </a:rPr>
              <a:t>be </a:t>
            </a:r>
            <a:r>
              <a:rPr sz="2000" kern="1200" spc="-5" dirty="0">
                <a:solidFill>
                  <a:srgbClr val="FF0000"/>
                </a:solidFill>
                <a:latin typeface="Palatino Linotype"/>
                <a:cs typeface="Palatino Linotype"/>
              </a:rPr>
              <a:t>used</a:t>
            </a:r>
            <a:endParaRPr sz="2000" kern="1200" dirty="0">
              <a:solidFill>
                <a:prstClr val="black"/>
              </a:solidFill>
              <a:latin typeface="Palatino Linotype"/>
              <a:cs typeface="Palatino Linotype"/>
            </a:endParaRPr>
          </a:p>
          <a:p>
            <a:pPr marL="242570" marR="168910" indent="-230504" rtl="0">
              <a:lnSpc>
                <a:spcPct val="121000"/>
              </a:lnSpc>
              <a:spcBef>
                <a:spcPts val="2400"/>
              </a:spcBef>
              <a:buFont typeface="Arial MT"/>
              <a:buChar char="•"/>
              <a:tabLst>
                <a:tab pos="242570" algn="l"/>
                <a:tab pos="243204" algn="l"/>
              </a:tabLst>
            </a:pPr>
            <a:r>
              <a:rPr sz="2000" kern="1200" spc="-10" dirty="0">
                <a:solidFill>
                  <a:prstClr val="black"/>
                </a:solidFill>
                <a:latin typeface="Palatino Linotype"/>
                <a:cs typeface="Palatino Linotype"/>
              </a:rPr>
              <a:t>Every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shift-reduce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parser for such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grammar can reach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configuration </a:t>
            </a:r>
            <a:r>
              <a:rPr sz="2000" kern="1200" dirty="0">
                <a:solidFill>
                  <a:prstClr val="black"/>
                </a:solidFill>
                <a:latin typeface="Palatino Linotype"/>
                <a:cs typeface="Palatino Linotype"/>
              </a:rPr>
              <a:t>in </a:t>
            </a:r>
            <a:r>
              <a:rPr sz="2000" kern="1200" spc="-5" dirty="0">
                <a:solidFill>
                  <a:prstClr val="black"/>
                </a:solidFill>
                <a:latin typeface="Palatino Linotype"/>
                <a:cs typeface="Palatino Linotype"/>
              </a:rPr>
              <a:t>which the</a:t>
            </a:r>
            <a:r>
              <a:rPr sz="2000" kern="1200" spc="5" dirty="0">
                <a:solidFill>
                  <a:prstClr val="black"/>
                </a:solidFill>
                <a:latin typeface="Palatino Linotype"/>
                <a:cs typeface="Palatino Linotype"/>
              </a:rPr>
              <a:t> </a:t>
            </a:r>
            <a:r>
              <a:rPr sz="2000" kern="1200" spc="-15" dirty="0">
                <a:solidFill>
                  <a:prstClr val="black"/>
                </a:solidFill>
                <a:latin typeface="Palatino Linotype"/>
                <a:cs typeface="Palatino Linotype"/>
              </a:rPr>
              <a:t>parser,</a:t>
            </a:r>
            <a:r>
              <a:rPr sz="2000" kern="1200" spc="-5" dirty="0">
                <a:solidFill>
                  <a:prstClr val="black"/>
                </a:solidFill>
                <a:latin typeface="Palatino Linotype"/>
                <a:cs typeface="Palatino Linotype"/>
              </a:rPr>
              <a:t> </a:t>
            </a:r>
            <a:r>
              <a:rPr sz="2000" kern="1200" spc="-5" dirty="0">
                <a:solidFill>
                  <a:srgbClr val="0432FF"/>
                </a:solidFill>
                <a:latin typeface="Palatino Linotype"/>
                <a:cs typeface="Palatino Linotype"/>
              </a:rPr>
              <a:t>knowing</a:t>
            </a:r>
            <a:r>
              <a:rPr sz="2000" kern="1200" spc="5" dirty="0">
                <a:solidFill>
                  <a:srgbClr val="0432FF"/>
                </a:solidFill>
                <a:latin typeface="Palatino Linotype"/>
                <a:cs typeface="Palatino Linotype"/>
              </a:rPr>
              <a:t> </a:t>
            </a:r>
            <a:r>
              <a:rPr sz="2000" kern="1200" spc="-5" dirty="0">
                <a:solidFill>
                  <a:srgbClr val="0432FF"/>
                </a:solidFill>
                <a:latin typeface="Palatino Linotype"/>
                <a:cs typeface="Palatino Linotype"/>
              </a:rPr>
              <a:t>the</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entire</a:t>
            </a:r>
            <a:r>
              <a:rPr sz="2000" kern="1200" spc="5" dirty="0">
                <a:solidFill>
                  <a:srgbClr val="0432FF"/>
                </a:solidFill>
                <a:latin typeface="Palatino Linotype"/>
                <a:cs typeface="Palatino Linotype"/>
              </a:rPr>
              <a:t> </a:t>
            </a:r>
            <a:r>
              <a:rPr sz="2000" kern="1200" spc="-5" dirty="0">
                <a:solidFill>
                  <a:srgbClr val="0432FF"/>
                </a:solidFill>
                <a:latin typeface="Palatino Linotype"/>
                <a:cs typeface="Palatino Linotype"/>
              </a:rPr>
              <a:t>stack and </a:t>
            </a:r>
            <a:r>
              <a:rPr sz="2000" kern="1200" spc="-484" dirty="0">
                <a:solidFill>
                  <a:srgbClr val="0432FF"/>
                </a:solidFill>
                <a:latin typeface="Palatino Linotype"/>
                <a:cs typeface="Palatino Linotype"/>
              </a:rPr>
              <a:t> </a:t>
            </a:r>
            <a:r>
              <a:rPr sz="2000" kern="1200" dirty="0">
                <a:solidFill>
                  <a:srgbClr val="0432FF"/>
                </a:solidFill>
                <a:latin typeface="Palatino Linotype"/>
                <a:cs typeface="Palatino Linotype"/>
              </a:rPr>
              <a:t>also</a:t>
            </a:r>
            <a:r>
              <a:rPr sz="2000" kern="1200" spc="-10" dirty="0">
                <a:solidFill>
                  <a:srgbClr val="0432FF"/>
                </a:solidFill>
                <a:latin typeface="Palatino Linotype"/>
                <a:cs typeface="Palatino Linotype"/>
              </a:rPr>
              <a:t> </a:t>
            </a:r>
            <a:r>
              <a:rPr sz="2000" kern="1200" spc="-5" dirty="0">
                <a:solidFill>
                  <a:srgbClr val="0432FF"/>
                </a:solidFill>
                <a:latin typeface="Palatino Linotype"/>
                <a:cs typeface="Palatino Linotype"/>
              </a:rPr>
              <a:t>the</a:t>
            </a:r>
            <a:r>
              <a:rPr sz="2000" kern="1200" dirty="0">
                <a:solidFill>
                  <a:srgbClr val="0432FF"/>
                </a:solidFill>
                <a:latin typeface="Palatino Linotype"/>
                <a:cs typeface="Palatino Linotype"/>
              </a:rPr>
              <a:t> next</a:t>
            </a:r>
            <a:r>
              <a:rPr sz="2000" kern="1200" spc="-10" dirty="0">
                <a:solidFill>
                  <a:srgbClr val="0432FF"/>
                </a:solidFill>
                <a:latin typeface="Palatino Linotype"/>
                <a:cs typeface="Palatino Linotype"/>
              </a:rPr>
              <a:t> </a:t>
            </a:r>
            <a:r>
              <a:rPr sz="2000" kern="1200" dirty="0">
                <a:solidFill>
                  <a:srgbClr val="0432FF"/>
                </a:solidFill>
                <a:latin typeface="Cambria Math"/>
                <a:cs typeface="Cambria Math"/>
              </a:rPr>
              <a:t>𝑘</a:t>
            </a:r>
            <a:r>
              <a:rPr sz="2000" kern="1200" spc="110" dirty="0">
                <a:solidFill>
                  <a:srgbClr val="0432FF"/>
                </a:solidFill>
                <a:latin typeface="Cambria Math"/>
                <a:cs typeface="Cambria Math"/>
              </a:rPr>
              <a:t> </a:t>
            </a:r>
            <a:r>
              <a:rPr sz="2000" kern="1200" spc="-5" dirty="0">
                <a:solidFill>
                  <a:srgbClr val="0432FF"/>
                </a:solidFill>
                <a:latin typeface="Palatino Linotype"/>
                <a:cs typeface="Palatino Linotype"/>
              </a:rPr>
              <a:t>input </a:t>
            </a:r>
            <a:r>
              <a:rPr sz="2000" kern="1200" dirty="0">
                <a:solidFill>
                  <a:srgbClr val="0432FF"/>
                </a:solidFill>
                <a:latin typeface="Palatino Linotype"/>
                <a:cs typeface="Palatino Linotype"/>
              </a:rPr>
              <a:t>symbols</a:t>
            </a:r>
            <a:r>
              <a:rPr sz="2000" kern="1200" dirty="0">
                <a:solidFill>
                  <a:prstClr val="black"/>
                </a:solidFill>
                <a:latin typeface="Palatino Linotype"/>
                <a:cs typeface="Palatino Linotype"/>
              </a:rPr>
              <a:t>,</a:t>
            </a:r>
            <a:r>
              <a:rPr sz="2000" kern="1200" spc="-5" dirty="0">
                <a:solidFill>
                  <a:prstClr val="black"/>
                </a:solidFill>
                <a:latin typeface="Palatino Linotype"/>
                <a:cs typeface="Palatino Linotype"/>
              </a:rPr>
              <a:t> cannot </a:t>
            </a:r>
            <a:r>
              <a:rPr sz="2000" kern="1200" dirty="0">
                <a:solidFill>
                  <a:prstClr val="black"/>
                </a:solidFill>
                <a:latin typeface="Palatino Linotype"/>
                <a:cs typeface="Palatino Linotype"/>
              </a:rPr>
              <a:t>decide</a:t>
            </a:r>
          </a:p>
          <a:p>
            <a:pPr marL="698500" lvl="1" indent="-228600" rtl="0">
              <a:spcBef>
                <a:spcPts val="1590"/>
              </a:spcBef>
              <a:buFont typeface="Wingdings"/>
              <a:buChar char=""/>
              <a:tabLst>
                <a:tab pos="698500" algn="l"/>
              </a:tabLst>
            </a:pPr>
            <a:r>
              <a:rPr kern="1200" dirty="0">
                <a:solidFill>
                  <a:prstClr val="black"/>
                </a:solidFill>
                <a:latin typeface="Palatino Linotype"/>
                <a:cs typeface="Palatino Linotype"/>
              </a:rPr>
              <a:t>Whether to </a:t>
            </a:r>
            <a:r>
              <a:rPr kern="1200" spc="-5" dirty="0">
                <a:solidFill>
                  <a:prstClr val="black"/>
                </a:solidFill>
                <a:latin typeface="Palatino Linotype"/>
                <a:cs typeface="Palatino Linotype"/>
              </a:rPr>
              <a:t>shift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or to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reduce </a:t>
            </a:r>
            <a:r>
              <a:rPr kern="1200" spc="-5" dirty="0">
                <a:solidFill>
                  <a:prstClr val="black"/>
                </a:solidFill>
                <a:latin typeface="Palatino Linotype"/>
                <a:cs typeface="Palatino Linotype"/>
              </a:rPr>
              <a:t>(</a:t>
            </a:r>
            <a:r>
              <a:rPr kern="1200" spc="-5" dirty="0">
                <a:solidFill>
                  <a:srgbClr val="FF0000"/>
                </a:solidFill>
                <a:latin typeface="Palatino Linotype"/>
                <a:cs typeface="Palatino Linotype"/>
              </a:rPr>
              <a:t>shift/reduce</a:t>
            </a:r>
            <a:r>
              <a:rPr kern="1200" spc="5" dirty="0">
                <a:solidFill>
                  <a:srgbClr val="FF0000"/>
                </a:solidFill>
                <a:latin typeface="Palatino Linotype"/>
                <a:cs typeface="Palatino Linotype"/>
              </a:rPr>
              <a:t> </a:t>
            </a:r>
            <a:r>
              <a:rPr kern="1200" spc="-5" dirty="0">
                <a:solidFill>
                  <a:srgbClr val="FF0000"/>
                </a:solidFill>
                <a:latin typeface="Palatino Linotype"/>
                <a:cs typeface="Palatino Linotype"/>
              </a:rPr>
              <a:t>conflicts,</a:t>
            </a:r>
            <a:r>
              <a:rPr kern="1200" dirty="0">
                <a:solidFill>
                  <a:srgbClr val="FF0000"/>
                </a:solidFill>
                <a:latin typeface="Palatino Linotype"/>
                <a:cs typeface="Palatino Linotype"/>
              </a:rPr>
              <a:t> </a:t>
            </a:r>
            <a:r>
              <a:rPr kern="1200" dirty="0">
                <a:solidFill>
                  <a:srgbClr val="FF0000"/>
                </a:solidFill>
                <a:latin typeface="SimSun"/>
                <a:cs typeface="SimSun"/>
              </a:rPr>
              <a:t>移入/归约冲突</a:t>
            </a:r>
            <a:r>
              <a:rPr kern="1200" dirty="0">
                <a:solidFill>
                  <a:prstClr val="black"/>
                </a:solidFill>
                <a:latin typeface="Palatino Linotype"/>
                <a:cs typeface="Palatino Linotype"/>
              </a:rPr>
              <a:t>)</a:t>
            </a:r>
          </a:p>
          <a:p>
            <a:pPr marL="698500" marR="681990" lvl="1" indent="-228600" rtl="0">
              <a:lnSpc>
                <a:spcPct val="121100"/>
              </a:lnSpc>
              <a:spcBef>
                <a:spcPts val="1175"/>
              </a:spcBef>
              <a:buFont typeface="Wingdings"/>
              <a:buChar char=""/>
              <a:tabLst>
                <a:tab pos="698500" algn="l"/>
              </a:tabLst>
            </a:pPr>
            <a:r>
              <a:rPr kern="1200" dirty="0">
                <a:solidFill>
                  <a:prstClr val="black"/>
                </a:solidFill>
                <a:latin typeface="Palatino Linotype"/>
                <a:cs typeface="Palatino Linotype"/>
              </a:rPr>
              <a:t>Which of </a:t>
            </a:r>
            <a:r>
              <a:rPr kern="1200" spc="-10" dirty="0">
                <a:solidFill>
                  <a:prstClr val="black"/>
                </a:solidFill>
                <a:latin typeface="Palatino Linotype"/>
                <a:cs typeface="Palatino Linotype"/>
              </a:rPr>
              <a:t>several</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possible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reductions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to </a:t>
            </a:r>
            <a:r>
              <a:rPr kern="1200" spc="-5" dirty="0">
                <a:solidFill>
                  <a:prstClr val="black"/>
                </a:solidFill>
                <a:latin typeface="Palatino Linotype"/>
                <a:cs typeface="Palatino Linotype"/>
              </a:rPr>
              <a:t>make</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a:t>
            </a:r>
            <a:r>
              <a:rPr kern="1200" spc="-5" dirty="0">
                <a:solidFill>
                  <a:srgbClr val="FF0000"/>
                </a:solidFill>
                <a:latin typeface="Palatino Linotype"/>
                <a:cs typeface="Palatino Linotype"/>
              </a:rPr>
              <a:t>reduce/reduce </a:t>
            </a:r>
            <a:r>
              <a:rPr kern="1200" spc="-434" dirty="0">
                <a:solidFill>
                  <a:srgbClr val="FF0000"/>
                </a:solidFill>
                <a:latin typeface="Palatino Linotype"/>
                <a:cs typeface="Palatino Linotype"/>
              </a:rPr>
              <a:t> </a:t>
            </a:r>
            <a:r>
              <a:rPr kern="1200" spc="-5" dirty="0">
                <a:solidFill>
                  <a:srgbClr val="FF0000"/>
                </a:solidFill>
                <a:latin typeface="Palatino Linotype"/>
                <a:cs typeface="Palatino Linotype"/>
              </a:rPr>
              <a:t>conflicts, </a:t>
            </a:r>
            <a:r>
              <a:rPr kern="1200" dirty="0">
                <a:solidFill>
                  <a:srgbClr val="FF0000"/>
                </a:solidFill>
                <a:latin typeface="SimSun"/>
                <a:cs typeface="SimSun"/>
              </a:rPr>
              <a:t>归约/归约冲突</a:t>
            </a:r>
            <a:r>
              <a:rPr kern="1200" dirty="0">
                <a:solidFill>
                  <a:prstClr val="black"/>
                </a:solidFill>
                <a:latin typeface="Palatino Linotype"/>
                <a:cs typeface="Palatino Linotype"/>
              </a:rPr>
              <a:t>)</a:t>
            </a:r>
          </a:p>
        </p:txBody>
      </p:sp>
    </p:spTree>
    <p:extLst>
      <p:ext uri="{BB962C8B-B14F-4D97-AF65-F5344CB8AC3E}">
        <p14:creationId xmlns:p14="http://schemas.microsoft.com/office/powerpoint/2010/main" val="34516061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99</a:t>
            </a:fld>
            <a:endParaRPr lang="en-US"/>
          </a:p>
        </p:txBody>
      </p:sp>
      <p:sp>
        <p:nvSpPr>
          <p:cNvPr id="10" name="object 2">
            <a:extLst>
              <a:ext uri="{FF2B5EF4-FFF2-40B4-BE49-F238E27FC236}">
                <a16:creationId xmlns:a16="http://schemas.microsoft.com/office/drawing/2014/main" id="{DDC12757-15A4-78CF-7B9C-E43D6524B3DD}"/>
              </a:ext>
            </a:extLst>
          </p:cNvPr>
          <p:cNvSpPr txBox="1">
            <a:spLocks/>
          </p:cNvSpPr>
          <p:nvPr/>
        </p:nvSpPr>
        <p:spPr>
          <a:xfrm>
            <a:off x="707390" y="524763"/>
            <a:ext cx="71964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Shift/Reduce</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Conflict</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pic>
        <p:nvPicPr>
          <p:cNvPr id="11" name="object 3">
            <a:extLst>
              <a:ext uri="{FF2B5EF4-FFF2-40B4-BE49-F238E27FC236}">
                <a16:creationId xmlns:a16="http://schemas.microsoft.com/office/drawing/2014/main" id="{3138231B-C623-CEC1-81AE-6E27B3D433AC}"/>
              </a:ext>
            </a:extLst>
          </p:cNvPr>
          <p:cNvPicPr/>
          <p:nvPr/>
        </p:nvPicPr>
        <p:blipFill>
          <a:blip r:embed="rId3" cstate="print"/>
          <a:stretch>
            <a:fillRect/>
          </a:stretch>
        </p:blipFill>
        <p:spPr>
          <a:xfrm>
            <a:off x="1819195" y="2010085"/>
            <a:ext cx="5387702" cy="1071389"/>
          </a:xfrm>
          <a:prstGeom prst="rect">
            <a:avLst/>
          </a:prstGeom>
        </p:spPr>
      </p:pic>
      <p:pic>
        <p:nvPicPr>
          <p:cNvPr id="12" name="object 4">
            <a:extLst>
              <a:ext uri="{FF2B5EF4-FFF2-40B4-BE49-F238E27FC236}">
                <a16:creationId xmlns:a16="http://schemas.microsoft.com/office/drawing/2014/main" id="{A77390C5-D028-25A4-1051-73C6925B7AA7}"/>
              </a:ext>
            </a:extLst>
          </p:cNvPr>
          <p:cNvPicPr/>
          <p:nvPr/>
        </p:nvPicPr>
        <p:blipFill>
          <a:blip r:embed="rId4" cstate="print"/>
          <a:stretch>
            <a:fillRect/>
          </a:stretch>
        </p:blipFill>
        <p:spPr>
          <a:xfrm>
            <a:off x="1422756" y="3786094"/>
            <a:ext cx="6138552" cy="625613"/>
          </a:xfrm>
          <a:prstGeom prst="rect">
            <a:avLst/>
          </a:prstGeom>
        </p:spPr>
      </p:pic>
      <p:sp>
        <p:nvSpPr>
          <p:cNvPr id="13" name="object 5">
            <a:extLst>
              <a:ext uri="{FF2B5EF4-FFF2-40B4-BE49-F238E27FC236}">
                <a16:creationId xmlns:a16="http://schemas.microsoft.com/office/drawing/2014/main" id="{FCDEC092-90FE-54B0-079C-65CB82579AA3}"/>
              </a:ext>
            </a:extLst>
          </p:cNvPr>
          <p:cNvSpPr txBox="1"/>
          <p:nvPr/>
        </p:nvSpPr>
        <p:spPr>
          <a:xfrm>
            <a:off x="1232036" y="5219700"/>
            <a:ext cx="5641975" cy="330200"/>
          </a:xfrm>
          <a:prstGeom prst="rect">
            <a:avLst/>
          </a:prstGeom>
        </p:spPr>
        <p:txBody>
          <a:bodyPr vert="horz" wrap="square" lIns="0" tIns="12700" rIns="0" bIns="0" rtlCol="0">
            <a:spAutoFit/>
          </a:bodyPr>
          <a:lstStyle/>
          <a:p>
            <a:pPr marL="12700" rtl="0">
              <a:spcBef>
                <a:spcPts val="100"/>
              </a:spcBef>
            </a:pPr>
            <a:r>
              <a:rPr sz="2000" kern="1200" spc="-5" dirty="0">
                <a:solidFill>
                  <a:srgbClr val="FF0000"/>
                </a:solidFill>
                <a:latin typeface="Palatino Linotype"/>
                <a:cs typeface="Palatino Linotype"/>
              </a:rPr>
              <a:t>Reduce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or shift? What</a:t>
            </a:r>
            <a:r>
              <a:rPr sz="2000" kern="1200" dirty="0">
                <a:solidFill>
                  <a:srgbClr val="FF0000"/>
                </a:solidFill>
                <a:latin typeface="Palatino Linotype"/>
                <a:cs typeface="Palatino Linotype"/>
              </a:rPr>
              <a:t> if</a:t>
            </a:r>
            <a:r>
              <a:rPr sz="2000" kern="1200" spc="-5" dirty="0">
                <a:solidFill>
                  <a:srgbClr val="FF0000"/>
                </a:solidFill>
                <a:latin typeface="Palatino Linotype"/>
                <a:cs typeface="Palatino Linotype"/>
              </a:rPr>
              <a:t> there</a:t>
            </a:r>
            <a:r>
              <a:rPr sz="2000" kern="1200" dirty="0">
                <a:solidFill>
                  <a:srgbClr val="FF0000"/>
                </a:solidFill>
                <a:latin typeface="Palatino Linotype"/>
                <a:cs typeface="Palatino Linotype"/>
              </a:rPr>
              <a:t> is</a:t>
            </a:r>
            <a:r>
              <a:rPr sz="2000" kern="1200" spc="5" dirty="0">
                <a:solidFill>
                  <a:srgbClr val="FF0000"/>
                </a:solidFill>
                <a:latin typeface="Palatino Linotype"/>
                <a:cs typeface="Palatino Linotype"/>
              </a:rPr>
              <a:t> </a:t>
            </a:r>
            <a:r>
              <a:rPr sz="2000" kern="1200" dirty="0">
                <a:solidFill>
                  <a:srgbClr val="FF0000"/>
                </a:solidFill>
                <a:latin typeface="Palatino Linotype"/>
                <a:cs typeface="Palatino Linotype"/>
              </a:rPr>
              <a:t>a</a:t>
            </a:r>
            <a:r>
              <a:rPr sz="2000" kern="1200" spc="-5" dirty="0">
                <a:solidFill>
                  <a:srgbClr val="FF0000"/>
                </a:solidFill>
                <a:latin typeface="Palatino Linotype"/>
                <a:cs typeface="Palatino Linotype"/>
              </a:rPr>
              <a:t> </a:t>
            </a:r>
            <a:r>
              <a:rPr sz="2000" kern="1200" spc="-5" dirty="0">
                <a:solidFill>
                  <a:srgbClr val="0432FF"/>
                </a:solidFill>
                <a:latin typeface="Cambria Math"/>
                <a:cs typeface="Cambria Math"/>
              </a:rPr>
              <a:t>𝑠𝑡𝑚𝑡</a:t>
            </a:r>
            <a:r>
              <a:rPr sz="2000" kern="1200" spc="105" dirty="0">
                <a:solidFill>
                  <a:srgbClr val="0432FF"/>
                </a:solidFill>
                <a:latin typeface="Cambria Math"/>
                <a:cs typeface="Cambria Math"/>
              </a:rPr>
              <a:t> </a:t>
            </a:r>
            <a:r>
              <a:rPr sz="2000" kern="1200" spc="-5" dirty="0">
                <a:solidFill>
                  <a:srgbClr val="FF0000"/>
                </a:solidFill>
                <a:latin typeface="Palatino Linotype"/>
                <a:cs typeface="Palatino Linotype"/>
              </a:rPr>
              <a:t>after </a:t>
            </a:r>
            <a:r>
              <a:rPr sz="2000" kern="1200" spc="-5" dirty="0">
                <a:solidFill>
                  <a:srgbClr val="0432FF"/>
                </a:solidFill>
                <a:latin typeface="Cambria Math"/>
                <a:cs typeface="Cambria Math"/>
              </a:rPr>
              <a:t>𝐞𝐥𝐬𝐞</a:t>
            </a:r>
            <a:r>
              <a:rPr sz="2000" kern="1200" spc="-5" dirty="0">
                <a:solidFill>
                  <a:srgbClr val="FF0000"/>
                </a:solidFill>
                <a:latin typeface="Palatino Linotype"/>
                <a:cs typeface="Palatino Linotype"/>
              </a:rPr>
              <a:t>?</a:t>
            </a:r>
            <a:endParaRPr sz="2000" kern="1200">
              <a:solidFill>
                <a:prstClr val="black"/>
              </a:solidFill>
              <a:latin typeface="Palatino Linotype"/>
              <a:cs typeface="Palatino Linotype"/>
            </a:endParaRPr>
          </a:p>
        </p:txBody>
      </p:sp>
      <p:pic>
        <p:nvPicPr>
          <p:cNvPr id="14" name="object 6">
            <a:extLst>
              <a:ext uri="{FF2B5EF4-FFF2-40B4-BE49-F238E27FC236}">
                <a16:creationId xmlns:a16="http://schemas.microsoft.com/office/drawing/2014/main" id="{E445D835-2345-9CA6-98F5-D9B604D03940}"/>
              </a:ext>
            </a:extLst>
          </p:cNvPr>
          <p:cNvPicPr/>
          <p:nvPr/>
        </p:nvPicPr>
        <p:blipFill>
          <a:blip r:embed="rId5" cstate="print"/>
          <a:stretch>
            <a:fillRect/>
          </a:stretch>
        </p:blipFill>
        <p:spPr>
          <a:xfrm>
            <a:off x="7130878" y="4868010"/>
            <a:ext cx="1060264" cy="1060265"/>
          </a:xfrm>
          <a:prstGeom prst="rect">
            <a:avLst/>
          </a:prstGeom>
        </p:spPr>
      </p:pic>
    </p:spTree>
    <p:extLst>
      <p:ext uri="{BB962C8B-B14F-4D97-AF65-F5344CB8AC3E}">
        <p14:creationId xmlns:p14="http://schemas.microsoft.com/office/powerpoint/2010/main" val="19997972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100</a:t>
            </a:fld>
            <a:endParaRPr lang="en-US"/>
          </a:p>
        </p:txBody>
      </p:sp>
      <p:sp>
        <p:nvSpPr>
          <p:cNvPr id="14" name="object 2">
            <a:extLst>
              <a:ext uri="{FF2B5EF4-FFF2-40B4-BE49-F238E27FC236}">
                <a16:creationId xmlns:a16="http://schemas.microsoft.com/office/drawing/2014/main" id="{F83F118D-189E-8E8F-9B2A-25A7E5C8720E}"/>
              </a:ext>
            </a:extLst>
          </p:cNvPr>
          <p:cNvSpPr txBox="1">
            <a:spLocks/>
          </p:cNvSpPr>
          <p:nvPr/>
        </p:nvSpPr>
        <p:spPr>
          <a:xfrm>
            <a:off x="615950" y="524763"/>
            <a:ext cx="775335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Reduce/Reduce</a:t>
            </a:r>
            <a:r>
              <a:rPr kumimoji="0" lang="en-US" sz="4000" b="1" i="0" u="none" strike="noStrike" kern="0" cap="none" spc="-5" normalizeH="0" baseline="0" noProof="0">
                <a:ln>
                  <a:noFill/>
                </a:ln>
                <a:solidFill>
                  <a:sysClr val="windowText" lastClr="000000"/>
                </a:solidFill>
                <a:effectLst/>
                <a:uLnTx/>
                <a:uFillTx/>
                <a:latin typeface="Palatino Linotype"/>
                <a:ea typeface="+mj-ea"/>
              </a:rPr>
              <a:t> Conflict</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5" name="object 3">
            <a:extLst>
              <a:ext uri="{FF2B5EF4-FFF2-40B4-BE49-F238E27FC236}">
                <a16:creationId xmlns:a16="http://schemas.microsoft.com/office/drawing/2014/main" id="{BA6F9E6A-561A-1D7D-B0D6-9BDAC6BC3FA3}"/>
              </a:ext>
            </a:extLst>
          </p:cNvPr>
          <p:cNvSpPr txBox="1"/>
          <p:nvPr/>
        </p:nvSpPr>
        <p:spPr>
          <a:xfrm>
            <a:off x="707390" y="1901444"/>
            <a:ext cx="3378200" cy="391160"/>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3204" algn="l"/>
              </a:tabLst>
            </a:pPr>
            <a:r>
              <a:rPr sz="2400" kern="1200" spc="-80" dirty="0">
                <a:solidFill>
                  <a:srgbClr val="FF0000"/>
                </a:solidFill>
                <a:latin typeface="Palatino Linotype"/>
                <a:cs typeface="Palatino Linotype"/>
              </a:rPr>
              <a:t>P</a:t>
            </a:r>
            <a:r>
              <a:rPr sz="2400" kern="1200" dirty="0">
                <a:solidFill>
                  <a:srgbClr val="FF0000"/>
                </a:solidFill>
                <a:latin typeface="Palatino Linotype"/>
                <a:cs typeface="Palatino Linotype"/>
              </a:rPr>
              <a:t>ar</a:t>
            </a:r>
            <a:r>
              <a:rPr sz="2400" kern="1200" spc="-5" dirty="0">
                <a:solidFill>
                  <a:srgbClr val="FF0000"/>
                </a:solidFill>
                <a:latin typeface="Palatino Linotype"/>
                <a:cs typeface="Palatino Linotype"/>
              </a:rPr>
              <a:t>s</a:t>
            </a:r>
            <a:r>
              <a:rPr sz="2400" kern="1200" dirty="0">
                <a:solidFill>
                  <a:srgbClr val="FF0000"/>
                </a:solidFill>
                <a:latin typeface="Palatino Linotype"/>
                <a:cs typeface="Palatino Linotype"/>
              </a:rPr>
              <a:t>ing in</a:t>
            </a:r>
            <a:r>
              <a:rPr sz="2400" kern="1200" spc="-5" dirty="0">
                <a:solidFill>
                  <a:srgbClr val="FF0000"/>
                </a:solidFill>
                <a:latin typeface="Palatino Linotype"/>
                <a:cs typeface="Palatino Linotype"/>
              </a:rPr>
              <a:t>p</a:t>
            </a:r>
            <a:r>
              <a:rPr sz="2400" kern="1200" dirty="0">
                <a:solidFill>
                  <a:srgbClr val="FF0000"/>
                </a:solidFill>
                <a:latin typeface="Palatino Linotype"/>
                <a:cs typeface="Palatino Linotype"/>
              </a:rPr>
              <a:t>ut </a:t>
            </a:r>
            <a:r>
              <a:rPr sz="2400" kern="1200" spc="-5" dirty="0">
                <a:solidFill>
                  <a:srgbClr val="0432FF"/>
                </a:solidFill>
                <a:latin typeface="Cambria Math"/>
                <a:cs typeface="Cambria Math"/>
              </a:rPr>
              <a:t>𝐢</a:t>
            </a:r>
            <a:r>
              <a:rPr sz="2400" kern="1200" spc="-10" dirty="0">
                <a:solidFill>
                  <a:srgbClr val="0432FF"/>
                </a:solidFill>
                <a:latin typeface="Cambria Math"/>
                <a:cs typeface="Cambria Math"/>
              </a:rPr>
              <a:t>𝐝</a:t>
            </a:r>
            <a:r>
              <a:rPr sz="2400" kern="1200" dirty="0">
                <a:solidFill>
                  <a:srgbClr val="0432FF"/>
                </a:solidFill>
                <a:latin typeface="Cambria Math"/>
                <a:cs typeface="Cambria Math"/>
              </a:rPr>
              <a:t>(</a:t>
            </a:r>
            <a:r>
              <a:rPr sz="2400" kern="1200" spc="-5" dirty="0">
                <a:solidFill>
                  <a:srgbClr val="0432FF"/>
                </a:solidFill>
                <a:latin typeface="Cambria Math"/>
                <a:cs typeface="Cambria Math"/>
              </a:rPr>
              <a:t>𝐢</a:t>
            </a:r>
            <a:r>
              <a:rPr sz="2400" kern="1200" spc="-10" dirty="0">
                <a:solidFill>
                  <a:srgbClr val="0432FF"/>
                </a:solidFill>
                <a:latin typeface="Cambria Math"/>
                <a:cs typeface="Cambria Math"/>
              </a:rPr>
              <a:t>𝐝</a:t>
            </a:r>
            <a:r>
              <a:rPr sz="2400" kern="1200" dirty="0">
                <a:solidFill>
                  <a:srgbClr val="0432FF"/>
                </a:solidFill>
                <a:latin typeface="Cambria Math"/>
                <a:cs typeface="Cambria Math"/>
              </a:rPr>
              <a:t>,</a:t>
            </a:r>
            <a:r>
              <a:rPr sz="2400" kern="1200" spc="-135" dirty="0">
                <a:solidFill>
                  <a:srgbClr val="0432FF"/>
                </a:solidFill>
                <a:latin typeface="Cambria Math"/>
                <a:cs typeface="Cambria Math"/>
              </a:rPr>
              <a:t> </a:t>
            </a:r>
            <a:r>
              <a:rPr sz="2400" kern="1200" spc="-5" dirty="0">
                <a:solidFill>
                  <a:srgbClr val="0432FF"/>
                </a:solidFill>
                <a:latin typeface="Cambria Math"/>
                <a:cs typeface="Cambria Math"/>
              </a:rPr>
              <a:t>𝐢</a:t>
            </a:r>
            <a:r>
              <a:rPr sz="2400" kern="1200" spc="-10" dirty="0">
                <a:solidFill>
                  <a:srgbClr val="0432FF"/>
                </a:solidFill>
                <a:latin typeface="Cambria Math"/>
                <a:cs typeface="Cambria Math"/>
              </a:rPr>
              <a:t>𝐝</a:t>
            </a:r>
            <a:r>
              <a:rPr sz="2400" kern="1200" dirty="0">
                <a:solidFill>
                  <a:srgbClr val="0432FF"/>
                </a:solidFill>
                <a:latin typeface="Cambria Math"/>
                <a:cs typeface="Cambria Math"/>
              </a:rPr>
              <a:t>)</a:t>
            </a:r>
            <a:endParaRPr sz="2400" kern="1200">
              <a:solidFill>
                <a:prstClr val="black"/>
              </a:solidFill>
              <a:latin typeface="Cambria Math"/>
              <a:cs typeface="Cambria Math"/>
            </a:endParaRPr>
          </a:p>
        </p:txBody>
      </p:sp>
      <p:grpSp>
        <p:nvGrpSpPr>
          <p:cNvPr id="16" name="object 4">
            <a:extLst>
              <a:ext uri="{FF2B5EF4-FFF2-40B4-BE49-F238E27FC236}">
                <a16:creationId xmlns:a16="http://schemas.microsoft.com/office/drawing/2014/main" id="{4DB7C24B-7CDE-1220-1549-B40CB494460C}"/>
              </a:ext>
            </a:extLst>
          </p:cNvPr>
          <p:cNvGrpSpPr/>
          <p:nvPr/>
        </p:nvGrpSpPr>
        <p:grpSpPr>
          <a:xfrm>
            <a:off x="694234" y="3323153"/>
            <a:ext cx="5486400" cy="2523490"/>
            <a:chOff x="694234" y="3323153"/>
            <a:chExt cx="5486400" cy="2523490"/>
          </a:xfrm>
        </p:grpSpPr>
        <p:pic>
          <p:nvPicPr>
            <p:cNvPr id="17" name="object 5">
              <a:extLst>
                <a:ext uri="{FF2B5EF4-FFF2-40B4-BE49-F238E27FC236}">
                  <a16:creationId xmlns:a16="http://schemas.microsoft.com/office/drawing/2014/main" id="{8E96A381-6DDE-2760-3A18-FAA96578692A}"/>
                </a:ext>
              </a:extLst>
            </p:cNvPr>
            <p:cNvPicPr/>
            <p:nvPr/>
          </p:nvPicPr>
          <p:blipFill>
            <a:blip r:embed="rId3" cstate="print"/>
            <a:stretch>
              <a:fillRect/>
            </a:stretch>
          </p:blipFill>
          <p:spPr>
            <a:xfrm>
              <a:off x="694234" y="3323153"/>
              <a:ext cx="5485991" cy="2523092"/>
            </a:xfrm>
            <a:prstGeom prst="rect">
              <a:avLst/>
            </a:prstGeom>
          </p:spPr>
        </p:pic>
        <p:sp>
          <p:nvSpPr>
            <p:cNvPr id="18" name="object 6">
              <a:extLst>
                <a:ext uri="{FF2B5EF4-FFF2-40B4-BE49-F238E27FC236}">
                  <a16:creationId xmlns:a16="http://schemas.microsoft.com/office/drawing/2014/main" id="{ABDFD113-91D2-B717-DBEF-09EF2DB048A8}"/>
                </a:ext>
              </a:extLst>
            </p:cNvPr>
            <p:cNvSpPr/>
            <p:nvPr/>
          </p:nvSpPr>
          <p:spPr>
            <a:xfrm>
              <a:off x="1433384" y="4440193"/>
              <a:ext cx="2825750" cy="288925"/>
            </a:xfrm>
            <a:custGeom>
              <a:avLst/>
              <a:gdLst/>
              <a:ahLst/>
              <a:cxnLst/>
              <a:rect l="l" t="t" r="r" b="b"/>
              <a:pathLst>
                <a:path w="2825750" h="288925">
                  <a:moveTo>
                    <a:pt x="0" y="0"/>
                  </a:moveTo>
                  <a:lnTo>
                    <a:pt x="2825578" y="0"/>
                  </a:lnTo>
                  <a:lnTo>
                    <a:pt x="2825578" y="288324"/>
                  </a:lnTo>
                  <a:lnTo>
                    <a:pt x="0" y="288324"/>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7">
              <a:extLst>
                <a:ext uri="{FF2B5EF4-FFF2-40B4-BE49-F238E27FC236}">
                  <a16:creationId xmlns:a16="http://schemas.microsoft.com/office/drawing/2014/main" id="{6E3E650A-474C-DF52-4462-0F6B54A642E0}"/>
                </a:ext>
              </a:extLst>
            </p:cNvPr>
            <p:cNvSpPr/>
            <p:nvPr/>
          </p:nvSpPr>
          <p:spPr>
            <a:xfrm>
              <a:off x="1433384" y="4990067"/>
              <a:ext cx="2825750" cy="288925"/>
            </a:xfrm>
            <a:custGeom>
              <a:avLst/>
              <a:gdLst/>
              <a:ahLst/>
              <a:cxnLst/>
              <a:rect l="l" t="t" r="r" b="b"/>
              <a:pathLst>
                <a:path w="2825750" h="288925">
                  <a:moveTo>
                    <a:pt x="0" y="0"/>
                  </a:moveTo>
                  <a:lnTo>
                    <a:pt x="2825578" y="0"/>
                  </a:lnTo>
                  <a:lnTo>
                    <a:pt x="2825578" y="288324"/>
                  </a:lnTo>
                  <a:lnTo>
                    <a:pt x="0" y="288324"/>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aphicFrame>
        <p:nvGraphicFramePr>
          <p:cNvPr id="20" name="object 8">
            <a:extLst>
              <a:ext uri="{FF2B5EF4-FFF2-40B4-BE49-F238E27FC236}">
                <a16:creationId xmlns:a16="http://schemas.microsoft.com/office/drawing/2014/main" id="{6FF33EA7-0630-AB4D-71D3-DBD812CCF480}"/>
              </a:ext>
            </a:extLst>
          </p:cNvPr>
          <p:cNvGraphicFramePr>
            <a:graphicFrameLocks noGrp="1"/>
          </p:cNvGraphicFramePr>
          <p:nvPr/>
        </p:nvGraphicFramePr>
        <p:xfrm>
          <a:off x="4770051" y="1943861"/>
          <a:ext cx="2908300" cy="741680"/>
        </p:xfrm>
        <a:graphic>
          <a:graphicData uri="http://schemas.openxmlformats.org/drawingml/2006/table">
            <a:tbl>
              <a:tblPr firstRow="1" bandRow="1"/>
              <a:tblGrid>
                <a:gridCol w="1454150">
                  <a:extLst>
                    <a:ext uri="{9D8B030D-6E8A-4147-A177-3AD203B41FA5}">
                      <a16:colId xmlns:a16="http://schemas.microsoft.com/office/drawing/2014/main" val="20000"/>
                    </a:ext>
                  </a:extLst>
                </a:gridCol>
                <a:gridCol w="1454150">
                  <a:extLst>
                    <a:ext uri="{9D8B030D-6E8A-4147-A177-3AD203B41FA5}">
                      <a16:colId xmlns:a16="http://schemas.microsoft.com/office/drawing/2014/main" val="20001"/>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96240">
                        <a:lnSpc>
                          <a:spcPct val="100000"/>
                        </a:lnSpc>
                        <a:spcBef>
                          <a:spcPts val="265"/>
                        </a:spcBef>
                      </a:pPr>
                      <a:r>
                        <a:rPr sz="1800" b="1" spc="-10" dirty="0">
                          <a:latin typeface="Palatino Linotype"/>
                          <a:cs typeface="Palatino Linotype"/>
                        </a:rPr>
                        <a:t>S</a:t>
                      </a:r>
                      <a:r>
                        <a:rPr sz="1400" b="1" spc="-10" dirty="0">
                          <a:latin typeface="Palatino Linotype"/>
                          <a:cs typeface="Palatino Linotype"/>
                        </a:rPr>
                        <a:t>TACK</a:t>
                      </a:r>
                      <a:endParaRPr sz="1400">
                        <a:latin typeface="Palatino Linotype"/>
                        <a:cs typeface="Palatino Linotype"/>
                      </a:endParaRPr>
                    </a:p>
                  </a:txBody>
                  <a:tcPr marL="0" marR="0" marT="336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800" b="1" spc="15" dirty="0">
                          <a:latin typeface="Palatino Linotype"/>
                          <a:cs typeface="Palatino Linotype"/>
                        </a:rPr>
                        <a:t>I</a:t>
                      </a:r>
                      <a:r>
                        <a:rPr sz="1400" b="1" spc="15" dirty="0">
                          <a:latin typeface="Palatino Linotype"/>
                          <a:cs typeface="Palatino Linotype"/>
                        </a:rPr>
                        <a:t>NPUT</a:t>
                      </a:r>
                      <a:endParaRPr sz="1400">
                        <a:latin typeface="Palatino Linotype"/>
                        <a:cs typeface="Palatino Linotype"/>
                      </a:endParaRPr>
                    </a:p>
                  </a:txBody>
                  <a:tcPr marL="0" marR="0" marT="336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78460">
                        <a:lnSpc>
                          <a:spcPct val="100000"/>
                        </a:lnSpc>
                        <a:spcBef>
                          <a:spcPts val="250"/>
                        </a:spcBef>
                      </a:pPr>
                      <a:r>
                        <a:rPr sz="1800" spc="-5" dirty="0">
                          <a:latin typeface="Cambria Math"/>
                          <a:cs typeface="Cambria Math"/>
                        </a:rPr>
                        <a:t>$𝐢𝐝(𝐢𝐝</a:t>
                      </a:r>
                      <a:endParaRPr sz="1800">
                        <a:latin typeface="Cambria Math"/>
                        <a:cs typeface="Cambria Math"/>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9530" algn="ctr">
                        <a:lnSpc>
                          <a:spcPct val="100000"/>
                        </a:lnSpc>
                        <a:spcBef>
                          <a:spcPts val="250"/>
                        </a:spcBef>
                      </a:pPr>
                      <a:r>
                        <a:rPr sz="1800" dirty="0">
                          <a:latin typeface="Cambria Math"/>
                          <a:cs typeface="Cambria Math"/>
                        </a:rPr>
                        <a:t>,</a:t>
                      </a:r>
                      <a:r>
                        <a:rPr sz="1800" spc="-95" dirty="0">
                          <a:latin typeface="Cambria Math"/>
                          <a:cs typeface="Cambria Math"/>
                        </a:rPr>
                        <a:t> </a:t>
                      </a:r>
                      <a:r>
                        <a:rPr sz="1800" spc="-5" dirty="0">
                          <a:latin typeface="Cambria Math"/>
                          <a:cs typeface="Cambria Math"/>
                        </a:rPr>
                        <a:t>𝐢𝐝</a:t>
                      </a:r>
                      <a:r>
                        <a:rPr sz="1800" dirty="0">
                          <a:latin typeface="Cambria Math"/>
                          <a:cs typeface="Cambria Math"/>
                        </a:rPr>
                        <a:t>$</a:t>
                      </a:r>
                      <a:endParaRPr sz="1800">
                        <a:latin typeface="Cambria Math"/>
                        <a:cs typeface="Cambria Math"/>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pic>
        <p:nvPicPr>
          <p:cNvPr id="21" name="object 9">
            <a:extLst>
              <a:ext uri="{FF2B5EF4-FFF2-40B4-BE49-F238E27FC236}">
                <a16:creationId xmlns:a16="http://schemas.microsoft.com/office/drawing/2014/main" id="{2CD0C097-2E1D-B8D9-E5E2-383306FF3A5F}"/>
              </a:ext>
            </a:extLst>
          </p:cNvPr>
          <p:cNvPicPr/>
          <p:nvPr/>
        </p:nvPicPr>
        <p:blipFill>
          <a:blip r:embed="rId4" cstate="print"/>
          <a:stretch>
            <a:fillRect/>
          </a:stretch>
        </p:blipFill>
        <p:spPr>
          <a:xfrm>
            <a:off x="6600745" y="3668251"/>
            <a:ext cx="1060264" cy="1060265"/>
          </a:xfrm>
          <a:prstGeom prst="rect">
            <a:avLst/>
          </a:prstGeom>
        </p:spPr>
      </p:pic>
      <p:sp>
        <p:nvSpPr>
          <p:cNvPr id="22" name="object 10">
            <a:extLst>
              <a:ext uri="{FF2B5EF4-FFF2-40B4-BE49-F238E27FC236}">
                <a16:creationId xmlns:a16="http://schemas.microsoft.com/office/drawing/2014/main" id="{A8F3EB6F-C9A8-6EFA-7B69-8282328959CE}"/>
              </a:ext>
            </a:extLst>
          </p:cNvPr>
          <p:cNvSpPr txBox="1"/>
          <p:nvPr/>
        </p:nvSpPr>
        <p:spPr>
          <a:xfrm>
            <a:off x="5416499" y="4966716"/>
            <a:ext cx="3394710" cy="330200"/>
          </a:xfrm>
          <a:prstGeom prst="rect">
            <a:avLst/>
          </a:prstGeom>
        </p:spPr>
        <p:txBody>
          <a:bodyPr vert="horz" wrap="square" lIns="0" tIns="12700" rIns="0" bIns="0" rtlCol="0">
            <a:spAutoFit/>
          </a:bodyPr>
          <a:lstStyle/>
          <a:p>
            <a:pPr marL="12700" rtl="0">
              <a:spcBef>
                <a:spcPts val="100"/>
              </a:spcBef>
            </a:pPr>
            <a:r>
              <a:rPr sz="2000" kern="1200" spc="-5" dirty="0">
                <a:solidFill>
                  <a:srgbClr val="FF0000"/>
                </a:solidFill>
                <a:latin typeface="Palatino Linotype"/>
                <a:cs typeface="Palatino Linotype"/>
              </a:rPr>
              <a:t>Reduce</a:t>
            </a:r>
            <a:r>
              <a:rPr sz="2000" kern="1200" spc="-20" dirty="0">
                <a:solidFill>
                  <a:srgbClr val="FF0000"/>
                </a:solidFill>
                <a:latin typeface="Palatino Linotype"/>
                <a:cs typeface="Palatino Linotype"/>
              </a:rPr>
              <a:t> </a:t>
            </a:r>
            <a:r>
              <a:rPr sz="2000" kern="1200" dirty="0">
                <a:solidFill>
                  <a:srgbClr val="FF0000"/>
                </a:solidFill>
                <a:latin typeface="Palatino Linotype"/>
                <a:cs typeface="Palatino Linotype"/>
              </a:rPr>
              <a:t>by</a:t>
            </a:r>
            <a:r>
              <a:rPr sz="2000" kern="1200" spc="-15" dirty="0">
                <a:solidFill>
                  <a:srgbClr val="FF0000"/>
                </a:solidFill>
                <a:latin typeface="Palatino Linotype"/>
                <a:cs typeface="Palatino Linotype"/>
              </a:rPr>
              <a:t> </a:t>
            </a:r>
            <a:r>
              <a:rPr sz="2000" kern="1200" spc="-5" dirty="0">
                <a:solidFill>
                  <a:srgbClr val="FF0000"/>
                </a:solidFill>
                <a:latin typeface="Palatino Linotype"/>
                <a:cs typeface="Palatino Linotype"/>
              </a:rPr>
              <a:t>which</a:t>
            </a:r>
            <a:r>
              <a:rPr sz="2000" kern="1200" spc="-20" dirty="0">
                <a:solidFill>
                  <a:srgbClr val="FF0000"/>
                </a:solidFill>
                <a:latin typeface="Palatino Linotype"/>
                <a:cs typeface="Palatino Linotype"/>
              </a:rPr>
              <a:t> </a:t>
            </a:r>
            <a:r>
              <a:rPr sz="2000" kern="1200" spc="-5" dirty="0">
                <a:solidFill>
                  <a:srgbClr val="FF0000"/>
                </a:solidFill>
                <a:latin typeface="Palatino Linotype"/>
                <a:cs typeface="Palatino Linotype"/>
              </a:rPr>
              <a:t>production?</a:t>
            </a:r>
            <a:endParaRPr sz="2000" kern="1200">
              <a:solidFill>
                <a:prstClr val="black"/>
              </a:solidFill>
              <a:latin typeface="Palatino Linotype"/>
              <a:cs typeface="Palatino Linotype"/>
            </a:endParaRPr>
          </a:p>
        </p:txBody>
      </p:sp>
    </p:spTree>
    <p:extLst>
      <p:ext uri="{BB962C8B-B14F-4D97-AF65-F5344CB8AC3E}">
        <p14:creationId xmlns:p14="http://schemas.microsoft.com/office/powerpoint/2010/main" val="1339628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101</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9">
            <a:extLst>
              <a:ext uri="{FF2B5EF4-FFF2-40B4-BE49-F238E27FC236}">
                <a16:creationId xmlns:a16="http://schemas.microsoft.com/office/drawing/2014/main" id="{1EFC2DBA-E153-5383-F78F-1720981C24C4}"/>
              </a:ext>
            </a:extLst>
          </p:cNvPr>
          <p:cNvSpPr txBox="1"/>
          <p:nvPr/>
        </p:nvSpPr>
        <p:spPr>
          <a:xfrm>
            <a:off x="5687680" y="3421435"/>
            <a:ext cx="3391158" cy="1477969"/>
          </a:xfrm>
          <a:prstGeom prst="rect">
            <a:avLst/>
          </a:prstGeom>
          <a:ln w="12700">
            <a:solidFill>
              <a:srgbClr val="7F7F7F"/>
            </a:solidFill>
          </a:ln>
        </p:spPr>
        <p:txBody>
          <a:bodyPr vert="horz" wrap="square" lIns="0" tIns="122555" rIns="0" bIns="0" rtlCol="0">
            <a:spAutoFit/>
          </a:bodyPr>
          <a:lstStyle/>
          <a:p>
            <a:pPr marL="532765" indent="-286385">
              <a:lnSpc>
                <a:spcPct val="100000"/>
              </a:lnSpc>
              <a:spcBef>
                <a:spcPts val="965"/>
              </a:spcBef>
              <a:buFont typeface="Arial MT"/>
              <a:buChar char="•"/>
              <a:tabLst>
                <a:tab pos="532765" algn="l"/>
                <a:tab pos="533400" algn="l"/>
              </a:tabLst>
            </a:pPr>
            <a:r>
              <a:rPr sz="1800" dirty="0">
                <a:latin typeface="Palatino Linotype"/>
                <a:cs typeface="Palatino Linotype"/>
              </a:rPr>
              <a:t>Simple</a:t>
            </a:r>
            <a:r>
              <a:rPr sz="1800" spc="-30" dirty="0">
                <a:latin typeface="Palatino Linotype"/>
                <a:cs typeface="Palatino Linotype"/>
              </a:rPr>
              <a:t> </a:t>
            </a:r>
            <a:r>
              <a:rPr sz="1800" dirty="0">
                <a:latin typeface="Palatino Linotype"/>
                <a:cs typeface="Palatino Linotype"/>
              </a:rPr>
              <a:t>LR</a:t>
            </a:r>
            <a:r>
              <a:rPr sz="1800" spc="-75" dirty="0">
                <a:latin typeface="Palatino Linotype"/>
                <a:cs typeface="Palatino Linotype"/>
              </a:rPr>
              <a:t> </a:t>
            </a:r>
            <a:r>
              <a:rPr sz="1800" dirty="0">
                <a:latin typeface="Palatino Linotype"/>
                <a:cs typeface="Palatino Linotype"/>
              </a:rPr>
              <a:t>(SLR)</a:t>
            </a:r>
          </a:p>
          <a:p>
            <a:pPr>
              <a:lnSpc>
                <a:spcPct val="100000"/>
              </a:lnSpc>
              <a:spcBef>
                <a:spcPts val="35"/>
              </a:spcBef>
              <a:buChar char="•"/>
            </a:pPr>
            <a:endParaRPr sz="1700" dirty="0">
              <a:latin typeface="Palatino Linotype"/>
              <a:cs typeface="Palatino Linotype"/>
            </a:endParaRPr>
          </a:p>
          <a:p>
            <a:pPr marL="532765" indent="-286385">
              <a:lnSpc>
                <a:spcPct val="100000"/>
              </a:lnSpc>
              <a:buFont typeface="Arial MT"/>
              <a:buChar char="•"/>
              <a:tabLst>
                <a:tab pos="532765" algn="l"/>
                <a:tab pos="533400" algn="l"/>
              </a:tabLst>
            </a:pPr>
            <a:r>
              <a:rPr sz="1800" spc="-5" dirty="0">
                <a:solidFill>
                  <a:schemeClr val="bg2">
                    <a:lumMod val="50000"/>
                  </a:schemeClr>
                </a:solidFill>
                <a:latin typeface="Palatino Linotype"/>
                <a:cs typeface="Palatino Linotype"/>
              </a:rPr>
              <a:t>Canonical</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LR</a:t>
            </a:r>
            <a:r>
              <a:rPr sz="1800" spc="-60"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(CLR)</a:t>
            </a:r>
            <a:endParaRPr sz="1800" dirty="0">
              <a:solidFill>
                <a:schemeClr val="bg2">
                  <a:lumMod val="50000"/>
                </a:schemeClr>
              </a:solidFill>
              <a:latin typeface="Palatino Linotype"/>
              <a:cs typeface="Palatino Linotype"/>
            </a:endParaRPr>
          </a:p>
          <a:p>
            <a:pPr>
              <a:lnSpc>
                <a:spcPct val="100000"/>
              </a:lnSpc>
              <a:spcBef>
                <a:spcPts val="35"/>
              </a:spcBef>
            </a:pPr>
            <a:endParaRPr sz="1700" dirty="0">
              <a:solidFill>
                <a:schemeClr val="bg2">
                  <a:lumMod val="50000"/>
                </a:schemeClr>
              </a:solidFill>
              <a:latin typeface="Palatino Linotype"/>
              <a:cs typeface="Palatino Linotype"/>
            </a:endParaRPr>
          </a:p>
          <a:p>
            <a:pPr marL="532765" indent="-286385">
              <a:lnSpc>
                <a:spcPct val="100000"/>
              </a:lnSpc>
              <a:buFont typeface="Arial MT"/>
              <a:buChar char="•"/>
              <a:tabLst>
                <a:tab pos="532765" algn="l"/>
                <a:tab pos="533400" algn="l"/>
              </a:tabLst>
            </a:pPr>
            <a:r>
              <a:rPr sz="1800" dirty="0">
                <a:solidFill>
                  <a:schemeClr val="bg2">
                    <a:lumMod val="50000"/>
                  </a:schemeClr>
                </a:solidFill>
                <a:latin typeface="Palatino Linotype"/>
                <a:cs typeface="Palatino Linotype"/>
              </a:rPr>
              <a:t>Error</a:t>
            </a:r>
            <a:r>
              <a:rPr sz="1800" spc="-30" dirty="0">
                <a:solidFill>
                  <a:schemeClr val="bg2">
                    <a:lumMod val="50000"/>
                  </a:schemeClr>
                </a:solidFill>
                <a:latin typeface="Palatino Linotype"/>
                <a:cs typeface="Palatino Linotype"/>
              </a:rPr>
              <a:t> </a:t>
            </a:r>
            <a:r>
              <a:rPr sz="1800" spc="-10" dirty="0">
                <a:solidFill>
                  <a:schemeClr val="bg2">
                    <a:lumMod val="50000"/>
                  </a:schemeClr>
                </a:solidFill>
                <a:latin typeface="Palatino Linotype"/>
                <a:cs typeface="Palatino Linotype"/>
              </a:rPr>
              <a:t>Recovery</a:t>
            </a:r>
            <a:endParaRPr sz="1800" dirty="0">
              <a:solidFill>
                <a:schemeClr val="bg2">
                  <a:lumMod val="50000"/>
                </a:schemeClr>
              </a:solidFill>
              <a:latin typeface="Palatino Linotype"/>
              <a:cs typeface="Palatino Linotype"/>
            </a:endParaRPr>
          </a:p>
        </p:txBody>
      </p:sp>
      <p:sp>
        <p:nvSpPr>
          <p:cNvPr id="6" name="object 10">
            <a:extLst>
              <a:ext uri="{FF2B5EF4-FFF2-40B4-BE49-F238E27FC236}">
                <a16:creationId xmlns:a16="http://schemas.microsoft.com/office/drawing/2014/main" id="{14CE4A7B-F005-05A0-3A4D-ABE8DD73077A}"/>
              </a:ext>
            </a:extLst>
          </p:cNvPr>
          <p:cNvSpPr/>
          <p:nvPr/>
        </p:nvSpPr>
        <p:spPr>
          <a:xfrm>
            <a:off x="3711502" y="4221088"/>
            <a:ext cx="1976178" cy="685248"/>
          </a:xfrm>
          <a:custGeom>
            <a:avLst/>
            <a:gdLst/>
            <a:ahLst/>
            <a:cxnLst/>
            <a:rect l="l" t="t" r="r" b="b"/>
            <a:pathLst>
              <a:path w="1804035" h="709295">
                <a:moveTo>
                  <a:pt x="1803481" y="0"/>
                </a:moveTo>
                <a:lnTo>
                  <a:pt x="0" y="708766"/>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30716842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102</a:t>
            </a:fld>
            <a:endParaRPr lang="en-US"/>
          </a:p>
        </p:txBody>
      </p:sp>
      <p:sp>
        <p:nvSpPr>
          <p:cNvPr id="7" name="object 2">
            <a:extLst>
              <a:ext uri="{FF2B5EF4-FFF2-40B4-BE49-F238E27FC236}">
                <a16:creationId xmlns:a16="http://schemas.microsoft.com/office/drawing/2014/main" id="{09D06456-EB68-3728-0649-B95DA91CB1C2}"/>
              </a:ext>
            </a:extLst>
          </p:cNvPr>
          <p:cNvSpPr txBox="1">
            <a:spLocks/>
          </p:cNvSpPr>
          <p:nvPr/>
        </p:nvSpPr>
        <p:spPr>
          <a:xfrm>
            <a:off x="707390" y="524763"/>
            <a:ext cx="676529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LR</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(LR</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语法分析技术</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8" name="object 3">
            <a:extLst>
              <a:ext uri="{FF2B5EF4-FFF2-40B4-BE49-F238E27FC236}">
                <a16:creationId xmlns:a16="http://schemas.microsoft.com/office/drawing/2014/main" id="{28CCE9A0-F00D-B3B5-A4BC-EEFAD8ECABFA}"/>
              </a:ext>
            </a:extLst>
          </p:cNvPr>
          <p:cNvSpPr txBox="1"/>
          <p:nvPr/>
        </p:nvSpPr>
        <p:spPr>
          <a:xfrm>
            <a:off x="707390" y="1658620"/>
            <a:ext cx="7685405" cy="3474720"/>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2570" algn="l"/>
                <a:tab pos="243204" algn="l"/>
              </a:tabLst>
            </a:pPr>
            <a:r>
              <a:rPr sz="2200" b="1" kern="1200" dirty="0">
                <a:solidFill>
                  <a:srgbClr val="FF0000"/>
                </a:solidFill>
                <a:latin typeface="Palatino Linotype"/>
                <a:cs typeface="Palatino Linotype"/>
              </a:rPr>
              <a:t>LR(</a:t>
            </a:r>
            <a:r>
              <a:rPr sz="2200" b="1" i="1" kern="1200" dirty="0">
                <a:solidFill>
                  <a:srgbClr val="FF0000"/>
                </a:solidFill>
                <a:latin typeface="Palatino Linotype"/>
                <a:cs typeface="Palatino Linotype"/>
              </a:rPr>
              <a:t>k</a:t>
            </a:r>
            <a:r>
              <a:rPr sz="2200" b="1" kern="1200" dirty="0">
                <a:solidFill>
                  <a:srgbClr val="FF0000"/>
                </a:solidFill>
                <a:latin typeface="Palatino Linotype"/>
                <a:cs typeface="Palatino Linotype"/>
              </a:rPr>
              <a:t>)</a:t>
            </a:r>
            <a:r>
              <a:rPr sz="2200" b="1" kern="1200" spc="-5" dirty="0">
                <a:solidFill>
                  <a:srgbClr val="FF0000"/>
                </a:solidFill>
                <a:latin typeface="Palatino Linotype"/>
                <a:cs typeface="Palatino Linotype"/>
              </a:rPr>
              <a:t> parsers:</a:t>
            </a:r>
            <a:r>
              <a:rPr sz="2200" b="1" kern="1200" spc="-10" dirty="0">
                <a:solidFill>
                  <a:srgbClr val="FF0000"/>
                </a:solidFill>
                <a:latin typeface="Palatino Linotype"/>
                <a:cs typeface="Palatino Linotype"/>
              </a:rPr>
              <a:t> </a:t>
            </a:r>
            <a:r>
              <a:rPr sz="2200" kern="1200" spc="-5" dirty="0">
                <a:solidFill>
                  <a:prstClr val="black"/>
                </a:solidFill>
                <a:latin typeface="Palatino Linotype"/>
                <a:cs typeface="Palatino Linotype"/>
              </a:rPr>
              <a:t>the</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most </a:t>
            </a:r>
            <a:r>
              <a:rPr sz="2200" kern="1200" spc="-10" dirty="0">
                <a:solidFill>
                  <a:prstClr val="black"/>
                </a:solidFill>
                <a:latin typeface="Palatino Linotype"/>
                <a:cs typeface="Palatino Linotype"/>
              </a:rPr>
              <a:t>prevalent </a:t>
            </a:r>
            <a:r>
              <a:rPr sz="2200" kern="1200" spc="-5" dirty="0">
                <a:solidFill>
                  <a:prstClr val="black"/>
                </a:solidFill>
                <a:latin typeface="Palatino Linotype"/>
                <a:cs typeface="Palatino Linotype"/>
              </a:rPr>
              <a:t>type</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of</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bottom-up </a:t>
            </a:r>
            <a:r>
              <a:rPr sz="2200" kern="1200" dirty="0">
                <a:solidFill>
                  <a:prstClr val="black"/>
                </a:solidFill>
                <a:latin typeface="Palatino Linotype"/>
                <a:cs typeface="Palatino Linotype"/>
              </a:rPr>
              <a:t>parsers</a:t>
            </a:r>
          </a:p>
          <a:p>
            <a:pPr marL="698500" lvl="1" indent="-228600" rtl="0">
              <a:spcBef>
                <a:spcPts val="1645"/>
              </a:spcBef>
              <a:buClr>
                <a:srgbClr val="000000"/>
              </a:buClr>
              <a:buFont typeface="Wingdings"/>
              <a:buChar char=""/>
              <a:tabLst>
                <a:tab pos="698500" algn="l"/>
              </a:tabLst>
            </a:pPr>
            <a:r>
              <a:rPr kern="1200" dirty="0">
                <a:solidFill>
                  <a:srgbClr val="0432FF"/>
                </a:solidFill>
                <a:latin typeface="Palatino Linotype"/>
                <a:cs typeface="Palatino Linotype"/>
              </a:rPr>
              <a:t>L:</a:t>
            </a:r>
            <a:r>
              <a:rPr kern="1200" spc="-5" dirty="0">
                <a:solidFill>
                  <a:srgbClr val="0432FF"/>
                </a:solidFill>
                <a:latin typeface="Palatino Linotype"/>
                <a:cs typeface="Palatino Linotype"/>
              </a:rPr>
              <a:t> </a:t>
            </a:r>
            <a:r>
              <a:rPr kern="1200" spc="-5" dirty="0">
                <a:solidFill>
                  <a:prstClr val="black"/>
                </a:solidFill>
                <a:latin typeface="Palatino Linotype"/>
                <a:cs typeface="Palatino Linotype"/>
              </a:rPr>
              <a:t>left-to-right scan </a:t>
            </a:r>
            <a:r>
              <a:rPr kern="1200" dirty="0">
                <a:solidFill>
                  <a:prstClr val="black"/>
                </a:solidFill>
                <a:latin typeface="Palatino Linotype"/>
                <a:cs typeface="Palatino Linotype"/>
              </a:rPr>
              <a:t>of</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input</a:t>
            </a:r>
          </a:p>
          <a:p>
            <a:pPr marL="698500" lvl="1" indent="-228600" rtl="0">
              <a:spcBef>
                <a:spcPts val="1660"/>
              </a:spcBef>
              <a:buClr>
                <a:srgbClr val="000000"/>
              </a:buClr>
              <a:buFont typeface="Wingdings"/>
              <a:buChar char=""/>
              <a:tabLst>
                <a:tab pos="698500" algn="l"/>
              </a:tabLst>
            </a:pPr>
            <a:r>
              <a:rPr kern="1200" spc="-5" dirty="0">
                <a:solidFill>
                  <a:srgbClr val="0432FF"/>
                </a:solidFill>
                <a:latin typeface="Palatino Linotype"/>
                <a:cs typeface="Palatino Linotype"/>
              </a:rPr>
              <a:t>R:</a:t>
            </a:r>
            <a:r>
              <a:rPr kern="1200" dirty="0">
                <a:solidFill>
                  <a:srgbClr val="0432FF"/>
                </a:solidFill>
                <a:latin typeface="Palatino Linotype"/>
                <a:cs typeface="Palatino Linotype"/>
              </a:rPr>
              <a:t> </a:t>
            </a:r>
            <a:r>
              <a:rPr kern="1200" spc="-5" dirty="0">
                <a:solidFill>
                  <a:prstClr val="black"/>
                </a:solidFill>
                <a:latin typeface="Palatino Linotype"/>
                <a:cs typeface="Palatino Linotype"/>
              </a:rPr>
              <a:t>construct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rightmost</a:t>
            </a:r>
            <a:r>
              <a:rPr kern="1200" spc="5" dirty="0">
                <a:solidFill>
                  <a:prstClr val="black"/>
                </a:solidFill>
                <a:latin typeface="Palatino Linotype"/>
                <a:cs typeface="Palatino Linotype"/>
              </a:rPr>
              <a:t> </a:t>
            </a:r>
            <a:r>
              <a:rPr kern="1200" spc="-10" dirty="0">
                <a:solidFill>
                  <a:prstClr val="black"/>
                </a:solidFill>
                <a:latin typeface="Palatino Linotype"/>
                <a:cs typeface="Palatino Linotype"/>
              </a:rPr>
              <a:t>derivation</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spc="-10" dirty="0">
                <a:solidFill>
                  <a:prstClr val="black"/>
                </a:solidFill>
                <a:latin typeface="Palatino Linotype"/>
                <a:cs typeface="Palatino Linotype"/>
              </a:rPr>
              <a:t>reverse</a:t>
            </a:r>
            <a:endParaRPr kern="1200" dirty="0">
              <a:solidFill>
                <a:prstClr val="black"/>
              </a:solidFill>
              <a:latin typeface="Palatino Linotype"/>
              <a:cs typeface="Palatino Linotype"/>
            </a:endParaRPr>
          </a:p>
          <a:p>
            <a:pPr marL="698500" lvl="1" indent="-228600" rtl="0">
              <a:spcBef>
                <a:spcPts val="1630"/>
              </a:spcBef>
              <a:buClr>
                <a:srgbClr val="000000"/>
              </a:buClr>
              <a:buFont typeface="Wingdings"/>
              <a:buChar char=""/>
              <a:tabLst>
                <a:tab pos="698500" algn="l"/>
              </a:tabLst>
            </a:pPr>
            <a:r>
              <a:rPr i="1" kern="1200" dirty="0">
                <a:solidFill>
                  <a:srgbClr val="0432FF"/>
                </a:solidFill>
                <a:latin typeface="Palatino Linotype"/>
                <a:cs typeface="Palatino Linotype"/>
              </a:rPr>
              <a:t>k</a:t>
            </a:r>
            <a:r>
              <a:rPr kern="1200" dirty="0">
                <a:solidFill>
                  <a:srgbClr val="0432FF"/>
                </a:solidFill>
                <a:latin typeface="Palatino Linotype"/>
                <a:cs typeface="Palatino Linotype"/>
              </a:rPr>
              <a:t>: </a:t>
            </a:r>
            <a:r>
              <a:rPr kern="1200" spc="-5" dirty="0">
                <a:solidFill>
                  <a:prstClr val="black"/>
                </a:solidFill>
                <a:latin typeface="Palatino Linotype"/>
                <a:cs typeface="Palatino Linotype"/>
              </a:rPr>
              <a:t>use</a:t>
            </a:r>
            <a:r>
              <a:rPr kern="1200" spc="5" dirty="0">
                <a:solidFill>
                  <a:prstClr val="black"/>
                </a:solidFill>
                <a:latin typeface="Palatino Linotype"/>
                <a:cs typeface="Palatino Linotype"/>
              </a:rPr>
              <a:t> </a:t>
            </a:r>
            <a:r>
              <a:rPr i="1" kern="1200" dirty="0">
                <a:solidFill>
                  <a:prstClr val="black"/>
                </a:solidFill>
                <a:latin typeface="Palatino Linotype"/>
                <a:cs typeface="Palatino Linotype"/>
              </a:rPr>
              <a:t>k </a:t>
            </a:r>
            <a:r>
              <a:rPr kern="1200" dirty="0">
                <a:solidFill>
                  <a:prstClr val="black"/>
                </a:solidFill>
                <a:latin typeface="Palatino Linotype"/>
                <a:cs typeface="Palatino Linotype"/>
              </a:rPr>
              <a:t>input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symbols</a:t>
            </a:r>
            <a:r>
              <a:rPr kern="1200" dirty="0">
                <a:solidFill>
                  <a:prstClr val="black"/>
                </a:solidFill>
                <a:latin typeface="Palatino Linotype"/>
                <a:cs typeface="Palatino Linotype"/>
              </a:rPr>
              <a:t> of </a:t>
            </a:r>
            <a:r>
              <a:rPr kern="1200" spc="-5" dirty="0">
                <a:solidFill>
                  <a:prstClr val="black"/>
                </a:solidFill>
                <a:latin typeface="Palatino Linotype"/>
                <a:cs typeface="Palatino Linotype"/>
              </a:rPr>
              <a:t>lookahead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 </a:t>
            </a:r>
            <a:r>
              <a:rPr kern="1200" spc="-5" dirty="0">
                <a:solidFill>
                  <a:prstClr val="black"/>
                </a:solidFill>
                <a:latin typeface="Palatino Linotype"/>
                <a:cs typeface="Palatino Linotype"/>
              </a:rPr>
              <a:t>making</a:t>
            </a:r>
            <a:r>
              <a:rPr kern="1200" dirty="0">
                <a:solidFill>
                  <a:prstClr val="black"/>
                </a:solidFill>
                <a:latin typeface="Palatino Linotype"/>
                <a:cs typeface="Palatino Linotype"/>
              </a:rPr>
              <a:t> parsing </a:t>
            </a:r>
            <a:r>
              <a:rPr kern="1200" spc="-5" dirty="0">
                <a:solidFill>
                  <a:prstClr val="black"/>
                </a:solidFill>
                <a:latin typeface="Palatino Linotype"/>
                <a:cs typeface="Palatino Linotype"/>
              </a:rPr>
              <a:t>decisions</a:t>
            </a:r>
            <a:endParaRPr kern="1200" dirty="0">
              <a:solidFill>
                <a:prstClr val="black"/>
              </a:solidFill>
              <a:latin typeface="Palatino Linotype"/>
              <a:cs typeface="Palatino Linotype"/>
            </a:endParaRPr>
          </a:p>
          <a:p>
            <a:pPr lvl="1" rtl="0">
              <a:spcBef>
                <a:spcPts val="60"/>
              </a:spcBef>
              <a:buFont typeface="Wingdings"/>
              <a:buChar char=""/>
            </a:pPr>
            <a:endParaRPr sz="2950" kern="1200" dirty="0">
              <a:solidFill>
                <a:prstClr val="black"/>
              </a:solidFill>
              <a:latin typeface="Palatino Linotype"/>
              <a:cs typeface="Palatino Linotype"/>
            </a:endParaRPr>
          </a:p>
          <a:p>
            <a:pPr marL="243204" indent="-230504" rtl="0">
              <a:buClr>
                <a:srgbClr val="000000"/>
              </a:buClr>
              <a:buFont typeface="Arial MT"/>
              <a:buChar char="•"/>
              <a:tabLst>
                <a:tab pos="242570" algn="l"/>
                <a:tab pos="243204" algn="l"/>
              </a:tabLst>
            </a:pPr>
            <a:r>
              <a:rPr sz="2200" kern="1200" dirty="0">
                <a:solidFill>
                  <a:srgbClr val="0432FF"/>
                </a:solidFill>
                <a:latin typeface="Palatino Linotype"/>
                <a:cs typeface="Palatino Linotype"/>
              </a:rPr>
              <a:t>LR(0)</a:t>
            </a:r>
            <a:r>
              <a:rPr sz="2200" kern="1200" spc="-5" dirty="0">
                <a:solidFill>
                  <a:srgbClr val="0432FF"/>
                </a:solidFill>
                <a:latin typeface="Palatino Linotype"/>
                <a:cs typeface="Palatino Linotype"/>
              </a:rPr>
              <a:t> </a:t>
            </a:r>
            <a:r>
              <a:rPr sz="2200" kern="1200" spc="-5" dirty="0">
                <a:solidFill>
                  <a:prstClr val="black"/>
                </a:solidFill>
                <a:latin typeface="Palatino Linotype"/>
                <a:cs typeface="Palatino Linotype"/>
              </a:rPr>
              <a:t>and</a:t>
            </a:r>
            <a:r>
              <a:rPr sz="2200" kern="1200" spc="5" dirty="0">
                <a:solidFill>
                  <a:prstClr val="black"/>
                </a:solidFill>
                <a:latin typeface="Palatino Linotype"/>
                <a:cs typeface="Palatino Linotype"/>
              </a:rPr>
              <a:t> </a:t>
            </a:r>
            <a:r>
              <a:rPr sz="2200" kern="1200" dirty="0">
                <a:solidFill>
                  <a:srgbClr val="0432FF"/>
                </a:solidFill>
                <a:latin typeface="Palatino Linotype"/>
                <a:cs typeface="Palatino Linotype"/>
              </a:rPr>
              <a:t>LR(1) </a:t>
            </a:r>
            <a:r>
              <a:rPr sz="2200" kern="1200" dirty="0">
                <a:solidFill>
                  <a:prstClr val="black"/>
                </a:solidFill>
                <a:latin typeface="Palatino Linotype"/>
                <a:cs typeface="Palatino Linotype"/>
              </a:rPr>
              <a:t>parsers</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are</a:t>
            </a:r>
            <a:r>
              <a:rPr sz="2200" kern="1200" spc="-5" dirty="0">
                <a:solidFill>
                  <a:prstClr val="black"/>
                </a:solidFill>
                <a:latin typeface="Palatino Linotype"/>
                <a:cs typeface="Palatino Linotype"/>
              </a:rPr>
              <a:t> of</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practical interest</a:t>
            </a:r>
            <a:endParaRPr sz="2200" kern="1200" dirty="0">
              <a:solidFill>
                <a:prstClr val="black"/>
              </a:solidFill>
              <a:latin typeface="Palatino Linotype"/>
              <a:cs typeface="Palatino Linotype"/>
            </a:endParaRPr>
          </a:p>
          <a:p>
            <a:pPr marL="698500" marR="250825" lvl="1" indent="-228600" rtl="0">
              <a:lnSpc>
                <a:spcPct val="115599"/>
              </a:lnSpc>
              <a:spcBef>
                <a:spcPts val="1430"/>
              </a:spcBef>
              <a:buFont typeface="Wingdings"/>
              <a:buChar char=""/>
              <a:tabLst>
                <a:tab pos="698500" algn="l"/>
              </a:tabLst>
            </a:pPr>
            <a:r>
              <a:rPr kern="1200" dirty="0">
                <a:solidFill>
                  <a:prstClr val="black"/>
                </a:solidFill>
                <a:latin typeface="Palatino Linotype"/>
                <a:cs typeface="Palatino Linotype"/>
              </a:rPr>
              <a:t>When</a:t>
            </a:r>
            <a:r>
              <a:rPr kern="1200" spc="-5" dirty="0">
                <a:solidFill>
                  <a:prstClr val="black"/>
                </a:solidFill>
                <a:latin typeface="Palatino Linotype"/>
                <a:cs typeface="Palatino Linotype"/>
              </a:rPr>
              <a:t> </a:t>
            </a:r>
            <a:r>
              <a:rPr kern="1200" dirty="0">
                <a:solidFill>
                  <a:prstClr val="black"/>
                </a:solidFill>
                <a:latin typeface="Cambria Math"/>
                <a:cs typeface="Cambria Math"/>
              </a:rPr>
              <a:t>𝑘</a:t>
            </a:r>
            <a:r>
              <a:rPr kern="1200" spc="145" dirty="0">
                <a:solidFill>
                  <a:prstClr val="black"/>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prstClr val="black"/>
                </a:solidFill>
                <a:latin typeface="Cambria Math"/>
                <a:cs typeface="Cambria Math"/>
              </a:rPr>
              <a:t>2</a:t>
            </a:r>
            <a:r>
              <a:rPr kern="1200"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parser</a:t>
            </a:r>
            <a:r>
              <a:rPr kern="1200" spc="-5" dirty="0">
                <a:solidFill>
                  <a:prstClr val="black"/>
                </a:solidFill>
                <a:latin typeface="Palatino Linotype"/>
                <a:cs typeface="Palatino Linotype"/>
              </a:rPr>
              <a:t> becomes </a:t>
            </a:r>
            <a:r>
              <a:rPr kern="1200" dirty="0">
                <a:solidFill>
                  <a:prstClr val="black"/>
                </a:solidFill>
                <a:latin typeface="Palatino Linotype"/>
                <a:cs typeface="Palatino Linotype"/>
              </a:rPr>
              <a:t>too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complex</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 construct</a:t>
            </a:r>
            <a:r>
              <a:rPr kern="1200" dirty="0">
                <a:solidFill>
                  <a:prstClr val="black"/>
                </a:solidFill>
                <a:latin typeface="Palatino Linotype"/>
                <a:cs typeface="Palatino Linotype"/>
              </a:rPr>
              <a:t> (parsing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table</a:t>
            </a:r>
            <a:r>
              <a:rPr kern="1200" spc="-5" dirty="0">
                <a:solidFill>
                  <a:prstClr val="black"/>
                </a:solidFill>
                <a:latin typeface="Palatino Linotype"/>
                <a:cs typeface="Palatino Linotype"/>
              </a:rPr>
              <a:t> will</a:t>
            </a:r>
            <a:r>
              <a:rPr kern="1200" dirty="0">
                <a:solidFill>
                  <a:prstClr val="black"/>
                </a:solidFill>
                <a:latin typeface="Palatino Linotype"/>
                <a:cs typeface="Palatino Linotype"/>
              </a:rPr>
              <a:t> be too </a:t>
            </a:r>
            <a:r>
              <a:rPr kern="1200" spc="-5" dirty="0">
                <a:solidFill>
                  <a:prstClr val="black"/>
                </a:solidFill>
                <a:latin typeface="Palatino Linotype"/>
                <a:cs typeface="Palatino Linotype"/>
              </a:rPr>
              <a:t>huge</a:t>
            </a:r>
            <a:r>
              <a:rPr kern="1200" dirty="0">
                <a:solidFill>
                  <a:prstClr val="black"/>
                </a:solidFill>
                <a:latin typeface="Palatino Linotype"/>
                <a:cs typeface="Palatino Linotype"/>
              </a:rPr>
              <a:t> to </a:t>
            </a:r>
            <a:r>
              <a:rPr kern="1200" spc="-5" dirty="0">
                <a:solidFill>
                  <a:prstClr val="black"/>
                </a:solidFill>
                <a:latin typeface="Palatino Linotype"/>
                <a:cs typeface="Palatino Linotype"/>
              </a:rPr>
              <a:t>manage)</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31973389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103</a:t>
            </a:fld>
            <a:endParaRPr lang="en-US"/>
          </a:p>
        </p:txBody>
      </p:sp>
      <p:sp>
        <p:nvSpPr>
          <p:cNvPr id="7" name="object 2">
            <a:extLst>
              <a:ext uri="{FF2B5EF4-FFF2-40B4-BE49-F238E27FC236}">
                <a16:creationId xmlns:a16="http://schemas.microsoft.com/office/drawing/2014/main" id="{91273E4A-4A4A-F71B-E805-3EC51D0C75C7}"/>
              </a:ext>
            </a:extLst>
          </p:cNvPr>
          <p:cNvSpPr txBox="1">
            <a:spLocks/>
          </p:cNvSpPr>
          <p:nvPr/>
        </p:nvSpPr>
        <p:spPr>
          <a:xfrm>
            <a:off x="707390" y="524763"/>
            <a:ext cx="59594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Advantages</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of</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LR</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Parsers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127E7904-BD9B-1A9B-3ADB-4B768334E6AC}"/>
              </a:ext>
            </a:extLst>
          </p:cNvPr>
          <p:cNvSpPr txBox="1"/>
          <p:nvPr/>
        </p:nvSpPr>
        <p:spPr>
          <a:xfrm>
            <a:off x="707390" y="1366773"/>
            <a:ext cx="7622540" cy="4745990"/>
          </a:xfrm>
          <a:prstGeom prst="rect">
            <a:avLst/>
          </a:prstGeom>
        </p:spPr>
        <p:txBody>
          <a:bodyPr vert="horz" wrap="square" lIns="0" tIns="171450" rIns="0" bIns="0" rtlCol="0">
            <a:spAutoFit/>
          </a:bodyPr>
          <a:lstStyle/>
          <a:p>
            <a:pPr marL="243204" indent="-230504" rtl="0">
              <a:spcBef>
                <a:spcPts val="1350"/>
              </a:spcBef>
              <a:buClr>
                <a:srgbClr val="000000"/>
              </a:buClr>
              <a:buFont typeface="Arial MT"/>
              <a:buChar char="•"/>
              <a:tabLst>
                <a:tab pos="242570" algn="l"/>
                <a:tab pos="243204" algn="l"/>
              </a:tabLst>
            </a:pPr>
            <a:r>
              <a:rPr sz="2000" kern="1200" spc="-20" dirty="0">
                <a:solidFill>
                  <a:srgbClr val="0432FF"/>
                </a:solidFill>
                <a:latin typeface="Palatino Linotype"/>
                <a:cs typeface="Palatino Linotype"/>
              </a:rPr>
              <a:t>Table-driven</a:t>
            </a:r>
            <a:r>
              <a:rPr sz="2000" kern="1200" dirty="0">
                <a:solidFill>
                  <a:srgbClr val="0432FF"/>
                </a:solidFill>
                <a:latin typeface="Palatino Linotype"/>
                <a:cs typeface="Palatino Linotype"/>
              </a:rPr>
              <a:t> </a:t>
            </a:r>
            <a:r>
              <a:rPr sz="2000" kern="1200" dirty="0">
                <a:solidFill>
                  <a:prstClr val="black"/>
                </a:solidFill>
                <a:latin typeface="Palatino Linotype"/>
                <a:cs typeface="Palatino Linotype"/>
              </a:rPr>
              <a:t>(like</a:t>
            </a:r>
            <a:r>
              <a:rPr sz="2000" kern="1200" spc="5" dirty="0">
                <a:solidFill>
                  <a:prstClr val="black"/>
                </a:solidFill>
                <a:latin typeface="Palatino Linotype"/>
                <a:cs typeface="Palatino Linotype"/>
              </a:rPr>
              <a:t> </a:t>
            </a:r>
            <a:r>
              <a:rPr sz="2000" kern="1200" spc="-10" dirty="0">
                <a:solidFill>
                  <a:prstClr val="black"/>
                </a:solidFill>
                <a:latin typeface="Palatino Linotype"/>
                <a:cs typeface="Palatino Linotype"/>
              </a:rPr>
              <a:t>non-recursive</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LL</a:t>
            </a:r>
            <a:r>
              <a:rPr sz="2000" kern="1200" spc="-70" dirty="0">
                <a:solidFill>
                  <a:prstClr val="black"/>
                </a:solidFill>
                <a:latin typeface="Palatino Linotype"/>
                <a:cs typeface="Palatino Linotype"/>
              </a:rPr>
              <a:t> </a:t>
            </a:r>
            <a:r>
              <a:rPr sz="2000" kern="1200" spc="-5" dirty="0">
                <a:solidFill>
                  <a:prstClr val="black"/>
                </a:solidFill>
                <a:latin typeface="Palatino Linotype"/>
                <a:cs typeface="Palatino Linotype"/>
              </a:rPr>
              <a:t>parsers)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spc="5" dirty="0">
                <a:solidFill>
                  <a:prstClr val="black"/>
                </a:solidFill>
                <a:latin typeface="Palatino Linotype"/>
                <a:cs typeface="Palatino Linotype"/>
              </a:rPr>
              <a:t> </a:t>
            </a:r>
            <a:r>
              <a:rPr sz="2000" kern="1200" spc="-10" dirty="0">
                <a:solidFill>
                  <a:srgbClr val="0432FF"/>
                </a:solidFill>
                <a:latin typeface="Palatino Linotype"/>
                <a:cs typeface="Palatino Linotype"/>
              </a:rPr>
              <a:t>powerful</a:t>
            </a:r>
            <a:endParaRPr sz="2000" kern="1200" dirty="0">
              <a:solidFill>
                <a:prstClr val="black"/>
              </a:solidFill>
              <a:latin typeface="Palatino Linotype"/>
              <a:cs typeface="Palatino Linotype"/>
            </a:endParaRPr>
          </a:p>
          <a:p>
            <a:pPr marL="698500" marR="259079" lvl="1" indent="-228600" rtl="0">
              <a:lnSpc>
                <a:spcPct val="120000"/>
              </a:lnSpc>
              <a:spcBef>
                <a:spcPts val="615"/>
              </a:spcBef>
              <a:buFont typeface="Wingdings"/>
              <a:buChar char=""/>
              <a:tabLst>
                <a:tab pos="697865" algn="l"/>
                <a:tab pos="698500" algn="l"/>
              </a:tabLst>
            </a:pPr>
            <a:r>
              <a:rPr sz="1600" kern="1200" spc="-5" dirty="0">
                <a:solidFill>
                  <a:prstClr val="black"/>
                </a:solidFill>
                <a:latin typeface="Palatino Linotype"/>
                <a:cs typeface="Palatino Linotype"/>
              </a:rPr>
              <a:t>Although</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is </a:t>
            </a:r>
            <a:r>
              <a:rPr sz="1600" kern="1200" dirty="0">
                <a:solidFill>
                  <a:prstClr val="black"/>
                </a:solidFill>
                <a:latin typeface="Palatino Linotype"/>
                <a:cs typeface="Palatino Linotype"/>
              </a:rPr>
              <a:t>too </a:t>
            </a:r>
            <a:r>
              <a:rPr sz="1600" kern="1200" spc="-5" dirty="0">
                <a:solidFill>
                  <a:prstClr val="black"/>
                </a:solidFill>
                <a:latin typeface="Palatino Linotype"/>
                <a:cs typeface="Palatino Linotype"/>
              </a:rPr>
              <a:t>much</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work </a:t>
            </a:r>
            <a:r>
              <a:rPr sz="1600" kern="1200" dirty="0">
                <a:solidFill>
                  <a:prstClr val="black"/>
                </a:solidFill>
                <a:latin typeface="Palatino Linotype"/>
                <a:cs typeface="Palatino Linotype"/>
              </a:rPr>
              <a:t>to construct an</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LR</a:t>
            </a:r>
            <a:r>
              <a:rPr sz="1600" kern="1200" spc="-30" dirty="0">
                <a:solidFill>
                  <a:prstClr val="black"/>
                </a:solidFill>
                <a:latin typeface="Palatino Linotype"/>
                <a:cs typeface="Palatino Linotype"/>
              </a:rPr>
              <a:t> </a:t>
            </a:r>
            <a:r>
              <a:rPr sz="1600" kern="1200" spc="-5" dirty="0">
                <a:solidFill>
                  <a:prstClr val="black"/>
                </a:solidFill>
                <a:latin typeface="Palatino Linotype"/>
                <a:cs typeface="Palatino Linotype"/>
              </a:rPr>
              <a:t>parser</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by</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hand, there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are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parser</a:t>
            </a:r>
            <a:r>
              <a:rPr sz="1600" kern="1200" dirty="0">
                <a:solidFill>
                  <a:prstClr val="black"/>
                </a:solidFill>
                <a:latin typeface="Palatino Linotype"/>
                <a:cs typeface="Palatino Linotype"/>
              </a:rPr>
              <a:t> generators</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to construct parsing</a:t>
            </a:r>
            <a:r>
              <a:rPr sz="1600" kern="1200" spc="-5" dirty="0">
                <a:solidFill>
                  <a:prstClr val="black"/>
                </a:solidFill>
                <a:latin typeface="Palatino Linotype"/>
                <a:cs typeface="Palatino Linotype"/>
              </a:rPr>
              <a:t> tables automatically</a:t>
            </a:r>
            <a:endParaRPr sz="1600" kern="1200" dirty="0">
              <a:solidFill>
                <a:prstClr val="black"/>
              </a:solidFill>
              <a:latin typeface="Palatino Linotype"/>
              <a:cs typeface="Palatino Linotype"/>
            </a:endParaRPr>
          </a:p>
          <a:p>
            <a:pPr marL="698500" marR="703580" lvl="1" indent="-228600" rtl="0">
              <a:lnSpc>
                <a:spcPct val="118700"/>
              </a:lnSpc>
              <a:spcBef>
                <a:spcPts val="625"/>
              </a:spcBef>
              <a:buFont typeface="Wingdings"/>
              <a:buChar char=""/>
              <a:tabLst>
                <a:tab pos="697865" algn="l"/>
                <a:tab pos="698500" algn="l"/>
              </a:tabLst>
            </a:pPr>
            <a:r>
              <a:rPr sz="1600" kern="1200" spc="-20" dirty="0">
                <a:solidFill>
                  <a:prstClr val="black"/>
                </a:solidFill>
                <a:latin typeface="Palatino Linotype"/>
                <a:cs typeface="Palatino Linotype"/>
              </a:rPr>
              <a:t>Comparatively, </a:t>
            </a:r>
            <a:r>
              <a:rPr sz="1600" kern="1200" spc="-5" dirty="0">
                <a:solidFill>
                  <a:prstClr val="black"/>
                </a:solidFill>
                <a:latin typeface="Palatino Linotype"/>
                <a:cs typeface="Palatino Linotype"/>
              </a:rPr>
              <a:t>LL </a:t>
            </a:r>
            <a:r>
              <a:rPr sz="1600" kern="1200" dirty="0">
                <a:solidFill>
                  <a:prstClr val="black"/>
                </a:solidFill>
                <a:latin typeface="Palatino Linotype"/>
                <a:cs typeface="Palatino Linotype"/>
              </a:rPr>
              <a:t>parsers tend to be </a:t>
            </a:r>
            <a:r>
              <a:rPr sz="1600" kern="1200" spc="-5" dirty="0">
                <a:solidFill>
                  <a:prstClr val="black"/>
                </a:solidFill>
                <a:latin typeface="Palatino Linotype"/>
                <a:cs typeface="Palatino Linotype"/>
              </a:rPr>
              <a:t>easier </a:t>
            </a:r>
            <a:r>
              <a:rPr sz="1600" kern="1200" dirty="0">
                <a:solidFill>
                  <a:prstClr val="black"/>
                </a:solidFill>
                <a:latin typeface="Palatino Linotype"/>
                <a:cs typeface="Palatino Linotype"/>
              </a:rPr>
              <a:t>to write by hand, </a:t>
            </a:r>
            <a:r>
              <a:rPr sz="1600" kern="1200" spc="-5" dirty="0">
                <a:solidFill>
                  <a:prstClr val="black"/>
                </a:solidFill>
                <a:latin typeface="Palatino Linotype"/>
                <a:cs typeface="Palatino Linotype"/>
              </a:rPr>
              <a:t>but less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powerful</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(handle</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fewer</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grammars)</a:t>
            </a:r>
            <a:endParaRPr sz="1600" kern="1200" dirty="0">
              <a:solidFill>
                <a:prstClr val="black"/>
              </a:solidFill>
              <a:latin typeface="Palatino Linotype"/>
              <a:cs typeface="Palatino Linotype"/>
            </a:endParaRPr>
          </a:p>
          <a:p>
            <a:pPr lvl="1" rtl="0">
              <a:spcBef>
                <a:spcPts val="15"/>
              </a:spcBef>
              <a:buFont typeface="Wingdings"/>
              <a:buChar char=""/>
            </a:pPr>
            <a:endParaRPr sz="1700" kern="1200" dirty="0">
              <a:solidFill>
                <a:prstClr val="black"/>
              </a:solidFill>
              <a:latin typeface="Palatino Linotype"/>
              <a:cs typeface="Palatino Linotype"/>
            </a:endParaRPr>
          </a:p>
          <a:p>
            <a:pPr marL="242570" marR="578485" indent="-230504" rtl="0">
              <a:lnSpc>
                <a:spcPct val="112000"/>
              </a:lnSpc>
              <a:spcBef>
                <a:spcPts val="5"/>
              </a:spcBef>
              <a:buFont typeface="Arial MT"/>
              <a:buChar char="•"/>
              <a:tabLst>
                <a:tab pos="242570" algn="l"/>
                <a:tab pos="243204" algn="l"/>
              </a:tabLst>
            </a:pPr>
            <a:r>
              <a:rPr sz="2000" kern="1200" spc="-5" dirty="0">
                <a:solidFill>
                  <a:prstClr val="black"/>
                </a:solidFill>
                <a:latin typeface="Palatino Linotype"/>
                <a:cs typeface="Palatino Linotype"/>
              </a:rPr>
              <a:t>LR-parsing</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is</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most</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general</a:t>
            </a:r>
            <a:r>
              <a:rPr sz="2000" kern="1200" spc="5" dirty="0">
                <a:solidFill>
                  <a:prstClr val="black"/>
                </a:solidFill>
                <a:latin typeface="Palatino Linotype"/>
                <a:cs typeface="Palatino Linotype"/>
              </a:rPr>
              <a:t> </a:t>
            </a:r>
            <a:r>
              <a:rPr sz="2000" kern="1200" spc="-5" dirty="0">
                <a:solidFill>
                  <a:srgbClr val="FF0000"/>
                </a:solidFill>
                <a:latin typeface="Palatino Linotype"/>
                <a:cs typeface="Palatino Linotype"/>
              </a:rPr>
              <a:t>nonbacktracking</a:t>
            </a:r>
            <a:r>
              <a:rPr sz="2000" kern="1200" spc="10" dirty="0">
                <a:solidFill>
                  <a:srgbClr val="FF0000"/>
                </a:solidFill>
                <a:latin typeface="Palatino Linotype"/>
                <a:cs typeface="Palatino Linotype"/>
              </a:rPr>
              <a:t> </a:t>
            </a:r>
            <a:r>
              <a:rPr sz="2000" kern="1200" spc="-5" dirty="0">
                <a:solidFill>
                  <a:srgbClr val="0432FF"/>
                </a:solidFill>
                <a:latin typeface="Palatino Linotype"/>
                <a:cs typeface="Palatino Linotype"/>
              </a:rPr>
              <a:t>shift-reduce </a:t>
            </a:r>
            <a:r>
              <a:rPr sz="2000" kern="1200" spc="-484" dirty="0">
                <a:solidFill>
                  <a:srgbClr val="0432FF"/>
                </a:solidFill>
                <a:latin typeface="Palatino Linotype"/>
                <a:cs typeface="Palatino Linotype"/>
              </a:rPr>
              <a:t> </a:t>
            </a:r>
            <a:r>
              <a:rPr sz="2000" kern="1200" spc="-5" dirty="0">
                <a:solidFill>
                  <a:srgbClr val="0432FF"/>
                </a:solidFill>
                <a:latin typeface="Palatino Linotype"/>
                <a:cs typeface="Palatino Linotype"/>
              </a:rPr>
              <a:t>parsing</a:t>
            </a:r>
            <a:r>
              <a:rPr sz="2000" kern="1200" spc="-10" dirty="0">
                <a:solidFill>
                  <a:srgbClr val="0432FF"/>
                </a:solidFill>
                <a:latin typeface="Palatino Linotype"/>
                <a:cs typeface="Palatino Linotype"/>
              </a:rPr>
              <a:t> </a:t>
            </a:r>
            <a:r>
              <a:rPr sz="2000" kern="1200" spc="-5" dirty="0">
                <a:solidFill>
                  <a:prstClr val="black"/>
                </a:solidFill>
                <a:latin typeface="Palatino Linotype"/>
                <a:cs typeface="Palatino Linotype"/>
              </a:rPr>
              <a:t>method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known</a:t>
            </a:r>
            <a:endParaRPr sz="2000" kern="1200" dirty="0">
              <a:solidFill>
                <a:prstClr val="black"/>
              </a:solidFill>
              <a:latin typeface="Palatino Linotype"/>
              <a:cs typeface="Palatino Linotype"/>
            </a:endParaRPr>
          </a:p>
          <a:p>
            <a:pPr marL="242570" marR="5080" indent="-230504" rtl="0">
              <a:lnSpc>
                <a:spcPct val="112999"/>
              </a:lnSpc>
              <a:spcBef>
                <a:spcPts val="2280"/>
              </a:spcBef>
              <a:buFont typeface="Arial MT"/>
              <a:buChar char="•"/>
              <a:tabLst>
                <a:tab pos="242570" algn="l"/>
                <a:tab pos="243204" algn="l"/>
              </a:tabLst>
            </a:pPr>
            <a:r>
              <a:rPr sz="2000" kern="1200" dirty="0">
                <a:solidFill>
                  <a:prstClr val="black"/>
                </a:solidFill>
                <a:latin typeface="Palatino Linotype"/>
                <a:cs typeface="Palatino Linotype"/>
              </a:rPr>
              <a:t>LR </a:t>
            </a:r>
            <a:r>
              <a:rPr sz="2000" kern="1200" spc="-5" dirty="0">
                <a:solidFill>
                  <a:prstClr val="black"/>
                </a:solidFill>
                <a:latin typeface="Palatino Linotype"/>
                <a:cs typeface="Palatino Linotype"/>
              </a:rPr>
              <a:t>parsers can </a:t>
            </a:r>
            <a:r>
              <a:rPr sz="2000" kern="1200" dirty="0">
                <a:solidFill>
                  <a:prstClr val="black"/>
                </a:solidFill>
                <a:latin typeface="Palatino Linotype"/>
                <a:cs typeface="Palatino Linotype"/>
              </a:rPr>
              <a:t>be </a:t>
            </a:r>
            <a:r>
              <a:rPr sz="2000" kern="1200" spc="-5" dirty="0">
                <a:solidFill>
                  <a:prstClr val="black"/>
                </a:solidFill>
                <a:latin typeface="Palatino Linotype"/>
                <a:cs typeface="Palatino Linotype"/>
              </a:rPr>
              <a:t>constructed to </a:t>
            </a:r>
            <a:r>
              <a:rPr sz="2000" kern="1200" spc="-5" dirty="0">
                <a:solidFill>
                  <a:srgbClr val="0432FF"/>
                </a:solidFill>
                <a:latin typeface="Palatino Linotype"/>
                <a:cs typeface="Palatino Linotype"/>
              </a:rPr>
              <a:t>recognize virtually </a:t>
            </a:r>
            <a:r>
              <a:rPr sz="2000" kern="1200" dirty="0">
                <a:solidFill>
                  <a:srgbClr val="0432FF"/>
                </a:solidFill>
                <a:latin typeface="Palatino Linotype"/>
                <a:cs typeface="Palatino Linotype"/>
              </a:rPr>
              <a:t>all </a:t>
            </a:r>
            <a:r>
              <a:rPr sz="2000" kern="1200" spc="5" dirty="0">
                <a:solidFill>
                  <a:srgbClr val="0432FF"/>
                </a:solidFill>
                <a:latin typeface="Palatino Linotype"/>
                <a:cs typeface="Palatino Linotype"/>
              </a:rPr>
              <a:t> </a:t>
            </a:r>
            <a:r>
              <a:rPr sz="2000" kern="1200" spc="-5" dirty="0">
                <a:solidFill>
                  <a:srgbClr val="0432FF"/>
                </a:solidFill>
                <a:latin typeface="Palatino Linotype"/>
                <a:cs typeface="Palatino Linotype"/>
              </a:rPr>
              <a:t>programming</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language</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constructs</a:t>
            </a:r>
            <a:r>
              <a:rPr sz="2000" kern="1200" dirty="0">
                <a:solidFill>
                  <a:srgbClr val="0432FF"/>
                </a:solidFill>
                <a:latin typeface="Palatino Linotype"/>
                <a:cs typeface="Palatino Linotype"/>
              </a:rPr>
              <a:t> </a:t>
            </a:r>
            <a:r>
              <a:rPr sz="2000" kern="1200" spc="-5" dirty="0">
                <a:solidFill>
                  <a:prstClr val="black"/>
                </a:solidFill>
                <a:latin typeface="Palatino Linotype"/>
                <a:cs typeface="Palatino Linotype"/>
              </a:rPr>
              <a:t>for which</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CFGs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can </a:t>
            </a:r>
            <a:r>
              <a:rPr sz="2000" kern="1200" dirty="0">
                <a:solidFill>
                  <a:prstClr val="black"/>
                </a:solidFill>
                <a:latin typeface="Palatino Linotype"/>
                <a:cs typeface="Palatino Linotype"/>
              </a:rPr>
              <a:t>be </a:t>
            </a:r>
            <a:r>
              <a:rPr sz="2000" kern="1200" spc="-5" dirty="0">
                <a:solidFill>
                  <a:prstClr val="black"/>
                </a:solidFill>
                <a:latin typeface="Palatino Linotype"/>
                <a:cs typeface="Palatino Linotype"/>
              </a:rPr>
              <a:t>written</a:t>
            </a:r>
            <a:endParaRPr sz="2000" kern="1200" dirty="0">
              <a:solidFill>
                <a:prstClr val="black"/>
              </a:solidFill>
              <a:latin typeface="Palatino Linotype"/>
              <a:cs typeface="Palatino Linotype"/>
            </a:endParaRPr>
          </a:p>
          <a:p>
            <a:pPr rtl="0">
              <a:spcBef>
                <a:spcPts val="25"/>
              </a:spcBef>
              <a:buFont typeface="Arial MT"/>
              <a:buChar char="•"/>
            </a:pPr>
            <a:endParaRPr sz="1900" kern="1200" dirty="0">
              <a:solidFill>
                <a:prstClr val="black"/>
              </a:solidFill>
              <a:latin typeface="Palatino Linotype"/>
              <a:cs typeface="Palatino Linotype"/>
            </a:endParaRPr>
          </a:p>
          <a:p>
            <a:pPr marL="243204" indent="-230504" rtl="0">
              <a:buFont typeface="Arial MT"/>
              <a:buChar char="•"/>
              <a:tabLst>
                <a:tab pos="242570" algn="l"/>
                <a:tab pos="243204" algn="l"/>
              </a:tabLst>
            </a:pPr>
            <a:r>
              <a:rPr sz="2000" kern="1200" dirty="0">
                <a:solidFill>
                  <a:prstClr val="black"/>
                </a:solidFill>
                <a:latin typeface="Palatino Linotype"/>
                <a:cs typeface="Palatino Linotype"/>
              </a:rPr>
              <a:t>LR</a:t>
            </a:r>
            <a:r>
              <a:rPr sz="2000" kern="1200" spc="-45" dirty="0">
                <a:solidFill>
                  <a:prstClr val="black"/>
                </a:solidFill>
                <a:latin typeface="Palatino Linotype"/>
                <a:cs typeface="Palatino Linotype"/>
              </a:rPr>
              <a:t> </a:t>
            </a:r>
            <a:r>
              <a:rPr sz="2000" kern="1200" spc="-5" dirty="0">
                <a:solidFill>
                  <a:prstClr val="black"/>
                </a:solidFill>
                <a:latin typeface="Palatino Linotype"/>
                <a:cs typeface="Palatino Linotype"/>
              </a:rPr>
              <a:t>grammars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can </a:t>
            </a:r>
            <a:r>
              <a:rPr sz="2000" kern="1200" dirty="0">
                <a:solidFill>
                  <a:srgbClr val="0432FF"/>
                </a:solidFill>
                <a:latin typeface="Palatino Linotype"/>
                <a:cs typeface="Palatino Linotype"/>
              </a:rPr>
              <a:t>describe </a:t>
            </a:r>
            <a:r>
              <a:rPr sz="2000" kern="1200" spc="-5" dirty="0">
                <a:solidFill>
                  <a:srgbClr val="0432FF"/>
                </a:solidFill>
                <a:latin typeface="Palatino Linotype"/>
                <a:cs typeface="Palatino Linotype"/>
              </a:rPr>
              <a:t>more</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languages</a:t>
            </a:r>
            <a:r>
              <a:rPr sz="2000" kern="1200" dirty="0">
                <a:solidFill>
                  <a:srgbClr val="0432FF"/>
                </a:solidFill>
                <a:latin typeface="Palatino Linotype"/>
                <a:cs typeface="Palatino Linotype"/>
              </a:rPr>
              <a:t> </a:t>
            </a:r>
            <a:r>
              <a:rPr sz="2000" kern="1200" spc="-5" dirty="0">
                <a:solidFill>
                  <a:prstClr val="black"/>
                </a:solidFill>
                <a:latin typeface="Palatino Linotype"/>
                <a:cs typeface="Palatino Linotype"/>
              </a:rPr>
              <a:t>than </a:t>
            </a:r>
            <a:r>
              <a:rPr sz="2000" kern="1200" dirty="0">
                <a:solidFill>
                  <a:prstClr val="black"/>
                </a:solidFill>
                <a:latin typeface="Palatino Linotype"/>
                <a:cs typeface="Palatino Linotype"/>
              </a:rPr>
              <a:t>LL</a:t>
            </a:r>
            <a:r>
              <a:rPr sz="2000" kern="1200" spc="-75" dirty="0">
                <a:solidFill>
                  <a:prstClr val="black"/>
                </a:solidFill>
                <a:latin typeface="Palatino Linotype"/>
                <a:cs typeface="Palatino Linotype"/>
              </a:rPr>
              <a:t> </a:t>
            </a:r>
            <a:r>
              <a:rPr sz="2000" kern="1200" spc="-5" dirty="0">
                <a:solidFill>
                  <a:prstClr val="black"/>
                </a:solidFill>
                <a:latin typeface="Palatino Linotype"/>
                <a:cs typeface="Palatino Linotype"/>
              </a:rPr>
              <a:t>grammars</a:t>
            </a:r>
            <a:endParaRPr sz="2000" kern="1200" dirty="0">
              <a:solidFill>
                <a:prstClr val="black"/>
              </a:solidFill>
              <a:latin typeface="Palatino Linotype"/>
              <a:cs typeface="Palatino Linotype"/>
            </a:endParaRPr>
          </a:p>
          <a:p>
            <a:pPr marL="698500" lvl="1" indent="-228600" rtl="0">
              <a:spcBef>
                <a:spcPts val="810"/>
              </a:spcBef>
              <a:buFont typeface="Wingdings"/>
              <a:buChar char=""/>
              <a:tabLst>
                <a:tab pos="697865" algn="l"/>
                <a:tab pos="698500" algn="l"/>
              </a:tabLst>
            </a:pPr>
            <a:r>
              <a:rPr sz="1600" kern="1200" spc="-5" dirty="0">
                <a:solidFill>
                  <a:prstClr val="black"/>
                </a:solidFill>
                <a:latin typeface="Palatino Linotype"/>
                <a:cs typeface="Palatino Linotype"/>
              </a:rPr>
              <a:t>Recall</a:t>
            </a:r>
            <a:r>
              <a:rPr sz="1600" kern="1200" dirty="0">
                <a:solidFill>
                  <a:prstClr val="black"/>
                </a:solidFill>
                <a:latin typeface="Palatino Linotype"/>
                <a:cs typeface="Palatino Linotype"/>
              </a:rPr>
              <a:t> the </a:t>
            </a:r>
            <a:r>
              <a:rPr sz="1600" kern="1200" spc="-5" dirty="0">
                <a:solidFill>
                  <a:prstClr val="black"/>
                </a:solidFill>
                <a:latin typeface="Palatino Linotype"/>
                <a:cs typeface="Palatino Linotype"/>
              </a:rPr>
              <a:t>stringent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conditions</a:t>
            </a:r>
            <a:r>
              <a:rPr sz="1600" kern="1200" dirty="0">
                <a:solidFill>
                  <a:prstClr val="black"/>
                </a:solidFill>
                <a:latin typeface="Palatino Linotype"/>
                <a:cs typeface="Palatino Linotype"/>
              </a:rPr>
              <a:t> for</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a</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grammar</a:t>
            </a:r>
            <a:r>
              <a:rPr sz="1600" kern="1200" spc="15" dirty="0">
                <a:solidFill>
                  <a:prstClr val="black"/>
                </a:solidFill>
                <a:latin typeface="Palatino Linotype"/>
                <a:cs typeface="Palatino Linotype"/>
              </a:rPr>
              <a:t> </a:t>
            </a:r>
            <a:r>
              <a:rPr sz="1600" kern="1200"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be </a:t>
            </a:r>
            <a:r>
              <a:rPr sz="1600" kern="1200" spc="-5" dirty="0">
                <a:solidFill>
                  <a:prstClr val="black"/>
                </a:solidFill>
                <a:latin typeface="Palatino Linotype"/>
                <a:cs typeface="Palatino Linotype"/>
              </a:rPr>
              <a:t>LL(1)</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16037643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104</a:t>
            </a:fld>
            <a:endParaRPr lang="en-US"/>
          </a:p>
        </p:txBody>
      </p:sp>
      <p:sp>
        <p:nvSpPr>
          <p:cNvPr id="15" name="object 2">
            <a:extLst>
              <a:ext uri="{FF2B5EF4-FFF2-40B4-BE49-F238E27FC236}">
                <a16:creationId xmlns:a16="http://schemas.microsoft.com/office/drawing/2014/main" id="{CF4BD3DA-D3C7-025F-418B-C35D198522A0}"/>
              </a:ext>
            </a:extLst>
          </p:cNvPr>
          <p:cNvSpPr txBox="1">
            <a:spLocks/>
          </p:cNvSpPr>
          <p:nvPr/>
        </p:nvSpPr>
        <p:spPr>
          <a:xfrm>
            <a:off x="707390" y="524763"/>
            <a:ext cx="53613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When</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to</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Shift/Reduce?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grpSp>
        <p:nvGrpSpPr>
          <p:cNvPr id="16" name="object 3">
            <a:extLst>
              <a:ext uri="{FF2B5EF4-FFF2-40B4-BE49-F238E27FC236}">
                <a16:creationId xmlns:a16="http://schemas.microsoft.com/office/drawing/2014/main" id="{1EC0DAC0-5CB5-6927-2551-9CD035DC4F60}"/>
              </a:ext>
            </a:extLst>
          </p:cNvPr>
          <p:cNvGrpSpPr/>
          <p:nvPr/>
        </p:nvGrpSpPr>
        <p:grpSpPr>
          <a:xfrm>
            <a:off x="708358" y="1839136"/>
            <a:ext cx="5113655" cy="2607310"/>
            <a:chOff x="708358" y="1839136"/>
            <a:chExt cx="5113655" cy="2607310"/>
          </a:xfrm>
        </p:grpSpPr>
        <p:pic>
          <p:nvPicPr>
            <p:cNvPr id="17" name="object 4">
              <a:extLst>
                <a:ext uri="{FF2B5EF4-FFF2-40B4-BE49-F238E27FC236}">
                  <a16:creationId xmlns:a16="http://schemas.microsoft.com/office/drawing/2014/main" id="{362DC491-9DDD-34C9-7204-9083ED392D54}"/>
                </a:ext>
              </a:extLst>
            </p:cNvPr>
            <p:cNvPicPr/>
            <p:nvPr/>
          </p:nvPicPr>
          <p:blipFill>
            <a:blip r:embed="rId3" cstate="print"/>
            <a:stretch>
              <a:fillRect/>
            </a:stretch>
          </p:blipFill>
          <p:spPr>
            <a:xfrm>
              <a:off x="708358" y="1839136"/>
              <a:ext cx="5113272" cy="2606941"/>
            </a:xfrm>
            <a:prstGeom prst="rect">
              <a:avLst/>
            </a:prstGeom>
          </p:spPr>
        </p:pic>
        <p:sp>
          <p:nvSpPr>
            <p:cNvPr id="18" name="object 5">
              <a:extLst>
                <a:ext uri="{FF2B5EF4-FFF2-40B4-BE49-F238E27FC236}">
                  <a16:creationId xmlns:a16="http://schemas.microsoft.com/office/drawing/2014/main" id="{B1EFDA6D-E933-0439-406D-EE09052FB09B}"/>
                </a:ext>
              </a:extLst>
            </p:cNvPr>
            <p:cNvSpPr/>
            <p:nvPr/>
          </p:nvSpPr>
          <p:spPr>
            <a:xfrm>
              <a:off x="814507" y="2964191"/>
              <a:ext cx="4134485" cy="276860"/>
            </a:xfrm>
            <a:custGeom>
              <a:avLst/>
              <a:gdLst/>
              <a:ahLst/>
              <a:cxnLst/>
              <a:rect l="l" t="t" r="r" b="b"/>
              <a:pathLst>
                <a:path w="4134485" h="276860">
                  <a:moveTo>
                    <a:pt x="0" y="0"/>
                  </a:moveTo>
                  <a:lnTo>
                    <a:pt x="4134010" y="0"/>
                  </a:lnTo>
                  <a:lnTo>
                    <a:pt x="4134010" y="276625"/>
                  </a:lnTo>
                  <a:lnTo>
                    <a:pt x="0" y="276625"/>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pSp>
        <p:nvGrpSpPr>
          <p:cNvPr id="19" name="object 6">
            <a:extLst>
              <a:ext uri="{FF2B5EF4-FFF2-40B4-BE49-F238E27FC236}">
                <a16:creationId xmlns:a16="http://schemas.microsoft.com/office/drawing/2014/main" id="{97F552C0-AEC5-0A85-AF16-9115D6E8D638}"/>
              </a:ext>
            </a:extLst>
          </p:cNvPr>
          <p:cNvGrpSpPr/>
          <p:nvPr/>
        </p:nvGrpSpPr>
        <p:grpSpPr>
          <a:xfrm>
            <a:off x="6700673" y="2222332"/>
            <a:ext cx="1572260" cy="1149985"/>
            <a:chOff x="6700673" y="2222332"/>
            <a:chExt cx="1572260" cy="1149985"/>
          </a:xfrm>
        </p:grpSpPr>
        <p:pic>
          <p:nvPicPr>
            <p:cNvPr id="20" name="object 7">
              <a:extLst>
                <a:ext uri="{FF2B5EF4-FFF2-40B4-BE49-F238E27FC236}">
                  <a16:creationId xmlns:a16="http://schemas.microsoft.com/office/drawing/2014/main" id="{1959499F-C499-F9C2-6146-63F1E30D583E}"/>
                </a:ext>
              </a:extLst>
            </p:cNvPr>
            <p:cNvPicPr/>
            <p:nvPr/>
          </p:nvPicPr>
          <p:blipFill>
            <a:blip r:embed="rId4" cstate="print"/>
            <a:stretch>
              <a:fillRect/>
            </a:stretch>
          </p:blipFill>
          <p:spPr>
            <a:xfrm>
              <a:off x="6781172" y="2345181"/>
              <a:ext cx="1314430" cy="920758"/>
            </a:xfrm>
            <a:prstGeom prst="rect">
              <a:avLst/>
            </a:prstGeom>
          </p:spPr>
        </p:pic>
        <p:sp>
          <p:nvSpPr>
            <p:cNvPr id="21" name="object 8">
              <a:extLst>
                <a:ext uri="{FF2B5EF4-FFF2-40B4-BE49-F238E27FC236}">
                  <a16:creationId xmlns:a16="http://schemas.microsoft.com/office/drawing/2014/main" id="{E9467FD2-03BE-5F03-9D38-7F025EF46B0E}"/>
                </a:ext>
              </a:extLst>
            </p:cNvPr>
            <p:cNvSpPr/>
            <p:nvPr/>
          </p:nvSpPr>
          <p:spPr>
            <a:xfrm>
              <a:off x="6705436" y="2227094"/>
              <a:ext cx="1562735" cy="1140460"/>
            </a:xfrm>
            <a:custGeom>
              <a:avLst/>
              <a:gdLst/>
              <a:ahLst/>
              <a:cxnLst/>
              <a:rect l="l" t="t" r="r" b="b"/>
              <a:pathLst>
                <a:path w="1562734" h="1140460">
                  <a:moveTo>
                    <a:pt x="0" y="0"/>
                  </a:moveTo>
                  <a:lnTo>
                    <a:pt x="1562426" y="0"/>
                  </a:lnTo>
                  <a:lnTo>
                    <a:pt x="1562426" y="1139933"/>
                  </a:lnTo>
                  <a:lnTo>
                    <a:pt x="0" y="1139933"/>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2" name="object 9">
            <a:extLst>
              <a:ext uri="{FF2B5EF4-FFF2-40B4-BE49-F238E27FC236}">
                <a16:creationId xmlns:a16="http://schemas.microsoft.com/office/drawing/2014/main" id="{862347DF-E0C6-4625-45A7-E81C1C8FEF49}"/>
              </a:ext>
            </a:extLst>
          </p:cNvPr>
          <p:cNvSpPr txBox="1"/>
          <p:nvPr/>
        </p:nvSpPr>
        <p:spPr>
          <a:xfrm>
            <a:off x="6174134" y="3866388"/>
            <a:ext cx="2668270" cy="330200"/>
          </a:xfrm>
          <a:prstGeom prst="rect">
            <a:avLst/>
          </a:prstGeom>
        </p:spPr>
        <p:txBody>
          <a:bodyPr vert="horz" wrap="square" lIns="0" tIns="12700" rIns="0" bIns="0" rtlCol="0">
            <a:spAutoFit/>
          </a:bodyPr>
          <a:lstStyle/>
          <a:p>
            <a:pPr marL="38100" rtl="0">
              <a:spcBef>
                <a:spcPts val="100"/>
              </a:spcBef>
            </a:pPr>
            <a:r>
              <a:rPr sz="2000" kern="1200" spc="-10" dirty="0">
                <a:solidFill>
                  <a:prstClr val="black"/>
                </a:solidFill>
                <a:latin typeface="Palatino Linotype"/>
                <a:cs typeface="Palatino Linotype"/>
              </a:rPr>
              <a:t>Parsing</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input</a:t>
            </a:r>
            <a:r>
              <a:rPr sz="2000" kern="1200" spc="-20" dirty="0">
                <a:solidFill>
                  <a:prstClr val="black"/>
                </a:solidFill>
                <a:latin typeface="Palatino Linotype"/>
                <a:cs typeface="Palatino Linotype"/>
              </a:rPr>
              <a:t> </a:t>
            </a:r>
            <a:r>
              <a:rPr sz="2000" kern="1200" dirty="0">
                <a:solidFill>
                  <a:prstClr val="black"/>
                </a:solidFill>
                <a:latin typeface="Cambria Math"/>
                <a:cs typeface="Cambria Math"/>
              </a:rPr>
              <a:t>𝐢𝐝</a:t>
            </a:r>
            <a:r>
              <a:rPr sz="1950" kern="1200" baseline="-17094" dirty="0">
                <a:solidFill>
                  <a:prstClr val="black"/>
                </a:solidFill>
                <a:latin typeface="Cambria Math"/>
                <a:cs typeface="Cambria Math"/>
              </a:rPr>
              <a:t>1  </a:t>
            </a:r>
            <a:r>
              <a:rPr sz="1950" kern="1200" spc="22" baseline="-17094" dirty="0">
                <a:solidFill>
                  <a:prstClr val="black"/>
                </a:solidFill>
                <a:latin typeface="Cambria Math"/>
                <a:cs typeface="Cambria Math"/>
              </a:rPr>
              <a:t> </a:t>
            </a:r>
            <a:r>
              <a:rPr sz="2000" kern="1200" dirty="0">
                <a:solidFill>
                  <a:prstClr val="black"/>
                </a:solidFill>
                <a:latin typeface="Cambria Math"/>
                <a:cs typeface="Cambria Math"/>
              </a:rPr>
              <a:t>∗</a:t>
            </a:r>
            <a:r>
              <a:rPr sz="2000" kern="1200" spc="409" dirty="0">
                <a:solidFill>
                  <a:prstClr val="black"/>
                </a:solidFill>
                <a:latin typeface="Cambria Math"/>
                <a:cs typeface="Cambria Math"/>
              </a:rPr>
              <a:t> </a:t>
            </a:r>
            <a:r>
              <a:rPr sz="2000" kern="1200" dirty="0">
                <a:solidFill>
                  <a:prstClr val="black"/>
                </a:solidFill>
                <a:latin typeface="Cambria Math"/>
                <a:cs typeface="Cambria Math"/>
              </a:rPr>
              <a:t>𝐢𝐝</a:t>
            </a:r>
            <a:r>
              <a:rPr sz="1950" kern="1200" baseline="-17094" dirty="0">
                <a:solidFill>
                  <a:prstClr val="black"/>
                </a:solidFill>
                <a:latin typeface="Cambria Math"/>
                <a:cs typeface="Cambria Math"/>
              </a:rPr>
              <a:t>2</a:t>
            </a:r>
            <a:endParaRPr sz="1950" kern="1200" baseline="-17094">
              <a:solidFill>
                <a:prstClr val="black"/>
              </a:solidFill>
              <a:latin typeface="Cambria Math"/>
              <a:cs typeface="Cambria Math"/>
            </a:endParaRPr>
          </a:p>
        </p:txBody>
      </p:sp>
      <p:pic>
        <p:nvPicPr>
          <p:cNvPr id="23" name="object 10">
            <a:extLst>
              <a:ext uri="{FF2B5EF4-FFF2-40B4-BE49-F238E27FC236}">
                <a16:creationId xmlns:a16="http://schemas.microsoft.com/office/drawing/2014/main" id="{39B8754D-26EF-3F41-D018-8188519BED4B}"/>
              </a:ext>
            </a:extLst>
          </p:cNvPr>
          <p:cNvPicPr/>
          <p:nvPr/>
        </p:nvPicPr>
        <p:blipFill>
          <a:blip r:embed="rId5" cstate="print"/>
          <a:stretch>
            <a:fillRect/>
          </a:stretch>
        </p:blipFill>
        <p:spPr>
          <a:xfrm>
            <a:off x="7155366" y="4942052"/>
            <a:ext cx="1060264" cy="1060265"/>
          </a:xfrm>
          <a:prstGeom prst="rect">
            <a:avLst/>
          </a:prstGeom>
        </p:spPr>
      </p:pic>
      <p:sp>
        <p:nvSpPr>
          <p:cNvPr id="24" name="object 11">
            <a:extLst>
              <a:ext uri="{FF2B5EF4-FFF2-40B4-BE49-F238E27FC236}">
                <a16:creationId xmlns:a16="http://schemas.microsoft.com/office/drawing/2014/main" id="{6541D1A6-FC99-3CCE-C0A7-AAE289895006}"/>
              </a:ext>
            </a:extLst>
          </p:cNvPr>
          <p:cNvSpPr txBox="1"/>
          <p:nvPr/>
        </p:nvSpPr>
        <p:spPr>
          <a:xfrm>
            <a:off x="597661" y="5007355"/>
            <a:ext cx="6376035" cy="739140"/>
          </a:xfrm>
          <a:prstGeom prst="rect">
            <a:avLst/>
          </a:prstGeom>
        </p:spPr>
        <p:txBody>
          <a:bodyPr vert="horz" wrap="square" lIns="0" tIns="12700" rIns="0" bIns="0" rtlCol="0">
            <a:spAutoFit/>
          </a:bodyPr>
          <a:lstStyle/>
          <a:p>
            <a:pPr marL="12700" marR="5080" rtl="0">
              <a:lnSpc>
                <a:spcPct val="130000"/>
              </a:lnSpc>
              <a:spcBef>
                <a:spcPts val="100"/>
              </a:spcBef>
            </a:pPr>
            <a:r>
              <a:rPr kern="1200" dirty="0">
                <a:solidFill>
                  <a:srgbClr val="FF0000"/>
                </a:solidFill>
                <a:latin typeface="Palatino Linotype"/>
                <a:cs typeface="Palatino Linotype"/>
              </a:rPr>
              <a:t>How</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does</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a </a:t>
            </a:r>
            <a:r>
              <a:rPr kern="1200" spc="-5" dirty="0">
                <a:solidFill>
                  <a:srgbClr val="FF0000"/>
                </a:solidFill>
                <a:latin typeface="Palatino Linotype"/>
                <a:cs typeface="Palatino Linotype"/>
              </a:rPr>
              <a:t>shift/reduce</a:t>
            </a:r>
            <a:r>
              <a:rPr kern="1200" dirty="0">
                <a:solidFill>
                  <a:srgbClr val="FF0000"/>
                </a:solidFill>
                <a:latin typeface="Palatino Linotype"/>
                <a:cs typeface="Palatino Linotype"/>
              </a:rPr>
              <a:t> parser</a:t>
            </a:r>
            <a:r>
              <a:rPr kern="1200" spc="-5" dirty="0">
                <a:solidFill>
                  <a:srgbClr val="FF0000"/>
                </a:solidFill>
                <a:latin typeface="Palatino Linotype"/>
                <a:cs typeface="Palatino Linotype"/>
              </a:rPr>
              <a:t> know </a:t>
            </a:r>
            <a:r>
              <a:rPr kern="1200" dirty="0">
                <a:solidFill>
                  <a:srgbClr val="FF0000"/>
                </a:solidFill>
                <a:latin typeface="Palatino Linotype"/>
                <a:cs typeface="Palatino Linotype"/>
              </a:rPr>
              <a:t>that </a:t>
            </a:r>
            <a:r>
              <a:rPr kern="1200" dirty="0">
                <a:solidFill>
                  <a:srgbClr val="FF0000"/>
                </a:solidFill>
                <a:latin typeface="Cambria Math"/>
                <a:cs typeface="Cambria Math"/>
              </a:rPr>
              <a:t>𝑇</a:t>
            </a:r>
            <a:r>
              <a:rPr kern="1200" spc="95" dirty="0">
                <a:solidFill>
                  <a:srgbClr val="FF0000"/>
                </a:solidFill>
                <a:latin typeface="Cambria Math"/>
                <a:cs typeface="Cambria Math"/>
              </a:rPr>
              <a:t> </a:t>
            </a:r>
            <a:r>
              <a:rPr kern="1200" dirty="0">
                <a:solidFill>
                  <a:srgbClr val="FF0000"/>
                </a:solidFill>
                <a:latin typeface="Palatino Linotype"/>
                <a:cs typeface="Palatino Linotype"/>
              </a:rPr>
              <a:t>on</a:t>
            </a:r>
            <a:r>
              <a:rPr kern="1200" spc="-5" dirty="0">
                <a:solidFill>
                  <a:srgbClr val="FF0000"/>
                </a:solidFill>
                <a:latin typeface="Palatino Linotype"/>
                <a:cs typeface="Palatino Linotype"/>
              </a:rPr>
              <a:t> stack </a:t>
            </a:r>
            <a:r>
              <a:rPr kern="1200" dirty="0">
                <a:solidFill>
                  <a:srgbClr val="FF0000"/>
                </a:solidFill>
                <a:latin typeface="Palatino Linotype"/>
                <a:cs typeface="Palatino Linotype"/>
              </a:rPr>
              <a:t>top</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is</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not </a:t>
            </a:r>
            <a:r>
              <a:rPr kern="1200" spc="-434" dirty="0">
                <a:solidFill>
                  <a:srgbClr val="FF0000"/>
                </a:solidFill>
                <a:latin typeface="Palatino Linotype"/>
                <a:cs typeface="Palatino Linotype"/>
              </a:rPr>
              <a:t> </a:t>
            </a:r>
            <a:r>
              <a:rPr kern="1200" dirty="0">
                <a:solidFill>
                  <a:srgbClr val="FF0000"/>
                </a:solidFill>
                <a:latin typeface="Palatino Linotype"/>
                <a:cs typeface="Palatino Linotype"/>
              </a:rPr>
              <a:t>a</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handle </a:t>
            </a:r>
            <a:r>
              <a:rPr kern="1200" spc="-5" dirty="0">
                <a:solidFill>
                  <a:srgbClr val="FF0000"/>
                </a:solidFill>
                <a:latin typeface="Palatino Linotype"/>
                <a:cs typeface="Palatino Linotype"/>
              </a:rPr>
              <a:t>(so </a:t>
            </a:r>
            <a:r>
              <a:rPr kern="1200" dirty="0">
                <a:solidFill>
                  <a:srgbClr val="FF0000"/>
                </a:solidFill>
                <a:latin typeface="Palatino Linotype"/>
                <a:cs typeface="Palatino Linotype"/>
              </a:rPr>
              <a:t>the </a:t>
            </a:r>
            <a:r>
              <a:rPr kern="1200" spc="-5" dirty="0">
                <a:solidFill>
                  <a:srgbClr val="FF0000"/>
                </a:solidFill>
                <a:latin typeface="Palatino Linotype"/>
                <a:cs typeface="Palatino Linotype"/>
              </a:rPr>
              <a:t>right</a:t>
            </a:r>
            <a:r>
              <a:rPr kern="1200" dirty="0">
                <a:solidFill>
                  <a:srgbClr val="FF0000"/>
                </a:solidFill>
                <a:latin typeface="Palatino Linotype"/>
                <a:cs typeface="Palatino Linotype"/>
              </a:rPr>
              <a:t> action</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is</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to</a:t>
            </a:r>
            <a:r>
              <a:rPr kern="1200" spc="-5" dirty="0">
                <a:solidFill>
                  <a:srgbClr val="FF0000"/>
                </a:solidFill>
                <a:latin typeface="Palatino Linotype"/>
                <a:cs typeface="Palatino Linotype"/>
              </a:rPr>
              <a:t> shift,</a:t>
            </a:r>
            <a:r>
              <a:rPr kern="1200" dirty="0">
                <a:solidFill>
                  <a:srgbClr val="FF0000"/>
                </a:solidFill>
                <a:latin typeface="Palatino Linotype"/>
                <a:cs typeface="Palatino Linotype"/>
              </a:rPr>
              <a:t> not reducing</a:t>
            </a:r>
            <a:r>
              <a:rPr kern="1200" spc="-10" dirty="0">
                <a:solidFill>
                  <a:srgbClr val="FF0000"/>
                </a:solidFill>
                <a:latin typeface="Palatino Linotype"/>
                <a:cs typeface="Palatino Linotype"/>
              </a:rPr>
              <a:t> </a:t>
            </a:r>
            <a:r>
              <a:rPr kern="1200" dirty="0">
                <a:solidFill>
                  <a:srgbClr val="FF0000"/>
                </a:solidFill>
                <a:latin typeface="Cambria Math"/>
                <a:cs typeface="Cambria Math"/>
              </a:rPr>
              <a:t>𝑇</a:t>
            </a:r>
            <a:r>
              <a:rPr kern="1200" spc="95" dirty="0">
                <a:solidFill>
                  <a:srgbClr val="FF0000"/>
                </a:solidFill>
                <a:latin typeface="Cambria Math"/>
                <a:cs typeface="Cambria Math"/>
              </a:rPr>
              <a:t> </a:t>
            </a:r>
            <a:r>
              <a:rPr kern="1200" dirty="0">
                <a:solidFill>
                  <a:srgbClr val="FF0000"/>
                </a:solidFill>
                <a:latin typeface="Palatino Linotype"/>
                <a:cs typeface="Palatino Linotype"/>
              </a:rPr>
              <a:t>to </a:t>
            </a:r>
            <a:r>
              <a:rPr kern="1200" spc="20" dirty="0">
                <a:solidFill>
                  <a:srgbClr val="FF0000"/>
                </a:solidFill>
                <a:latin typeface="Cambria Math"/>
                <a:cs typeface="Cambria Math"/>
              </a:rPr>
              <a:t>𝐸</a:t>
            </a:r>
            <a:r>
              <a:rPr kern="1200" spc="20" dirty="0">
                <a:solidFill>
                  <a:srgbClr val="FF0000"/>
                </a:solidFill>
                <a:latin typeface="Palatino Linotype"/>
                <a:cs typeface="Palatino Linotype"/>
              </a:rPr>
              <a:t>)?</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33724562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 name="object 3">
            <a:extLst>
              <a:ext uri="{FF2B5EF4-FFF2-40B4-BE49-F238E27FC236}">
                <a16:creationId xmlns:a16="http://schemas.microsoft.com/office/drawing/2014/main" id="{4D61440F-CEED-573E-F84F-634F8A4DDAAC}"/>
              </a:ext>
            </a:extLst>
          </p:cNvPr>
          <p:cNvSpPr txBox="1"/>
          <p:nvPr/>
        </p:nvSpPr>
        <p:spPr>
          <a:xfrm>
            <a:off x="707390" y="1610867"/>
            <a:ext cx="7718425" cy="4518660"/>
          </a:xfrm>
          <a:prstGeom prst="rect">
            <a:avLst/>
          </a:prstGeom>
        </p:spPr>
        <p:txBody>
          <a:bodyPr vert="horz" wrap="square" lIns="0" tIns="60960" rIns="0" bIns="0" rtlCol="0">
            <a:spAutoFit/>
          </a:bodyPr>
          <a:lstStyle/>
          <a:p>
            <a:pPr marL="243204" indent="-230504" rtl="0">
              <a:spcBef>
                <a:spcPts val="480"/>
              </a:spcBef>
              <a:buFont typeface="Arial MT"/>
              <a:buChar char="•"/>
              <a:tabLst>
                <a:tab pos="242570" algn="l"/>
                <a:tab pos="243204" algn="l"/>
              </a:tabLst>
            </a:pPr>
            <a:r>
              <a:rPr sz="2000" kern="1200" spc="-5" dirty="0">
                <a:solidFill>
                  <a:prstClr val="black"/>
                </a:solidFill>
                <a:latin typeface="Palatino Linotype"/>
                <a:cs typeface="Palatino Linotype"/>
              </a:rPr>
              <a:t>An</a:t>
            </a:r>
            <a:r>
              <a:rPr sz="2000" kern="1200" dirty="0">
                <a:solidFill>
                  <a:prstClr val="black"/>
                </a:solidFill>
                <a:latin typeface="Palatino Linotype"/>
                <a:cs typeface="Palatino Linotype"/>
              </a:rPr>
              <a:t> LR</a:t>
            </a:r>
            <a:r>
              <a:rPr sz="2000" kern="1200" spc="-40" dirty="0">
                <a:solidFill>
                  <a:prstClr val="black"/>
                </a:solidFill>
                <a:latin typeface="Palatino Linotype"/>
                <a:cs typeface="Palatino Linotype"/>
              </a:rPr>
              <a:t> </a:t>
            </a:r>
            <a:r>
              <a:rPr sz="2000" kern="1200" spc="-5" dirty="0">
                <a:solidFill>
                  <a:prstClr val="black"/>
                </a:solidFill>
                <a:latin typeface="Palatino Linotype"/>
                <a:cs typeface="Palatino Linotype"/>
              </a:rPr>
              <a:t>parser</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makes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shift-reduce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decisions</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by</a:t>
            </a:r>
            <a:r>
              <a:rPr sz="2000" kern="1200" spc="5" dirty="0">
                <a:solidFill>
                  <a:prstClr val="black"/>
                </a:solidFill>
                <a:latin typeface="Palatino Linotype"/>
                <a:cs typeface="Palatino Linotype"/>
              </a:rPr>
              <a:t> </a:t>
            </a:r>
            <a:r>
              <a:rPr sz="2000" b="1" kern="1200" spc="-5" dirty="0">
                <a:solidFill>
                  <a:srgbClr val="FF0000"/>
                </a:solidFill>
                <a:latin typeface="Palatino Linotype"/>
                <a:cs typeface="Palatino Linotype"/>
              </a:rPr>
              <a:t>maintaining</a:t>
            </a:r>
            <a:r>
              <a:rPr sz="2000" b="1" kern="1200" spc="5" dirty="0">
                <a:solidFill>
                  <a:srgbClr val="FF0000"/>
                </a:solidFill>
                <a:latin typeface="Palatino Linotype"/>
                <a:cs typeface="Palatino Linotype"/>
              </a:rPr>
              <a:t> </a:t>
            </a:r>
            <a:r>
              <a:rPr sz="2000" b="1" kern="1200" spc="-5" dirty="0">
                <a:solidFill>
                  <a:srgbClr val="FF0000"/>
                </a:solidFill>
                <a:latin typeface="Palatino Linotype"/>
                <a:cs typeface="Palatino Linotype"/>
              </a:rPr>
              <a:t>states</a:t>
            </a:r>
            <a:endParaRPr sz="2000" kern="1200" dirty="0">
              <a:solidFill>
                <a:prstClr val="black"/>
              </a:solidFill>
              <a:latin typeface="Palatino Linotype"/>
              <a:cs typeface="Palatino Linotype"/>
            </a:endParaRPr>
          </a:p>
          <a:p>
            <a:pPr marL="242570" rtl="0">
              <a:spcBef>
                <a:spcPts val="385"/>
              </a:spcBef>
            </a:pPr>
            <a:r>
              <a:rPr sz="2000" kern="1200" spc="-5" dirty="0">
                <a:solidFill>
                  <a:prstClr val="black"/>
                </a:solidFill>
                <a:latin typeface="Palatino Linotype"/>
                <a:cs typeface="Palatino Linotype"/>
              </a:rPr>
              <a:t>to</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keep</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track</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a:t>
            </a:r>
            <a:r>
              <a:rPr sz="2000" kern="1200" spc="-10" dirty="0">
                <a:solidFill>
                  <a:prstClr val="black"/>
                </a:solidFill>
                <a:latin typeface="Palatino Linotype"/>
                <a:cs typeface="Palatino Linotype"/>
              </a:rPr>
              <a:t> </a:t>
            </a:r>
            <a:r>
              <a:rPr sz="2000" kern="1200" spc="-5" dirty="0">
                <a:solidFill>
                  <a:srgbClr val="FF0000"/>
                </a:solidFill>
                <a:latin typeface="Palatino Linotype"/>
                <a:cs typeface="Palatino Linotype"/>
              </a:rPr>
              <a:t>what</a:t>
            </a:r>
            <a:r>
              <a:rPr sz="2000" kern="1200" spc="-10" dirty="0">
                <a:solidFill>
                  <a:srgbClr val="FF0000"/>
                </a:solidFill>
                <a:latin typeface="Palatino Linotype"/>
                <a:cs typeface="Palatino Linotype"/>
              </a:rPr>
              <a:t> </a:t>
            </a:r>
            <a:r>
              <a:rPr sz="2000" kern="1200" spc="-15" dirty="0">
                <a:solidFill>
                  <a:srgbClr val="FF0000"/>
                </a:solidFill>
                <a:latin typeface="Palatino Linotype"/>
                <a:cs typeface="Palatino Linotype"/>
              </a:rPr>
              <a:t>have</a:t>
            </a:r>
            <a:r>
              <a:rPr sz="2000" kern="1200" dirty="0">
                <a:solidFill>
                  <a:srgbClr val="FF0000"/>
                </a:solidFill>
                <a:latin typeface="Palatino Linotype"/>
                <a:cs typeface="Palatino Linotype"/>
              </a:rPr>
              <a:t> been</a:t>
            </a:r>
            <a:r>
              <a:rPr sz="2000" kern="1200" spc="-10" dirty="0">
                <a:solidFill>
                  <a:srgbClr val="FF0000"/>
                </a:solidFill>
                <a:latin typeface="Palatino Linotype"/>
                <a:cs typeface="Palatino Linotype"/>
              </a:rPr>
              <a:t> </a:t>
            </a:r>
            <a:r>
              <a:rPr sz="2000" kern="1200" dirty="0">
                <a:solidFill>
                  <a:srgbClr val="FF0000"/>
                </a:solidFill>
                <a:latin typeface="Palatino Linotype"/>
                <a:cs typeface="Palatino Linotype"/>
              </a:rPr>
              <a:t>seen</a:t>
            </a:r>
            <a:r>
              <a:rPr sz="2000" kern="1200" spc="-5" dirty="0">
                <a:solidFill>
                  <a:srgbClr val="FF0000"/>
                </a:solidFill>
                <a:latin typeface="Palatino Linotype"/>
                <a:cs typeface="Palatino Linotype"/>
              </a:rPr>
              <a:t> </a:t>
            </a:r>
            <a:r>
              <a:rPr sz="2000" kern="1200" dirty="0">
                <a:solidFill>
                  <a:prstClr val="black"/>
                </a:solidFill>
                <a:latin typeface="Palatino Linotype"/>
                <a:cs typeface="Palatino Linotype"/>
              </a:rPr>
              <a:t>in</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 parse</a:t>
            </a:r>
            <a:endParaRPr sz="2000" kern="1200" dirty="0">
              <a:solidFill>
                <a:prstClr val="black"/>
              </a:solidFill>
              <a:latin typeface="Palatino Linotype"/>
              <a:cs typeface="Palatino Linotype"/>
            </a:endParaRPr>
          </a:p>
          <a:p>
            <a:pPr marL="242570" marR="5080" indent="-230504" rtl="0">
              <a:lnSpc>
                <a:spcPct val="121000"/>
              </a:lnSpc>
              <a:spcBef>
                <a:spcPts val="1800"/>
              </a:spcBef>
              <a:buFont typeface="Arial MT"/>
              <a:buChar char="•"/>
              <a:tabLst>
                <a:tab pos="242570" algn="l"/>
                <a:tab pos="243204" algn="l"/>
              </a:tabLst>
            </a:pPr>
            <a:r>
              <a:rPr sz="2000" kern="1200" spc="-5" dirty="0">
                <a:solidFill>
                  <a:prstClr val="black"/>
                </a:solidFill>
                <a:latin typeface="Palatino Linotype"/>
                <a:cs typeface="Palatino Linotype"/>
              </a:rPr>
              <a:t>An </a:t>
            </a:r>
            <a:r>
              <a:rPr sz="2000" b="1" i="1" kern="1200" dirty="0">
                <a:solidFill>
                  <a:srgbClr val="FF0000"/>
                </a:solidFill>
                <a:latin typeface="Palatino Linotype"/>
                <a:cs typeface="Palatino Linotype"/>
              </a:rPr>
              <a:t>LR(0) </a:t>
            </a:r>
            <a:r>
              <a:rPr sz="2000" b="1" i="1" kern="1200" spc="-5" dirty="0">
                <a:solidFill>
                  <a:srgbClr val="FF0000"/>
                </a:solidFill>
                <a:latin typeface="Palatino Linotype"/>
                <a:cs typeface="Palatino Linotype"/>
              </a:rPr>
              <a:t>item </a:t>
            </a:r>
            <a:r>
              <a:rPr sz="2000" kern="1200" spc="-5" dirty="0">
                <a:solidFill>
                  <a:prstClr val="black"/>
                </a:solidFill>
                <a:latin typeface="Palatino Linotype"/>
                <a:cs typeface="Palatino Linotype"/>
              </a:rPr>
              <a:t>(item for short) </a:t>
            </a:r>
            <a:r>
              <a:rPr sz="2000" kern="1200" dirty="0">
                <a:solidFill>
                  <a:prstClr val="black"/>
                </a:solidFill>
                <a:latin typeface="Palatino Linotype"/>
                <a:cs typeface="Palatino Linotype"/>
              </a:rPr>
              <a:t>is </a:t>
            </a:r>
            <a:r>
              <a:rPr sz="2000" kern="1200" dirty="0">
                <a:solidFill>
                  <a:srgbClr val="0432FF"/>
                </a:solidFill>
                <a:latin typeface="Palatino Linotype"/>
                <a:cs typeface="Palatino Linotype"/>
              </a:rPr>
              <a:t>a </a:t>
            </a:r>
            <a:r>
              <a:rPr sz="2000" kern="1200" spc="-5" dirty="0">
                <a:solidFill>
                  <a:srgbClr val="0432FF"/>
                </a:solidFill>
                <a:latin typeface="Palatino Linotype"/>
                <a:cs typeface="Palatino Linotype"/>
              </a:rPr>
              <a:t>production with </a:t>
            </a:r>
            <a:r>
              <a:rPr sz="2000" kern="1200" dirty="0">
                <a:solidFill>
                  <a:srgbClr val="0432FF"/>
                </a:solidFill>
                <a:latin typeface="Palatino Linotype"/>
                <a:cs typeface="Palatino Linotype"/>
              </a:rPr>
              <a:t>a </a:t>
            </a:r>
            <a:r>
              <a:rPr sz="2000" kern="1200" spc="-5" dirty="0">
                <a:solidFill>
                  <a:srgbClr val="0432FF"/>
                </a:solidFill>
                <a:latin typeface="Palatino Linotype"/>
                <a:cs typeface="Palatino Linotype"/>
              </a:rPr>
              <a:t>dot </a:t>
            </a:r>
            <a:r>
              <a:rPr sz="2000" kern="1200" dirty="0">
                <a:solidFill>
                  <a:prstClr val="black"/>
                </a:solidFill>
                <a:latin typeface="Palatino Linotype"/>
                <a:cs typeface="Palatino Linotype"/>
              </a:rPr>
              <a:t>at </a:t>
            </a:r>
            <a:r>
              <a:rPr sz="2000" kern="1200" spc="-5" dirty="0">
                <a:solidFill>
                  <a:prstClr val="black"/>
                </a:solidFill>
                <a:latin typeface="Palatino Linotype"/>
                <a:cs typeface="Palatino Linotype"/>
              </a:rPr>
              <a:t>some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position of the</a:t>
            </a:r>
            <a:r>
              <a:rPr sz="2000" kern="1200" spc="5" dirty="0">
                <a:solidFill>
                  <a:prstClr val="black"/>
                </a:solidFill>
                <a:latin typeface="Palatino Linotype"/>
                <a:cs typeface="Palatino Linotype"/>
              </a:rPr>
              <a:t> </a:t>
            </a:r>
            <a:r>
              <a:rPr sz="2000" kern="1200" spc="-45" dirty="0">
                <a:solidFill>
                  <a:prstClr val="black"/>
                </a:solidFill>
                <a:latin typeface="Palatino Linotype"/>
                <a:cs typeface="Palatino Linotype"/>
              </a:rPr>
              <a:t>body,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indicating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how</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much </a:t>
            </a:r>
            <a:r>
              <a:rPr sz="2000" kern="1200" spc="-20" dirty="0">
                <a:solidFill>
                  <a:prstClr val="black"/>
                </a:solidFill>
                <a:latin typeface="Palatino Linotype"/>
                <a:cs typeface="Palatino Linotype"/>
              </a:rPr>
              <a:t>we</a:t>
            </a:r>
            <a:r>
              <a:rPr sz="2000" kern="1200" spc="5" dirty="0">
                <a:solidFill>
                  <a:prstClr val="black"/>
                </a:solidFill>
                <a:latin typeface="Palatino Linotype"/>
                <a:cs typeface="Palatino Linotype"/>
              </a:rPr>
              <a:t> </a:t>
            </a:r>
            <a:r>
              <a:rPr sz="2000" kern="1200" spc="-15" dirty="0">
                <a:solidFill>
                  <a:prstClr val="black"/>
                </a:solidFill>
                <a:latin typeface="Palatino Linotype"/>
                <a:cs typeface="Palatino Linotype"/>
              </a:rPr>
              <a:t>have</a:t>
            </a:r>
            <a:r>
              <a:rPr sz="2000" kern="1200" dirty="0">
                <a:solidFill>
                  <a:prstClr val="black"/>
                </a:solidFill>
                <a:latin typeface="Palatino Linotype"/>
                <a:cs typeface="Palatino Linotype"/>
              </a:rPr>
              <a:t> seen at</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 </a:t>
            </a:r>
            <a:r>
              <a:rPr sz="2000" kern="1200" spc="-10" dirty="0">
                <a:solidFill>
                  <a:prstClr val="black"/>
                </a:solidFill>
                <a:latin typeface="Palatino Linotype"/>
                <a:cs typeface="Palatino Linotype"/>
              </a:rPr>
              <a:t>given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point</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in</a:t>
            </a:r>
            <a:r>
              <a:rPr sz="2000" kern="1200" spc="-5" dirty="0">
                <a:solidFill>
                  <a:prstClr val="black"/>
                </a:solidFill>
                <a:latin typeface="Palatino Linotype"/>
                <a:cs typeface="Palatino Linotype"/>
              </a:rPr>
              <a:t>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parsing</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process</a:t>
            </a:r>
            <a:endParaRPr sz="2000" kern="1200" dirty="0">
              <a:solidFill>
                <a:prstClr val="black"/>
              </a:solidFill>
              <a:latin typeface="Palatino Linotype"/>
              <a:cs typeface="Palatino Linotype"/>
            </a:endParaRPr>
          </a:p>
          <a:p>
            <a:pPr marL="698500" lvl="1" indent="-228600" rtl="0">
              <a:spcBef>
                <a:spcPts val="1595"/>
              </a:spcBef>
              <a:buFont typeface="Wingdings"/>
              <a:buChar char=""/>
              <a:tabLst>
                <a:tab pos="698500" algn="l"/>
                <a:tab pos="2099945" algn="l"/>
                <a:tab pos="3621404" algn="l"/>
                <a:tab pos="5142865" algn="l"/>
              </a:tabLst>
            </a:pPr>
            <a:r>
              <a:rPr kern="1200" dirty="0">
                <a:solidFill>
                  <a:prstClr val="black"/>
                </a:solidFill>
                <a:latin typeface="Cambria Math"/>
                <a:cs typeface="Cambria Math"/>
              </a:rPr>
              <a:t>𝐴</a:t>
            </a:r>
            <a:r>
              <a:rPr kern="1200" spc="114" dirty="0">
                <a:solidFill>
                  <a:prstClr val="black"/>
                </a:solidFill>
                <a:latin typeface="Cambria Math"/>
                <a:cs typeface="Cambria Math"/>
              </a:rPr>
              <a:t> </a:t>
            </a:r>
            <a:r>
              <a:rPr kern="1200" spc="-95" dirty="0">
                <a:solidFill>
                  <a:prstClr val="black"/>
                </a:solidFill>
                <a:latin typeface="Cambria Math"/>
                <a:cs typeface="Cambria Math"/>
              </a:rPr>
              <a:t>→</a:t>
            </a:r>
            <a:r>
              <a:rPr lang="en-US" altLang="zh-CN" kern="1200" spc="-95" dirty="0">
                <a:solidFill>
                  <a:prstClr val="black"/>
                </a:solidFill>
                <a:latin typeface="Cambria Math"/>
                <a:cs typeface="Cambria Math"/>
              </a:rPr>
              <a:t> ∙</a:t>
            </a:r>
            <a:r>
              <a:rPr kern="1200" spc="5" dirty="0">
                <a:solidFill>
                  <a:prstClr val="black"/>
                </a:solidFill>
                <a:latin typeface="Cambria Math"/>
                <a:cs typeface="Cambria Math"/>
              </a:rPr>
              <a:t> </a:t>
            </a:r>
            <a:r>
              <a:rPr kern="1200" dirty="0">
                <a:solidFill>
                  <a:prstClr val="black"/>
                </a:solidFill>
                <a:latin typeface="Cambria Math"/>
                <a:cs typeface="Cambria Math"/>
              </a:rPr>
              <a:t>𝑋𝑌𝑍	𝐴</a:t>
            </a:r>
            <a:r>
              <a:rPr kern="1200" spc="114" dirty="0">
                <a:solidFill>
                  <a:prstClr val="black"/>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prstClr val="black"/>
                </a:solidFill>
                <a:latin typeface="Cambria Math"/>
                <a:cs typeface="Cambria Math"/>
              </a:rPr>
              <a:t>𝑋</a:t>
            </a:r>
            <a:r>
              <a:rPr kern="1200" spc="45" dirty="0">
                <a:solidFill>
                  <a:prstClr val="black"/>
                </a:solidFill>
                <a:latin typeface="Cambria Math"/>
                <a:cs typeface="Cambria Math"/>
              </a:rPr>
              <a:t> </a:t>
            </a:r>
            <a:r>
              <a:rPr lang="en-US" altLang="zh-CN" kern="1200" spc="-95" dirty="0">
                <a:solidFill>
                  <a:prstClr val="black"/>
                </a:solidFill>
                <a:latin typeface="Cambria Math"/>
                <a:cs typeface="Cambria Math"/>
              </a:rPr>
              <a:t>∙</a:t>
            </a:r>
            <a:r>
              <a:rPr kern="1200" spc="5" dirty="0">
                <a:solidFill>
                  <a:prstClr val="black"/>
                </a:solidFill>
                <a:latin typeface="Cambria Math"/>
                <a:cs typeface="Cambria Math"/>
              </a:rPr>
              <a:t> </a:t>
            </a:r>
            <a:r>
              <a:rPr kern="1200" dirty="0">
                <a:solidFill>
                  <a:prstClr val="black"/>
                </a:solidFill>
                <a:latin typeface="Cambria Math"/>
                <a:cs typeface="Cambria Math"/>
              </a:rPr>
              <a:t>𝑌𝑍	𝐴</a:t>
            </a:r>
            <a:r>
              <a:rPr kern="1200" spc="114" dirty="0">
                <a:solidFill>
                  <a:prstClr val="black"/>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prstClr val="black"/>
                </a:solidFill>
                <a:latin typeface="Cambria Math"/>
                <a:cs typeface="Cambria Math"/>
              </a:rPr>
              <a:t>𝑋𝑌</a:t>
            </a:r>
            <a:r>
              <a:rPr kern="1200" spc="50" dirty="0">
                <a:solidFill>
                  <a:prstClr val="black"/>
                </a:solidFill>
                <a:latin typeface="Cambria Math"/>
                <a:cs typeface="Cambria Math"/>
              </a:rPr>
              <a:t> </a:t>
            </a:r>
            <a:r>
              <a:rPr lang="en-US" altLang="zh-CN" kern="1200" spc="-95" dirty="0">
                <a:solidFill>
                  <a:prstClr val="black"/>
                </a:solidFill>
                <a:latin typeface="Cambria Math"/>
                <a:cs typeface="Cambria Math"/>
              </a:rPr>
              <a:t>∙</a:t>
            </a:r>
            <a:r>
              <a:rPr kern="1200" dirty="0">
                <a:solidFill>
                  <a:prstClr val="black"/>
                </a:solidFill>
                <a:latin typeface="Cambria Math"/>
                <a:cs typeface="Cambria Math"/>
              </a:rPr>
              <a:t>𝑍	𝐴</a:t>
            </a:r>
            <a:r>
              <a:rPr kern="1200" spc="90" dirty="0">
                <a:solidFill>
                  <a:prstClr val="black"/>
                </a:solidFill>
                <a:latin typeface="Cambria Math"/>
                <a:cs typeface="Cambria Math"/>
              </a:rPr>
              <a:t> </a:t>
            </a:r>
            <a:r>
              <a:rPr kern="1200" dirty="0">
                <a:solidFill>
                  <a:prstClr val="black"/>
                </a:solidFill>
                <a:latin typeface="Cambria Math"/>
                <a:cs typeface="Cambria Math"/>
              </a:rPr>
              <a:t>→</a:t>
            </a:r>
            <a:r>
              <a:rPr kern="1200" spc="80" dirty="0">
                <a:solidFill>
                  <a:prstClr val="black"/>
                </a:solidFill>
                <a:latin typeface="Cambria Math"/>
                <a:cs typeface="Cambria Math"/>
              </a:rPr>
              <a:t> </a:t>
            </a:r>
            <a:r>
              <a:rPr kern="1200" dirty="0">
                <a:solidFill>
                  <a:prstClr val="black"/>
                </a:solidFill>
                <a:latin typeface="Cambria Math"/>
                <a:cs typeface="Cambria Math"/>
              </a:rPr>
              <a:t>𝑋𝑌𝑍</a:t>
            </a:r>
            <a:r>
              <a:rPr kern="1200" spc="25" dirty="0">
                <a:solidFill>
                  <a:prstClr val="black"/>
                </a:solidFill>
                <a:latin typeface="Cambria Math"/>
                <a:cs typeface="Cambria Math"/>
              </a:rPr>
              <a:t> </a:t>
            </a:r>
            <a:r>
              <a:rPr lang="en-US" altLang="zh-CN" kern="1200" spc="-95" dirty="0">
                <a:solidFill>
                  <a:prstClr val="black"/>
                </a:solidFill>
                <a:latin typeface="Cambria Math"/>
                <a:cs typeface="Cambria Math"/>
              </a:rPr>
              <a:t>∙</a:t>
            </a:r>
            <a:endParaRPr kern="1200" dirty="0">
              <a:solidFill>
                <a:prstClr val="black"/>
              </a:solidFill>
              <a:latin typeface="Cambria Math"/>
              <a:cs typeface="Cambria Math"/>
            </a:endParaRPr>
          </a:p>
          <a:p>
            <a:pPr marL="698500" lvl="1" indent="-228600" rtl="0">
              <a:spcBef>
                <a:spcPts val="1630"/>
              </a:spcBef>
              <a:buClr>
                <a:srgbClr val="000000"/>
              </a:buClr>
              <a:buFont typeface="Wingdings"/>
              <a:buChar char=""/>
              <a:tabLst>
                <a:tab pos="698500" algn="l"/>
              </a:tabLst>
            </a:pPr>
            <a:r>
              <a:rPr kern="1200" dirty="0">
                <a:solidFill>
                  <a:srgbClr val="0432FF"/>
                </a:solidFill>
                <a:latin typeface="Cambria Math"/>
                <a:cs typeface="Cambria Math"/>
              </a:rPr>
              <a:t>𝐴</a:t>
            </a:r>
            <a:r>
              <a:rPr kern="1200" spc="114" dirty="0">
                <a:solidFill>
                  <a:srgbClr val="0432FF"/>
                </a:solidFill>
                <a:latin typeface="Cambria Math"/>
                <a:cs typeface="Cambria Math"/>
              </a:rPr>
              <a:t> </a:t>
            </a:r>
            <a:r>
              <a:rPr kern="1200" dirty="0">
                <a:solidFill>
                  <a:srgbClr val="0432FF"/>
                </a:solidFill>
                <a:latin typeface="Cambria Math"/>
                <a:cs typeface="Cambria Math"/>
              </a:rPr>
              <a:t>→</a:t>
            </a:r>
            <a:r>
              <a:rPr kern="1200" spc="105" dirty="0">
                <a:solidFill>
                  <a:srgbClr val="0432FF"/>
                </a:solidFill>
                <a:latin typeface="Cambria Math"/>
                <a:cs typeface="Cambria Math"/>
              </a:rPr>
              <a:t> </a:t>
            </a:r>
            <a:r>
              <a:rPr kern="1200" dirty="0">
                <a:solidFill>
                  <a:srgbClr val="0432FF"/>
                </a:solidFill>
                <a:latin typeface="Cambria Math"/>
                <a:cs typeface="Cambria Math"/>
              </a:rPr>
              <a:t>𝑋</a:t>
            </a:r>
            <a:r>
              <a:rPr kern="1200" spc="45" dirty="0">
                <a:solidFill>
                  <a:srgbClr val="0432FF"/>
                </a:solidFill>
                <a:latin typeface="Cambria Math"/>
                <a:cs typeface="Cambria Math"/>
              </a:rPr>
              <a:t> </a:t>
            </a:r>
            <a:r>
              <a:rPr lang="en-US" altLang="zh-CN" kern="1200" spc="-95" dirty="0">
                <a:solidFill>
                  <a:srgbClr val="0070C0"/>
                </a:solidFill>
                <a:latin typeface="Cambria Math"/>
                <a:cs typeface="Cambria Math"/>
              </a:rPr>
              <a:t>∙</a:t>
            </a:r>
            <a:r>
              <a:rPr kern="1200" spc="5" dirty="0">
                <a:solidFill>
                  <a:srgbClr val="0070C0"/>
                </a:solidFill>
                <a:latin typeface="Cambria Math"/>
                <a:cs typeface="Cambria Math"/>
              </a:rPr>
              <a:t> </a:t>
            </a:r>
            <a:r>
              <a:rPr kern="1200" spc="10" dirty="0">
                <a:solidFill>
                  <a:srgbClr val="0432FF"/>
                </a:solidFill>
                <a:latin typeface="Cambria Math"/>
                <a:cs typeface="Cambria Math"/>
              </a:rPr>
              <a:t>𝑌𝑍</a:t>
            </a:r>
            <a:r>
              <a:rPr kern="1200" spc="10" dirty="0">
                <a:solidFill>
                  <a:prstClr val="black"/>
                </a:solidFill>
                <a:latin typeface="Palatino Linotype"/>
                <a:cs typeface="Palatino Linotype"/>
              </a:rPr>
              <a:t>:</a:t>
            </a:r>
            <a:r>
              <a:rPr kern="1200" dirty="0">
                <a:solidFill>
                  <a:prstClr val="black"/>
                </a:solidFill>
                <a:latin typeface="Palatino Linotype"/>
                <a:cs typeface="Palatino Linotype"/>
              </a:rPr>
              <a:t> </a:t>
            </a:r>
            <a:r>
              <a:rPr kern="1200" spc="-20" dirty="0">
                <a:solidFill>
                  <a:prstClr val="black"/>
                </a:solidFill>
                <a:latin typeface="Palatino Linotype"/>
                <a:cs typeface="Palatino Linotype"/>
              </a:rPr>
              <a:t>we</a:t>
            </a:r>
            <a:r>
              <a:rPr kern="1200" dirty="0">
                <a:solidFill>
                  <a:prstClr val="black"/>
                </a:solidFill>
                <a:latin typeface="Palatino Linotype"/>
                <a:cs typeface="Palatino Linotype"/>
              </a:rPr>
              <a:t> </a:t>
            </a:r>
            <a:r>
              <a:rPr kern="1200" spc="-10" dirty="0">
                <a:solidFill>
                  <a:prstClr val="black"/>
                </a:solidFill>
                <a:latin typeface="Palatino Linotype"/>
                <a:cs typeface="Palatino Linotype"/>
              </a:rPr>
              <a:t>have</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just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seen</a:t>
            </a:r>
            <a:r>
              <a:rPr kern="1200" dirty="0">
                <a:solidFill>
                  <a:prstClr val="black"/>
                </a:solidFill>
                <a:latin typeface="Palatino Linotype"/>
                <a:cs typeface="Palatino Linotype"/>
              </a:rPr>
              <a:t> on the input a </a:t>
            </a:r>
            <a:r>
              <a:rPr kern="1200" spc="-5" dirty="0">
                <a:solidFill>
                  <a:prstClr val="black"/>
                </a:solidFill>
                <a:latin typeface="Palatino Linotype"/>
                <a:cs typeface="Palatino Linotype"/>
              </a:rPr>
              <a:t>string </a:t>
            </a:r>
            <a:r>
              <a:rPr kern="1200" spc="-10" dirty="0">
                <a:solidFill>
                  <a:prstClr val="black"/>
                </a:solidFill>
                <a:latin typeface="Palatino Linotype"/>
                <a:cs typeface="Palatino Linotype"/>
              </a:rPr>
              <a:t>derivable</a:t>
            </a:r>
            <a:r>
              <a:rPr kern="1200" dirty="0">
                <a:solidFill>
                  <a:prstClr val="black"/>
                </a:solidFill>
                <a:latin typeface="Palatino Linotype"/>
                <a:cs typeface="Palatino Linotype"/>
              </a:rPr>
              <a:t> from </a:t>
            </a:r>
            <a:r>
              <a:rPr kern="1200" dirty="0">
                <a:solidFill>
                  <a:srgbClr val="0432FF"/>
                </a:solidFill>
                <a:latin typeface="Cambria Math"/>
                <a:cs typeface="Cambria Math"/>
              </a:rPr>
              <a:t>𝑋</a:t>
            </a:r>
            <a:endParaRPr kern="1200" dirty="0">
              <a:solidFill>
                <a:prstClr val="black"/>
              </a:solidFill>
              <a:latin typeface="Cambria Math"/>
              <a:cs typeface="Cambria Math"/>
            </a:endParaRPr>
          </a:p>
          <a:p>
            <a:pPr marL="698500" rtl="0">
              <a:spcBef>
                <a:spcPts val="455"/>
              </a:spcBef>
            </a:pPr>
            <a:r>
              <a:rPr kern="1200" dirty="0">
                <a:solidFill>
                  <a:prstClr val="black"/>
                </a:solidFill>
                <a:latin typeface="Palatino Linotype"/>
                <a:cs typeface="Palatino Linotype"/>
              </a:rPr>
              <a:t>and</a:t>
            </a:r>
            <a:r>
              <a:rPr kern="1200" spc="-5" dirty="0">
                <a:solidFill>
                  <a:prstClr val="black"/>
                </a:solidFill>
                <a:latin typeface="Palatino Linotype"/>
                <a:cs typeface="Palatino Linotype"/>
              </a:rPr>
              <a:t> </a:t>
            </a:r>
            <a:r>
              <a:rPr kern="1200" spc="-20" dirty="0">
                <a:solidFill>
                  <a:prstClr val="black"/>
                </a:solidFill>
                <a:latin typeface="Palatino Linotype"/>
                <a:cs typeface="Palatino Linotype"/>
              </a:rPr>
              <a:t>we</a:t>
            </a:r>
            <a:r>
              <a:rPr kern="1200" dirty="0">
                <a:solidFill>
                  <a:prstClr val="black"/>
                </a:solidFill>
                <a:latin typeface="Palatino Linotype"/>
                <a:cs typeface="Palatino Linotype"/>
              </a:rPr>
              <a:t> hope to </a:t>
            </a:r>
            <a:r>
              <a:rPr kern="1200" spc="-5" dirty="0">
                <a:solidFill>
                  <a:prstClr val="black"/>
                </a:solidFill>
                <a:latin typeface="Palatino Linotype"/>
                <a:cs typeface="Palatino Linotype"/>
              </a:rPr>
              <a:t>see</a:t>
            </a:r>
            <a:r>
              <a:rPr kern="1200" dirty="0">
                <a:solidFill>
                  <a:prstClr val="black"/>
                </a:solidFill>
                <a:latin typeface="Palatino Linotype"/>
                <a:cs typeface="Palatino Linotype"/>
              </a:rPr>
              <a:t> a </a:t>
            </a:r>
            <a:r>
              <a:rPr kern="1200" spc="-5" dirty="0">
                <a:solidFill>
                  <a:prstClr val="black"/>
                </a:solidFill>
                <a:latin typeface="Palatino Linotype"/>
                <a:cs typeface="Palatino Linotype"/>
              </a:rPr>
              <a:t>string </a:t>
            </a:r>
            <a:r>
              <a:rPr kern="1200" spc="-10" dirty="0">
                <a:solidFill>
                  <a:prstClr val="black"/>
                </a:solidFill>
                <a:latin typeface="Palatino Linotype"/>
                <a:cs typeface="Palatino Linotype"/>
              </a:rPr>
              <a:t>derivable</a:t>
            </a:r>
            <a:r>
              <a:rPr kern="1200" dirty="0">
                <a:solidFill>
                  <a:prstClr val="black"/>
                </a:solidFill>
                <a:latin typeface="Palatino Linotype"/>
                <a:cs typeface="Palatino Linotype"/>
              </a:rPr>
              <a:t> from</a:t>
            </a:r>
            <a:r>
              <a:rPr kern="1200" spc="-5" dirty="0">
                <a:solidFill>
                  <a:prstClr val="black"/>
                </a:solidFill>
                <a:latin typeface="Palatino Linotype"/>
                <a:cs typeface="Palatino Linotype"/>
              </a:rPr>
              <a:t> </a:t>
            </a:r>
            <a:r>
              <a:rPr kern="1200" dirty="0">
                <a:solidFill>
                  <a:srgbClr val="0432FF"/>
                </a:solidFill>
                <a:latin typeface="Cambria Math"/>
                <a:cs typeface="Cambria Math"/>
              </a:rPr>
              <a:t>𝑌𝑍</a:t>
            </a:r>
            <a:r>
              <a:rPr kern="1200" spc="90" dirty="0">
                <a:solidFill>
                  <a:srgbClr val="0432FF"/>
                </a:solidFill>
                <a:latin typeface="Cambria Math"/>
                <a:cs typeface="Cambria Math"/>
              </a:rPr>
              <a:t> </a:t>
            </a:r>
            <a:r>
              <a:rPr kern="1200" spc="-5" dirty="0">
                <a:solidFill>
                  <a:prstClr val="black"/>
                </a:solidFill>
                <a:latin typeface="Palatino Linotype"/>
                <a:cs typeface="Palatino Linotype"/>
              </a:rPr>
              <a:t>next</a:t>
            </a:r>
            <a:endParaRPr kern="1200" dirty="0">
              <a:solidFill>
                <a:prstClr val="black"/>
              </a:solidFill>
              <a:latin typeface="Palatino Linotype"/>
              <a:cs typeface="Palatino Linotype"/>
            </a:endParaRPr>
          </a:p>
          <a:p>
            <a:pPr rtl="0"/>
            <a:endParaRPr sz="1650" kern="1200" dirty="0">
              <a:solidFill>
                <a:prstClr val="black"/>
              </a:solidFill>
              <a:latin typeface="Palatino Linotype"/>
              <a:cs typeface="Palatino Linotype"/>
            </a:endParaRPr>
          </a:p>
          <a:p>
            <a:pPr marL="243204" indent="-230504" rtl="0">
              <a:buClr>
                <a:srgbClr val="000000"/>
              </a:buClr>
              <a:buFont typeface="Arial MT"/>
              <a:buChar char="•"/>
              <a:tabLst>
                <a:tab pos="242570" algn="l"/>
                <a:tab pos="243204" algn="l"/>
              </a:tabLst>
            </a:pPr>
            <a:r>
              <a:rPr sz="2000" b="1" kern="1200" spc="-5" dirty="0">
                <a:solidFill>
                  <a:srgbClr val="FF0000"/>
                </a:solidFill>
                <a:latin typeface="Palatino Linotype"/>
                <a:cs typeface="Palatino Linotype"/>
              </a:rPr>
              <a:t>States:</a:t>
            </a:r>
            <a:r>
              <a:rPr sz="2000" b="1" kern="1200" dirty="0">
                <a:solidFill>
                  <a:srgbClr val="FF0000"/>
                </a:solidFill>
                <a:latin typeface="Palatino Linotype"/>
                <a:cs typeface="Palatino Linotype"/>
              </a:rPr>
              <a:t> </a:t>
            </a:r>
            <a:r>
              <a:rPr sz="2000" kern="1200" spc="-5" dirty="0">
                <a:solidFill>
                  <a:prstClr val="black"/>
                </a:solidFill>
                <a:latin typeface="Palatino Linotype"/>
                <a:cs typeface="Palatino Linotype"/>
              </a:rPr>
              <a:t>sets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LR(0) items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t>
            </a:r>
            <a:r>
              <a:rPr sz="2000" kern="1200" spc="-5" dirty="0">
                <a:solidFill>
                  <a:srgbClr val="FF0000"/>
                </a:solidFill>
                <a:latin typeface="SimSun"/>
                <a:cs typeface="SimSun"/>
              </a:rPr>
              <a:t>LR(0)</a:t>
            </a:r>
            <a:r>
              <a:rPr sz="2000" kern="1200" dirty="0">
                <a:solidFill>
                  <a:srgbClr val="FF0000"/>
                </a:solidFill>
                <a:latin typeface="SimSun"/>
                <a:cs typeface="SimSun"/>
              </a:rPr>
              <a:t>项集</a:t>
            </a:r>
            <a:r>
              <a:rPr sz="2000" kern="1200" dirty="0">
                <a:solidFill>
                  <a:prstClr val="black"/>
                </a:solidFill>
                <a:latin typeface="Palatino Linotype"/>
                <a:cs typeface="Palatino Linotype"/>
              </a:rPr>
              <a:t>)</a:t>
            </a:r>
          </a:p>
          <a:p>
            <a:pPr rtl="0">
              <a:spcBef>
                <a:spcPts val="65"/>
              </a:spcBef>
            </a:pPr>
            <a:endParaRPr sz="2050" kern="1200" dirty="0">
              <a:solidFill>
                <a:prstClr val="black"/>
              </a:solidFill>
              <a:latin typeface="Palatino Linotype"/>
              <a:cs typeface="Palatino Linotype"/>
            </a:endParaRPr>
          </a:p>
          <a:p>
            <a:pPr marL="12700" rtl="0"/>
            <a:r>
              <a:rPr sz="1400" kern="1200" spc="-5" dirty="0">
                <a:solidFill>
                  <a:schemeClr val="bg2">
                    <a:lumMod val="50000"/>
                  </a:schemeClr>
                </a:solidFill>
                <a:latin typeface="Palatino Linotype"/>
                <a:cs typeface="Palatino Linotype"/>
              </a:rPr>
              <a:t>The</a:t>
            </a:r>
            <a:r>
              <a:rPr sz="1400" kern="120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production </a:t>
            </a:r>
            <a:r>
              <a:rPr sz="1400" kern="1200" dirty="0">
                <a:solidFill>
                  <a:schemeClr val="bg2">
                    <a:lumMod val="50000"/>
                  </a:schemeClr>
                </a:solidFill>
                <a:latin typeface="Cambria Math"/>
                <a:cs typeface="Cambria Math"/>
              </a:rPr>
              <a:t>𝐴</a:t>
            </a:r>
            <a:r>
              <a:rPr sz="1400" kern="1200" spc="95" dirty="0">
                <a:solidFill>
                  <a:schemeClr val="bg2">
                    <a:lumMod val="50000"/>
                  </a:schemeClr>
                </a:solidFill>
                <a:latin typeface="Cambria Math"/>
                <a:cs typeface="Cambria Math"/>
              </a:rPr>
              <a:t> </a:t>
            </a:r>
            <a:r>
              <a:rPr sz="1400" kern="1200" dirty="0">
                <a:solidFill>
                  <a:schemeClr val="bg2">
                    <a:lumMod val="50000"/>
                  </a:schemeClr>
                </a:solidFill>
                <a:latin typeface="Cambria Math"/>
                <a:cs typeface="Cambria Math"/>
              </a:rPr>
              <a:t>→</a:t>
            </a:r>
            <a:r>
              <a:rPr sz="1400" kern="1200" spc="85" dirty="0">
                <a:solidFill>
                  <a:schemeClr val="bg2">
                    <a:lumMod val="50000"/>
                  </a:schemeClr>
                </a:solidFill>
                <a:latin typeface="Cambria Math"/>
                <a:cs typeface="Cambria Math"/>
              </a:rPr>
              <a:t> </a:t>
            </a:r>
            <a:r>
              <a:rPr sz="1400" kern="1200" dirty="0">
                <a:solidFill>
                  <a:schemeClr val="bg2">
                    <a:lumMod val="50000"/>
                  </a:schemeClr>
                </a:solidFill>
                <a:latin typeface="Cambria Math"/>
                <a:cs typeface="Cambria Math"/>
              </a:rPr>
              <a:t>𝜖</a:t>
            </a:r>
            <a:r>
              <a:rPr sz="1400" kern="1200" spc="80" dirty="0">
                <a:solidFill>
                  <a:schemeClr val="bg2">
                    <a:lumMod val="50000"/>
                  </a:schemeClr>
                </a:solidFill>
                <a:latin typeface="Cambria Math"/>
                <a:cs typeface="Cambria Math"/>
              </a:rPr>
              <a:t> </a:t>
            </a:r>
            <a:r>
              <a:rPr sz="1400" kern="1200" spc="-5" dirty="0">
                <a:solidFill>
                  <a:schemeClr val="bg2">
                    <a:lumMod val="50000"/>
                  </a:schemeClr>
                </a:solidFill>
                <a:latin typeface="Palatino Linotype"/>
                <a:cs typeface="Palatino Linotype"/>
              </a:rPr>
              <a:t>generates</a:t>
            </a:r>
            <a:r>
              <a:rPr sz="1400" kern="1200" spc="-1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only</a:t>
            </a:r>
            <a:r>
              <a:rPr sz="1400" kern="120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one</a:t>
            </a:r>
            <a:r>
              <a:rPr sz="1400" kern="1200" dirty="0">
                <a:solidFill>
                  <a:schemeClr val="bg2">
                    <a:lumMod val="50000"/>
                  </a:schemeClr>
                </a:solidFill>
                <a:latin typeface="Palatino Linotype"/>
                <a:cs typeface="Palatino Linotype"/>
              </a:rPr>
              <a:t> item </a:t>
            </a:r>
            <a:r>
              <a:rPr sz="1400" kern="1200" dirty="0">
                <a:solidFill>
                  <a:schemeClr val="bg2">
                    <a:lumMod val="50000"/>
                  </a:schemeClr>
                </a:solidFill>
                <a:latin typeface="Cambria Math"/>
                <a:cs typeface="Cambria Math"/>
              </a:rPr>
              <a:t>𝐴</a:t>
            </a:r>
            <a:r>
              <a:rPr lang="en-US" sz="1400" kern="1200" spc="95" dirty="0">
                <a:solidFill>
                  <a:schemeClr val="bg2">
                    <a:lumMod val="50000"/>
                  </a:schemeClr>
                </a:solidFill>
                <a:latin typeface="Cambria Math"/>
                <a:cs typeface="Cambria Math"/>
              </a:rPr>
              <a:t> </a:t>
            </a:r>
            <a:r>
              <a:rPr lang="zh-CN" altLang="en-US" sz="1400" kern="1200" dirty="0">
                <a:solidFill>
                  <a:schemeClr val="bg2">
                    <a:lumMod val="50000"/>
                  </a:schemeClr>
                </a:solidFill>
                <a:latin typeface="Cambria Math"/>
                <a:cs typeface="Cambria Math"/>
              </a:rPr>
              <a:t>→</a:t>
            </a:r>
            <a:r>
              <a:rPr lang="zh-CN" altLang="en-US" sz="1400" kern="1200" spc="85" dirty="0">
                <a:solidFill>
                  <a:schemeClr val="bg2">
                    <a:lumMod val="50000"/>
                  </a:schemeClr>
                </a:solidFill>
                <a:latin typeface="Cambria Math"/>
                <a:cs typeface="Cambria Math"/>
              </a:rPr>
              <a:t> </a:t>
            </a:r>
            <a:r>
              <a:rPr lang="en-US" altLang="zh-CN" sz="1400" kern="1200" spc="85" dirty="0">
                <a:solidFill>
                  <a:schemeClr val="bg2">
                    <a:lumMod val="50000"/>
                  </a:schemeClr>
                </a:solidFill>
                <a:latin typeface="Cambria Math"/>
                <a:cs typeface="Cambria Math"/>
              </a:rPr>
              <a:t>·</a:t>
            </a:r>
            <a:r>
              <a:rPr lang="zh-CN" altLang="en-US" sz="1400" kern="1200" spc="80" dirty="0">
                <a:solidFill>
                  <a:schemeClr val="bg2">
                    <a:lumMod val="50000"/>
                  </a:schemeClr>
                </a:solidFill>
                <a:latin typeface="Cambria Math"/>
                <a:cs typeface="Cambria Math"/>
              </a:rPr>
              <a:t> </a:t>
            </a:r>
            <a:endParaRPr sz="1400" kern="1200" dirty="0">
              <a:solidFill>
                <a:schemeClr val="bg2">
                  <a:lumMod val="50000"/>
                </a:schemeClr>
              </a:solidFill>
              <a:latin typeface="Cambria Math"/>
              <a:cs typeface="Cambria Math"/>
            </a:endParaRPr>
          </a:p>
        </p:txBody>
      </p:sp>
      <p:sp>
        <p:nvSpPr>
          <p:cNvPr id="3" name="日期占位符 2"/>
          <p:cNvSpPr>
            <a:spLocks noGrp="1"/>
          </p:cNvSpPr>
          <p:nvPr>
            <p:ph type="dt" sz="half" idx="10"/>
          </p:nvPr>
        </p:nvSpPr>
        <p:spPr bwMode="auto"/>
        <p:txBody>
          <a:bodyPr/>
          <a:lstStyle/>
          <a:p>
            <a:pPr>
              <a:defRPr/>
            </a:pPr>
            <a:r>
              <a:rPr lang="en-US" altLang="zh-CN"/>
              <a:t>Fall 2024</a:t>
            </a:r>
            <a:endParaRPr dirty="0"/>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105</a:t>
            </a:fld>
            <a:endParaRPr lang="en-US"/>
          </a:p>
        </p:txBody>
      </p:sp>
      <p:sp>
        <p:nvSpPr>
          <p:cNvPr id="7" name="object 2">
            <a:extLst>
              <a:ext uri="{FF2B5EF4-FFF2-40B4-BE49-F238E27FC236}">
                <a16:creationId xmlns:a16="http://schemas.microsoft.com/office/drawing/2014/main" id="{04D8CCCE-C8FC-2200-BF14-6580609CC3FE}"/>
              </a:ext>
            </a:extLst>
          </p:cNvPr>
          <p:cNvSpPr txBox="1">
            <a:spLocks/>
          </p:cNvSpPr>
          <p:nvPr/>
        </p:nvSpPr>
        <p:spPr>
          <a:xfrm>
            <a:off x="707390" y="476672"/>
            <a:ext cx="497014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LR(0)</a:t>
            </a:r>
            <a:r>
              <a:rPr kumimoji="0" lang="en-US" sz="4000" b="1" i="0" u="none" strike="noStrike" kern="0" cap="none" spc="-3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Items</a:t>
            </a:r>
            <a:r>
              <a:rPr kumimoji="0" lang="en-US" sz="4000" b="1" i="0" u="none" strike="noStrike" kern="0" cap="none" spc="-3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0" normalizeH="0" baseline="0" noProof="0" dirty="0">
                <a:ln>
                  <a:noFill/>
                </a:ln>
                <a:solidFill>
                  <a:sysClr val="windowText" lastClr="000000"/>
                </a:solidFill>
                <a:effectLst/>
                <a:uLnTx/>
                <a:uFillTx/>
                <a:latin typeface="Palatino Linotype"/>
                <a:ea typeface="+mj-ea"/>
              </a:rPr>
              <a:t>(</a:t>
            </a:r>
            <a:r>
              <a:rPr kumimoji="0" lang="en-US" sz="3900" b="0" i="0" u="none" strike="noStrike" kern="0" cap="none" spc="50" normalizeH="0" baseline="0" noProof="0" dirty="0">
                <a:ln>
                  <a:noFill/>
                </a:ln>
                <a:solidFill>
                  <a:sysClr val="windowText" lastClr="000000"/>
                </a:solidFill>
                <a:effectLst/>
                <a:uLnTx/>
                <a:uFillTx/>
                <a:latin typeface="SimSun"/>
                <a:ea typeface="+mj-ea"/>
                <a:cs typeface="SimSun"/>
              </a:rPr>
              <a:t>LR(0)</a:t>
            </a:r>
            <a:r>
              <a:rPr kumimoji="0" lang="zh-CN" altLang="en-US" sz="3900" b="0" i="0" u="none" strike="noStrike" kern="0" cap="none" spc="110" normalizeH="0" baseline="0" noProof="0" dirty="0">
                <a:ln>
                  <a:noFill/>
                </a:ln>
                <a:solidFill>
                  <a:sysClr val="windowText" lastClr="000000"/>
                </a:solidFill>
                <a:effectLst/>
                <a:uLnTx/>
                <a:uFillTx/>
                <a:latin typeface="SimSun"/>
                <a:ea typeface="宋体" panose="02010600030101010101" pitchFamily="2" charset="-122"/>
                <a:cs typeface="SimSun"/>
              </a:rPr>
              <a:t>项</a:t>
            </a:r>
            <a:r>
              <a:rPr kumimoji="0" lang="en-US" altLang="zh-CN" sz="4000" b="1" i="0" u="none" strike="noStrike" kern="0" cap="none" spc="0" normalizeH="0" baseline="0" noProof="0" dirty="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dirty="0">
              <a:ln>
                <a:noFill/>
              </a:ln>
              <a:solidFill>
                <a:sysClr val="windowText" lastClr="000000"/>
              </a:solidFill>
              <a:effectLst/>
              <a:uLnTx/>
              <a:uFillTx/>
              <a:latin typeface="SimSun"/>
              <a:ea typeface="宋体" panose="02010600030101010101" pitchFamily="2" charset="-122"/>
              <a:cs typeface="SimSun"/>
            </a:endParaRPr>
          </a:p>
        </p:txBody>
      </p:sp>
    </p:spTree>
    <p:extLst>
      <p:ext uri="{BB962C8B-B14F-4D97-AF65-F5344CB8AC3E}">
        <p14:creationId xmlns:p14="http://schemas.microsoft.com/office/powerpoint/2010/main" val="6851354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106</a:t>
            </a:fld>
            <a:endParaRPr lang="en-US"/>
          </a:p>
        </p:txBody>
      </p:sp>
      <p:sp>
        <p:nvSpPr>
          <p:cNvPr id="7" name="object 2">
            <a:extLst>
              <a:ext uri="{FF2B5EF4-FFF2-40B4-BE49-F238E27FC236}">
                <a16:creationId xmlns:a16="http://schemas.microsoft.com/office/drawing/2014/main" id="{7539A4D6-04F7-DDD0-85A3-CCBB7AA7CA67}"/>
              </a:ext>
            </a:extLst>
          </p:cNvPr>
          <p:cNvSpPr txBox="1">
            <a:spLocks/>
          </p:cNvSpPr>
          <p:nvPr/>
        </p:nvSpPr>
        <p:spPr>
          <a:xfrm>
            <a:off x="707390" y="524763"/>
            <a:ext cx="628586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Canonical</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LR(0)</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Collection</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8DF9107E-A2AA-7ED2-598B-2C1AE96021F9}"/>
              </a:ext>
            </a:extLst>
          </p:cNvPr>
          <p:cNvSpPr txBox="1"/>
          <p:nvPr/>
        </p:nvSpPr>
        <p:spPr>
          <a:xfrm>
            <a:off x="707390" y="1600708"/>
            <a:ext cx="7487920" cy="4315605"/>
          </a:xfrm>
          <a:prstGeom prst="rect">
            <a:avLst/>
          </a:prstGeom>
        </p:spPr>
        <p:txBody>
          <a:bodyPr vert="horz" wrap="square" lIns="0" tIns="6350" rIns="0" bIns="0" rtlCol="0">
            <a:spAutoFit/>
          </a:bodyPr>
          <a:lstStyle/>
          <a:p>
            <a:pPr marL="242570" marR="58419" indent="-230504" rtl="0">
              <a:lnSpc>
                <a:spcPct val="119100"/>
              </a:lnSpc>
              <a:spcBef>
                <a:spcPts val="50"/>
              </a:spcBef>
              <a:buFont typeface="Arial MT"/>
              <a:buChar char="•"/>
              <a:tabLst>
                <a:tab pos="242570" algn="l"/>
                <a:tab pos="243204" algn="l"/>
              </a:tabLst>
            </a:pPr>
            <a:r>
              <a:rPr lang="en-US" sz="2200" kern="1200" spc="-5" dirty="0">
                <a:solidFill>
                  <a:prstClr val="black"/>
                </a:solidFill>
                <a:latin typeface="Palatino Linotype"/>
                <a:cs typeface="Palatino Linotype"/>
              </a:rPr>
              <a:t>One collection</a:t>
            </a:r>
            <a:r>
              <a:rPr lang="en-US" sz="2200" kern="1200" spc="-1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of</a:t>
            </a:r>
            <a:r>
              <a:rPr lang="en-US" sz="2200" kern="120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sets</a:t>
            </a:r>
            <a:r>
              <a:rPr lang="en-US" sz="2200" kern="1200" spc="5"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of</a:t>
            </a:r>
            <a:r>
              <a:rPr lang="en-US" sz="2200" kern="1200" dirty="0">
                <a:solidFill>
                  <a:prstClr val="black"/>
                </a:solidFill>
                <a:latin typeface="Palatino Linotype"/>
                <a:cs typeface="Palatino Linotype"/>
              </a:rPr>
              <a:t> LR(0) </a:t>
            </a:r>
            <a:r>
              <a:rPr lang="en-US" sz="2200" kern="1200" spc="-5" dirty="0">
                <a:solidFill>
                  <a:prstClr val="black"/>
                </a:solidFill>
                <a:latin typeface="Palatino Linotype"/>
                <a:cs typeface="Palatino Linotype"/>
              </a:rPr>
              <a:t>items,</a:t>
            </a:r>
            <a:r>
              <a:rPr lang="en-US" sz="2200" kern="120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called</a:t>
            </a:r>
            <a:r>
              <a:rPr lang="en-US" sz="2200" kern="1200" spc="5"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the </a:t>
            </a:r>
            <a:r>
              <a:rPr lang="en-US" sz="2200" b="1" i="1" kern="1200" spc="-5" dirty="0">
                <a:solidFill>
                  <a:srgbClr val="FF0000"/>
                </a:solidFill>
                <a:latin typeface="Palatino Linotype"/>
                <a:cs typeface="Palatino Linotype"/>
              </a:rPr>
              <a:t>canonical </a:t>
            </a:r>
            <a:r>
              <a:rPr lang="en-US" sz="2200" b="1" i="1" kern="1200" dirty="0">
                <a:solidFill>
                  <a:srgbClr val="FF0000"/>
                </a:solidFill>
                <a:latin typeface="Palatino Linotype"/>
                <a:cs typeface="Palatino Linotype"/>
              </a:rPr>
              <a:t> </a:t>
            </a:r>
            <a:r>
              <a:rPr lang="en-US" sz="2200" b="1" kern="1200" dirty="0">
                <a:solidFill>
                  <a:srgbClr val="FF0000"/>
                </a:solidFill>
                <a:latin typeface="Palatino Linotype"/>
                <a:cs typeface="Palatino Linotype"/>
              </a:rPr>
              <a:t>LR(0) </a:t>
            </a:r>
            <a:r>
              <a:rPr lang="en-US" sz="2200" b="1" kern="1200" spc="-5" dirty="0">
                <a:solidFill>
                  <a:srgbClr val="FF0000"/>
                </a:solidFill>
                <a:latin typeface="Palatino Linotype"/>
                <a:cs typeface="Palatino Linotype"/>
              </a:rPr>
              <a:t>collection</a:t>
            </a:r>
            <a:r>
              <a:rPr lang="en-US" sz="2200" b="1" kern="1200" spc="5" dirty="0">
                <a:solidFill>
                  <a:srgbClr val="FF0000"/>
                </a:solidFill>
                <a:latin typeface="Palatino Linotype"/>
                <a:cs typeface="Palatino Linotype"/>
              </a:rPr>
              <a:t> </a:t>
            </a:r>
            <a:r>
              <a:rPr lang="en-US" sz="2200" kern="1200" spc="25" dirty="0">
                <a:solidFill>
                  <a:prstClr val="black"/>
                </a:solidFill>
                <a:latin typeface="Palatino Linotype"/>
                <a:cs typeface="Palatino Linotype"/>
              </a:rPr>
              <a:t>(</a:t>
            </a:r>
            <a:r>
              <a:rPr lang="zh-CN" altLang="en-US" sz="3225" kern="1200" spc="37" baseline="1291" dirty="0">
                <a:solidFill>
                  <a:srgbClr val="FF0000"/>
                </a:solidFill>
                <a:latin typeface="SimSun"/>
                <a:cs typeface="SimSun"/>
              </a:rPr>
              <a:t>规范</a:t>
            </a:r>
            <a:r>
              <a:rPr lang="en-US" altLang="zh-CN" sz="3225" kern="1200" spc="37" baseline="1291" dirty="0">
                <a:solidFill>
                  <a:srgbClr val="FF0000"/>
                </a:solidFill>
                <a:latin typeface="SimSun"/>
                <a:cs typeface="SimSun"/>
              </a:rPr>
              <a:t>L</a:t>
            </a:r>
            <a:r>
              <a:rPr lang="en-US" sz="3225" kern="1200" spc="37" baseline="1291" dirty="0">
                <a:solidFill>
                  <a:srgbClr val="FF0000"/>
                </a:solidFill>
                <a:latin typeface="SimSun"/>
                <a:cs typeface="SimSun"/>
              </a:rPr>
              <a:t>R(0)</a:t>
            </a:r>
            <a:r>
              <a:rPr lang="zh-CN" altLang="en-US" sz="3225" kern="1200" spc="89" baseline="1291" dirty="0">
                <a:solidFill>
                  <a:srgbClr val="FF0000"/>
                </a:solidFill>
                <a:latin typeface="SimSun"/>
                <a:cs typeface="SimSun"/>
              </a:rPr>
              <a:t>项集族</a:t>
            </a:r>
            <a:r>
              <a:rPr lang="en-US" altLang="zh-CN" sz="2200" kern="1200" dirty="0">
                <a:solidFill>
                  <a:prstClr val="black"/>
                </a:solidFill>
                <a:latin typeface="Palatino Linotype"/>
                <a:cs typeface="Palatino Linotype"/>
              </a:rPr>
              <a:t>),</a:t>
            </a:r>
            <a:r>
              <a:rPr lang="zh-CN" altLang="en-US" sz="2200" kern="1200" spc="5"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provides</a:t>
            </a:r>
            <a:r>
              <a:rPr lang="en-US" sz="2200" kern="1200" spc="5"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the</a:t>
            </a:r>
            <a:r>
              <a:rPr lang="en-US" sz="2200" kern="120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basis</a:t>
            </a:r>
            <a:r>
              <a:rPr lang="en-US" sz="2200" kern="1200" spc="5"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for </a:t>
            </a:r>
            <a:r>
              <a:rPr lang="en-US" sz="2200" kern="1200" spc="-535"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constructing</a:t>
            </a:r>
            <a:r>
              <a:rPr lang="en-US" sz="2200" kern="1200" dirty="0">
                <a:solidFill>
                  <a:prstClr val="black"/>
                </a:solidFill>
                <a:latin typeface="Palatino Linotype"/>
                <a:cs typeface="Palatino Linotype"/>
              </a:rPr>
              <a:t> a </a:t>
            </a:r>
            <a:r>
              <a:rPr lang="en-US" sz="2200" kern="1200" spc="-50" dirty="0">
                <a:solidFill>
                  <a:prstClr val="black"/>
                </a:solidFill>
                <a:latin typeface="Palatino Linotype"/>
                <a:cs typeface="Palatino Linotype"/>
              </a:rPr>
              <a:t>DFA</a:t>
            </a:r>
            <a:r>
              <a:rPr lang="en-US" sz="2200" kern="1200" spc="-12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that is</a:t>
            </a:r>
            <a:r>
              <a:rPr lang="en-US" sz="2200" kern="1200" spc="1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used</a:t>
            </a:r>
            <a:r>
              <a:rPr lang="en-US" sz="2200" kern="1200" spc="5"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to make</a:t>
            </a:r>
            <a:r>
              <a:rPr lang="en-US" sz="2200" kern="120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parsing</a:t>
            </a:r>
            <a:r>
              <a:rPr lang="en-US" sz="2200" kern="120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decisions</a:t>
            </a:r>
            <a:endParaRPr lang="en-US" sz="2200" kern="1200" dirty="0">
              <a:solidFill>
                <a:prstClr val="black"/>
              </a:solidFill>
              <a:latin typeface="Palatino Linotype"/>
              <a:cs typeface="Palatino Linotype"/>
            </a:endParaRPr>
          </a:p>
          <a:p>
            <a:pPr rtl="0">
              <a:spcBef>
                <a:spcPts val="15"/>
              </a:spcBef>
              <a:buFont typeface="Arial MT"/>
              <a:buChar char="•"/>
            </a:pPr>
            <a:endParaRPr lang="en-US" sz="2300" kern="1200" dirty="0">
              <a:solidFill>
                <a:prstClr val="black"/>
              </a:solidFill>
              <a:latin typeface="Palatino Linotype"/>
              <a:cs typeface="Palatino Linotype"/>
            </a:endParaRPr>
          </a:p>
          <a:p>
            <a:pPr marL="242570" marR="132080" indent="-230504" rtl="0">
              <a:lnSpc>
                <a:spcPct val="117300"/>
              </a:lnSpc>
              <a:buFont typeface="Arial MT"/>
              <a:buChar char="•"/>
              <a:tabLst>
                <a:tab pos="242570" algn="l"/>
                <a:tab pos="243204" algn="l"/>
              </a:tabLst>
            </a:pPr>
            <a:r>
              <a:rPr lang="en-US" sz="2200" kern="1200" spc="-80" dirty="0">
                <a:solidFill>
                  <a:prstClr val="black"/>
                </a:solidFill>
                <a:latin typeface="Palatino Linotype"/>
                <a:cs typeface="Palatino Linotype"/>
              </a:rPr>
              <a:t>To</a:t>
            </a:r>
            <a:r>
              <a:rPr lang="en-US" sz="2200" kern="1200" spc="-1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construct canonical</a:t>
            </a:r>
            <a:r>
              <a:rPr lang="en-US" sz="2200" kern="1200" spc="-10" dirty="0">
                <a:solidFill>
                  <a:prstClr val="black"/>
                </a:solidFill>
                <a:latin typeface="Palatino Linotype"/>
                <a:cs typeface="Palatino Linotype"/>
              </a:rPr>
              <a:t> </a:t>
            </a:r>
            <a:r>
              <a:rPr lang="en-US" sz="2200" kern="1200" dirty="0">
                <a:solidFill>
                  <a:prstClr val="black"/>
                </a:solidFill>
                <a:latin typeface="Palatino Linotype"/>
                <a:cs typeface="Palatino Linotype"/>
              </a:rPr>
              <a:t>LR(0) </a:t>
            </a:r>
            <a:r>
              <a:rPr lang="en-US" sz="2200" kern="1200" spc="-5" dirty="0">
                <a:solidFill>
                  <a:prstClr val="black"/>
                </a:solidFill>
                <a:latin typeface="Palatino Linotype"/>
                <a:cs typeface="Palatino Linotype"/>
              </a:rPr>
              <a:t>collection</a:t>
            </a:r>
            <a:r>
              <a:rPr lang="en-US" sz="2200" kern="1200" spc="-1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for</a:t>
            </a:r>
            <a:r>
              <a:rPr lang="en-US" sz="2200" kern="1200" dirty="0">
                <a:solidFill>
                  <a:prstClr val="black"/>
                </a:solidFill>
                <a:latin typeface="Palatino Linotype"/>
                <a:cs typeface="Palatino Linotype"/>
              </a:rPr>
              <a:t> a </a:t>
            </a:r>
            <a:r>
              <a:rPr lang="en-US" sz="2200" kern="1200" spc="-15" dirty="0">
                <a:solidFill>
                  <a:prstClr val="black"/>
                </a:solidFill>
                <a:latin typeface="Palatino Linotype"/>
                <a:cs typeface="Palatino Linotype"/>
              </a:rPr>
              <a:t>grammar,</a:t>
            </a:r>
            <a:r>
              <a:rPr lang="en-US" sz="2200" kern="1200" dirty="0">
                <a:solidFill>
                  <a:prstClr val="black"/>
                </a:solidFill>
                <a:latin typeface="Palatino Linotype"/>
                <a:cs typeface="Palatino Linotype"/>
              </a:rPr>
              <a:t> </a:t>
            </a:r>
            <a:r>
              <a:rPr lang="en-US" sz="2200" kern="1200" spc="-20" dirty="0">
                <a:solidFill>
                  <a:prstClr val="black"/>
                </a:solidFill>
                <a:latin typeface="Palatino Linotype"/>
                <a:cs typeface="Palatino Linotype"/>
              </a:rPr>
              <a:t>we </a:t>
            </a:r>
            <a:r>
              <a:rPr lang="en-US" sz="2200" kern="1200" spc="-535"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need</a:t>
            </a:r>
            <a:r>
              <a:rPr lang="en-US" sz="2200" kern="1200" dirty="0">
                <a:solidFill>
                  <a:prstClr val="black"/>
                </a:solidFill>
                <a:latin typeface="Palatino Linotype"/>
                <a:cs typeface="Palatino Linotype"/>
              </a:rPr>
              <a:t> </a:t>
            </a:r>
            <a:r>
              <a:rPr lang="en-US" sz="2200" kern="1200" spc="-5" dirty="0">
                <a:solidFill>
                  <a:prstClr val="black"/>
                </a:solidFill>
                <a:latin typeface="Palatino Linotype"/>
                <a:cs typeface="Palatino Linotype"/>
              </a:rPr>
              <a:t>to define:</a:t>
            </a:r>
            <a:endParaRPr lang="en-US" sz="2200" kern="1200" dirty="0">
              <a:solidFill>
                <a:prstClr val="black"/>
              </a:solidFill>
              <a:latin typeface="Palatino Linotype"/>
              <a:cs typeface="Palatino Linotype"/>
            </a:endParaRPr>
          </a:p>
          <a:p>
            <a:pPr marL="698500" lvl="1" indent="-228600" rtl="0">
              <a:spcBef>
                <a:spcPts val="1770"/>
              </a:spcBef>
              <a:buClr>
                <a:srgbClr val="000000"/>
              </a:buClr>
              <a:buFont typeface="Wingdings"/>
              <a:buChar char=""/>
              <a:tabLst>
                <a:tab pos="698500" algn="l"/>
              </a:tabLst>
            </a:pPr>
            <a:r>
              <a:rPr lang="en-US" kern="1200" spc="-5" dirty="0">
                <a:solidFill>
                  <a:srgbClr val="0432FF"/>
                </a:solidFill>
                <a:latin typeface="Palatino Linotype"/>
                <a:cs typeface="Palatino Linotype"/>
              </a:rPr>
              <a:t>An</a:t>
            </a:r>
            <a:r>
              <a:rPr lang="en-US" kern="1200" spc="-10" dirty="0">
                <a:solidFill>
                  <a:srgbClr val="0432FF"/>
                </a:solidFill>
                <a:latin typeface="Palatino Linotype"/>
                <a:cs typeface="Palatino Linotype"/>
              </a:rPr>
              <a:t> </a:t>
            </a:r>
            <a:r>
              <a:rPr lang="en-US" kern="1200" spc="-5" dirty="0">
                <a:solidFill>
                  <a:srgbClr val="0432FF"/>
                </a:solidFill>
                <a:latin typeface="Palatino Linotype"/>
                <a:cs typeface="Palatino Linotype"/>
              </a:rPr>
              <a:t>augmented</a:t>
            </a:r>
            <a:r>
              <a:rPr lang="en-US" kern="1200" spc="-10" dirty="0">
                <a:solidFill>
                  <a:srgbClr val="0432FF"/>
                </a:solidFill>
                <a:latin typeface="Palatino Linotype"/>
                <a:cs typeface="Palatino Linotype"/>
              </a:rPr>
              <a:t> </a:t>
            </a:r>
            <a:r>
              <a:rPr lang="en-US" kern="1200" spc="-5" dirty="0">
                <a:solidFill>
                  <a:srgbClr val="0432FF"/>
                </a:solidFill>
                <a:latin typeface="Palatino Linotype"/>
                <a:cs typeface="Palatino Linotype"/>
              </a:rPr>
              <a:t>grammar</a:t>
            </a:r>
            <a:r>
              <a:rPr lang="en-US" kern="1200" spc="-10" dirty="0">
                <a:solidFill>
                  <a:srgbClr val="0432FF"/>
                </a:solidFill>
                <a:latin typeface="Palatino Linotype"/>
                <a:cs typeface="Palatino Linotype"/>
              </a:rPr>
              <a:t> </a:t>
            </a:r>
            <a:r>
              <a:rPr lang="en-US" kern="1200" dirty="0">
                <a:solidFill>
                  <a:prstClr val="black"/>
                </a:solidFill>
                <a:latin typeface="Palatino Linotype"/>
                <a:cs typeface="Palatino Linotype"/>
              </a:rPr>
              <a:t>(</a:t>
            </a:r>
            <a:r>
              <a:rPr lang="zh-CN" altLang="en-US" kern="1200" dirty="0">
                <a:solidFill>
                  <a:srgbClr val="FF0000"/>
                </a:solidFill>
                <a:latin typeface="SimSun"/>
                <a:cs typeface="SimSun"/>
              </a:rPr>
              <a:t>增广文法</a:t>
            </a:r>
            <a:r>
              <a:rPr lang="en-US" altLang="zh-CN" kern="1200" dirty="0">
                <a:solidFill>
                  <a:prstClr val="black"/>
                </a:solidFill>
                <a:latin typeface="Palatino Linotype"/>
                <a:cs typeface="Palatino Linotype"/>
              </a:rPr>
              <a:t>)</a:t>
            </a:r>
          </a:p>
          <a:p>
            <a:pPr marL="698500" lvl="1" indent="-228600" rtl="0">
              <a:spcBef>
                <a:spcPts val="1630"/>
              </a:spcBef>
              <a:buClr>
                <a:srgbClr val="000000"/>
              </a:buClr>
              <a:buFont typeface="Wingdings"/>
              <a:buChar char=""/>
              <a:tabLst>
                <a:tab pos="698500" algn="l"/>
              </a:tabLst>
            </a:pPr>
            <a:r>
              <a:rPr lang="en-US" kern="1200" spc="-55" dirty="0">
                <a:solidFill>
                  <a:srgbClr val="0432FF"/>
                </a:solidFill>
                <a:latin typeface="Palatino Linotype"/>
                <a:cs typeface="Palatino Linotype"/>
              </a:rPr>
              <a:t>Two</a:t>
            </a:r>
            <a:r>
              <a:rPr lang="en-US" kern="1200" dirty="0">
                <a:solidFill>
                  <a:srgbClr val="0432FF"/>
                </a:solidFill>
                <a:latin typeface="Palatino Linotype"/>
                <a:cs typeface="Palatino Linotype"/>
              </a:rPr>
              <a:t> </a:t>
            </a:r>
            <a:r>
              <a:rPr lang="en-US" kern="1200" spc="-5" dirty="0">
                <a:solidFill>
                  <a:srgbClr val="0432FF"/>
                </a:solidFill>
                <a:latin typeface="Palatino Linotype"/>
                <a:cs typeface="Palatino Linotype"/>
              </a:rPr>
              <a:t>functions:</a:t>
            </a:r>
            <a:r>
              <a:rPr lang="en-US" kern="1200" dirty="0">
                <a:solidFill>
                  <a:srgbClr val="0432FF"/>
                </a:solidFill>
                <a:latin typeface="Palatino Linotype"/>
                <a:cs typeface="Palatino Linotype"/>
              </a:rPr>
              <a:t> </a:t>
            </a:r>
          </a:p>
          <a:p>
            <a:pPr marL="1155700" lvl="2" indent="-228600" rtl="0">
              <a:spcBef>
                <a:spcPts val="1630"/>
              </a:spcBef>
              <a:buClr>
                <a:srgbClr val="000000"/>
              </a:buClr>
              <a:buFont typeface="Wingdings"/>
              <a:buChar char=""/>
              <a:tabLst>
                <a:tab pos="698500" algn="l"/>
              </a:tabLst>
            </a:pPr>
            <a:r>
              <a:rPr lang="en-US" kern="1200" dirty="0">
                <a:solidFill>
                  <a:prstClr val="black"/>
                </a:solidFill>
                <a:latin typeface="Palatino Linotype"/>
                <a:cs typeface="Palatino Linotype"/>
              </a:rPr>
              <a:t>(1) </a:t>
            </a:r>
            <a:r>
              <a:rPr lang="en-US" kern="1200" spc="-5" dirty="0">
                <a:solidFill>
                  <a:prstClr val="black"/>
                </a:solidFill>
                <a:latin typeface="Palatino Linotype"/>
                <a:cs typeface="Palatino Linotype"/>
              </a:rPr>
              <a:t>CLOSURE</a:t>
            </a:r>
            <a:r>
              <a:rPr lang="en-US" kern="1200" dirty="0">
                <a:solidFill>
                  <a:prstClr val="black"/>
                </a:solidFill>
                <a:latin typeface="Palatino Linotype"/>
                <a:cs typeface="Palatino Linotype"/>
              </a:rPr>
              <a:t> of item</a:t>
            </a:r>
            <a:r>
              <a:rPr lang="en-US" kern="1200" spc="-5" dirty="0">
                <a:solidFill>
                  <a:prstClr val="black"/>
                </a:solidFill>
                <a:latin typeface="Palatino Linotype"/>
                <a:cs typeface="Palatino Linotype"/>
              </a:rPr>
              <a:t> sets </a:t>
            </a:r>
            <a:r>
              <a:rPr lang="en-US" kern="1200" dirty="0">
                <a:solidFill>
                  <a:prstClr val="black"/>
                </a:solidFill>
                <a:latin typeface="Palatino Linotype"/>
                <a:cs typeface="Palatino Linotype"/>
              </a:rPr>
              <a:t>(</a:t>
            </a:r>
            <a:r>
              <a:rPr lang="zh-CN" altLang="en-US" kern="1200" dirty="0">
                <a:solidFill>
                  <a:srgbClr val="FF0000"/>
                </a:solidFill>
                <a:latin typeface="SimSun"/>
                <a:cs typeface="SimSun"/>
              </a:rPr>
              <a:t>项集闭包</a:t>
            </a:r>
            <a:r>
              <a:rPr lang="en-US" altLang="zh-CN" kern="1200" dirty="0">
                <a:solidFill>
                  <a:prstClr val="black"/>
                </a:solidFill>
                <a:latin typeface="Palatino Linotype"/>
                <a:cs typeface="Palatino Linotype"/>
              </a:rPr>
              <a:t>) </a:t>
            </a:r>
            <a:endParaRPr lang="en-US" kern="1200" dirty="0">
              <a:solidFill>
                <a:prstClr val="black"/>
              </a:solidFill>
              <a:latin typeface="Palatino Linotype"/>
              <a:cs typeface="Palatino Linotype"/>
            </a:endParaRPr>
          </a:p>
          <a:p>
            <a:pPr marL="1155700" lvl="2" indent="-228600" rtl="0">
              <a:spcBef>
                <a:spcPts val="1630"/>
              </a:spcBef>
              <a:buClr>
                <a:srgbClr val="000000"/>
              </a:buClr>
              <a:buFont typeface="Wingdings"/>
              <a:buChar char=""/>
              <a:tabLst>
                <a:tab pos="698500" algn="l"/>
              </a:tabLst>
            </a:pPr>
            <a:r>
              <a:rPr lang="en-US" kern="1200" dirty="0">
                <a:solidFill>
                  <a:prstClr val="black"/>
                </a:solidFill>
                <a:latin typeface="Palatino Linotype"/>
                <a:cs typeface="Palatino Linotype"/>
              </a:rPr>
              <a:t> (2) </a:t>
            </a:r>
            <a:r>
              <a:rPr lang="en-US" kern="1200" spc="-5" dirty="0">
                <a:solidFill>
                  <a:prstClr val="black"/>
                </a:solidFill>
                <a:latin typeface="Palatino Linotype"/>
                <a:cs typeface="Palatino Linotype"/>
              </a:rPr>
              <a:t>GOTO</a:t>
            </a:r>
            <a:endParaRPr lang="en-US" kern="1200" dirty="0">
              <a:solidFill>
                <a:prstClr val="black"/>
              </a:solidFill>
              <a:latin typeface="Palatino Linotype"/>
              <a:cs typeface="Palatino Linotype"/>
            </a:endParaRPr>
          </a:p>
        </p:txBody>
      </p:sp>
    </p:spTree>
    <p:extLst>
      <p:ext uri="{BB962C8B-B14F-4D97-AF65-F5344CB8AC3E}">
        <p14:creationId xmlns:p14="http://schemas.microsoft.com/office/powerpoint/2010/main" val="14682013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107</a:t>
            </a:fld>
            <a:endParaRPr lang="en-US"/>
          </a:p>
        </p:txBody>
      </p:sp>
      <p:sp>
        <p:nvSpPr>
          <p:cNvPr id="7" name="object 2">
            <a:extLst>
              <a:ext uri="{FF2B5EF4-FFF2-40B4-BE49-F238E27FC236}">
                <a16:creationId xmlns:a16="http://schemas.microsoft.com/office/drawing/2014/main" id="{8066AC8C-32DC-AADA-DB4D-1031D83FDD00}"/>
              </a:ext>
            </a:extLst>
          </p:cNvPr>
          <p:cNvSpPr txBox="1">
            <a:spLocks/>
          </p:cNvSpPr>
          <p:nvPr/>
        </p:nvSpPr>
        <p:spPr>
          <a:xfrm>
            <a:off x="707390" y="524763"/>
            <a:ext cx="512254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Augmented</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Grammar</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C939B1B6-7FE5-53CC-1472-730C626ED41E}"/>
              </a:ext>
            </a:extLst>
          </p:cNvPr>
          <p:cNvSpPr txBox="1"/>
          <p:nvPr/>
        </p:nvSpPr>
        <p:spPr>
          <a:xfrm>
            <a:off x="707390" y="1658620"/>
            <a:ext cx="7723505" cy="4185285"/>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sz="2200" kern="1200" spc="-5" dirty="0">
                <a:solidFill>
                  <a:prstClr val="black"/>
                </a:solidFill>
                <a:latin typeface="Palatino Linotype"/>
                <a:cs typeface="Palatino Linotype"/>
              </a:rPr>
              <a:t>Augmenting </a:t>
            </a:r>
            <a:r>
              <a:rPr sz="2200" kern="1200" dirty="0">
                <a:solidFill>
                  <a:prstClr val="black"/>
                </a:solidFill>
                <a:latin typeface="Palatino Linotype"/>
                <a:cs typeface="Palatino Linotype"/>
              </a:rPr>
              <a:t>a</a:t>
            </a:r>
            <a:r>
              <a:rPr sz="2200" kern="1200" spc="-5" dirty="0">
                <a:solidFill>
                  <a:prstClr val="black"/>
                </a:solidFill>
                <a:latin typeface="Palatino Linotype"/>
                <a:cs typeface="Palatino Linotype"/>
              </a:rPr>
              <a:t> grammar</a:t>
            </a:r>
            <a:r>
              <a:rPr sz="2200" kern="1200" dirty="0">
                <a:solidFill>
                  <a:prstClr val="black"/>
                </a:solidFill>
                <a:latin typeface="Palatino Linotype"/>
                <a:cs typeface="Palatino Linotype"/>
              </a:rPr>
              <a:t> </a:t>
            </a:r>
            <a:r>
              <a:rPr sz="2200" kern="1200" dirty="0">
                <a:solidFill>
                  <a:prstClr val="black"/>
                </a:solidFill>
                <a:latin typeface="Cambria Math"/>
                <a:cs typeface="Cambria Math"/>
              </a:rPr>
              <a:t>𝐺</a:t>
            </a:r>
            <a:r>
              <a:rPr sz="2200" kern="1200" spc="155" dirty="0">
                <a:solidFill>
                  <a:prstClr val="black"/>
                </a:solidFill>
                <a:latin typeface="Cambria Math"/>
                <a:cs typeface="Cambria Math"/>
              </a:rPr>
              <a:t> </a:t>
            </a:r>
            <a:r>
              <a:rPr sz="2200" kern="1200" spc="-5" dirty="0">
                <a:solidFill>
                  <a:prstClr val="black"/>
                </a:solidFill>
                <a:latin typeface="Palatino Linotype"/>
                <a:cs typeface="Palatino Linotype"/>
              </a:rPr>
              <a:t>with</a:t>
            </a:r>
            <a:r>
              <a:rPr sz="2200" kern="1200" spc="-15" dirty="0">
                <a:solidFill>
                  <a:prstClr val="black"/>
                </a:solidFill>
                <a:latin typeface="Palatino Linotype"/>
                <a:cs typeface="Palatino Linotype"/>
              </a:rPr>
              <a:t> </a:t>
            </a:r>
            <a:r>
              <a:rPr sz="2200" kern="1200" dirty="0">
                <a:solidFill>
                  <a:prstClr val="black"/>
                </a:solidFill>
                <a:latin typeface="Palatino Linotype"/>
                <a:cs typeface="Palatino Linotype"/>
              </a:rPr>
              <a:t>start</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symbol </a:t>
            </a:r>
            <a:r>
              <a:rPr sz="2200" kern="1200" dirty="0">
                <a:solidFill>
                  <a:prstClr val="black"/>
                </a:solidFill>
                <a:latin typeface="Cambria Math"/>
                <a:cs typeface="Cambria Math"/>
              </a:rPr>
              <a:t>𝑆</a:t>
            </a:r>
          </a:p>
          <a:p>
            <a:pPr marL="698500" lvl="1" indent="-228600" rtl="0">
              <a:spcBef>
                <a:spcPts val="1665"/>
              </a:spcBef>
              <a:buFont typeface="Wingdings"/>
              <a:buChar char=""/>
              <a:tabLst>
                <a:tab pos="698500" algn="l"/>
              </a:tabLst>
            </a:pPr>
            <a:r>
              <a:rPr sz="2000" kern="1200" spc="-5" dirty="0">
                <a:solidFill>
                  <a:prstClr val="black"/>
                </a:solidFill>
                <a:latin typeface="Palatino Linotype"/>
                <a:cs typeface="Palatino Linotype"/>
              </a:rPr>
              <a:t>Introduce</a:t>
            </a:r>
            <a:r>
              <a:rPr sz="2000" kern="1200" dirty="0">
                <a:solidFill>
                  <a:prstClr val="black"/>
                </a:solidFill>
                <a:latin typeface="Palatino Linotype"/>
                <a:cs typeface="Palatino Linotype"/>
              </a:rPr>
              <a:t> </a:t>
            </a:r>
            <a:r>
              <a:rPr sz="2000" kern="1200" dirty="0">
                <a:solidFill>
                  <a:srgbClr val="FF0000"/>
                </a:solidFill>
                <a:latin typeface="Palatino Linotype"/>
                <a:cs typeface="Palatino Linotype"/>
              </a:rPr>
              <a:t>a </a:t>
            </a:r>
            <a:r>
              <a:rPr sz="2000" kern="1200" spc="-5" dirty="0">
                <a:solidFill>
                  <a:srgbClr val="FF0000"/>
                </a:solidFill>
                <a:latin typeface="Palatino Linotype"/>
                <a:cs typeface="Palatino Linotype"/>
              </a:rPr>
              <a:t>new</a:t>
            </a:r>
            <a:r>
              <a:rPr sz="2000" kern="1200" spc="-10" dirty="0">
                <a:solidFill>
                  <a:srgbClr val="FF0000"/>
                </a:solidFill>
                <a:latin typeface="Palatino Linotype"/>
                <a:cs typeface="Palatino Linotype"/>
              </a:rPr>
              <a:t> </a:t>
            </a:r>
            <a:r>
              <a:rPr sz="2000" kern="1200" spc="-5" dirty="0">
                <a:solidFill>
                  <a:srgbClr val="FF0000"/>
                </a:solidFill>
                <a:latin typeface="Palatino Linotype"/>
                <a:cs typeface="Palatino Linotype"/>
              </a:rPr>
              <a:t>start symbol</a:t>
            </a:r>
            <a:r>
              <a:rPr sz="2000" kern="1200" dirty="0">
                <a:solidFill>
                  <a:srgbClr val="FF0000"/>
                </a:solidFill>
                <a:latin typeface="Palatino Linotype"/>
                <a:cs typeface="Palatino Linotype"/>
              </a:rPr>
              <a:t> </a:t>
            </a:r>
            <a:r>
              <a:rPr sz="2000" kern="1200" dirty="0">
                <a:solidFill>
                  <a:srgbClr val="FF0000"/>
                </a:solidFill>
                <a:latin typeface="Cambria Math"/>
                <a:cs typeface="Cambria Math"/>
              </a:rPr>
              <a:t>𝑆’</a:t>
            </a:r>
            <a:r>
              <a:rPr sz="2000" kern="1200" spc="50" dirty="0">
                <a:solidFill>
                  <a:srgbClr val="FF0000"/>
                </a:solidFill>
                <a:latin typeface="Cambria Math"/>
                <a:cs typeface="Cambria Math"/>
              </a:rPr>
              <a:t> </a:t>
            </a:r>
            <a:r>
              <a:rPr sz="2000" kern="1200" spc="-5" dirty="0">
                <a:solidFill>
                  <a:prstClr val="black"/>
                </a:solidFill>
                <a:latin typeface="Palatino Linotype"/>
                <a:cs typeface="Palatino Linotype"/>
              </a:rPr>
              <a:t>to replace</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𝑆</a:t>
            </a:r>
          </a:p>
          <a:p>
            <a:pPr marL="698500" lvl="1" indent="-228600" rtl="0">
              <a:spcBef>
                <a:spcPts val="1700"/>
              </a:spcBef>
              <a:buFont typeface="Wingdings"/>
              <a:buChar char=""/>
              <a:tabLst>
                <a:tab pos="698500" algn="l"/>
              </a:tabLst>
            </a:pPr>
            <a:r>
              <a:rPr sz="2000" kern="1200" spc="-5" dirty="0">
                <a:solidFill>
                  <a:prstClr val="black"/>
                </a:solidFill>
                <a:latin typeface="Palatino Linotype"/>
                <a:cs typeface="Palatino Linotype"/>
              </a:rPr>
              <a:t>Add</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a</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new</a:t>
            </a:r>
            <a:r>
              <a:rPr sz="2000" kern="1200" spc="-20"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a:t>
            </a:r>
            <a:r>
              <a:rPr sz="2000" kern="1200" spc="-15" dirty="0">
                <a:solidFill>
                  <a:prstClr val="black"/>
                </a:solidFill>
                <a:latin typeface="Palatino Linotype"/>
                <a:cs typeface="Palatino Linotype"/>
              </a:rPr>
              <a:t> </a:t>
            </a:r>
            <a:r>
              <a:rPr sz="2000" kern="1200" dirty="0">
                <a:solidFill>
                  <a:srgbClr val="FF0000"/>
                </a:solidFill>
                <a:latin typeface="Cambria Math"/>
                <a:cs typeface="Cambria Math"/>
              </a:rPr>
              <a:t>𝑆’</a:t>
            </a:r>
            <a:r>
              <a:rPr sz="2000" kern="1200" spc="100"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00" dirty="0">
                <a:solidFill>
                  <a:srgbClr val="FF0000"/>
                </a:solidFill>
                <a:latin typeface="Cambria Math"/>
                <a:cs typeface="Cambria Math"/>
              </a:rPr>
              <a:t> </a:t>
            </a:r>
            <a:r>
              <a:rPr sz="2000" kern="1200" dirty="0">
                <a:solidFill>
                  <a:srgbClr val="FF0000"/>
                </a:solidFill>
                <a:latin typeface="Cambria Math"/>
                <a:cs typeface="Cambria Math"/>
              </a:rPr>
              <a:t>𝑆</a:t>
            </a:r>
            <a:endParaRPr sz="2000" kern="1200" dirty="0">
              <a:solidFill>
                <a:prstClr val="black"/>
              </a:solidFill>
              <a:latin typeface="Cambria Math"/>
              <a:cs typeface="Cambria Math"/>
            </a:endParaRPr>
          </a:p>
          <a:p>
            <a:pPr lvl="1" rtl="0">
              <a:spcBef>
                <a:spcPts val="40"/>
              </a:spcBef>
              <a:buFontTx/>
              <a:buChar char=""/>
            </a:pPr>
            <a:endParaRPr sz="2950" kern="1200" dirty="0">
              <a:solidFill>
                <a:prstClr val="black"/>
              </a:solidFill>
              <a:latin typeface="Cambria Math"/>
              <a:cs typeface="Cambria Math"/>
            </a:endParaRPr>
          </a:p>
          <a:p>
            <a:pPr marL="243204" indent="-230504" rtl="0">
              <a:buFont typeface="Arial MT"/>
              <a:buChar char="•"/>
              <a:tabLst>
                <a:tab pos="242570" algn="l"/>
                <a:tab pos="243204" algn="l"/>
                <a:tab pos="2353945" algn="l"/>
                <a:tab pos="2701290" algn="l"/>
              </a:tabLst>
            </a:pPr>
            <a:r>
              <a:rPr sz="2200" kern="1200" spc="-30" dirty="0">
                <a:solidFill>
                  <a:prstClr val="black"/>
                </a:solidFill>
                <a:latin typeface="Palatino Linotype"/>
                <a:cs typeface="Palatino Linotype"/>
              </a:rPr>
              <a:t>Obviously,</a:t>
            </a:r>
            <a:r>
              <a:rPr sz="2200" kern="1200" spc="5" dirty="0">
                <a:solidFill>
                  <a:prstClr val="black"/>
                </a:solidFill>
                <a:latin typeface="Palatino Linotype"/>
                <a:cs typeface="Palatino Linotype"/>
              </a:rPr>
              <a:t> </a:t>
            </a:r>
            <a:r>
              <a:rPr sz="2200" kern="1200" spc="35" dirty="0">
                <a:solidFill>
                  <a:srgbClr val="FF0000"/>
                </a:solidFill>
                <a:latin typeface="Cambria Math"/>
                <a:cs typeface="Cambria Math"/>
              </a:rPr>
              <a:t>𝐿(𝐺)	</a:t>
            </a:r>
            <a:r>
              <a:rPr sz="2200" kern="1200" dirty="0">
                <a:solidFill>
                  <a:srgbClr val="FF0000"/>
                </a:solidFill>
                <a:latin typeface="Cambria Math"/>
                <a:cs typeface="Cambria Math"/>
              </a:rPr>
              <a:t>=	</a:t>
            </a:r>
            <a:r>
              <a:rPr sz="2200" kern="1200" spc="5" dirty="0">
                <a:solidFill>
                  <a:srgbClr val="FF0000"/>
                </a:solidFill>
                <a:latin typeface="Cambria Math"/>
                <a:cs typeface="Cambria Math"/>
              </a:rPr>
              <a:t>𝐿(𝐺’)</a:t>
            </a:r>
            <a:endParaRPr sz="2200" kern="1200" dirty="0">
              <a:solidFill>
                <a:prstClr val="black"/>
              </a:solidFill>
              <a:latin typeface="Cambria Math"/>
              <a:cs typeface="Cambria Math"/>
            </a:endParaRPr>
          </a:p>
          <a:p>
            <a:pPr rtl="0">
              <a:spcBef>
                <a:spcPts val="45"/>
              </a:spcBef>
              <a:buFont typeface="Arial MT"/>
              <a:buChar char="•"/>
            </a:pPr>
            <a:endParaRPr sz="2600" kern="1200" dirty="0">
              <a:solidFill>
                <a:prstClr val="black"/>
              </a:solidFill>
              <a:latin typeface="Cambria Math"/>
              <a:cs typeface="Cambria Math"/>
            </a:endParaRPr>
          </a:p>
          <a:p>
            <a:pPr marL="242570" marR="441959" indent="-230504" rtl="0">
              <a:lnSpc>
                <a:spcPct val="117300"/>
              </a:lnSpc>
              <a:buClr>
                <a:srgbClr val="000000"/>
              </a:buClr>
              <a:buFont typeface="Arial MT"/>
              <a:buChar char="•"/>
              <a:tabLst>
                <a:tab pos="242570" algn="l"/>
                <a:tab pos="243204" algn="l"/>
              </a:tabLst>
            </a:pPr>
            <a:r>
              <a:rPr sz="2200" b="1" kern="1200" spc="-5" dirty="0">
                <a:solidFill>
                  <a:srgbClr val="FF0000"/>
                </a:solidFill>
                <a:latin typeface="Palatino Linotype"/>
                <a:cs typeface="Palatino Linotype"/>
              </a:rPr>
              <a:t>Benefit: </a:t>
            </a:r>
            <a:r>
              <a:rPr sz="2200" kern="1200" spc="-20" dirty="0">
                <a:solidFill>
                  <a:prstClr val="black"/>
                </a:solidFill>
                <a:latin typeface="Palatino Linotype"/>
                <a:cs typeface="Palatino Linotype"/>
              </a:rPr>
              <a:t>With</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the augmentation, acceptance occurs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when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and</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only</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when</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the</a:t>
            </a:r>
            <a:r>
              <a:rPr sz="2200" kern="1200" spc="-10" dirty="0">
                <a:solidFill>
                  <a:prstClr val="black"/>
                </a:solidFill>
                <a:latin typeface="Palatino Linotype"/>
                <a:cs typeface="Palatino Linotype"/>
              </a:rPr>
              <a:t> </a:t>
            </a:r>
            <a:r>
              <a:rPr sz="2200" kern="1200" dirty="0">
                <a:solidFill>
                  <a:prstClr val="black"/>
                </a:solidFill>
                <a:latin typeface="Palatino Linotype"/>
                <a:cs typeface="Palatino Linotype"/>
              </a:rPr>
              <a:t>parser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is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about</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to reduce by </a:t>
            </a:r>
            <a:r>
              <a:rPr sz="2200" kern="1200" spc="-5" dirty="0">
                <a:solidFill>
                  <a:prstClr val="black"/>
                </a:solidFill>
                <a:latin typeface="Cambria Math"/>
                <a:cs typeface="Cambria Math"/>
              </a:rPr>
              <a:t>𝑆’</a:t>
            </a:r>
            <a:r>
              <a:rPr sz="2200" kern="1200" spc="12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14" dirty="0">
                <a:solidFill>
                  <a:prstClr val="black"/>
                </a:solidFill>
                <a:latin typeface="Cambria Math"/>
                <a:cs typeface="Cambria Math"/>
              </a:rPr>
              <a:t> </a:t>
            </a:r>
            <a:r>
              <a:rPr sz="2200" kern="1200" dirty="0">
                <a:solidFill>
                  <a:prstClr val="black"/>
                </a:solidFill>
                <a:latin typeface="Cambria Math"/>
                <a:cs typeface="Cambria Math"/>
              </a:rPr>
              <a:t>𝑆</a:t>
            </a:r>
          </a:p>
          <a:p>
            <a:pPr marL="698500" marR="5080" lvl="1" indent="-228600" rtl="0">
              <a:lnSpc>
                <a:spcPct val="120000"/>
              </a:lnSpc>
              <a:spcBef>
                <a:spcPts val="1335"/>
              </a:spcBef>
              <a:buFont typeface="Wingdings"/>
              <a:buChar char=""/>
              <a:tabLst>
                <a:tab pos="698500" algn="l"/>
              </a:tabLst>
            </a:pPr>
            <a:r>
              <a:rPr kern="1200" spc="-5" dirty="0">
                <a:solidFill>
                  <a:prstClr val="black"/>
                </a:solidFill>
                <a:latin typeface="Palatino Linotype"/>
                <a:cs typeface="Palatino Linotype"/>
              </a:rPr>
              <a:t>Otherwise, </a:t>
            </a:r>
            <a:r>
              <a:rPr kern="1200" dirty="0">
                <a:solidFill>
                  <a:prstClr val="black"/>
                </a:solidFill>
                <a:latin typeface="Palatino Linotype"/>
                <a:cs typeface="Palatino Linotype"/>
              </a:rPr>
              <a:t>acceptance could occur at </a:t>
            </a:r>
            <a:r>
              <a:rPr kern="1200" spc="-5" dirty="0">
                <a:solidFill>
                  <a:prstClr val="black"/>
                </a:solidFill>
                <a:latin typeface="Palatino Linotype"/>
                <a:cs typeface="Palatino Linotype"/>
              </a:rPr>
              <a:t>many </a:t>
            </a:r>
            <a:r>
              <a:rPr kern="1200" dirty="0">
                <a:solidFill>
                  <a:prstClr val="black"/>
                </a:solidFill>
                <a:latin typeface="Palatino Linotype"/>
                <a:cs typeface="Palatino Linotype"/>
              </a:rPr>
              <a:t>points </a:t>
            </a:r>
            <a:r>
              <a:rPr kern="1200" spc="-5" dirty="0">
                <a:solidFill>
                  <a:prstClr val="black"/>
                </a:solidFill>
                <a:latin typeface="Palatino Linotype"/>
                <a:cs typeface="Palatino Linotype"/>
              </a:rPr>
              <a:t>since </a:t>
            </a:r>
            <a:r>
              <a:rPr kern="1200" dirty="0">
                <a:solidFill>
                  <a:prstClr val="black"/>
                </a:solidFill>
                <a:latin typeface="Palatino Linotype"/>
                <a:cs typeface="Palatino Linotype"/>
              </a:rPr>
              <a:t>there </a:t>
            </a:r>
            <a:r>
              <a:rPr kern="1200" spc="-5" dirty="0">
                <a:solidFill>
                  <a:prstClr val="black"/>
                </a:solidFill>
                <a:latin typeface="Palatino Linotype"/>
                <a:cs typeface="Palatino Linotype"/>
              </a:rPr>
              <a:t>may </a:t>
            </a:r>
            <a:r>
              <a:rPr kern="1200" dirty="0">
                <a:solidFill>
                  <a:prstClr val="black"/>
                </a:solidFill>
                <a:latin typeface="Palatino Linotype"/>
                <a:cs typeface="Palatino Linotype"/>
              </a:rPr>
              <a:t>be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multiple</a:t>
            </a:r>
            <a:r>
              <a:rPr kern="1200" spc="-10" dirty="0">
                <a:solidFill>
                  <a:prstClr val="black"/>
                </a:solidFill>
                <a:latin typeface="Palatino Linotype"/>
                <a:cs typeface="Palatino Linotype"/>
              </a:rPr>
              <a:t> </a:t>
            </a:r>
            <a:r>
              <a:rPr kern="1200" dirty="0">
                <a:solidFill>
                  <a:prstClr val="black"/>
                </a:solidFill>
                <a:latin typeface="Cambria Math"/>
                <a:cs typeface="Cambria Math"/>
              </a:rPr>
              <a:t>𝑆</a:t>
            </a:r>
            <a:r>
              <a:rPr kern="1200" dirty="0">
                <a:solidFill>
                  <a:prstClr val="black"/>
                </a:solidFill>
                <a:latin typeface="Palatino Linotype"/>
                <a:cs typeface="Palatino Linotype"/>
              </a:rPr>
              <a:t>-productions</a:t>
            </a:r>
          </a:p>
        </p:txBody>
      </p:sp>
    </p:spTree>
    <p:extLst>
      <p:ext uri="{BB962C8B-B14F-4D97-AF65-F5344CB8AC3E}">
        <p14:creationId xmlns:p14="http://schemas.microsoft.com/office/powerpoint/2010/main" val="2143666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108</a:t>
            </a:fld>
            <a:endParaRPr lang="en-US"/>
          </a:p>
        </p:txBody>
      </p:sp>
      <p:sp>
        <p:nvSpPr>
          <p:cNvPr id="10" name="object 2">
            <a:extLst>
              <a:ext uri="{FF2B5EF4-FFF2-40B4-BE49-F238E27FC236}">
                <a16:creationId xmlns:a16="http://schemas.microsoft.com/office/drawing/2014/main" id="{A1A3CCE6-542E-21DD-EB79-912DABD2E10B}"/>
              </a:ext>
            </a:extLst>
          </p:cNvPr>
          <p:cNvSpPr txBox="1">
            <a:spLocks/>
          </p:cNvSpPr>
          <p:nvPr/>
        </p:nvSpPr>
        <p:spPr>
          <a:xfrm>
            <a:off x="707390" y="524763"/>
            <a:ext cx="472821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Closure</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of</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Item</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Sets</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DCCEF644-9385-6D9F-73B1-1A3A0EABB486}"/>
              </a:ext>
            </a:extLst>
          </p:cNvPr>
          <p:cNvSpPr txBox="1"/>
          <p:nvPr/>
        </p:nvSpPr>
        <p:spPr>
          <a:xfrm>
            <a:off x="707390" y="1610867"/>
            <a:ext cx="7693025" cy="3616325"/>
          </a:xfrm>
          <a:prstGeom prst="rect">
            <a:avLst/>
          </a:prstGeom>
        </p:spPr>
        <p:txBody>
          <a:bodyPr vert="horz" wrap="square" lIns="0" tIns="12700" rIns="0" bIns="0" rtlCol="0">
            <a:spAutoFit/>
          </a:bodyPr>
          <a:lstStyle/>
          <a:p>
            <a:pPr marL="242570" marR="44450" indent="-230504" rtl="0">
              <a:lnSpc>
                <a:spcPct val="115999"/>
              </a:lnSpc>
              <a:spcBef>
                <a:spcPts val="100"/>
              </a:spcBef>
              <a:buFont typeface="Arial MT"/>
              <a:buChar char="•"/>
              <a:tabLst>
                <a:tab pos="242570" algn="l"/>
                <a:tab pos="243204" algn="l"/>
              </a:tabLst>
            </a:pPr>
            <a:r>
              <a:rPr sz="2000" kern="1200" dirty="0">
                <a:solidFill>
                  <a:prstClr val="black"/>
                </a:solidFill>
                <a:latin typeface="Palatino Linotype"/>
                <a:cs typeface="Palatino Linotype"/>
              </a:rPr>
              <a:t>If</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𝐼</a:t>
            </a:r>
            <a:r>
              <a:rPr sz="2000" kern="1200" spc="125" dirty="0">
                <a:solidFill>
                  <a:prstClr val="black"/>
                </a:solidFill>
                <a:latin typeface="Cambria Math"/>
                <a:cs typeface="Cambria Math"/>
              </a:rPr>
              <a:t> </a:t>
            </a:r>
            <a:r>
              <a:rPr sz="2000" kern="1200" dirty="0">
                <a:solidFill>
                  <a:prstClr val="black"/>
                </a:solidFill>
                <a:latin typeface="Palatino Linotype"/>
                <a:cs typeface="Palatino Linotype"/>
              </a:rPr>
              <a:t>is a set</a:t>
            </a:r>
            <a:r>
              <a:rPr sz="2000" kern="1200" spc="-5" dirty="0">
                <a:solidFill>
                  <a:prstClr val="black"/>
                </a:solidFill>
                <a:latin typeface="Palatino Linotype"/>
                <a:cs typeface="Palatino Linotype"/>
              </a:rPr>
              <a:t> of items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for</a:t>
            </a:r>
            <a:r>
              <a:rPr sz="2000" kern="1200" dirty="0">
                <a:solidFill>
                  <a:prstClr val="black"/>
                </a:solidFill>
                <a:latin typeface="Palatino Linotype"/>
                <a:cs typeface="Palatino Linotype"/>
              </a:rPr>
              <a:t> a </a:t>
            </a:r>
            <a:r>
              <a:rPr sz="2000" kern="1200" spc="-5" dirty="0">
                <a:solidFill>
                  <a:prstClr val="black"/>
                </a:solidFill>
                <a:latin typeface="Palatino Linotype"/>
                <a:cs typeface="Palatino Linotype"/>
              </a:rPr>
              <a:t>grammar </a:t>
            </a:r>
            <a:r>
              <a:rPr sz="2000" kern="1200" spc="45" dirty="0">
                <a:solidFill>
                  <a:prstClr val="black"/>
                </a:solidFill>
                <a:latin typeface="Cambria Math"/>
                <a:cs typeface="Cambria Math"/>
              </a:rPr>
              <a:t>𝐺</a:t>
            </a:r>
            <a:r>
              <a:rPr sz="2000" kern="1200" spc="4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then </a:t>
            </a:r>
            <a:r>
              <a:rPr sz="2000" kern="1200" dirty="0">
                <a:solidFill>
                  <a:prstClr val="black"/>
                </a:solidFill>
                <a:latin typeface="Cambria Math"/>
                <a:cs typeface="Cambria Math"/>
              </a:rPr>
              <a:t>CLOSURE(𝐼)</a:t>
            </a:r>
            <a:r>
              <a:rPr sz="2000" kern="1200" spc="50" dirty="0">
                <a:solidFill>
                  <a:prstClr val="black"/>
                </a:solidFill>
                <a:latin typeface="Cambria Math"/>
                <a:cs typeface="Cambria Math"/>
              </a:rPr>
              <a:t> </a:t>
            </a:r>
            <a:r>
              <a:rPr sz="2000" kern="1200" dirty="0">
                <a:solidFill>
                  <a:prstClr val="black"/>
                </a:solidFill>
                <a:latin typeface="Palatino Linotype"/>
                <a:cs typeface="Palatino Linotype"/>
              </a:rPr>
              <a:t>is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set</a:t>
            </a:r>
            <a:r>
              <a:rPr sz="2000" kern="1200" spc="-5" dirty="0">
                <a:solidFill>
                  <a:prstClr val="black"/>
                </a:solidFill>
                <a:latin typeface="Palatino Linotype"/>
                <a:cs typeface="Palatino Linotype"/>
              </a:rPr>
              <a:t> of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items constructed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from </a:t>
            </a:r>
            <a:r>
              <a:rPr sz="2000" kern="1200" dirty="0">
                <a:solidFill>
                  <a:prstClr val="black"/>
                </a:solidFill>
                <a:latin typeface="Cambria Math"/>
                <a:cs typeface="Cambria Math"/>
              </a:rPr>
              <a:t>𝐼</a:t>
            </a:r>
            <a:r>
              <a:rPr sz="2000" kern="1200" spc="125" dirty="0">
                <a:solidFill>
                  <a:prstClr val="black"/>
                </a:solidFill>
                <a:latin typeface="Cambria Math"/>
                <a:cs typeface="Cambria Math"/>
              </a:rPr>
              <a:t> </a:t>
            </a:r>
            <a:r>
              <a:rPr sz="2000" kern="1200" dirty="0">
                <a:solidFill>
                  <a:prstClr val="black"/>
                </a:solidFill>
                <a:latin typeface="Palatino Linotype"/>
                <a:cs typeface="Palatino Linotype"/>
              </a:rPr>
              <a:t>by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15" dirty="0">
                <a:solidFill>
                  <a:prstClr val="black"/>
                </a:solidFill>
                <a:latin typeface="Palatino Linotype"/>
                <a:cs typeface="Palatino Linotype"/>
              </a:rPr>
              <a:t>two</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rules</a:t>
            </a:r>
            <a:endParaRPr sz="2000" kern="1200" dirty="0">
              <a:solidFill>
                <a:prstClr val="black"/>
              </a:solidFill>
              <a:latin typeface="Palatino Linotype"/>
              <a:cs typeface="Palatino Linotype"/>
            </a:endParaRPr>
          </a:p>
          <a:p>
            <a:pPr marL="812800" lvl="1" indent="-342900" rtl="0">
              <a:spcBef>
                <a:spcPts val="1695"/>
              </a:spcBef>
              <a:buFontTx/>
              <a:buAutoNum type="arabicPeriod"/>
              <a:tabLst>
                <a:tab pos="812165" algn="l"/>
                <a:tab pos="812800" algn="l"/>
              </a:tabLst>
            </a:pPr>
            <a:r>
              <a:rPr sz="1600" kern="1200" spc="-20" dirty="0">
                <a:solidFill>
                  <a:prstClr val="black"/>
                </a:solidFill>
                <a:latin typeface="Palatino Linotype"/>
                <a:cs typeface="Palatino Linotype"/>
              </a:rPr>
              <a:t>Initially,</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add</a:t>
            </a:r>
            <a:r>
              <a:rPr sz="1600" kern="1200" spc="-10" dirty="0">
                <a:solidFill>
                  <a:prstClr val="black"/>
                </a:solidFill>
                <a:latin typeface="Palatino Linotype"/>
                <a:cs typeface="Palatino Linotype"/>
              </a:rPr>
              <a:t> every</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item in </a:t>
            </a:r>
            <a:r>
              <a:rPr sz="1600" kern="1200" dirty="0">
                <a:solidFill>
                  <a:prstClr val="black"/>
                </a:solidFill>
                <a:latin typeface="Cambria Math"/>
                <a:cs typeface="Cambria Math"/>
              </a:rPr>
              <a:t>𝐼</a:t>
            </a:r>
            <a:r>
              <a:rPr sz="1600" kern="1200" spc="95" dirty="0">
                <a:solidFill>
                  <a:prstClr val="black"/>
                </a:solidFill>
                <a:latin typeface="Cambria Math"/>
                <a:cs typeface="Cambria Math"/>
              </a:rPr>
              <a:t> </a:t>
            </a:r>
            <a:r>
              <a:rPr sz="1600" kern="1200" dirty="0">
                <a:solidFill>
                  <a:prstClr val="black"/>
                </a:solidFill>
                <a:latin typeface="Palatino Linotype"/>
                <a:cs typeface="Palatino Linotype"/>
              </a:rPr>
              <a:t>to</a:t>
            </a:r>
            <a:r>
              <a:rPr sz="1600" kern="1200" spc="-10" dirty="0">
                <a:solidFill>
                  <a:prstClr val="black"/>
                </a:solidFill>
                <a:latin typeface="Palatino Linotype"/>
                <a:cs typeface="Palatino Linotype"/>
              </a:rPr>
              <a:t> </a:t>
            </a:r>
            <a:r>
              <a:rPr sz="1600" kern="1200" spc="5" dirty="0">
                <a:solidFill>
                  <a:prstClr val="black"/>
                </a:solidFill>
                <a:latin typeface="Cambria Math"/>
                <a:cs typeface="Cambria Math"/>
              </a:rPr>
              <a:t>CLOSURE(𝐼)</a:t>
            </a:r>
            <a:endParaRPr sz="1600" kern="1200" dirty="0">
              <a:solidFill>
                <a:prstClr val="black"/>
              </a:solidFill>
              <a:latin typeface="Cambria Math"/>
              <a:cs typeface="Cambria Math"/>
            </a:endParaRPr>
          </a:p>
          <a:p>
            <a:pPr marL="812800" lvl="1" indent="-342900" rtl="0">
              <a:spcBef>
                <a:spcPts val="1585"/>
              </a:spcBef>
              <a:buFontTx/>
              <a:buAutoNum type="arabicPeriod"/>
              <a:tabLst>
                <a:tab pos="812165" algn="l"/>
                <a:tab pos="812800" algn="l"/>
              </a:tabLst>
            </a:pPr>
            <a:r>
              <a:rPr sz="1600" kern="1200" spc="-5" dirty="0">
                <a:solidFill>
                  <a:prstClr val="black"/>
                </a:solidFill>
                <a:latin typeface="Palatino Linotype"/>
                <a:cs typeface="Palatino Linotype"/>
              </a:rPr>
              <a:t>If</a:t>
            </a:r>
            <a:r>
              <a:rPr sz="1600" kern="1200" dirty="0">
                <a:solidFill>
                  <a:prstClr val="black"/>
                </a:solidFill>
                <a:latin typeface="Palatino Linotype"/>
                <a:cs typeface="Palatino Linotype"/>
              </a:rPr>
              <a:t> </a:t>
            </a:r>
            <a:r>
              <a:rPr sz="1600" kern="1200" dirty="0">
                <a:solidFill>
                  <a:prstClr val="black"/>
                </a:solidFill>
                <a:latin typeface="Cambria Math"/>
                <a:cs typeface="Cambria Math"/>
              </a:rPr>
              <a:t>𝐴</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𝛼</a:t>
            </a:r>
            <a:r>
              <a:rPr lang="en-US" sz="1600" kern="1200" dirty="0">
                <a:solidFill>
                  <a:prstClr val="black"/>
                </a:solidFill>
                <a:latin typeface="Cambria Math"/>
                <a:cs typeface="Cambria Math"/>
              </a:rPr>
              <a:t> </a:t>
            </a:r>
            <a:r>
              <a:rPr lang="en-US" altLang="zh-CN" sz="1600" kern="1200" spc="50" dirty="0">
                <a:solidFill>
                  <a:prstClr val="black"/>
                </a:solidFill>
                <a:latin typeface="Cambria Math"/>
                <a:cs typeface="Cambria Math"/>
              </a:rPr>
              <a:t>· </a:t>
            </a:r>
            <a:r>
              <a:rPr sz="1600" kern="1200" dirty="0">
                <a:solidFill>
                  <a:srgbClr val="FF0000"/>
                </a:solidFill>
                <a:latin typeface="Cambria Math"/>
                <a:cs typeface="Cambria Math"/>
              </a:rPr>
              <a:t>𝐵</a:t>
            </a:r>
            <a:r>
              <a:rPr sz="1600" kern="1200" dirty="0">
                <a:solidFill>
                  <a:prstClr val="black"/>
                </a:solidFill>
                <a:latin typeface="Cambria Math"/>
                <a:cs typeface="Cambria Math"/>
              </a:rPr>
              <a:t>𝛽</a:t>
            </a:r>
            <a:r>
              <a:rPr sz="1600" kern="1200" spc="100" dirty="0">
                <a:solidFill>
                  <a:prstClr val="black"/>
                </a:solidFill>
                <a:latin typeface="Cambria Math"/>
                <a:cs typeface="Cambria Math"/>
              </a:rPr>
              <a:t> </a:t>
            </a:r>
            <a:r>
              <a:rPr sz="1600" kern="1200" spc="-5" dirty="0">
                <a:solidFill>
                  <a:prstClr val="black"/>
                </a:solidFill>
                <a:latin typeface="Palatino Linotype"/>
                <a:cs typeface="Palatino Linotype"/>
              </a:rPr>
              <a:t>is in</a:t>
            </a:r>
            <a:r>
              <a:rPr sz="1600" kern="1200" spc="5" dirty="0">
                <a:solidFill>
                  <a:prstClr val="black"/>
                </a:solidFill>
                <a:latin typeface="Palatino Linotype"/>
                <a:cs typeface="Palatino Linotype"/>
              </a:rPr>
              <a:t> </a:t>
            </a:r>
            <a:r>
              <a:rPr sz="1600" kern="1200" spc="5" dirty="0">
                <a:solidFill>
                  <a:prstClr val="black"/>
                </a:solidFill>
                <a:latin typeface="Cambria Math"/>
                <a:cs typeface="Cambria Math"/>
              </a:rPr>
              <a:t>CLOSURE(𝐼)</a:t>
            </a:r>
            <a:r>
              <a:rPr sz="1600" kern="1200" spc="45" dirty="0">
                <a:solidFill>
                  <a:prstClr val="black"/>
                </a:solidFill>
                <a:latin typeface="Cambria Math"/>
                <a:cs typeface="Cambria Math"/>
              </a:rPr>
              <a:t> </a:t>
            </a:r>
            <a:r>
              <a:rPr sz="1600" kern="1200" dirty="0">
                <a:solidFill>
                  <a:prstClr val="black"/>
                </a:solidFill>
                <a:latin typeface="Palatino Linotype"/>
                <a:cs typeface="Palatino Linotype"/>
              </a:rPr>
              <a:t>and</a:t>
            </a:r>
            <a:r>
              <a:rPr sz="1600" kern="1200" spc="-5" dirty="0">
                <a:solidFill>
                  <a:prstClr val="black"/>
                </a:solidFill>
                <a:latin typeface="Palatino Linotype"/>
                <a:cs typeface="Palatino Linotype"/>
              </a:rPr>
              <a:t> </a:t>
            </a:r>
            <a:r>
              <a:rPr sz="1600" kern="1200" dirty="0">
                <a:solidFill>
                  <a:srgbClr val="FF0000"/>
                </a:solidFill>
                <a:latin typeface="Cambria Math"/>
                <a:cs typeface="Cambria Math"/>
              </a:rPr>
              <a:t>𝐵</a:t>
            </a:r>
            <a:r>
              <a:rPr sz="1600" kern="1200" spc="135" dirty="0">
                <a:solidFill>
                  <a:srgbClr val="FF0000"/>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𝛾</a:t>
            </a:r>
            <a:r>
              <a:rPr sz="1600" kern="1200" spc="85" dirty="0">
                <a:solidFill>
                  <a:prstClr val="black"/>
                </a:solidFill>
                <a:latin typeface="Cambria Math"/>
                <a:cs typeface="Cambria Math"/>
              </a:rPr>
              <a:t> </a:t>
            </a:r>
            <a:r>
              <a:rPr sz="1600" kern="1200" spc="-5" dirty="0">
                <a:solidFill>
                  <a:prstClr val="black"/>
                </a:solidFill>
                <a:latin typeface="Palatino Linotype"/>
                <a:cs typeface="Palatino Linotype"/>
              </a:rPr>
              <a:t>is</a:t>
            </a:r>
            <a:r>
              <a:rPr sz="1600" kern="1200" dirty="0">
                <a:solidFill>
                  <a:prstClr val="black"/>
                </a:solidFill>
                <a:latin typeface="Palatino Linotype"/>
                <a:cs typeface="Palatino Linotype"/>
              </a:rPr>
              <a:t> a </a:t>
            </a:r>
            <a:r>
              <a:rPr sz="1600" kern="1200" spc="-5" dirty="0">
                <a:solidFill>
                  <a:prstClr val="black"/>
                </a:solidFill>
                <a:latin typeface="Palatino Linotype"/>
                <a:cs typeface="Palatino Linotype"/>
              </a:rPr>
              <a:t>production,</a:t>
            </a:r>
            <a:r>
              <a:rPr sz="1600" kern="1200" dirty="0">
                <a:solidFill>
                  <a:prstClr val="black"/>
                </a:solidFill>
                <a:latin typeface="Palatino Linotype"/>
                <a:cs typeface="Palatino Linotype"/>
              </a:rPr>
              <a:t> then</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add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item</a:t>
            </a:r>
            <a:endParaRPr sz="1600" kern="1200" dirty="0">
              <a:solidFill>
                <a:prstClr val="black"/>
              </a:solidFill>
              <a:latin typeface="Palatino Linotype"/>
              <a:cs typeface="Palatino Linotype"/>
            </a:endParaRPr>
          </a:p>
          <a:p>
            <a:pPr marL="812800" marR="5080" rtl="0">
              <a:lnSpc>
                <a:spcPct val="120000"/>
              </a:lnSpc>
            </a:pPr>
            <a:r>
              <a:rPr sz="1600" kern="1200" dirty="0">
                <a:solidFill>
                  <a:srgbClr val="FF0000"/>
                </a:solidFill>
                <a:latin typeface="Cambria Math"/>
                <a:cs typeface="Cambria Math"/>
              </a:rPr>
              <a:t>𝐵</a:t>
            </a:r>
            <a:r>
              <a:rPr sz="1600" kern="1200" spc="135" dirty="0">
                <a:solidFill>
                  <a:srgbClr val="FF0000"/>
                </a:solidFill>
                <a:latin typeface="Cambria Math"/>
                <a:cs typeface="Cambria Math"/>
              </a:rPr>
              <a:t> </a:t>
            </a:r>
            <a:r>
              <a:rPr sz="1600" kern="1200" spc="-325" dirty="0">
                <a:solidFill>
                  <a:srgbClr val="FF0000"/>
                </a:solidFill>
                <a:latin typeface="Cambria Math"/>
                <a:cs typeface="Cambria Math"/>
              </a:rPr>
              <a:t>→</a:t>
            </a:r>
            <a:r>
              <a:rPr lang="en-US" sz="1600" kern="1200" spc="-325" dirty="0">
                <a:solidFill>
                  <a:srgbClr val="FF0000"/>
                </a:solidFill>
                <a:latin typeface="Cambria Math"/>
                <a:cs typeface="Cambria Math"/>
              </a:rPr>
              <a:t>              </a:t>
            </a:r>
            <a:r>
              <a:rPr lang="en-US" altLang="zh-CN" sz="1600" kern="1200" spc="-325" dirty="0">
                <a:solidFill>
                  <a:srgbClr val="FF0000"/>
                </a:solidFill>
                <a:latin typeface="Cambria Math"/>
                <a:cs typeface="Cambria Math"/>
              </a:rPr>
              <a:t>·                        </a:t>
            </a:r>
            <a:r>
              <a:rPr sz="1600" kern="1200" dirty="0">
                <a:solidFill>
                  <a:srgbClr val="FF0000"/>
                </a:solidFill>
                <a:latin typeface="Cambria Math"/>
                <a:cs typeface="Cambria Math"/>
              </a:rPr>
              <a:t>𝛾</a:t>
            </a:r>
            <a:r>
              <a:rPr sz="1600" kern="1200" spc="90" dirty="0">
                <a:solidFill>
                  <a:srgbClr val="FF0000"/>
                </a:solidFill>
                <a:latin typeface="Cambria Math"/>
                <a:cs typeface="Cambria Math"/>
              </a:rPr>
              <a:t> </a:t>
            </a:r>
            <a:r>
              <a:rPr sz="1600" kern="1200" dirty="0">
                <a:solidFill>
                  <a:prstClr val="black"/>
                </a:solidFill>
                <a:latin typeface="Palatino Linotype"/>
                <a:cs typeface="Palatino Linotype"/>
              </a:rPr>
              <a:t>to </a:t>
            </a:r>
            <a:r>
              <a:rPr sz="1600" kern="1200" dirty="0">
                <a:solidFill>
                  <a:prstClr val="black"/>
                </a:solidFill>
                <a:latin typeface="Cambria Math"/>
                <a:cs typeface="Cambria Math"/>
              </a:rPr>
              <a:t>CLOSURE(𝐼)</a:t>
            </a:r>
            <a:r>
              <a:rPr sz="1600" kern="1200" dirty="0">
                <a:solidFill>
                  <a:prstClr val="black"/>
                </a:solidFill>
                <a:latin typeface="Palatino Linotype"/>
                <a:cs typeface="Palatino Linotype"/>
              </a:rPr>
              <a: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if</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is</a:t>
            </a:r>
            <a:r>
              <a:rPr sz="1600" kern="1200" dirty="0">
                <a:solidFill>
                  <a:prstClr val="black"/>
                </a:solidFill>
                <a:latin typeface="Palatino Linotype"/>
                <a:cs typeface="Palatino Linotype"/>
              </a:rPr>
              <a:t> not </a:t>
            </a:r>
            <a:r>
              <a:rPr sz="1600" kern="1200" spc="-5" dirty="0">
                <a:solidFill>
                  <a:prstClr val="black"/>
                </a:solidFill>
                <a:latin typeface="Palatino Linotype"/>
                <a:cs typeface="Palatino Linotype"/>
              </a:rPr>
              <a:t>already</a:t>
            </a:r>
            <a:r>
              <a:rPr sz="1600" kern="1200" dirty="0">
                <a:solidFill>
                  <a:prstClr val="black"/>
                </a:solidFill>
                <a:latin typeface="Palatino Linotype"/>
                <a:cs typeface="Palatino Linotype"/>
              </a:rPr>
              <a:t> there.</a:t>
            </a:r>
            <a:r>
              <a:rPr sz="1600" kern="1200" spc="-60" dirty="0">
                <a:solidFill>
                  <a:prstClr val="black"/>
                </a:solidFill>
                <a:latin typeface="Palatino Linotype"/>
                <a:cs typeface="Palatino Linotype"/>
              </a:rPr>
              <a:t> </a:t>
            </a:r>
            <a:r>
              <a:rPr sz="1600" kern="1200" dirty="0">
                <a:solidFill>
                  <a:prstClr val="black"/>
                </a:solidFill>
                <a:latin typeface="Palatino Linotype"/>
                <a:cs typeface="Palatino Linotype"/>
              </a:rPr>
              <a:t>Apply this </a:t>
            </a:r>
            <a:r>
              <a:rPr sz="1600" kern="1200" spc="-5" dirty="0">
                <a:solidFill>
                  <a:prstClr val="black"/>
                </a:solidFill>
                <a:latin typeface="Palatino Linotype"/>
                <a:cs typeface="Palatino Linotype"/>
              </a:rPr>
              <a:t>rule until</a:t>
            </a:r>
            <a:r>
              <a:rPr sz="1600" kern="1200" dirty="0">
                <a:solidFill>
                  <a:prstClr val="black"/>
                </a:solidFill>
                <a:latin typeface="Palatino Linotype"/>
                <a:cs typeface="Palatino Linotype"/>
              </a:rPr>
              <a:t> no more </a:t>
            </a:r>
            <a:r>
              <a:rPr sz="1600" kern="1200" spc="-385" dirty="0">
                <a:solidFill>
                  <a:prstClr val="black"/>
                </a:solidFill>
                <a:latin typeface="Palatino Linotype"/>
                <a:cs typeface="Palatino Linotype"/>
              </a:rPr>
              <a:t> </a:t>
            </a:r>
            <a:r>
              <a:rPr sz="1600" kern="1200" dirty="0">
                <a:solidFill>
                  <a:prstClr val="black"/>
                </a:solidFill>
                <a:latin typeface="Palatino Linotype"/>
                <a:cs typeface="Palatino Linotype"/>
              </a:rPr>
              <a:t>new</a:t>
            </a:r>
            <a:r>
              <a:rPr sz="1600" kern="1200" spc="-5" dirty="0">
                <a:solidFill>
                  <a:prstClr val="black"/>
                </a:solidFill>
                <a:latin typeface="Palatino Linotype"/>
                <a:cs typeface="Palatino Linotype"/>
              </a:rPr>
              <a:t> items </a:t>
            </a:r>
            <a:r>
              <a:rPr sz="1600" kern="1200" dirty="0">
                <a:solidFill>
                  <a:prstClr val="black"/>
                </a:solidFill>
                <a:latin typeface="Palatino Linotype"/>
                <a:cs typeface="Palatino Linotype"/>
              </a:rPr>
              <a:t>can</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be</a:t>
            </a:r>
            <a:r>
              <a:rPr sz="1600" kern="1200" spc="-5" dirty="0">
                <a:solidFill>
                  <a:prstClr val="black"/>
                </a:solidFill>
                <a:latin typeface="Palatino Linotype"/>
                <a:cs typeface="Palatino Linotype"/>
              </a:rPr>
              <a:t> added </a:t>
            </a:r>
            <a:r>
              <a:rPr sz="1600" kern="1200"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spc="5" dirty="0">
                <a:solidFill>
                  <a:prstClr val="black"/>
                </a:solidFill>
                <a:latin typeface="Cambria Math"/>
                <a:cs typeface="Cambria Math"/>
              </a:rPr>
              <a:t>CLOSURE(𝐼)</a:t>
            </a:r>
            <a:endParaRPr sz="1600" kern="1200" dirty="0">
              <a:solidFill>
                <a:prstClr val="black"/>
              </a:solidFill>
              <a:latin typeface="Cambria Math"/>
              <a:cs typeface="Cambria Math"/>
            </a:endParaRPr>
          </a:p>
          <a:p>
            <a:pPr rtl="0">
              <a:spcBef>
                <a:spcPts val="35"/>
              </a:spcBef>
            </a:pPr>
            <a:endParaRPr sz="1900" kern="1200" dirty="0">
              <a:solidFill>
                <a:prstClr val="black"/>
              </a:solidFill>
              <a:latin typeface="Cambria Math"/>
              <a:cs typeface="Cambria Math"/>
            </a:endParaRPr>
          </a:p>
          <a:p>
            <a:pPr marL="356870" marR="369570" indent="-342900" algn="just" rtl="0">
              <a:lnSpc>
                <a:spcPct val="121000"/>
              </a:lnSpc>
              <a:buClr>
                <a:srgbClr val="000000"/>
              </a:buClr>
              <a:buFont typeface="Arial MT"/>
              <a:buChar char="•"/>
              <a:tabLst>
                <a:tab pos="357505" algn="l"/>
              </a:tabLst>
            </a:pPr>
            <a:r>
              <a:rPr sz="2000" b="1" kern="1200" spc="-5" dirty="0">
                <a:solidFill>
                  <a:srgbClr val="FF0000"/>
                </a:solidFill>
                <a:latin typeface="Palatino Linotype"/>
                <a:cs typeface="Palatino Linotype"/>
              </a:rPr>
              <a:t>Intuition: </a:t>
            </a:r>
            <a:r>
              <a:rPr sz="2000" kern="1200" dirty="0">
                <a:solidFill>
                  <a:srgbClr val="0432FF"/>
                </a:solidFill>
                <a:latin typeface="Cambria Math"/>
                <a:cs typeface="Cambria Math"/>
              </a:rPr>
              <a:t>𝐴 → 𝛼 </a:t>
            </a:r>
            <a:r>
              <a:rPr lang="en-US" altLang="zh-CN" sz="2000" kern="1200" spc="-114" dirty="0">
                <a:solidFill>
                  <a:srgbClr val="0432FF"/>
                </a:solidFill>
                <a:latin typeface="Cambria Math"/>
                <a:cs typeface="Cambria Math"/>
              </a:rPr>
              <a:t>·</a:t>
            </a:r>
            <a:r>
              <a:rPr sz="2000" kern="1200" spc="-114" dirty="0">
                <a:solidFill>
                  <a:srgbClr val="0432FF"/>
                </a:solidFill>
                <a:latin typeface="Cambria Math"/>
                <a:cs typeface="Cambria Math"/>
              </a:rPr>
              <a:t> </a:t>
            </a:r>
            <a:r>
              <a:rPr sz="2000" kern="1200" dirty="0">
                <a:solidFill>
                  <a:srgbClr val="0432FF"/>
                </a:solidFill>
                <a:latin typeface="Cambria Math"/>
                <a:cs typeface="Cambria Math"/>
              </a:rPr>
              <a:t>𝐵𝛽 </a:t>
            </a:r>
            <a:r>
              <a:rPr sz="2000" kern="1200" spc="-5" dirty="0">
                <a:solidFill>
                  <a:prstClr val="black"/>
                </a:solidFill>
                <a:latin typeface="Palatino Linotype"/>
                <a:cs typeface="Palatino Linotype"/>
              </a:rPr>
              <a:t>indicates that </a:t>
            </a:r>
            <a:r>
              <a:rPr sz="2000" kern="1200" spc="-20" dirty="0">
                <a:solidFill>
                  <a:prstClr val="black"/>
                </a:solidFill>
                <a:latin typeface="Palatino Linotype"/>
                <a:cs typeface="Palatino Linotype"/>
              </a:rPr>
              <a:t>we </a:t>
            </a:r>
            <a:r>
              <a:rPr sz="2000" kern="1200" spc="-5" dirty="0">
                <a:solidFill>
                  <a:prstClr val="black"/>
                </a:solidFill>
                <a:latin typeface="Palatino Linotype"/>
                <a:cs typeface="Palatino Linotype"/>
              </a:rPr>
              <a:t>hope to </a:t>
            </a:r>
            <a:r>
              <a:rPr sz="2000" kern="1200" dirty="0">
                <a:solidFill>
                  <a:prstClr val="black"/>
                </a:solidFill>
                <a:latin typeface="Palatino Linotype"/>
                <a:cs typeface="Palatino Linotype"/>
              </a:rPr>
              <a:t>see a </a:t>
            </a:r>
            <a:r>
              <a:rPr sz="2000" kern="1200" spc="-5" dirty="0">
                <a:solidFill>
                  <a:prstClr val="black"/>
                </a:solidFill>
                <a:latin typeface="Palatino Linotype"/>
                <a:cs typeface="Palatino Linotype"/>
              </a:rPr>
              <a:t>substring </a:t>
            </a:r>
            <a:r>
              <a:rPr sz="2000" kern="1200" dirty="0">
                <a:solidFill>
                  <a:prstClr val="black"/>
                </a:solidFill>
                <a:latin typeface="Palatino Linotype"/>
                <a:cs typeface="Palatino Linotype"/>
              </a:rPr>
              <a:t> </a:t>
            </a:r>
            <a:r>
              <a:rPr sz="2000" kern="1200" spc="-10" dirty="0">
                <a:solidFill>
                  <a:prstClr val="black"/>
                </a:solidFill>
                <a:latin typeface="Palatino Linotype"/>
                <a:cs typeface="Palatino Linotype"/>
              </a:rPr>
              <a:t>derivable </a:t>
            </a:r>
            <a:r>
              <a:rPr sz="2000" kern="1200" spc="-5" dirty="0">
                <a:solidFill>
                  <a:prstClr val="black"/>
                </a:solidFill>
                <a:latin typeface="Palatino Linotype"/>
                <a:cs typeface="Palatino Linotype"/>
              </a:rPr>
              <a:t>from </a:t>
            </a:r>
            <a:r>
              <a:rPr sz="2000" kern="1200" spc="20" dirty="0">
                <a:solidFill>
                  <a:srgbClr val="0432FF"/>
                </a:solidFill>
                <a:latin typeface="Cambria Math"/>
                <a:cs typeface="Cambria Math"/>
              </a:rPr>
              <a:t>𝐵𝛽</a:t>
            </a:r>
            <a:r>
              <a:rPr sz="2000" kern="1200" spc="20" dirty="0">
                <a:solidFill>
                  <a:prstClr val="black"/>
                </a:solidFill>
                <a:latin typeface="Palatino Linotype"/>
                <a:cs typeface="Palatino Linotype"/>
              </a:rPr>
              <a:t>. </a:t>
            </a:r>
            <a:r>
              <a:rPr sz="2000" kern="1200" spc="-5" dirty="0">
                <a:solidFill>
                  <a:prstClr val="black"/>
                </a:solidFill>
                <a:latin typeface="Palatino Linotype"/>
                <a:cs typeface="Palatino Linotype"/>
              </a:rPr>
              <a:t>This substring </a:t>
            </a:r>
            <a:r>
              <a:rPr sz="2000" kern="1200" dirty="0">
                <a:solidFill>
                  <a:prstClr val="black"/>
                </a:solidFill>
                <a:latin typeface="Palatino Linotype"/>
                <a:cs typeface="Palatino Linotype"/>
              </a:rPr>
              <a:t>will </a:t>
            </a:r>
            <a:r>
              <a:rPr sz="2000" kern="1200" spc="-15" dirty="0">
                <a:solidFill>
                  <a:prstClr val="black"/>
                </a:solidFill>
                <a:latin typeface="Palatino Linotype"/>
                <a:cs typeface="Palatino Linotype"/>
              </a:rPr>
              <a:t>have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prefix </a:t>
            </a:r>
            <a:r>
              <a:rPr sz="2000" kern="1200" spc="-10" dirty="0">
                <a:solidFill>
                  <a:prstClr val="black"/>
                </a:solidFill>
                <a:latin typeface="Palatino Linotype"/>
                <a:cs typeface="Palatino Linotype"/>
              </a:rPr>
              <a:t>derivable </a:t>
            </a:r>
            <a:r>
              <a:rPr sz="2000" kern="1200" spc="-5" dirty="0">
                <a:solidFill>
                  <a:prstClr val="black"/>
                </a:solidFill>
                <a:latin typeface="Palatino Linotype"/>
                <a:cs typeface="Palatino Linotype"/>
              </a:rPr>
              <a:t> from</a:t>
            </a:r>
            <a:r>
              <a:rPr sz="2000" kern="1200" spc="-10" dirty="0">
                <a:solidFill>
                  <a:prstClr val="black"/>
                </a:solidFill>
                <a:latin typeface="Palatino Linotype"/>
                <a:cs typeface="Palatino Linotype"/>
              </a:rPr>
              <a:t> </a:t>
            </a:r>
            <a:r>
              <a:rPr sz="2000" kern="1200" spc="25" dirty="0">
                <a:solidFill>
                  <a:srgbClr val="0432FF"/>
                </a:solidFill>
                <a:latin typeface="Cambria Math"/>
                <a:cs typeface="Cambria Math"/>
              </a:rPr>
              <a:t>𝐵</a:t>
            </a:r>
            <a:r>
              <a:rPr sz="2000" kern="1200" spc="2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Therefore, </a:t>
            </a:r>
            <a:r>
              <a:rPr sz="2000" kern="1200" spc="-20" dirty="0">
                <a:solidFill>
                  <a:prstClr val="black"/>
                </a:solidFill>
                <a:latin typeface="Palatino Linotype"/>
                <a:cs typeface="Palatino Linotype"/>
              </a:rPr>
              <a:t>we</a:t>
            </a:r>
            <a:r>
              <a:rPr sz="2000" kern="1200" dirty="0">
                <a:solidFill>
                  <a:prstClr val="black"/>
                </a:solidFill>
                <a:latin typeface="Palatino Linotype"/>
                <a:cs typeface="Palatino Linotype"/>
              </a:rPr>
              <a:t> add </a:t>
            </a:r>
            <a:r>
              <a:rPr sz="2000" kern="1200" spc="-5" dirty="0">
                <a:solidFill>
                  <a:prstClr val="black"/>
                </a:solidFill>
                <a:latin typeface="Palatino Linotype"/>
                <a:cs typeface="Palatino Linotype"/>
              </a:rPr>
              <a:t>items for </a:t>
            </a:r>
            <a:r>
              <a:rPr sz="2000" kern="1200" dirty="0">
                <a:solidFill>
                  <a:prstClr val="black"/>
                </a:solidFill>
                <a:latin typeface="Palatino Linotype"/>
                <a:cs typeface="Palatino Linotype"/>
              </a:rPr>
              <a:t>all</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𝐵</a:t>
            </a:r>
            <a:r>
              <a:rPr sz="2000" kern="1200" dirty="0">
                <a:solidFill>
                  <a:prstClr val="black"/>
                </a:solidFill>
                <a:latin typeface="Palatino Linotype"/>
                <a:cs typeface="Palatino Linotype"/>
              </a:rPr>
              <a:t>-productions.</a:t>
            </a:r>
          </a:p>
        </p:txBody>
      </p:sp>
    </p:spTree>
    <p:extLst>
      <p:ext uri="{BB962C8B-B14F-4D97-AF65-F5344CB8AC3E}">
        <p14:creationId xmlns:p14="http://schemas.microsoft.com/office/powerpoint/2010/main" val="5897445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109</a:t>
            </a:fld>
            <a:endParaRPr lang="en-US"/>
          </a:p>
        </p:txBody>
      </p:sp>
      <p:sp>
        <p:nvSpPr>
          <p:cNvPr id="10" name="object 2">
            <a:extLst>
              <a:ext uri="{FF2B5EF4-FFF2-40B4-BE49-F238E27FC236}">
                <a16:creationId xmlns:a16="http://schemas.microsoft.com/office/drawing/2014/main" id="{79D2B3BA-E37D-97D9-4066-4446D7B5FB8D}"/>
              </a:ext>
            </a:extLst>
          </p:cNvPr>
          <p:cNvSpPr txBox="1">
            <a:spLocks/>
          </p:cNvSpPr>
          <p:nvPr/>
        </p:nvSpPr>
        <p:spPr>
          <a:xfrm>
            <a:off x="1524603" y="524763"/>
            <a:ext cx="6094793" cy="635000"/>
          </a:xfrm>
          <a:prstGeom prst="rect">
            <a:avLst/>
          </a:prstGeom>
        </p:spPr>
        <p:txBody>
          <a:bodyPr vert="horz" wrap="square" lIns="0" tIns="12700" rIns="0" bIns="0" rtlCol="0">
            <a:spAutoFit/>
          </a:bodyPr>
          <a:lstStyle>
            <a:lvl1pPr>
              <a:defRPr sz="4000" b="1" i="0">
                <a:solidFill>
                  <a:srgbClr val="A6A6A6"/>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rgbClr val="A6A6A6"/>
                </a:solidFill>
                <a:effectLst/>
                <a:uLnTx/>
                <a:uFillTx/>
                <a:latin typeface="Palatino Linotype"/>
                <a:ea typeface="+mj-ea"/>
              </a:rPr>
              <a:t>Algorithm</a:t>
            </a:r>
            <a:r>
              <a:rPr kumimoji="0" lang="en-US" sz="4000" b="1" i="0" u="none" strike="noStrike" kern="0" cap="none" spc="-25" normalizeH="0" baseline="0" noProof="0">
                <a:ln>
                  <a:noFill/>
                </a:ln>
                <a:solidFill>
                  <a:srgbClr val="A6A6A6"/>
                </a:solidFill>
                <a:effectLst/>
                <a:uLnTx/>
                <a:uFillTx/>
                <a:latin typeface="Palatino Linotype"/>
                <a:ea typeface="+mj-ea"/>
              </a:rPr>
              <a:t> </a:t>
            </a:r>
            <a:r>
              <a:rPr kumimoji="0" lang="en-US" sz="4000" b="1" i="0" u="none" strike="noStrike" kern="0" cap="none" spc="0" normalizeH="0" baseline="0" noProof="0">
                <a:ln>
                  <a:noFill/>
                </a:ln>
                <a:solidFill>
                  <a:srgbClr val="A6A6A6"/>
                </a:solidFill>
                <a:effectLst/>
                <a:uLnTx/>
                <a:uFillTx/>
                <a:latin typeface="Palatino Linotype"/>
                <a:ea typeface="+mj-ea"/>
              </a:rPr>
              <a:t>for</a:t>
            </a:r>
            <a:r>
              <a:rPr kumimoji="0" lang="en-US" sz="4000" b="1" i="0" u="none" strike="noStrike" kern="0" cap="none" spc="-25" normalizeH="0" baseline="0" noProof="0">
                <a:ln>
                  <a:noFill/>
                </a:ln>
                <a:solidFill>
                  <a:srgbClr val="A6A6A6"/>
                </a:solidFill>
                <a:effectLst/>
                <a:uLnTx/>
                <a:uFillTx/>
                <a:latin typeface="Palatino Linotype"/>
                <a:ea typeface="+mj-ea"/>
              </a:rPr>
              <a:t> </a:t>
            </a:r>
            <a:r>
              <a:rPr kumimoji="0" lang="en-US" sz="4000" b="0" i="0" u="none" strike="noStrike" kern="0" cap="none" spc="5" normalizeH="0" baseline="0" noProof="0">
                <a:ln>
                  <a:noFill/>
                </a:ln>
                <a:solidFill>
                  <a:srgbClr val="A6A6A6"/>
                </a:solidFill>
                <a:effectLst/>
                <a:uLnTx/>
                <a:uFillTx/>
                <a:latin typeface="Cambria Math"/>
                <a:ea typeface="+mj-ea"/>
                <a:cs typeface="Cambria Math"/>
              </a:rPr>
              <a:t>CLOSURE(𝐼)</a:t>
            </a:r>
            <a:endParaRPr kumimoji="0" lang="en-US" sz="4000" b="0" i="0" u="none" strike="noStrike" kern="0" cap="none" spc="5" normalizeH="0" baseline="0" noProof="0" dirty="0">
              <a:ln>
                <a:noFill/>
              </a:ln>
              <a:solidFill>
                <a:srgbClr val="A6A6A6"/>
              </a:solidFill>
              <a:effectLst/>
              <a:uLnTx/>
              <a:uFillTx/>
              <a:latin typeface="Cambria Math"/>
              <a:ea typeface="+mj-ea"/>
              <a:cs typeface="Cambria Math"/>
            </a:endParaRPr>
          </a:p>
        </p:txBody>
      </p:sp>
      <p:grpSp>
        <p:nvGrpSpPr>
          <p:cNvPr id="11" name="object 3">
            <a:extLst>
              <a:ext uri="{FF2B5EF4-FFF2-40B4-BE49-F238E27FC236}">
                <a16:creationId xmlns:a16="http://schemas.microsoft.com/office/drawing/2014/main" id="{E2AAE97E-C105-2CD6-F7A7-963555E27E44}"/>
              </a:ext>
            </a:extLst>
          </p:cNvPr>
          <p:cNvGrpSpPr/>
          <p:nvPr/>
        </p:nvGrpSpPr>
        <p:grpSpPr>
          <a:xfrm>
            <a:off x="1497999" y="2355241"/>
            <a:ext cx="6148070" cy="3137535"/>
            <a:chOff x="1497999" y="2355241"/>
            <a:chExt cx="6148070" cy="3137535"/>
          </a:xfrm>
        </p:grpSpPr>
        <p:pic>
          <p:nvPicPr>
            <p:cNvPr id="12" name="object 4">
              <a:extLst>
                <a:ext uri="{FF2B5EF4-FFF2-40B4-BE49-F238E27FC236}">
                  <a16:creationId xmlns:a16="http://schemas.microsoft.com/office/drawing/2014/main" id="{D5801BC4-5336-FC79-6C86-31047DC82F28}"/>
                </a:ext>
              </a:extLst>
            </p:cNvPr>
            <p:cNvPicPr/>
            <p:nvPr/>
          </p:nvPicPr>
          <p:blipFill>
            <a:blip r:embed="rId3" cstate="print"/>
            <a:stretch>
              <a:fillRect/>
            </a:stretch>
          </p:blipFill>
          <p:spPr>
            <a:xfrm>
              <a:off x="1633246" y="2389911"/>
              <a:ext cx="5814646" cy="2973327"/>
            </a:xfrm>
            <a:prstGeom prst="rect">
              <a:avLst/>
            </a:prstGeom>
          </p:spPr>
        </p:pic>
        <p:sp>
          <p:nvSpPr>
            <p:cNvPr id="13" name="object 5">
              <a:extLst>
                <a:ext uri="{FF2B5EF4-FFF2-40B4-BE49-F238E27FC236}">
                  <a16:creationId xmlns:a16="http://schemas.microsoft.com/office/drawing/2014/main" id="{E7A2056A-86D4-D372-D8C9-015CBFBA7619}"/>
                </a:ext>
              </a:extLst>
            </p:cNvPr>
            <p:cNvSpPr/>
            <p:nvPr/>
          </p:nvSpPr>
          <p:spPr>
            <a:xfrm>
              <a:off x="1502761" y="2360004"/>
              <a:ext cx="6138545" cy="3128010"/>
            </a:xfrm>
            <a:custGeom>
              <a:avLst/>
              <a:gdLst/>
              <a:ahLst/>
              <a:cxnLst/>
              <a:rect l="l" t="t" r="r" b="b"/>
              <a:pathLst>
                <a:path w="6138545" h="3128010">
                  <a:moveTo>
                    <a:pt x="0" y="0"/>
                  </a:moveTo>
                  <a:lnTo>
                    <a:pt x="6138477" y="0"/>
                  </a:lnTo>
                  <a:lnTo>
                    <a:pt x="6138477" y="3127433"/>
                  </a:lnTo>
                  <a:lnTo>
                    <a:pt x="0" y="3127433"/>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4" name="object 6">
            <a:extLst>
              <a:ext uri="{FF2B5EF4-FFF2-40B4-BE49-F238E27FC236}">
                <a16:creationId xmlns:a16="http://schemas.microsoft.com/office/drawing/2014/main" id="{F865BA16-E6D8-9B98-831E-AC373731810A}"/>
              </a:ext>
            </a:extLst>
          </p:cNvPr>
          <p:cNvSpPr txBox="1"/>
          <p:nvPr/>
        </p:nvSpPr>
        <p:spPr>
          <a:xfrm>
            <a:off x="1483045" y="1984755"/>
            <a:ext cx="5890895" cy="269240"/>
          </a:xfrm>
          <a:prstGeom prst="rect">
            <a:avLst/>
          </a:prstGeom>
        </p:spPr>
        <p:txBody>
          <a:bodyPr vert="horz" wrap="square" lIns="0" tIns="12700" rIns="0" bIns="0" rtlCol="0">
            <a:spAutoFit/>
          </a:bodyPr>
          <a:lstStyle/>
          <a:p>
            <a:pPr marL="12700" rtl="0">
              <a:spcBef>
                <a:spcPts val="100"/>
              </a:spcBef>
            </a:pPr>
            <a:r>
              <a:rPr sz="1600" kern="1200" dirty="0">
                <a:solidFill>
                  <a:srgbClr val="00B050"/>
                </a:solidFill>
                <a:latin typeface="Palatino Linotype"/>
                <a:cs typeface="Palatino Linotype"/>
              </a:rPr>
              <a:t>//</a:t>
            </a:r>
            <a:r>
              <a:rPr sz="1600" kern="1200" spc="5" dirty="0">
                <a:solidFill>
                  <a:srgbClr val="00B050"/>
                </a:solidFill>
                <a:latin typeface="Palatino Linotype"/>
                <a:cs typeface="Palatino Linotype"/>
              </a:rPr>
              <a:t> </a:t>
            </a:r>
            <a:r>
              <a:rPr sz="1600" kern="1200" dirty="0">
                <a:solidFill>
                  <a:srgbClr val="00B050"/>
                </a:solidFill>
                <a:latin typeface="Palatino Linotype"/>
                <a:cs typeface="Palatino Linotype"/>
              </a:rPr>
              <a:t>the </a:t>
            </a:r>
            <a:r>
              <a:rPr sz="1600" kern="1200" spc="-5" dirty="0">
                <a:solidFill>
                  <a:srgbClr val="00B050"/>
                </a:solidFill>
                <a:latin typeface="Palatino Linotype"/>
                <a:cs typeface="Palatino Linotype"/>
              </a:rPr>
              <a:t>earlier</a:t>
            </a:r>
            <a:r>
              <a:rPr sz="1600" kern="1200" spc="10" dirty="0">
                <a:solidFill>
                  <a:srgbClr val="00B050"/>
                </a:solidFill>
                <a:latin typeface="Palatino Linotype"/>
                <a:cs typeface="Palatino Linotype"/>
              </a:rPr>
              <a:t> </a:t>
            </a:r>
            <a:r>
              <a:rPr sz="1600" kern="1200" dirty="0">
                <a:solidFill>
                  <a:srgbClr val="00B050"/>
                </a:solidFill>
                <a:latin typeface="Palatino Linotype"/>
                <a:cs typeface="Palatino Linotype"/>
              </a:rPr>
              <a:t>natural </a:t>
            </a:r>
            <a:r>
              <a:rPr sz="1600" kern="1200" spc="-5" dirty="0">
                <a:solidFill>
                  <a:srgbClr val="00B050"/>
                </a:solidFill>
                <a:latin typeface="Palatino Linotype"/>
                <a:cs typeface="Palatino Linotype"/>
              </a:rPr>
              <a:t>language</a:t>
            </a:r>
            <a:r>
              <a:rPr sz="1600" kern="1200" dirty="0">
                <a:solidFill>
                  <a:srgbClr val="00B050"/>
                </a:solidFill>
                <a:latin typeface="Palatino Linotype"/>
                <a:cs typeface="Palatino Linotype"/>
              </a:rPr>
              <a:t> </a:t>
            </a:r>
            <a:r>
              <a:rPr sz="1600" kern="1200" spc="-5" dirty="0">
                <a:solidFill>
                  <a:srgbClr val="00B050"/>
                </a:solidFill>
                <a:latin typeface="Palatino Linotype"/>
                <a:cs typeface="Palatino Linotype"/>
              </a:rPr>
              <a:t>description</a:t>
            </a:r>
            <a:r>
              <a:rPr sz="1600" kern="1200" spc="10" dirty="0">
                <a:solidFill>
                  <a:srgbClr val="00B050"/>
                </a:solidFill>
                <a:latin typeface="Palatino Linotype"/>
                <a:cs typeface="Palatino Linotype"/>
              </a:rPr>
              <a:t> </a:t>
            </a:r>
            <a:r>
              <a:rPr sz="1600" kern="1200" spc="-5" dirty="0">
                <a:solidFill>
                  <a:srgbClr val="00B050"/>
                </a:solidFill>
                <a:latin typeface="Palatino Linotype"/>
                <a:cs typeface="Palatino Linotype"/>
              </a:rPr>
              <a:t>is</a:t>
            </a:r>
            <a:r>
              <a:rPr sz="1600" kern="1200" spc="5" dirty="0">
                <a:solidFill>
                  <a:srgbClr val="00B050"/>
                </a:solidFill>
                <a:latin typeface="Palatino Linotype"/>
                <a:cs typeface="Palatino Linotype"/>
              </a:rPr>
              <a:t> </a:t>
            </a:r>
            <a:r>
              <a:rPr sz="1600" kern="1200" spc="-5" dirty="0">
                <a:solidFill>
                  <a:srgbClr val="00B050"/>
                </a:solidFill>
                <a:latin typeface="Palatino Linotype"/>
                <a:cs typeface="Palatino Linotype"/>
              </a:rPr>
              <a:t>already</a:t>
            </a:r>
            <a:r>
              <a:rPr sz="1600" kern="1200" dirty="0">
                <a:solidFill>
                  <a:srgbClr val="00B050"/>
                </a:solidFill>
                <a:latin typeface="Palatino Linotype"/>
                <a:cs typeface="Palatino Linotype"/>
              </a:rPr>
              <a:t> </a:t>
            </a:r>
            <a:r>
              <a:rPr sz="1600" kern="1200" spc="-5" dirty="0">
                <a:solidFill>
                  <a:srgbClr val="00B050"/>
                </a:solidFill>
                <a:latin typeface="Palatino Linotype"/>
                <a:cs typeface="Palatino Linotype"/>
              </a:rPr>
              <a:t>clear</a:t>
            </a:r>
            <a:r>
              <a:rPr sz="1600" kern="1200" spc="10" dirty="0">
                <a:solidFill>
                  <a:srgbClr val="00B050"/>
                </a:solidFill>
                <a:latin typeface="Palatino Linotype"/>
                <a:cs typeface="Palatino Linotype"/>
              </a:rPr>
              <a:t> </a:t>
            </a:r>
            <a:r>
              <a:rPr sz="1600" kern="1200" spc="-5" dirty="0">
                <a:solidFill>
                  <a:srgbClr val="00B050"/>
                </a:solidFill>
                <a:latin typeface="Palatino Linotype"/>
                <a:cs typeface="Palatino Linotype"/>
              </a:rPr>
              <a:t>enough</a:t>
            </a:r>
            <a:endParaRPr sz="1600" kern="1200">
              <a:solidFill>
                <a:prstClr val="black"/>
              </a:solidFill>
              <a:latin typeface="Palatino Linotype"/>
              <a:cs typeface="Palatino Linotype"/>
            </a:endParaRPr>
          </a:p>
        </p:txBody>
      </p:sp>
    </p:spTree>
    <p:extLst>
      <p:ext uri="{BB962C8B-B14F-4D97-AF65-F5344CB8AC3E}">
        <p14:creationId xmlns:p14="http://schemas.microsoft.com/office/powerpoint/2010/main" val="20687136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110</a:t>
            </a:fld>
            <a:endParaRPr lang="en-US"/>
          </a:p>
        </p:txBody>
      </p:sp>
      <p:sp>
        <p:nvSpPr>
          <p:cNvPr id="14" name="object 2">
            <a:extLst>
              <a:ext uri="{FF2B5EF4-FFF2-40B4-BE49-F238E27FC236}">
                <a16:creationId xmlns:a16="http://schemas.microsoft.com/office/drawing/2014/main" id="{458D88AF-8610-3CFC-AD74-8AA4EF204DD2}"/>
              </a:ext>
            </a:extLst>
          </p:cNvPr>
          <p:cNvSpPr txBox="1">
            <a:spLocks/>
          </p:cNvSpPr>
          <p:nvPr/>
        </p:nvSpPr>
        <p:spPr>
          <a:xfrm>
            <a:off x="707390" y="524763"/>
            <a:ext cx="20275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dirty="0">
                <a:ln>
                  <a:noFill/>
                </a:ln>
                <a:solidFill>
                  <a:sysClr val="windowText" lastClr="000000"/>
                </a:solidFill>
                <a:effectLst/>
                <a:uLnTx/>
                <a:uFillTx/>
                <a:latin typeface="Palatino Linotype"/>
                <a:ea typeface="+mj-ea"/>
              </a:rPr>
              <a:t>Exa</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m</a:t>
            </a:r>
            <a:r>
              <a:rPr kumimoji="0" lang="en-US" sz="4000" b="1" i="0" u="none" strike="noStrike" kern="0" cap="none" spc="-10" normalizeH="0" baseline="0" noProof="0" dirty="0">
                <a:ln>
                  <a:noFill/>
                </a:ln>
                <a:solidFill>
                  <a:sysClr val="windowText" lastClr="000000"/>
                </a:solidFill>
                <a:effectLst/>
                <a:uLnTx/>
                <a:uFillTx/>
                <a:latin typeface="Palatino Linotype"/>
                <a:ea typeface="+mj-ea"/>
              </a:rPr>
              <a:t>p</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l</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e</a:t>
            </a:r>
          </a:p>
        </p:txBody>
      </p:sp>
      <p:sp>
        <p:nvSpPr>
          <p:cNvPr id="15" name="object 3">
            <a:extLst>
              <a:ext uri="{FF2B5EF4-FFF2-40B4-BE49-F238E27FC236}">
                <a16:creationId xmlns:a16="http://schemas.microsoft.com/office/drawing/2014/main" id="{EF4D359F-C80E-8982-806A-FCCCFEF6BAEF}"/>
              </a:ext>
            </a:extLst>
          </p:cNvPr>
          <p:cNvSpPr txBox="1"/>
          <p:nvPr/>
        </p:nvSpPr>
        <p:spPr>
          <a:xfrm>
            <a:off x="707390" y="1658620"/>
            <a:ext cx="3181350" cy="844550"/>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sz="2200" kern="1200" spc="-5" dirty="0">
                <a:solidFill>
                  <a:prstClr val="black"/>
                </a:solidFill>
                <a:latin typeface="Palatino Linotype"/>
                <a:cs typeface="Palatino Linotype"/>
              </a:rPr>
              <a:t>Augmented</a:t>
            </a:r>
            <a:r>
              <a:rPr sz="2200" kern="1200" spc="-60" dirty="0">
                <a:solidFill>
                  <a:prstClr val="black"/>
                </a:solidFill>
                <a:latin typeface="Palatino Linotype"/>
                <a:cs typeface="Palatino Linotype"/>
              </a:rPr>
              <a:t> </a:t>
            </a:r>
            <a:r>
              <a:rPr sz="2200" kern="1200" spc="-5" dirty="0">
                <a:solidFill>
                  <a:prstClr val="black"/>
                </a:solidFill>
                <a:latin typeface="Palatino Linotype"/>
                <a:cs typeface="Palatino Linotype"/>
              </a:rPr>
              <a:t>grammar</a:t>
            </a:r>
            <a:endParaRPr sz="2200" kern="1200">
              <a:solidFill>
                <a:prstClr val="black"/>
              </a:solidFill>
              <a:latin typeface="Palatino Linotype"/>
              <a:cs typeface="Palatino Linotype"/>
            </a:endParaRPr>
          </a:p>
          <a:p>
            <a:pPr marL="698500" lvl="1" indent="-228600" rtl="0">
              <a:spcBef>
                <a:spcPts val="1645"/>
              </a:spcBef>
              <a:buClr>
                <a:srgbClr val="000000"/>
              </a:buClr>
              <a:buFont typeface="Wingdings"/>
              <a:buChar char=""/>
              <a:tabLst>
                <a:tab pos="698500" algn="l"/>
                <a:tab pos="1819910" algn="l"/>
              </a:tabLst>
            </a:pPr>
            <a:r>
              <a:rPr kern="1200" dirty="0">
                <a:solidFill>
                  <a:srgbClr val="FF0000"/>
                </a:solidFill>
                <a:latin typeface="Cambria Math"/>
                <a:cs typeface="Cambria Math"/>
              </a:rPr>
              <a:t>𝐸’</a:t>
            </a:r>
            <a:r>
              <a:rPr kern="1200" spc="105" dirty="0">
                <a:solidFill>
                  <a:srgbClr val="FF0000"/>
                </a:solidFill>
                <a:latin typeface="Cambria Math"/>
                <a:cs typeface="Cambria Math"/>
              </a:rPr>
              <a:t> </a:t>
            </a:r>
            <a:r>
              <a:rPr kern="1200" dirty="0">
                <a:solidFill>
                  <a:srgbClr val="FF0000"/>
                </a:solidFill>
                <a:latin typeface="Cambria Math"/>
                <a:cs typeface="Cambria Math"/>
              </a:rPr>
              <a:t>→</a:t>
            </a:r>
            <a:r>
              <a:rPr kern="1200" spc="105" dirty="0">
                <a:solidFill>
                  <a:srgbClr val="FF0000"/>
                </a:solidFill>
                <a:latin typeface="Cambria Math"/>
                <a:cs typeface="Cambria Math"/>
              </a:rPr>
              <a:t> </a:t>
            </a:r>
            <a:r>
              <a:rPr kern="1200" dirty="0">
                <a:solidFill>
                  <a:srgbClr val="FF0000"/>
                </a:solidFill>
                <a:latin typeface="Cambria Math"/>
                <a:cs typeface="Cambria Math"/>
              </a:rPr>
              <a:t>𝐸	</a:t>
            </a:r>
            <a:r>
              <a:rPr kern="1200" dirty="0">
                <a:solidFill>
                  <a:prstClr val="black"/>
                </a:solidFill>
                <a:latin typeface="Cambria Math"/>
                <a:cs typeface="Cambria Math"/>
              </a:rPr>
              <a:t>𝐸</a:t>
            </a:r>
            <a:r>
              <a:rPr kern="1200" spc="150" dirty="0">
                <a:solidFill>
                  <a:prstClr val="black"/>
                </a:solidFill>
                <a:latin typeface="Cambria Math"/>
                <a:cs typeface="Cambria Math"/>
              </a:rPr>
              <a:t> </a:t>
            </a:r>
            <a:r>
              <a:rPr kern="1200" dirty="0">
                <a:solidFill>
                  <a:prstClr val="black"/>
                </a:solidFill>
                <a:latin typeface="Cambria Math"/>
                <a:cs typeface="Cambria Math"/>
              </a:rPr>
              <a:t>→</a:t>
            </a:r>
            <a:r>
              <a:rPr kern="1200" spc="90" dirty="0">
                <a:solidFill>
                  <a:prstClr val="black"/>
                </a:solidFill>
                <a:latin typeface="Cambria Math"/>
                <a:cs typeface="Cambria Math"/>
              </a:rPr>
              <a:t> </a:t>
            </a:r>
            <a:r>
              <a:rPr kern="1200" dirty="0">
                <a:solidFill>
                  <a:prstClr val="black"/>
                </a:solidFill>
                <a:latin typeface="Cambria Math"/>
                <a:cs typeface="Cambria Math"/>
              </a:rPr>
              <a:t>𝐸</a:t>
            </a:r>
            <a:r>
              <a:rPr kern="1200" spc="55" dirty="0">
                <a:solidFill>
                  <a:prstClr val="black"/>
                </a:solidFill>
                <a:latin typeface="Cambria Math"/>
                <a:cs typeface="Cambria Math"/>
              </a:rPr>
              <a:t> </a:t>
            </a:r>
            <a:r>
              <a:rPr kern="1200" dirty="0">
                <a:solidFill>
                  <a:prstClr val="black"/>
                </a:solidFill>
                <a:latin typeface="Cambria Math"/>
                <a:cs typeface="Cambria Math"/>
              </a:rPr>
              <a:t>+</a:t>
            </a:r>
            <a:r>
              <a:rPr kern="1200" spc="-5" dirty="0">
                <a:solidFill>
                  <a:prstClr val="black"/>
                </a:solidFill>
                <a:latin typeface="Cambria Math"/>
                <a:cs typeface="Cambria Math"/>
              </a:rPr>
              <a:t> </a:t>
            </a:r>
            <a:r>
              <a:rPr kern="1200" dirty="0">
                <a:solidFill>
                  <a:prstClr val="black"/>
                </a:solidFill>
                <a:latin typeface="Cambria Math"/>
                <a:cs typeface="Cambria Math"/>
              </a:rPr>
              <a:t>𝑇</a:t>
            </a:r>
            <a:r>
              <a:rPr kern="1200" spc="25" dirty="0">
                <a:solidFill>
                  <a:prstClr val="black"/>
                </a:solidFill>
                <a:latin typeface="Cambria Math"/>
                <a:cs typeface="Cambria Math"/>
              </a:rPr>
              <a:t> </a:t>
            </a:r>
            <a:r>
              <a:rPr kern="1200" dirty="0">
                <a:solidFill>
                  <a:prstClr val="black"/>
                </a:solidFill>
                <a:latin typeface="Cambria Math"/>
                <a:cs typeface="Cambria Math"/>
              </a:rPr>
              <a:t>|</a:t>
            </a:r>
            <a:r>
              <a:rPr kern="1200" spc="-5" dirty="0">
                <a:solidFill>
                  <a:prstClr val="black"/>
                </a:solidFill>
                <a:latin typeface="Cambria Math"/>
                <a:cs typeface="Cambria Math"/>
              </a:rPr>
              <a:t> </a:t>
            </a:r>
            <a:r>
              <a:rPr kern="1200" dirty="0">
                <a:solidFill>
                  <a:prstClr val="black"/>
                </a:solidFill>
                <a:latin typeface="Cambria Math"/>
                <a:cs typeface="Cambria Math"/>
              </a:rPr>
              <a:t>𝑇</a:t>
            </a:r>
            <a:endParaRPr kern="1200">
              <a:solidFill>
                <a:prstClr val="black"/>
              </a:solidFill>
              <a:latin typeface="Cambria Math"/>
              <a:cs typeface="Cambria Math"/>
            </a:endParaRPr>
          </a:p>
        </p:txBody>
      </p:sp>
      <p:sp>
        <p:nvSpPr>
          <p:cNvPr id="16" name="object 4">
            <a:extLst>
              <a:ext uri="{FF2B5EF4-FFF2-40B4-BE49-F238E27FC236}">
                <a16:creationId xmlns:a16="http://schemas.microsoft.com/office/drawing/2014/main" id="{203B1D6B-C988-E519-2C66-E2412F279396}"/>
              </a:ext>
            </a:extLst>
          </p:cNvPr>
          <p:cNvSpPr txBox="1"/>
          <p:nvPr/>
        </p:nvSpPr>
        <p:spPr>
          <a:xfrm>
            <a:off x="4325683" y="2203196"/>
            <a:ext cx="1303655"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ambria Math"/>
                <a:cs typeface="Cambria Math"/>
              </a:rPr>
              <a:t>𝑇</a:t>
            </a:r>
            <a:r>
              <a:rPr kern="1200" spc="125" dirty="0">
                <a:solidFill>
                  <a:prstClr val="black"/>
                </a:solidFill>
                <a:latin typeface="Cambria Math"/>
                <a:cs typeface="Cambria Math"/>
              </a:rPr>
              <a:t> </a:t>
            </a:r>
            <a:r>
              <a:rPr kern="1200" dirty="0">
                <a:solidFill>
                  <a:prstClr val="black"/>
                </a:solidFill>
                <a:latin typeface="Cambria Math"/>
                <a:cs typeface="Cambria Math"/>
              </a:rPr>
              <a:t>→</a:t>
            </a:r>
            <a:r>
              <a:rPr kern="1200" spc="85" dirty="0">
                <a:solidFill>
                  <a:prstClr val="black"/>
                </a:solidFill>
                <a:latin typeface="Cambria Math"/>
                <a:cs typeface="Cambria Math"/>
              </a:rPr>
              <a:t> </a:t>
            </a:r>
            <a:r>
              <a:rPr kern="1200" dirty="0">
                <a:solidFill>
                  <a:prstClr val="black"/>
                </a:solidFill>
                <a:latin typeface="Cambria Math"/>
                <a:cs typeface="Cambria Math"/>
              </a:rPr>
              <a:t>𝑇</a:t>
            </a:r>
            <a:r>
              <a:rPr kern="1200" spc="30"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𝐹</a:t>
            </a:r>
            <a:r>
              <a:rPr kern="1200" spc="55"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𝐹</a:t>
            </a:r>
            <a:endParaRPr kern="1200">
              <a:solidFill>
                <a:prstClr val="black"/>
              </a:solidFill>
              <a:latin typeface="Cambria Math"/>
              <a:cs typeface="Cambria Math"/>
            </a:endParaRPr>
          </a:p>
        </p:txBody>
      </p:sp>
      <p:sp>
        <p:nvSpPr>
          <p:cNvPr id="17" name="object 5">
            <a:extLst>
              <a:ext uri="{FF2B5EF4-FFF2-40B4-BE49-F238E27FC236}">
                <a16:creationId xmlns:a16="http://schemas.microsoft.com/office/drawing/2014/main" id="{DA41FB94-B921-3D7C-D809-77F11DD3078F}"/>
              </a:ext>
            </a:extLst>
          </p:cNvPr>
          <p:cNvSpPr/>
          <p:nvPr/>
        </p:nvSpPr>
        <p:spPr>
          <a:xfrm>
            <a:off x="6570243" y="2274884"/>
            <a:ext cx="301625" cy="212090"/>
          </a:xfrm>
          <a:custGeom>
            <a:avLst/>
            <a:gdLst/>
            <a:ahLst/>
            <a:cxnLst/>
            <a:rect l="l" t="t" r="r" b="b"/>
            <a:pathLst>
              <a:path w="301625" h="212089">
                <a:moveTo>
                  <a:pt x="233860" y="0"/>
                </a:moveTo>
                <a:lnTo>
                  <a:pt x="230846" y="8595"/>
                </a:lnTo>
                <a:lnTo>
                  <a:pt x="243104" y="13914"/>
                </a:lnTo>
                <a:lnTo>
                  <a:pt x="253645" y="21277"/>
                </a:lnTo>
                <a:lnTo>
                  <a:pt x="275048" y="55409"/>
                </a:lnTo>
                <a:lnTo>
                  <a:pt x="282080" y="104811"/>
                </a:lnTo>
                <a:lnTo>
                  <a:pt x="281296" y="123487"/>
                </a:lnTo>
                <a:lnTo>
                  <a:pt x="269523" y="169217"/>
                </a:lnTo>
                <a:lnTo>
                  <a:pt x="243247" y="197806"/>
                </a:lnTo>
                <a:lnTo>
                  <a:pt x="231181" y="203150"/>
                </a:lnTo>
                <a:lnTo>
                  <a:pt x="233860" y="211744"/>
                </a:lnTo>
                <a:lnTo>
                  <a:pt x="274316" y="187708"/>
                </a:lnTo>
                <a:lnTo>
                  <a:pt x="297038" y="143335"/>
                </a:lnTo>
                <a:lnTo>
                  <a:pt x="301391" y="105928"/>
                </a:lnTo>
                <a:lnTo>
                  <a:pt x="300299" y="86516"/>
                </a:lnTo>
                <a:lnTo>
                  <a:pt x="283922" y="37114"/>
                </a:lnTo>
                <a:lnTo>
                  <a:pt x="249212" y="5542"/>
                </a:lnTo>
                <a:lnTo>
                  <a:pt x="233860" y="0"/>
                </a:lnTo>
                <a:close/>
              </a:path>
              <a:path w="301625" h="212089">
                <a:moveTo>
                  <a:pt x="67530" y="0"/>
                </a:moveTo>
                <a:lnTo>
                  <a:pt x="27148" y="24099"/>
                </a:lnTo>
                <a:lnTo>
                  <a:pt x="4367" y="68577"/>
                </a:lnTo>
                <a:lnTo>
                  <a:pt x="0" y="105928"/>
                </a:lnTo>
                <a:lnTo>
                  <a:pt x="1088" y="125381"/>
                </a:lnTo>
                <a:lnTo>
                  <a:pt x="17412" y="174743"/>
                </a:lnTo>
                <a:lnTo>
                  <a:pt x="52134" y="206209"/>
                </a:lnTo>
                <a:lnTo>
                  <a:pt x="67530" y="211744"/>
                </a:lnTo>
                <a:lnTo>
                  <a:pt x="70209" y="203150"/>
                </a:lnTo>
                <a:lnTo>
                  <a:pt x="58144" y="197806"/>
                </a:lnTo>
                <a:lnTo>
                  <a:pt x="47732" y="190369"/>
                </a:lnTo>
                <a:lnTo>
                  <a:pt x="26374" y="155690"/>
                </a:lnTo>
                <a:lnTo>
                  <a:pt x="19310" y="104811"/>
                </a:lnTo>
                <a:lnTo>
                  <a:pt x="20095" y="86747"/>
                </a:lnTo>
                <a:lnTo>
                  <a:pt x="31868" y="42137"/>
                </a:lnTo>
                <a:lnTo>
                  <a:pt x="58332" y="13914"/>
                </a:lnTo>
                <a:lnTo>
                  <a:pt x="70544" y="8595"/>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6">
            <a:extLst>
              <a:ext uri="{FF2B5EF4-FFF2-40B4-BE49-F238E27FC236}">
                <a16:creationId xmlns:a16="http://schemas.microsoft.com/office/drawing/2014/main" id="{E66C3B84-37E1-8842-E33B-F3580EBEC40F}"/>
              </a:ext>
            </a:extLst>
          </p:cNvPr>
          <p:cNvSpPr txBox="1"/>
          <p:nvPr/>
        </p:nvSpPr>
        <p:spPr>
          <a:xfrm>
            <a:off x="6069710" y="2203196"/>
            <a:ext cx="1223645" cy="299720"/>
          </a:xfrm>
          <a:prstGeom prst="rect">
            <a:avLst/>
          </a:prstGeom>
        </p:spPr>
        <p:txBody>
          <a:bodyPr vert="horz" wrap="square" lIns="0" tIns="12700" rIns="0" bIns="0" rtlCol="0">
            <a:spAutoFit/>
          </a:bodyPr>
          <a:lstStyle/>
          <a:p>
            <a:pPr marL="12700" rtl="0">
              <a:spcBef>
                <a:spcPts val="100"/>
              </a:spcBef>
              <a:tabLst>
                <a:tab pos="574675" algn="l"/>
                <a:tab pos="872490" algn="l"/>
              </a:tabLst>
            </a:pPr>
            <a:r>
              <a:rPr kern="1200" dirty="0">
                <a:solidFill>
                  <a:prstClr val="black"/>
                </a:solidFill>
                <a:latin typeface="Cambria Math"/>
                <a:cs typeface="Cambria Math"/>
              </a:rPr>
              <a:t>𝐹</a:t>
            </a:r>
            <a:r>
              <a:rPr kern="1200" spc="170" dirty="0">
                <a:solidFill>
                  <a:prstClr val="black"/>
                </a:solidFill>
                <a:latin typeface="Cambria Math"/>
                <a:cs typeface="Cambria Math"/>
              </a:rPr>
              <a:t> </a:t>
            </a:r>
            <a:r>
              <a:rPr kern="1200" dirty="0">
                <a:solidFill>
                  <a:prstClr val="black"/>
                </a:solidFill>
                <a:latin typeface="Cambria Math"/>
                <a:cs typeface="Cambria Math"/>
              </a:rPr>
              <a:t>→	𝐸	|</a:t>
            </a:r>
            <a:r>
              <a:rPr kern="1200" spc="-75" dirty="0">
                <a:solidFill>
                  <a:prstClr val="black"/>
                </a:solidFill>
                <a:latin typeface="Cambria Math"/>
                <a:cs typeface="Cambria Math"/>
              </a:rPr>
              <a:t> </a:t>
            </a:r>
            <a:r>
              <a:rPr kern="1200" spc="-5" dirty="0">
                <a:solidFill>
                  <a:prstClr val="black"/>
                </a:solidFill>
                <a:latin typeface="Cambria Math"/>
                <a:cs typeface="Cambria Math"/>
              </a:rPr>
              <a:t>𝐢𝐝</a:t>
            </a:r>
            <a:endParaRPr kern="1200">
              <a:solidFill>
                <a:prstClr val="black"/>
              </a:solidFill>
              <a:latin typeface="Cambria Math"/>
              <a:cs typeface="Cambria Math"/>
            </a:endParaRPr>
          </a:p>
        </p:txBody>
      </p:sp>
      <p:sp>
        <p:nvSpPr>
          <p:cNvPr id="19" name="object 7">
            <a:extLst>
              <a:ext uri="{FF2B5EF4-FFF2-40B4-BE49-F238E27FC236}">
                <a16:creationId xmlns:a16="http://schemas.microsoft.com/office/drawing/2014/main" id="{20E3F520-23A8-E212-FC3C-A3D27746B3BC}"/>
              </a:ext>
            </a:extLst>
          </p:cNvPr>
          <p:cNvSpPr txBox="1"/>
          <p:nvPr/>
        </p:nvSpPr>
        <p:spPr>
          <a:xfrm>
            <a:off x="707390" y="2990596"/>
            <a:ext cx="7229475" cy="2295525"/>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sz="2200" kern="1200" dirty="0">
                <a:solidFill>
                  <a:prstClr val="black"/>
                </a:solidFill>
                <a:latin typeface="Palatino Linotype"/>
                <a:cs typeface="Palatino Linotype"/>
              </a:rPr>
              <a:t>C</a:t>
            </a:r>
            <a:r>
              <a:rPr sz="2200" kern="1200" spc="-5" dirty="0">
                <a:solidFill>
                  <a:prstClr val="black"/>
                </a:solidFill>
                <a:latin typeface="Palatino Linotype"/>
                <a:cs typeface="Palatino Linotype"/>
              </a:rPr>
              <a:t>om</a:t>
            </a:r>
            <a:r>
              <a:rPr sz="2200" kern="1200" dirty="0">
                <a:solidFill>
                  <a:prstClr val="black"/>
                </a:solidFill>
                <a:latin typeface="Palatino Linotype"/>
                <a:cs typeface="Palatino Linotype"/>
              </a:rPr>
              <a:t>p</a:t>
            </a:r>
            <a:r>
              <a:rPr sz="2200" kern="1200" spc="-5" dirty="0">
                <a:solidFill>
                  <a:prstClr val="black"/>
                </a:solidFill>
                <a:latin typeface="Palatino Linotype"/>
                <a:cs typeface="Palatino Linotype"/>
              </a:rPr>
              <a:t>uti</a:t>
            </a:r>
            <a:r>
              <a:rPr sz="2200" kern="1200" spc="-10" dirty="0">
                <a:solidFill>
                  <a:prstClr val="black"/>
                </a:solidFill>
                <a:latin typeface="Palatino Linotype"/>
                <a:cs typeface="Palatino Linotype"/>
              </a:rPr>
              <a:t>n</a:t>
            </a:r>
            <a:r>
              <a:rPr sz="2200" kern="1200" dirty="0">
                <a:solidFill>
                  <a:prstClr val="black"/>
                </a:solidFill>
                <a:latin typeface="Palatino Linotype"/>
                <a:cs typeface="Palatino Linotype"/>
              </a:rPr>
              <a:t>g </a:t>
            </a:r>
            <a:r>
              <a:rPr sz="2200" kern="1200" spc="-5" dirty="0">
                <a:solidFill>
                  <a:prstClr val="black"/>
                </a:solidFill>
                <a:latin typeface="Palatino Linotype"/>
                <a:cs typeface="Palatino Linotype"/>
              </a:rPr>
              <a:t>t</a:t>
            </a:r>
            <a:r>
              <a:rPr sz="2200" kern="1200" spc="-10" dirty="0">
                <a:solidFill>
                  <a:prstClr val="black"/>
                </a:solidFill>
                <a:latin typeface="Palatino Linotype"/>
                <a:cs typeface="Palatino Linotype"/>
              </a:rPr>
              <a:t>h</a:t>
            </a:r>
            <a:r>
              <a:rPr sz="2200" kern="1200" dirty="0">
                <a:solidFill>
                  <a:prstClr val="black"/>
                </a:solidFill>
                <a:latin typeface="Palatino Linotype"/>
                <a:cs typeface="Palatino Linotype"/>
              </a:rPr>
              <a:t>e</a:t>
            </a:r>
            <a:r>
              <a:rPr sz="2200" kern="1200" spc="-5" dirty="0">
                <a:solidFill>
                  <a:prstClr val="black"/>
                </a:solidFill>
                <a:latin typeface="Palatino Linotype"/>
                <a:cs typeface="Palatino Linotype"/>
              </a:rPr>
              <a:t> clo</a:t>
            </a:r>
            <a:r>
              <a:rPr sz="2200" kern="1200" spc="5" dirty="0">
                <a:solidFill>
                  <a:prstClr val="black"/>
                </a:solidFill>
                <a:latin typeface="Palatino Linotype"/>
                <a:cs typeface="Palatino Linotype"/>
              </a:rPr>
              <a:t>s</a:t>
            </a:r>
            <a:r>
              <a:rPr sz="2200" kern="1200" spc="-5" dirty="0">
                <a:solidFill>
                  <a:prstClr val="black"/>
                </a:solidFill>
                <a:latin typeface="Palatino Linotype"/>
                <a:cs typeface="Palatino Linotype"/>
              </a:rPr>
              <a:t>u</a:t>
            </a:r>
            <a:r>
              <a:rPr sz="2200" kern="1200" spc="5" dirty="0">
                <a:solidFill>
                  <a:prstClr val="black"/>
                </a:solidFill>
                <a:latin typeface="Palatino Linotype"/>
                <a:cs typeface="Palatino Linotype"/>
              </a:rPr>
              <a:t>r</a:t>
            </a:r>
            <a:r>
              <a:rPr sz="2200" kern="1200" dirty="0">
                <a:solidFill>
                  <a:prstClr val="black"/>
                </a:solidFill>
                <a:latin typeface="Palatino Linotype"/>
                <a:cs typeface="Palatino Linotype"/>
              </a:rPr>
              <a:t>e</a:t>
            </a:r>
            <a:r>
              <a:rPr sz="2200" kern="1200" spc="-5" dirty="0">
                <a:solidFill>
                  <a:prstClr val="black"/>
                </a:solidFill>
                <a:latin typeface="Palatino Linotype"/>
                <a:cs typeface="Palatino Linotype"/>
              </a:rPr>
              <a:t> o</a:t>
            </a:r>
            <a:r>
              <a:rPr sz="2200" kern="1200" dirty="0">
                <a:solidFill>
                  <a:prstClr val="black"/>
                </a:solidFill>
                <a:latin typeface="Palatino Linotype"/>
                <a:cs typeface="Palatino Linotype"/>
              </a:rPr>
              <a:t>f </a:t>
            </a:r>
            <a:r>
              <a:rPr sz="2200" kern="1200" spc="-5" dirty="0">
                <a:solidFill>
                  <a:prstClr val="black"/>
                </a:solidFill>
                <a:latin typeface="Palatino Linotype"/>
                <a:cs typeface="Palatino Linotype"/>
              </a:rPr>
              <a:t>t</a:t>
            </a:r>
            <a:r>
              <a:rPr sz="2200" kern="1200" spc="-10" dirty="0">
                <a:solidFill>
                  <a:prstClr val="black"/>
                </a:solidFill>
                <a:latin typeface="Palatino Linotype"/>
                <a:cs typeface="Palatino Linotype"/>
              </a:rPr>
              <a:t>h</a:t>
            </a:r>
            <a:r>
              <a:rPr sz="2200" kern="1200" dirty="0">
                <a:solidFill>
                  <a:prstClr val="black"/>
                </a:solidFill>
                <a:latin typeface="Palatino Linotype"/>
                <a:cs typeface="Palatino Linotype"/>
              </a:rPr>
              <a:t>e</a:t>
            </a:r>
            <a:r>
              <a:rPr sz="2200" kern="1200" spc="-5" dirty="0">
                <a:solidFill>
                  <a:prstClr val="black"/>
                </a:solidFill>
                <a:latin typeface="Palatino Linotype"/>
                <a:cs typeface="Palatino Linotype"/>
              </a:rPr>
              <a:t> ite</a:t>
            </a:r>
            <a:r>
              <a:rPr sz="2200" kern="1200" dirty="0">
                <a:solidFill>
                  <a:prstClr val="black"/>
                </a:solidFill>
                <a:latin typeface="Palatino Linotype"/>
                <a:cs typeface="Palatino Linotype"/>
              </a:rPr>
              <a:t>m</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s</a:t>
            </a:r>
            <a:r>
              <a:rPr sz="2200" kern="1200" spc="-5" dirty="0">
                <a:solidFill>
                  <a:prstClr val="black"/>
                </a:solidFill>
                <a:latin typeface="Palatino Linotype"/>
                <a:cs typeface="Palatino Linotype"/>
              </a:rPr>
              <a:t>e</a:t>
            </a:r>
            <a:r>
              <a:rPr sz="2200" kern="1200" dirty="0">
                <a:solidFill>
                  <a:prstClr val="black"/>
                </a:solidFill>
                <a:latin typeface="Palatino Linotype"/>
                <a:cs typeface="Palatino Linotype"/>
              </a:rPr>
              <a:t>t</a:t>
            </a:r>
            <a:r>
              <a:rPr sz="2200" kern="1200" spc="-10" dirty="0">
                <a:solidFill>
                  <a:prstClr val="black"/>
                </a:solidFill>
                <a:latin typeface="Palatino Linotype"/>
                <a:cs typeface="Palatino Linotype"/>
              </a:rPr>
              <a:t> </a:t>
            </a:r>
            <a:r>
              <a:rPr sz="2200" kern="1200" spc="-5" dirty="0">
                <a:solidFill>
                  <a:prstClr val="black"/>
                </a:solidFill>
                <a:latin typeface="Cambria Math"/>
                <a:cs typeface="Cambria Math"/>
              </a:rPr>
              <a:t>{</a:t>
            </a:r>
            <a:r>
              <a:rPr sz="2200" kern="1200" dirty="0">
                <a:solidFill>
                  <a:prstClr val="black"/>
                </a:solidFill>
                <a:latin typeface="Cambria Math"/>
                <a:cs typeface="Cambria Math"/>
              </a:rPr>
              <a:t>[𝐸’</a:t>
            </a:r>
            <a:r>
              <a:rPr sz="2200" kern="1200" spc="125" dirty="0">
                <a:solidFill>
                  <a:prstClr val="black"/>
                </a:solidFill>
                <a:latin typeface="Cambria Math"/>
                <a:cs typeface="Cambria Math"/>
              </a:rPr>
              <a:t> </a:t>
            </a:r>
            <a:r>
              <a:rPr sz="2200" kern="1200" spc="-10" dirty="0">
                <a:solidFill>
                  <a:prstClr val="black"/>
                </a:solidFill>
                <a:latin typeface="Cambria Math"/>
                <a:cs typeface="Cambria Math"/>
              </a:rPr>
              <a:t>→</a:t>
            </a:r>
            <a:r>
              <a:rPr lang="en-US" altLang="zh-CN" sz="2200" kern="1200" spc="5" dirty="0">
                <a:solidFill>
                  <a:prstClr val="black"/>
                </a:solidFill>
                <a:latin typeface="Cambria Math"/>
                <a:cs typeface="Cambria Math"/>
              </a:rPr>
              <a:t>· </a:t>
            </a:r>
            <a:r>
              <a:rPr sz="2200" kern="1200" spc="85" dirty="0">
                <a:solidFill>
                  <a:prstClr val="black"/>
                </a:solidFill>
                <a:latin typeface="Cambria Math"/>
                <a:cs typeface="Cambria Math"/>
              </a:rPr>
              <a:t>𝐸</a:t>
            </a:r>
            <a:r>
              <a:rPr sz="2200" kern="1200" dirty="0">
                <a:solidFill>
                  <a:prstClr val="black"/>
                </a:solidFill>
                <a:latin typeface="Cambria Math"/>
                <a:cs typeface="Cambria Math"/>
              </a:rPr>
              <a:t>]}</a:t>
            </a:r>
          </a:p>
          <a:p>
            <a:pPr marL="698500" lvl="1" indent="-228600" rtl="0">
              <a:spcBef>
                <a:spcPts val="1764"/>
              </a:spcBef>
              <a:buFont typeface="Wingdings"/>
              <a:buChar char=""/>
              <a:tabLst>
                <a:tab pos="698500" algn="l"/>
              </a:tabLst>
            </a:pPr>
            <a:r>
              <a:rPr kern="1200" spc="-20" dirty="0">
                <a:solidFill>
                  <a:prstClr val="black"/>
                </a:solidFill>
                <a:latin typeface="Palatino Linotype"/>
                <a:cs typeface="Palatino Linotype"/>
              </a:rPr>
              <a:t>Initially,</a:t>
            </a:r>
            <a:r>
              <a:rPr kern="1200" spc="-15" dirty="0">
                <a:solidFill>
                  <a:prstClr val="black"/>
                </a:solidFill>
                <a:latin typeface="Palatino Linotype"/>
                <a:cs typeface="Palatino Linotype"/>
              </a:rPr>
              <a:t> </a:t>
            </a:r>
            <a:r>
              <a:rPr kern="1200" spc="-5" dirty="0">
                <a:solidFill>
                  <a:prstClr val="black"/>
                </a:solidFill>
                <a:latin typeface="Cambria Math"/>
                <a:cs typeface="Cambria Math"/>
              </a:rPr>
              <a:t>[𝐸’</a:t>
            </a:r>
            <a:r>
              <a:rPr kern="1200" spc="100" dirty="0">
                <a:solidFill>
                  <a:prstClr val="black"/>
                </a:solidFill>
                <a:latin typeface="Cambria Math"/>
                <a:cs typeface="Cambria Math"/>
              </a:rPr>
              <a:t> </a:t>
            </a:r>
            <a:r>
              <a:rPr kern="1200" spc="-95" dirty="0">
                <a:solidFill>
                  <a:prstClr val="black"/>
                </a:solidFill>
                <a:latin typeface="Cambria Math"/>
                <a:cs typeface="Cambria Math"/>
              </a:rPr>
              <a:t>→</a:t>
            </a:r>
            <a:r>
              <a:rPr lang="en-US" altLang="zh-CN" kern="1200" spc="-5" dirty="0">
                <a:solidFill>
                  <a:prstClr val="black"/>
                </a:solidFill>
                <a:latin typeface="Cambria Math"/>
                <a:cs typeface="Cambria Math"/>
              </a:rPr>
              <a:t>· </a:t>
            </a:r>
            <a:r>
              <a:rPr kern="1200" spc="35" dirty="0">
                <a:solidFill>
                  <a:srgbClr val="FF0000"/>
                </a:solidFill>
                <a:latin typeface="Cambria Math"/>
                <a:cs typeface="Cambria Math"/>
              </a:rPr>
              <a:t>𝐸</a:t>
            </a:r>
            <a:r>
              <a:rPr kern="1200" spc="35" dirty="0">
                <a:solidFill>
                  <a:prstClr val="black"/>
                </a:solidFill>
                <a:latin typeface="Cambria Math"/>
                <a:cs typeface="Cambria Math"/>
              </a:rPr>
              <a:t>]</a:t>
            </a:r>
            <a:r>
              <a:rPr kern="1200" spc="40" dirty="0">
                <a:solidFill>
                  <a:prstClr val="black"/>
                </a:solidFill>
                <a:latin typeface="Cambria Math"/>
                <a:cs typeface="Cambria Math"/>
              </a:rPr>
              <a:t> </a:t>
            </a:r>
            <a:r>
              <a:rPr kern="1200" dirty="0">
                <a:solidFill>
                  <a:prstClr val="black"/>
                </a:solidFill>
                <a:latin typeface="Palatino Linotype"/>
                <a:cs typeface="Palatino Linotype"/>
              </a:rPr>
              <a:t>is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closure</a:t>
            </a:r>
            <a:endParaRPr kern="1200" dirty="0">
              <a:solidFill>
                <a:prstClr val="black"/>
              </a:solidFill>
              <a:latin typeface="Palatino Linotype"/>
              <a:cs typeface="Palatino Linotype"/>
            </a:endParaRPr>
          </a:p>
          <a:p>
            <a:pPr marL="698500" lvl="1" indent="-228600" rtl="0">
              <a:spcBef>
                <a:spcPts val="1635"/>
              </a:spcBef>
              <a:buFont typeface="Wingdings"/>
              <a:buChar char=""/>
              <a:tabLst>
                <a:tab pos="698500" algn="l"/>
              </a:tabLst>
            </a:pPr>
            <a:r>
              <a:rPr kern="1200" dirty="0">
                <a:solidFill>
                  <a:prstClr val="black"/>
                </a:solidFill>
                <a:latin typeface="Palatino Linotype"/>
                <a:cs typeface="Palatino Linotype"/>
              </a:rPr>
              <a:t>Add</a:t>
            </a:r>
            <a:r>
              <a:rPr kern="1200" spc="-5" dirty="0">
                <a:solidFill>
                  <a:prstClr val="black"/>
                </a:solidFill>
                <a:latin typeface="Palatino Linotype"/>
                <a:cs typeface="Palatino Linotype"/>
              </a:rPr>
              <a:t> </a:t>
            </a:r>
            <a:r>
              <a:rPr kern="1200" spc="-5" dirty="0">
                <a:solidFill>
                  <a:prstClr val="black"/>
                </a:solidFill>
                <a:latin typeface="Cambria Math"/>
                <a:cs typeface="Cambria Math"/>
              </a:rPr>
              <a:t>[𝐸</a:t>
            </a:r>
            <a:r>
              <a:rPr kern="1200" spc="165" dirty="0">
                <a:solidFill>
                  <a:prstClr val="black"/>
                </a:solidFill>
                <a:latin typeface="Cambria Math"/>
                <a:cs typeface="Cambria Math"/>
              </a:rPr>
              <a:t> </a:t>
            </a:r>
            <a:r>
              <a:rPr kern="1200" spc="-95" dirty="0">
                <a:solidFill>
                  <a:prstClr val="black"/>
                </a:solidFill>
                <a:latin typeface="Cambria Math"/>
                <a:cs typeface="Cambria Math"/>
              </a:rPr>
              <a:t>→</a:t>
            </a:r>
            <a:r>
              <a:rPr lang="en-US" altLang="zh-CN" kern="1200" spc="-95" dirty="0">
                <a:solidFill>
                  <a:prstClr val="black"/>
                </a:solidFill>
                <a:latin typeface="Cambria Math"/>
                <a:cs typeface="Cambria Math"/>
              </a:rPr>
              <a:t>·</a:t>
            </a:r>
            <a:r>
              <a:rPr kern="1200" dirty="0">
                <a:solidFill>
                  <a:prstClr val="black"/>
                </a:solidFill>
                <a:latin typeface="Cambria Math"/>
                <a:cs typeface="Cambria Math"/>
              </a:rPr>
              <a:t> 𝐸</a:t>
            </a:r>
            <a:r>
              <a:rPr kern="1200" spc="70" dirty="0">
                <a:solidFill>
                  <a:prstClr val="black"/>
                </a:solidFill>
                <a:latin typeface="Cambria Math"/>
                <a:cs typeface="Cambria Math"/>
              </a:rPr>
              <a:t> </a:t>
            </a:r>
            <a:r>
              <a:rPr kern="1200" dirty="0">
                <a:solidFill>
                  <a:prstClr val="black"/>
                </a:solidFill>
                <a:latin typeface="Cambria Math"/>
                <a:cs typeface="Cambria Math"/>
              </a:rPr>
              <a:t>+ </a:t>
            </a:r>
            <a:r>
              <a:rPr kern="1200" spc="20" dirty="0">
                <a:solidFill>
                  <a:prstClr val="black"/>
                </a:solidFill>
                <a:latin typeface="Cambria Math"/>
                <a:cs typeface="Cambria Math"/>
              </a:rPr>
              <a:t>𝑇]</a:t>
            </a:r>
            <a:r>
              <a:rPr kern="1200" spc="40" dirty="0">
                <a:solidFill>
                  <a:prstClr val="black"/>
                </a:solidFill>
                <a:latin typeface="Cambria Math"/>
                <a:cs typeface="Cambria Math"/>
              </a:rPr>
              <a:t> </a:t>
            </a:r>
            <a:r>
              <a:rPr kern="1200" dirty="0">
                <a:solidFill>
                  <a:prstClr val="black"/>
                </a:solidFill>
                <a:latin typeface="Palatino Linotype"/>
                <a:cs typeface="Palatino Linotype"/>
              </a:rPr>
              <a:t>and</a:t>
            </a:r>
            <a:r>
              <a:rPr kern="1200" spc="-5" dirty="0">
                <a:solidFill>
                  <a:prstClr val="black"/>
                </a:solidFill>
                <a:latin typeface="Palatino Linotype"/>
                <a:cs typeface="Palatino Linotype"/>
              </a:rPr>
              <a:t> </a:t>
            </a:r>
            <a:r>
              <a:rPr kern="1200" spc="-5" dirty="0">
                <a:solidFill>
                  <a:prstClr val="black"/>
                </a:solidFill>
                <a:latin typeface="Cambria Math"/>
                <a:cs typeface="Cambria Math"/>
              </a:rPr>
              <a:t>[𝐸</a:t>
            </a:r>
            <a:r>
              <a:rPr kern="1200" spc="170" dirty="0">
                <a:solidFill>
                  <a:prstClr val="black"/>
                </a:solidFill>
                <a:latin typeface="Cambria Math"/>
                <a:cs typeface="Cambria Math"/>
              </a:rPr>
              <a:t> </a:t>
            </a:r>
            <a:r>
              <a:rPr kern="1200" spc="-95" dirty="0">
                <a:solidFill>
                  <a:prstClr val="black"/>
                </a:solidFill>
                <a:latin typeface="Cambria Math"/>
                <a:cs typeface="Cambria Math"/>
              </a:rPr>
              <a:t>→</a:t>
            </a:r>
            <a:r>
              <a:rPr lang="en-US" altLang="zh-CN" kern="1200" spc="-95" dirty="0">
                <a:solidFill>
                  <a:prstClr val="black"/>
                </a:solidFill>
                <a:latin typeface="Cambria Math"/>
                <a:cs typeface="Cambria Math"/>
              </a:rPr>
              <a:t> ·</a:t>
            </a:r>
            <a:r>
              <a:rPr kern="1200" dirty="0">
                <a:solidFill>
                  <a:prstClr val="black"/>
                </a:solidFill>
                <a:latin typeface="Cambria Math"/>
                <a:cs typeface="Cambria Math"/>
              </a:rPr>
              <a:t> </a:t>
            </a:r>
            <a:r>
              <a:rPr kern="1200" spc="20" dirty="0">
                <a:solidFill>
                  <a:srgbClr val="FF0000"/>
                </a:solidFill>
                <a:latin typeface="Cambria Math"/>
                <a:cs typeface="Cambria Math"/>
              </a:rPr>
              <a:t>𝑇</a:t>
            </a:r>
            <a:r>
              <a:rPr kern="1200" spc="20" dirty="0">
                <a:solidFill>
                  <a:prstClr val="black"/>
                </a:solidFill>
                <a:latin typeface="Cambria Math"/>
                <a:cs typeface="Cambria Math"/>
              </a:rPr>
              <a:t>]</a:t>
            </a:r>
            <a:r>
              <a:rPr kern="1200" spc="40" dirty="0">
                <a:solidFill>
                  <a:prstClr val="black"/>
                </a:solidFill>
                <a:latin typeface="Cambria Math"/>
                <a:cs typeface="Cambria Math"/>
              </a:rPr>
              <a:t>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closure</a:t>
            </a:r>
            <a:endParaRPr kern="1200" dirty="0">
              <a:solidFill>
                <a:prstClr val="black"/>
              </a:solidFill>
              <a:latin typeface="Palatino Linotype"/>
              <a:cs typeface="Palatino Linotype"/>
            </a:endParaRPr>
          </a:p>
          <a:p>
            <a:pPr marL="698500" lvl="1" indent="-228600" rtl="0">
              <a:spcBef>
                <a:spcPts val="1655"/>
              </a:spcBef>
              <a:buFont typeface="Wingdings"/>
              <a:buChar char=""/>
              <a:tabLst>
                <a:tab pos="698500" algn="l"/>
              </a:tabLst>
            </a:pPr>
            <a:r>
              <a:rPr kern="1200" dirty="0">
                <a:solidFill>
                  <a:prstClr val="black"/>
                </a:solidFill>
                <a:latin typeface="Palatino Linotype"/>
                <a:cs typeface="Palatino Linotype"/>
              </a:rPr>
              <a:t>Add</a:t>
            </a:r>
            <a:r>
              <a:rPr kern="1200" spc="-10" dirty="0">
                <a:solidFill>
                  <a:prstClr val="black"/>
                </a:solidFill>
                <a:latin typeface="Palatino Linotype"/>
                <a:cs typeface="Palatino Linotype"/>
              </a:rPr>
              <a:t> </a:t>
            </a:r>
            <a:r>
              <a:rPr kern="1200" spc="-5" dirty="0">
                <a:solidFill>
                  <a:prstClr val="black"/>
                </a:solidFill>
                <a:latin typeface="Cambria Math"/>
                <a:cs typeface="Cambria Math"/>
              </a:rPr>
              <a:t>[𝑇</a:t>
            </a:r>
            <a:r>
              <a:rPr kern="1200" spc="140" dirty="0">
                <a:solidFill>
                  <a:prstClr val="black"/>
                </a:solidFill>
                <a:latin typeface="Cambria Math"/>
                <a:cs typeface="Cambria Math"/>
              </a:rPr>
              <a:t> </a:t>
            </a:r>
            <a:r>
              <a:rPr kern="1200" spc="-95" dirty="0">
                <a:solidFill>
                  <a:prstClr val="black"/>
                </a:solidFill>
                <a:latin typeface="Cambria Math"/>
                <a:cs typeface="Cambria Math"/>
              </a:rPr>
              <a:t>→</a:t>
            </a:r>
            <a:r>
              <a:rPr lang="en-US" altLang="zh-CN" kern="1200" spc="-95" dirty="0">
                <a:solidFill>
                  <a:prstClr val="black"/>
                </a:solidFill>
                <a:latin typeface="Cambria Math"/>
                <a:cs typeface="Cambria Math"/>
              </a:rPr>
              <a:t> ·</a:t>
            </a:r>
            <a:r>
              <a:rPr kern="1200" dirty="0">
                <a:solidFill>
                  <a:prstClr val="black"/>
                </a:solidFill>
                <a:latin typeface="Cambria Math"/>
                <a:cs typeface="Cambria Math"/>
              </a:rPr>
              <a:t> 𝑇</a:t>
            </a:r>
            <a:r>
              <a:rPr kern="1200" spc="40" dirty="0">
                <a:solidFill>
                  <a:prstClr val="black"/>
                </a:solidFill>
                <a:latin typeface="Cambria Math"/>
                <a:cs typeface="Cambria Math"/>
              </a:rPr>
              <a:t> </a:t>
            </a:r>
            <a:r>
              <a:rPr kern="1200" dirty="0">
                <a:solidFill>
                  <a:prstClr val="black"/>
                </a:solidFill>
                <a:latin typeface="Cambria Math"/>
                <a:cs typeface="Cambria Math"/>
              </a:rPr>
              <a:t>∗ </a:t>
            </a:r>
            <a:r>
              <a:rPr kern="1200" spc="35" dirty="0">
                <a:solidFill>
                  <a:prstClr val="black"/>
                </a:solidFill>
                <a:latin typeface="Cambria Math"/>
                <a:cs typeface="Cambria Math"/>
              </a:rPr>
              <a:t>𝐹]</a:t>
            </a:r>
            <a:r>
              <a:rPr kern="1200" spc="40" dirty="0">
                <a:solidFill>
                  <a:prstClr val="black"/>
                </a:solidFill>
                <a:latin typeface="Cambria Math"/>
                <a:cs typeface="Cambria Math"/>
              </a:rPr>
              <a:t> </a:t>
            </a:r>
            <a:r>
              <a:rPr kern="1200" dirty="0">
                <a:solidFill>
                  <a:prstClr val="black"/>
                </a:solidFill>
                <a:latin typeface="Palatino Linotype"/>
                <a:cs typeface="Palatino Linotype"/>
              </a:rPr>
              <a:t>and</a:t>
            </a:r>
            <a:r>
              <a:rPr kern="1200" spc="-5" dirty="0">
                <a:solidFill>
                  <a:prstClr val="black"/>
                </a:solidFill>
                <a:latin typeface="Palatino Linotype"/>
                <a:cs typeface="Palatino Linotype"/>
              </a:rPr>
              <a:t> </a:t>
            </a:r>
            <a:r>
              <a:rPr kern="1200" spc="-5" dirty="0">
                <a:solidFill>
                  <a:prstClr val="black"/>
                </a:solidFill>
                <a:latin typeface="Cambria Math"/>
                <a:cs typeface="Cambria Math"/>
              </a:rPr>
              <a:t>[𝑇</a:t>
            </a:r>
            <a:r>
              <a:rPr kern="1200" spc="140" dirty="0">
                <a:solidFill>
                  <a:prstClr val="black"/>
                </a:solidFill>
                <a:latin typeface="Cambria Math"/>
                <a:cs typeface="Cambria Math"/>
              </a:rPr>
              <a:t> </a:t>
            </a:r>
            <a:r>
              <a:rPr kern="1200" spc="-95" dirty="0">
                <a:solidFill>
                  <a:prstClr val="black"/>
                </a:solidFill>
                <a:latin typeface="Cambria Math"/>
                <a:cs typeface="Cambria Math"/>
              </a:rPr>
              <a:t>→</a:t>
            </a:r>
            <a:r>
              <a:rPr lang="en-US" altLang="zh-CN" kern="1200" spc="-95" dirty="0">
                <a:solidFill>
                  <a:prstClr val="black"/>
                </a:solidFill>
                <a:latin typeface="Cambria Math"/>
                <a:cs typeface="Cambria Math"/>
              </a:rPr>
              <a:t> ·</a:t>
            </a:r>
            <a:r>
              <a:rPr kern="1200" dirty="0">
                <a:solidFill>
                  <a:prstClr val="black"/>
                </a:solidFill>
                <a:latin typeface="Cambria Math"/>
                <a:cs typeface="Cambria Math"/>
              </a:rPr>
              <a:t> </a:t>
            </a:r>
            <a:r>
              <a:rPr kern="1200" spc="35" dirty="0">
                <a:solidFill>
                  <a:srgbClr val="FF0000"/>
                </a:solidFill>
                <a:latin typeface="Cambria Math"/>
                <a:cs typeface="Cambria Math"/>
              </a:rPr>
              <a:t>𝐹</a:t>
            </a:r>
            <a:r>
              <a:rPr kern="1200" spc="35" dirty="0">
                <a:solidFill>
                  <a:prstClr val="black"/>
                </a:solidFill>
                <a:latin typeface="Cambria Math"/>
                <a:cs typeface="Cambria Math"/>
              </a:rPr>
              <a:t>]</a:t>
            </a:r>
            <a:r>
              <a:rPr kern="1200" spc="40" dirty="0">
                <a:solidFill>
                  <a:prstClr val="black"/>
                </a:solidFill>
                <a:latin typeface="Cambria Math"/>
                <a:cs typeface="Cambria Math"/>
              </a:rPr>
              <a:t>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closure</a:t>
            </a:r>
            <a:endParaRPr kern="1200" dirty="0">
              <a:solidFill>
                <a:prstClr val="black"/>
              </a:solidFill>
              <a:latin typeface="Palatino Linotype"/>
              <a:cs typeface="Palatino Linotype"/>
            </a:endParaRPr>
          </a:p>
          <a:p>
            <a:pPr marL="698500" lvl="1" indent="-228600" rtl="0">
              <a:spcBef>
                <a:spcPts val="1535"/>
              </a:spcBef>
              <a:buFont typeface="Wingdings"/>
              <a:buChar char=""/>
              <a:tabLst>
                <a:tab pos="698500" algn="l"/>
              </a:tabLst>
            </a:pPr>
            <a:r>
              <a:rPr kern="1200" dirty="0">
                <a:solidFill>
                  <a:prstClr val="black"/>
                </a:solidFill>
                <a:latin typeface="Palatino Linotype"/>
                <a:cs typeface="Palatino Linotype"/>
              </a:rPr>
              <a:t>Add</a:t>
            </a:r>
            <a:r>
              <a:rPr kern="1200" spc="-5" dirty="0">
                <a:solidFill>
                  <a:prstClr val="black"/>
                </a:solidFill>
                <a:latin typeface="Palatino Linotype"/>
                <a:cs typeface="Palatino Linotype"/>
              </a:rPr>
              <a:t> </a:t>
            </a:r>
            <a:r>
              <a:rPr kern="1200" spc="-5" dirty="0">
                <a:solidFill>
                  <a:prstClr val="black"/>
                </a:solidFill>
                <a:latin typeface="Cambria Math"/>
                <a:cs typeface="Cambria Math"/>
              </a:rPr>
              <a:t>[𝐹</a:t>
            </a:r>
            <a:r>
              <a:rPr kern="1200" spc="170" dirty="0">
                <a:solidFill>
                  <a:prstClr val="black"/>
                </a:solidFill>
                <a:latin typeface="Cambria Math"/>
                <a:cs typeface="Cambria Math"/>
              </a:rPr>
              <a:t> </a:t>
            </a:r>
            <a:r>
              <a:rPr kern="1200" spc="-95" dirty="0">
                <a:solidFill>
                  <a:prstClr val="black"/>
                </a:solidFill>
                <a:latin typeface="Cambria Math"/>
                <a:cs typeface="Cambria Math"/>
              </a:rPr>
              <a:t>→</a:t>
            </a:r>
            <a:r>
              <a:rPr lang="en-US" altLang="zh-CN" kern="1200" spc="-95" dirty="0">
                <a:solidFill>
                  <a:prstClr val="black"/>
                </a:solidFill>
                <a:latin typeface="Cambria Math"/>
                <a:cs typeface="Cambria Math"/>
              </a:rPr>
              <a:t> ·</a:t>
            </a:r>
            <a:r>
              <a:rPr kern="1200" dirty="0">
                <a:solidFill>
                  <a:prstClr val="black"/>
                </a:solidFill>
                <a:latin typeface="Cambria Math"/>
                <a:cs typeface="Cambria Math"/>
              </a:rPr>
              <a:t> </a:t>
            </a:r>
            <a:r>
              <a:rPr kern="1200" spc="15" dirty="0">
                <a:solidFill>
                  <a:prstClr val="black"/>
                </a:solidFill>
                <a:latin typeface="Cambria Math"/>
                <a:cs typeface="Cambria Math"/>
              </a:rPr>
              <a:t>(𝐸)]</a:t>
            </a:r>
            <a:r>
              <a:rPr kern="1200" spc="45" dirty="0">
                <a:solidFill>
                  <a:prstClr val="black"/>
                </a:solidFill>
                <a:latin typeface="Cambria Math"/>
                <a:cs typeface="Cambria Math"/>
              </a:rPr>
              <a:t> </a:t>
            </a:r>
            <a:r>
              <a:rPr kern="1200" dirty="0">
                <a:solidFill>
                  <a:prstClr val="black"/>
                </a:solidFill>
                <a:latin typeface="Palatino Linotype"/>
                <a:cs typeface="Palatino Linotype"/>
              </a:rPr>
              <a:t>and</a:t>
            </a:r>
            <a:r>
              <a:rPr kern="1200" spc="-5" dirty="0">
                <a:solidFill>
                  <a:prstClr val="black"/>
                </a:solidFill>
                <a:latin typeface="Palatino Linotype"/>
                <a:cs typeface="Palatino Linotype"/>
              </a:rPr>
              <a:t> </a:t>
            </a:r>
            <a:r>
              <a:rPr kern="1200" spc="-5" dirty="0">
                <a:solidFill>
                  <a:prstClr val="black"/>
                </a:solidFill>
                <a:latin typeface="Cambria Math"/>
                <a:cs typeface="Cambria Math"/>
              </a:rPr>
              <a:t>[𝐹</a:t>
            </a:r>
            <a:r>
              <a:rPr kern="1200" spc="170" dirty="0">
                <a:solidFill>
                  <a:prstClr val="black"/>
                </a:solidFill>
                <a:latin typeface="Cambria Math"/>
                <a:cs typeface="Cambria Math"/>
              </a:rPr>
              <a:t> </a:t>
            </a:r>
            <a:r>
              <a:rPr kern="1200" spc="-95" dirty="0">
                <a:solidFill>
                  <a:prstClr val="black"/>
                </a:solidFill>
                <a:latin typeface="Cambria Math"/>
                <a:cs typeface="Cambria Math"/>
              </a:rPr>
              <a:t>→</a:t>
            </a:r>
            <a:r>
              <a:rPr lang="en-US" altLang="zh-CN" kern="1200" spc="-95" dirty="0">
                <a:solidFill>
                  <a:prstClr val="black"/>
                </a:solidFill>
                <a:latin typeface="Cambria Math"/>
                <a:cs typeface="Cambria Math"/>
              </a:rPr>
              <a:t> ·</a:t>
            </a:r>
            <a:r>
              <a:rPr kern="1200" spc="5" dirty="0">
                <a:solidFill>
                  <a:prstClr val="black"/>
                </a:solidFill>
                <a:latin typeface="Cambria Math"/>
                <a:cs typeface="Cambria Math"/>
              </a:rPr>
              <a:t> </a:t>
            </a:r>
            <a:r>
              <a:rPr kern="1200" spc="-5" dirty="0">
                <a:solidFill>
                  <a:prstClr val="black"/>
                </a:solidFill>
                <a:latin typeface="Cambria Math"/>
                <a:cs typeface="Cambria Math"/>
              </a:rPr>
              <a:t>𝐢𝐝]</a:t>
            </a:r>
            <a:r>
              <a:rPr kern="1200" spc="40" dirty="0">
                <a:solidFill>
                  <a:prstClr val="black"/>
                </a:solidFill>
                <a:latin typeface="Cambria Math"/>
                <a:cs typeface="Cambria Math"/>
              </a:rPr>
              <a:t> </a:t>
            </a:r>
            <a:r>
              <a:rPr kern="1200" dirty="0">
                <a:solidFill>
                  <a:prstClr val="black"/>
                </a:solidFill>
                <a:latin typeface="Palatino Linotype"/>
                <a:cs typeface="Palatino Linotype"/>
              </a:rPr>
              <a:t>to the</a:t>
            </a:r>
            <a:r>
              <a:rPr kern="1200" spc="-5" dirty="0">
                <a:solidFill>
                  <a:prstClr val="black"/>
                </a:solidFill>
                <a:latin typeface="Palatino Linotype"/>
                <a:cs typeface="Palatino Linotype"/>
              </a:rPr>
              <a:t> closure</a:t>
            </a:r>
            <a:r>
              <a:rPr kern="1200" dirty="0">
                <a:solidFill>
                  <a:prstClr val="black"/>
                </a:solidFill>
                <a:latin typeface="Palatino Linotype"/>
                <a:cs typeface="Palatino Linotype"/>
              </a:rPr>
              <a:t> (</a:t>
            </a:r>
            <a:r>
              <a:rPr kern="1200" dirty="0">
                <a:solidFill>
                  <a:srgbClr val="FF0000"/>
                </a:solidFill>
                <a:latin typeface="Palatino Linotype"/>
                <a:cs typeface="Palatino Linotype"/>
              </a:rPr>
              <a:t>reached </a:t>
            </a:r>
            <a:r>
              <a:rPr kern="1200" spc="-5" dirty="0">
                <a:solidFill>
                  <a:srgbClr val="FF0000"/>
                </a:solidFill>
                <a:latin typeface="Palatino Linotype"/>
                <a:cs typeface="Palatino Linotype"/>
              </a:rPr>
              <a:t>fixed </a:t>
            </a:r>
            <a:r>
              <a:rPr kern="1200" dirty="0">
                <a:solidFill>
                  <a:srgbClr val="FF0000"/>
                </a:solidFill>
                <a:latin typeface="Palatino Linotype"/>
                <a:cs typeface="Palatino Linotype"/>
              </a:rPr>
              <a:t>point</a:t>
            </a:r>
            <a:r>
              <a:rPr kern="1200" dirty="0">
                <a:solidFill>
                  <a:prstClr val="black"/>
                </a:solidFill>
                <a:latin typeface="Palatino Linotype"/>
                <a:cs typeface="Palatino Linotype"/>
              </a:rPr>
              <a:t>)</a:t>
            </a:r>
          </a:p>
        </p:txBody>
      </p:sp>
      <p:grpSp>
        <p:nvGrpSpPr>
          <p:cNvPr id="20" name="object 8">
            <a:extLst>
              <a:ext uri="{FF2B5EF4-FFF2-40B4-BE49-F238E27FC236}">
                <a16:creationId xmlns:a16="http://schemas.microsoft.com/office/drawing/2014/main" id="{3B6C43CB-833B-ED56-2BA0-6E98112F5531}"/>
              </a:ext>
            </a:extLst>
          </p:cNvPr>
          <p:cNvGrpSpPr/>
          <p:nvPr/>
        </p:nvGrpSpPr>
        <p:grpSpPr>
          <a:xfrm>
            <a:off x="4056327" y="280874"/>
            <a:ext cx="1572260" cy="1149985"/>
            <a:chOff x="4056327" y="280874"/>
            <a:chExt cx="1572260" cy="1149985"/>
          </a:xfrm>
        </p:grpSpPr>
        <p:pic>
          <p:nvPicPr>
            <p:cNvPr id="21" name="object 9">
              <a:extLst>
                <a:ext uri="{FF2B5EF4-FFF2-40B4-BE49-F238E27FC236}">
                  <a16:creationId xmlns:a16="http://schemas.microsoft.com/office/drawing/2014/main" id="{B562AFA9-5309-C6DD-9958-4A945C577269}"/>
                </a:ext>
              </a:extLst>
            </p:cNvPr>
            <p:cNvPicPr/>
            <p:nvPr/>
          </p:nvPicPr>
          <p:blipFill>
            <a:blip r:embed="rId2" cstate="print"/>
            <a:stretch>
              <a:fillRect/>
            </a:stretch>
          </p:blipFill>
          <p:spPr>
            <a:xfrm>
              <a:off x="4136826" y="403723"/>
              <a:ext cx="1314430" cy="920758"/>
            </a:xfrm>
            <a:prstGeom prst="rect">
              <a:avLst/>
            </a:prstGeom>
          </p:spPr>
        </p:pic>
        <p:sp>
          <p:nvSpPr>
            <p:cNvPr id="22" name="object 10">
              <a:extLst>
                <a:ext uri="{FF2B5EF4-FFF2-40B4-BE49-F238E27FC236}">
                  <a16:creationId xmlns:a16="http://schemas.microsoft.com/office/drawing/2014/main" id="{11B49988-3FFE-2271-294E-E816915FEC31}"/>
                </a:ext>
              </a:extLst>
            </p:cNvPr>
            <p:cNvSpPr/>
            <p:nvPr/>
          </p:nvSpPr>
          <p:spPr>
            <a:xfrm>
              <a:off x="4061090" y="285636"/>
              <a:ext cx="1562735" cy="1140460"/>
            </a:xfrm>
            <a:custGeom>
              <a:avLst/>
              <a:gdLst/>
              <a:ahLst/>
              <a:cxnLst/>
              <a:rect l="l" t="t" r="r" b="b"/>
              <a:pathLst>
                <a:path w="1562735" h="1140460">
                  <a:moveTo>
                    <a:pt x="0" y="0"/>
                  </a:moveTo>
                  <a:lnTo>
                    <a:pt x="1562426" y="0"/>
                  </a:lnTo>
                  <a:lnTo>
                    <a:pt x="1562426" y="1139933"/>
                  </a:lnTo>
                  <a:lnTo>
                    <a:pt x="0" y="1139933"/>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27280569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111</a:t>
            </a:fld>
            <a:endParaRPr lang="en-US"/>
          </a:p>
        </p:txBody>
      </p:sp>
      <p:sp>
        <p:nvSpPr>
          <p:cNvPr id="31" name="object 2">
            <a:extLst>
              <a:ext uri="{FF2B5EF4-FFF2-40B4-BE49-F238E27FC236}">
                <a16:creationId xmlns:a16="http://schemas.microsoft.com/office/drawing/2014/main" id="{5642E3D2-8918-5A00-43CC-ADCA16589FAB}"/>
              </a:ext>
            </a:extLst>
          </p:cNvPr>
          <p:cNvSpPr txBox="1">
            <a:spLocks/>
          </p:cNvSpPr>
          <p:nvPr/>
        </p:nvSpPr>
        <p:spPr>
          <a:xfrm>
            <a:off x="707390" y="524763"/>
            <a:ext cx="450151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The</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Function</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0" i="0" u="none" strike="noStrike" kern="0" cap="none" spc="-30" normalizeH="0" baseline="0" noProof="0">
                <a:ln>
                  <a:noFill/>
                </a:ln>
                <a:solidFill>
                  <a:sysClr val="windowText" lastClr="000000"/>
                </a:solidFill>
                <a:effectLst/>
                <a:uLnTx/>
                <a:uFillTx/>
                <a:latin typeface="Cambria Math"/>
                <a:ea typeface="+mj-ea"/>
                <a:cs typeface="Cambria Math"/>
              </a:rPr>
              <a:t>GOTO</a:t>
            </a:r>
            <a:endParaRPr kumimoji="0" lang="en-US" sz="4000" b="0" i="0" u="none" strike="noStrike" kern="0" cap="none" spc="-30" normalizeH="0" baseline="0" noProof="0" dirty="0">
              <a:ln>
                <a:noFill/>
              </a:ln>
              <a:solidFill>
                <a:sysClr val="windowText" lastClr="000000"/>
              </a:solidFill>
              <a:effectLst/>
              <a:uLnTx/>
              <a:uFillTx/>
              <a:latin typeface="Cambria Math"/>
              <a:ea typeface="+mj-ea"/>
              <a:cs typeface="Cambria Math"/>
            </a:endParaRPr>
          </a:p>
        </p:txBody>
      </p:sp>
      <p:sp>
        <p:nvSpPr>
          <p:cNvPr id="32" name="object 3">
            <a:extLst>
              <a:ext uri="{FF2B5EF4-FFF2-40B4-BE49-F238E27FC236}">
                <a16:creationId xmlns:a16="http://schemas.microsoft.com/office/drawing/2014/main" id="{36BBF838-5EDA-5D31-C002-D4EA92E316ED}"/>
              </a:ext>
            </a:extLst>
          </p:cNvPr>
          <p:cNvSpPr/>
          <p:nvPr/>
        </p:nvSpPr>
        <p:spPr>
          <a:xfrm>
            <a:off x="7677899" y="2039619"/>
            <a:ext cx="55880" cy="236220"/>
          </a:xfrm>
          <a:custGeom>
            <a:avLst/>
            <a:gdLst/>
            <a:ahLst/>
            <a:cxnLst/>
            <a:rect l="l" t="t" r="r" b="b"/>
            <a:pathLst>
              <a:path w="55879" h="236219">
                <a:moveTo>
                  <a:pt x="55321" y="0"/>
                </a:moveTo>
                <a:lnTo>
                  <a:pt x="0" y="0"/>
                </a:lnTo>
                <a:lnTo>
                  <a:pt x="0" y="8890"/>
                </a:lnTo>
                <a:lnTo>
                  <a:pt x="34734" y="8890"/>
                </a:lnTo>
                <a:lnTo>
                  <a:pt x="34734" y="226060"/>
                </a:lnTo>
                <a:lnTo>
                  <a:pt x="0" y="226060"/>
                </a:lnTo>
                <a:lnTo>
                  <a:pt x="0" y="236220"/>
                </a:lnTo>
                <a:lnTo>
                  <a:pt x="55321" y="236220"/>
                </a:lnTo>
                <a:lnTo>
                  <a:pt x="55321" y="226060"/>
                </a:lnTo>
                <a:lnTo>
                  <a:pt x="55321" y="8890"/>
                </a:lnTo>
                <a:lnTo>
                  <a:pt x="55321"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3" name="object 4">
            <a:extLst>
              <a:ext uri="{FF2B5EF4-FFF2-40B4-BE49-F238E27FC236}">
                <a16:creationId xmlns:a16="http://schemas.microsoft.com/office/drawing/2014/main" id="{46626A7B-C701-B0AA-E9EA-FD1A70571598}"/>
              </a:ext>
            </a:extLst>
          </p:cNvPr>
          <p:cNvSpPr/>
          <p:nvPr/>
        </p:nvSpPr>
        <p:spPr>
          <a:xfrm>
            <a:off x="6427165" y="2039619"/>
            <a:ext cx="55880" cy="236220"/>
          </a:xfrm>
          <a:custGeom>
            <a:avLst/>
            <a:gdLst/>
            <a:ahLst/>
            <a:cxnLst/>
            <a:rect l="l" t="t" r="r" b="b"/>
            <a:pathLst>
              <a:path w="55879" h="236219">
                <a:moveTo>
                  <a:pt x="55321" y="0"/>
                </a:moveTo>
                <a:lnTo>
                  <a:pt x="0" y="0"/>
                </a:lnTo>
                <a:lnTo>
                  <a:pt x="0" y="8890"/>
                </a:lnTo>
                <a:lnTo>
                  <a:pt x="0" y="226060"/>
                </a:lnTo>
                <a:lnTo>
                  <a:pt x="0" y="236220"/>
                </a:lnTo>
                <a:lnTo>
                  <a:pt x="55321" y="236220"/>
                </a:lnTo>
                <a:lnTo>
                  <a:pt x="55321" y="226060"/>
                </a:lnTo>
                <a:lnTo>
                  <a:pt x="20586" y="226060"/>
                </a:lnTo>
                <a:lnTo>
                  <a:pt x="20586" y="8890"/>
                </a:lnTo>
                <a:lnTo>
                  <a:pt x="55321" y="8890"/>
                </a:lnTo>
                <a:lnTo>
                  <a:pt x="55321"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5">
            <a:extLst>
              <a:ext uri="{FF2B5EF4-FFF2-40B4-BE49-F238E27FC236}">
                <a16:creationId xmlns:a16="http://schemas.microsoft.com/office/drawing/2014/main" id="{7A470478-097B-7CC1-EED0-88BE686D7064}"/>
              </a:ext>
            </a:extLst>
          </p:cNvPr>
          <p:cNvSpPr/>
          <p:nvPr/>
        </p:nvSpPr>
        <p:spPr>
          <a:xfrm>
            <a:off x="2378925" y="2864865"/>
            <a:ext cx="1245870" cy="189865"/>
          </a:xfrm>
          <a:custGeom>
            <a:avLst/>
            <a:gdLst/>
            <a:ahLst/>
            <a:cxnLst/>
            <a:rect l="l" t="t" r="r" b="b"/>
            <a:pathLst>
              <a:path w="1245870" h="189864">
                <a:moveTo>
                  <a:pt x="63296" y="0"/>
                </a:moveTo>
                <a:lnTo>
                  <a:pt x="60718" y="0"/>
                </a:lnTo>
                <a:lnTo>
                  <a:pt x="49796" y="812"/>
                </a:lnTo>
                <a:lnTo>
                  <a:pt x="17170" y="23507"/>
                </a:lnTo>
                <a:lnTo>
                  <a:pt x="14287" y="41478"/>
                </a:lnTo>
                <a:lnTo>
                  <a:pt x="14287" y="46964"/>
                </a:lnTo>
                <a:lnTo>
                  <a:pt x="15062" y="53213"/>
                </a:lnTo>
                <a:lnTo>
                  <a:pt x="18173" y="67233"/>
                </a:lnTo>
                <a:lnTo>
                  <a:pt x="18948" y="71932"/>
                </a:lnTo>
                <a:lnTo>
                  <a:pt x="18948" y="78879"/>
                </a:lnTo>
                <a:lnTo>
                  <a:pt x="17373" y="82600"/>
                </a:lnTo>
                <a:lnTo>
                  <a:pt x="11087" y="88353"/>
                </a:lnTo>
                <a:lnTo>
                  <a:pt x="6350" y="89890"/>
                </a:lnTo>
                <a:lnTo>
                  <a:pt x="0" y="90093"/>
                </a:lnTo>
                <a:lnTo>
                  <a:pt x="0" y="98234"/>
                </a:lnTo>
                <a:lnTo>
                  <a:pt x="6350" y="98425"/>
                </a:lnTo>
                <a:lnTo>
                  <a:pt x="11087" y="99961"/>
                </a:lnTo>
                <a:lnTo>
                  <a:pt x="17373" y="105714"/>
                </a:lnTo>
                <a:lnTo>
                  <a:pt x="18948" y="109435"/>
                </a:lnTo>
                <a:lnTo>
                  <a:pt x="18948" y="116382"/>
                </a:lnTo>
                <a:lnTo>
                  <a:pt x="18173" y="121081"/>
                </a:lnTo>
                <a:lnTo>
                  <a:pt x="15062" y="135102"/>
                </a:lnTo>
                <a:lnTo>
                  <a:pt x="14287" y="141351"/>
                </a:lnTo>
                <a:lnTo>
                  <a:pt x="14287" y="146850"/>
                </a:lnTo>
                <a:lnTo>
                  <a:pt x="15011" y="156870"/>
                </a:lnTo>
                <a:lnTo>
                  <a:pt x="40335" y="186347"/>
                </a:lnTo>
                <a:lnTo>
                  <a:pt x="60718" y="189217"/>
                </a:lnTo>
                <a:lnTo>
                  <a:pt x="63296" y="189217"/>
                </a:lnTo>
                <a:lnTo>
                  <a:pt x="63296" y="181673"/>
                </a:lnTo>
                <a:lnTo>
                  <a:pt x="52222" y="181673"/>
                </a:lnTo>
                <a:lnTo>
                  <a:pt x="44716" y="179171"/>
                </a:lnTo>
                <a:lnTo>
                  <a:pt x="31153" y="148628"/>
                </a:lnTo>
                <a:lnTo>
                  <a:pt x="31153" y="144005"/>
                </a:lnTo>
                <a:lnTo>
                  <a:pt x="31813" y="138277"/>
                </a:lnTo>
                <a:lnTo>
                  <a:pt x="34455" y="124650"/>
                </a:lnTo>
                <a:lnTo>
                  <a:pt x="35115" y="119786"/>
                </a:lnTo>
                <a:lnTo>
                  <a:pt x="35115" y="111264"/>
                </a:lnTo>
                <a:lnTo>
                  <a:pt x="33464" y="106641"/>
                </a:lnTo>
                <a:lnTo>
                  <a:pt x="26847" y="99441"/>
                </a:lnTo>
                <a:lnTo>
                  <a:pt x="22910" y="96774"/>
                </a:lnTo>
                <a:lnTo>
                  <a:pt x="18351" y="95059"/>
                </a:lnTo>
                <a:lnTo>
                  <a:pt x="18351" y="93268"/>
                </a:lnTo>
                <a:lnTo>
                  <a:pt x="22910" y="91541"/>
                </a:lnTo>
                <a:lnTo>
                  <a:pt x="26847" y="88887"/>
                </a:lnTo>
                <a:lnTo>
                  <a:pt x="33464" y="81673"/>
                </a:lnTo>
                <a:lnTo>
                  <a:pt x="35115" y="77063"/>
                </a:lnTo>
                <a:lnTo>
                  <a:pt x="35115" y="68529"/>
                </a:lnTo>
                <a:lnTo>
                  <a:pt x="34455" y="63665"/>
                </a:lnTo>
                <a:lnTo>
                  <a:pt x="31813" y="50038"/>
                </a:lnTo>
                <a:lnTo>
                  <a:pt x="31153" y="44323"/>
                </a:lnTo>
                <a:lnTo>
                  <a:pt x="31153" y="39687"/>
                </a:lnTo>
                <a:lnTo>
                  <a:pt x="31661" y="31711"/>
                </a:lnTo>
                <a:lnTo>
                  <a:pt x="52222" y="7543"/>
                </a:lnTo>
                <a:lnTo>
                  <a:pt x="63296" y="7543"/>
                </a:lnTo>
                <a:lnTo>
                  <a:pt x="63296" y="0"/>
                </a:lnTo>
                <a:close/>
              </a:path>
              <a:path w="1245870" h="189864">
                <a:moveTo>
                  <a:pt x="136118" y="254"/>
                </a:moveTo>
                <a:lnTo>
                  <a:pt x="91871" y="254"/>
                </a:lnTo>
                <a:lnTo>
                  <a:pt x="91871" y="7874"/>
                </a:lnTo>
                <a:lnTo>
                  <a:pt x="91871" y="181864"/>
                </a:lnTo>
                <a:lnTo>
                  <a:pt x="91871" y="189484"/>
                </a:lnTo>
                <a:lnTo>
                  <a:pt x="136118" y="189484"/>
                </a:lnTo>
                <a:lnTo>
                  <a:pt x="136118" y="181864"/>
                </a:lnTo>
                <a:lnTo>
                  <a:pt x="108343" y="181864"/>
                </a:lnTo>
                <a:lnTo>
                  <a:pt x="108343" y="7874"/>
                </a:lnTo>
                <a:lnTo>
                  <a:pt x="136118" y="7874"/>
                </a:lnTo>
                <a:lnTo>
                  <a:pt x="136118" y="254"/>
                </a:lnTo>
                <a:close/>
              </a:path>
              <a:path w="1245870" h="189864">
                <a:moveTo>
                  <a:pt x="1138593" y="254"/>
                </a:moveTo>
                <a:lnTo>
                  <a:pt x="1094333" y="254"/>
                </a:lnTo>
                <a:lnTo>
                  <a:pt x="1094333" y="7874"/>
                </a:lnTo>
                <a:lnTo>
                  <a:pt x="1122121" y="7874"/>
                </a:lnTo>
                <a:lnTo>
                  <a:pt x="1122121" y="181864"/>
                </a:lnTo>
                <a:lnTo>
                  <a:pt x="1094333" y="181864"/>
                </a:lnTo>
                <a:lnTo>
                  <a:pt x="1094333" y="189484"/>
                </a:lnTo>
                <a:lnTo>
                  <a:pt x="1138593" y="189484"/>
                </a:lnTo>
                <a:lnTo>
                  <a:pt x="1138593" y="181864"/>
                </a:lnTo>
                <a:lnTo>
                  <a:pt x="1138593" y="7874"/>
                </a:lnTo>
                <a:lnTo>
                  <a:pt x="1138593" y="254"/>
                </a:lnTo>
                <a:close/>
              </a:path>
              <a:path w="1245870" h="189864">
                <a:moveTo>
                  <a:pt x="1245425" y="2298"/>
                </a:moveTo>
                <a:lnTo>
                  <a:pt x="1230147" y="2298"/>
                </a:lnTo>
                <a:lnTo>
                  <a:pt x="1230147" y="186944"/>
                </a:lnTo>
                <a:lnTo>
                  <a:pt x="1245425" y="186944"/>
                </a:lnTo>
                <a:lnTo>
                  <a:pt x="1245425" y="229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5" name="object 6">
            <a:extLst>
              <a:ext uri="{FF2B5EF4-FFF2-40B4-BE49-F238E27FC236}">
                <a16:creationId xmlns:a16="http://schemas.microsoft.com/office/drawing/2014/main" id="{EC338D2A-8911-5ED3-F5EE-100829765EA2}"/>
              </a:ext>
            </a:extLst>
          </p:cNvPr>
          <p:cNvSpPr/>
          <p:nvPr/>
        </p:nvSpPr>
        <p:spPr>
          <a:xfrm>
            <a:off x="4719637" y="2865119"/>
            <a:ext cx="44450" cy="189230"/>
          </a:xfrm>
          <a:custGeom>
            <a:avLst/>
            <a:gdLst/>
            <a:ahLst/>
            <a:cxnLst/>
            <a:rect l="l" t="t" r="r" b="b"/>
            <a:pathLst>
              <a:path w="44450" h="189230">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6" name="object 7">
            <a:extLst>
              <a:ext uri="{FF2B5EF4-FFF2-40B4-BE49-F238E27FC236}">
                <a16:creationId xmlns:a16="http://schemas.microsoft.com/office/drawing/2014/main" id="{5E24E973-8B2A-FEEA-CAAE-CB5948B7302B}"/>
              </a:ext>
            </a:extLst>
          </p:cNvPr>
          <p:cNvSpPr/>
          <p:nvPr/>
        </p:nvSpPr>
        <p:spPr>
          <a:xfrm>
            <a:off x="3715969" y="2865119"/>
            <a:ext cx="44450" cy="189230"/>
          </a:xfrm>
          <a:custGeom>
            <a:avLst/>
            <a:gdLst/>
            <a:ahLst/>
            <a:cxnLst/>
            <a:rect l="l" t="t" r="r" b="b"/>
            <a:pathLst>
              <a:path w="44450" h="189230">
                <a:moveTo>
                  <a:pt x="44246" y="0"/>
                </a:moveTo>
                <a:lnTo>
                  <a:pt x="0" y="0"/>
                </a:lnTo>
                <a:lnTo>
                  <a:pt x="0" y="7620"/>
                </a:lnTo>
                <a:lnTo>
                  <a:pt x="0" y="181610"/>
                </a:lnTo>
                <a:lnTo>
                  <a:pt x="0" y="189230"/>
                </a:lnTo>
                <a:lnTo>
                  <a:pt x="44246" y="189230"/>
                </a:lnTo>
                <a:lnTo>
                  <a:pt x="44246" y="181610"/>
                </a:lnTo>
                <a:lnTo>
                  <a:pt x="16471" y="181610"/>
                </a:lnTo>
                <a:lnTo>
                  <a:pt x="16471" y="7620"/>
                </a:lnTo>
                <a:lnTo>
                  <a:pt x="44246" y="7620"/>
                </a:lnTo>
                <a:lnTo>
                  <a:pt x="4424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7" name="object 8">
            <a:extLst>
              <a:ext uri="{FF2B5EF4-FFF2-40B4-BE49-F238E27FC236}">
                <a16:creationId xmlns:a16="http://schemas.microsoft.com/office/drawing/2014/main" id="{08B53E0C-34D9-FA2F-E3B3-C92978C493FE}"/>
              </a:ext>
            </a:extLst>
          </p:cNvPr>
          <p:cNvSpPr/>
          <p:nvPr/>
        </p:nvSpPr>
        <p:spPr>
          <a:xfrm>
            <a:off x="6631673" y="3538219"/>
            <a:ext cx="55880" cy="236220"/>
          </a:xfrm>
          <a:custGeom>
            <a:avLst/>
            <a:gdLst/>
            <a:ahLst/>
            <a:cxnLst/>
            <a:rect l="l" t="t" r="r" b="b"/>
            <a:pathLst>
              <a:path w="55879" h="236220">
                <a:moveTo>
                  <a:pt x="55321" y="0"/>
                </a:moveTo>
                <a:lnTo>
                  <a:pt x="0" y="0"/>
                </a:lnTo>
                <a:lnTo>
                  <a:pt x="0" y="8890"/>
                </a:lnTo>
                <a:lnTo>
                  <a:pt x="34734" y="8890"/>
                </a:lnTo>
                <a:lnTo>
                  <a:pt x="34734" y="226060"/>
                </a:lnTo>
                <a:lnTo>
                  <a:pt x="0" y="226060"/>
                </a:lnTo>
                <a:lnTo>
                  <a:pt x="0" y="236220"/>
                </a:lnTo>
                <a:lnTo>
                  <a:pt x="55321" y="236220"/>
                </a:lnTo>
                <a:lnTo>
                  <a:pt x="55321" y="226060"/>
                </a:lnTo>
                <a:lnTo>
                  <a:pt x="55321" y="8890"/>
                </a:lnTo>
                <a:lnTo>
                  <a:pt x="55321"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8" name="object 9">
            <a:extLst>
              <a:ext uri="{FF2B5EF4-FFF2-40B4-BE49-F238E27FC236}">
                <a16:creationId xmlns:a16="http://schemas.microsoft.com/office/drawing/2014/main" id="{6EB2E20F-61C4-EEAB-DA51-778460C07C3A}"/>
              </a:ext>
            </a:extLst>
          </p:cNvPr>
          <p:cNvSpPr/>
          <p:nvPr/>
        </p:nvSpPr>
        <p:spPr>
          <a:xfrm>
            <a:off x="5669483" y="3538219"/>
            <a:ext cx="55880" cy="236220"/>
          </a:xfrm>
          <a:custGeom>
            <a:avLst/>
            <a:gdLst/>
            <a:ahLst/>
            <a:cxnLst/>
            <a:rect l="l" t="t" r="r" b="b"/>
            <a:pathLst>
              <a:path w="55879" h="236220">
                <a:moveTo>
                  <a:pt x="55321" y="0"/>
                </a:moveTo>
                <a:lnTo>
                  <a:pt x="0" y="0"/>
                </a:lnTo>
                <a:lnTo>
                  <a:pt x="0" y="8890"/>
                </a:lnTo>
                <a:lnTo>
                  <a:pt x="0" y="226060"/>
                </a:lnTo>
                <a:lnTo>
                  <a:pt x="0" y="236220"/>
                </a:lnTo>
                <a:lnTo>
                  <a:pt x="55321" y="236220"/>
                </a:lnTo>
                <a:lnTo>
                  <a:pt x="55321" y="226060"/>
                </a:lnTo>
                <a:lnTo>
                  <a:pt x="20586" y="226060"/>
                </a:lnTo>
                <a:lnTo>
                  <a:pt x="20586" y="8890"/>
                </a:lnTo>
                <a:lnTo>
                  <a:pt x="55321" y="8890"/>
                </a:lnTo>
                <a:lnTo>
                  <a:pt x="55321"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9" name="object 10">
            <a:extLst>
              <a:ext uri="{FF2B5EF4-FFF2-40B4-BE49-F238E27FC236}">
                <a16:creationId xmlns:a16="http://schemas.microsoft.com/office/drawing/2014/main" id="{21857F1C-1391-A05F-24AA-BD81AD14E3A9}"/>
              </a:ext>
            </a:extLst>
          </p:cNvPr>
          <p:cNvSpPr/>
          <p:nvPr/>
        </p:nvSpPr>
        <p:spPr>
          <a:xfrm>
            <a:off x="4505134" y="4008119"/>
            <a:ext cx="44450" cy="189230"/>
          </a:xfrm>
          <a:custGeom>
            <a:avLst/>
            <a:gdLst/>
            <a:ahLst/>
            <a:cxnLst/>
            <a:rect l="l" t="t" r="r" b="b"/>
            <a:pathLst>
              <a:path w="44450" h="189229">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0" name="object 11">
            <a:extLst>
              <a:ext uri="{FF2B5EF4-FFF2-40B4-BE49-F238E27FC236}">
                <a16:creationId xmlns:a16="http://schemas.microsoft.com/office/drawing/2014/main" id="{889FC870-A61A-0EA8-32F3-D54AAFD78FB8}"/>
              </a:ext>
            </a:extLst>
          </p:cNvPr>
          <p:cNvSpPr/>
          <p:nvPr/>
        </p:nvSpPr>
        <p:spPr>
          <a:xfrm>
            <a:off x="3474796" y="4008119"/>
            <a:ext cx="44450" cy="189230"/>
          </a:xfrm>
          <a:custGeom>
            <a:avLst/>
            <a:gdLst/>
            <a:ahLst/>
            <a:cxnLst/>
            <a:rect l="l" t="t" r="r" b="b"/>
            <a:pathLst>
              <a:path w="44450" h="189229">
                <a:moveTo>
                  <a:pt x="44246" y="0"/>
                </a:moveTo>
                <a:lnTo>
                  <a:pt x="0" y="0"/>
                </a:lnTo>
                <a:lnTo>
                  <a:pt x="0" y="7620"/>
                </a:lnTo>
                <a:lnTo>
                  <a:pt x="0" y="181610"/>
                </a:lnTo>
                <a:lnTo>
                  <a:pt x="0" y="189230"/>
                </a:lnTo>
                <a:lnTo>
                  <a:pt x="44246" y="189230"/>
                </a:lnTo>
                <a:lnTo>
                  <a:pt x="44246" y="181610"/>
                </a:lnTo>
                <a:lnTo>
                  <a:pt x="16471" y="181610"/>
                </a:lnTo>
                <a:lnTo>
                  <a:pt x="16471" y="7620"/>
                </a:lnTo>
                <a:lnTo>
                  <a:pt x="44246" y="7620"/>
                </a:lnTo>
                <a:lnTo>
                  <a:pt x="4424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1" name="object 12">
            <a:extLst>
              <a:ext uri="{FF2B5EF4-FFF2-40B4-BE49-F238E27FC236}">
                <a16:creationId xmlns:a16="http://schemas.microsoft.com/office/drawing/2014/main" id="{2B01FB75-E598-FD15-16D3-BAD6FCF2880B}"/>
              </a:ext>
            </a:extLst>
          </p:cNvPr>
          <p:cNvSpPr/>
          <p:nvPr/>
        </p:nvSpPr>
        <p:spPr>
          <a:xfrm>
            <a:off x="5138547" y="4439920"/>
            <a:ext cx="44450" cy="189230"/>
          </a:xfrm>
          <a:custGeom>
            <a:avLst/>
            <a:gdLst/>
            <a:ahLst/>
            <a:cxnLst/>
            <a:rect l="l" t="t" r="r" b="b"/>
            <a:pathLst>
              <a:path w="44450" h="189229">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2" name="object 13">
            <a:extLst>
              <a:ext uri="{FF2B5EF4-FFF2-40B4-BE49-F238E27FC236}">
                <a16:creationId xmlns:a16="http://schemas.microsoft.com/office/drawing/2014/main" id="{0E94D318-283D-B26F-5F8A-C43CED2442AA}"/>
              </a:ext>
            </a:extLst>
          </p:cNvPr>
          <p:cNvSpPr/>
          <p:nvPr/>
        </p:nvSpPr>
        <p:spPr>
          <a:xfrm>
            <a:off x="4108208" y="4439920"/>
            <a:ext cx="44450" cy="189230"/>
          </a:xfrm>
          <a:custGeom>
            <a:avLst/>
            <a:gdLst/>
            <a:ahLst/>
            <a:cxnLst/>
            <a:rect l="l" t="t" r="r" b="b"/>
            <a:pathLst>
              <a:path w="44450" h="189229">
                <a:moveTo>
                  <a:pt x="44246" y="0"/>
                </a:moveTo>
                <a:lnTo>
                  <a:pt x="0" y="0"/>
                </a:lnTo>
                <a:lnTo>
                  <a:pt x="0" y="7620"/>
                </a:lnTo>
                <a:lnTo>
                  <a:pt x="0" y="181610"/>
                </a:lnTo>
                <a:lnTo>
                  <a:pt x="0" y="189230"/>
                </a:lnTo>
                <a:lnTo>
                  <a:pt x="44246" y="189230"/>
                </a:lnTo>
                <a:lnTo>
                  <a:pt x="44246" y="181610"/>
                </a:lnTo>
                <a:lnTo>
                  <a:pt x="16471" y="181610"/>
                </a:lnTo>
                <a:lnTo>
                  <a:pt x="16471" y="7620"/>
                </a:lnTo>
                <a:lnTo>
                  <a:pt x="44246" y="7620"/>
                </a:lnTo>
                <a:lnTo>
                  <a:pt x="4424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3" name="object 14">
            <a:extLst>
              <a:ext uri="{FF2B5EF4-FFF2-40B4-BE49-F238E27FC236}">
                <a16:creationId xmlns:a16="http://schemas.microsoft.com/office/drawing/2014/main" id="{42808A30-EE0E-37B7-3ABC-9E9C5A52D962}"/>
              </a:ext>
            </a:extLst>
          </p:cNvPr>
          <p:cNvSpPr/>
          <p:nvPr/>
        </p:nvSpPr>
        <p:spPr>
          <a:xfrm>
            <a:off x="2786608" y="4865370"/>
            <a:ext cx="38735" cy="165100"/>
          </a:xfrm>
          <a:custGeom>
            <a:avLst/>
            <a:gdLst/>
            <a:ahLst/>
            <a:cxnLst/>
            <a:rect l="l" t="t" r="r" b="b"/>
            <a:pathLst>
              <a:path w="38735" h="165100">
                <a:moveTo>
                  <a:pt x="38722" y="0"/>
                </a:moveTo>
                <a:lnTo>
                  <a:pt x="0" y="0"/>
                </a:lnTo>
                <a:lnTo>
                  <a:pt x="0" y="6350"/>
                </a:lnTo>
                <a:lnTo>
                  <a:pt x="24320" y="6350"/>
                </a:lnTo>
                <a:lnTo>
                  <a:pt x="24320" y="158750"/>
                </a:lnTo>
                <a:lnTo>
                  <a:pt x="0" y="158750"/>
                </a:lnTo>
                <a:lnTo>
                  <a:pt x="0" y="165100"/>
                </a:lnTo>
                <a:lnTo>
                  <a:pt x="38722" y="165100"/>
                </a:lnTo>
                <a:lnTo>
                  <a:pt x="38722" y="1587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4" name="object 15">
            <a:extLst>
              <a:ext uri="{FF2B5EF4-FFF2-40B4-BE49-F238E27FC236}">
                <a16:creationId xmlns:a16="http://schemas.microsoft.com/office/drawing/2014/main" id="{9491117A-0AB4-FEA3-5938-F110FA497DB3}"/>
              </a:ext>
            </a:extLst>
          </p:cNvPr>
          <p:cNvSpPr/>
          <p:nvPr/>
        </p:nvSpPr>
        <p:spPr>
          <a:xfrm>
            <a:off x="1882876" y="4865370"/>
            <a:ext cx="38735" cy="165100"/>
          </a:xfrm>
          <a:custGeom>
            <a:avLst/>
            <a:gdLst/>
            <a:ahLst/>
            <a:cxnLst/>
            <a:rect l="l" t="t" r="r" b="b"/>
            <a:pathLst>
              <a:path w="38735" h="165100">
                <a:moveTo>
                  <a:pt x="38722" y="0"/>
                </a:moveTo>
                <a:lnTo>
                  <a:pt x="0" y="0"/>
                </a:lnTo>
                <a:lnTo>
                  <a:pt x="0" y="6350"/>
                </a:lnTo>
                <a:lnTo>
                  <a:pt x="0" y="158750"/>
                </a:lnTo>
                <a:lnTo>
                  <a:pt x="0" y="165100"/>
                </a:lnTo>
                <a:lnTo>
                  <a:pt x="38722" y="165100"/>
                </a:lnTo>
                <a:lnTo>
                  <a:pt x="38722" y="158750"/>
                </a:lnTo>
                <a:lnTo>
                  <a:pt x="14414" y="158750"/>
                </a:lnTo>
                <a:lnTo>
                  <a:pt x="14414" y="63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5" name="object 16">
            <a:extLst>
              <a:ext uri="{FF2B5EF4-FFF2-40B4-BE49-F238E27FC236}">
                <a16:creationId xmlns:a16="http://schemas.microsoft.com/office/drawing/2014/main" id="{A756D204-9F2B-E01E-544F-817193064DAE}"/>
              </a:ext>
            </a:extLst>
          </p:cNvPr>
          <p:cNvSpPr/>
          <p:nvPr/>
        </p:nvSpPr>
        <p:spPr>
          <a:xfrm>
            <a:off x="2718155" y="5259070"/>
            <a:ext cx="38735" cy="165100"/>
          </a:xfrm>
          <a:custGeom>
            <a:avLst/>
            <a:gdLst/>
            <a:ahLst/>
            <a:cxnLst/>
            <a:rect l="l" t="t" r="r" b="b"/>
            <a:pathLst>
              <a:path w="38735" h="165100">
                <a:moveTo>
                  <a:pt x="38722" y="0"/>
                </a:moveTo>
                <a:lnTo>
                  <a:pt x="0" y="0"/>
                </a:lnTo>
                <a:lnTo>
                  <a:pt x="0" y="6350"/>
                </a:lnTo>
                <a:lnTo>
                  <a:pt x="24320" y="6350"/>
                </a:lnTo>
                <a:lnTo>
                  <a:pt x="24320" y="158750"/>
                </a:lnTo>
                <a:lnTo>
                  <a:pt x="0" y="158750"/>
                </a:lnTo>
                <a:lnTo>
                  <a:pt x="0" y="165100"/>
                </a:lnTo>
                <a:lnTo>
                  <a:pt x="38722" y="165100"/>
                </a:lnTo>
                <a:lnTo>
                  <a:pt x="38722" y="1587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6" name="object 17">
            <a:extLst>
              <a:ext uri="{FF2B5EF4-FFF2-40B4-BE49-F238E27FC236}">
                <a16:creationId xmlns:a16="http://schemas.microsoft.com/office/drawing/2014/main" id="{C88FD6F1-CA54-F43B-C38C-93A84388EB8C}"/>
              </a:ext>
            </a:extLst>
          </p:cNvPr>
          <p:cNvSpPr/>
          <p:nvPr/>
        </p:nvSpPr>
        <p:spPr>
          <a:xfrm>
            <a:off x="1882876" y="5259070"/>
            <a:ext cx="38735" cy="165100"/>
          </a:xfrm>
          <a:custGeom>
            <a:avLst/>
            <a:gdLst/>
            <a:ahLst/>
            <a:cxnLst/>
            <a:rect l="l" t="t" r="r" b="b"/>
            <a:pathLst>
              <a:path w="38735" h="165100">
                <a:moveTo>
                  <a:pt x="38722" y="0"/>
                </a:moveTo>
                <a:lnTo>
                  <a:pt x="0" y="0"/>
                </a:lnTo>
                <a:lnTo>
                  <a:pt x="0" y="6350"/>
                </a:lnTo>
                <a:lnTo>
                  <a:pt x="0" y="158750"/>
                </a:lnTo>
                <a:lnTo>
                  <a:pt x="0" y="165100"/>
                </a:lnTo>
                <a:lnTo>
                  <a:pt x="38722" y="165100"/>
                </a:lnTo>
                <a:lnTo>
                  <a:pt x="38722" y="158750"/>
                </a:lnTo>
                <a:lnTo>
                  <a:pt x="14414" y="158750"/>
                </a:lnTo>
                <a:lnTo>
                  <a:pt x="14414" y="63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7" name="object 18">
            <a:extLst>
              <a:ext uri="{FF2B5EF4-FFF2-40B4-BE49-F238E27FC236}">
                <a16:creationId xmlns:a16="http://schemas.microsoft.com/office/drawing/2014/main" id="{E79189E2-70F2-BB7F-1EA3-DA12C9205653}"/>
              </a:ext>
            </a:extLst>
          </p:cNvPr>
          <p:cNvSpPr/>
          <p:nvPr/>
        </p:nvSpPr>
        <p:spPr>
          <a:xfrm>
            <a:off x="3445611" y="5259070"/>
            <a:ext cx="38735" cy="165100"/>
          </a:xfrm>
          <a:custGeom>
            <a:avLst/>
            <a:gdLst/>
            <a:ahLst/>
            <a:cxnLst/>
            <a:rect l="l" t="t" r="r" b="b"/>
            <a:pathLst>
              <a:path w="38735" h="165100">
                <a:moveTo>
                  <a:pt x="38722" y="0"/>
                </a:moveTo>
                <a:lnTo>
                  <a:pt x="0" y="0"/>
                </a:lnTo>
                <a:lnTo>
                  <a:pt x="0" y="6350"/>
                </a:lnTo>
                <a:lnTo>
                  <a:pt x="24320" y="6350"/>
                </a:lnTo>
                <a:lnTo>
                  <a:pt x="24320" y="158750"/>
                </a:lnTo>
                <a:lnTo>
                  <a:pt x="0" y="158750"/>
                </a:lnTo>
                <a:lnTo>
                  <a:pt x="0" y="165100"/>
                </a:lnTo>
                <a:lnTo>
                  <a:pt x="38722" y="165100"/>
                </a:lnTo>
                <a:lnTo>
                  <a:pt x="38722" y="1587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19">
            <a:extLst>
              <a:ext uri="{FF2B5EF4-FFF2-40B4-BE49-F238E27FC236}">
                <a16:creationId xmlns:a16="http://schemas.microsoft.com/office/drawing/2014/main" id="{58DAAE6E-BF07-188D-9D22-620488C9732D}"/>
              </a:ext>
            </a:extLst>
          </p:cNvPr>
          <p:cNvSpPr/>
          <p:nvPr/>
        </p:nvSpPr>
        <p:spPr>
          <a:xfrm>
            <a:off x="2885351" y="5259070"/>
            <a:ext cx="38735" cy="165100"/>
          </a:xfrm>
          <a:custGeom>
            <a:avLst/>
            <a:gdLst/>
            <a:ahLst/>
            <a:cxnLst/>
            <a:rect l="l" t="t" r="r" b="b"/>
            <a:pathLst>
              <a:path w="38735" h="165100">
                <a:moveTo>
                  <a:pt x="38722" y="0"/>
                </a:moveTo>
                <a:lnTo>
                  <a:pt x="0" y="0"/>
                </a:lnTo>
                <a:lnTo>
                  <a:pt x="0" y="6350"/>
                </a:lnTo>
                <a:lnTo>
                  <a:pt x="0" y="158750"/>
                </a:lnTo>
                <a:lnTo>
                  <a:pt x="0" y="165100"/>
                </a:lnTo>
                <a:lnTo>
                  <a:pt x="38722" y="165100"/>
                </a:lnTo>
                <a:lnTo>
                  <a:pt x="38722" y="158750"/>
                </a:lnTo>
                <a:lnTo>
                  <a:pt x="14414" y="158750"/>
                </a:lnTo>
                <a:lnTo>
                  <a:pt x="14414" y="63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9" name="object 20">
            <a:extLst>
              <a:ext uri="{FF2B5EF4-FFF2-40B4-BE49-F238E27FC236}">
                <a16:creationId xmlns:a16="http://schemas.microsoft.com/office/drawing/2014/main" id="{05AB3CBC-6ACC-7210-48B8-F48AFD6A0D98}"/>
              </a:ext>
            </a:extLst>
          </p:cNvPr>
          <p:cNvSpPr/>
          <p:nvPr/>
        </p:nvSpPr>
        <p:spPr>
          <a:xfrm>
            <a:off x="2596934" y="5640070"/>
            <a:ext cx="38735" cy="165100"/>
          </a:xfrm>
          <a:custGeom>
            <a:avLst/>
            <a:gdLst/>
            <a:ahLst/>
            <a:cxnLst/>
            <a:rect l="l" t="t" r="r" b="b"/>
            <a:pathLst>
              <a:path w="38735" h="165100">
                <a:moveTo>
                  <a:pt x="38722" y="0"/>
                </a:moveTo>
                <a:lnTo>
                  <a:pt x="0" y="0"/>
                </a:lnTo>
                <a:lnTo>
                  <a:pt x="0" y="6350"/>
                </a:lnTo>
                <a:lnTo>
                  <a:pt x="24320" y="6350"/>
                </a:lnTo>
                <a:lnTo>
                  <a:pt x="24320" y="158750"/>
                </a:lnTo>
                <a:lnTo>
                  <a:pt x="0" y="158750"/>
                </a:lnTo>
                <a:lnTo>
                  <a:pt x="0" y="165100"/>
                </a:lnTo>
                <a:lnTo>
                  <a:pt x="38722" y="165100"/>
                </a:lnTo>
                <a:lnTo>
                  <a:pt x="38722" y="1587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0" name="object 21">
            <a:extLst>
              <a:ext uri="{FF2B5EF4-FFF2-40B4-BE49-F238E27FC236}">
                <a16:creationId xmlns:a16="http://schemas.microsoft.com/office/drawing/2014/main" id="{14B91CD0-E5B6-F003-8C43-8F01A2C2CCCF}"/>
              </a:ext>
            </a:extLst>
          </p:cNvPr>
          <p:cNvSpPr/>
          <p:nvPr/>
        </p:nvSpPr>
        <p:spPr>
          <a:xfrm>
            <a:off x="1882876" y="5640070"/>
            <a:ext cx="38735" cy="165100"/>
          </a:xfrm>
          <a:custGeom>
            <a:avLst/>
            <a:gdLst/>
            <a:ahLst/>
            <a:cxnLst/>
            <a:rect l="l" t="t" r="r" b="b"/>
            <a:pathLst>
              <a:path w="38735" h="165100">
                <a:moveTo>
                  <a:pt x="38722" y="0"/>
                </a:moveTo>
                <a:lnTo>
                  <a:pt x="0" y="0"/>
                </a:lnTo>
                <a:lnTo>
                  <a:pt x="0" y="6350"/>
                </a:lnTo>
                <a:lnTo>
                  <a:pt x="0" y="158750"/>
                </a:lnTo>
                <a:lnTo>
                  <a:pt x="0" y="165100"/>
                </a:lnTo>
                <a:lnTo>
                  <a:pt x="38722" y="165100"/>
                </a:lnTo>
                <a:lnTo>
                  <a:pt x="38722" y="158750"/>
                </a:lnTo>
                <a:lnTo>
                  <a:pt x="14414" y="158750"/>
                </a:lnTo>
                <a:lnTo>
                  <a:pt x="14414" y="63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1" name="object 22">
            <a:extLst>
              <a:ext uri="{FF2B5EF4-FFF2-40B4-BE49-F238E27FC236}">
                <a16:creationId xmlns:a16="http://schemas.microsoft.com/office/drawing/2014/main" id="{9F0637DF-2DBA-25B2-971C-1C8DC2282D08}"/>
              </a:ext>
            </a:extLst>
          </p:cNvPr>
          <p:cNvSpPr/>
          <p:nvPr/>
        </p:nvSpPr>
        <p:spPr>
          <a:xfrm>
            <a:off x="3382365" y="5640070"/>
            <a:ext cx="38735" cy="165100"/>
          </a:xfrm>
          <a:custGeom>
            <a:avLst/>
            <a:gdLst/>
            <a:ahLst/>
            <a:cxnLst/>
            <a:rect l="l" t="t" r="r" b="b"/>
            <a:pathLst>
              <a:path w="38735" h="165100">
                <a:moveTo>
                  <a:pt x="38722" y="0"/>
                </a:moveTo>
                <a:lnTo>
                  <a:pt x="0" y="0"/>
                </a:lnTo>
                <a:lnTo>
                  <a:pt x="0" y="6350"/>
                </a:lnTo>
                <a:lnTo>
                  <a:pt x="24320" y="6350"/>
                </a:lnTo>
                <a:lnTo>
                  <a:pt x="24320" y="158750"/>
                </a:lnTo>
                <a:lnTo>
                  <a:pt x="0" y="158750"/>
                </a:lnTo>
                <a:lnTo>
                  <a:pt x="0" y="165100"/>
                </a:lnTo>
                <a:lnTo>
                  <a:pt x="38722" y="165100"/>
                </a:lnTo>
                <a:lnTo>
                  <a:pt x="38722" y="1587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2" name="object 23">
            <a:extLst>
              <a:ext uri="{FF2B5EF4-FFF2-40B4-BE49-F238E27FC236}">
                <a16:creationId xmlns:a16="http://schemas.microsoft.com/office/drawing/2014/main" id="{C527C6C1-EC49-7C47-0F61-CA2715C26F8F}"/>
              </a:ext>
            </a:extLst>
          </p:cNvPr>
          <p:cNvSpPr/>
          <p:nvPr/>
        </p:nvSpPr>
        <p:spPr>
          <a:xfrm>
            <a:off x="2764129" y="5640070"/>
            <a:ext cx="38735" cy="165100"/>
          </a:xfrm>
          <a:custGeom>
            <a:avLst/>
            <a:gdLst/>
            <a:ahLst/>
            <a:cxnLst/>
            <a:rect l="l" t="t" r="r" b="b"/>
            <a:pathLst>
              <a:path w="38735" h="165100">
                <a:moveTo>
                  <a:pt x="38722" y="0"/>
                </a:moveTo>
                <a:lnTo>
                  <a:pt x="0" y="0"/>
                </a:lnTo>
                <a:lnTo>
                  <a:pt x="0" y="6350"/>
                </a:lnTo>
                <a:lnTo>
                  <a:pt x="0" y="158750"/>
                </a:lnTo>
                <a:lnTo>
                  <a:pt x="0" y="165100"/>
                </a:lnTo>
                <a:lnTo>
                  <a:pt x="38722" y="165100"/>
                </a:lnTo>
                <a:lnTo>
                  <a:pt x="38722" y="158750"/>
                </a:lnTo>
                <a:lnTo>
                  <a:pt x="14414" y="158750"/>
                </a:lnTo>
                <a:lnTo>
                  <a:pt x="14414" y="6350"/>
                </a:lnTo>
                <a:lnTo>
                  <a:pt x="38722" y="635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3" name="object 24">
            <a:extLst>
              <a:ext uri="{FF2B5EF4-FFF2-40B4-BE49-F238E27FC236}">
                <a16:creationId xmlns:a16="http://schemas.microsoft.com/office/drawing/2014/main" id="{E598C0E4-9E8F-3C1B-C376-C9CE609FB1C4}"/>
              </a:ext>
            </a:extLst>
          </p:cNvPr>
          <p:cNvSpPr txBox="1"/>
          <p:nvPr/>
        </p:nvSpPr>
        <p:spPr>
          <a:xfrm>
            <a:off x="656590" y="1604771"/>
            <a:ext cx="7727950" cy="4264885"/>
          </a:xfrm>
          <a:prstGeom prst="rect">
            <a:avLst/>
          </a:prstGeom>
        </p:spPr>
        <p:txBody>
          <a:bodyPr vert="horz" wrap="square" lIns="0" tIns="8255" rIns="0" bIns="0" rtlCol="0">
            <a:spAutoFit/>
          </a:bodyPr>
          <a:lstStyle/>
          <a:p>
            <a:pPr marL="293370" marR="30480" indent="-230504" rtl="0">
              <a:lnSpc>
                <a:spcPct val="110500"/>
              </a:lnSpc>
              <a:spcBef>
                <a:spcPts val="65"/>
              </a:spcBef>
              <a:buClr>
                <a:srgbClr val="000000"/>
              </a:buClr>
              <a:buFont typeface="Arial MT"/>
              <a:buChar char="•"/>
              <a:tabLst>
                <a:tab pos="293370" algn="l"/>
                <a:tab pos="294005" algn="l"/>
                <a:tab pos="5830570" algn="l"/>
                <a:tab pos="7167880" algn="l"/>
              </a:tabLst>
            </a:pPr>
            <a:r>
              <a:rPr sz="2000" kern="1200" spc="-5" dirty="0">
                <a:solidFill>
                  <a:srgbClr val="FF0000"/>
                </a:solidFill>
                <a:latin typeface="Cambria Math"/>
                <a:cs typeface="Cambria Math"/>
              </a:rPr>
              <a:t>𝐆𝐎𝐓𝐎(𝑰,</a:t>
            </a:r>
            <a:r>
              <a:rPr sz="2000" kern="1200" spc="-105" dirty="0">
                <a:solidFill>
                  <a:srgbClr val="FF0000"/>
                </a:solidFill>
                <a:latin typeface="Cambria Math"/>
                <a:cs typeface="Cambria Math"/>
              </a:rPr>
              <a:t> </a:t>
            </a:r>
            <a:r>
              <a:rPr sz="2000" kern="1200" spc="-5" dirty="0">
                <a:solidFill>
                  <a:srgbClr val="FF0000"/>
                </a:solidFill>
                <a:latin typeface="Cambria Math"/>
                <a:cs typeface="Cambria Math"/>
              </a:rPr>
              <a:t>𝑿)</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where</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𝐼</a:t>
            </a:r>
            <a:r>
              <a:rPr sz="2000" kern="1200" spc="125" dirty="0">
                <a:solidFill>
                  <a:prstClr val="black"/>
                </a:solidFill>
                <a:latin typeface="Cambria Math"/>
                <a:cs typeface="Cambria Math"/>
              </a:rPr>
              <a:t> </a:t>
            </a:r>
            <a:r>
              <a:rPr sz="2000" kern="1200" dirty="0">
                <a:solidFill>
                  <a:prstClr val="black"/>
                </a:solidFill>
                <a:latin typeface="Palatino Linotype"/>
                <a:cs typeface="Palatino Linotype"/>
              </a:rPr>
              <a:t>is a set</a:t>
            </a:r>
            <a:r>
              <a:rPr sz="2000" kern="1200" spc="-5" dirty="0">
                <a:solidFill>
                  <a:prstClr val="black"/>
                </a:solidFill>
                <a:latin typeface="Palatino Linotype"/>
                <a:cs typeface="Palatino Linotype"/>
              </a:rPr>
              <a:t> of items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𝑋</a:t>
            </a:r>
            <a:r>
              <a:rPr sz="2000" kern="1200" spc="105" dirty="0">
                <a:solidFill>
                  <a:prstClr val="black"/>
                </a:solidFill>
                <a:latin typeface="Cambria Math"/>
                <a:cs typeface="Cambria Math"/>
              </a:rPr>
              <a:t> </a:t>
            </a:r>
            <a:r>
              <a:rPr sz="2000" kern="1200" dirty="0">
                <a:solidFill>
                  <a:prstClr val="black"/>
                </a:solidFill>
                <a:latin typeface="Palatino Linotype"/>
                <a:cs typeface="Palatino Linotype"/>
              </a:rPr>
              <a:t>is a </a:t>
            </a:r>
            <a:r>
              <a:rPr sz="2000" kern="1200" spc="-5" dirty="0">
                <a:solidFill>
                  <a:prstClr val="black"/>
                </a:solidFill>
                <a:latin typeface="Palatino Linotype"/>
                <a:cs typeface="Palatino Linotype"/>
              </a:rPr>
              <a:t>grammar </a:t>
            </a:r>
            <a:r>
              <a:rPr sz="2000" kern="1200" dirty="0">
                <a:solidFill>
                  <a:prstClr val="black"/>
                </a:solidFill>
                <a:latin typeface="Palatino Linotype"/>
                <a:cs typeface="Palatino Linotype"/>
              </a:rPr>
              <a:t>symbol, </a:t>
            </a:r>
            <a:r>
              <a:rPr sz="2000" kern="1200" spc="5" dirty="0">
                <a:solidFill>
                  <a:prstClr val="black"/>
                </a:solidFill>
                <a:latin typeface="Palatino Linotype"/>
                <a:cs typeface="Palatino Linotype"/>
              </a:rPr>
              <a:t> i</a:t>
            </a:r>
            <a:r>
              <a:rPr sz="2000" kern="1200" dirty="0">
                <a:solidFill>
                  <a:prstClr val="black"/>
                </a:solidFill>
                <a:latin typeface="Palatino Linotype"/>
                <a:cs typeface="Palatino Linotype"/>
              </a:rPr>
              <a:t>s de</a:t>
            </a:r>
            <a:r>
              <a:rPr sz="2000" kern="1200" spc="-5" dirty="0">
                <a:solidFill>
                  <a:prstClr val="black"/>
                </a:solidFill>
                <a:latin typeface="Palatino Linotype"/>
                <a:cs typeface="Palatino Linotype"/>
              </a:rPr>
              <a:t>f</a:t>
            </a:r>
            <a:r>
              <a:rPr sz="2000" kern="1200" spc="5" dirty="0">
                <a:solidFill>
                  <a:prstClr val="black"/>
                </a:solidFill>
                <a:latin typeface="Palatino Linotype"/>
                <a:cs typeface="Palatino Linotype"/>
              </a:rPr>
              <a:t>i</a:t>
            </a:r>
            <a:r>
              <a:rPr sz="2000" kern="1200" spc="-5" dirty="0">
                <a:solidFill>
                  <a:prstClr val="black"/>
                </a:solidFill>
                <a:latin typeface="Palatino Linotype"/>
                <a:cs typeface="Palatino Linotype"/>
              </a:rPr>
              <a:t>n</a:t>
            </a:r>
            <a:r>
              <a:rPr sz="2000" kern="1200" dirty="0">
                <a:solidFill>
                  <a:prstClr val="black"/>
                </a:solidFill>
                <a:latin typeface="Palatino Linotype"/>
                <a:cs typeface="Palatino Linotype"/>
              </a:rPr>
              <a:t>ed </a:t>
            </a:r>
            <a:r>
              <a:rPr sz="2000" kern="1200" spc="-5" dirty="0">
                <a:solidFill>
                  <a:prstClr val="black"/>
                </a:solidFill>
                <a:latin typeface="Palatino Linotype"/>
                <a:cs typeface="Palatino Linotype"/>
              </a:rPr>
              <a:t>t</a:t>
            </a:r>
            <a:r>
              <a:rPr sz="2000" kern="1200" dirty="0">
                <a:solidFill>
                  <a:prstClr val="black"/>
                </a:solidFill>
                <a:latin typeface="Palatino Linotype"/>
                <a:cs typeface="Palatino Linotype"/>
              </a:rPr>
              <a:t>o</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b</a:t>
            </a:r>
            <a:r>
              <a:rPr sz="2000" kern="1200" dirty="0">
                <a:solidFill>
                  <a:prstClr val="black"/>
                </a:solidFill>
                <a:latin typeface="Palatino Linotype"/>
                <a:cs typeface="Palatino Linotype"/>
              </a:rPr>
              <a:t>e </a:t>
            </a:r>
            <a:r>
              <a:rPr sz="2000" kern="1200" spc="-5" dirty="0">
                <a:solidFill>
                  <a:prstClr val="black"/>
                </a:solidFill>
                <a:latin typeface="Palatino Linotype"/>
                <a:cs typeface="Palatino Linotype"/>
              </a:rPr>
              <a:t>th</a:t>
            </a:r>
            <a:r>
              <a:rPr sz="2000" kern="1200" dirty="0">
                <a:solidFill>
                  <a:prstClr val="black"/>
                </a:solidFill>
                <a:latin typeface="Palatino Linotype"/>
                <a:cs typeface="Palatino Linotype"/>
              </a:rPr>
              <a:t>e </a:t>
            </a:r>
            <a:r>
              <a:rPr sz="2000" kern="1200" spc="-5" dirty="0">
                <a:solidFill>
                  <a:prstClr val="black"/>
                </a:solidFill>
                <a:latin typeface="Palatino Linotype"/>
                <a:cs typeface="Palatino Linotype"/>
              </a:rPr>
              <a:t>c</a:t>
            </a:r>
            <a:r>
              <a:rPr sz="2000" kern="1200" spc="5" dirty="0">
                <a:solidFill>
                  <a:prstClr val="black"/>
                </a:solidFill>
                <a:latin typeface="Palatino Linotype"/>
                <a:cs typeface="Palatino Linotype"/>
              </a:rPr>
              <a:t>l</a:t>
            </a:r>
            <a:r>
              <a:rPr sz="2000" kern="1200" spc="-5" dirty="0">
                <a:solidFill>
                  <a:prstClr val="black"/>
                </a:solidFill>
                <a:latin typeface="Palatino Linotype"/>
                <a:cs typeface="Palatino Linotype"/>
              </a:rPr>
              <a:t>o</a:t>
            </a:r>
            <a:r>
              <a:rPr sz="2000" kern="1200" dirty="0">
                <a:solidFill>
                  <a:prstClr val="black"/>
                </a:solidFill>
                <a:latin typeface="Palatino Linotype"/>
                <a:cs typeface="Palatino Linotype"/>
              </a:rPr>
              <a:t>s</a:t>
            </a:r>
            <a:r>
              <a:rPr sz="2000" kern="1200" spc="-10" dirty="0">
                <a:solidFill>
                  <a:prstClr val="black"/>
                </a:solidFill>
                <a:latin typeface="Palatino Linotype"/>
                <a:cs typeface="Palatino Linotype"/>
              </a:rPr>
              <a:t>u</a:t>
            </a:r>
            <a:r>
              <a:rPr sz="2000" kern="1200" spc="-5" dirty="0">
                <a:solidFill>
                  <a:prstClr val="black"/>
                </a:solidFill>
                <a:latin typeface="Palatino Linotype"/>
                <a:cs typeface="Palatino Linotype"/>
              </a:rPr>
              <a:t>r</a:t>
            </a:r>
            <a:r>
              <a:rPr sz="2000" kern="1200" dirty="0">
                <a:solidFill>
                  <a:prstClr val="black"/>
                </a:solidFill>
                <a:latin typeface="Palatino Linotype"/>
                <a:cs typeface="Palatino Linotype"/>
              </a:rPr>
              <a:t>e </a:t>
            </a:r>
            <a:r>
              <a:rPr sz="2000" kern="1200" spc="-5" dirty="0">
                <a:solidFill>
                  <a:prstClr val="black"/>
                </a:solidFill>
                <a:latin typeface="Palatino Linotype"/>
                <a:cs typeface="Palatino Linotype"/>
              </a:rPr>
              <a:t>o</a:t>
            </a:r>
            <a:r>
              <a:rPr sz="2000" kern="1200" dirty="0">
                <a:solidFill>
                  <a:prstClr val="black"/>
                </a:solidFill>
                <a:latin typeface="Palatino Linotype"/>
                <a:cs typeface="Palatino Linotype"/>
              </a:rPr>
              <a:t>f</a:t>
            </a:r>
            <a:r>
              <a:rPr sz="2000" kern="1200" spc="-5" dirty="0">
                <a:solidFill>
                  <a:prstClr val="black"/>
                </a:solidFill>
                <a:latin typeface="Palatino Linotype"/>
                <a:cs typeface="Palatino Linotype"/>
              </a:rPr>
              <a:t> th</a:t>
            </a:r>
            <a:r>
              <a:rPr sz="2000" kern="1200" dirty="0">
                <a:solidFill>
                  <a:prstClr val="black"/>
                </a:solidFill>
                <a:latin typeface="Palatino Linotype"/>
                <a:cs typeface="Palatino Linotype"/>
              </a:rPr>
              <a:t>e set</a:t>
            </a:r>
            <a:r>
              <a:rPr sz="2000" kern="1200" spc="-5" dirty="0">
                <a:solidFill>
                  <a:prstClr val="black"/>
                </a:solidFill>
                <a:latin typeface="Palatino Linotype"/>
                <a:cs typeface="Palatino Linotype"/>
              </a:rPr>
              <a:t> o</a:t>
            </a:r>
            <a:r>
              <a:rPr sz="2000" kern="1200" dirty="0">
                <a:solidFill>
                  <a:prstClr val="black"/>
                </a:solidFill>
                <a:latin typeface="Palatino Linotype"/>
                <a:cs typeface="Palatino Linotype"/>
              </a:rPr>
              <a:t>f</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l</a:t>
            </a:r>
            <a:r>
              <a:rPr sz="2000" kern="1200" dirty="0">
                <a:solidFill>
                  <a:prstClr val="black"/>
                </a:solidFill>
                <a:latin typeface="Palatino Linotype"/>
                <a:cs typeface="Palatino Linotype"/>
              </a:rPr>
              <a:t>l</a:t>
            </a:r>
            <a:r>
              <a:rPr sz="2000" kern="1200" spc="5" dirty="0">
                <a:solidFill>
                  <a:prstClr val="black"/>
                </a:solidFill>
                <a:latin typeface="Palatino Linotype"/>
                <a:cs typeface="Palatino Linotype"/>
              </a:rPr>
              <a:t> i</a:t>
            </a:r>
            <a:r>
              <a:rPr sz="2000" kern="1200" spc="-5" dirty="0">
                <a:solidFill>
                  <a:prstClr val="black"/>
                </a:solidFill>
                <a:latin typeface="Palatino Linotype"/>
                <a:cs typeface="Palatino Linotype"/>
              </a:rPr>
              <a:t>t</a:t>
            </a:r>
            <a:r>
              <a:rPr sz="2000" kern="1200" dirty="0">
                <a:solidFill>
                  <a:prstClr val="black"/>
                </a:solidFill>
                <a:latin typeface="Palatino Linotype"/>
                <a:cs typeface="Palatino Linotype"/>
              </a:rPr>
              <a:t>e</a:t>
            </a:r>
            <a:r>
              <a:rPr sz="2000" kern="1200" spc="-5" dirty="0">
                <a:solidFill>
                  <a:prstClr val="black"/>
                </a:solidFill>
                <a:latin typeface="Palatino Linotype"/>
                <a:cs typeface="Palatino Linotype"/>
              </a:rPr>
              <a:t>m</a:t>
            </a:r>
            <a:r>
              <a:rPr sz="2000" kern="1200" dirty="0">
                <a:solidFill>
                  <a:prstClr val="black"/>
                </a:solidFill>
                <a:latin typeface="Palatino Linotype"/>
                <a:cs typeface="Palatino Linotype"/>
              </a:rPr>
              <a:t>s	</a:t>
            </a:r>
            <a:r>
              <a:rPr sz="2000" kern="1200" dirty="0">
                <a:solidFill>
                  <a:prstClr val="black"/>
                </a:solidFill>
                <a:latin typeface="Cambria Math"/>
                <a:cs typeface="Cambria Math"/>
              </a:rPr>
              <a:t>𝐴</a:t>
            </a:r>
            <a:r>
              <a:rPr sz="2000" kern="1200" spc="13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𝛼𝑋</a:t>
            </a:r>
            <a:r>
              <a:rPr sz="2000" kern="1200" spc="50" dirty="0">
                <a:solidFill>
                  <a:prstClr val="black"/>
                </a:solidFill>
                <a:latin typeface="Cambria Math"/>
                <a:cs typeface="Cambria Math"/>
              </a:rPr>
              <a:t> </a:t>
            </a:r>
            <a:r>
              <a:rPr lang="en-US" altLang="zh-CN" sz="2000" kern="1200" spc="-95" dirty="0">
                <a:solidFill>
                  <a:prstClr val="black"/>
                </a:solidFill>
                <a:latin typeface="Cambria Math"/>
                <a:cs typeface="Cambria Math"/>
              </a:rPr>
              <a:t>·</a:t>
            </a:r>
            <a:r>
              <a:rPr sz="2000" kern="1200" dirty="0">
                <a:solidFill>
                  <a:prstClr val="black"/>
                </a:solidFill>
                <a:latin typeface="Cambria Math"/>
                <a:cs typeface="Cambria Math"/>
              </a:rPr>
              <a:t> 𝛽	</a:t>
            </a:r>
            <a:r>
              <a:rPr sz="2000" kern="1200" dirty="0">
                <a:solidFill>
                  <a:prstClr val="black"/>
                </a:solidFill>
                <a:latin typeface="Palatino Linotype"/>
                <a:cs typeface="Palatino Linotype"/>
              </a:rPr>
              <a:t>s</a:t>
            </a:r>
            <a:r>
              <a:rPr sz="2000" kern="1200" spc="-10" dirty="0">
                <a:solidFill>
                  <a:prstClr val="black"/>
                </a:solidFill>
                <a:latin typeface="Palatino Linotype"/>
                <a:cs typeface="Palatino Linotype"/>
              </a:rPr>
              <a:t>u</a:t>
            </a:r>
            <a:r>
              <a:rPr sz="2000" kern="1200" dirty="0">
                <a:solidFill>
                  <a:prstClr val="black"/>
                </a:solidFill>
                <a:latin typeface="Palatino Linotype"/>
                <a:cs typeface="Palatino Linotype"/>
              </a:rPr>
              <a:t>ch  </a:t>
            </a:r>
            <a:r>
              <a:rPr sz="2000" kern="1200" spc="-5" dirty="0">
                <a:solidFill>
                  <a:prstClr val="black"/>
                </a:solidFill>
                <a:latin typeface="Palatino Linotype"/>
                <a:cs typeface="Palatino Linotype"/>
              </a:rPr>
              <a:t>th</a:t>
            </a:r>
            <a:r>
              <a:rPr sz="2000" kern="1200" dirty="0">
                <a:solidFill>
                  <a:prstClr val="black"/>
                </a:solidFill>
                <a:latin typeface="Palatino Linotype"/>
                <a:cs typeface="Palatino Linotype"/>
              </a:rPr>
              <a:t>at</a:t>
            </a:r>
            <a:r>
              <a:rPr sz="2000" kern="1200" spc="-5" dirty="0">
                <a:solidFill>
                  <a:prstClr val="black"/>
                </a:solidFill>
                <a:latin typeface="Palatino Linotype"/>
                <a:cs typeface="Palatino Linotype"/>
              </a:rPr>
              <a:t> </a:t>
            </a:r>
            <a:r>
              <a:rPr sz="2000" kern="1200" spc="-5" dirty="0">
                <a:solidFill>
                  <a:prstClr val="black"/>
                </a:solidFill>
                <a:latin typeface="Cambria Math"/>
                <a:cs typeface="Cambria Math"/>
              </a:rPr>
              <a:t>[</a:t>
            </a:r>
            <a:r>
              <a:rPr sz="2000" kern="1200" dirty="0">
                <a:solidFill>
                  <a:prstClr val="black"/>
                </a:solidFill>
                <a:latin typeface="Cambria Math"/>
                <a:cs typeface="Cambria Math"/>
              </a:rPr>
              <a:t>𝐴</a:t>
            </a:r>
            <a:r>
              <a:rPr sz="2000" kern="1200" spc="13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𝛼</a:t>
            </a:r>
            <a:r>
              <a:rPr sz="2000" kern="1200" spc="65" dirty="0">
                <a:solidFill>
                  <a:prstClr val="black"/>
                </a:solidFill>
                <a:latin typeface="Cambria Math"/>
                <a:cs typeface="Cambria Math"/>
              </a:rPr>
              <a:t> </a:t>
            </a:r>
            <a:r>
              <a:rPr lang="en-US" altLang="zh-CN" sz="2000" kern="1200" spc="-95" dirty="0">
                <a:solidFill>
                  <a:prstClr val="black"/>
                </a:solidFill>
                <a:latin typeface="Cambria Math"/>
                <a:cs typeface="Cambria Math"/>
              </a:rPr>
              <a:t>·</a:t>
            </a:r>
            <a:r>
              <a:rPr sz="2000" kern="1200" dirty="0">
                <a:solidFill>
                  <a:prstClr val="black"/>
                </a:solidFill>
                <a:latin typeface="Cambria Math"/>
                <a:cs typeface="Cambria Math"/>
              </a:rPr>
              <a:t> </a:t>
            </a:r>
            <a:r>
              <a:rPr sz="2000" kern="1200" spc="-5" dirty="0">
                <a:solidFill>
                  <a:prstClr val="black"/>
                </a:solidFill>
                <a:latin typeface="Cambria Math"/>
                <a:cs typeface="Cambria Math"/>
              </a:rPr>
              <a:t>𝑋</a:t>
            </a:r>
            <a:r>
              <a:rPr sz="2000" kern="1200" spc="60" dirty="0">
                <a:solidFill>
                  <a:prstClr val="black"/>
                </a:solidFill>
                <a:latin typeface="Cambria Math"/>
                <a:cs typeface="Cambria Math"/>
              </a:rPr>
              <a:t>𝛽</a:t>
            </a:r>
            <a:r>
              <a:rPr sz="2000" kern="1200" dirty="0">
                <a:solidFill>
                  <a:prstClr val="black"/>
                </a:solidFill>
                <a:latin typeface="Cambria Math"/>
                <a:cs typeface="Cambria Math"/>
              </a:rPr>
              <a:t>]</a:t>
            </a:r>
            <a:r>
              <a:rPr sz="2000" kern="1200" spc="55" dirty="0">
                <a:solidFill>
                  <a:prstClr val="black"/>
                </a:solidFill>
                <a:latin typeface="Cambria Math"/>
                <a:cs typeface="Cambria Math"/>
              </a:rPr>
              <a:t> </a:t>
            </a:r>
            <a:r>
              <a:rPr sz="2000" kern="1200" spc="5" dirty="0">
                <a:solidFill>
                  <a:prstClr val="black"/>
                </a:solidFill>
                <a:latin typeface="Palatino Linotype"/>
                <a:cs typeface="Palatino Linotype"/>
              </a:rPr>
              <a:t>i</a:t>
            </a:r>
            <a:r>
              <a:rPr sz="2000" kern="1200" dirty="0">
                <a:solidFill>
                  <a:prstClr val="black"/>
                </a:solidFill>
                <a:latin typeface="Palatino Linotype"/>
                <a:cs typeface="Palatino Linotype"/>
              </a:rPr>
              <a:t>s </a:t>
            </a:r>
            <a:r>
              <a:rPr sz="2000" kern="1200" spc="5" dirty="0">
                <a:solidFill>
                  <a:prstClr val="black"/>
                </a:solidFill>
                <a:latin typeface="Palatino Linotype"/>
                <a:cs typeface="Palatino Linotype"/>
              </a:rPr>
              <a:t>i</a:t>
            </a:r>
            <a:r>
              <a:rPr sz="2000" kern="1200" dirty="0">
                <a:solidFill>
                  <a:prstClr val="black"/>
                </a:solidFill>
                <a:latin typeface="Palatino Linotype"/>
                <a:cs typeface="Palatino Linotype"/>
              </a:rPr>
              <a:t>n</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𝐼</a:t>
            </a:r>
          </a:p>
          <a:p>
            <a:pPr marL="749300" lvl="1" indent="-228600" rtl="0">
              <a:spcBef>
                <a:spcPts val="1500"/>
              </a:spcBef>
              <a:buFont typeface="Wingdings"/>
              <a:buChar char=""/>
              <a:tabLst>
                <a:tab pos="748665" algn="l"/>
                <a:tab pos="749300" algn="l"/>
                <a:tab pos="1862455" algn="l"/>
                <a:tab pos="3107690" algn="l"/>
                <a:tab pos="4185920" algn="l"/>
              </a:tabLst>
            </a:pPr>
            <a:r>
              <a:rPr sz="1600" kern="1200" spc="5" dirty="0">
                <a:solidFill>
                  <a:prstClr val="black"/>
                </a:solidFill>
                <a:latin typeface="Cambria Math"/>
                <a:cs typeface="Cambria Math"/>
              </a:rPr>
              <a:t>𝐶𝐿𝑂𝑆𝑈𝑅𝐸(	</a:t>
            </a:r>
            <a:r>
              <a:rPr sz="1600" kern="1200" dirty="0">
                <a:solidFill>
                  <a:prstClr val="black"/>
                </a:solidFill>
                <a:latin typeface="Cambria Math"/>
                <a:cs typeface="Cambria Math"/>
              </a:rPr>
              <a:t>𝐴</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𝛼𝑋</a:t>
            </a:r>
            <a:r>
              <a:rPr lang="en-US" sz="1600" kern="1200" dirty="0">
                <a:solidFill>
                  <a:prstClr val="black"/>
                </a:solidFill>
                <a:latin typeface="Cambria Math"/>
                <a:cs typeface="Cambria Math"/>
              </a:rPr>
              <a:t> </a:t>
            </a:r>
            <a:r>
              <a:rPr lang="en-US" altLang="zh-CN" sz="1600" kern="1200" spc="-95" dirty="0">
                <a:solidFill>
                  <a:prstClr val="black"/>
                </a:solidFill>
                <a:latin typeface="Cambria Math"/>
                <a:cs typeface="Cambria Math"/>
              </a:rPr>
              <a:t>·</a:t>
            </a:r>
            <a:r>
              <a:rPr sz="1600" kern="1200" spc="45" dirty="0">
                <a:solidFill>
                  <a:prstClr val="black"/>
                </a:solidFill>
                <a:latin typeface="Cambria Math"/>
                <a:cs typeface="Cambria Math"/>
              </a:rPr>
              <a:t> </a:t>
            </a:r>
            <a:r>
              <a:rPr lang="en-US" altLang="zh-CN" sz="1600" kern="1200" spc="-640" dirty="0">
                <a:solidFill>
                  <a:prstClr val="black"/>
                </a:solidFill>
                <a:latin typeface="Cambria Math"/>
                <a:cs typeface="Cambria Math"/>
              </a:rPr>
              <a:t>········</a:t>
            </a:r>
            <a:r>
              <a:rPr sz="1600" kern="1200" dirty="0">
                <a:solidFill>
                  <a:prstClr val="black"/>
                </a:solidFill>
                <a:latin typeface="Cambria Math"/>
                <a:cs typeface="Cambria Math"/>
              </a:rPr>
              <a:t>𝛽	𝐴</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𝛼</a:t>
            </a:r>
            <a:r>
              <a:rPr sz="1600" kern="1200" spc="55" dirty="0">
                <a:solidFill>
                  <a:prstClr val="black"/>
                </a:solidFill>
                <a:latin typeface="Cambria Math"/>
                <a:cs typeface="Cambria Math"/>
              </a:rPr>
              <a:t> </a:t>
            </a:r>
            <a:r>
              <a:rPr lang="en-US" altLang="zh-CN" sz="1600" kern="1200" spc="-95" dirty="0">
                <a:solidFill>
                  <a:prstClr val="black"/>
                </a:solidFill>
                <a:latin typeface="Cambria Math"/>
                <a:cs typeface="Cambria Math"/>
              </a:rPr>
              <a:t>·</a:t>
            </a:r>
            <a:r>
              <a:rPr lang="en-US" altLang="zh-CN" sz="1600" kern="1200" spc="-640" dirty="0">
                <a:solidFill>
                  <a:prstClr val="black"/>
                </a:solidFill>
                <a:latin typeface="Cambria Math"/>
                <a:cs typeface="Cambria Math"/>
              </a:rPr>
              <a:t> </a:t>
            </a:r>
            <a:r>
              <a:rPr lang="zh-CN" altLang="en-US" sz="1600" kern="1200" dirty="0">
                <a:solidFill>
                  <a:prstClr val="black"/>
                </a:solidFill>
                <a:latin typeface="Cambria Math"/>
                <a:cs typeface="Cambria Math"/>
              </a:rPr>
              <a:t>𝑋</a:t>
            </a:r>
            <a:r>
              <a:rPr sz="1600" kern="1200" dirty="0">
                <a:solidFill>
                  <a:prstClr val="black"/>
                </a:solidFill>
                <a:latin typeface="Cambria Math"/>
                <a:cs typeface="Cambria Math"/>
              </a:rPr>
              <a:t>𝛽	∈</a:t>
            </a:r>
            <a:r>
              <a:rPr sz="1600" kern="1200" spc="50" dirty="0">
                <a:solidFill>
                  <a:prstClr val="black"/>
                </a:solidFill>
                <a:latin typeface="Cambria Math"/>
                <a:cs typeface="Cambria Math"/>
              </a:rPr>
              <a:t> </a:t>
            </a:r>
            <a:r>
              <a:rPr sz="1600" kern="1200" spc="20" dirty="0">
                <a:solidFill>
                  <a:prstClr val="black"/>
                </a:solidFill>
                <a:latin typeface="Cambria Math"/>
                <a:cs typeface="Cambria Math"/>
              </a:rPr>
              <a:t>𝐼})</a:t>
            </a:r>
            <a:endParaRPr sz="1600" kern="1200" dirty="0">
              <a:solidFill>
                <a:prstClr val="black"/>
              </a:solidFill>
              <a:latin typeface="Cambria Math"/>
              <a:cs typeface="Cambria Math"/>
            </a:endParaRPr>
          </a:p>
          <a:p>
            <a:pPr lvl="1" rtl="0">
              <a:spcBef>
                <a:spcPts val="50"/>
              </a:spcBef>
              <a:buFont typeface="Wingdings"/>
              <a:buChar char=""/>
            </a:pPr>
            <a:endParaRPr sz="2750" kern="1200" dirty="0">
              <a:solidFill>
                <a:prstClr val="black"/>
              </a:solidFill>
              <a:latin typeface="Cambria Math"/>
              <a:cs typeface="Cambria Math"/>
            </a:endParaRPr>
          </a:p>
          <a:p>
            <a:pPr marL="294005" indent="-230504" rtl="0">
              <a:buClr>
                <a:srgbClr val="000000"/>
              </a:buClr>
              <a:buFont typeface="Arial MT"/>
              <a:buChar char="•"/>
              <a:tabLst>
                <a:tab pos="293370" algn="l"/>
                <a:tab pos="294005" algn="l"/>
              </a:tabLst>
            </a:pPr>
            <a:r>
              <a:rPr sz="2000" b="1" kern="1200" dirty="0">
                <a:solidFill>
                  <a:srgbClr val="0432FF"/>
                </a:solidFill>
                <a:latin typeface="Palatino Linotype"/>
                <a:cs typeface="Palatino Linotype"/>
              </a:rPr>
              <a:t>Exa</a:t>
            </a:r>
            <a:r>
              <a:rPr sz="2000" b="1" kern="1200" spc="-5" dirty="0">
                <a:solidFill>
                  <a:srgbClr val="0432FF"/>
                </a:solidFill>
                <a:latin typeface="Palatino Linotype"/>
                <a:cs typeface="Palatino Linotype"/>
              </a:rPr>
              <a:t>m</a:t>
            </a:r>
            <a:r>
              <a:rPr sz="2000" b="1" kern="1200" dirty="0">
                <a:solidFill>
                  <a:srgbClr val="0432FF"/>
                </a:solidFill>
                <a:latin typeface="Palatino Linotype"/>
                <a:cs typeface="Palatino Linotype"/>
              </a:rPr>
              <a:t>p</a:t>
            </a:r>
            <a:r>
              <a:rPr sz="2000" b="1" kern="1200" spc="-5" dirty="0">
                <a:solidFill>
                  <a:srgbClr val="0432FF"/>
                </a:solidFill>
                <a:latin typeface="Palatino Linotype"/>
                <a:cs typeface="Palatino Linotype"/>
              </a:rPr>
              <a:t>l</a:t>
            </a:r>
            <a:r>
              <a:rPr sz="2000" b="1" kern="1200" dirty="0">
                <a:solidFill>
                  <a:srgbClr val="0432FF"/>
                </a:solidFill>
                <a:latin typeface="Palatino Linotype"/>
                <a:cs typeface="Palatino Linotype"/>
              </a:rPr>
              <a:t>e:</a:t>
            </a:r>
            <a:r>
              <a:rPr sz="2000" b="1" kern="1200" spc="-5" dirty="0">
                <a:solidFill>
                  <a:srgbClr val="0432FF"/>
                </a:solidFill>
                <a:latin typeface="Palatino Linotype"/>
                <a:cs typeface="Palatino Linotype"/>
              </a:rPr>
              <a:t> </a:t>
            </a:r>
            <a:r>
              <a:rPr sz="2000" kern="1200" spc="-10" dirty="0">
                <a:solidFill>
                  <a:prstClr val="black"/>
                </a:solidFill>
                <a:latin typeface="Palatino Linotype"/>
                <a:cs typeface="Palatino Linotype"/>
              </a:rPr>
              <a:t>C</a:t>
            </a:r>
            <a:r>
              <a:rPr sz="2000" kern="1200" spc="-5" dirty="0">
                <a:solidFill>
                  <a:prstClr val="black"/>
                </a:solidFill>
                <a:latin typeface="Palatino Linotype"/>
                <a:cs typeface="Palatino Linotype"/>
              </a:rPr>
              <a:t>omp</a:t>
            </a:r>
            <a:r>
              <a:rPr sz="2000" kern="1200" spc="-10" dirty="0">
                <a:solidFill>
                  <a:prstClr val="black"/>
                </a:solidFill>
                <a:latin typeface="Palatino Linotype"/>
                <a:cs typeface="Palatino Linotype"/>
              </a:rPr>
              <a:t>u</a:t>
            </a:r>
            <a:r>
              <a:rPr sz="2000" kern="1200" spc="-5" dirty="0">
                <a:solidFill>
                  <a:prstClr val="black"/>
                </a:solidFill>
                <a:latin typeface="Palatino Linotype"/>
                <a:cs typeface="Palatino Linotype"/>
              </a:rPr>
              <a:t>t</a:t>
            </a:r>
            <a:r>
              <a:rPr sz="2000" kern="1200" dirty="0">
                <a:solidFill>
                  <a:prstClr val="black"/>
                </a:solidFill>
                <a:latin typeface="Palatino Linotype"/>
                <a:cs typeface="Palatino Linotype"/>
              </a:rPr>
              <a:t>i</a:t>
            </a:r>
            <a:r>
              <a:rPr sz="2000" kern="1200" spc="-5" dirty="0">
                <a:solidFill>
                  <a:prstClr val="black"/>
                </a:solidFill>
                <a:latin typeface="Palatino Linotype"/>
                <a:cs typeface="Palatino Linotype"/>
              </a:rPr>
              <a:t>n</a:t>
            </a:r>
            <a:r>
              <a:rPr sz="2000" kern="1200" dirty="0">
                <a:solidFill>
                  <a:prstClr val="black"/>
                </a:solidFill>
                <a:latin typeface="Palatino Linotype"/>
                <a:cs typeface="Palatino Linotype"/>
              </a:rPr>
              <a:t>g</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G</a:t>
            </a:r>
            <a:r>
              <a:rPr sz="2000" kern="1200" spc="-35" dirty="0">
                <a:solidFill>
                  <a:prstClr val="black"/>
                </a:solidFill>
                <a:latin typeface="Cambria Math"/>
                <a:cs typeface="Cambria Math"/>
              </a:rPr>
              <a:t>O</a:t>
            </a:r>
            <a:r>
              <a:rPr sz="2000" kern="1200" spc="-25" dirty="0">
                <a:solidFill>
                  <a:prstClr val="black"/>
                </a:solidFill>
                <a:latin typeface="Cambria Math"/>
                <a:cs typeface="Cambria Math"/>
              </a:rPr>
              <a:t>T</a:t>
            </a:r>
            <a:r>
              <a:rPr sz="2000" kern="1200" dirty="0">
                <a:solidFill>
                  <a:prstClr val="black"/>
                </a:solidFill>
                <a:latin typeface="Cambria Math"/>
                <a:cs typeface="Cambria Math"/>
              </a:rPr>
              <a:t>O</a:t>
            </a:r>
            <a:r>
              <a:rPr sz="2000" kern="1200" spc="-10" dirty="0">
                <a:solidFill>
                  <a:prstClr val="black"/>
                </a:solidFill>
                <a:latin typeface="Cambria Math"/>
                <a:cs typeface="Cambria Math"/>
              </a:rPr>
              <a:t>(</a:t>
            </a:r>
            <a:r>
              <a:rPr sz="2000" kern="1200" spc="65" dirty="0">
                <a:solidFill>
                  <a:prstClr val="black"/>
                </a:solidFill>
                <a:latin typeface="Cambria Math"/>
                <a:cs typeface="Cambria Math"/>
              </a:rPr>
              <a:t>𝐼</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r>
              <a:rPr sz="2000" kern="1200" spc="-10" dirty="0">
                <a:solidFill>
                  <a:prstClr val="black"/>
                </a:solidFill>
                <a:latin typeface="Cambria Math"/>
                <a:cs typeface="Cambria Math"/>
              </a:rPr>
              <a:t> </a:t>
            </a:r>
            <a:r>
              <a:rPr sz="2000" kern="1200" spc="-5" dirty="0">
                <a:solidFill>
                  <a:prstClr val="black"/>
                </a:solidFill>
                <a:latin typeface="Palatino Linotype"/>
                <a:cs typeface="Palatino Linotype"/>
              </a:rPr>
              <a:t>f</a:t>
            </a:r>
            <a:r>
              <a:rPr sz="2000" kern="1200" spc="-10" dirty="0">
                <a:solidFill>
                  <a:prstClr val="black"/>
                </a:solidFill>
                <a:latin typeface="Palatino Linotype"/>
                <a:cs typeface="Palatino Linotype"/>
              </a:rPr>
              <a:t>o</a:t>
            </a:r>
            <a:r>
              <a:rPr sz="2000" kern="1200" dirty="0">
                <a:solidFill>
                  <a:prstClr val="black"/>
                </a:solidFill>
                <a:latin typeface="Palatino Linotype"/>
                <a:cs typeface="Palatino Linotype"/>
              </a:rPr>
              <a:t>r</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𝐼</a:t>
            </a:r>
            <a:r>
              <a:rPr sz="2000" kern="1200" spc="18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 </a:t>
            </a:r>
            <a:r>
              <a:rPr sz="2000" kern="1200" spc="-185" dirty="0">
                <a:solidFill>
                  <a:prstClr val="black"/>
                </a:solidFill>
                <a:latin typeface="Cambria Math"/>
                <a:cs typeface="Cambria Math"/>
              </a:rPr>
              <a:t> </a:t>
            </a:r>
            <a:r>
              <a:rPr sz="2000" kern="1200" spc="75" dirty="0">
                <a:solidFill>
                  <a:prstClr val="black"/>
                </a:solidFill>
                <a:latin typeface="Cambria Math"/>
                <a:cs typeface="Cambria Math"/>
              </a:rPr>
              <a:t>𝐸</a:t>
            </a:r>
            <a:r>
              <a:rPr sz="2250" kern="1200" spc="262" baseline="25925" dirty="0">
                <a:solidFill>
                  <a:prstClr val="black"/>
                </a:solidFill>
                <a:latin typeface="Cambria Math"/>
                <a:cs typeface="Cambria Math"/>
              </a:rPr>
              <a:t>'</a:t>
            </a:r>
            <a:r>
              <a:rPr sz="2250" kern="1200" baseline="25925" dirty="0">
                <a:solidFill>
                  <a:prstClr val="black"/>
                </a:solidFill>
                <a:latin typeface="Cambria Math"/>
                <a:cs typeface="Cambria Math"/>
              </a:rPr>
              <a:t> </a:t>
            </a:r>
            <a:r>
              <a:rPr sz="2250" kern="1200" spc="-52" baseline="259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𝐸</a:t>
            </a:r>
            <a:r>
              <a:rPr sz="2000" kern="1200" spc="80" dirty="0">
                <a:solidFill>
                  <a:prstClr val="black"/>
                </a:solidFill>
                <a:latin typeface="Cambria Math"/>
                <a:cs typeface="Cambria Math"/>
              </a:rPr>
              <a:t> </a:t>
            </a:r>
            <a:r>
              <a:rPr lang="en-US" altLang="zh-CN" sz="2000" kern="1200" spc="-95" dirty="0">
                <a:solidFill>
                  <a:prstClr val="black"/>
                </a:solidFill>
                <a:latin typeface="Cambria Math"/>
                <a:cs typeface="Cambria Math"/>
              </a:rPr>
              <a:t>·</a:t>
            </a:r>
            <a:r>
              <a:rPr sz="2000" kern="1200" dirty="0">
                <a:solidFill>
                  <a:prstClr val="black"/>
                </a:solidFill>
                <a:latin typeface="Cambria Math"/>
                <a:cs typeface="Cambria Math"/>
              </a:rPr>
              <a:t> </a:t>
            </a:r>
            <a:r>
              <a:rPr sz="2000" kern="1200" spc="-18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 dirty="0">
                <a:solidFill>
                  <a:prstClr val="black"/>
                </a:solidFill>
                <a:latin typeface="Cambria Math"/>
                <a:cs typeface="Cambria Math"/>
              </a:rPr>
              <a:t>[</a:t>
            </a:r>
            <a:r>
              <a:rPr sz="2000" kern="1200" dirty="0">
                <a:solidFill>
                  <a:prstClr val="black"/>
                </a:solidFill>
                <a:latin typeface="Cambria Math"/>
                <a:cs typeface="Cambria Math"/>
              </a:rPr>
              <a:t>𝐸</a:t>
            </a:r>
            <a:r>
              <a:rPr sz="2000" kern="1200" spc="19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𝐸</a:t>
            </a:r>
            <a:r>
              <a:rPr sz="2000" kern="1200" spc="80" dirty="0">
                <a:solidFill>
                  <a:prstClr val="black"/>
                </a:solidFill>
                <a:latin typeface="Cambria Math"/>
                <a:cs typeface="Cambria Math"/>
              </a:rPr>
              <a:t> </a:t>
            </a:r>
            <a:r>
              <a:rPr lang="en-US" altLang="zh-CN" sz="2000" kern="1200" spc="-95" dirty="0">
                <a:solidFill>
                  <a:prstClr val="black"/>
                </a:solidFill>
                <a:latin typeface="Cambria Math"/>
                <a:cs typeface="Cambria Math"/>
              </a:rPr>
              <a:t>·</a:t>
            </a:r>
            <a:r>
              <a:rPr sz="2000" kern="1200" dirty="0">
                <a:solidFill>
                  <a:prstClr val="black"/>
                </a:solidFill>
                <a:latin typeface="Cambria Math"/>
                <a:cs typeface="Cambria Math"/>
              </a:rPr>
              <a:t> </a:t>
            </a:r>
            <a:r>
              <a:rPr sz="2000" kern="1200" spc="5" dirty="0">
                <a:solidFill>
                  <a:prstClr val="black"/>
                </a:solidFill>
                <a:latin typeface="Cambria Math"/>
                <a:cs typeface="Cambria Math"/>
              </a:rPr>
              <a:t>+</a:t>
            </a:r>
            <a:r>
              <a:rPr sz="2000" kern="1200" spc="40" dirty="0">
                <a:solidFill>
                  <a:prstClr val="black"/>
                </a:solidFill>
                <a:latin typeface="Cambria Math"/>
                <a:cs typeface="Cambria Math"/>
              </a:rPr>
              <a:t>𝑇</a:t>
            </a:r>
            <a:r>
              <a:rPr sz="2000" kern="1200" spc="-5" dirty="0">
                <a:solidFill>
                  <a:prstClr val="black"/>
                </a:solidFill>
                <a:latin typeface="Cambria Math"/>
                <a:cs typeface="Cambria Math"/>
              </a:rPr>
              <a:t>]</a:t>
            </a:r>
            <a:r>
              <a:rPr sz="2000" kern="1200" dirty="0">
                <a:solidFill>
                  <a:prstClr val="black"/>
                </a:solidFill>
                <a:latin typeface="Cambria Math"/>
                <a:cs typeface="Cambria Math"/>
              </a:rPr>
              <a:t>}</a:t>
            </a:r>
          </a:p>
          <a:p>
            <a:pPr marL="749300" lvl="1" indent="-228600" rtl="0">
              <a:spcBef>
                <a:spcPts val="1410"/>
              </a:spcBef>
              <a:buFont typeface="Wingdings"/>
              <a:buChar char=""/>
              <a:tabLst>
                <a:tab pos="748665" algn="l"/>
                <a:tab pos="749300" algn="l"/>
              </a:tabLst>
            </a:pPr>
            <a:r>
              <a:rPr sz="1600" kern="1200" spc="-10" dirty="0">
                <a:solidFill>
                  <a:prstClr val="black"/>
                </a:solidFill>
                <a:latin typeface="Palatino Linotype"/>
                <a:cs typeface="Palatino Linotype"/>
              </a:rPr>
              <a:t>T</a:t>
            </a:r>
            <a:r>
              <a:rPr sz="1600" kern="1200" spc="5" dirty="0">
                <a:solidFill>
                  <a:prstClr val="black"/>
                </a:solidFill>
                <a:latin typeface="Palatino Linotype"/>
                <a:cs typeface="Palatino Linotype"/>
              </a:rPr>
              <a:t>h</a:t>
            </a:r>
            <a:r>
              <a:rPr sz="1600" kern="1200" spc="-5" dirty="0">
                <a:solidFill>
                  <a:prstClr val="black"/>
                </a:solidFill>
                <a:latin typeface="Palatino Linotype"/>
                <a:cs typeface="Palatino Linotype"/>
              </a:rPr>
              <a:t>e</a:t>
            </a:r>
            <a:r>
              <a:rPr sz="1600" kern="1200" spc="5" dirty="0">
                <a:solidFill>
                  <a:prstClr val="black"/>
                </a:solidFill>
                <a:latin typeface="Palatino Linotype"/>
                <a:cs typeface="Palatino Linotype"/>
              </a:rPr>
              <a:t>r</a:t>
            </a:r>
            <a:r>
              <a:rPr sz="1600" kern="1200" dirty="0">
                <a:solidFill>
                  <a:prstClr val="black"/>
                </a:solidFill>
                <a:latin typeface="Palatino Linotype"/>
                <a:cs typeface="Palatino Linotype"/>
              </a:rPr>
              <a:t>e</a:t>
            </a:r>
            <a:r>
              <a:rPr sz="1600" kern="1200" spc="-5" dirty="0">
                <a:solidFill>
                  <a:prstClr val="black"/>
                </a:solidFill>
                <a:latin typeface="Palatino Linotype"/>
                <a:cs typeface="Palatino Linotype"/>
              </a:rPr>
              <a:t> i</a:t>
            </a:r>
            <a:r>
              <a:rPr sz="1600" kern="1200" dirty="0">
                <a:solidFill>
                  <a:prstClr val="black"/>
                </a:solidFill>
                <a:latin typeface="Palatino Linotype"/>
                <a:cs typeface="Palatino Linotype"/>
              </a:rPr>
              <a:t>s</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o</a:t>
            </a:r>
            <a:r>
              <a:rPr sz="1600" kern="1200" spc="5" dirty="0">
                <a:solidFill>
                  <a:prstClr val="black"/>
                </a:solidFill>
                <a:latin typeface="Palatino Linotype"/>
                <a:cs typeface="Palatino Linotype"/>
              </a:rPr>
              <a:t>n</a:t>
            </a:r>
            <a:r>
              <a:rPr sz="1600" kern="1200" spc="-5" dirty="0">
                <a:solidFill>
                  <a:prstClr val="black"/>
                </a:solidFill>
                <a:latin typeface="Palatino Linotype"/>
                <a:cs typeface="Palatino Linotype"/>
              </a:rPr>
              <a:t>l</a:t>
            </a:r>
            <a:r>
              <a:rPr sz="1600" kern="1200" dirty="0">
                <a:solidFill>
                  <a:prstClr val="black"/>
                </a:solidFill>
                <a:latin typeface="Palatino Linotype"/>
                <a:cs typeface="Palatino Linotype"/>
              </a:rPr>
              <a:t>y</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o</a:t>
            </a:r>
            <a:r>
              <a:rPr sz="1600" kern="1200" spc="5" dirty="0">
                <a:solidFill>
                  <a:prstClr val="black"/>
                </a:solidFill>
                <a:latin typeface="Palatino Linotype"/>
                <a:cs typeface="Palatino Linotype"/>
              </a:rPr>
              <a:t>n</a:t>
            </a:r>
            <a:r>
              <a:rPr sz="1600" kern="1200" dirty="0">
                <a:solidFill>
                  <a:prstClr val="black"/>
                </a:solidFill>
                <a:latin typeface="Palatino Linotype"/>
                <a:cs typeface="Palatino Linotype"/>
              </a:rPr>
              <a:t>e</a:t>
            </a:r>
            <a:r>
              <a:rPr sz="1600" kern="1200" spc="-5" dirty="0">
                <a:solidFill>
                  <a:prstClr val="black"/>
                </a:solidFill>
                <a:latin typeface="Palatino Linotype"/>
                <a:cs typeface="Palatino Linotype"/>
              </a:rPr>
              <a:t> i</a:t>
            </a:r>
            <a:r>
              <a:rPr sz="1600" kern="1200" dirty="0">
                <a:solidFill>
                  <a:prstClr val="black"/>
                </a:solidFill>
                <a:latin typeface="Palatino Linotype"/>
                <a:cs typeface="Palatino Linotype"/>
              </a:rPr>
              <a:t>t</a:t>
            </a:r>
            <a:r>
              <a:rPr sz="1600" kern="1200" spc="-5" dirty="0">
                <a:solidFill>
                  <a:prstClr val="black"/>
                </a:solidFill>
                <a:latin typeface="Palatino Linotype"/>
                <a:cs typeface="Palatino Linotype"/>
              </a:rPr>
              <a:t>e</a:t>
            </a:r>
            <a:r>
              <a:rPr sz="1600" kern="1200" dirty="0">
                <a:solidFill>
                  <a:prstClr val="black"/>
                </a:solidFill>
                <a:latin typeface="Palatino Linotype"/>
                <a:cs typeface="Palatino Linotype"/>
              </a:rPr>
              <a:t>m </a:t>
            </a:r>
            <a:r>
              <a:rPr sz="1600" kern="1200" spc="155" dirty="0">
                <a:solidFill>
                  <a:prstClr val="black"/>
                </a:solidFill>
                <a:latin typeface="Palatino Linotype"/>
                <a:cs typeface="Palatino Linotype"/>
              </a:rPr>
              <a:t> </a:t>
            </a:r>
            <a:r>
              <a:rPr sz="1600" kern="1200" dirty="0">
                <a:solidFill>
                  <a:prstClr val="black"/>
                </a:solidFill>
                <a:latin typeface="Cambria Math"/>
                <a:cs typeface="Cambria Math"/>
              </a:rPr>
              <a:t>𝐸</a:t>
            </a:r>
            <a:r>
              <a:rPr sz="1600" kern="1200" spc="15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𝐸</a:t>
            </a:r>
            <a:r>
              <a:rPr lang="zh-CN" altLang="en-US" sz="1600" kern="1200" dirty="0">
                <a:solidFill>
                  <a:srgbClr val="FF0000"/>
                </a:solidFill>
                <a:latin typeface="Cambria Math"/>
                <a:cs typeface="Cambria Math"/>
              </a:rPr>
              <a:t> </a:t>
            </a:r>
            <a:r>
              <a:rPr lang="en-US" altLang="zh-CN" sz="1600" kern="1200" dirty="0">
                <a:solidFill>
                  <a:srgbClr val="FF0000"/>
                </a:solidFill>
                <a:latin typeface="Cambria Math"/>
                <a:cs typeface="Cambria Math"/>
              </a:rPr>
              <a:t>·</a:t>
            </a:r>
            <a:r>
              <a:rPr sz="1600" kern="1200" dirty="0">
                <a:solidFill>
                  <a:prstClr val="black"/>
                </a:solidFill>
                <a:latin typeface="Cambria Math"/>
                <a:cs typeface="Cambria Math"/>
              </a:rPr>
              <a:t>+𝑇 </a:t>
            </a:r>
            <a:r>
              <a:rPr sz="1600" kern="1200" spc="-114" dirty="0">
                <a:solidFill>
                  <a:prstClr val="black"/>
                </a:solidFill>
                <a:latin typeface="Cambria Math"/>
                <a:cs typeface="Cambria Math"/>
              </a:rPr>
              <a:t> </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n</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w</a:t>
            </a:r>
            <a:r>
              <a:rPr sz="1600" kern="1200" spc="5" dirty="0">
                <a:solidFill>
                  <a:prstClr val="black"/>
                </a:solidFill>
                <a:latin typeface="Palatino Linotype"/>
                <a:cs typeface="Palatino Linotype"/>
              </a:rPr>
              <a:t>h</a:t>
            </a: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ch</a:t>
            </a:r>
            <a:r>
              <a:rPr sz="1600" kern="1200" spc="5" dirty="0">
                <a:solidFill>
                  <a:prstClr val="black"/>
                </a:solidFill>
                <a:latin typeface="Palatino Linotype"/>
                <a:cs typeface="Palatino Linotype"/>
              </a:rPr>
              <a:t> </a:t>
            </a:r>
            <a:r>
              <a:rPr sz="1600" kern="1200" dirty="0">
                <a:solidFill>
                  <a:prstClr val="black"/>
                </a:solidFill>
                <a:latin typeface="Cambria Math"/>
                <a:cs typeface="Cambria Math"/>
              </a:rPr>
              <a:t>+</a:t>
            </a:r>
            <a:r>
              <a:rPr sz="1600" kern="1200" spc="50" dirty="0">
                <a:solidFill>
                  <a:prstClr val="black"/>
                </a:solidFill>
                <a:latin typeface="Cambria Math"/>
                <a:cs typeface="Cambria Math"/>
              </a:rPr>
              <a:t> </a:t>
            </a:r>
            <a:r>
              <a:rPr sz="1600" kern="1200" dirty="0">
                <a:solidFill>
                  <a:prstClr val="black"/>
                </a:solidFill>
                <a:latin typeface="Palatino Linotype"/>
                <a:cs typeface="Palatino Linotype"/>
              </a:rPr>
              <a:t>fo</a:t>
            </a:r>
            <a:r>
              <a:rPr sz="1600" kern="1200" spc="-5" dirty="0">
                <a:solidFill>
                  <a:prstClr val="black"/>
                </a:solidFill>
                <a:latin typeface="Palatino Linotype"/>
                <a:cs typeface="Palatino Linotype"/>
              </a:rPr>
              <a:t>ll</a:t>
            </a:r>
            <a:r>
              <a:rPr sz="1600" kern="1200" dirty="0">
                <a:solidFill>
                  <a:prstClr val="black"/>
                </a:solidFill>
                <a:latin typeface="Palatino Linotype"/>
                <a:cs typeface="Palatino Linotype"/>
              </a:rPr>
              <a:t>ows</a:t>
            </a:r>
            <a:r>
              <a:rPr sz="1600" kern="1200" spc="-5" dirty="0">
                <a:solidFill>
                  <a:prstClr val="black"/>
                </a:solidFill>
                <a:latin typeface="Palatino Linotype"/>
                <a:cs typeface="Palatino Linotype"/>
              </a:rPr>
              <a:t> </a:t>
            </a:r>
            <a:r>
              <a:rPr lang="en-US" altLang="zh-CN" sz="1600" kern="1200" spc="-95" dirty="0">
                <a:solidFill>
                  <a:prstClr val="black"/>
                </a:solidFill>
                <a:latin typeface="Cambria Math"/>
                <a:cs typeface="Cambria Math"/>
              </a:rPr>
              <a:t>·</a:t>
            </a:r>
            <a:endParaRPr sz="1600" kern="1200" dirty="0">
              <a:solidFill>
                <a:prstClr val="black"/>
              </a:solidFill>
              <a:latin typeface="Cambria Math"/>
              <a:cs typeface="Cambria Math"/>
            </a:endParaRPr>
          </a:p>
          <a:p>
            <a:pPr marL="749300" lvl="1" indent="-228600" rtl="0">
              <a:spcBef>
                <a:spcPts val="1485"/>
              </a:spcBef>
              <a:buFont typeface="Wingdings"/>
              <a:buChar char=""/>
              <a:tabLst>
                <a:tab pos="748665" algn="l"/>
                <a:tab pos="749300" algn="l"/>
              </a:tabLst>
            </a:pPr>
            <a:r>
              <a:rPr sz="1600" kern="1200" spc="-10" dirty="0">
                <a:solidFill>
                  <a:prstClr val="black"/>
                </a:solidFill>
                <a:latin typeface="Palatino Linotype"/>
                <a:cs typeface="Palatino Linotype"/>
              </a:rPr>
              <a:t>T</a:t>
            </a:r>
            <a:r>
              <a:rPr sz="1600" kern="1200" spc="5" dirty="0">
                <a:solidFill>
                  <a:prstClr val="black"/>
                </a:solidFill>
                <a:latin typeface="Palatino Linotype"/>
                <a:cs typeface="Palatino Linotype"/>
              </a:rPr>
              <a:t>h</a:t>
            </a:r>
            <a:r>
              <a:rPr sz="1600" kern="1200" spc="-5" dirty="0">
                <a:solidFill>
                  <a:prstClr val="black"/>
                </a:solidFill>
                <a:latin typeface="Palatino Linotype"/>
                <a:cs typeface="Palatino Linotype"/>
              </a:rPr>
              <a:t>e</a:t>
            </a:r>
            <a:r>
              <a:rPr sz="1600" kern="1200" dirty="0">
                <a:solidFill>
                  <a:prstClr val="black"/>
                </a:solidFill>
                <a:latin typeface="Palatino Linotype"/>
                <a:cs typeface="Palatino Linotype"/>
              </a:rPr>
              <a:t>n</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comp</a:t>
            </a:r>
            <a:r>
              <a:rPr sz="1600" kern="1200" spc="-5" dirty="0">
                <a:solidFill>
                  <a:prstClr val="black"/>
                </a:solidFill>
                <a:latin typeface="Palatino Linotype"/>
                <a:cs typeface="Palatino Linotype"/>
              </a:rPr>
              <a:t>u</a:t>
            </a:r>
            <a:r>
              <a:rPr sz="1600" kern="1200" dirty="0">
                <a:solidFill>
                  <a:prstClr val="black"/>
                </a:solidFill>
                <a:latin typeface="Palatino Linotype"/>
                <a:cs typeface="Palatino Linotype"/>
              </a:rPr>
              <a:t>te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a:t>
            </a:r>
            <a:r>
              <a:rPr sz="1600" kern="1200" spc="5" dirty="0">
                <a:solidFill>
                  <a:prstClr val="black"/>
                </a:solidFill>
                <a:latin typeface="Palatino Linotype"/>
                <a:cs typeface="Palatino Linotype"/>
              </a:rPr>
              <a:t>h</a:t>
            </a:r>
            <a:r>
              <a:rPr sz="1600" kern="1200" dirty="0">
                <a:solidFill>
                  <a:prstClr val="black"/>
                </a:solidFill>
                <a:latin typeface="Palatino Linotype"/>
                <a:cs typeface="Palatino Linotype"/>
              </a:rPr>
              <a:t>e</a:t>
            </a:r>
            <a:r>
              <a:rPr sz="1600" kern="1200" spc="-5" dirty="0">
                <a:solidFill>
                  <a:prstClr val="black"/>
                </a:solidFill>
                <a:latin typeface="Palatino Linotype"/>
                <a:cs typeface="Palatino Linotype"/>
              </a:rPr>
              <a:t> </a:t>
            </a:r>
            <a:r>
              <a:rPr sz="1600" kern="1200" dirty="0">
                <a:solidFill>
                  <a:prstClr val="black"/>
                </a:solidFill>
                <a:latin typeface="Cambria Math"/>
                <a:cs typeface="Cambria Math"/>
              </a:rPr>
              <a:t>C</a:t>
            </a:r>
            <a:r>
              <a:rPr sz="1600" kern="1200" spc="-10" dirty="0">
                <a:solidFill>
                  <a:prstClr val="black"/>
                </a:solidFill>
                <a:latin typeface="Cambria Math"/>
                <a:cs typeface="Cambria Math"/>
              </a:rPr>
              <a:t>L</a:t>
            </a:r>
            <a:r>
              <a:rPr sz="1600" kern="1200" spc="5" dirty="0">
                <a:solidFill>
                  <a:prstClr val="black"/>
                </a:solidFill>
                <a:latin typeface="Cambria Math"/>
                <a:cs typeface="Cambria Math"/>
              </a:rPr>
              <a:t>OS</a:t>
            </a:r>
            <a:r>
              <a:rPr sz="1600" kern="1200" dirty="0">
                <a:solidFill>
                  <a:prstClr val="black"/>
                </a:solidFill>
                <a:latin typeface="Cambria Math"/>
                <a:cs typeface="Cambria Math"/>
              </a:rPr>
              <a:t>U</a:t>
            </a:r>
            <a:r>
              <a:rPr sz="1600" kern="1200" spc="5" dirty="0">
                <a:solidFill>
                  <a:prstClr val="black"/>
                </a:solidFill>
                <a:latin typeface="Cambria Math"/>
                <a:cs typeface="Cambria Math"/>
              </a:rPr>
              <a:t>R</a:t>
            </a:r>
            <a:r>
              <a:rPr sz="1600" kern="1200" dirty="0">
                <a:solidFill>
                  <a:prstClr val="black"/>
                </a:solidFill>
                <a:latin typeface="Cambria Math"/>
                <a:cs typeface="Cambria Math"/>
              </a:rPr>
              <a:t>E</a:t>
            </a:r>
            <a:r>
              <a:rPr sz="1600" kern="1200" spc="-5" dirty="0">
                <a:solidFill>
                  <a:prstClr val="black"/>
                </a:solidFill>
                <a:latin typeface="Cambria Math"/>
                <a:cs typeface="Cambria Math"/>
              </a:rPr>
              <a:t>(</a:t>
            </a:r>
            <a:r>
              <a:rPr sz="1600" kern="1200" dirty="0">
                <a:solidFill>
                  <a:prstClr val="black"/>
                </a:solidFill>
                <a:latin typeface="Cambria Math"/>
                <a:cs typeface="Cambria Math"/>
              </a:rPr>
              <a:t>{ </a:t>
            </a:r>
            <a:r>
              <a:rPr sz="1600" kern="1200" spc="-140" dirty="0">
                <a:solidFill>
                  <a:prstClr val="black"/>
                </a:solidFill>
                <a:latin typeface="Cambria Math"/>
                <a:cs typeface="Cambria Math"/>
              </a:rPr>
              <a:t> </a:t>
            </a:r>
            <a:r>
              <a:rPr sz="1600" kern="1200" dirty="0">
                <a:solidFill>
                  <a:prstClr val="black"/>
                </a:solidFill>
                <a:latin typeface="Cambria Math"/>
                <a:cs typeface="Cambria Math"/>
              </a:rPr>
              <a:t>𝐸</a:t>
            </a:r>
            <a:r>
              <a:rPr sz="1600" kern="1200" spc="15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𝐸</a:t>
            </a:r>
            <a:r>
              <a:rPr sz="1600" kern="1200" spc="65" dirty="0">
                <a:solidFill>
                  <a:prstClr val="black"/>
                </a:solidFill>
                <a:latin typeface="Cambria Math"/>
                <a:cs typeface="Cambria Math"/>
              </a:rPr>
              <a:t> </a:t>
            </a:r>
            <a:r>
              <a:rPr sz="1600" kern="1200" dirty="0">
                <a:solidFill>
                  <a:prstClr val="black"/>
                </a:solidFill>
                <a:latin typeface="Cambria Math"/>
                <a:cs typeface="Cambria Math"/>
              </a:rPr>
              <a:t>+</a:t>
            </a:r>
            <a:r>
              <a:rPr lang="en-US" altLang="zh-CN" sz="1600" kern="1200" spc="-640" dirty="0">
                <a:solidFill>
                  <a:srgbClr val="FF0000"/>
                </a:solidFill>
                <a:latin typeface="Cambria Math"/>
                <a:cs typeface="Cambria Math"/>
              </a:rPr>
              <a:t>·</a:t>
            </a:r>
            <a:r>
              <a:rPr sz="1600" kern="1200" dirty="0">
                <a:solidFill>
                  <a:srgbClr val="FF0000"/>
                </a:solidFill>
                <a:latin typeface="Cambria Math"/>
                <a:cs typeface="Cambria Math"/>
              </a:rPr>
              <a:t> </a:t>
            </a:r>
            <a:r>
              <a:rPr lang="en-US" sz="1600" kern="1200" dirty="0">
                <a:solidFill>
                  <a:srgbClr val="FF0000"/>
                </a:solidFill>
                <a:latin typeface="Cambria Math"/>
                <a:cs typeface="Cambria Math"/>
              </a:rPr>
              <a:t> </a:t>
            </a:r>
            <a:r>
              <a:rPr sz="1600" kern="1200" dirty="0">
                <a:solidFill>
                  <a:prstClr val="black"/>
                </a:solidFill>
                <a:latin typeface="Cambria Math"/>
                <a:cs typeface="Cambria Math"/>
              </a:rPr>
              <a:t>𝑇 </a:t>
            </a:r>
            <a:r>
              <a:rPr sz="1600" kern="1200" spc="-114"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5" dirty="0">
                <a:solidFill>
                  <a:prstClr val="black"/>
                </a:solidFill>
                <a:latin typeface="Cambria Math"/>
                <a:cs typeface="Cambria Math"/>
              </a:rPr>
              <a:t>)</a:t>
            </a:r>
            <a:r>
              <a:rPr sz="1600" kern="1200" dirty="0">
                <a:solidFill>
                  <a:prstClr val="black"/>
                </a:solidFill>
                <a:latin typeface="Palatino Linotype"/>
                <a:cs typeface="Palatino Linotype"/>
              </a:rPr>
              <a:t>, w</a:t>
            </a:r>
            <a:r>
              <a:rPr sz="1600" kern="1200" spc="5" dirty="0">
                <a:solidFill>
                  <a:prstClr val="black"/>
                </a:solidFill>
                <a:latin typeface="Palatino Linotype"/>
                <a:cs typeface="Palatino Linotype"/>
              </a:rPr>
              <a:t>h</a:t>
            </a: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ch</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co</a:t>
            </a:r>
            <a:r>
              <a:rPr sz="1600" kern="1200" spc="5" dirty="0">
                <a:solidFill>
                  <a:prstClr val="black"/>
                </a:solidFill>
                <a:latin typeface="Palatino Linotype"/>
                <a:cs typeface="Palatino Linotype"/>
              </a:rPr>
              <a:t>n</a:t>
            </a:r>
            <a:r>
              <a:rPr sz="1600" kern="1200" dirty="0">
                <a:solidFill>
                  <a:prstClr val="black"/>
                </a:solidFill>
                <a:latin typeface="Palatino Linotype"/>
                <a:cs typeface="Palatino Linotype"/>
              </a:rPr>
              <a:t>ta</a:t>
            </a:r>
            <a:r>
              <a:rPr sz="1600" kern="1200" spc="-5" dirty="0">
                <a:solidFill>
                  <a:prstClr val="black"/>
                </a:solidFill>
                <a:latin typeface="Palatino Linotype"/>
                <a:cs typeface="Palatino Linotype"/>
              </a:rPr>
              <a:t>i</a:t>
            </a:r>
            <a:r>
              <a:rPr sz="1600" kern="1200" spc="5" dirty="0">
                <a:solidFill>
                  <a:prstClr val="black"/>
                </a:solidFill>
                <a:latin typeface="Palatino Linotype"/>
                <a:cs typeface="Palatino Linotype"/>
              </a:rPr>
              <a:t>n</a:t>
            </a:r>
            <a:r>
              <a:rPr sz="1600" kern="1200" dirty="0">
                <a:solidFill>
                  <a:prstClr val="black"/>
                </a:solidFill>
                <a:latin typeface="Palatino Linotype"/>
                <a:cs typeface="Palatino Linotype"/>
              </a:rPr>
              <a:t>s</a:t>
            </a:r>
          </a:p>
          <a:p>
            <a:pPr marL="977265" rtl="0">
              <a:spcBef>
                <a:spcPts val="1475"/>
              </a:spcBef>
              <a:tabLst>
                <a:tab pos="1268095" algn="l"/>
              </a:tabLst>
            </a:pPr>
            <a:r>
              <a:rPr sz="1400" kern="1200" dirty="0">
                <a:solidFill>
                  <a:prstClr val="black"/>
                </a:solidFill>
                <a:latin typeface="Courier New"/>
                <a:cs typeface="Courier New"/>
              </a:rPr>
              <a:t>o	</a:t>
            </a:r>
            <a:r>
              <a:rPr sz="1400" kern="1200" dirty="0">
                <a:solidFill>
                  <a:prstClr val="black"/>
                </a:solidFill>
                <a:latin typeface="Cambria Math"/>
                <a:cs typeface="Cambria Math"/>
              </a:rPr>
              <a:t>𝐸</a:t>
            </a:r>
            <a:r>
              <a:rPr sz="1400" kern="1200" spc="13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80" dirty="0">
                <a:solidFill>
                  <a:prstClr val="black"/>
                </a:solidFill>
                <a:latin typeface="Cambria Math"/>
                <a:cs typeface="Cambria Math"/>
              </a:rPr>
              <a:t> </a:t>
            </a:r>
            <a:r>
              <a:rPr sz="1400" kern="1200" dirty="0">
                <a:solidFill>
                  <a:prstClr val="black"/>
                </a:solidFill>
                <a:latin typeface="Cambria Math"/>
                <a:cs typeface="Cambria Math"/>
              </a:rPr>
              <a:t>𝐸</a:t>
            </a:r>
            <a:r>
              <a:rPr sz="1400" kern="1200" spc="55" dirty="0">
                <a:solidFill>
                  <a:prstClr val="black"/>
                </a:solidFill>
                <a:latin typeface="Cambria Math"/>
                <a:cs typeface="Cambria Math"/>
              </a:rPr>
              <a:t> </a:t>
            </a:r>
            <a:r>
              <a:rPr sz="1400" kern="1200" dirty="0">
                <a:solidFill>
                  <a:prstClr val="black"/>
                </a:solidFill>
                <a:latin typeface="Cambria Math"/>
                <a:cs typeface="Cambria Math"/>
              </a:rPr>
              <a:t>+</a:t>
            </a:r>
            <a:r>
              <a:rPr lang="en-US" altLang="zh-CN" sz="1400" kern="1200" spc="-95" dirty="0">
                <a:solidFill>
                  <a:prstClr val="black"/>
                </a:solidFill>
                <a:latin typeface="Cambria Math"/>
                <a:cs typeface="Cambria Math"/>
              </a:rPr>
              <a:t>· </a:t>
            </a:r>
            <a:r>
              <a:rPr sz="1400" kern="1200" dirty="0">
                <a:solidFill>
                  <a:srgbClr val="FF0000"/>
                </a:solidFill>
                <a:latin typeface="Cambria Math"/>
                <a:cs typeface="Cambria Math"/>
              </a:rPr>
              <a:t>𝑇</a:t>
            </a:r>
            <a:endParaRPr sz="1400" kern="1200" dirty="0">
              <a:solidFill>
                <a:prstClr val="black"/>
              </a:solidFill>
              <a:latin typeface="Cambria Math"/>
              <a:cs typeface="Cambria Math"/>
            </a:endParaRPr>
          </a:p>
          <a:p>
            <a:pPr marL="977265" rtl="0">
              <a:spcBef>
                <a:spcPts val="1415"/>
              </a:spcBef>
              <a:tabLst>
                <a:tab pos="1268095" algn="l"/>
              </a:tabLst>
            </a:pPr>
            <a:r>
              <a:rPr sz="1400" kern="1200" dirty="0">
                <a:solidFill>
                  <a:prstClr val="black"/>
                </a:solidFill>
                <a:latin typeface="Courier New"/>
                <a:cs typeface="Courier New"/>
              </a:rPr>
              <a:t>o	</a:t>
            </a:r>
            <a:r>
              <a:rPr sz="1400" kern="1200" dirty="0">
                <a:solidFill>
                  <a:prstClr val="black"/>
                </a:solidFill>
                <a:latin typeface="Cambria Math"/>
                <a:cs typeface="Cambria Math"/>
              </a:rPr>
              <a:t>𝑇</a:t>
            </a:r>
            <a:r>
              <a:rPr sz="1400" kern="1200" spc="114" dirty="0">
                <a:solidFill>
                  <a:prstClr val="black"/>
                </a:solidFill>
                <a:latin typeface="Cambria Math"/>
                <a:cs typeface="Cambria Math"/>
              </a:rPr>
              <a:t> </a:t>
            </a:r>
            <a:r>
              <a:rPr sz="1400" kern="1200" dirty="0">
                <a:solidFill>
                  <a:prstClr val="black"/>
                </a:solidFill>
                <a:latin typeface="Cambria Math"/>
                <a:cs typeface="Cambria Math"/>
              </a:rPr>
              <a:t>→</a:t>
            </a:r>
            <a:r>
              <a:rPr lang="en-US" sz="1400" kern="1200" spc="-655" dirty="0">
                <a:solidFill>
                  <a:prstClr val="black"/>
                </a:solidFill>
                <a:latin typeface="Cambria Math"/>
                <a:cs typeface="Cambria Math"/>
              </a:rPr>
              <a:t>   </a:t>
            </a:r>
            <a:r>
              <a:rPr lang="en-US" altLang="zh-CN" sz="1400" kern="1200" spc="-95" dirty="0">
                <a:solidFill>
                  <a:prstClr val="black"/>
                </a:solidFill>
                <a:latin typeface="Cambria Math"/>
                <a:cs typeface="Cambria Math"/>
              </a:rPr>
              <a:t>· </a:t>
            </a:r>
            <a:r>
              <a:rPr sz="1400" kern="1200" dirty="0">
                <a:solidFill>
                  <a:prstClr val="black"/>
                </a:solidFill>
                <a:latin typeface="Cambria Math"/>
                <a:cs typeface="Cambria Math"/>
              </a:rPr>
              <a:t>𝑇</a:t>
            </a:r>
            <a:r>
              <a:rPr sz="1400" kern="1200" spc="35" dirty="0">
                <a:solidFill>
                  <a:prstClr val="black"/>
                </a:solidFill>
                <a:latin typeface="Cambria Math"/>
                <a:cs typeface="Cambria Math"/>
              </a:rPr>
              <a:t> </a:t>
            </a:r>
            <a:r>
              <a:rPr sz="1400" kern="1200" dirty="0">
                <a:solidFill>
                  <a:prstClr val="black"/>
                </a:solidFill>
                <a:latin typeface="Cambria Math"/>
                <a:cs typeface="Cambria Math"/>
              </a:rPr>
              <a:t>∗ 𝐹 </a:t>
            </a:r>
            <a:r>
              <a:rPr sz="1400" kern="1200" spc="-80" dirty="0">
                <a:solidFill>
                  <a:prstClr val="black"/>
                </a:solidFill>
                <a:latin typeface="Cambria Math"/>
                <a:cs typeface="Cambria Math"/>
              </a:rPr>
              <a:t> </a:t>
            </a:r>
            <a:r>
              <a:rPr sz="1400" kern="1200" dirty="0">
                <a:solidFill>
                  <a:prstClr val="black"/>
                </a:solidFill>
                <a:latin typeface="Palatino Linotype"/>
                <a:cs typeface="Palatino Linotype"/>
              </a:rPr>
              <a:t>, </a:t>
            </a:r>
            <a:r>
              <a:rPr sz="1400" kern="1200" spc="140" dirty="0">
                <a:solidFill>
                  <a:prstClr val="black"/>
                </a:solidFill>
                <a:latin typeface="Palatino Linotype"/>
                <a:cs typeface="Palatino Linotype"/>
              </a:rPr>
              <a:t> </a:t>
            </a:r>
            <a:r>
              <a:rPr sz="1400" kern="1200" dirty="0">
                <a:solidFill>
                  <a:prstClr val="black"/>
                </a:solidFill>
                <a:latin typeface="Cambria Math"/>
                <a:cs typeface="Cambria Math"/>
              </a:rPr>
              <a:t>𝑇</a:t>
            </a:r>
            <a:r>
              <a:rPr sz="1400" kern="1200" spc="114" dirty="0">
                <a:solidFill>
                  <a:prstClr val="black"/>
                </a:solidFill>
                <a:latin typeface="Cambria Math"/>
                <a:cs typeface="Cambria Math"/>
              </a:rPr>
              <a:t> </a:t>
            </a:r>
            <a:r>
              <a:rPr sz="1400" kern="1200" dirty="0">
                <a:solidFill>
                  <a:prstClr val="black"/>
                </a:solidFill>
                <a:latin typeface="Cambria Math"/>
                <a:cs typeface="Cambria Math"/>
              </a:rPr>
              <a:t>→</a:t>
            </a:r>
            <a:r>
              <a:rPr lang="en-US" sz="1400" kern="1200" spc="-655" dirty="0">
                <a:solidFill>
                  <a:prstClr val="black"/>
                </a:solidFill>
                <a:latin typeface="Cambria Math"/>
                <a:cs typeface="Cambria Math"/>
              </a:rPr>
              <a:t> </a:t>
            </a:r>
            <a:r>
              <a:rPr lang="en-US" altLang="zh-CN" sz="1400" kern="1200" spc="-95" dirty="0">
                <a:solidFill>
                  <a:prstClr val="black"/>
                </a:solidFill>
                <a:latin typeface="Cambria Math"/>
                <a:cs typeface="Cambria Math"/>
              </a:rPr>
              <a:t>·  </a:t>
            </a:r>
            <a:r>
              <a:rPr sz="1400" kern="1200" dirty="0">
                <a:solidFill>
                  <a:srgbClr val="FF0000"/>
                </a:solidFill>
                <a:latin typeface="Cambria Math"/>
                <a:cs typeface="Cambria Math"/>
              </a:rPr>
              <a:t>𝐹</a:t>
            </a:r>
            <a:endParaRPr sz="1400" kern="1200" dirty="0">
              <a:solidFill>
                <a:prstClr val="black"/>
              </a:solidFill>
              <a:latin typeface="Cambria Math"/>
              <a:cs typeface="Cambria Math"/>
            </a:endParaRPr>
          </a:p>
          <a:p>
            <a:pPr marL="977265" rtl="0">
              <a:spcBef>
                <a:spcPts val="1320"/>
              </a:spcBef>
              <a:tabLst>
                <a:tab pos="1268095" algn="l"/>
              </a:tabLst>
            </a:pPr>
            <a:r>
              <a:rPr sz="1400" kern="1200" dirty="0">
                <a:solidFill>
                  <a:prstClr val="black"/>
                </a:solidFill>
                <a:latin typeface="Courier New"/>
                <a:cs typeface="Courier New"/>
              </a:rPr>
              <a:t>o	</a:t>
            </a:r>
            <a:r>
              <a:rPr sz="1400" kern="1200" dirty="0">
                <a:solidFill>
                  <a:prstClr val="black"/>
                </a:solidFill>
                <a:latin typeface="Cambria Math"/>
                <a:cs typeface="Cambria Math"/>
              </a:rPr>
              <a:t>𝐹</a:t>
            </a:r>
            <a:r>
              <a:rPr sz="1400" kern="1200" spc="130" dirty="0">
                <a:solidFill>
                  <a:prstClr val="black"/>
                </a:solidFill>
                <a:latin typeface="Cambria Math"/>
                <a:cs typeface="Cambria Math"/>
              </a:rPr>
              <a:t> </a:t>
            </a:r>
            <a:r>
              <a:rPr sz="1400" kern="1200" dirty="0">
                <a:solidFill>
                  <a:prstClr val="black"/>
                </a:solidFill>
                <a:latin typeface="Cambria Math"/>
                <a:cs typeface="Cambria Math"/>
              </a:rPr>
              <a:t>→</a:t>
            </a:r>
            <a:r>
              <a:rPr lang="en-US" altLang="zh-CN" sz="1400" kern="1200" spc="-95" dirty="0">
                <a:solidFill>
                  <a:prstClr val="black"/>
                </a:solidFill>
                <a:latin typeface="Cambria Math"/>
                <a:cs typeface="Cambria Math"/>
              </a:rPr>
              <a:t> ·</a:t>
            </a:r>
            <a:r>
              <a:rPr lang="en-US" altLang="zh-CN" sz="1400" kern="1200" spc="-655" dirty="0">
                <a:solidFill>
                  <a:prstClr val="black"/>
                </a:solidFill>
                <a:latin typeface="Cambria Math"/>
                <a:cs typeface="Cambria Math"/>
              </a:rPr>
              <a:t>        </a:t>
            </a:r>
            <a:r>
              <a:rPr sz="1400" kern="1200" spc="-10" dirty="0">
                <a:solidFill>
                  <a:prstClr val="black"/>
                </a:solidFill>
                <a:latin typeface="Cambria Math"/>
                <a:cs typeface="Cambria Math"/>
              </a:rPr>
              <a:t>(</a:t>
            </a:r>
            <a:r>
              <a:rPr sz="1400" kern="1200" spc="55" dirty="0">
                <a:solidFill>
                  <a:prstClr val="black"/>
                </a:solidFill>
                <a:latin typeface="Cambria Math"/>
                <a:cs typeface="Cambria Math"/>
              </a:rPr>
              <a:t>𝐸</a:t>
            </a:r>
            <a:r>
              <a:rPr sz="1400" kern="1200" dirty="0">
                <a:solidFill>
                  <a:prstClr val="black"/>
                </a:solidFill>
                <a:latin typeface="Cambria Math"/>
                <a:cs typeface="Cambria Math"/>
              </a:rPr>
              <a:t>) </a:t>
            </a:r>
            <a:r>
              <a:rPr sz="1400" kern="1200" spc="-135" dirty="0">
                <a:solidFill>
                  <a:prstClr val="black"/>
                </a:solidFill>
                <a:latin typeface="Cambria Math"/>
                <a:cs typeface="Cambria Math"/>
              </a:rPr>
              <a:t> </a:t>
            </a:r>
            <a:r>
              <a:rPr sz="1400" kern="1200" dirty="0">
                <a:solidFill>
                  <a:prstClr val="black"/>
                </a:solidFill>
                <a:latin typeface="Palatino Linotype"/>
                <a:cs typeface="Palatino Linotype"/>
              </a:rPr>
              <a:t>, </a:t>
            </a:r>
            <a:r>
              <a:rPr sz="1400" kern="1200" spc="140" dirty="0">
                <a:solidFill>
                  <a:prstClr val="black"/>
                </a:solidFill>
                <a:latin typeface="Palatino Linotype"/>
                <a:cs typeface="Palatino Linotype"/>
              </a:rPr>
              <a:t> </a:t>
            </a:r>
            <a:r>
              <a:rPr sz="1400" kern="1200" dirty="0">
                <a:solidFill>
                  <a:prstClr val="black"/>
                </a:solidFill>
                <a:latin typeface="Cambria Math"/>
                <a:cs typeface="Cambria Math"/>
              </a:rPr>
              <a:t>𝐹</a:t>
            </a:r>
            <a:r>
              <a:rPr sz="1400" kern="1200" spc="130" dirty="0">
                <a:solidFill>
                  <a:prstClr val="black"/>
                </a:solidFill>
                <a:latin typeface="Cambria Math"/>
                <a:cs typeface="Cambria Math"/>
              </a:rPr>
              <a:t> </a:t>
            </a:r>
            <a:r>
              <a:rPr sz="1400" kern="1200" dirty="0">
                <a:solidFill>
                  <a:prstClr val="black"/>
                </a:solidFill>
                <a:latin typeface="Cambria Math"/>
                <a:cs typeface="Cambria Math"/>
              </a:rPr>
              <a:t>→</a:t>
            </a:r>
            <a:r>
              <a:rPr lang="en-US" altLang="zh-CN" sz="1400" kern="1200" spc="-95" dirty="0">
                <a:solidFill>
                  <a:prstClr val="black"/>
                </a:solidFill>
                <a:latin typeface="Cambria Math"/>
                <a:cs typeface="Cambria Math"/>
              </a:rPr>
              <a:t>· </a:t>
            </a:r>
            <a:r>
              <a:rPr sz="1400" kern="1200" dirty="0">
                <a:solidFill>
                  <a:prstClr val="black"/>
                </a:solidFill>
                <a:latin typeface="Cambria Math"/>
                <a:cs typeface="Cambria Math"/>
              </a:rPr>
              <a:t>𝐢𝐝</a:t>
            </a:r>
          </a:p>
        </p:txBody>
      </p:sp>
      <p:grpSp>
        <p:nvGrpSpPr>
          <p:cNvPr id="54" name="object 25">
            <a:extLst>
              <a:ext uri="{FF2B5EF4-FFF2-40B4-BE49-F238E27FC236}">
                <a16:creationId xmlns:a16="http://schemas.microsoft.com/office/drawing/2014/main" id="{2D7AF193-265E-14B5-002A-67BE7CD9B0D5}"/>
              </a:ext>
            </a:extLst>
          </p:cNvPr>
          <p:cNvGrpSpPr/>
          <p:nvPr/>
        </p:nvGrpSpPr>
        <p:grpSpPr>
          <a:xfrm>
            <a:off x="6105525" y="327027"/>
            <a:ext cx="1572260" cy="1149985"/>
            <a:chOff x="6105525" y="327027"/>
            <a:chExt cx="1572260" cy="1149985"/>
          </a:xfrm>
        </p:grpSpPr>
        <p:pic>
          <p:nvPicPr>
            <p:cNvPr id="55" name="object 26">
              <a:extLst>
                <a:ext uri="{FF2B5EF4-FFF2-40B4-BE49-F238E27FC236}">
                  <a16:creationId xmlns:a16="http://schemas.microsoft.com/office/drawing/2014/main" id="{A4772BA9-3BBA-6B69-5DB0-5D4C12D4EA66}"/>
                </a:ext>
              </a:extLst>
            </p:cNvPr>
            <p:cNvPicPr/>
            <p:nvPr/>
          </p:nvPicPr>
          <p:blipFill>
            <a:blip r:embed="rId3" cstate="print"/>
            <a:stretch>
              <a:fillRect/>
            </a:stretch>
          </p:blipFill>
          <p:spPr>
            <a:xfrm>
              <a:off x="6186023" y="449876"/>
              <a:ext cx="1314430" cy="920758"/>
            </a:xfrm>
            <a:prstGeom prst="rect">
              <a:avLst/>
            </a:prstGeom>
          </p:spPr>
        </p:pic>
        <p:sp>
          <p:nvSpPr>
            <p:cNvPr id="56" name="object 27">
              <a:extLst>
                <a:ext uri="{FF2B5EF4-FFF2-40B4-BE49-F238E27FC236}">
                  <a16:creationId xmlns:a16="http://schemas.microsoft.com/office/drawing/2014/main" id="{B1FF057C-37E5-DA60-B9C3-7CA34A5EC154}"/>
                </a:ext>
              </a:extLst>
            </p:cNvPr>
            <p:cNvSpPr/>
            <p:nvPr/>
          </p:nvSpPr>
          <p:spPr>
            <a:xfrm>
              <a:off x="6110287" y="331790"/>
              <a:ext cx="1562735" cy="1140460"/>
            </a:xfrm>
            <a:custGeom>
              <a:avLst/>
              <a:gdLst/>
              <a:ahLst/>
              <a:cxnLst/>
              <a:rect l="l" t="t" r="r" b="b"/>
              <a:pathLst>
                <a:path w="1562734" h="1140460">
                  <a:moveTo>
                    <a:pt x="0" y="0"/>
                  </a:moveTo>
                  <a:lnTo>
                    <a:pt x="1562426" y="0"/>
                  </a:lnTo>
                  <a:lnTo>
                    <a:pt x="1562426" y="1139933"/>
                  </a:lnTo>
                  <a:lnTo>
                    <a:pt x="0" y="1139933"/>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25861097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112</a:t>
            </a:fld>
            <a:endParaRPr lang="en-US"/>
          </a:p>
        </p:txBody>
      </p:sp>
      <p:sp>
        <p:nvSpPr>
          <p:cNvPr id="15" name="object 2">
            <a:extLst>
              <a:ext uri="{FF2B5EF4-FFF2-40B4-BE49-F238E27FC236}">
                <a16:creationId xmlns:a16="http://schemas.microsoft.com/office/drawing/2014/main" id="{027364BF-BA1E-4FC0-EB57-84D6E84C2110}"/>
              </a:ext>
            </a:extLst>
          </p:cNvPr>
          <p:cNvSpPr txBox="1">
            <a:spLocks/>
          </p:cNvSpPr>
          <p:nvPr/>
        </p:nvSpPr>
        <p:spPr>
          <a:xfrm>
            <a:off x="615950" y="586232"/>
            <a:ext cx="7783830" cy="52832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300" b="1" i="0" u="none" strike="noStrike" kern="0" cap="none" spc="-5" normalizeH="0" baseline="0" noProof="0">
                <a:ln>
                  <a:noFill/>
                </a:ln>
                <a:solidFill>
                  <a:sysClr val="windowText" lastClr="000000"/>
                </a:solidFill>
                <a:effectLst/>
                <a:uLnTx/>
                <a:uFillTx/>
                <a:latin typeface="Palatino Linotype"/>
                <a:ea typeface="+mj-ea"/>
              </a:rPr>
              <a:t>Constructing</a:t>
            </a:r>
            <a:r>
              <a:rPr kumimoji="0" lang="en-US" sz="3300" b="1" i="0" u="none" strike="noStrike" kern="0" cap="none" spc="5" normalizeH="0" baseline="0" noProof="0">
                <a:ln>
                  <a:noFill/>
                </a:ln>
                <a:solidFill>
                  <a:sysClr val="windowText" lastClr="000000"/>
                </a:solidFill>
                <a:effectLst/>
                <a:uLnTx/>
                <a:uFillTx/>
                <a:latin typeface="Palatino Linotype"/>
                <a:ea typeface="+mj-ea"/>
              </a:rPr>
              <a:t> </a:t>
            </a:r>
            <a:r>
              <a:rPr kumimoji="0" lang="en-US" sz="3300" b="1" i="0" u="none" strike="noStrike" kern="0" cap="none" spc="-5" normalizeH="0" baseline="0" noProof="0">
                <a:ln>
                  <a:noFill/>
                </a:ln>
                <a:solidFill>
                  <a:sysClr val="windowText" lastClr="000000"/>
                </a:solidFill>
                <a:effectLst/>
                <a:uLnTx/>
                <a:uFillTx/>
                <a:latin typeface="Palatino Linotype"/>
                <a:ea typeface="+mj-ea"/>
              </a:rPr>
              <a:t>Canonical</a:t>
            </a:r>
            <a:r>
              <a:rPr kumimoji="0" lang="en-US" sz="3300" b="1" i="0" u="none" strike="noStrike" kern="0" cap="none" spc="10" normalizeH="0" baseline="0" noProof="0">
                <a:ln>
                  <a:noFill/>
                </a:ln>
                <a:solidFill>
                  <a:sysClr val="windowText" lastClr="000000"/>
                </a:solidFill>
                <a:effectLst/>
                <a:uLnTx/>
                <a:uFillTx/>
                <a:latin typeface="Palatino Linotype"/>
                <a:ea typeface="+mj-ea"/>
              </a:rPr>
              <a:t> </a:t>
            </a:r>
            <a:r>
              <a:rPr kumimoji="0" lang="en-US" sz="3300" b="1" i="0" u="none" strike="noStrike" kern="0" cap="none" spc="-5" normalizeH="0" baseline="0" noProof="0">
                <a:ln>
                  <a:noFill/>
                </a:ln>
                <a:solidFill>
                  <a:sysClr val="windowText" lastClr="000000"/>
                </a:solidFill>
                <a:effectLst/>
                <a:uLnTx/>
                <a:uFillTx/>
                <a:latin typeface="Palatino Linotype"/>
                <a:ea typeface="+mj-ea"/>
              </a:rPr>
              <a:t>LR(0)</a:t>
            </a:r>
            <a:r>
              <a:rPr kumimoji="0" lang="en-US" sz="3300" b="1" i="0" u="none" strike="noStrike" kern="0" cap="none" spc="5" normalizeH="0" baseline="0" noProof="0">
                <a:ln>
                  <a:noFill/>
                </a:ln>
                <a:solidFill>
                  <a:sysClr val="windowText" lastClr="000000"/>
                </a:solidFill>
                <a:effectLst/>
                <a:uLnTx/>
                <a:uFillTx/>
                <a:latin typeface="Palatino Linotype"/>
                <a:ea typeface="+mj-ea"/>
              </a:rPr>
              <a:t> </a:t>
            </a:r>
            <a:r>
              <a:rPr kumimoji="0" lang="en-US" sz="3300" b="1" i="0" u="none" strike="noStrike" kern="0" cap="none" spc="-5" normalizeH="0" baseline="0" noProof="0">
                <a:ln>
                  <a:noFill/>
                </a:ln>
                <a:solidFill>
                  <a:sysClr val="windowText" lastClr="000000"/>
                </a:solidFill>
                <a:effectLst/>
                <a:uLnTx/>
                <a:uFillTx/>
                <a:latin typeface="Palatino Linotype"/>
                <a:ea typeface="+mj-ea"/>
              </a:rPr>
              <a:t>Collection</a:t>
            </a:r>
            <a:endParaRPr kumimoji="0" lang="en-US" sz="3300" b="1" i="0" u="none" strike="noStrike" kern="0" cap="none" spc="0" normalizeH="0" baseline="0" noProof="0">
              <a:ln>
                <a:noFill/>
              </a:ln>
              <a:solidFill>
                <a:sysClr val="windowText" lastClr="000000"/>
              </a:solidFill>
              <a:effectLst/>
              <a:uLnTx/>
              <a:uFillTx/>
              <a:latin typeface="Palatino Linotype"/>
              <a:ea typeface="+mj-ea"/>
            </a:endParaRPr>
          </a:p>
        </p:txBody>
      </p:sp>
      <p:pic>
        <p:nvPicPr>
          <p:cNvPr id="16" name="object 3">
            <a:extLst>
              <a:ext uri="{FF2B5EF4-FFF2-40B4-BE49-F238E27FC236}">
                <a16:creationId xmlns:a16="http://schemas.microsoft.com/office/drawing/2014/main" id="{58E09C9B-353B-B41A-B233-037C582E12B0}"/>
              </a:ext>
            </a:extLst>
          </p:cNvPr>
          <p:cNvPicPr/>
          <p:nvPr/>
        </p:nvPicPr>
        <p:blipFill>
          <a:blip r:embed="rId3" cstate="print"/>
          <a:stretch>
            <a:fillRect/>
          </a:stretch>
        </p:blipFill>
        <p:spPr>
          <a:xfrm>
            <a:off x="830873" y="1930696"/>
            <a:ext cx="7392258" cy="2571220"/>
          </a:xfrm>
          <a:prstGeom prst="rect">
            <a:avLst/>
          </a:prstGeom>
        </p:spPr>
      </p:pic>
      <p:sp>
        <p:nvSpPr>
          <p:cNvPr id="17" name="object 4">
            <a:extLst>
              <a:ext uri="{FF2B5EF4-FFF2-40B4-BE49-F238E27FC236}">
                <a16:creationId xmlns:a16="http://schemas.microsoft.com/office/drawing/2014/main" id="{BBEA6E4D-D29F-7985-A426-A139B6B0943A}"/>
              </a:ext>
            </a:extLst>
          </p:cNvPr>
          <p:cNvSpPr txBox="1"/>
          <p:nvPr/>
        </p:nvSpPr>
        <p:spPr>
          <a:xfrm>
            <a:off x="1918632" y="2124964"/>
            <a:ext cx="133985" cy="360680"/>
          </a:xfrm>
          <a:prstGeom prst="rect">
            <a:avLst/>
          </a:prstGeom>
        </p:spPr>
        <p:txBody>
          <a:bodyPr vert="horz" wrap="square" lIns="0" tIns="12700" rIns="0" bIns="0" rtlCol="0">
            <a:spAutoFit/>
          </a:bodyPr>
          <a:lstStyle/>
          <a:p>
            <a:pPr marL="12700" rtl="0">
              <a:spcBef>
                <a:spcPts val="100"/>
              </a:spcBef>
            </a:pPr>
            <a:r>
              <a:rPr sz="2200" kern="1200" dirty="0">
                <a:solidFill>
                  <a:prstClr val="black"/>
                </a:solidFill>
                <a:latin typeface="Cambria Math"/>
                <a:cs typeface="Cambria Math"/>
              </a:rPr>
              <a:t>{</a:t>
            </a:r>
            <a:endParaRPr sz="2200" kern="1200">
              <a:solidFill>
                <a:prstClr val="black"/>
              </a:solidFill>
              <a:latin typeface="Cambria Math"/>
              <a:cs typeface="Cambria Math"/>
            </a:endParaRPr>
          </a:p>
        </p:txBody>
      </p:sp>
      <p:sp>
        <p:nvSpPr>
          <p:cNvPr id="18" name="object 5">
            <a:extLst>
              <a:ext uri="{FF2B5EF4-FFF2-40B4-BE49-F238E27FC236}">
                <a16:creationId xmlns:a16="http://schemas.microsoft.com/office/drawing/2014/main" id="{A2A530CC-F248-F88D-0622-E1CE14D7726C}"/>
              </a:ext>
            </a:extLst>
          </p:cNvPr>
          <p:cNvSpPr txBox="1"/>
          <p:nvPr/>
        </p:nvSpPr>
        <p:spPr>
          <a:xfrm>
            <a:off x="4385869" y="2112771"/>
            <a:ext cx="207645" cy="360680"/>
          </a:xfrm>
          <a:prstGeom prst="rect">
            <a:avLst/>
          </a:prstGeom>
        </p:spPr>
        <p:txBody>
          <a:bodyPr vert="horz" wrap="square" lIns="0" tIns="12700" rIns="0" bIns="0" rtlCol="0">
            <a:spAutoFit/>
          </a:bodyPr>
          <a:lstStyle/>
          <a:p>
            <a:pPr marL="12700" rtl="0">
              <a:spcBef>
                <a:spcPts val="100"/>
              </a:spcBef>
            </a:pPr>
            <a:r>
              <a:rPr sz="2200" kern="1200" spc="-5" dirty="0">
                <a:solidFill>
                  <a:prstClr val="black"/>
                </a:solidFill>
                <a:latin typeface="Cambria Math"/>
                <a:cs typeface="Cambria Math"/>
              </a:rPr>
              <a:t>}</a:t>
            </a:r>
            <a:r>
              <a:rPr sz="2200" kern="1200" dirty="0">
                <a:solidFill>
                  <a:prstClr val="black"/>
                </a:solidFill>
                <a:latin typeface="Cambria Math"/>
                <a:cs typeface="Cambria Math"/>
              </a:rPr>
              <a:t>;</a:t>
            </a:r>
            <a:endParaRPr sz="2200" kern="1200">
              <a:solidFill>
                <a:prstClr val="black"/>
              </a:solidFill>
              <a:latin typeface="Cambria Math"/>
              <a:cs typeface="Cambria Math"/>
            </a:endParaRPr>
          </a:p>
        </p:txBody>
      </p:sp>
      <p:sp>
        <p:nvSpPr>
          <p:cNvPr id="19" name="object 6">
            <a:extLst>
              <a:ext uri="{FF2B5EF4-FFF2-40B4-BE49-F238E27FC236}">
                <a16:creationId xmlns:a16="http://schemas.microsoft.com/office/drawing/2014/main" id="{C69549F0-0B64-A952-8A5B-AA353188CA97}"/>
              </a:ext>
            </a:extLst>
          </p:cNvPr>
          <p:cNvSpPr txBox="1"/>
          <p:nvPr/>
        </p:nvSpPr>
        <p:spPr>
          <a:xfrm>
            <a:off x="5366654" y="2138171"/>
            <a:ext cx="1635760" cy="330200"/>
          </a:xfrm>
          <a:prstGeom prst="rect">
            <a:avLst/>
          </a:prstGeom>
        </p:spPr>
        <p:txBody>
          <a:bodyPr vert="horz" wrap="square" lIns="0" tIns="12700" rIns="0" bIns="0" rtlCol="0">
            <a:spAutoFit/>
          </a:bodyPr>
          <a:lstStyle/>
          <a:p>
            <a:pPr marL="12700" rtl="0">
              <a:spcBef>
                <a:spcPts val="100"/>
              </a:spcBef>
            </a:pPr>
            <a:r>
              <a:rPr sz="2000" kern="1200" dirty="0">
                <a:solidFill>
                  <a:srgbClr val="FF0000"/>
                </a:solidFill>
                <a:latin typeface="Palatino Linotype"/>
                <a:cs typeface="Palatino Linotype"/>
              </a:rPr>
              <a:t>Initial</a:t>
            </a:r>
            <a:r>
              <a:rPr sz="2000" kern="1200" spc="-40" dirty="0">
                <a:solidFill>
                  <a:srgbClr val="FF0000"/>
                </a:solidFill>
                <a:latin typeface="Palatino Linotype"/>
                <a:cs typeface="Palatino Linotype"/>
              </a:rPr>
              <a:t> </a:t>
            </a:r>
            <a:r>
              <a:rPr sz="2000" kern="1200" dirty="0">
                <a:solidFill>
                  <a:srgbClr val="FF0000"/>
                </a:solidFill>
                <a:latin typeface="Palatino Linotype"/>
                <a:cs typeface="Palatino Linotype"/>
              </a:rPr>
              <a:t>item</a:t>
            </a:r>
            <a:r>
              <a:rPr sz="2000" kern="1200" spc="-50" dirty="0">
                <a:solidFill>
                  <a:srgbClr val="FF0000"/>
                </a:solidFill>
                <a:latin typeface="Palatino Linotype"/>
                <a:cs typeface="Palatino Linotype"/>
              </a:rPr>
              <a:t> </a:t>
            </a:r>
            <a:r>
              <a:rPr sz="2000" kern="1200" dirty="0">
                <a:solidFill>
                  <a:srgbClr val="FF0000"/>
                </a:solidFill>
                <a:latin typeface="Palatino Linotype"/>
                <a:cs typeface="Palatino Linotype"/>
              </a:rPr>
              <a:t>set</a:t>
            </a:r>
            <a:endParaRPr sz="2000" kern="1200">
              <a:solidFill>
                <a:prstClr val="black"/>
              </a:solidFill>
              <a:latin typeface="Palatino Linotype"/>
              <a:cs typeface="Palatino Linotype"/>
            </a:endParaRPr>
          </a:p>
        </p:txBody>
      </p:sp>
      <p:grpSp>
        <p:nvGrpSpPr>
          <p:cNvPr id="20" name="object 7">
            <a:extLst>
              <a:ext uri="{FF2B5EF4-FFF2-40B4-BE49-F238E27FC236}">
                <a16:creationId xmlns:a16="http://schemas.microsoft.com/office/drawing/2014/main" id="{00E5C4B0-B790-48CE-D196-BB2337C6F480}"/>
              </a:ext>
            </a:extLst>
          </p:cNvPr>
          <p:cNvGrpSpPr/>
          <p:nvPr/>
        </p:nvGrpSpPr>
        <p:grpSpPr>
          <a:xfrm>
            <a:off x="1418795" y="2267656"/>
            <a:ext cx="6850380" cy="2552065"/>
            <a:chOff x="1418795" y="2267656"/>
            <a:chExt cx="6850380" cy="2552065"/>
          </a:xfrm>
        </p:grpSpPr>
        <p:sp>
          <p:nvSpPr>
            <p:cNvPr id="21" name="object 8">
              <a:extLst>
                <a:ext uri="{FF2B5EF4-FFF2-40B4-BE49-F238E27FC236}">
                  <a16:creationId xmlns:a16="http://schemas.microsoft.com/office/drawing/2014/main" id="{5D464B0E-DC5E-BFC5-4F62-B240054DE658}"/>
                </a:ext>
              </a:extLst>
            </p:cNvPr>
            <p:cNvSpPr/>
            <p:nvPr/>
          </p:nvSpPr>
          <p:spPr>
            <a:xfrm>
              <a:off x="4786184" y="2267656"/>
              <a:ext cx="502284" cy="103505"/>
            </a:xfrm>
            <a:custGeom>
              <a:avLst/>
              <a:gdLst/>
              <a:ahLst/>
              <a:cxnLst/>
              <a:rect l="l" t="t" r="r" b="b"/>
              <a:pathLst>
                <a:path w="502285" h="103505">
                  <a:moveTo>
                    <a:pt x="413127" y="0"/>
                  </a:moveTo>
                  <a:lnTo>
                    <a:pt x="409238" y="1022"/>
                  </a:lnTo>
                  <a:lnTo>
                    <a:pt x="405705" y="7081"/>
                  </a:lnTo>
                  <a:lnTo>
                    <a:pt x="406727" y="10968"/>
                  </a:lnTo>
                  <a:lnTo>
                    <a:pt x="465668" y="45351"/>
                  </a:lnTo>
                  <a:lnTo>
                    <a:pt x="489158" y="45351"/>
                  </a:lnTo>
                  <a:lnTo>
                    <a:pt x="489158" y="58051"/>
                  </a:lnTo>
                  <a:lnTo>
                    <a:pt x="465667" y="58051"/>
                  </a:lnTo>
                  <a:lnTo>
                    <a:pt x="406727" y="92433"/>
                  </a:lnTo>
                  <a:lnTo>
                    <a:pt x="405704" y="96321"/>
                  </a:lnTo>
                  <a:lnTo>
                    <a:pt x="409238" y="102381"/>
                  </a:lnTo>
                  <a:lnTo>
                    <a:pt x="413127" y="103403"/>
                  </a:lnTo>
                  <a:lnTo>
                    <a:pt x="490873" y="58051"/>
                  </a:lnTo>
                  <a:lnTo>
                    <a:pt x="489158" y="58051"/>
                  </a:lnTo>
                  <a:lnTo>
                    <a:pt x="490875" y="58050"/>
                  </a:lnTo>
                  <a:lnTo>
                    <a:pt x="501759" y="51701"/>
                  </a:lnTo>
                  <a:lnTo>
                    <a:pt x="413127" y="0"/>
                  </a:lnTo>
                  <a:close/>
                </a:path>
                <a:path w="502285" h="103505">
                  <a:moveTo>
                    <a:pt x="476553" y="51701"/>
                  </a:moveTo>
                  <a:lnTo>
                    <a:pt x="465667" y="58051"/>
                  </a:lnTo>
                  <a:lnTo>
                    <a:pt x="489158" y="58051"/>
                  </a:lnTo>
                  <a:lnTo>
                    <a:pt x="489158" y="57186"/>
                  </a:lnTo>
                  <a:lnTo>
                    <a:pt x="485956" y="57186"/>
                  </a:lnTo>
                  <a:lnTo>
                    <a:pt x="476553" y="51701"/>
                  </a:lnTo>
                  <a:close/>
                </a:path>
                <a:path w="502285" h="103505">
                  <a:moveTo>
                    <a:pt x="0" y="45350"/>
                  </a:moveTo>
                  <a:lnTo>
                    <a:pt x="0" y="58050"/>
                  </a:lnTo>
                  <a:lnTo>
                    <a:pt x="465669" y="58050"/>
                  </a:lnTo>
                  <a:lnTo>
                    <a:pt x="476553" y="51701"/>
                  </a:lnTo>
                  <a:lnTo>
                    <a:pt x="465668" y="45351"/>
                  </a:lnTo>
                  <a:lnTo>
                    <a:pt x="0" y="45350"/>
                  </a:lnTo>
                  <a:close/>
                </a:path>
                <a:path w="502285" h="103505">
                  <a:moveTo>
                    <a:pt x="485956" y="46216"/>
                  </a:moveTo>
                  <a:lnTo>
                    <a:pt x="476553" y="51701"/>
                  </a:lnTo>
                  <a:lnTo>
                    <a:pt x="485956" y="57186"/>
                  </a:lnTo>
                  <a:lnTo>
                    <a:pt x="485956" y="46216"/>
                  </a:lnTo>
                  <a:close/>
                </a:path>
                <a:path w="502285" h="103505">
                  <a:moveTo>
                    <a:pt x="489158" y="46216"/>
                  </a:moveTo>
                  <a:lnTo>
                    <a:pt x="485956" y="46216"/>
                  </a:lnTo>
                  <a:lnTo>
                    <a:pt x="485956" y="57186"/>
                  </a:lnTo>
                  <a:lnTo>
                    <a:pt x="489158" y="57186"/>
                  </a:lnTo>
                  <a:lnTo>
                    <a:pt x="489158" y="46216"/>
                  </a:lnTo>
                  <a:close/>
                </a:path>
                <a:path w="502285" h="103505">
                  <a:moveTo>
                    <a:pt x="465668" y="45351"/>
                  </a:moveTo>
                  <a:lnTo>
                    <a:pt x="476553" y="51701"/>
                  </a:lnTo>
                  <a:lnTo>
                    <a:pt x="485956" y="46216"/>
                  </a:lnTo>
                  <a:lnTo>
                    <a:pt x="489158" y="46216"/>
                  </a:lnTo>
                  <a:lnTo>
                    <a:pt x="489158" y="45351"/>
                  </a:lnTo>
                  <a:lnTo>
                    <a:pt x="465668" y="45351"/>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9">
              <a:extLst>
                <a:ext uri="{FF2B5EF4-FFF2-40B4-BE49-F238E27FC236}">
                  <a16:creationId xmlns:a16="http://schemas.microsoft.com/office/drawing/2014/main" id="{F1881ACA-8166-408B-FC3A-A0E98C9A0D8E}"/>
                </a:ext>
              </a:extLst>
            </p:cNvPr>
            <p:cNvSpPr/>
            <p:nvPr/>
          </p:nvSpPr>
          <p:spPr>
            <a:xfrm>
              <a:off x="1425145" y="2488633"/>
              <a:ext cx="6837680" cy="1729739"/>
            </a:xfrm>
            <a:custGeom>
              <a:avLst/>
              <a:gdLst/>
              <a:ahLst/>
              <a:cxnLst/>
              <a:rect l="l" t="t" r="r" b="b"/>
              <a:pathLst>
                <a:path w="6837680" h="1729739">
                  <a:moveTo>
                    <a:pt x="0" y="0"/>
                  </a:moveTo>
                  <a:lnTo>
                    <a:pt x="6837405" y="0"/>
                  </a:lnTo>
                  <a:lnTo>
                    <a:pt x="6837405" y="1729128"/>
                  </a:lnTo>
                  <a:lnTo>
                    <a:pt x="0" y="1729128"/>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10">
              <a:extLst>
                <a:ext uri="{FF2B5EF4-FFF2-40B4-BE49-F238E27FC236}">
                  <a16:creationId xmlns:a16="http://schemas.microsoft.com/office/drawing/2014/main" id="{789D123D-3B03-455E-D4F5-F3B81068226E}"/>
                </a:ext>
              </a:extLst>
            </p:cNvPr>
            <p:cNvSpPr/>
            <p:nvPr/>
          </p:nvSpPr>
          <p:spPr>
            <a:xfrm>
              <a:off x="4792145" y="4217761"/>
              <a:ext cx="103505" cy="601980"/>
            </a:xfrm>
            <a:custGeom>
              <a:avLst/>
              <a:gdLst/>
              <a:ahLst/>
              <a:cxnLst/>
              <a:rect l="l" t="t" r="r" b="b"/>
              <a:pathLst>
                <a:path w="103504" h="601979">
                  <a:moveTo>
                    <a:pt x="7082" y="505509"/>
                  </a:moveTo>
                  <a:lnTo>
                    <a:pt x="1023" y="509043"/>
                  </a:lnTo>
                  <a:lnTo>
                    <a:pt x="0" y="512931"/>
                  </a:lnTo>
                  <a:lnTo>
                    <a:pt x="51702" y="601563"/>
                  </a:lnTo>
                  <a:lnTo>
                    <a:pt x="59051" y="588965"/>
                  </a:lnTo>
                  <a:lnTo>
                    <a:pt x="45352" y="588965"/>
                  </a:lnTo>
                  <a:lnTo>
                    <a:pt x="45351" y="565473"/>
                  </a:lnTo>
                  <a:lnTo>
                    <a:pt x="10970" y="506531"/>
                  </a:lnTo>
                  <a:lnTo>
                    <a:pt x="7082" y="505509"/>
                  </a:lnTo>
                  <a:close/>
                </a:path>
                <a:path w="103504" h="601979">
                  <a:moveTo>
                    <a:pt x="45352" y="565475"/>
                  </a:moveTo>
                  <a:lnTo>
                    <a:pt x="45352" y="588965"/>
                  </a:lnTo>
                  <a:lnTo>
                    <a:pt x="58052" y="588965"/>
                  </a:lnTo>
                  <a:lnTo>
                    <a:pt x="58052" y="585762"/>
                  </a:lnTo>
                  <a:lnTo>
                    <a:pt x="46217" y="585762"/>
                  </a:lnTo>
                  <a:lnTo>
                    <a:pt x="51702" y="576359"/>
                  </a:lnTo>
                  <a:lnTo>
                    <a:pt x="45352" y="565475"/>
                  </a:lnTo>
                  <a:close/>
                </a:path>
                <a:path w="103504" h="601979">
                  <a:moveTo>
                    <a:pt x="96323" y="505509"/>
                  </a:moveTo>
                  <a:lnTo>
                    <a:pt x="92434" y="506533"/>
                  </a:lnTo>
                  <a:lnTo>
                    <a:pt x="58052" y="565473"/>
                  </a:lnTo>
                  <a:lnTo>
                    <a:pt x="58052" y="588965"/>
                  </a:lnTo>
                  <a:lnTo>
                    <a:pt x="59051" y="588965"/>
                  </a:lnTo>
                  <a:lnTo>
                    <a:pt x="103404" y="512931"/>
                  </a:lnTo>
                  <a:lnTo>
                    <a:pt x="102381" y="509043"/>
                  </a:lnTo>
                  <a:lnTo>
                    <a:pt x="96323" y="505509"/>
                  </a:lnTo>
                  <a:close/>
                </a:path>
                <a:path w="103504" h="601979">
                  <a:moveTo>
                    <a:pt x="51702" y="576359"/>
                  </a:moveTo>
                  <a:lnTo>
                    <a:pt x="46217" y="585762"/>
                  </a:lnTo>
                  <a:lnTo>
                    <a:pt x="57186" y="585762"/>
                  </a:lnTo>
                  <a:lnTo>
                    <a:pt x="51702" y="576359"/>
                  </a:lnTo>
                  <a:close/>
                </a:path>
                <a:path w="103504" h="601979">
                  <a:moveTo>
                    <a:pt x="58052" y="565473"/>
                  </a:moveTo>
                  <a:lnTo>
                    <a:pt x="51702" y="576359"/>
                  </a:lnTo>
                  <a:lnTo>
                    <a:pt x="57186" y="585762"/>
                  </a:lnTo>
                  <a:lnTo>
                    <a:pt x="58052" y="585762"/>
                  </a:lnTo>
                  <a:lnTo>
                    <a:pt x="58052" y="565473"/>
                  </a:lnTo>
                  <a:close/>
                </a:path>
                <a:path w="103504" h="601979">
                  <a:moveTo>
                    <a:pt x="58052" y="0"/>
                  </a:moveTo>
                  <a:lnTo>
                    <a:pt x="45352" y="0"/>
                  </a:lnTo>
                  <a:lnTo>
                    <a:pt x="45352" y="565475"/>
                  </a:lnTo>
                  <a:lnTo>
                    <a:pt x="51702" y="576359"/>
                  </a:lnTo>
                  <a:lnTo>
                    <a:pt x="58051" y="565475"/>
                  </a:lnTo>
                  <a:lnTo>
                    <a:pt x="58052"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4" name="object 11">
            <a:extLst>
              <a:ext uri="{FF2B5EF4-FFF2-40B4-BE49-F238E27FC236}">
                <a16:creationId xmlns:a16="http://schemas.microsoft.com/office/drawing/2014/main" id="{818982A7-07A9-12FB-EE6C-054C60CA214C}"/>
              </a:ext>
            </a:extLst>
          </p:cNvPr>
          <p:cNvSpPr txBox="1"/>
          <p:nvPr/>
        </p:nvSpPr>
        <p:spPr>
          <a:xfrm>
            <a:off x="1106021" y="4838700"/>
            <a:ext cx="7428230" cy="635000"/>
          </a:xfrm>
          <a:prstGeom prst="rect">
            <a:avLst/>
          </a:prstGeom>
        </p:spPr>
        <p:txBody>
          <a:bodyPr vert="horz" wrap="square" lIns="0" tIns="12700" rIns="0" bIns="0" rtlCol="0">
            <a:spAutoFit/>
          </a:bodyPr>
          <a:lstStyle/>
          <a:p>
            <a:pPr marL="12700" marR="5080" rtl="0">
              <a:spcBef>
                <a:spcPts val="100"/>
              </a:spcBef>
            </a:pPr>
            <a:r>
              <a:rPr sz="2000" kern="1200" spc="-5" dirty="0">
                <a:solidFill>
                  <a:srgbClr val="FF0000"/>
                </a:solidFill>
                <a:latin typeface="Palatino Linotype"/>
                <a:cs typeface="Palatino Linotype"/>
              </a:rPr>
              <a:t>Iteratively</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find</a:t>
            </a:r>
            <a:r>
              <a:rPr sz="2000" kern="1200" dirty="0">
                <a:solidFill>
                  <a:srgbClr val="FF0000"/>
                </a:solidFill>
                <a:latin typeface="Palatino Linotype"/>
                <a:cs typeface="Palatino Linotype"/>
              </a:rPr>
              <a:t> all</a:t>
            </a:r>
            <a:r>
              <a:rPr sz="2000" kern="1200" spc="10" dirty="0">
                <a:solidFill>
                  <a:srgbClr val="FF0000"/>
                </a:solidFill>
                <a:latin typeface="Palatino Linotype"/>
                <a:cs typeface="Palatino Linotype"/>
              </a:rPr>
              <a:t> </a:t>
            </a:r>
            <a:r>
              <a:rPr sz="2000" kern="1200" dirty="0">
                <a:solidFill>
                  <a:srgbClr val="FF0000"/>
                </a:solidFill>
                <a:latin typeface="Palatino Linotype"/>
                <a:cs typeface="Palatino Linotype"/>
              </a:rPr>
              <a:t>possible </a:t>
            </a:r>
            <a:r>
              <a:rPr sz="2000" kern="1200" spc="-5" dirty="0">
                <a:solidFill>
                  <a:srgbClr val="FF0000"/>
                </a:solidFill>
                <a:latin typeface="Palatino Linotype"/>
                <a:cs typeface="Palatino Linotype"/>
              </a:rPr>
              <a:t>GOTO</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targets</a:t>
            </a:r>
            <a:r>
              <a:rPr sz="2000" kern="1200" dirty="0">
                <a:solidFill>
                  <a:srgbClr val="FF0000"/>
                </a:solidFill>
                <a:latin typeface="Palatino Linotype"/>
                <a:cs typeface="Palatino Linotype"/>
              </a:rPr>
              <a:t> </a:t>
            </a:r>
            <a:r>
              <a:rPr sz="2000" kern="1200" spc="-5" dirty="0">
                <a:solidFill>
                  <a:srgbClr val="0432FF"/>
                </a:solidFill>
                <a:latin typeface="Palatino Linotype"/>
                <a:cs typeface="Palatino Linotype"/>
              </a:rPr>
              <a:t>(corresponding</a:t>
            </a:r>
            <a:r>
              <a:rPr sz="2000" kern="1200" spc="5" dirty="0">
                <a:solidFill>
                  <a:srgbClr val="0432FF"/>
                </a:solidFill>
                <a:latin typeface="Palatino Linotype"/>
                <a:cs typeface="Palatino Linotype"/>
              </a:rPr>
              <a:t> </a:t>
            </a:r>
            <a:r>
              <a:rPr sz="2000" kern="1200" spc="-5" dirty="0">
                <a:solidFill>
                  <a:srgbClr val="0432FF"/>
                </a:solidFill>
                <a:latin typeface="Palatino Linotype"/>
                <a:cs typeface="Palatino Linotype"/>
              </a:rPr>
              <a:t>to states </a:t>
            </a:r>
            <a:r>
              <a:rPr sz="2000" kern="1200" spc="-484" dirty="0">
                <a:solidFill>
                  <a:srgbClr val="0432FF"/>
                </a:solidFill>
                <a:latin typeface="Palatino Linotype"/>
                <a:cs typeface="Palatino Linotype"/>
              </a:rPr>
              <a:t> </a:t>
            </a:r>
            <a:r>
              <a:rPr sz="2000" kern="1200" dirty="0">
                <a:solidFill>
                  <a:srgbClr val="0432FF"/>
                </a:solidFill>
                <a:latin typeface="Palatino Linotype"/>
                <a:cs typeface="Palatino Linotype"/>
              </a:rPr>
              <a:t>in</a:t>
            </a:r>
            <a:r>
              <a:rPr sz="2000" kern="1200" spc="-10" dirty="0">
                <a:solidFill>
                  <a:srgbClr val="0432FF"/>
                </a:solidFill>
                <a:latin typeface="Palatino Linotype"/>
                <a:cs typeface="Palatino Linotype"/>
              </a:rPr>
              <a:t> </a:t>
            </a:r>
            <a:r>
              <a:rPr sz="2000" kern="1200" spc="-5" dirty="0">
                <a:solidFill>
                  <a:srgbClr val="0432FF"/>
                </a:solidFill>
                <a:latin typeface="Palatino Linotype"/>
                <a:cs typeface="Palatino Linotype"/>
              </a:rPr>
              <a:t>the</a:t>
            </a:r>
            <a:r>
              <a:rPr sz="2000" kern="1200" dirty="0">
                <a:solidFill>
                  <a:srgbClr val="0432FF"/>
                </a:solidFill>
                <a:latin typeface="Palatino Linotype"/>
                <a:cs typeface="Palatino Linotype"/>
              </a:rPr>
              <a:t> </a:t>
            </a:r>
            <a:r>
              <a:rPr sz="2000" kern="1200" spc="-5" dirty="0">
                <a:solidFill>
                  <a:srgbClr val="0432FF"/>
                </a:solidFill>
                <a:latin typeface="Palatino Linotype"/>
                <a:cs typeface="Palatino Linotype"/>
              </a:rPr>
              <a:t>automaton for parsing)</a:t>
            </a:r>
            <a:endParaRPr sz="2000" kern="1200" dirty="0">
              <a:solidFill>
                <a:prstClr val="black"/>
              </a:solidFill>
              <a:latin typeface="Palatino Linotype"/>
              <a:cs typeface="Palatino Linotype"/>
            </a:endParaRPr>
          </a:p>
        </p:txBody>
      </p:sp>
    </p:spTree>
    <p:extLst>
      <p:ext uri="{BB962C8B-B14F-4D97-AF65-F5344CB8AC3E}">
        <p14:creationId xmlns:p14="http://schemas.microsoft.com/office/powerpoint/2010/main" val="13447537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113</a:t>
            </a:fld>
            <a:endParaRPr lang="en-US"/>
          </a:p>
        </p:txBody>
      </p:sp>
      <p:sp>
        <p:nvSpPr>
          <p:cNvPr id="8" name="object 2">
            <a:extLst>
              <a:ext uri="{FF2B5EF4-FFF2-40B4-BE49-F238E27FC236}">
                <a16:creationId xmlns:a16="http://schemas.microsoft.com/office/drawing/2014/main" id="{126157DD-C00B-9D70-42DB-790B0A910E5E}"/>
              </a:ext>
            </a:extLst>
          </p:cNvPr>
          <p:cNvSpPr txBox="1"/>
          <p:nvPr/>
        </p:nvSpPr>
        <p:spPr>
          <a:xfrm>
            <a:off x="707390" y="524763"/>
            <a:ext cx="2027555" cy="635000"/>
          </a:xfrm>
          <a:prstGeom prst="rect">
            <a:avLst/>
          </a:prstGeom>
        </p:spPr>
        <p:txBody>
          <a:bodyPr vert="horz" wrap="square" lIns="0" tIns="12700" rIns="0" bIns="0" rtlCol="0">
            <a:spAutoFit/>
          </a:bodyPr>
          <a:lstStyle/>
          <a:p>
            <a:pPr marL="12700" rtl="0">
              <a:spcBef>
                <a:spcPts val="100"/>
              </a:spcBef>
            </a:pPr>
            <a:r>
              <a:rPr sz="4000" b="1" kern="1200" dirty="0">
                <a:solidFill>
                  <a:prstClr val="black"/>
                </a:solidFill>
                <a:latin typeface="Palatino Linotype"/>
                <a:cs typeface="Palatino Linotype"/>
              </a:rPr>
              <a:t>Exa</a:t>
            </a:r>
            <a:r>
              <a:rPr sz="4000" b="1" kern="1200" spc="5" dirty="0">
                <a:solidFill>
                  <a:prstClr val="black"/>
                </a:solidFill>
                <a:latin typeface="Palatino Linotype"/>
                <a:cs typeface="Palatino Linotype"/>
              </a:rPr>
              <a:t>m</a:t>
            </a:r>
            <a:r>
              <a:rPr sz="4000" b="1" kern="1200" spc="-10" dirty="0">
                <a:solidFill>
                  <a:prstClr val="black"/>
                </a:solidFill>
                <a:latin typeface="Palatino Linotype"/>
                <a:cs typeface="Palatino Linotype"/>
              </a:rPr>
              <a:t>p</a:t>
            </a:r>
            <a:r>
              <a:rPr sz="4000" b="1" kern="1200" spc="5" dirty="0">
                <a:solidFill>
                  <a:prstClr val="black"/>
                </a:solidFill>
                <a:latin typeface="Palatino Linotype"/>
                <a:cs typeface="Palatino Linotype"/>
              </a:rPr>
              <a:t>l</a:t>
            </a:r>
            <a:r>
              <a:rPr sz="4000" b="1" kern="1200" dirty="0">
                <a:solidFill>
                  <a:prstClr val="black"/>
                </a:solidFill>
                <a:latin typeface="Palatino Linotype"/>
                <a:cs typeface="Palatino Linotype"/>
              </a:rPr>
              <a:t>e</a:t>
            </a:r>
            <a:endParaRPr sz="4000" kern="1200">
              <a:solidFill>
                <a:prstClr val="black"/>
              </a:solidFill>
              <a:latin typeface="Palatino Linotype"/>
              <a:cs typeface="Palatino Linotype"/>
            </a:endParaRPr>
          </a:p>
        </p:txBody>
      </p:sp>
      <p:pic>
        <p:nvPicPr>
          <p:cNvPr id="9" name="object 3">
            <a:extLst>
              <a:ext uri="{FF2B5EF4-FFF2-40B4-BE49-F238E27FC236}">
                <a16:creationId xmlns:a16="http://schemas.microsoft.com/office/drawing/2014/main" id="{32116632-E33C-4E3B-F1E7-02412222A3F7}"/>
              </a:ext>
            </a:extLst>
          </p:cNvPr>
          <p:cNvPicPr/>
          <p:nvPr/>
        </p:nvPicPr>
        <p:blipFill>
          <a:blip r:embed="rId2" cstate="print"/>
          <a:stretch>
            <a:fillRect/>
          </a:stretch>
        </p:blipFill>
        <p:spPr>
          <a:xfrm>
            <a:off x="737393" y="1438383"/>
            <a:ext cx="6693136" cy="4844504"/>
          </a:xfrm>
          <a:prstGeom prst="rect">
            <a:avLst/>
          </a:prstGeom>
        </p:spPr>
      </p:pic>
      <p:sp>
        <p:nvSpPr>
          <p:cNvPr id="10" name="object 4">
            <a:extLst>
              <a:ext uri="{FF2B5EF4-FFF2-40B4-BE49-F238E27FC236}">
                <a16:creationId xmlns:a16="http://schemas.microsoft.com/office/drawing/2014/main" id="{D4CF101E-4D15-1656-7E8E-83DC54972E78}"/>
              </a:ext>
            </a:extLst>
          </p:cNvPr>
          <p:cNvSpPr txBox="1">
            <a:spLocks/>
          </p:cNvSpPr>
          <p:nvPr/>
        </p:nvSpPr>
        <p:spPr>
          <a:xfrm>
            <a:off x="4064570" y="78739"/>
            <a:ext cx="4787900" cy="108113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38100" marR="30480" lvl="0" indent="95885" defTabSz="914400" eaLnBrk="1" fontAlgn="auto" latinLnBrk="0" hangingPunct="1">
              <a:lnSpc>
                <a:spcPct val="152500"/>
              </a:lnSpc>
              <a:spcBef>
                <a:spcPts val="100"/>
              </a:spcBef>
              <a:spcAft>
                <a:spcPts val="0"/>
              </a:spcAft>
              <a:buClrTx/>
              <a:buSzTx/>
              <a:buFontTx/>
              <a:buNone/>
              <a:tabLst/>
              <a:defRPr/>
            </a:pPr>
            <a:r>
              <a:rPr kumimoji="0" lang="en-US" sz="2400" b="0" i="0" u="none" strike="noStrike" kern="0" cap="none" spc="0" normalizeH="0" baseline="0" noProof="0" dirty="0">
                <a:ln>
                  <a:noFill/>
                </a:ln>
                <a:solidFill>
                  <a:srgbClr val="FF0000"/>
                </a:solidFill>
                <a:effectLst/>
                <a:uLnTx/>
                <a:uFillTx/>
                <a:latin typeface="Palatino Linotype"/>
                <a:ea typeface="+mj-ea"/>
              </a:rPr>
              <a:t>The</a:t>
            </a:r>
            <a:r>
              <a:rPr kumimoji="0" lang="en-US" sz="2400" b="0" i="0" u="none" strike="noStrike" kern="0" cap="none" spc="-5" normalizeH="0" baseline="0" noProof="0" dirty="0">
                <a:ln>
                  <a:noFill/>
                </a:ln>
                <a:solidFill>
                  <a:srgbClr val="FF0000"/>
                </a:solidFill>
                <a:effectLst/>
                <a:uLnTx/>
                <a:uFillTx/>
                <a:latin typeface="Palatino Linotype"/>
                <a:ea typeface="+mj-ea"/>
              </a:rPr>
              <a:t> canonical</a:t>
            </a:r>
            <a:r>
              <a:rPr kumimoji="0" lang="en-US" sz="2400" b="0" i="0" u="none" strike="noStrike" kern="0" cap="none" spc="0" normalizeH="0" baseline="0" noProof="0" dirty="0">
                <a:ln>
                  <a:noFill/>
                </a:ln>
                <a:solidFill>
                  <a:srgbClr val="FF0000"/>
                </a:solidFill>
                <a:effectLst/>
                <a:uLnTx/>
                <a:uFillTx/>
                <a:latin typeface="Palatino Linotype"/>
                <a:ea typeface="+mj-ea"/>
              </a:rPr>
              <a:t> </a:t>
            </a:r>
            <a:r>
              <a:rPr kumimoji="0" lang="en-US" sz="2400" b="0" i="0" u="none" strike="noStrike" kern="0" cap="none" spc="-5" normalizeH="0" baseline="0" noProof="0" dirty="0">
                <a:ln>
                  <a:noFill/>
                </a:ln>
                <a:solidFill>
                  <a:srgbClr val="FF0000"/>
                </a:solidFill>
                <a:effectLst/>
                <a:uLnTx/>
                <a:uFillTx/>
                <a:latin typeface="Palatino Linotype"/>
                <a:ea typeface="+mj-ea"/>
              </a:rPr>
              <a:t>LR(0) collection</a:t>
            </a:r>
            <a:r>
              <a:rPr kumimoji="0" lang="en-US" sz="2400" b="0" i="0" u="none" strike="noStrike" kern="0" cap="none" spc="0" normalizeH="0" baseline="0" noProof="0" dirty="0">
                <a:ln>
                  <a:noFill/>
                </a:ln>
                <a:solidFill>
                  <a:srgbClr val="FF0000"/>
                </a:solidFill>
                <a:effectLst/>
                <a:uLnTx/>
                <a:uFillTx/>
                <a:latin typeface="Palatino Linotype"/>
                <a:ea typeface="+mj-ea"/>
              </a:rPr>
              <a:t> for </a:t>
            </a:r>
            <a:r>
              <a:rPr kumimoji="0" lang="en-US" sz="2400" b="0" i="0" u="none" strike="noStrike" kern="0" cap="none" spc="5" normalizeH="0" baseline="0" noProof="0" dirty="0">
                <a:ln>
                  <a:noFill/>
                </a:ln>
                <a:solidFill>
                  <a:srgbClr val="FF0000"/>
                </a:solidFill>
                <a:effectLst/>
                <a:uLnTx/>
                <a:uFillTx/>
                <a:latin typeface="Palatino Linotype"/>
                <a:ea typeface="+mj-ea"/>
              </a:rPr>
              <a:t> </a:t>
            </a:r>
            <a:r>
              <a:rPr kumimoji="0" lang="en-US" sz="2400" b="0" i="0" u="none" strike="noStrike" kern="0" cap="none" spc="0" normalizeH="0" baseline="0" noProof="0" dirty="0">
                <a:ln>
                  <a:noFill/>
                </a:ln>
                <a:solidFill>
                  <a:srgbClr val="FF0000"/>
                </a:solidFill>
                <a:effectLst/>
                <a:uLnTx/>
                <a:uFillTx/>
                <a:latin typeface="Palatino Linotype"/>
                <a:ea typeface="+mj-ea"/>
              </a:rPr>
              <a:t>the gra</a:t>
            </a:r>
            <a:r>
              <a:rPr kumimoji="0" lang="en-US" sz="2400" b="0" i="0" u="none" strike="noStrike" kern="0" cap="none" spc="5" normalizeH="0" baseline="0" noProof="0" dirty="0">
                <a:ln>
                  <a:noFill/>
                </a:ln>
                <a:solidFill>
                  <a:srgbClr val="FF0000"/>
                </a:solidFill>
                <a:effectLst/>
                <a:uLnTx/>
                <a:uFillTx/>
                <a:latin typeface="Palatino Linotype"/>
                <a:ea typeface="+mj-ea"/>
              </a:rPr>
              <a:t>mm</a:t>
            </a:r>
            <a:r>
              <a:rPr kumimoji="0" lang="en-US" sz="2400" b="0" i="0" u="none" strike="noStrike" kern="0" cap="none" spc="0" normalizeH="0" baseline="0" noProof="0" dirty="0">
                <a:ln>
                  <a:noFill/>
                </a:ln>
                <a:solidFill>
                  <a:srgbClr val="FF0000"/>
                </a:solidFill>
                <a:effectLst/>
                <a:uLnTx/>
                <a:uFillTx/>
                <a:latin typeface="Palatino Linotype"/>
                <a:ea typeface="+mj-ea"/>
              </a:rPr>
              <a:t>ar </a:t>
            </a:r>
            <a:r>
              <a:rPr kumimoji="0" lang="en-US" sz="2400" b="0" i="0" u="none" strike="noStrike" kern="0" cap="none" spc="-5" normalizeH="0" baseline="0" noProof="0" dirty="0">
                <a:ln>
                  <a:noFill/>
                </a:ln>
                <a:solidFill>
                  <a:srgbClr val="FF0000"/>
                </a:solidFill>
                <a:effectLst/>
                <a:uLnTx/>
                <a:uFillTx/>
                <a:latin typeface="Palatino Linotype"/>
                <a:ea typeface="+mj-ea"/>
              </a:rPr>
              <a:t>b</a:t>
            </a:r>
            <a:r>
              <a:rPr kumimoji="0" lang="en-US" sz="2400" b="0" i="0" u="none" strike="noStrike" kern="0" cap="none" spc="0" normalizeH="0" baseline="0" noProof="0" dirty="0">
                <a:ln>
                  <a:noFill/>
                </a:ln>
                <a:solidFill>
                  <a:srgbClr val="FF0000"/>
                </a:solidFill>
                <a:effectLst/>
                <a:uLnTx/>
                <a:uFillTx/>
                <a:latin typeface="Palatino Linotype"/>
                <a:ea typeface="+mj-ea"/>
              </a:rPr>
              <a:t>elow</a:t>
            </a:r>
            <a:r>
              <a:rPr kumimoji="0" lang="en-US" sz="2400" b="0" i="0" u="none" strike="noStrike" kern="0" cap="none" spc="-5" normalizeH="0" baseline="0" noProof="0" dirty="0">
                <a:ln>
                  <a:noFill/>
                </a:ln>
                <a:solidFill>
                  <a:srgbClr val="FF0000"/>
                </a:solidFill>
                <a:effectLst/>
                <a:uLnTx/>
                <a:uFillTx/>
                <a:latin typeface="Palatino Linotype"/>
                <a:ea typeface="+mj-ea"/>
              </a:rPr>
              <a:t> </a:t>
            </a:r>
            <a:r>
              <a:rPr kumimoji="0" lang="en-US" sz="2400" b="0" i="0" u="none" strike="noStrike" kern="0" cap="none" spc="0" normalizeH="0" baseline="0" noProof="0" dirty="0">
                <a:ln>
                  <a:noFill/>
                </a:ln>
                <a:solidFill>
                  <a:srgbClr val="FF0000"/>
                </a:solidFill>
                <a:effectLst/>
                <a:uLnTx/>
                <a:uFillTx/>
                <a:latin typeface="Palatino Linotype"/>
                <a:ea typeface="+mj-ea"/>
              </a:rPr>
              <a:t>is</a:t>
            </a:r>
            <a:r>
              <a:rPr kumimoji="0" lang="en-US" sz="2400" b="0" i="0" u="none" strike="noStrike" kern="0" cap="none" spc="-5" normalizeH="0" baseline="0" noProof="0" dirty="0">
                <a:ln>
                  <a:noFill/>
                </a:ln>
                <a:solidFill>
                  <a:srgbClr val="FF0000"/>
                </a:solidFill>
                <a:effectLst/>
                <a:uLnTx/>
                <a:uFillTx/>
                <a:latin typeface="Palatino Linotype"/>
                <a:ea typeface="+mj-ea"/>
              </a:rPr>
              <a:t> </a:t>
            </a:r>
            <a:r>
              <a:rPr kumimoji="0" lang="en-US" sz="2400" b="0" i="0" u="none" strike="noStrike" kern="0" cap="none" spc="-5" normalizeH="0" baseline="0" noProof="0" dirty="0">
                <a:ln>
                  <a:noFill/>
                </a:ln>
                <a:solidFill>
                  <a:srgbClr val="FF0000"/>
                </a:solidFill>
                <a:effectLst/>
                <a:uLnTx/>
                <a:uFillTx/>
                <a:latin typeface="Cambria Math"/>
                <a:ea typeface="+mj-ea"/>
                <a:cs typeface="Cambria Math"/>
              </a:rPr>
              <a:t>{</a:t>
            </a:r>
            <a:r>
              <a:rPr kumimoji="0" lang="en-US" sz="2400" b="0" i="0" u="none" strike="noStrike" kern="0" cap="none" spc="-140" normalizeH="0" baseline="0" noProof="0" dirty="0">
                <a:ln>
                  <a:noFill/>
                </a:ln>
                <a:solidFill>
                  <a:srgbClr val="FF0000"/>
                </a:solidFill>
                <a:effectLst/>
                <a:uLnTx/>
                <a:uFillTx/>
                <a:latin typeface="Cambria Math"/>
                <a:ea typeface="+mj-ea"/>
                <a:cs typeface="Cambria Math"/>
              </a:rPr>
              <a:t>𝐼</a:t>
            </a:r>
            <a:r>
              <a:rPr kumimoji="0" lang="en-US" altLang="zh-CN" sz="2700" b="0" i="0" u="none" strike="noStrike" kern="0" cap="none" spc="15" normalizeH="0" baseline="-15432" noProof="0" dirty="0">
                <a:ln>
                  <a:noFill/>
                </a:ln>
                <a:solidFill>
                  <a:srgbClr val="FF0000"/>
                </a:solidFill>
                <a:effectLst/>
                <a:uLnTx/>
                <a:uFillTx/>
                <a:latin typeface="Cambria Math"/>
                <a:ea typeface="+mj-ea"/>
                <a:cs typeface="Cambria Math"/>
              </a:rPr>
              <a:t>0</a:t>
            </a:r>
            <a:r>
              <a:rPr kumimoji="0" lang="en-US" sz="2400" b="0" i="0" u="none" strike="noStrike" kern="0" cap="none" spc="0" normalizeH="0" baseline="0" noProof="0" dirty="0">
                <a:ln>
                  <a:noFill/>
                </a:ln>
                <a:solidFill>
                  <a:srgbClr val="FF0000"/>
                </a:solidFill>
                <a:effectLst/>
                <a:uLnTx/>
                <a:uFillTx/>
                <a:latin typeface="Cambria Math"/>
                <a:ea typeface="+mj-ea"/>
                <a:cs typeface="Cambria Math"/>
              </a:rPr>
              <a:t>,</a:t>
            </a:r>
            <a:r>
              <a:rPr kumimoji="0" lang="en-US" sz="2400" b="0" i="0" u="none" strike="noStrike" kern="0" cap="none" spc="-135" normalizeH="0" baseline="0" noProof="0" dirty="0">
                <a:ln>
                  <a:noFill/>
                </a:ln>
                <a:solidFill>
                  <a:srgbClr val="FF0000"/>
                </a:solidFill>
                <a:effectLst/>
                <a:uLnTx/>
                <a:uFillTx/>
                <a:latin typeface="Cambria Math"/>
                <a:ea typeface="+mj-ea"/>
                <a:cs typeface="Cambria Math"/>
              </a:rPr>
              <a:t> </a:t>
            </a:r>
            <a:r>
              <a:rPr kumimoji="0" lang="en-US" sz="2400" b="0" i="0" u="none" strike="noStrike" kern="0" cap="none" spc="-195" normalizeH="0" baseline="0" noProof="0" dirty="0">
                <a:ln>
                  <a:noFill/>
                </a:ln>
                <a:solidFill>
                  <a:srgbClr val="FF0000"/>
                </a:solidFill>
                <a:effectLst/>
                <a:uLnTx/>
                <a:uFillTx/>
                <a:latin typeface="Cambria Math"/>
                <a:ea typeface="+mj-ea"/>
                <a:cs typeface="Cambria Math"/>
              </a:rPr>
              <a:t>𝐼</a:t>
            </a:r>
            <a:r>
              <a:rPr lang="en-US" altLang="zh-CN" sz="2700" b="0" spc="-187" baseline="-15432" dirty="0">
                <a:solidFill>
                  <a:srgbClr val="FF0000"/>
                </a:solidFill>
                <a:latin typeface="Cambria Math"/>
                <a:cs typeface="Cambria Math"/>
              </a:rPr>
              <a:t>1</a:t>
            </a:r>
            <a:r>
              <a:rPr kumimoji="0" lang="en-US" sz="2400" b="0" i="0" u="none" strike="noStrike" kern="0" cap="none" spc="0" normalizeH="0" baseline="0" noProof="0" dirty="0">
                <a:ln>
                  <a:noFill/>
                </a:ln>
                <a:solidFill>
                  <a:srgbClr val="FF0000"/>
                </a:solidFill>
                <a:effectLst/>
                <a:uLnTx/>
                <a:uFillTx/>
                <a:latin typeface="Cambria Math"/>
                <a:ea typeface="+mj-ea"/>
                <a:cs typeface="Cambria Math"/>
              </a:rPr>
              <a:t>,</a:t>
            </a:r>
            <a:r>
              <a:rPr kumimoji="0" lang="en-US" sz="2400" b="0" i="0" u="none" strike="noStrike" kern="0" cap="none" spc="-135" normalizeH="0" baseline="0" noProof="0" dirty="0">
                <a:ln>
                  <a:noFill/>
                </a:ln>
                <a:solidFill>
                  <a:srgbClr val="FF0000"/>
                </a:solidFill>
                <a:effectLst/>
                <a:uLnTx/>
                <a:uFillTx/>
                <a:latin typeface="Cambria Math"/>
                <a:ea typeface="+mj-ea"/>
                <a:cs typeface="Cambria Math"/>
              </a:rPr>
              <a:t> </a:t>
            </a:r>
            <a:r>
              <a:rPr kumimoji="0" lang="en-US" sz="2400" b="0" i="0" u="none" strike="noStrike" kern="0" cap="none" spc="0" normalizeH="0" baseline="0" noProof="0" dirty="0">
                <a:ln>
                  <a:noFill/>
                </a:ln>
                <a:solidFill>
                  <a:srgbClr val="FF0000"/>
                </a:solidFill>
                <a:effectLst/>
                <a:uLnTx/>
                <a:uFillTx/>
                <a:latin typeface="Cambria Math"/>
                <a:ea typeface="+mj-ea"/>
                <a:cs typeface="Cambria Math"/>
              </a:rPr>
              <a:t>…</a:t>
            </a:r>
            <a:r>
              <a:rPr kumimoji="0" lang="en-US" sz="2400" b="0" i="0" u="none" strike="noStrike" kern="0" cap="none" spc="-135" normalizeH="0" baseline="0" noProof="0" dirty="0">
                <a:ln>
                  <a:noFill/>
                </a:ln>
                <a:solidFill>
                  <a:srgbClr val="FF0000"/>
                </a:solidFill>
                <a:effectLst/>
                <a:uLnTx/>
                <a:uFillTx/>
                <a:latin typeface="Cambria Math"/>
                <a:ea typeface="+mj-ea"/>
                <a:cs typeface="Cambria Math"/>
              </a:rPr>
              <a:t> </a:t>
            </a:r>
            <a:r>
              <a:rPr kumimoji="0" lang="en-US" sz="2400" b="0" i="0" u="none" strike="noStrike" kern="0" cap="none" spc="0" normalizeH="0" baseline="0" noProof="0" dirty="0">
                <a:ln>
                  <a:noFill/>
                </a:ln>
                <a:solidFill>
                  <a:srgbClr val="FF0000"/>
                </a:solidFill>
                <a:effectLst/>
                <a:uLnTx/>
                <a:uFillTx/>
                <a:latin typeface="Cambria Math"/>
                <a:ea typeface="+mj-ea"/>
                <a:cs typeface="Cambria Math"/>
              </a:rPr>
              <a:t>,</a:t>
            </a:r>
            <a:r>
              <a:rPr kumimoji="0" lang="en-US" sz="2400" b="0" i="0" u="none" strike="noStrike" kern="0" cap="none" spc="-135" normalizeH="0" baseline="0" noProof="0" dirty="0">
                <a:ln>
                  <a:noFill/>
                </a:ln>
                <a:solidFill>
                  <a:srgbClr val="FF0000"/>
                </a:solidFill>
                <a:effectLst/>
                <a:uLnTx/>
                <a:uFillTx/>
                <a:latin typeface="Cambria Math"/>
                <a:ea typeface="+mj-ea"/>
                <a:cs typeface="Cambria Math"/>
              </a:rPr>
              <a:t> </a:t>
            </a:r>
            <a:r>
              <a:rPr kumimoji="0" lang="en-US" sz="2400" b="0" i="0" u="none" strike="noStrike" kern="0" cap="none" spc="-195" normalizeH="0" baseline="0" noProof="0" dirty="0">
                <a:ln>
                  <a:noFill/>
                </a:ln>
                <a:solidFill>
                  <a:srgbClr val="FF0000"/>
                </a:solidFill>
                <a:effectLst/>
                <a:uLnTx/>
                <a:uFillTx/>
                <a:latin typeface="Cambria Math"/>
                <a:ea typeface="+mj-ea"/>
                <a:cs typeface="Cambria Math"/>
              </a:rPr>
              <a:t>𝐼</a:t>
            </a:r>
            <a:r>
              <a:rPr lang="en-US" altLang="zh-CN" sz="2700" b="0" spc="-337" baseline="-15432" dirty="0">
                <a:solidFill>
                  <a:srgbClr val="FF0000"/>
                </a:solidFill>
                <a:latin typeface="Cambria Math"/>
                <a:cs typeface="Cambria Math"/>
              </a:rPr>
              <a:t>11</a:t>
            </a:r>
            <a:r>
              <a:rPr kumimoji="0" lang="en-US" sz="2400" b="0" i="0" u="none" strike="noStrike" kern="0" cap="none" spc="0" normalizeH="0" baseline="0" noProof="0" dirty="0">
                <a:ln>
                  <a:noFill/>
                </a:ln>
                <a:solidFill>
                  <a:srgbClr val="FF0000"/>
                </a:solidFill>
                <a:effectLst/>
                <a:uLnTx/>
                <a:uFillTx/>
                <a:latin typeface="Cambria Math"/>
                <a:ea typeface="+mj-ea"/>
                <a:cs typeface="Cambria Math"/>
              </a:rPr>
              <a:t>}</a:t>
            </a:r>
            <a:endParaRPr kumimoji="0" lang="en-US" sz="2400" b="1" i="0" u="none" strike="noStrike" kern="0" cap="none" spc="0" normalizeH="0" baseline="0" noProof="0" dirty="0">
              <a:ln>
                <a:noFill/>
              </a:ln>
              <a:solidFill>
                <a:sysClr val="windowText" lastClr="000000"/>
              </a:solidFill>
              <a:effectLst/>
              <a:uLnTx/>
              <a:uFillTx/>
              <a:latin typeface="Cambria Math"/>
              <a:ea typeface="+mj-ea"/>
              <a:cs typeface="Cambria Math"/>
            </a:endParaRPr>
          </a:p>
        </p:txBody>
      </p:sp>
    </p:spTree>
    <p:extLst>
      <p:ext uri="{BB962C8B-B14F-4D97-AF65-F5344CB8AC3E}">
        <p14:creationId xmlns:p14="http://schemas.microsoft.com/office/powerpoint/2010/main" val="282023142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114</a:t>
            </a:fld>
            <a:endParaRPr lang="en-US"/>
          </a:p>
        </p:txBody>
      </p:sp>
      <p:sp>
        <p:nvSpPr>
          <p:cNvPr id="7" name="object 2">
            <a:extLst>
              <a:ext uri="{FF2B5EF4-FFF2-40B4-BE49-F238E27FC236}">
                <a16:creationId xmlns:a16="http://schemas.microsoft.com/office/drawing/2014/main" id="{19969D73-630D-AFF5-510C-84FE0E13B6DE}"/>
              </a:ext>
            </a:extLst>
          </p:cNvPr>
          <p:cNvSpPr txBox="1">
            <a:spLocks/>
          </p:cNvSpPr>
          <p:nvPr/>
        </p:nvSpPr>
        <p:spPr>
          <a:xfrm>
            <a:off x="707390" y="524763"/>
            <a:ext cx="404304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LR(0)</a:t>
            </a:r>
            <a:r>
              <a:rPr kumimoji="0" lang="en-US" sz="4000" b="1" i="0" u="none" strike="noStrike" kern="0" cap="none" spc="-6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Automaton</a:t>
            </a:r>
          </a:p>
        </p:txBody>
      </p:sp>
      <p:sp>
        <p:nvSpPr>
          <p:cNvPr id="8" name="object 3">
            <a:extLst>
              <a:ext uri="{FF2B5EF4-FFF2-40B4-BE49-F238E27FC236}">
                <a16:creationId xmlns:a16="http://schemas.microsoft.com/office/drawing/2014/main" id="{FA269EB2-2CB8-1A8E-4EBC-E9EEE5B47101}"/>
              </a:ext>
            </a:extLst>
          </p:cNvPr>
          <p:cNvSpPr txBox="1"/>
          <p:nvPr/>
        </p:nvSpPr>
        <p:spPr>
          <a:xfrm>
            <a:off x="707390" y="1600708"/>
            <a:ext cx="7723505" cy="2502535"/>
          </a:xfrm>
          <a:prstGeom prst="rect">
            <a:avLst/>
          </a:prstGeom>
        </p:spPr>
        <p:txBody>
          <a:bodyPr vert="horz" wrap="square" lIns="0" tIns="12700" rIns="0" bIns="0" rtlCol="0">
            <a:spAutoFit/>
          </a:bodyPr>
          <a:lstStyle/>
          <a:p>
            <a:pPr marL="242570" marR="5080" indent="-230504" rtl="0">
              <a:lnSpc>
                <a:spcPct val="117300"/>
              </a:lnSpc>
              <a:spcBef>
                <a:spcPts val="100"/>
              </a:spcBef>
              <a:buFont typeface="Arial MT"/>
              <a:buChar char="•"/>
              <a:tabLst>
                <a:tab pos="242570" algn="l"/>
                <a:tab pos="243204" algn="l"/>
              </a:tabLst>
            </a:pPr>
            <a:r>
              <a:rPr sz="2200" kern="1200" spc="-5" dirty="0">
                <a:solidFill>
                  <a:prstClr val="black"/>
                </a:solidFill>
                <a:latin typeface="Palatino Linotype"/>
                <a:cs typeface="Palatino Linotype"/>
              </a:rPr>
              <a:t>The central idea</a:t>
            </a:r>
            <a:r>
              <a:rPr sz="2200" kern="1200" dirty="0">
                <a:solidFill>
                  <a:prstClr val="black"/>
                </a:solidFill>
                <a:latin typeface="Palatino Linotype"/>
                <a:cs typeface="Palatino Linotype"/>
              </a:rPr>
              <a:t> </a:t>
            </a:r>
            <a:r>
              <a:rPr sz="2200" kern="1200" spc="-10" dirty="0">
                <a:solidFill>
                  <a:prstClr val="black"/>
                </a:solidFill>
                <a:latin typeface="Palatino Linotype"/>
                <a:cs typeface="Palatino Linotype"/>
              </a:rPr>
              <a:t>behind</a:t>
            </a:r>
            <a:r>
              <a:rPr sz="2200" kern="1200" spc="5" dirty="0">
                <a:solidFill>
                  <a:prstClr val="black"/>
                </a:solidFill>
                <a:latin typeface="Palatino Linotype"/>
                <a:cs typeface="Palatino Linotype"/>
              </a:rPr>
              <a:t> </a:t>
            </a:r>
            <a:r>
              <a:rPr sz="2200" kern="1200" spc="-5" dirty="0">
                <a:solidFill>
                  <a:srgbClr val="FF0000"/>
                </a:solidFill>
                <a:latin typeface="Palatino Linotype"/>
                <a:cs typeface="Palatino Linotype"/>
              </a:rPr>
              <a:t>“Simple</a:t>
            </a:r>
            <a:r>
              <a:rPr sz="2200" kern="1200" dirty="0">
                <a:solidFill>
                  <a:srgbClr val="FF0000"/>
                </a:solidFill>
                <a:latin typeface="Palatino Linotype"/>
                <a:cs typeface="Palatino Linotype"/>
              </a:rPr>
              <a:t> LR”</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or</a:t>
            </a:r>
            <a:r>
              <a:rPr sz="2200" kern="1200" spc="5" dirty="0">
                <a:solidFill>
                  <a:prstClr val="black"/>
                </a:solidFill>
                <a:latin typeface="Palatino Linotype"/>
                <a:cs typeface="Palatino Linotype"/>
              </a:rPr>
              <a:t> </a:t>
            </a:r>
            <a:r>
              <a:rPr sz="2200" kern="1200" dirty="0">
                <a:solidFill>
                  <a:srgbClr val="FF0000"/>
                </a:solidFill>
                <a:latin typeface="Palatino Linotype"/>
                <a:cs typeface="Palatino Linotype"/>
              </a:rPr>
              <a:t>SLR</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is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constructing </a:t>
            </a:r>
            <a:r>
              <a:rPr sz="2200" kern="1200" spc="-535" dirty="0">
                <a:solidFill>
                  <a:prstClr val="black"/>
                </a:solidFill>
                <a:latin typeface="Palatino Linotype"/>
                <a:cs typeface="Palatino Linotype"/>
              </a:rPr>
              <a:t> </a:t>
            </a:r>
            <a:r>
              <a:rPr sz="2200" kern="1200" spc="-10" dirty="0">
                <a:solidFill>
                  <a:prstClr val="black"/>
                </a:solidFill>
                <a:latin typeface="Palatino Linotype"/>
                <a:cs typeface="Palatino Linotype"/>
              </a:rPr>
              <a:t>the </a:t>
            </a:r>
            <a:r>
              <a:rPr sz="2200" kern="1200" dirty="0">
                <a:solidFill>
                  <a:srgbClr val="FF0000"/>
                </a:solidFill>
                <a:latin typeface="Palatino Linotype"/>
                <a:cs typeface="Palatino Linotype"/>
              </a:rPr>
              <a:t>LR(0) </a:t>
            </a:r>
            <a:r>
              <a:rPr sz="2200" kern="1200" spc="-5" dirty="0">
                <a:solidFill>
                  <a:srgbClr val="FF0000"/>
                </a:solidFill>
                <a:latin typeface="Palatino Linotype"/>
                <a:cs typeface="Palatino Linotype"/>
              </a:rPr>
              <a:t>automaton</a:t>
            </a:r>
            <a:r>
              <a:rPr sz="2200" kern="1200" spc="-10" dirty="0">
                <a:solidFill>
                  <a:srgbClr val="FF0000"/>
                </a:solidFill>
                <a:latin typeface="Palatino Linotype"/>
                <a:cs typeface="Palatino Linotype"/>
              </a:rPr>
              <a:t> </a:t>
            </a:r>
            <a:r>
              <a:rPr sz="2200" kern="1200" dirty="0">
                <a:solidFill>
                  <a:prstClr val="black"/>
                </a:solidFill>
                <a:latin typeface="Palatino Linotype"/>
                <a:cs typeface="Palatino Linotype"/>
              </a:rPr>
              <a:t>from</a:t>
            </a:r>
            <a:r>
              <a:rPr sz="2200" kern="1200" spc="-5" dirty="0">
                <a:solidFill>
                  <a:prstClr val="black"/>
                </a:solidFill>
                <a:latin typeface="Palatino Linotype"/>
                <a:cs typeface="Palatino Linotype"/>
              </a:rPr>
              <a:t> the grammar</a:t>
            </a:r>
            <a:endParaRPr sz="2200" kern="1200" dirty="0">
              <a:solidFill>
                <a:prstClr val="black"/>
              </a:solidFill>
              <a:latin typeface="Palatino Linotype"/>
              <a:cs typeface="Palatino Linotype"/>
            </a:endParaRPr>
          </a:p>
          <a:p>
            <a:pPr marL="698500" lvl="1" indent="-228600" rtl="0">
              <a:spcBef>
                <a:spcPts val="2365"/>
              </a:spcBef>
              <a:buFont typeface="Wingdings"/>
              <a:buChar char=""/>
              <a:tabLst>
                <a:tab pos="698500" algn="l"/>
              </a:tabLst>
            </a:pPr>
            <a:r>
              <a:rPr kern="1200" spc="-5" dirty="0">
                <a:solidFill>
                  <a:prstClr val="black"/>
                </a:solidFill>
                <a:latin typeface="Palatino Linotype"/>
                <a:cs typeface="Palatino Linotype"/>
              </a:rPr>
              <a:t>The </a:t>
            </a:r>
            <a:r>
              <a:rPr kern="1200" spc="-5" dirty="0">
                <a:solidFill>
                  <a:srgbClr val="0432FF"/>
                </a:solidFill>
                <a:latin typeface="Palatino Linotype"/>
                <a:cs typeface="Palatino Linotype"/>
              </a:rPr>
              <a:t>states</a:t>
            </a:r>
            <a:r>
              <a:rPr kern="1200" spc="-10" dirty="0">
                <a:solidFill>
                  <a:srgbClr val="0432FF"/>
                </a:solidFill>
                <a:latin typeface="Palatino Linotype"/>
                <a:cs typeface="Palatino Linotype"/>
              </a:rPr>
              <a:t> </a:t>
            </a:r>
            <a:r>
              <a:rPr kern="1200" dirty="0">
                <a:solidFill>
                  <a:prstClr val="black"/>
                </a:solidFill>
                <a:latin typeface="Palatino Linotype"/>
                <a:cs typeface="Palatino Linotype"/>
              </a:rPr>
              <a:t>are 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item</a:t>
            </a:r>
            <a:r>
              <a:rPr kern="1200" spc="-5" dirty="0">
                <a:solidFill>
                  <a:prstClr val="black"/>
                </a:solidFill>
                <a:latin typeface="Palatino Linotype"/>
                <a:cs typeface="Palatino Linotype"/>
              </a:rPr>
              <a:t> sets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in 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canonical </a:t>
            </a:r>
            <a:r>
              <a:rPr kern="1200" spc="-5" dirty="0">
                <a:solidFill>
                  <a:prstClr val="black"/>
                </a:solidFill>
                <a:latin typeface="Palatino Linotype"/>
                <a:cs typeface="Palatino Linotype"/>
              </a:rPr>
              <a:t>LR(0) </a:t>
            </a:r>
            <a:r>
              <a:rPr kern="1200" dirty="0">
                <a:solidFill>
                  <a:prstClr val="black"/>
                </a:solidFill>
                <a:latin typeface="Palatino Linotype"/>
                <a:cs typeface="Palatino Linotype"/>
              </a:rPr>
              <a:t>collection</a:t>
            </a:r>
          </a:p>
          <a:p>
            <a:pPr lvl="1" rtl="0">
              <a:spcBef>
                <a:spcPts val="5"/>
              </a:spcBef>
              <a:buFont typeface="Wingdings"/>
              <a:buChar char=""/>
            </a:pPr>
            <a:endParaRPr sz="1650" kern="1200" dirty="0">
              <a:solidFill>
                <a:prstClr val="black"/>
              </a:solidFill>
              <a:latin typeface="Palatino Linotype"/>
              <a:cs typeface="Palatino Linotype"/>
            </a:endParaRPr>
          </a:p>
          <a:p>
            <a:pPr marL="698500" lvl="1" indent="-228600" rtl="0">
              <a:buFont typeface="Wingdings"/>
              <a:buChar char=""/>
              <a:tabLst>
                <a:tab pos="698500" algn="l"/>
              </a:tabLst>
            </a:pPr>
            <a:r>
              <a:rPr kern="1200" spc="-5" dirty="0">
                <a:solidFill>
                  <a:prstClr val="black"/>
                </a:solidFill>
                <a:latin typeface="Palatino Linotype"/>
                <a:cs typeface="Palatino Linotype"/>
              </a:rPr>
              <a:t>The </a:t>
            </a:r>
            <a:r>
              <a:rPr kern="1200" spc="-5" dirty="0">
                <a:solidFill>
                  <a:srgbClr val="0432FF"/>
                </a:solidFill>
                <a:latin typeface="Palatino Linotype"/>
                <a:cs typeface="Palatino Linotype"/>
              </a:rPr>
              <a:t>transitions</a:t>
            </a:r>
            <a:r>
              <a:rPr kern="1200" spc="-10" dirty="0">
                <a:solidFill>
                  <a:srgbClr val="0432FF"/>
                </a:solidFill>
                <a:latin typeface="Palatino Linotype"/>
                <a:cs typeface="Palatino Linotype"/>
              </a:rPr>
              <a:t> </a:t>
            </a:r>
            <a:r>
              <a:rPr kern="1200" dirty="0">
                <a:solidFill>
                  <a:prstClr val="black"/>
                </a:solidFill>
                <a:latin typeface="Palatino Linotype"/>
                <a:cs typeface="Palatino Linotype"/>
              </a:rPr>
              <a:t>are </a:t>
            </a:r>
            <a:r>
              <a:rPr kern="1200" spc="-10" dirty="0">
                <a:solidFill>
                  <a:prstClr val="black"/>
                </a:solidFill>
                <a:latin typeface="Palatino Linotype"/>
                <a:cs typeface="Palatino Linotype"/>
              </a:rPr>
              <a:t>given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by</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GOTO</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function</a:t>
            </a:r>
          </a:p>
          <a:p>
            <a:pPr lvl="1" rtl="0">
              <a:spcBef>
                <a:spcPts val="5"/>
              </a:spcBef>
              <a:buFont typeface="Wingdings"/>
              <a:buChar char=""/>
            </a:pPr>
            <a:endParaRPr sz="1650" kern="1200" dirty="0">
              <a:solidFill>
                <a:prstClr val="black"/>
              </a:solidFill>
              <a:latin typeface="Palatino Linotype"/>
              <a:cs typeface="Palatino Linotype"/>
            </a:endParaRPr>
          </a:p>
          <a:p>
            <a:pPr marL="698500" lvl="1" indent="-228600" rtl="0">
              <a:spcBef>
                <a:spcPts val="5"/>
              </a:spcBef>
              <a:buFont typeface="Wingdings"/>
              <a:buChar char=""/>
              <a:tabLst>
                <a:tab pos="698500" algn="l"/>
              </a:tabLst>
            </a:pPr>
            <a:r>
              <a:rPr kern="1200" spc="-5"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start state </a:t>
            </a:r>
            <a:r>
              <a:rPr kern="1200"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spc="-5" dirty="0">
                <a:solidFill>
                  <a:srgbClr val="0432FF"/>
                </a:solidFill>
                <a:latin typeface="Cambria Math"/>
                <a:cs typeface="Cambria Math"/>
              </a:rPr>
              <a:t>CLOSURE({𝑆’</a:t>
            </a:r>
            <a:r>
              <a:rPr kern="1200" spc="95" dirty="0">
                <a:solidFill>
                  <a:srgbClr val="0432FF"/>
                </a:solidFill>
                <a:latin typeface="Cambria Math"/>
                <a:cs typeface="Cambria Math"/>
              </a:rPr>
              <a:t> </a:t>
            </a:r>
            <a:r>
              <a:rPr kern="1200" spc="-95" dirty="0">
                <a:solidFill>
                  <a:srgbClr val="0432FF"/>
                </a:solidFill>
                <a:latin typeface="Cambria Math"/>
                <a:cs typeface="Cambria Math"/>
              </a:rPr>
              <a:t>→</a:t>
            </a:r>
            <a:r>
              <a:rPr lang="en-US" altLang="zh-CN" kern="1200" spc="-95" dirty="0">
                <a:solidFill>
                  <a:srgbClr val="0432FF"/>
                </a:solidFill>
                <a:latin typeface="Cambria Math"/>
                <a:cs typeface="Cambria Math"/>
              </a:rPr>
              <a:t>·</a:t>
            </a:r>
            <a:r>
              <a:rPr kern="1200" dirty="0">
                <a:solidFill>
                  <a:srgbClr val="0432FF"/>
                </a:solidFill>
                <a:latin typeface="Cambria Math"/>
                <a:cs typeface="Cambria Math"/>
              </a:rPr>
              <a:t> </a:t>
            </a:r>
            <a:r>
              <a:rPr kern="1200" spc="10" dirty="0">
                <a:solidFill>
                  <a:srgbClr val="0432FF"/>
                </a:solidFill>
                <a:latin typeface="Cambria Math"/>
                <a:cs typeface="Cambria Math"/>
              </a:rPr>
              <a:t>𝑆})</a:t>
            </a:r>
            <a:endParaRPr kern="1200" dirty="0">
              <a:solidFill>
                <a:prstClr val="black"/>
              </a:solidFill>
              <a:latin typeface="Cambria Math"/>
              <a:cs typeface="Cambria Math"/>
            </a:endParaRPr>
          </a:p>
        </p:txBody>
      </p:sp>
    </p:spTree>
    <p:extLst>
      <p:ext uri="{BB962C8B-B14F-4D97-AF65-F5344CB8AC3E}">
        <p14:creationId xmlns:p14="http://schemas.microsoft.com/office/powerpoint/2010/main" val="2428721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115</a:t>
            </a:fld>
            <a:endParaRPr lang="en-US"/>
          </a:p>
        </p:txBody>
      </p:sp>
      <p:sp>
        <p:nvSpPr>
          <p:cNvPr id="8" name="object 2">
            <a:extLst>
              <a:ext uri="{FF2B5EF4-FFF2-40B4-BE49-F238E27FC236}">
                <a16:creationId xmlns:a16="http://schemas.microsoft.com/office/drawing/2014/main" id="{2B954927-9ACF-1470-8741-89C3866CF838}"/>
              </a:ext>
            </a:extLst>
          </p:cNvPr>
          <p:cNvSpPr txBox="1">
            <a:spLocks/>
          </p:cNvSpPr>
          <p:nvPr/>
        </p:nvSpPr>
        <p:spPr>
          <a:xfrm>
            <a:off x="707390" y="524763"/>
            <a:ext cx="66814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dirty="0">
                <a:ln>
                  <a:noFill/>
                </a:ln>
                <a:solidFill>
                  <a:sysClr val="windowText" lastClr="000000"/>
                </a:solidFill>
                <a:effectLst/>
                <a:uLnTx/>
                <a:uFillTx/>
                <a:latin typeface="Palatino Linotype"/>
                <a:ea typeface="+mj-ea"/>
              </a:rPr>
              <a:t>The</a:t>
            </a:r>
            <a:r>
              <a:rPr kumimoji="0" lang="en-US" sz="40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Use</a:t>
            </a:r>
            <a:r>
              <a:rPr kumimoji="0" lang="en-US" sz="40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of</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 LR(0)</a:t>
            </a:r>
            <a:r>
              <a:rPr kumimoji="0" lang="en-US" sz="4000" b="1" i="0" u="none" strike="noStrike" kern="0" cap="none" spc="-1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Automaton</a:t>
            </a:r>
          </a:p>
        </p:txBody>
      </p:sp>
      <p:sp>
        <p:nvSpPr>
          <p:cNvPr id="9" name="object 3">
            <a:extLst>
              <a:ext uri="{FF2B5EF4-FFF2-40B4-BE49-F238E27FC236}">
                <a16:creationId xmlns:a16="http://schemas.microsoft.com/office/drawing/2014/main" id="{6A690ACF-6647-BE44-EE7C-A25B482ABFBD}"/>
              </a:ext>
            </a:extLst>
          </p:cNvPr>
          <p:cNvSpPr txBox="1"/>
          <p:nvPr/>
        </p:nvSpPr>
        <p:spPr>
          <a:xfrm>
            <a:off x="707391" y="1659635"/>
            <a:ext cx="4136390" cy="3778885"/>
          </a:xfrm>
          <a:prstGeom prst="rect">
            <a:avLst/>
          </a:prstGeom>
        </p:spPr>
        <p:txBody>
          <a:bodyPr vert="horz" wrap="square" lIns="0" tIns="12700" rIns="0" bIns="0" rtlCol="0">
            <a:spAutoFit/>
          </a:bodyPr>
          <a:lstStyle/>
          <a:p>
            <a:pPr marR="41910" algn="ctr" rtl="0">
              <a:spcBef>
                <a:spcPts val="100"/>
              </a:spcBef>
            </a:pPr>
            <a:r>
              <a:rPr sz="2000" b="1" kern="1200" spc="-5" dirty="0">
                <a:solidFill>
                  <a:srgbClr val="FF0000"/>
                </a:solidFill>
                <a:latin typeface="Palatino Linotype"/>
                <a:cs typeface="Palatino Linotype"/>
              </a:rPr>
              <a:t>Helps</a:t>
            </a:r>
            <a:r>
              <a:rPr sz="2000" b="1" kern="1200" spc="-15" dirty="0">
                <a:solidFill>
                  <a:srgbClr val="FF0000"/>
                </a:solidFill>
                <a:latin typeface="Palatino Linotype"/>
                <a:cs typeface="Palatino Linotype"/>
              </a:rPr>
              <a:t> </a:t>
            </a:r>
            <a:r>
              <a:rPr sz="2000" b="1" kern="1200" spc="-5" dirty="0">
                <a:solidFill>
                  <a:srgbClr val="FF0000"/>
                </a:solidFill>
                <a:latin typeface="Palatino Linotype"/>
                <a:cs typeface="Palatino Linotype"/>
              </a:rPr>
              <a:t>make shift-reduce decisions:</a:t>
            </a:r>
            <a:endParaRPr sz="2000" kern="1200" dirty="0">
              <a:solidFill>
                <a:prstClr val="black"/>
              </a:solidFill>
              <a:latin typeface="Palatino Linotype"/>
              <a:cs typeface="Palatino Linotype"/>
            </a:endParaRPr>
          </a:p>
          <a:p>
            <a:pPr rtl="0">
              <a:spcBef>
                <a:spcPts val="45"/>
              </a:spcBef>
            </a:pPr>
            <a:endParaRPr sz="2150" kern="1200" dirty="0">
              <a:solidFill>
                <a:prstClr val="black"/>
              </a:solidFill>
              <a:latin typeface="Palatino Linotype"/>
              <a:cs typeface="Palatino Linotype"/>
            </a:endParaRPr>
          </a:p>
          <a:p>
            <a:pPr marL="243204" marR="5080" indent="-230504" rtl="0">
              <a:lnSpc>
                <a:spcPct val="120600"/>
              </a:lnSpc>
              <a:buFont typeface="Arial MT"/>
              <a:buChar char="•"/>
              <a:tabLst>
                <a:tab pos="242570" algn="l"/>
                <a:tab pos="243204" algn="l"/>
              </a:tabLst>
            </a:pPr>
            <a:r>
              <a:rPr kern="1200" dirty="0">
                <a:solidFill>
                  <a:prstClr val="black"/>
                </a:solidFill>
                <a:latin typeface="Palatino Linotype"/>
                <a:cs typeface="Palatino Linotype"/>
              </a:rPr>
              <a:t>Suppose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string</a:t>
            </a:r>
            <a:r>
              <a:rPr kern="1200" spc="-10" dirty="0">
                <a:solidFill>
                  <a:prstClr val="black"/>
                </a:solidFill>
                <a:latin typeface="Palatino Linotype"/>
                <a:cs typeface="Palatino Linotype"/>
              </a:rPr>
              <a:t> </a:t>
            </a:r>
            <a:r>
              <a:rPr kern="1200" dirty="0">
                <a:solidFill>
                  <a:prstClr val="black"/>
                </a:solidFill>
                <a:latin typeface="Cambria Math"/>
                <a:cs typeface="Cambria Math"/>
              </a:rPr>
              <a:t>𝛾</a:t>
            </a:r>
            <a:r>
              <a:rPr kern="1200" spc="100" dirty="0">
                <a:solidFill>
                  <a:prstClr val="black"/>
                </a:solidFill>
                <a:latin typeface="Cambria Math"/>
                <a:cs typeface="Cambria Math"/>
              </a:rPr>
              <a:t> </a:t>
            </a:r>
            <a:r>
              <a:rPr kern="1200" dirty="0">
                <a:solidFill>
                  <a:prstClr val="black"/>
                </a:solidFill>
                <a:latin typeface="Palatino Linotype"/>
                <a:cs typeface="Palatino Linotype"/>
              </a:rPr>
              <a:t>of</a:t>
            </a:r>
            <a:r>
              <a:rPr kern="1200" spc="-5" dirty="0">
                <a:solidFill>
                  <a:prstClr val="black"/>
                </a:solidFill>
                <a:latin typeface="Palatino Linotype"/>
                <a:cs typeface="Palatino Linotype"/>
              </a:rPr>
              <a:t> </a:t>
            </a:r>
            <a:r>
              <a:rPr kern="1200" spc="-5" dirty="0">
                <a:solidFill>
                  <a:srgbClr val="0432FF"/>
                </a:solidFill>
                <a:latin typeface="Palatino Linotype"/>
                <a:cs typeface="Palatino Linotype"/>
              </a:rPr>
              <a:t>grammar </a:t>
            </a:r>
            <a:r>
              <a:rPr kern="1200" dirty="0">
                <a:solidFill>
                  <a:srgbClr val="0432FF"/>
                </a:solidFill>
                <a:latin typeface="Palatino Linotype"/>
                <a:cs typeface="Palatino Linotype"/>
              </a:rPr>
              <a:t> </a:t>
            </a:r>
            <a:r>
              <a:rPr kern="1200" spc="-5" dirty="0">
                <a:solidFill>
                  <a:srgbClr val="0432FF"/>
                </a:solidFill>
                <a:latin typeface="Palatino Linotype"/>
                <a:cs typeface="Palatino Linotype"/>
              </a:rPr>
              <a:t>symbols </a:t>
            </a:r>
            <a:r>
              <a:rPr kern="1200" spc="-5" dirty="0">
                <a:solidFill>
                  <a:prstClr val="black"/>
                </a:solidFill>
                <a:latin typeface="Palatino Linotype"/>
                <a:cs typeface="Palatino Linotype"/>
              </a:rPr>
              <a:t>takes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automaton </a:t>
            </a:r>
            <a:r>
              <a:rPr kern="1200" dirty="0">
                <a:solidFill>
                  <a:prstClr val="black"/>
                </a:solidFill>
                <a:latin typeface="Palatino Linotype"/>
                <a:cs typeface="Palatino Linotype"/>
              </a:rPr>
              <a:t>from the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start </a:t>
            </a:r>
            <a:r>
              <a:rPr kern="1200" spc="-5" dirty="0">
                <a:solidFill>
                  <a:srgbClr val="FF0000"/>
                </a:solidFill>
                <a:latin typeface="Palatino Linotype"/>
                <a:cs typeface="Palatino Linotype"/>
              </a:rPr>
              <a:t>state</a:t>
            </a:r>
            <a:r>
              <a:rPr kern="1200" dirty="0">
                <a:solidFill>
                  <a:srgbClr val="FF0000"/>
                </a:solidFill>
                <a:latin typeface="Palatino Linotype"/>
                <a:cs typeface="Palatino Linotype"/>
              </a:rPr>
              <a:t> 0</a:t>
            </a:r>
            <a:r>
              <a:rPr kern="1200" spc="-5" dirty="0">
                <a:solidFill>
                  <a:srgbClr val="FF0000"/>
                </a:solidFill>
                <a:latin typeface="Palatino Linotype"/>
                <a:cs typeface="Palatino Linotype"/>
              </a:rPr>
              <a:t> </a:t>
            </a:r>
            <a:r>
              <a:rPr kern="1200" dirty="0">
                <a:solidFill>
                  <a:prstClr val="black"/>
                </a:solidFill>
                <a:latin typeface="Palatino Linotype"/>
                <a:cs typeface="Palatino Linotype"/>
              </a:rPr>
              <a:t>to </a:t>
            </a:r>
            <a:r>
              <a:rPr kern="1200" spc="-5" dirty="0">
                <a:solidFill>
                  <a:prstClr val="black"/>
                </a:solidFill>
                <a:latin typeface="Palatino Linotype"/>
                <a:cs typeface="Palatino Linotype"/>
              </a:rPr>
              <a:t>some </a:t>
            </a:r>
            <a:r>
              <a:rPr kern="1200" spc="-5" dirty="0">
                <a:solidFill>
                  <a:srgbClr val="FF0000"/>
                </a:solidFill>
                <a:latin typeface="Palatino Linotype"/>
                <a:cs typeface="Palatino Linotype"/>
              </a:rPr>
              <a:t>state</a:t>
            </a:r>
            <a:r>
              <a:rPr kern="1200" dirty="0">
                <a:solidFill>
                  <a:srgbClr val="FF0000"/>
                </a:solidFill>
                <a:latin typeface="Palatino Linotype"/>
                <a:cs typeface="Palatino Linotype"/>
              </a:rPr>
              <a:t> </a:t>
            </a:r>
            <a:r>
              <a:rPr kern="1200" dirty="0">
                <a:solidFill>
                  <a:srgbClr val="FF0000"/>
                </a:solidFill>
                <a:latin typeface="Cambria Math"/>
                <a:cs typeface="Cambria Math"/>
              </a:rPr>
              <a:t>𝑗</a:t>
            </a:r>
            <a:endParaRPr kern="1200" dirty="0">
              <a:solidFill>
                <a:prstClr val="black"/>
              </a:solidFill>
              <a:latin typeface="Cambria Math"/>
              <a:cs typeface="Cambria Math"/>
            </a:endParaRPr>
          </a:p>
          <a:p>
            <a:pPr rtl="0">
              <a:spcBef>
                <a:spcPts val="30"/>
              </a:spcBef>
              <a:buFont typeface="Arial MT"/>
              <a:buChar char="•"/>
            </a:pPr>
            <a:endParaRPr sz="2900" kern="1200" dirty="0">
              <a:solidFill>
                <a:prstClr val="black"/>
              </a:solidFill>
              <a:latin typeface="Cambria Math"/>
              <a:cs typeface="Cambria Math"/>
            </a:endParaRPr>
          </a:p>
          <a:p>
            <a:pPr marL="229870" marR="77470" indent="-229870" rtl="0">
              <a:buClr>
                <a:srgbClr val="000000"/>
              </a:buClr>
              <a:buFont typeface="Arial MT"/>
              <a:buChar char="•"/>
              <a:tabLst>
                <a:tab pos="229870" algn="l"/>
                <a:tab pos="243204" algn="l"/>
              </a:tabLst>
            </a:pPr>
            <a:r>
              <a:rPr b="1" kern="1200" dirty="0">
                <a:solidFill>
                  <a:srgbClr val="FF0000"/>
                </a:solidFill>
                <a:latin typeface="Palatino Linotype"/>
                <a:cs typeface="Palatino Linotype"/>
              </a:rPr>
              <a:t>Shift</a:t>
            </a:r>
            <a:r>
              <a:rPr b="1" kern="1200" spc="-15" dirty="0">
                <a:solidFill>
                  <a:srgbClr val="FF0000"/>
                </a:solidFill>
                <a:latin typeface="Palatino Linotype"/>
                <a:cs typeface="Palatino Linotype"/>
              </a:rPr>
              <a:t> </a:t>
            </a:r>
            <a:r>
              <a:rPr kern="1200" dirty="0">
                <a:solidFill>
                  <a:prstClr val="black"/>
                </a:solidFill>
                <a:latin typeface="Palatino Linotype"/>
                <a:cs typeface="Palatino Linotype"/>
              </a:rPr>
              <a:t>on</a:t>
            </a:r>
            <a:r>
              <a:rPr kern="1200" spc="-5" dirty="0">
                <a:solidFill>
                  <a:prstClr val="black"/>
                </a:solidFill>
                <a:latin typeface="Palatino Linotype"/>
                <a:cs typeface="Palatino Linotype"/>
              </a:rPr>
              <a:t> next </a:t>
            </a:r>
            <a:r>
              <a:rPr kern="1200" dirty="0">
                <a:solidFill>
                  <a:srgbClr val="0432FF"/>
                </a:solidFill>
                <a:latin typeface="Palatino Linotype"/>
                <a:cs typeface="Palatino Linotype"/>
              </a:rPr>
              <a:t>input</a:t>
            </a:r>
            <a:r>
              <a:rPr kern="1200" spc="-5" dirty="0">
                <a:solidFill>
                  <a:srgbClr val="0432FF"/>
                </a:solidFill>
                <a:latin typeface="Palatino Linotype"/>
                <a:cs typeface="Palatino Linotype"/>
              </a:rPr>
              <a:t> symbol </a:t>
            </a:r>
            <a:r>
              <a:rPr kern="1200" dirty="0">
                <a:solidFill>
                  <a:srgbClr val="FF0000"/>
                </a:solidFill>
                <a:latin typeface="Cambria Math"/>
                <a:cs typeface="Cambria Math"/>
              </a:rPr>
              <a:t>𝑎</a:t>
            </a:r>
            <a:r>
              <a:rPr kern="1200" spc="85" dirty="0">
                <a:solidFill>
                  <a:srgbClr val="FF0000"/>
                </a:solidFill>
                <a:latin typeface="Cambria Math"/>
                <a:cs typeface="Cambria Math"/>
              </a:rPr>
              <a:t> </a:t>
            </a:r>
            <a:r>
              <a:rPr kern="1200" dirty="0">
                <a:solidFill>
                  <a:prstClr val="black"/>
                </a:solidFill>
                <a:latin typeface="Palatino Linotype"/>
                <a:cs typeface="Palatino Linotype"/>
              </a:rPr>
              <a:t>if</a:t>
            </a:r>
            <a:r>
              <a:rPr kern="1200" spc="-5" dirty="0">
                <a:solidFill>
                  <a:prstClr val="black"/>
                </a:solidFill>
                <a:latin typeface="Palatino Linotype"/>
                <a:cs typeface="Palatino Linotype"/>
              </a:rPr>
              <a:t> </a:t>
            </a:r>
            <a:r>
              <a:rPr kern="1200" spc="-5" dirty="0">
                <a:solidFill>
                  <a:srgbClr val="FF0000"/>
                </a:solidFill>
                <a:latin typeface="Palatino Linotype"/>
                <a:cs typeface="Palatino Linotype"/>
              </a:rPr>
              <a:t>state </a:t>
            </a:r>
            <a:r>
              <a:rPr kern="1200" dirty="0">
                <a:solidFill>
                  <a:srgbClr val="FF0000"/>
                </a:solidFill>
                <a:latin typeface="Cambria Math"/>
                <a:cs typeface="Cambria Math"/>
              </a:rPr>
              <a:t>𝑗</a:t>
            </a:r>
            <a:endParaRPr kern="1200" dirty="0">
              <a:solidFill>
                <a:prstClr val="black"/>
              </a:solidFill>
              <a:latin typeface="Cambria Math"/>
              <a:cs typeface="Cambria Math"/>
            </a:endParaRPr>
          </a:p>
          <a:p>
            <a:pPr marL="243204" rtl="0">
              <a:spcBef>
                <a:spcPts val="434"/>
              </a:spcBef>
            </a:pPr>
            <a:r>
              <a:rPr kern="1200" dirty="0">
                <a:solidFill>
                  <a:srgbClr val="FF0000"/>
                </a:solidFill>
                <a:latin typeface="Palatino Linotype"/>
                <a:cs typeface="Palatino Linotype"/>
              </a:rPr>
              <a:t>has</a:t>
            </a:r>
            <a:r>
              <a:rPr kern="1200" spc="-20" dirty="0">
                <a:solidFill>
                  <a:srgbClr val="FF0000"/>
                </a:solidFill>
                <a:latin typeface="Palatino Linotype"/>
                <a:cs typeface="Palatino Linotype"/>
              </a:rPr>
              <a:t> </a:t>
            </a:r>
            <a:r>
              <a:rPr kern="1200" dirty="0">
                <a:solidFill>
                  <a:srgbClr val="FF0000"/>
                </a:solidFill>
                <a:latin typeface="Palatino Linotype"/>
                <a:cs typeface="Palatino Linotype"/>
              </a:rPr>
              <a:t>a</a:t>
            </a:r>
            <a:r>
              <a:rPr kern="1200" spc="-10" dirty="0">
                <a:solidFill>
                  <a:srgbClr val="FF0000"/>
                </a:solidFill>
                <a:latin typeface="Palatino Linotype"/>
                <a:cs typeface="Palatino Linotype"/>
              </a:rPr>
              <a:t> </a:t>
            </a:r>
            <a:r>
              <a:rPr kern="1200" spc="-5" dirty="0">
                <a:solidFill>
                  <a:srgbClr val="FF0000"/>
                </a:solidFill>
                <a:latin typeface="Palatino Linotype"/>
                <a:cs typeface="Palatino Linotype"/>
              </a:rPr>
              <a:t>transition</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on</a:t>
            </a:r>
            <a:r>
              <a:rPr kern="1200" spc="-10" dirty="0">
                <a:solidFill>
                  <a:srgbClr val="FF0000"/>
                </a:solidFill>
                <a:latin typeface="Palatino Linotype"/>
                <a:cs typeface="Palatino Linotype"/>
              </a:rPr>
              <a:t> </a:t>
            </a:r>
            <a:r>
              <a:rPr kern="1200" dirty="0">
                <a:solidFill>
                  <a:srgbClr val="FF0000"/>
                </a:solidFill>
                <a:latin typeface="Cambria Math"/>
                <a:cs typeface="Cambria Math"/>
              </a:rPr>
              <a:t>𝑎</a:t>
            </a:r>
            <a:endParaRPr kern="1200" dirty="0">
              <a:solidFill>
                <a:prstClr val="black"/>
              </a:solidFill>
              <a:latin typeface="Cambria Math"/>
              <a:cs typeface="Cambria Math"/>
            </a:endParaRPr>
          </a:p>
          <a:p>
            <a:pPr rtl="0">
              <a:spcBef>
                <a:spcPts val="55"/>
              </a:spcBef>
            </a:pPr>
            <a:endParaRPr sz="2900" kern="1200" dirty="0">
              <a:solidFill>
                <a:prstClr val="black"/>
              </a:solidFill>
              <a:latin typeface="Cambria Math"/>
              <a:cs typeface="Cambria Math"/>
            </a:endParaRPr>
          </a:p>
          <a:p>
            <a:pPr marL="229870" marR="46355" indent="-229870" rtl="0">
              <a:buFont typeface="Arial MT"/>
              <a:buChar char="•"/>
              <a:tabLst>
                <a:tab pos="229870" algn="l"/>
                <a:tab pos="243204" algn="l"/>
              </a:tabLst>
            </a:pPr>
            <a:r>
              <a:rPr kern="1200" spc="-5" dirty="0">
                <a:solidFill>
                  <a:prstClr val="black"/>
                </a:solidFill>
                <a:latin typeface="Palatino Linotype"/>
                <a:cs typeface="Palatino Linotype"/>
              </a:rPr>
              <a:t>Otherwise,</a:t>
            </a:r>
            <a:r>
              <a:rPr kern="1200" dirty="0">
                <a:solidFill>
                  <a:prstClr val="black"/>
                </a:solidFill>
                <a:latin typeface="Palatino Linotype"/>
                <a:cs typeface="Palatino Linotype"/>
              </a:rPr>
              <a:t> </a:t>
            </a:r>
            <a:r>
              <a:rPr b="1" kern="1200" spc="-5" dirty="0">
                <a:solidFill>
                  <a:srgbClr val="FF0000"/>
                </a:solidFill>
                <a:latin typeface="Palatino Linotype"/>
                <a:cs typeface="Palatino Linotype"/>
              </a:rPr>
              <a:t>reduce</a:t>
            </a:r>
            <a:r>
              <a:rPr kern="1200" spc="-5" dirty="0">
                <a:solidFill>
                  <a:prstClr val="black"/>
                </a:solidFill>
                <a:latin typeface="Palatino Linotype"/>
                <a:cs typeface="Palatino Linotype"/>
              </a:rPr>
              <a:t>;</a:t>
            </a:r>
            <a:r>
              <a:rPr kern="1200" dirty="0">
                <a:solidFill>
                  <a:prstClr val="black"/>
                </a:solidFill>
                <a:latin typeface="Palatino Linotype"/>
                <a:cs typeface="Palatino Linotype"/>
              </a:rPr>
              <a:t> the </a:t>
            </a:r>
            <a:r>
              <a:rPr kern="1200" spc="-5" dirty="0">
                <a:solidFill>
                  <a:prstClr val="black"/>
                </a:solidFill>
                <a:latin typeface="Palatino Linotype"/>
                <a:cs typeface="Palatino Linotype"/>
              </a:rPr>
              <a:t>items </a:t>
            </a:r>
            <a:r>
              <a:rPr kern="1200" dirty="0">
                <a:solidFill>
                  <a:prstClr val="black"/>
                </a:solidFill>
                <a:latin typeface="Palatino Linotype"/>
                <a:cs typeface="Palatino Linotype"/>
              </a:rPr>
              <a:t>in </a:t>
            </a:r>
            <a:r>
              <a:rPr kern="1200" spc="-5" dirty="0">
                <a:solidFill>
                  <a:prstClr val="black"/>
                </a:solidFill>
                <a:latin typeface="Palatino Linotype"/>
                <a:cs typeface="Palatino Linotype"/>
              </a:rPr>
              <a:t>state </a:t>
            </a:r>
            <a:r>
              <a:rPr kern="1200" dirty="0">
                <a:solidFill>
                  <a:prstClr val="black"/>
                </a:solidFill>
                <a:latin typeface="Cambria Math"/>
                <a:cs typeface="Cambria Math"/>
              </a:rPr>
              <a:t>𝑗</a:t>
            </a:r>
          </a:p>
          <a:p>
            <a:pPr marR="52069" algn="ctr" rtl="0">
              <a:spcBef>
                <a:spcPts val="430"/>
              </a:spcBef>
            </a:pPr>
            <a:r>
              <a:rPr kern="1200" spc="-5" dirty="0">
                <a:solidFill>
                  <a:prstClr val="black"/>
                </a:solidFill>
                <a:latin typeface="Palatino Linotype"/>
                <a:cs typeface="Palatino Linotype"/>
              </a:rPr>
              <a:t>will</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tell</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us</a:t>
            </a:r>
            <a:r>
              <a:rPr kern="1200" spc="-15" dirty="0">
                <a:solidFill>
                  <a:prstClr val="black"/>
                </a:solidFill>
                <a:latin typeface="Palatino Linotype"/>
                <a:cs typeface="Palatino Linotype"/>
              </a:rPr>
              <a:t> </a:t>
            </a:r>
            <a:r>
              <a:rPr kern="1200" spc="-5" dirty="0">
                <a:solidFill>
                  <a:prstClr val="black"/>
                </a:solidFill>
                <a:latin typeface="Palatino Linotype"/>
                <a:cs typeface="Palatino Linotype"/>
              </a:rPr>
              <a:t>which </a:t>
            </a:r>
            <a:r>
              <a:rPr kern="1200" dirty="0">
                <a:solidFill>
                  <a:prstClr val="black"/>
                </a:solidFill>
                <a:latin typeface="Palatino Linotype"/>
                <a:cs typeface="Palatino Linotype"/>
              </a:rPr>
              <a:t>production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to</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use</a:t>
            </a:r>
            <a:endParaRPr kern="1200" dirty="0">
              <a:solidFill>
                <a:prstClr val="black"/>
              </a:solidFill>
              <a:latin typeface="Palatino Linotype"/>
              <a:cs typeface="Palatino Linotype"/>
            </a:endParaRPr>
          </a:p>
        </p:txBody>
      </p:sp>
      <p:pic>
        <p:nvPicPr>
          <p:cNvPr id="10" name="object 4">
            <a:extLst>
              <a:ext uri="{FF2B5EF4-FFF2-40B4-BE49-F238E27FC236}">
                <a16:creationId xmlns:a16="http://schemas.microsoft.com/office/drawing/2014/main" id="{7237DEF7-72AB-8254-8098-F1EECFCA0AAE}"/>
              </a:ext>
            </a:extLst>
          </p:cNvPr>
          <p:cNvPicPr/>
          <p:nvPr/>
        </p:nvPicPr>
        <p:blipFill>
          <a:blip r:embed="rId3" cstate="print"/>
          <a:stretch>
            <a:fillRect/>
          </a:stretch>
        </p:blipFill>
        <p:spPr>
          <a:xfrm>
            <a:off x="5145394" y="1676281"/>
            <a:ext cx="3702446" cy="3921143"/>
          </a:xfrm>
          <a:prstGeom prst="rect">
            <a:avLst/>
          </a:prstGeom>
        </p:spPr>
      </p:pic>
    </p:spTree>
    <p:extLst>
      <p:ext uri="{BB962C8B-B14F-4D97-AF65-F5344CB8AC3E}">
        <p14:creationId xmlns:p14="http://schemas.microsoft.com/office/powerpoint/2010/main" val="9192104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116</a:t>
            </a:fld>
            <a:endParaRPr lang="en-US"/>
          </a:p>
        </p:txBody>
      </p:sp>
      <p:sp>
        <p:nvSpPr>
          <p:cNvPr id="8" name="object 2">
            <a:extLst>
              <a:ext uri="{FF2B5EF4-FFF2-40B4-BE49-F238E27FC236}">
                <a16:creationId xmlns:a16="http://schemas.microsoft.com/office/drawing/2014/main" id="{7F14513E-7D28-89E0-8043-C80F008E2E4A}"/>
              </a:ext>
            </a:extLst>
          </p:cNvPr>
          <p:cNvSpPr txBox="1">
            <a:spLocks/>
          </p:cNvSpPr>
          <p:nvPr/>
        </p:nvSpPr>
        <p:spPr>
          <a:xfrm>
            <a:off x="707390" y="524763"/>
            <a:ext cx="651192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tab pos="4846320" algn="l"/>
                <a:tab pos="5316855" algn="l"/>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0" i="0" u="none" strike="noStrike" kern="0" cap="none" spc="-5" normalizeH="0" baseline="0" noProof="0">
                <a:ln>
                  <a:noFill/>
                </a:ln>
                <a:solidFill>
                  <a:srgbClr val="0432FF"/>
                </a:solidFill>
                <a:effectLst/>
                <a:uLnTx/>
                <a:uFillTx/>
                <a:latin typeface="Cambria Math"/>
                <a:ea typeface="+mj-ea"/>
                <a:cs typeface="Cambria Math"/>
              </a:rPr>
              <a:t>𝐢𝐝	</a:t>
            </a:r>
            <a:r>
              <a:rPr kumimoji="0" lang="en-US" sz="4000" b="0" i="0" u="none" strike="noStrike" kern="0" cap="none" spc="0" normalizeH="0" baseline="0" noProof="0">
                <a:ln>
                  <a:noFill/>
                </a:ln>
                <a:solidFill>
                  <a:srgbClr val="0432FF"/>
                </a:solidFill>
                <a:effectLst/>
                <a:uLnTx/>
                <a:uFillTx/>
                <a:latin typeface="Cambria Math"/>
                <a:ea typeface="+mj-ea"/>
                <a:cs typeface="Cambria Math"/>
              </a:rPr>
              <a:t>∗	</a:t>
            </a:r>
            <a:r>
              <a:rPr kumimoji="0" lang="en-US" sz="4000" b="0" i="0" u="none" strike="noStrike" kern="0" cap="none" spc="-5" normalizeH="0" baseline="0" noProof="0">
                <a:ln>
                  <a:noFill/>
                </a:ln>
                <a:solidFill>
                  <a:srgbClr val="0432FF"/>
                </a:solidFill>
                <a:effectLst/>
                <a:uLnTx/>
                <a:uFillTx/>
                <a:latin typeface="Cambria Math"/>
                <a:ea typeface="+mj-ea"/>
                <a:cs typeface="Cambria Math"/>
              </a:rPr>
              <a:t>𝐢𝐝</a:t>
            </a:r>
            <a:r>
              <a:rPr kumimoji="0" lang="en-US" sz="4000" b="0" i="0" u="none" strike="noStrike" kern="0" cap="none" spc="-85" normalizeH="0" baseline="0" noProof="0">
                <a:ln>
                  <a:noFill/>
                </a:ln>
                <a:solidFill>
                  <a:srgbClr val="0432FF"/>
                </a:solidFill>
                <a:effectLst/>
                <a:uLnTx/>
                <a:uFillTx/>
                <a:latin typeface="Cambria Math"/>
                <a:ea typeface="+mj-ea"/>
                <a:cs typeface="Cambria Math"/>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(1)</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21177DFB-B1BB-51E7-C135-C6384402E120}"/>
              </a:ext>
            </a:extLst>
          </p:cNvPr>
          <p:cNvSpPr txBox="1"/>
          <p:nvPr/>
        </p:nvSpPr>
        <p:spPr>
          <a:xfrm>
            <a:off x="707390" y="1600708"/>
            <a:ext cx="7399655" cy="812165"/>
          </a:xfrm>
          <a:prstGeom prst="rect">
            <a:avLst/>
          </a:prstGeom>
        </p:spPr>
        <p:txBody>
          <a:bodyPr vert="horz" wrap="square" lIns="0" tIns="12700" rIns="0" bIns="0" rtlCol="0">
            <a:spAutoFit/>
          </a:bodyPr>
          <a:lstStyle/>
          <a:p>
            <a:pPr marL="242570" marR="5080" indent="-230504" rtl="0">
              <a:lnSpc>
                <a:spcPct val="117300"/>
              </a:lnSpc>
              <a:spcBef>
                <a:spcPts val="100"/>
              </a:spcBef>
              <a:buFont typeface="Arial MT"/>
              <a:buChar char="•"/>
              <a:tabLst>
                <a:tab pos="242570" algn="l"/>
                <a:tab pos="243204" algn="l"/>
              </a:tabLst>
            </a:pPr>
            <a:r>
              <a:rPr sz="2200" kern="1200" spc="-75" dirty="0">
                <a:solidFill>
                  <a:prstClr val="black"/>
                </a:solidFill>
                <a:latin typeface="Palatino Linotype"/>
                <a:cs typeface="Palatino Linotype"/>
              </a:rPr>
              <a:t>We</a:t>
            </a:r>
            <a:r>
              <a:rPr sz="2200" kern="1200" spc="-5" dirty="0">
                <a:solidFill>
                  <a:prstClr val="black"/>
                </a:solidFill>
                <a:latin typeface="Palatino Linotype"/>
                <a:cs typeface="Palatino Linotype"/>
              </a:rPr>
              <a:t> only</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keep</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states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in the stack;</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grammar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symbols</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can</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be </a:t>
            </a:r>
            <a:r>
              <a:rPr sz="2200" kern="1200" spc="-535" dirty="0">
                <a:solidFill>
                  <a:prstClr val="black"/>
                </a:solidFill>
                <a:latin typeface="Palatino Linotype"/>
                <a:cs typeface="Palatino Linotype"/>
              </a:rPr>
              <a:t> </a:t>
            </a:r>
            <a:r>
              <a:rPr sz="2200" kern="1200" spc="-10" dirty="0">
                <a:solidFill>
                  <a:prstClr val="black"/>
                </a:solidFill>
                <a:latin typeface="Palatino Linotype"/>
                <a:cs typeface="Palatino Linotype"/>
              </a:rPr>
              <a:t>recovered</a:t>
            </a:r>
            <a:r>
              <a:rPr sz="2200" kern="1200" dirty="0">
                <a:solidFill>
                  <a:prstClr val="black"/>
                </a:solidFill>
                <a:latin typeface="Palatino Linotype"/>
                <a:cs typeface="Palatino Linotype"/>
              </a:rPr>
              <a:t> from</a:t>
            </a:r>
            <a:r>
              <a:rPr sz="2200" kern="1200" spc="-5" dirty="0">
                <a:solidFill>
                  <a:prstClr val="black"/>
                </a:solidFill>
                <a:latin typeface="Palatino Linotype"/>
                <a:cs typeface="Palatino Linotype"/>
              </a:rPr>
              <a:t> the states</a:t>
            </a:r>
            <a:endParaRPr sz="2200" kern="1200">
              <a:solidFill>
                <a:prstClr val="black"/>
              </a:solidFill>
              <a:latin typeface="Palatino Linotype"/>
              <a:cs typeface="Palatino Linotype"/>
            </a:endParaRPr>
          </a:p>
        </p:txBody>
      </p:sp>
      <p:pic>
        <p:nvPicPr>
          <p:cNvPr id="10" name="object 4">
            <a:extLst>
              <a:ext uri="{FF2B5EF4-FFF2-40B4-BE49-F238E27FC236}">
                <a16:creationId xmlns:a16="http://schemas.microsoft.com/office/drawing/2014/main" id="{44738436-BC24-E027-17AC-65F473B9C12C}"/>
              </a:ext>
            </a:extLst>
          </p:cNvPr>
          <p:cNvPicPr/>
          <p:nvPr/>
        </p:nvPicPr>
        <p:blipFill>
          <a:blip r:embed="rId3" cstate="print"/>
          <a:stretch>
            <a:fillRect/>
          </a:stretch>
        </p:blipFill>
        <p:spPr>
          <a:xfrm>
            <a:off x="1400301" y="2839844"/>
            <a:ext cx="6348169" cy="2878155"/>
          </a:xfrm>
          <a:prstGeom prst="rect">
            <a:avLst/>
          </a:prstGeom>
        </p:spPr>
      </p:pic>
    </p:spTree>
    <p:extLst>
      <p:ext uri="{BB962C8B-B14F-4D97-AF65-F5344CB8AC3E}">
        <p14:creationId xmlns:p14="http://schemas.microsoft.com/office/powerpoint/2010/main" val="19447943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4" name="object 2">
            <a:extLst>
              <a:ext uri="{FF2B5EF4-FFF2-40B4-BE49-F238E27FC236}">
                <a16:creationId xmlns:a16="http://schemas.microsoft.com/office/drawing/2014/main" id="{75896088-D412-0DFA-5052-BAE0AC8BDBE9}"/>
              </a:ext>
            </a:extLst>
          </p:cNvPr>
          <p:cNvGrpSpPr/>
          <p:nvPr/>
        </p:nvGrpSpPr>
        <p:grpSpPr>
          <a:xfrm>
            <a:off x="862558" y="2536884"/>
            <a:ext cx="3887340" cy="4117958"/>
            <a:chOff x="862558" y="2536884"/>
            <a:chExt cx="3887340" cy="4117958"/>
          </a:xfrm>
        </p:grpSpPr>
        <p:pic>
          <p:nvPicPr>
            <p:cNvPr id="15" name="object 3">
              <a:extLst>
                <a:ext uri="{FF2B5EF4-FFF2-40B4-BE49-F238E27FC236}">
                  <a16:creationId xmlns:a16="http://schemas.microsoft.com/office/drawing/2014/main" id="{090913D0-1696-AECE-B124-C6A6C9885A81}"/>
                </a:ext>
              </a:extLst>
            </p:cNvPr>
            <p:cNvPicPr/>
            <p:nvPr/>
          </p:nvPicPr>
          <p:blipFill>
            <a:blip r:embed="rId3" cstate="print"/>
            <a:stretch>
              <a:fillRect/>
            </a:stretch>
          </p:blipFill>
          <p:spPr>
            <a:xfrm>
              <a:off x="862558" y="2536884"/>
              <a:ext cx="3887340" cy="4117958"/>
            </a:xfrm>
            <a:prstGeom prst="rect">
              <a:avLst/>
            </a:prstGeom>
          </p:spPr>
        </p:pic>
        <p:sp>
          <p:nvSpPr>
            <p:cNvPr id="16" name="object 4">
              <a:extLst>
                <a:ext uri="{FF2B5EF4-FFF2-40B4-BE49-F238E27FC236}">
                  <a16:creationId xmlns:a16="http://schemas.microsoft.com/office/drawing/2014/main" id="{7DB77BED-F616-00DB-FBF7-EFFB95D6DB5B}"/>
                </a:ext>
              </a:extLst>
            </p:cNvPr>
            <p:cNvSpPr/>
            <p:nvPr/>
          </p:nvSpPr>
          <p:spPr>
            <a:xfrm>
              <a:off x="1936376" y="4229100"/>
              <a:ext cx="652183" cy="310377"/>
            </a:xfrm>
            <a:custGeom>
              <a:avLst/>
              <a:gdLst/>
              <a:ahLst/>
              <a:cxnLst/>
              <a:rect l="l" t="t" r="r" b="b"/>
              <a:pathLst>
                <a:path w="890269" h="511175">
                  <a:moveTo>
                    <a:pt x="0" y="0"/>
                  </a:moveTo>
                  <a:lnTo>
                    <a:pt x="890201" y="0"/>
                  </a:lnTo>
                  <a:lnTo>
                    <a:pt x="890201" y="510746"/>
                  </a:lnTo>
                  <a:lnTo>
                    <a:pt x="0" y="510746"/>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117</a:t>
            </a:fld>
            <a:endParaRPr lang="en-US"/>
          </a:p>
        </p:txBody>
      </p:sp>
      <p:sp>
        <p:nvSpPr>
          <p:cNvPr id="17" name="object 5">
            <a:extLst>
              <a:ext uri="{FF2B5EF4-FFF2-40B4-BE49-F238E27FC236}">
                <a16:creationId xmlns:a16="http://schemas.microsoft.com/office/drawing/2014/main" id="{A642EA2D-CC97-62BD-FDD9-4FA8D8E0A7E8}"/>
              </a:ext>
            </a:extLst>
          </p:cNvPr>
          <p:cNvSpPr txBox="1">
            <a:spLocks/>
          </p:cNvSpPr>
          <p:nvPr/>
        </p:nvSpPr>
        <p:spPr>
          <a:xfrm>
            <a:off x="707390" y="524763"/>
            <a:ext cx="651192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tab pos="4846320" algn="l"/>
                <a:tab pos="5316855" algn="l"/>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0" i="0" u="none" strike="noStrike" kern="0" cap="none" spc="-5" normalizeH="0" baseline="0" noProof="0">
                <a:ln>
                  <a:noFill/>
                </a:ln>
                <a:solidFill>
                  <a:srgbClr val="0432FF"/>
                </a:solidFill>
                <a:effectLst/>
                <a:uLnTx/>
                <a:uFillTx/>
                <a:latin typeface="Cambria Math"/>
                <a:ea typeface="+mj-ea"/>
                <a:cs typeface="Cambria Math"/>
              </a:rPr>
              <a:t>𝐢𝐝	</a:t>
            </a:r>
            <a:r>
              <a:rPr kumimoji="0" lang="en-US" sz="4000" b="0" i="0" u="none" strike="noStrike" kern="0" cap="none" spc="0" normalizeH="0" baseline="0" noProof="0">
                <a:ln>
                  <a:noFill/>
                </a:ln>
                <a:solidFill>
                  <a:srgbClr val="0432FF"/>
                </a:solidFill>
                <a:effectLst/>
                <a:uLnTx/>
                <a:uFillTx/>
                <a:latin typeface="Cambria Math"/>
                <a:ea typeface="+mj-ea"/>
                <a:cs typeface="Cambria Math"/>
              </a:rPr>
              <a:t>∗	</a:t>
            </a:r>
            <a:r>
              <a:rPr kumimoji="0" lang="en-US" sz="4000" b="0" i="0" u="none" strike="noStrike" kern="0" cap="none" spc="-5" normalizeH="0" baseline="0" noProof="0">
                <a:ln>
                  <a:noFill/>
                </a:ln>
                <a:solidFill>
                  <a:srgbClr val="0432FF"/>
                </a:solidFill>
                <a:effectLst/>
                <a:uLnTx/>
                <a:uFillTx/>
                <a:latin typeface="Cambria Math"/>
                <a:ea typeface="+mj-ea"/>
                <a:cs typeface="Cambria Math"/>
              </a:rPr>
              <a:t>𝐢𝐝</a:t>
            </a:r>
            <a:r>
              <a:rPr kumimoji="0" lang="en-US" sz="4000" b="0" i="0" u="none" strike="noStrike" kern="0" cap="none" spc="-85" normalizeH="0" baseline="0" noProof="0">
                <a:ln>
                  <a:noFill/>
                </a:ln>
                <a:solidFill>
                  <a:srgbClr val="0432FF"/>
                </a:solidFill>
                <a:effectLst/>
                <a:uLnTx/>
                <a:uFillTx/>
                <a:latin typeface="Cambria Math"/>
                <a:ea typeface="+mj-ea"/>
                <a:cs typeface="Cambria Math"/>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(2)</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grpSp>
        <p:nvGrpSpPr>
          <p:cNvPr id="18" name="object 6">
            <a:extLst>
              <a:ext uri="{FF2B5EF4-FFF2-40B4-BE49-F238E27FC236}">
                <a16:creationId xmlns:a16="http://schemas.microsoft.com/office/drawing/2014/main" id="{3A5B32F4-B996-934D-387B-ACCCE46EBAAE}"/>
              </a:ext>
            </a:extLst>
          </p:cNvPr>
          <p:cNvGrpSpPr/>
          <p:nvPr/>
        </p:nvGrpSpPr>
        <p:grpSpPr>
          <a:xfrm>
            <a:off x="741661" y="1297915"/>
            <a:ext cx="7840980" cy="2117725"/>
            <a:chOff x="741661" y="1297915"/>
            <a:chExt cx="7840980" cy="2117725"/>
          </a:xfrm>
        </p:grpSpPr>
        <p:pic>
          <p:nvPicPr>
            <p:cNvPr id="19" name="object 7">
              <a:extLst>
                <a:ext uri="{FF2B5EF4-FFF2-40B4-BE49-F238E27FC236}">
                  <a16:creationId xmlns:a16="http://schemas.microsoft.com/office/drawing/2014/main" id="{7D4A5B38-A097-DE7A-A032-2C52F58E14D2}"/>
                </a:ext>
              </a:extLst>
            </p:cNvPr>
            <p:cNvPicPr/>
            <p:nvPr/>
          </p:nvPicPr>
          <p:blipFill>
            <a:blip r:embed="rId4" cstate="print"/>
            <a:stretch>
              <a:fillRect/>
            </a:stretch>
          </p:blipFill>
          <p:spPr>
            <a:xfrm>
              <a:off x="741661" y="1404552"/>
              <a:ext cx="6457950" cy="952183"/>
            </a:xfrm>
            <a:prstGeom prst="rect">
              <a:avLst/>
            </a:prstGeom>
          </p:spPr>
        </p:pic>
        <p:pic>
          <p:nvPicPr>
            <p:cNvPr id="20" name="object 8">
              <a:extLst>
                <a:ext uri="{FF2B5EF4-FFF2-40B4-BE49-F238E27FC236}">
                  <a16:creationId xmlns:a16="http://schemas.microsoft.com/office/drawing/2014/main" id="{2E04C8EB-5351-6E2F-038D-D9B638164097}"/>
                </a:ext>
              </a:extLst>
            </p:cNvPr>
            <p:cNvPicPr/>
            <p:nvPr/>
          </p:nvPicPr>
          <p:blipFill>
            <a:blip r:embed="rId5" cstate="print"/>
            <a:stretch>
              <a:fillRect/>
            </a:stretch>
          </p:blipFill>
          <p:spPr>
            <a:xfrm>
              <a:off x="7306552" y="1479608"/>
              <a:ext cx="1247905" cy="1861275"/>
            </a:xfrm>
            <a:prstGeom prst="rect">
              <a:avLst/>
            </a:prstGeom>
          </p:spPr>
        </p:pic>
        <p:sp>
          <p:nvSpPr>
            <p:cNvPr id="21" name="object 9">
              <a:extLst>
                <a:ext uri="{FF2B5EF4-FFF2-40B4-BE49-F238E27FC236}">
                  <a16:creationId xmlns:a16="http://schemas.microsoft.com/office/drawing/2014/main" id="{3FCA55A6-E927-E459-3BD5-55D6DCEC2347}"/>
                </a:ext>
              </a:extLst>
            </p:cNvPr>
            <p:cNvSpPr/>
            <p:nvPr/>
          </p:nvSpPr>
          <p:spPr>
            <a:xfrm>
              <a:off x="7209009" y="1302678"/>
              <a:ext cx="1369060" cy="2108200"/>
            </a:xfrm>
            <a:custGeom>
              <a:avLst/>
              <a:gdLst/>
              <a:ahLst/>
              <a:cxnLst/>
              <a:rect l="l" t="t" r="r" b="b"/>
              <a:pathLst>
                <a:path w="1369059" h="2108200">
                  <a:moveTo>
                    <a:pt x="0" y="0"/>
                  </a:moveTo>
                  <a:lnTo>
                    <a:pt x="1368768" y="0"/>
                  </a:lnTo>
                  <a:lnTo>
                    <a:pt x="1368768" y="2108114"/>
                  </a:lnTo>
                  <a:lnTo>
                    <a:pt x="0" y="2108114"/>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2" name="object 10">
            <a:extLst>
              <a:ext uri="{FF2B5EF4-FFF2-40B4-BE49-F238E27FC236}">
                <a16:creationId xmlns:a16="http://schemas.microsoft.com/office/drawing/2014/main" id="{DC4DA021-4484-C946-F590-27ABE29E68E6}"/>
              </a:ext>
            </a:extLst>
          </p:cNvPr>
          <p:cNvSpPr txBox="1"/>
          <p:nvPr/>
        </p:nvSpPr>
        <p:spPr>
          <a:xfrm>
            <a:off x="5084340" y="3590035"/>
            <a:ext cx="3562350" cy="2654935"/>
          </a:xfrm>
          <a:prstGeom prst="rect">
            <a:avLst/>
          </a:prstGeom>
        </p:spPr>
        <p:txBody>
          <a:bodyPr vert="horz" wrap="square" lIns="0" tIns="28575" rIns="0" bIns="0" rtlCol="0">
            <a:spAutoFit/>
          </a:bodyPr>
          <a:lstStyle/>
          <a:p>
            <a:pPr marL="38100" marR="30480" rtl="0">
              <a:lnSpc>
                <a:spcPts val="2090"/>
              </a:lnSpc>
              <a:spcBef>
                <a:spcPts val="225"/>
              </a:spcBef>
            </a:pPr>
            <a:r>
              <a:rPr b="1" kern="1200" spc="-5" dirty="0">
                <a:solidFill>
                  <a:srgbClr val="FF0000"/>
                </a:solidFill>
                <a:latin typeface="Palatino Linotype"/>
                <a:cs typeface="Palatino Linotype"/>
              </a:rPr>
              <a:t>Line </a:t>
            </a:r>
            <a:r>
              <a:rPr b="1" kern="1200" dirty="0">
                <a:solidFill>
                  <a:srgbClr val="FF0000"/>
                </a:solidFill>
                <a:latin typeface="Palatino Linotype"/>
                <a:cs typeface="Palatino Linotype"/>
              </a:rPr>
              <a:t>2: </a:t>
            </a:r>
            <a:r>
              <a:rPr kern="1200" dirty="0">
                <a:solidFill>
                  <a:srgbClr val="FF0000"/>
                </a:solidFill>
                <a:latin typeface="Palatino Linotype"/>
                <a:cs typeface="Palatino Linotype"/>
              </a:rPr>
              <a:t>State 5 has no </a:t>
            </a:r>
            <a:r>
              <a:rPr kern="1200" spc="-5" dirty="0">
                <a:solidFill>
                  <a:srgbClr val="FF0000"/>
                </a:solidFill>
                <a:latin typeface="Palatino Linotype"/>
                <a:cs typeface="Palatino Linotype"/>
              </a:rPr>
              <a:t>transition </a:t>
            </a:r>
            <a:r>
              <a:rPr kern="1200" dirty="0">
                <a:solidFill>
                  <a:srgbClr val="FF0000"/>
                </a:solidFill>
                <a:latin typeface="Palatino Linotype"/>
                <a:cs typeface="Palatino Linotype"/>
              </a:rPr>
              <a:t>on </a:t>
            </a:r>
            <a:r>
              <a:rPr kern="1200" spc="-434" dirty="0">
                <a:solidFill>
                  <a:srgbClr val="FF0000"/>
                </a:solidFill>
                <a:latin typeface="Palatino Linotype"/>
                <a:cs typeface="Palatino Linotype"/>
              </a:rPr>
              <a:t> </a:t>
            </a:r>
            <a:r>
              <a:rPr kern="1200" dirty="0">
                <a:solidFill>
                  <a:srgbClr val="FF0000"/>
                </a:solidFill>
                <a:latin typeface="Palatino Linotype"/>
                <a:cs typeface="Palatino Linotype"/>
              </a:rPr>
              <a:t>input</a:t>
            </a:r>
            <a:r>
              <a:rPr kern="1200" spc="-5" dirty="0">
                <a:solidFill>
                  <a:srgbClr val="FF0000"/>
                </a:solidFill>
                <a:latin typeface="Palatino Linotype"/>
                <a:cs typeface="Palatino Linotype"/>
              </a:rPr>
              <a:t> symbol </a:t>
            </a:r>
            <a:r>
              <a:rPr kern="1200" dirty="0">
                <a:solidFill>
                  <a:srgbClr val="FF0000"/>
                </a:solidFill>
                <a:latin typeface="Cambria Math"/>
                <a:cs typeface="Cambria Math"/>
              </a:rPr>
              <a:t>∗</a:t>
            </a:r>
            <a:r>
              <a:rPr kern="1200" dirty="0">
                <a:solidFill>
                  <a:srgbClr val="FF0000"/>
                </a:solidFill>
                <a:latin typeface="Palatino Linotype"/>
                <a:cs typeface="Palatino Linotype"/>
              </a:rPr>
              <a:t>,</a:t>
            </a:r>
            <a:r>
              <a:rPr kern="1200" spc="-5" dirty="0">
                <a:solidFill>
                  <a:srgbClr val="FF0000"/>
                </a:solidFill>
                <a:latin typeface="Palatino Linotype"/>
                <a:cs typeface="Palatino Linotype"/>
              </a:rPr>
              <a:t> so</a:t>
            </a:r>
            <a:r>
              <a:rPr kern="1200" dirty="0">
                <a:solidFill>
                  <a:srgbClr val="FF0000"/>
                </a:solidFill>
                <a:latin typeface="Palatino Linotype"/>
                <a:cs typeface="Palatino Linotype"/>
              </a:rPr>
              <a:t> reduce</a:t>
            </a:r>
            <a:endParaRPr kern="1200" dirty="0">
              <a:solidFill>
                <a:prstClr val="black"/>
              </a:solidFill>
              <a:latin typeface="Palatino Linotype"/>
              <a:cs typeface="Palatino Linotype"/>
            </a:endParaRPr>
          </a:p>
          <a:p>
            <a:pPr marL="323850" indent="-285750" rtl="0">
              <a:spcBef>
                <a:spcPts val="1190"/>
              </a:spcBef>
              <a:buFont typeface="Arial MT"/>
              <a:buChar char="•"/>
              <a:tabLst>
                <a:tab pos="323215" algn="l"/>
                <a:tab pos="323850" algn="l"/>
              </a:tabLst>
            </a:pPr>
            <a:r>
              <a:rPr kern="1200" spc="-20" dirty="0">
                <a:solidFill>
                  <a:srgbClr val="0432FF"/>
                </a:solidFill>
                <a:latin typeface="Palatino Linotype"/>
                <a:cs typeface="Palatino Linotype"/>
              </a:rPr>
              <a:t>Pop </a:t>
            </a:r>
            <a:r>
              <a:rPr kern="1200" spc="-5" dirty="0">
                <a:solidFill>
                  <a:srgbClr val="0432FF"/>
                </a:solidFill>
                <a:latin typeface="Palatino Linotype"/>
                <a:cs typeface="Palatino Linotype"/>
              </a:rPr>
              <a:t>state</a:t>
            </a:r>
            <a:r>
              <a:rPr kern="1200" spc="-25" dirty="0">
                <a:solidFill>
                  <a:srgbClr val="0432FF"/>
                </a:solidFill>
                <a:latin typeface="Palatino Linotype"/>
                <a:cs typeface="Palatino Linotype"/>
              </a:rPr>
              <a:t> </a:t>
            </a:r>
            <a:r>
              <a:rPr kern="1200" dirty="0">
                <a:solidFill>
                  <a:srgbClr val="0432FF"/>
                </a:solidFill>
                <a:latin typeface="Palatino Linotype"/>
                <a:cs typeface="Palatino Linotype"/>
              </a:rPr>
              <a:t>5</a:t>
            </a:r>
            <a:endParaRPr kern="1200" dirty="0">
              <a:solidFill>
                <a:prstClr val="black"/>
              </a:solidFill>
              <a:latin typeface="Palatino Linotype"/>
              <a:cs typeface="Palatino Linotype"/>
            </a:endParaRPr>
          </a:p>
          <a:p>
            <a:pPr marL="323850" marR="182880" indent="-285750" rtl="0">
              <a:lnSpc>
                <a:spcPct val="98500"/>
              </a:lnSpc>
              <a:spcBef>
                <a:spcPts val="1280"/>
              </a:spcBef>
              <a:buFont typeface="Arial MT"/>
              <a:buChar char="•"/>
              <a:tabLst>
                <a:tab pos="323215" algn="l"/>
                <a:tab pos="323850" algn="l"/>
              </a:tabLst>
            </a:pPr>
            <a:r>
              <a:rPr kern="1200" dirty="0">
                <a:solidFill>
                  <a:srgbClr val="0432FF"/>
                </a:solidFill>
                <a:latin typeface="Palatino Linotype"/>
                <a:cs typeface="Palatino Linotype"/>
              </a:rPr>
              <a:t>Since</a:t>
            </a:r>
            <a:r>
              <a:rPr kern="1200" spc="-20" dirty="0">
                <a:solidFill>
                  <a:srgbClr val="0432FF"/>
                </a:solidFill>
                <a:latin typeface="Palatino Linotype"/>
                <a:cs typeface="Palatino Linotype"/>
              </a:rPr>
              <a:t> </a:t>
            </a:r>
            <a:r>
              <a:rPr b="1" kern="1200" dirty="0">
                <a:solidFill>
                  <a:srgbClr val="FF0000"/>
                </a:solidFill>
                <a:latin typeface="Palatino Linotype"/>
                <a:cs typeface="Palatino Linotype"/>
              </a:rPr>
              <a:t>id</a:t>
            </a:r>
            <a:r>
              <a:rPr b="1" kern="1200" spc="-10" dirty="0">
                <a:solidFill>
                  <a:srgbClr val="FF0000"/>
                </a:solidFill>
                <a:latin typeface="Palatino Linotype"/>
                <a:cs typeface="Palatino Linotype"/>
              </a:rPr>
              <a:t> </a:t>
            </a:r>
            <a:r>
              <a:rPr kern="1200" spc="-5" dirty="0">
                <a:solidFill>
                  <a:srgbClr val="0432FF"/>
                </a:solidFill>
                <a:latin typeface="Palatino Linotype"/>
                <a:cs typeface="Palatino Linotype"/>
              </a:rPr>
              <a:t>will</a:t>
            </a:r>
            <a:r>
              <a:rPr kern="1200" spc="-15" dirty="0">
                <a:solidFill>
                  <a:srgbClr val="0432FF"/>
                </a:solidFill>
                <a:latin typeface="Palatino Linotype"/>
                <a:cs typeface="Palatino Linotype"/>
              </a:rPr>
              <a:t> </a:t>
            </a:r>
            <a:r>
              <a:rPr kern="1200" dirty="0">
                <a:solidFill>
                  <a:srgbClr val="0432FF"/>
                </a:solidFill>
                <a:latin typeface="Palatino Linotype"/>
                <a:cs typeface="Palatino Linotype"/>
              </a:rPr>
              <a:t>be</a:t>
            </a:r>
            <a:r>
              <a:rPr kern="1200" spc="-10" dirty="0">
                <a:solidFill>
                  <a:srgbClr val="0432FF"/>
                </a:solidFill>
                <a:latin typeface="Palatino Linotype"/>
                <a:cs typeface="Palatino Linotype"/>
              </a:rPr>
              <a:t> </a:t>
            </a:r>
            <a:r>
              <a:rPr kern="1200" dirty="0">
                <a:solidFill>
                  <a:srgbClr val="0432FF"/>
                </a:solidFill>
                <a:latin typeface="Palatino Linotype"/>
                <a:cs typeface="Palatino Linotype"/>
              </a:rPr>
              <a:t>replaced</a:t>
            </a:r>
            <a:r>
              <a:rPr kern="1200" spc="-15" dirty="0">
                <a:solidFill>
                  <a:srgbClr val="0432FF"/>
                </a:solidFill>
                <a:latin typeface="Palatino Linotype"/>
                <a:cs typeface="Palatino Linotype"/>
              </a:rPr>
              <a:t> </a:t>
            </a:r>
            <a:r>
              <a:rPr kern="1200" dirty="0">
                <a:solidFill>
                  <a:srgbClr val="0432FF"/>
                </a:solidFill>
                <a:latin typeface="Palatino Linotype"/>
                <a:cs typeface="Palatino Linotype"/>
              </a:rPr>
              <a:t>by</a:t>
            </a:r>
            <a:r>
              <a:rPr kern="1200" spc="-15" dirty="0">
                <a:solidFill>
                  <a:srgbClr val="0432FF"/>
                </a:solidFill>
                <a:latin typeface="Palatino Linotype"/>
                <a:cs typeface="Palatino Linotype"/>
              </a:rPr>
              <a:t> </a:t>
            </a:r>
            <a:r>
              <a:rPr kern="1200" spc="35" dirty="0">
                <a:solidFill>
                  <a:srgbClr val="FF0000"/>
                </a:solidFill>
                <a:latin typeface="Cambria Math"/>
                <a:cs typeface="Cambria Math"/>
              </a:rPr>
              <a:t>𝐹</a:t>
            </a:r>
            <a:r>
              <a:rPr kern="1200" spc="35" dirty="0">
                <a:solidFill>
                  <a:srgbClr val="0432FF"/>
                </a:solidFill>
                <a:latin typeface="Palatino Linotype"/>
                <a:cs typeface="Palatino Linotype"/>
              </a:rPr>
              <a:t>, </a:t>
            </a:r>
            <a:r>
              <a:rPr kern="1200" spc="-434" dirty="0">
                <a:solidFill>
                  <a:srgbClr val="0432FF"/>
                </a:solidFill>
                <a:latin typeface="Palatino Linotype"/>
                <a:cs typeface="Palatino Linotype"/>
              </a:rPr>
              <a:t> </a:t>
            </a:r>
            <a:r>
              <a:rPr kern="1200" spc="-5" dirty="0">
                <a:solidFill>
                  <a:srgbClr val="FF0000"/>
                </a:solidFill>
                <a:latin typeface="Palatino Linotype"/>
                <a:cs typeface="Palatino Linotype"/>
              </a:rPr>
              <a:t>state </a:t>
            </a:r>
            <a:r>
              <a:rPr kern="1200" dirty="0">
                <a:solidFill>
                  <a:srgbClr val="FF0000"/>
                </a:solidFill>
                <a:latin typeface="Palatino Linotype"/>
                <a:cs typeface="Palatino Linotype"/>
              </a:rPr>
              <a:t>5 </a:t>
            </a:r>
            <a:r>
              <a:rPr kern="1200" spc="-5" dirty="0">
                <a:solidFill>
                  <a:srgbClr val="0432FF"/>
                </a:solidFill>
                <a:latin typeface="Palatino Linotype"/>
                <a:cs typeface="Palatino Linotype"/>
              </a:rPr>
              <a:t>should </a:t>
            </a:r>
            <a:r>
              <a:rPr kern="1200" dirty="0">
                <a:solidFill>
                  <a:srgbClr val="0432FF"/>
                </a:solidFill>
                <a:latin typeface="Palatino Linotype"/>
                <a:cs typeface="Palatino Linotype"/>
              </a:rPr>
              <a:t>be replaced by </a:t>
            </a:r>
            <a:r>
              <a:rPr kern="1200" spc="5" dirty="0">
                <a:solidFill>
                  <a:srgbClr val="0432FF"/>
                </a:solidFill>
                <a:latin typeface="Palatino Linotype"/>
                <a:cs typeface="Palatino Linotype"/>
              </a:rPr>
              <a:t> </a:t>
            </a:r>
            <a:r>
              <a:rPr kern="1200" spc="-5" dirty="0">
                <a:solidFill>
                  <a:srgbClr val="FF0000"/>
                </a:solidFill>
                <a:latin typeface="Palatino Linotype"/>
                <a:cs typeface="Palatino Linotype"/>
              </a:rPr>
              <a:t>state 3</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pop </a:t>
            </a:r>
            <a:r>
              <a:rPr kern="1200" spc="-5" dirty="0">
                <a:solidFill>
                  <a:srgbClr val="0432FF"/>
                </a:solidFill>
                <a:latin typeface="Palatino Linotype"/>
                <a:cs typeface="Palatino Linotype"/>
              </a:rPr>
              <a:t>state </a:t>
            </a:r>
            <a:r>
              <a:rPr kern="1200" dirty="0">
                <a:solidFill>
                  <a:srgbClr val="0432FF"/>
                </a:solidFill>
                <a:latin typeface="Palatino Linotype"/>
                <a:cs typeface="Palatino Linotype"/>
              </a:rPr>
              <a:t>5 and push </a:t>
            </a:r>
            <a:r>
              <a:rPr kern="1200" spc="5" dirty="0">
                <a:solidFill>
                  <a:srgbClr val="0432FF"/>
                </a:solidFill>
                <a:latin typeface="Palatino Linotype"/>
                <a:cs typeface="Palatino Linotype"/>
              </a:rPr>
              <a:t> </a:t>
            </a:r>
            <a:r>
              <a:rPr kern="1200" spc="-5" dirty="0">
                <a:solidFill>
                  <a:srgbClr val="0432FF"/>
                </a:solidFill>
                <a:latin typeface="Palatino Linotype"/>
                <a:cs typeface="Palatino Linotype"/>
              </a:rPr>
              <a:t>state </a:t>
            </a:r>
            <a:r>
              <a:rPr kern="1200" dirty="0">
                <a:solidFill>
                  <a:srgbClr val="0432FF"/>
                </a:solidFill>
                <a:latin typeface="Palatino Linotype"/>
                <a:cs typeface="Palatino Linotype"/>
              </a:rPr>
              <a:t>3 to</a:t>
            </a:r>
            <a:r>
              <a:rPr kern="1200" spc="-5" dirty="0">
                <a:solidFill>
                  <a:srgbClr val="0432FF"/>
                </a:solidFill>
                <a:latin typeface="Palatino Linotype"/>
                <a:cs typeface="Palatino Linotype"/>
              </a:rPr>
              <a:t> stack</a:t>
            </a:r>
            <a:r>
              <a:rPr kern="1200" spc="-7" baseline="23148" dirty="0">
                <a:solidFill>
                  <a:prstClr val="black"/>
                </a:solidFill>
                <a:latin typeface="Palatino Linotype"/>
                <a:cs typeface="Palatino Linotype"/>
              </a:rPr>
              <a:t>*</a:t>
            </a:r>
            <a:endParaRPr kern="1200" baseline="23148" dirty="0">
              <a:solidFill>
                <a:prstClr val="black"/>
              </a:solidFill>
              <a:latin typeface="Palatino Linotype"/>
              <a:cs typeface="Palatino Linotype"/>
            </a:endParaRPr>
          </a:p>
          <a:p>
            <a:pPr marL="93345" rtl="0">
              <a:spcBef>
                <a:spcPts val="1575"/>
              </a:spcBef>
            </a:pPr>
            <a:r>
              <a:rPr sz="1350" kern="1200" baseline="24691" dirty="0">
                <a:solidFill>
                  <a:srgbClr val="A6A6A6"/>
                </a:solidFill>
                <a:latin typeface="Palatino Linotype"/>
                <a:cs typeface="Palatino Linotype"/>
              </a:rPr>
              <a:t>*</a:t>
            </a:r>
            <a:r>
              <a:rPr sz="1400" kern="1200" dirty="0">
                <a:solidFill>
                  <a:srgbClr val="A6A6A6"/>
                </a:solidFill>
                <a:latin typeface="Palatino Linotype"/>
                <a:cs typeface="Palatino Linotype"/>
              </a:rPr>
              <a:t>State</a:t>
            </a:r>
            <a:r>
              <a:rPr sz="1400" kern="1200" spc="-10" dirty="0">
                <a:solidFill>
                  <a:srgbClr val="A6A6A6"/>
                </a:solidFill>
                <a:latin typeface="Palatino Linotype"/>
                <a:cs typeface="Palatino Linotype"/>
              </a:rPr>
              <a:t> </a:t>
            </a:r>
            <a:r>
              <a:rPr sz="1400" kern="1200" dirty="0">
                <a:solidFill>
                  <a:srgbClr val="A6A6A6"/>
                </a:solidFill>
                <a:latin typeface="Palatino Linotype"/>
                <a:cs typeface="Palatino Linotype"/>
              </a:rPr>
              <a:t>0</a:t>
            </a:r>
            <a:r>
              <a:rPr sz="1400" kern="1200" spc="-5" dirty="0">
                <a:solidFill>
                  <a:srgbClr val="A6A6A6"/>
                </a:solidFill>
                <a:latin typeface="Palatino Linotype"/>
                <a:cs typeface="Palatino Linotype"/>
              </a:rPr>
              <a:t> transits</a:t>
            </a:r>
            <a:r>
              <a:rPr sz="1400" kern="1200" spc="-15" dirty="0">
                <a:solidFill>
                  <a:srgbClr val="A6A6A6"/>
                </a:solidFill>
                <a:latin typeface="Palatino Linotype"/>
                <a:cs typeface="Palatino Linotype"/>
              </a:rPr>
              <a:t> </a:t>
            </a:r>
            <a:r>
              <a:rPr sz="1400" kern="1200" dirty="0">
                <a:solidFill>
                  <a:srgbClr val="A6A6A6"/>
                </a:solidFill>
                <a:latin typeface="Palatino Linotype"/>
                <a:cs typeface="Palatino Linotype"/>
              </a:rPr>
              <a:t>to</a:t>
            </a:r>
            <a:r>
              <a:rPr sz="1400" kern="1200" spc="-10" dirty="0">
                <a:solidFill>
                  <a:srgbClr val="A6A6A6"/>
                </a:solidFill>
                <a:latin typeface="Palatino Linotype"/>
                <a:cs typeface="Palatino Linotype"/>
              </a:rPr>
              <a:t> </a:t>
            </a:r>
            <a:r>
              <a:rPr sz="1400" kern="1200" dirty="0">
                <a:solidFill>
                  <a:srgbClr val="A6A6A6"/>
                </a:solidFill>
                <a:latin typeface="Palatino Linotype"/>
                <a:cs typeface="Palatino Linotype"/>
              </a:rPr>
              <a:t>3</a:t>
            </a:r>
            <a:r>
              <a:rPr sz="1400" kern="1200" spc="-5" dirty="0">
                <a:solidFill>
                  <a:srgbClr val="A6A6A6"/>
                </a:solidFill>
                <a:latin typeface="Palatino Linotype"/>
                <a:cs typeface="Palatino Linotype"/>
              </a:rPr>
              <a:t> on</a:t>
            </a:r>
            <a:r>
              <a:rPr sz="1400" kern="1200" spc="-10" dirty="0">
                <a:solidFill>
                  <a:srgbClr val="A6A6A6"/>
                </a:solidFill>
                <a:latin typeface="Palatino Linotype"/>
                <a:cs typeface="Palatino Linotype"/>
              </a:rPr>
              <a:t> </a:t>
            </a:r>
            <a:r>
              <a:rPr sz="1400" kern="1200" dirty="0">
                <a:solidFill>
                  <a:srgbClr val="A6A6A6"/>
                </a:solidFill>
                <a:latin typeface="Palatino Linotype"/>
                <a:cs typeface="Palatino Linotype"/>
              </a:rPr>
              <a:t>F</a:t>
            </a:r>
            <a:endParaRPr sz="1400" kern="1200" dirty="0">
              <a:solidFill>
                <a:prstClr val="black"/>
              </a:solidFill>
              <a:latin typeface="Palatino Linotype"/>
              <a:cs typeface="Palatino Linotype"/>
            </a:endParaRPr>
          </a:p>
        </p:txBody>
      </p:sp>
    </p:spTree>
    <p:extLst>
      <p:ext uri="{BB962C8B-B14F-4D97-AF65-F5344CB8AC3E}">
        <p14:creationId xmlns:p14="http://schemas.microsoft.com/office/powerpoint/2010/main" val="188953877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118</a:t>
            </a:fld>
            <a:endParaRPr lang="en-US"/>
          </a:p>
        </p:txBody>
      </p:sp>
      <p:sp>
        <p:nvSpPr>
          <p:cNvPr id="8" name="object 2">
            <a:extLst>
              <a:ext uri="{FF2B5EF4-FFF2-40B4-BE49-F238E27FC236}">
                <a16:creationId xmlns:a16="http://schemas.microsoft.com/office/drawing/2014/main" id="{5C2B6B04-42FF-C2CE-1EEC-BCA49EDE99FB}"/>
              </a:ext>
            </a:extLst>
          </p:cNvPr>
          <p:cNvSpPr txBox="1">
            <a:spLocks/>
          </p:cNvSpPr>
          <p:nvPr/>
        </p:nvSpPr>
        <p:spPr>
          <a:xfrm>
            <a:off x="707390" y="524763"/>
            <a:ext cx="453453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LR</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Parser</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Structure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0EC782BD-7CFC-54BA-D015-9A1330BF242A}"/>
              </a:ext>
            </a:extLst>
          </p:cNvPr>
          <p:cNvSpPr txBox="1"/>
          <p:nvPr/>
        </p:nvSpPr>
        <p:spPr>
          <a:xfrm>
            <a:off x="707390" y="1429003"/>
            <a:ext cx="7543165" cy="3122295"/>
          </a:xfrm>
          <a:prstGeom prst="rect">
            <a:avLst/>
          </a:prstGeom>
        </p:spPr>
        <p:txBody>
          <a:bodyPr vert="horz" wrap="square" lIns="0" tIns="12700" rIns="0" bIns="0" rtlCol="0">
            <a:spAutoFit/>
          </a:bodyPr>
          <a:lstStyle/>
          <a:p>
            <a:pPr marL="242570" marR="101600" indent="-230504" rtl="0">
              <a:lnSpc>
                <a:spcPct val="120000"/>
              </a:lnSpc>
              <a:spcBef>
                <a:spcPts val="100"/>
              </a:spcBef>
              <a:buFont typeface="Arial MT"/>
              <a:buChar char="•"/>
              <a:tabLst>
                <a:tab pos="242570" algn="l"/>
                <a:tab pos="243204" algn="l"/>
              </a:tabLst>
            </a:pPr>
            <a:r>
              <a:rPr kern="1200" spc="-5" dirty="0">
                <a:solidFill>
                  <a:prstClr val="black"/>
                </a:solidFill>
                <a:latin typeface="Palatino Linotype"/>
                <a:cs typeface="Palatino Linotype"/>
              </a:rPr>
              <a:t>An </a:t>
            </a:r>
            <a:r>
              <a:rPr kern="1200" dirty="0">
                <a:solidFill>
                  <a:prstClr val="black"/>
                </a:solidFill>
                <a:latin typeface="Palatino Linotype"/>
                <a:cs typeface="Palatino Linotype"/>
              </a:rPr>
              <a:t>LR parser </a:t>
            </a:r>
            <a:r>
              <a:rPr kern="1200" spc="-5" dirty="0">
                <a:solidFill>
                  <a:prstClr val="black"/>
                </a:solidFill>
                <a:latin typeface="Palatino Linotype"/>
                <a:cs typeface="Palatino Linotype"/>
              </a:rPr>
              <a:t>consists </a:t>
            </a:r>
            <a:r>
              <a:rPr kern="1200" dirty="0">
                <a:solidFill>
                  <a:prstClr val="black"/>
                </a:solidFill>
                <a:latin typeface="Palatino Linotype"/>
                <a:cs typeface="Palatino Linotype"/>
              </a:rPr>
              <a:t>of an </a:t>
            </a:r>
            <a:r>
              <a:rPr kern="1200" dirty="0">
                <a:solidFill>
                  <a:srgbClr val="0432FF"/>
                </a:solidFill>
                <a:latin typeface="Palatino Linotype"/>
                <a:cs typeface="Palatino Linotype"/>
              </a:rPr>
              <a:t>input</a:t>
            </a:r>
            <a:r>
              <a:rPr kern="1200" dirty="0">
                <a:solidFill>
                  <a:prstClr val="black"/>
                </a:solidFill>
                <a:latin typeface="Palatino Linotype"/>
                <a:cs typeface="Palatino Linotype"/>
              </a:rPr>
              <a:t>, an </a:t>
            </a:r>
            <a:r>
              <a:rPr kern="1200" dirty="0">
                <a:solidFill>
                  <a:srgbClr val="0432FF"/>
                </a:solidFill>
                <a:latin typeface="Palatino Linotype"/>
                <a:cs typeface="Palatino Linotype"/>
              </a:rPr>
              <a:t>output</a:t>
            </a:r>
            <a:r>
              <a:rPr kern="1200" dirty="0">
                <a:solidFill>
                  <a:prstClr val="black"/>
                </a:solidFill>
                <a:latin typeface="Palatino Linotype"/>
                <a:cs typeface="Palatino Linotype"/>
              </a:rPr>
              <a:t>, a </a:t>
            </a:r>
            <a:r>
              <a:rPr kern="1200" spc="-5" dirty="0">
                <a:solidFill>
                  <a:srgbClr val="0432FF"/>
                </a:solidFill>
                <a:latin typeface="Palatino Linotype"/>
                <a:cs typeface="Palatino Linotype"/>
              </a:rPr>
              <a:t>stack</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 </a:t>
            </a:r>
            <a:r>
              <a:rPr kern="1200" spc="-10" dirty="0">
                <a:solidFill>
                  <a:srgbClr val="0432FF"/>
                </a:solidFill>
                <a:latin typeface="Palatino Linotype"/>
                <a:cs typeface="Palatino Linotype"/>
              </a:rPr>
              <a:t>driver </a:t>
            </a:r>
            <a:r>
              <a:rPr kern="1200" spc="-5" dirty="0">
                <a:solidFill>
                  <a:srgbClr val="0432FF"/>
                </a:solidFill>
                <a:latin typeface="Palatino Linotype"/>
                <a:cs typeface="Palatino Linotype"/>
              </a:rPr>
              <a:t>program</a:t>
            </a:r>
            <a:r>
              <a:rPr kern="1200" spc="-5" dirty="0">
                <a:solidFill>
                  <a:prstClr val="black"/>
                </a:solidFill>
                <a:latin typeface="Palatino Linotype"/>
                <a:cs typeface="Palatino Linotype"/>
              </a:rPr>
              <a:t>,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and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 </a:t>
            </a:r>
            <a:r>
              <a:rPr kern="1200" dirty="0">
                <a:solidFill>
                  <a:srgbClr val="0432FF"/>
                </a:solidFill>
                <a:latin typeface="Palatino Linotype"/>
                <a:cs typeface="Palatino Linotype"/>
              </a:rPr>
              <a:t>parsing</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table</a:t>
            </a:r>
            <a:r>
              <a:rPr kern="1200" spc="-5" dirty="0">
                <a:solidFill>
                  <a:srgbClr val="0432FF"/>
                </a:solidFill>
                <a:latin typeface="Palatino Linotype"/>
                <a:cs typeface="Palatino Linotype"/>
              </a:rPr>
              <a:t> </a:t>
            </a:r>
            <a:r>
              <a:rPr kern="1200" spc="-5" dirty="0">
                <a:solidFill>
                  <a:prstClr val="black"/>
                </a:solidFill>
                <a:latin typeface="Palatino Linotype"/>
                <a:cs typeface="Palatino Linotype"/>
              </a:rPr>
              <a:t>(ACTION </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GOTO)</a:t>
            </a:r>
            <a:endParaRPr kern="1200" dirty="0">
              <a:solidFill>
                <a:prstClr val="black"/>
              </a:solidFill>
              <a:latin typeface="Palatino Linotype"/>
              <a:cs typeface="Palatino Linotype"/>
            </a:endParaRPr>
          </a:p>
          <a:p>
            <a:pPr marL="242570" marR="5080" indent="-230504" rtl="0">
              <a:lnSpc>
                <a:spcPct val="120000"/>
              </a:lnSpc>
              <a:spcBef>
                <a:spcPts val="1225"/>
              </a:spcBef>
              <a:buClr>
                <a:srgbClr val="000000"/>
              </a:buClr>
              <a:buFont typeface="Arial MT"/>
              <a:buChar char="•"/>
              <a:tabLst>
                <a:tab pos="242570" algn="l"/>
                <a:tab pos="243204" algn="l"/>
              </a:tabLst>
            </a:pPr>
            <a:r>
              <a:rPr kern="1200" spc="-5" dirty="0">
                <a:solidFill>
                  <a:srgbClr val="FF0000"/>
                </a:solidFill>
                <a:latin typeface="Palatino Linotype"/>
                <a:cs typeface="Palatino Linotype"/>
              </a:rPr>
              <a:t>The </a:t>
            </a:r>
            <a:r>
              <a:rPr kern="1200" spc="-10" dirty="0">
                <a:solidFill>
                  <a:srgbClr val="FF0000"/>
                </a:solidFill>
                <a:latin typeface="Palatino Linotype"/>
                <a:cs typeface="Palatino Linotype"/>
              </a:rPr>
              <a:t>driver</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program</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is</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the</a:t>
            </a:r>
            <a:r>
              <a:rPr kern="1200" spc="-5" dirty="0">
                <a:solidFill>
                  <a:srgbClr val="FF0000"/>
                </a:solidFill>
                <a:latin typeface="Palatino Linotype"/>
                <a:cs typeface="Palatino Linotype"/>
              </a:rPr>
              <a:t> same </a:t>
            </a:r>
            <a:r>
              <a:rPr kern="1200" dirty="0">
                <a:solidFill>
                  <a:srgbClr val="FF0000"/>
                </a:solidFill>
                <a:latin typeface="Palatino Linotype"/>
                <a:cs typeface="Palatino Linotype"/>
              </a:rPr>
              <a:t>for</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all</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LR</a:t>
            </a:r>
            <a:r>
              <a:rPr kern="1200" spc="-50" dirty="0">
                <a:solidFill>
                  <a:srgbClr val="FF0000"/>
                </a:solidFill>
                <a:latin typeface="Palatino Linotype"/>
                <a:cs typeface="Palatino Linotype"/>
              </a:rPr>
              <a:t> </a:t>
            </a:r>
            <a:r>
              <a:rPr kern="1200" dirty="0">
                <a:solidFill>
                  <a:srgbClr val="FF0000"/>
                </a:solidFill>
                <a:latin typeface="Palatino Linotype"/>
                <a:cs typeface="Palatino Linotype"/>
              </a:rPr>
              <a:t>parsers</a:t>
            </a:r>
            <a:r>
              <a:rPr kern="1200"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only</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parsing</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table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changes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from</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one parser to another</a:t>
            </a:r>
          </a:p>
          <a:p>
            <a:pPr marL="243204" indent="-230504" rtl="0">
              <a:spcBef>
                <a:spcPts val="1630"/>
              </a:spcBef>
              <a:buFont typeface="Arial MT"/>
              <a:buChar char="•"/>
              <a:tabLst>
                <a:tab pos="242570" algn="l"/>
                <a:tab pos="243204" algn="l"/>
              </a:tabLst>
            </a:pPr>
            <a:r>
              <a:rPr kern="1200" spc="-5" dirty="0">
                <a:solidFill>
                  <a:prstClr val="black"/>
                </a:solidFill>
                <a:latin typeface="Palatino Linotype"/>
                <a:cs typeface="Palatino Linotype"/>
              </a:rPr>
              <a:t>The stack </a:t>
            </a:r>
            <a:r>
              <a:rPr kern="1200" dirty="0">
                <a:solidFill>
                  <a:prstClr val="black"/>
                </a:solidFill>
                <a:latin typeface="Palatino Linotype"/>
                <a:cs typeface="Palatino Linotype"/>
              </a:rPr>
              <a:t>holds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sequence</a:t>
            </a:r>
            <a:r>
              <a:rPr kern="1200" dirty="0">
                <a:solidFill>
                  <a:prstClr val="black"/>
                </a:solidFill>
                <a:latin typeface="Palatino Linotype"/>
                <a:cs typeface="Palatino Linotype"/>
              </a:rPr>
              <a:t> of </a:t>
            </a:r>
            <a:r>
              <a:rPr kern="1200" spc="-5" dirty="0">
                <a:solidFill>
                  <a:prstClr val="black"/>
                </a:solidFill>
                <a:latin typeface="Palatino Linotype"/>
                <a:cs typeface="Palatino Linotype"/>
              </a:rPr>
              <a:t>states</a:t>
            </a:r>
            <a:endParaRPr kern="1200" dirty="0">
              <a:solidFill>
                <a:prstClr val="black"/>
              </a:solidFill>
              <a:latin typeface="Palatino Linotype"/>
              <a:cs typeface="Palatino Linotype"/>
            </a:endParaRPr>
          </a:p>
          <a:p>
            <a:pPr marL="698500" lvl="1" indent="-228600" rtl="0">
              <a:spcBef>
                <a:spcPts val="1050"/>
              </a:spcBef>
              <a:buFont typeface="Wingdings"/>
              <a:buChar char=""/>
              <a:tabLst>
                <a:tab pos="697865" algn="l"/>
                <a:tab pos="698500" algn="l"/>
              </a:tabLst>
            </a:pPr>
            <a:r>
              <a:rPr sz="1400" kern="1200" dirty="0">
                <a:solidFill>
                  <a:prstClr val="black"/>
                </a:solidFill>
                <a:latin typeface="Palatino Linotype"/>
                <a:cs typeface="Palatino Linotype"/>
              </a:rPr>
              <a:t>In</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SLR, </a:t>
            </a:r>
            <a:r>
              <a:rPr sz="1400" kern="1200" dirty="0">
                <a:solidFill>
                  <a:prstClr val="black"/>
                </a:solidFill>
                <a:latin typeface="Palatino Linotype"/>
                <a:cs typeface="Palatino Linotype"/>
              </a:rPr>
              <a:t>the</a:t>
            </a:r>
            <a:r>
              <a:rPr sz="1400" kern="1200" spc="-5" dirty="0">
                <a:solidFill>
                  <a:prstClr val="black"/>
                </a:solidFill>
                <a:latin typeface="Palatino Linotype"/>
                <a:cs typeface="Palatino Linotype"/>
              </a:rPr>
              <a:t> stack</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holds</a:t>
            </a:r>
            <a:r>
              <a:rPr sz="1400" kern="1200" spc="-10" dirty="0">
                <a:solidFill>
                  <a:prstClr val="black"/>
                </a:solidFill>
                <a:latin typeface="Palatino Linotype"/>
                <a:cs typeface="Palatino Linotype"/>
              </a:rPr>
              <a:t> </a:t>
            </a:r>
            <a:r>
              <a:rPr sz="1400" kern="1200" dirty="0">
                <a:solidFill>
                  <a:prstClr val="black"/>
                </a:solidFill>
                <a:latin typeface="Palatino Linotype"/>
                <a:cs typeface="Palatino Linotype"/>
              </a:rPr>
              <a:t>states</a:t>
            </a:r>
            <a:r>
              <a:rPr sz="1400" kern="1200" spc="-15" dirty="0">
                <a:solidFill>
                  <a:prstClr val="black"/>
                </a:solidFill>
                <a:latin typeface="Palatino Linotype"/>
                <a:cs typeface="Palatino Linotype"/>
              </a:rPr>
              <a:t> </a:t>
            </a:r>
            <a:r>
              <a:rPr sz="1400" kern="1200" spc="-5" dirty="0">
                <a:solidFill>
                  <a:prstClr val="black"/>
                </a:solidFill>
                <a:latin typeface="Palatino Linotype"/>
                <a:cs typeface="Palatino Linotype"/>
              </a:rPr>
              <a:t>from </a:t>
            </a:r>
            <a:r>
              <a:rPr sz="1400" kern="1200" dirty="0">
                <a:solidFill>
                  <a:prstClr val="black"/>
                </a:solidFill>
                <a:latin typeface="Palatino Linotype"/>
                <a:cs typeface="Palatino Linotype"/>
              </a:rPr>
              <a:t>the</a:t>
            </a:r>
            <a:r>
              <a:rPr sz="1400" kern="1200" spc="-5" dirty="0">
                <a:solidFill>
                  <a:prstClr val="black"/>
                </a:solidFill>
                <a:latin typeface="Palatino Linotype"/>
                <a:cs typeface="Palatino Linotype"/>
              </a:rPr>
              <a:t> LR(0) </a:t>
            </a:r>
            <a:r>
              <a:rPr sz="1400" kern="1200" dirty="0">
                <a:solidFill>
                  <a:prstClr val="black"/>
                </a:solidFill>
                <a:latin typeface="Palatino Linotype"/>
                <a:cs typeface="Palatino Linotype"/>
              </a:rPr>
              <a:t>automaton</a:t>
            </a:r>
          </a:p>
          <a:p>
            <a:pPr marL="242570" marR="16510" indent="-230504" rtl="0">
              <a:lnSpc>
                <a:spcPct val="120000"/>
              </a:lnSpc>
              <a:spcBef>
                <a:spcPts val="1085"/>
              </a:spcBef>
              <a:buFont typeface="Arial MT"/>
              <a:buChar char="•"/>
              <a:tabLst>
                <a:tab pos="242570" algn="l"/>
                <a:tab pos="243204" algn="l"/>
              </a:tabLst>
            </a:pPr>
            <a:r>
              <a:rPr kern="1200" spc="-5" dirty="0">
                <a:solidFill>
                  <a:prstClr val="black"/>
                </a:solidFill>
                <a:latin typeface="Palatino Linotype"/>
                <a:cs typeface="Palatino Linotype"/>
              </a:rPr>
              <a:t>The </a:t>
            </a:r>
            <a:r>
              <a:rPr kern="1200" dirty="0">
                <a:solidFill>
                  <a:prstClr val="black"/>
                </a:solidFill>
                <a:latin typeface="Palatino Linotype"/>
                <a:cs typeface="Palatino Linotype"/>
              </a:rPr>
              <a:t>parser decides the </a:t>
            </a:r>
            <a:r>
              <a:rPr kern="1200" spc="-5" dirty="0">
                <a:solidFill>
                  <a:prstClr val="black"/>
                </a:solidFill>
                <a:latin typeface="Palatino Linotype"/>
                <a:cs typeface="Palatino Linotype"/>
              </a:rPr>
              <a:t>next </a:t>
            </a:r>
            <a:r>
              <a:rPr kern="1200" dirty="0">
                <a:solidFill>
                  <a:prstClr val="black"/>
                </a:solidFill>
                <a:latin typeface="Palatino Linotype"/>
                <a:cs typeface="Palatino Linotype"/>
              </a:rPr>
              <a:t>action </a:t>
            </a:r>
            <a:r>
              <a:rPr kern="1200" spc="-5" dirty="0">
                <a:solidFill>
                  <a:prstClr val="black"/>
                </a:solidFill>
                <a:latin typeface="Palatino Linotype"/>
                <a:cs typeface="Palatino Linotype"/>
              </a:rPr>
              <a:t>based </a:t>
            </a:r>
            <a:r>
              <a:rPr kern="1200" dirty="0">
                <a:solidFill>
                  <a:prstClr val="black"/>
                </a:solidFill>
                <a:latin typeface="Palatino Linotype"/>
                <a:cs typeface="Palatino Linotype"/>
              </a:rPr>
              <a:t>on </a:t>
            </a:r>
            <a:r>
              <a:rPr kern="1200" dirty="0">
                <a:solidFill>
                  <a:srgbClr val="0432FF"/>
                </a:solidFill>
                <a:latin typeface="Palatino Linotype"/>
                <a:cs typeface="Palatino Linotype"/>
              </a:rPr>
              <a:t>(1) the </a:t>
            </a:r>
            <a:r>
              <a:rPr kern="1200" spc="-5" dirty="0">
                <a:solidFill>
                  <a:srgbClr val="0432FF"/>
                </a:solidFill>
                <a:latin typeface="Palatino Linotype"/>
                <a:cs typeface="Palatino Linotype"/>
              </a:rPr>
              <a:t>state </a:t>
            </a:r>
            <a:r>
              <a:rPr kern="1200" dirty="0">
                <a:solidFill>
                  <a:srgbClr val="0432FF"/>
                </a:solidFill>
                <a:latin typeface="Palatino Linotype"/>
                <a:cs typeface="Palatino Linotype"/>
              </a:rPr>
              <a:t>at the top of the </a:t>
            </a:r>
            <a:r>
              <a:rPr kern="1200" spc="-434" dirty="0">
                <a:solidFill>
                  <a:srgbClr val="0432FF"/>
                </a:solidFill>
                <a:latin typeface="Palatino Linotype"/>
                <a:cs typeface="Palatino Linotype"/>
              </a:rPr>
              <a:t> </a:t>
            </a:r>
            <a:r>
              <a:rPr kern="1200" spc="-5" dirty="0">
                <a:solidFill>
                  <a:srgbClr val="0432FF"/>
                </a:solidFill>
                <a:latin typeface="Palatino Linotype"/>
                <a:cs typeface="Palatino Linotype"/>
              </a:rPr>
              <a:t>stack</a:t>
            </a:r>
            <a:r>
              <a:rPr kern="1200" spc="-10" dirty="0">
                <a:solidFill>
                  <a:srgbClr val="0432FF"/>
                </a:solidFill>
                <a:latin typeface="Palatino Linotype"/>
                <a:cs typeface="Palatino Linotype"/>
              </a:rPr>
              <a:t> </a:t>
            </a:r>
            <a:r>
              <a:rPr kern="1200" dirty="0">
                <a:solidFill>
                  <a:prstClr val="black"/>
                </a:solidFill>
                <a:latin typeface="Palatino Linotype"/>
                <a:cs typeface="Palatino Linotype"/>
              </a:rPr>
              <a:t>and </a:t>
            </a:r>
            <a:r>
              <a:rPr kern="1200" dirty="0">
                <a:solidFill>
                  <a:srgbClr val="0432FF"/>
                </a:solidFill>
                <a:latin typeface="Palatino Linotype"/>
                <a:cs typeface="Palatino Linotype"/>
              </a:rPr>
              <a:t>(2) the </a:t>
            </a:r>
            <a:r>
              <a:rPr kern="1200" spc="-5" dirty="0">
                <a:solidFill>
                  <a:srgbClr val="0432FF"/>
                </a:solidFill>
                <a:latin typeface="Palatino Linotype"/>
                <a:cs typeface="Palatino Linotype"/>
              </a:rPr>
              <a:t>terminal</a:t>
            </a:r>
            <a:r>
              <a:rPr kern="1200" dirty="0">
                <a:solidFill>
                  <a:srgbClr val="0432FF"/>
                </a:solidFill>
                <a:latin typeface="Palatino Linotype"/>
                <a:cs typeface="Palatino Linotype"/>
              </a:rPr>
              <a:t> read</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from</a:t>
            </a:r>
            <a:r>
              <a:rPr kern="1200" spc="-5" dirty="0">
                <a:solidFill>
                  <a:srgbClr val="0432FF"/>
                </a:solidFill>
                <a:latin typeface="Palatino Linotype"/>
                <a:cs typeface="Palatino Linotype"/>
              </a:rPr>
              <a:t> </a:t>
            </a:r>
            <a:r>
              <a:rPr kern="1200" dirty="0">
                <a:solidFill>
                  <a:srgbClr val="0432FF"/>
                </a:solidFill>
                <a:latin typeface="Palatino Linotype"/>
                <a:cs typeface="Palatino Linotype"/>
              </a:rPr>
              <a:t>the input buffer</a:t>
            </a:r>
            <a:endParaRPr kern="1200" dirty="0">
              <a:solidFill>
                <a:prstClr val="black"/>
              </a:solidFill>
              <a:latin typeface="Palatino Linotype"/>
              <a:cs typeface="Palatino Linotype"/>
            </a:endParaRPr>
          </a:p>
        </p:txBody>
      </p:sp>
      <p:pic>
        <p:nvPicPr>
          <p:cNvPr id="10" name="object 4">
            <a:extLst>
              <a:ext uri="{FF2B5EF4-FFF2-40B4-BE49-F238E27FC236}">
                <a16:creationId xmlns:a16="http://schemas.microsoft.com/office/drawing/2014/main" id="{C8A60B09-2A60-1130-333E-AA39F38B959C}"/>
              </a:ext>
            </a:extLst>
          </p:cNvPr>
          <p:cNvPicPr/>
          <p:nvPr/>
        </p:nvPicPr>
        <p:blipFill>
          <a:blip r:embed="rId3" cstate="print"/>
          <a:stretch>
            <a:fillRect/>
          </a:stretch>
        </p:blipFill>
        <p:spPr>
          <a:xfrm>
            <a:off x="2608658" y="4819496"/>
            <a:ext cx="3926681" cy="1933574"/>
          </a:xfrm>
          <a:prstGeom prst="rect">
            <a:avLst/>
          </a:prstGeom>
        </p:spPr>
      </p:pic>
    </p:spTree>
    <p:extLst>
      <p:ext uri="{BB962C8B-B14F-4D97-AF65-F5344CB8AC3E}">
        <p14:creationId xmlns:p14="http://schemas.microsoft.com/office/powerpoint/2010/main" val="18419760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119</a:t>
            </a:fld>
            <a:endParaRPr lang="en-US"/>
          </a:p>
        </p:txBody>
      </p:sp>
      <p:sp>
        <p:nvSpPr>
          <p:cNvPr id="7" name="object 2">
            <a:extLst>
              <a:ext uri="{FF2B5EF4-FFF2-40B4-BE49-F238E27FC236}">
                <a16:creationId xmlns:a16="http://schemas.microsoft.com/office/drawing/2014/main" id="{92C530D3-FC39-3EC0-CA06-BF786BAEBA4B}"/>
              </a:ext>
            </a:extLst>
          </p:cNvPr>
          <p:cNvSpPr txBox="1">
            <a:spLocks/>
          </p:cNvSpPr>
          <p:nvPr/>
        </p:nvSpPr>
        <p:spPr>
          <a:xfrm>
            <a:off x="707390" y="524763"/>
            <a:ext cx="76981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65" normalizeH="0" baseline="0" noProof="0">
                <a:ln>
                  <a:noFill/>
                </a:ln>
                <a:solidFill>
                  <a:sysClr val="windowText" lastClr="000000"/>
                </a:solidFill>
                <a:effectLst/>
                <a:uLnTx/>
                <a:uFillTx/>
                <a:latin typeface="Palatino Linotype"/>
                <a:ea typeface="+mj-ea"/>
              </a:rPr>
              <a:t>Table:</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rgbClr val="0432FF"/>
                </a:solidFill>
                <a:effectLst/>
                <a:uLnTx/>
                <a:uFillTx/>
                <a:latin typeface="Palatino Linotype"/>
                <a:ea typeface="+mj-ea"/>
              </a:rPr>
              <a:t>ACTION</a:t>
            </a:r>
            <a:r>
              <a:rPr kumimoji="0" lang="en-US" sz="4000" b="1" i="0" u="none" strike="noStrike" kern="0" cap="none" spc="-10" normalizeH="0" baseline="0" noProof="0">
                <a:ln>
                  <a:noFill/>
                </a:ln>
                <a:solidFill>
                  <a:srgbClr val="0432FF"/>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rgbClr val="0432FF"/>
                </a:solidFill>
                <a:effectLst/>
                <a:uLnTx/>
                <a:uFillTx/>
                <a:latin typeface="Palatino Linotype"/>
                <a:ea typeface="+mj-ea"/>
              </a:rPr>
              <a:t>GOTO</a:t>
            </a:r>
            <a:endParaRPr kumimoji="0" lang="en-US" sz="4000" b="1" i="0" u="none" strike="noStrike" kern="0" cap="none" spc="0" normalizeH="0" baseline="0" noProof="0" dirty="0">
              <a:ln>
                <a:noFill/>
              </a:ln>
              <a:solidFill>
                <a:srgbClr val="0432FF"/>
              </a:solidFill>
              <a:effectLst/>
              <a:uLnTx/>
              <a:uFillTx/>
              <a:latin typeface="Palatino Linotype"/>
              <a:ea typeface="+mj-ea"/>
            </a:endParaRPr>
          </a:p>
        </p:txBody>
      </p:sp>
      <p:sp>
        <p:nvSpPr>
          <p:cNvPr id="8" name="object 3">
            <a:extLst>
              <a:ext uri="{FF2B5EF4-FFF2-40B4-BE49-F238E27FC236}">
                <a16:creationId xmlns:a16="http://schemas.microsoft.com/office/drawing/2014/main" id="{BF7CC0CE-7A0B-0F6A-F84E-D6C69925F545}"/>
              </a:ext>
            </a:extLst>
          </p:cNvPr>
          <p:cNvSpPr txBox="1"/>
          <p:nvPr/>
        </p:nvSpPr>
        <p:spPr>
          <a:xfrm>
            <a:off x="669290" y="1610867"/>
            <a:ext cx="7668895" cy="4161790"/>
          </a:xfrm>
          <a:prstGeom prst="rect">
            <a:avLst/>
          </a:prstGeom>
        </p:spPr>
        <p:txBody>
          <a:bodyPr vert="horz" wrap="square" lIns="0" tIns="12700" rIns="0" bIns="0" rtlCol="0">
            <a:spAutoFit/>
          </a:bodyPr>
          <a:lstStyle/>
          <a:p>
            <a:pPr marL="280670" marR="17780" indent="-230504" rtl="0">
              <a:lnSpc>
                <a:spcPct val="115999"/>
              </a:lnSpc>
              <a:spcBef>
                <a:spcPts val="100"/>
              </a:spcBef>
              <a:buFont typeface="Arial MT"/>
              <a:buChar char="•"/>
              <a:tabLst>
                <a:tab pos="280670" algn="l"/>
                <a:tab pos="281305" algn="l"/>
              </a:tabLst>
            </a:pP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b="1" kern="1200" spc="-5" dirty="0">
                <a:solidFill>
                  <a:srgbClr val="FF0000"/>
                </a:solidFill>
                <a:latin typeface="Palatino Linotype"/>
                <a:cs typeface="Palatino Linotype"/>
              </a:rPr>
              <a:t>ACTION</a:t>
            </a:r>
            <a:r>
              <a:rPr sz="2000" b="1" kern="1200" spc="-10" dirty="0">
                <a:solidFill>
                  <a:srgbClr val="FF0000"/>
                </a:solidFill>
                <a:latin typeface="Palatino Linotype"/>
                <a:cs typeface="Palatino Linotype"/>
              </a:rPr>
              <a:t> </a:t>
            </a:r>
            <a:r>
              <a:rPr sz="2000" kern="1200" spc="-5" dirty="0">
                <a:solidFill>
                  <a:prstClr val="black"/>
                </a:solidFill>
                <a:latin typeface="Palatino Linotype"/>
                <a:cs typeface="Palatino Linotype"/>
              </a:rPr>
              <a:t>function takes</a:t>
            </a:r>
            <a:r>
              <a:rPr sz="2000" kern="1200" dirty="0">
                <a:solidFill>
                  <a:prstClr val="black"/>
                </a:solidFill>
                <a:latin typeface="Palatino Linotype"/>
                <a:cs typeface="Palatino Linotype"/>
              </a:rPr>
              <a:t> </a:t>
            </a:r>
            <a:r>
              <a:rPr sz="2000" kern="1200" spc="-15" dirty="0">
                <a:solidFill>
                  <a:prstClr val="black"/>
                </a:solidFill>
                <a:latin typeface="Palatino Linotype"/>
                <a:cs typeface="Palatino Linotype"/>
              </a:rPr>
              <a:t>two</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arguments: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(1)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state</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𝑖</a:t>
            </a:r>
            <a:r>
              <a:rPr sz="2000" kern="1200" spc="125" dirty="0">
                <a:solidFill>
                  <a:prstClr val="black"/>
                </a:solidFill>
                <a:latin typeface="Cambria Math"/>
                <a:cs typeface="Cambria Math"/>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(2) </a:t>
            </a:r>
            <a:r>
              <a:rPr sz="2000" kern="1200" dirty="0">
                <a:solidFill>
                  <a:prstClr val="black"/>
                </a:solidFill>
                <a:latin typeface="Palatino Linotype"/>
                <a:cs typeface="Palatino Linotype"/>
              </a:rPr>
              <a:t>a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terminal</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𝑎</a:t>
            </a:r>
            <a:r>
              <a:rPr sz="2000" kern="1200" spc="105" dirty="0">
                <a:solidFill>
                  <a:prstClr val="black"/>
                </a:solidFill>
                <a:latin typeface="Cambria Math"/>
                <a:cs typeface="Cambria Math"/>
              </a:rPr>
              <a:t> </a:t>
            </a:r>
            <a:r>
              <a:rPr sz="2000" kern="1200" spc="-5" dirty="0">
                <a:solidFill>
                  <a:prstClr val="black"/>
                </a:solidFill>
                <a:latin typeface="Palatino Linotype"/>
                <a:cs typeface="Palatino Linotype"/>
              </a:rPr>
              <a:t>(or </a:t>
            </a:r>
            <a:r>
              <a:rPr sz="2000" kern="1200" dirty="0">
                <a:solidFill>
                  <a:prstClr val="black"/>
                </a:solidFill>
                <a:latin typeface="Palatino Linotype"/>
                <a:cs typeface="Palatino Linotype"/>
              </a:rPr>
              <a:t>$)</a:t>
            </a:r>
          </a:p>
          <a:p>
            <a:pPr marL="281305" indent="-230504" rtl="0">
              <a:spcBef>
                <a:spcPts val="2305"/>
              </a:spcBef>
              <a:buClr>
                <a:srgbClr val="000000"/>
              </a:buClr>
              <a:buFont typeface="Arial MT"/>
              <a:buChar char="•"/>
              <a:tabLst>
                <a:tab pos="280670" algn="l"/>
                <a:tab pos="281305" algn="l"/>
              </a:tabLst>
            </a:pPr>
            <a:r>
              <a:rPr sz="2000" b="1" kern="1200" spc="-5" dirty="0">
                <a:solidFill>
                  <a:srgbClr val="0432FF"/>
                </a:solidFill>
                <a:latin typeface="Palatino Linotype"/>
                <a:cs typeface="Palatino Linotype"/>
              </a:rPr>
              <a:t>ACTION[</a:t>
            </a:r>
            <a:r>
              <a:rPr sz="2000" kern="1200" spc="-5" dirty="0">
                <a:solidFill>
                  <a:srgbClr val="0432FF"/>
                </a:solidFill>
                <a:latin typeface="Cambria Math"/>
                <a:cs typeface="Cambria Math"/>
              </a:rPr>
              <a:t>𝒊</a:t>
            </a:r>
            <a:r>
              <a:rPr sz="2000" b="1" kern="1200" spc="-5" dirty="0">
                <a:solidFill>
                  <a:srgbClr val="0432FF"/>
                </a:solidFill>
                <a:latin typeface="Palatino Linotype"/>
                <a:cs typeface="Palatino Linotype"/>
              </a:rPr>
              <a:t>, </a:t>
            </a:r>
            <a:r>
              <a:rPr sz="2000" kern="1200" spc="-5" dirty="0">
                <a:solidFill>
                  <a:srgbClr val="0432FF"/>
                </a:solidFill>
                <a:latin typeface="Cambria Math"/>
                <a:cs typeface="Cambria Math"/>
              </a:rPr>
              <a:t>𝒂</a:t>
            </a:r>
            <a:r>
              <a:rPr sz="2000" b="1" kern="1200" spc="-5" dirty="0">
                <a:solidFill>
                  <a:srgbClr val="0432FF"/>
                </a:solidFill>
                <a:latin typeface="Palatino Linotype"/>
                <a:cs typeface="Palatino Linotype"/>
              </a:rPr>
              <a:t>] </a:t>
            </a:r>
            <a:r>
              <a:rPr sz="2000" kern="1200" spc="-5" dirty="0">
                <a:solidFill>
                  <a:prstClr val="black"/>
                </a:solidFill>
                <a:latin typeface="Palatino Linotype"/>
                <a:cs typeface="Palatino Linotype"/>
              </a:rPr>
              <a:t>can</a:t>
            </a:r>
            <a:r>
              <a:rPr sz="2000" kern="1200" spc="-10" dirty="0">
                <a:solidFill>
                  <a:prstClr val="black"/>
                </a:solidFill>
                <a:latin typeface="Palatino Linotype"/>
                <a:cs typeface="Palatino Linotype"/>
              </a:rPr>
              <a:t> </a:t>
            </a:r>
            <a:r>
              <a:rPr sz="2000" kern="1200" spc="-15" dirty="0">
                <a:solidFill>
                  <a:prstClr val="black"/>
                </a:solidFill>
                <a:latin typeface="Palatino Linotype"/>
                <a:cs typeface="Palatino Linotype"/>
              </a:rPr>
              <a:t>have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one of the four forms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a:t>
            </a:r>
            <a:r>
              <a:rPr sz="2000" kern="1200" spc="-10" dirty="0">
                <a:solidFill>
                  <a:prstClr val="black"/>
                </a:solidFill>
                <a:latin typeface="Palatino Linotype"/>
                <a:cs typeface="Palatino Linotype"/>
              </a:rPr>
              <a:t> values:</a:t>
            </a:r>
            <a:endParaRPr sz="2000" kern="1200" dirty="0">
              <a:solidFill>
                <a:prstClr val="black"/>
              </a:solidFill>
              <a:latin typeface="Palatino Linotype"/>
              <a:cs typeface="Palatino Linotype"/>
            </a:endParaRPr>
          </a:p>
          <a:p>
            <a:pPr marL="736600" lvl="1" indent="-228600" rtl="0">
              <a:spcBef>
                <a:spcPts val="1689"/>
              </a:spcBef>
              <a:buClr>
                <a:srgbClr val="000000"/>
              </a:buClr>
              <a:buFont typeface="Wingdings"/>
              <a:buChar char=""/>
              <a:tabLst>
                <a:tab pos="735965" algn="l"/>
                <a:tab pos="736600" algn="l"/>
              </a:tabLst>
            </a:pPr>
            <a:r>
              <a:rPr sz="1700" b="1" kern="1200" spc="-5" dirty="0">
                <a:solidFill>
                  <a:srgbClr val="0432FF"/>
                </a:solidFill>
                <a:latin typeface="Palatino Linotype"/>
                <a:cs typeface="Palatino Linotype"/>
              </a:rPr>
              <a:t>Shift </a:t>
            </a:r>
            <a:r>
              <a:rPr sz="1700" kern="1200" dirty="0">
                <a:solidFill>
                  <a:srgbClr val="0432FF"/>
                </a:solidFill>
                <a:latin typeface="Cambria Math"/>
                <a:cs typeface="Cambria Math"/>
              </a:rPr>
              <a:t>𝒋</a:t>
            </a:r>
            <a:r>
              <a:rPr sz="1700" b="1" kern="1200" dirty="0">
                <a:solidFill>
                  <a:srgbClr val="0432FF"/>
                </a:solidFill>
                <a:latin typeface="Palatino Linotype"/>
                <a:cs typeface="Palatino Linotype"/>
              </a:rPr>
              <a:t>:</a:t>
            </a:r>
            <a:r>
              <a:rPr sz="1700" b="1" kern="1200" spc="5" dirty="0">
                <a:solidFill>
                  <a:srgbClr val="0432FF"/>
                </a:solidFill>
                <a:latin typeface="Palatino Linotype"/>
                <a:cs typeface="Palatino Linotype"/>
              </a:rPr>
              <a:t> </a:t>
            </a:r>
            <a:r>
              <a:rPr sz="1700" kern="1200" spc="-5" dirty="0">
                <a:solidFill>
                  <a:prstClr val="black"/>
                </a:solidFill>
                <a:latin typeface="Palatino Linotype"/>
                <a:cs typeface="Palatino Linotype"/>
              </a:rPr>
              <a:t>shift input</a:t>
            </a:r>
            <a:r>
              <a:rPr sz="1700" kern="1200" dirty="0">
                <a:solidFill>
                  <a:prstClr val="black"/>
                </a:solidFill>
                <a:latin typeface="Palatino Linotype"/>
                <a:cs typeface="Palatino Linotype"/>
              </a:rPr>
              <a:t> </a:t>
            </a:r>
            <a:r>
              <a:rPr sz="1700" kern="1200" dirty="0">
                <a:solidFill>
                  <a:prstClr val="black"/>
                </a:solidFill>
                <a:latin typeface="Cambria Math"/>
                <a:cs typeface="Cambria Math"/>
              </a:rPr>
              <a:t>𝑎</a:t>
            </a:r>
            <a:r>
              <a:rPr sz="1700" kern="1200" spc="95" dirty="0">
                <a:solidFill>
                  <a:prstClr val="black"/>
                </a:solidFill>
                <a:latin typeface="Cambria Math"/>
                <a:cs typeface="Cambria Math"/>
              </a:rPr>
              <a:t> </a:t>
            </a:r>
            <a:r>
              <a:rPr sz="1700" kern="1200" spc="-5" dirty="0">
                <a:solidFill>
                  <a:prstClr val="black"/>
                </a:solidFill>
                <a:latin typeface="Palatino Linotype"/>
                <a:cs typeface="Palatino Linotype"/>
              </a:rPr>
              <a:t>to</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the stack,</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but uses</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state </a:t>
            </a:r>
            <a:r>
              <a:rPr sz="1700" kern="1200" dirty="0">
                <a:solidFill>
                  <a:prstClr val="black"/>
                </a:solidFill>
                <a:latin typeface="Cambria Math"/>
                <a:cs typeface="Cambria Math"/>
              </a:rPr>
              <a:t>𝑗</a:t>
            </a:r>
            <a:r>
              <a:rPr sz="1700" kern="1200" spc="85" dirty="0">
                <a:solidFill>
                  <a:prstClr val="black"/>
                </a:solidFill>
                <a:latin typeface="Cambria Math"/>
                <a:cs typeface="Cambria Math"/>
              </a:rPr>
              <a:t> </a:t>
            </a:r>
            <a:r>
              <a:rPr sz="1700" kern="1200" spc="-5" dirty="0">
                <a:solidFill>
                  <a:prstClr val="black"/>
                </a:solidFill>
                <a:latin typeface="Palatino Linotype"/>
                <a:cs typeface="Palatino Linotype"/>
              </a:rPr>
              <a:t>to represent</a:t>
            </a:r>
            <a:r>
              <a:rPr sz="1700" kern="1200" dirty="0">
                <a:solidFill>
                  <a:prstClr val="black"/>
                </a:solidFill>
                <a:latin typeface="Palatino Linotype"/>
                <a:cs typeface="Palatino Linotype"/>
              </a:rPr>
              <a:t> </a:t>
            </a:r>
            <a:r>
              <a:rPr sz="1700" kern="1200" dirty="0">
                <a:solidFill>
                  <a:prstClr val="black"/>
                </a:solidFill>
                <a:latin typeface="Cambria Math"/>
                <a:cs typeface="Cambria Math"/>
              </a:rPr>
              <a:t>𝑎</a:t>
            </a:r>
          </a:p>
          <a:p>
            <a:pPr marL="736600" lvl="1" indent="-228600" rtl="0">
              <a:spcBef>
                <a:spcPts val="1560"/>
              </a:spcBef>
              <a:buClr>
                <a:srgbClr val="000000"/>
              </a:buClr>
              <a:buFont typeface="Wingdings"/>
              <a:buChar char=""/>
              <a:tabLst>
                <a:tab pos="735965" algn="l"/>
                <a:tab pos="736600" algn="l"/>
              </a:tabLst>
            </a:pPr>
            <a:r>
              <a:rPr sz="1700" b="1" kern="1200" spc="-5" dirty="0">
                <a:solidFill>
                  <a:srgbClr val="0432FF"/>
                </a:solidFill>
                <a:latin typeface="Palatino Linotype"/>
                <a:cs typeface="Palatino Linotype"/>
              </a:rPr>
              <a:t>Reduce </a:t>
            </a:r>
            <a:r>
              <a:rPr sz="1700" kern="1200" dirty="0">
                <a:solidFill>
                  <a:srgbClr val="0432FF"/>
                </a:solidFill>
                <a:latin typeface="Cambria Math"/>
                <a:cs typeface="Cambria Math"/>
              </a:rPr>
              <a:t>𝑨</a:t>
            </a:r>
            <a:r>
              <a:rPr sz="1700" kern="1200" spc="95" dirty="0">
                <a:solidFill>
                  <a:srgbClr val="0432FF"/>
                </a:solidFill>
                <a:latin typeface="Cambria Math"/>
                <a:cs typeface="Cambria Math"/>
              </a:rPr>
              <a:t> </a:t>
            </a:r>
            <a:r>
              <a:rPr sz="1700" kern="1200" dirty="0">
                <a:solidFill>
                  <a:srgbClr val="0432FF"/>
                </a:solidFill>
                <a:latin typeface="Cambria Math"/>
                <a:cs typeface="Cambria Math"/>
              </a:rPr>
              <a:t>→</a:t>
            </a:r>
            <a:r>
              <a:rPr lang="zh-CN" altLang="en-US" sz="1700" kern="1200" spc="95" dirty="0">
                <a:solidFill>
                  <a:srgbClr val="0432FF"/>
                </a:solidFill>
                <a:latin typeface="Cambria Math"/>
                <a:cs typeface="Cambria Math"/>
              </a:rPr>
              <a:t>𝛽</a:t>
            </a:r>
            <a:r>
              <a:rPr sz="1700" b="1" kern="1200" spc="15" dirty="0">
                <a:solidFill>
                  <a:srgbClr val="0432FF"/>
                </a:solidFill>
                <a:latin typeface="Palatino Linotype"/>
                <a:cs typeface="Palatino Linotype"/>
              </a:rPr>
              <a:t>:</a:t>
            </a:r>
            <a:r>
              <a:rPr sz="1700" b="1" kern="1200" dirty="0">
                <a:solidFill>
                  <a:srgbClr val="0432FF"/>
                </a:solidFill>
                <a:latin typeface="Palatino Linotype"/>
                <a:cs typeface="Palatino Linotype"/>
              </a:rPr>
              <a:t> </a:t>
            </a:r>
            <a:r>
              <a:rPr sz="1700" kern="1200" spc="-5" dirty="0">
                <a:solidFill>
                  <a:prstClr val="black"/>
                </a:solidFill>
                <a:latin typeface="Palatino Linotype"/>
                <a:cs typeface="Palatino Linotype"/>
              </a:rPr>
              <a:t>reduce </a:t>
            </a:r>
            <a:r>
              <a:rPr sz="1700" kern="1200" dirty="0">
                <a:solidFill>
                  <a:srgbClr val="0432FF"/>
                </a:solidFill>
                <a:latin typeface="Cambria Math"/>
                <a:cs typeface="Cambria Math"/>
              </a:rPr>
              <a:t>𝛽</a:t>
            </a:r>
            <a:r>
              <a:rPr sz="1700" kern="1200" spc="90" dirty="0">
                <a:solidFill>
                  <a:srgbClr val="0432FF"/>
                </a:solidFill>
                <a:latin typeface="Cambria Math"/>
                <a:cs typeface="Cambria Math"/>
              </a:rPr>
              <a:t> </a:t>
            </a:r>
            <a:r>
              <a:rPr sz="1700" kern="1200" spc="-5" dirty="0">
                <a:solidFill>
                  <a:prstClr val="black"/>
                </a:solidFill>
                <a:latin typeface="Palatino Linotype"/>
                <a:cs typeface="Palatino Linotype"/>
              </a:rPr>
              <a:t>on the top</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of the</a:t>
            </a:r>
            <a:r>
              <a:rPr sz="1700" kern="1200" spc="-10" dirty="0">
                <a:solidFill>
                  <a:prstClr val="black"/>
                </a:solidFill>
                <a:latin typeface="Palatino Linotype"/>
                <a:cs typeface="Palatino Linotype"/>
              </a:rPr>
              <a:t> </a:t>
            </a:r>
            <a:r>
              <a:rPr sz="1700" kern="1200" spc="-5" dirty="0">
                <a:solidFill>
                  <a:prstClr val="black"/>
                </a:solidFill>
                <a:latin typeface="Palatino Linotype"/>
                <a:cs typeface="Palatino Linotype"/>
              </a:rPr>
              <a:t>stack</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to head </a:t>
            </a:r>
            <a:r>
              <a:rPr sz="1700" kern="1200" dirty="0">
                <a:solidFill>
                  <a:srgbClr val="0432FF"/>
                </a:solidFill>
                <a:latin typeface="Cambria Math"/>
                <a:cs typeface="Cambria Math"/>
              </a:rPr>
              <a:t>𝐴</a:t>
            </a:r>
            <a:endParaRPr sz="1700" kern="1200" dirty="0">
              <a:solidFill>
                <a:prstClr val="black"/>
              </a:solidFill>
              <a:latin typeface="Cambria Math"/>
              <a:cs typeface="Cambria Math"/>
            </a:endParaRPr>
          </a:p>
          <a:p>
            <a:pPr marL="736600" lvl="1" indent="-228600" rtl="0">
              <a:spcBef>
                <a:spcPts val="1680"/>
              </a:spcBef>
              <a:buClr>
                <a:srgbClr val="000000"/>
              </a:buClr>
              <a:buFont typeface="Wingdings"/>
              <a:buChar char=""/>
              <a:tabLst>
                <a:tab pos="735965" algn="l"/>
                <a:tab pos="736600" algn="l"/>
              </a:tabLst>
            </a:pPr>
            <a:r>
              <a:rPr sz="1700" b="1" kern="1200" spc="-5" dirty="0">
                <a:solidFill>
                  <a:srgbClr val="0432FF"/>
                </a:solidFill>
                <a:latin typeface="Palatino Linotype"/>
                <a:cs typeface="Palatino Linotype"/>
              </a:rPr>
              <a:t>Accept:</a:t>
            </a:r>
            <a:r>
              <a:rPr sz="1700" b="1" kern="1200" dirty="0">
                <a:solidFill>
                  <a:srgbClr val="0432FF"/>
                </a:solidFill>
                <a:latin typeface="Palatino Linotype"/>
                <a:cs typeface="Palatino Linotype"/>
              </a:rPr>
              <a:t> </a:t>
            </a:r>
            <a:r>
              <a:rPr sz="1700" kern="1200" spc="-5" dirty="0">
                <a:solidFill>
                  <a:prstClr val="black"/>
                </a:solidFill>
                <a:latin typeface="Palatino Linotype"/>
                <a:cs typeface="Palatino Linotype"/>
              </a:rPr>
              <a:t>The</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parser</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accepts</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the input</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and finishes</a:t>
            </a:r>
            <a:r>
              <a:rPr sz="1700" kern="1200" spc="5" dirty="0">
                <a:solidFill>
                  <a:prstClr val="black"/>
                </a:solidFill>
                <a:latin typeface="Palatino Linotype"/>
                <a:cs typeface="Palatino Linotype"/>
              </a:rPr>
              <a:t> </a:t>
            </a:r>
            <a:r>
              <a:rPr sz="1700" kern="1200" dirty="0">
                <a:solidFill>
                  <a:prstClr val="black"/>
                </a:solidFill>
                <a:latin typeface="Palatino Linotype"/>
                <a:cs typeface="Palatino Linotype"/>
              </a:rPr>
              <a:t>parsing</a:t>
            </a:r>
          </a:p>
          <a:p>
            <a:pPr marL="736600" lvl="1" indent="-228600" rtl="0">
              <a:spcBef>
                <a:spcPts val="1560"/>
              </a:spcBef>
              <a:buClr>
                <a:srgbClr val="000000"/>
              </a:buClr>
              <a:buFont typeface="Wingdings"/>
              <a:buChar char=""/>
              <a:tabLst>
                <a:tab pos="735965" algn="l"/>
                <a:tab pos="736600" algn="l"/>
              </a:tabLst>
            </a:pPr>
            <a:r>
              <a:rPr sz="1700" b="1" kern="1200" spc="-5" dirty="0">
                <a:solidFill>
                  <a:srgbClr val="0432FF"/>
                </a:solidFill>
                <a:latin typeface="Palatino Linotype"/>
                <a:cs typeface="Palatino Linotype"/>
              </a:rPr>
              <a:t>Error: </a:t>
            </a:r>
            <a:r>
              <a:rPr sz="1700" kern="1200" spc="-5" dirty="0">
                <a:solidFill>
                  <a:prstClr val="black"/>
                </a:solidFill>
                <a:latin typeface="Palatino Linotype"/>
                <a:cs typeface="Palatino Linotype"/>
              </a:rPr>
              <a:t>syntax</a:t>
            </a:r>
            <a:r>
              <a:rPr sz="1700" kern="1200" spc="-10" dirty="0">
                <a:solidFill>
                  <a:prstClr val="black"/>
                </a:solidFill>
                <a:latin typeface="Palatino Linotype"/>
                <a:cs typeface="Palatino Linotype"/>
              </a:rPr>
              <a:t> </a:t>
            </a:r>
            <a:r>
              <a:rPr sz="1700" kern="1200" spc="-5" dirty="0">
                <a:solidFill>
                  <a:prstClr val="black"/>
                </a:solidFill>
                <a:latin typeface="Palatino Linotype"/>
                <a:cs typeface="Palatino Linotype"/>
              </a:rPr>
              <a:t>errors exist</a:t>
            </a:r>
            <a:endParaRPr sz="1700" kern="1200" dirty="0">
              <a:solidFill>
                <a:prstClr val="black"/>
              </a:solidFill>
              <a:latin typeface="Palatino Linotype"/>
              <a:cs typeface="Palatino Linotype"/>
            </a:endParaRPr>
          </a:p>
          <a:p>
            <a:pPr marL="280670" marR="192405" indent="-230504" rtl="0">
              <a:lnSpc>
                <a:spcPct val="125000"/>
              </a:lnSpc>
              <a:spcBef>
                <a:spcPts val="1645"/>
              </a:spcBef>
              <a:buFont typeface="Arial MT"/>
              <a:buChar char="•"/>
              <a:tabLst>
                <a:tab pos="280670" algn="l"/>
                <a:tab pos="281305" algn="l"/>
              </a:tabLst>
            </a:pP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b="1" kern="1200" spc="-5" dirty="0">
                <a:solidFill>
                  <a:srgbClr val="FF0000"/>
                </a:solidFill>
                <a:latin typeface="Palatino Linotype"/>
                <a:cs typeface="Palatino Linotype"/>
              </a:rPr>
              <a:t>GOTO</a:t>
            </a:r>
            <a:r>
              <a:rPr sz="2000" b="1" kern="1200" dirty="0">
                <a:solidFill>
                  <a:srgbClr val="FF0000"/>
                </a:solidFill>
                <a:latin typeface="Palatino Linotype"/>
                <a:cs typeface="Palatino Linotype"/>
              </a:rPr>
              <a:t> </a:t>
            </a:r>
            <a:r>
              <a:rPr sz="2000" kern="1200" spc="-5" dirty="0">
                <a:solidFill>
                  <a:prstClr val="black"/>
                </a:solidFill>
                <a:latin typeface="Palatino Linotype"/>
                <a:cs typeface="Palatino Linotype"/>
              </a:rPr>
              <a:t>function </a:t>
            </a:r>
            <a:r>
              <a:rPr sz="2000" kern="1200" dirty="0">
                <a:solidFill>
                  <a:prstClr val="black"/>
                </a:solidFill>
                <a:latin typeface="Palatino Linotype"/>
                <a:cs typeface="Palatino Linotype"/>
              </a:rPr>
              <a:t>is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extended</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from 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one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defined</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on</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sets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items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to states:</a:t>
            </a:r>
            <a:r>
              <a:rPr sz="2000" kern="1200" dirty="0">
                <a:solidFill>
                  <a:prstClr val="black"/>
                </a:solidFill>
                <a:latin typeface="Palatino Linotype"/>
                <a:cs typeface="Palatino Linotype"/>
              </a:rPr>
              <a:t> if</a:t>
            </a:r>
            <a:r>
              <a:rPr sz="2000" kern="1200" spc="-5" dirty="0">
                <a:solidFill>
                  <a:prstClr val="black"/>
                </a:solidFill>
                <a:latin typeface="Palatino Linotype"/>
                <a:cs typeface="Palatino Linotype"/>
              </a:rPr>
              <a:t> </a:t>
            </a:r>
            <a:r>
              <a:rPr sz="2000" kern="1200" spc="-80" dirty="0">
                <a:solidFill>
                  <a:prstClr val="black"/>
                </a:solidFill>
                <a:latin typeface="Palatino Linotype"/>
                <a:cs typeface="Palatino Linotype"/>
              </a:rPr>
              <a:t>GOTO(</a:t>
            </a:r>
            <a:r>
              <a:rPr sz="2000" kern="1200" spc="-80" dirty="0">
                <a:solidFill>
                  <a:srgbClr val="0432FF"/>
                </a:solidFill>
                <a:latin typeface="Cambria Math"/>
                <a:cs typeface="Cambria Math"/>
              </a:rPr>
              <a:t>𝐼</a:t>
            </a:r>
            <a:r>
              <a:rPr lang="zh-CN" altLang="en-US" sz="2250" kern="1200" spc="-120" baseline="-14814" dirty="0">
                <a:solidFill>
                  <a:srgbClr val="0432FF"/>
                </a:solidFill>
                <a:latin typeface="Cambria Math"/>
                <a:cs typeface="Cambria Math"/>
              </a:rPr>
              <a:t>𝑖</a:t>
            </a:r>
            <a:r>
              <a:rPr sz="2000" kern="1200" spc="-80"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Cambria Math"/>
                <a:cs typeface="Cambria Math"/>
              </a:rPr>
              <a:t>𝐴</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 </a:t>
            </a:r>
            <a:r>
              <a:rPr sz="2000" kern="1200" spc="-105" dirty="0">
                <a:solidFill>
                  <a:srgbClr val="0432FF"/>
                </a:solidFill>
                <a:latin typeface="Cambria Math"/>
                <a:cs typeface="Cambria Math"/>
              </a:rPr>
              <a:t>𝐼</a:t>
            </a:r>
            <a:r>
              <a:rPr lang="zh-CN" altLang="en-US" sz="2250" kern="1200" spc="-157" baseline="-14814" dirty="0">
                <a:solidFill>
                  <a:srgbClr val="0432FF"/>
                </a:solidFill>
                <a:latin typeface="Cambria Math"/>
                <a:cs typeface="Cambria Math"/>
              </a:rPr>
              <a:t>𝑗</a:t>
            </a:r>
            <a:r>
              <a:rPr sz="2000" kern="1200" spc="-10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then </a:t>
            </a:r>
            <a:r>
              <a:rPr sz="2000" kern="1200" spc="5" dirty="0">
                <a:solidFill>
                  <a:prstClr val="black"/>
                </a:solidFill>
                <a:latin typeface="Palatino Linotype"/>
                <a:cs typeface="Palatino Linotype"/>
              </a:rPr>
              <a:t>GOTO(</a:t>
            </a:r>
            <a:r>
              <a:rPr sz="2000" kern="1200" spc="5" dirty="0">
                <a:solidFill>
                  <a:srgbClr val="0432FF"/>
                </a:solidFill>
                <a:latin typeface="Cambria Math"/>
                <a:cs typeface="Cambria Math"/>
              </a:rPr>
              <a:t>𝑖</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Cambria Math"/>
                <a:cs typeface="Cambria Math"/>
              </a:rPr>
              <a:t>𝐴</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 </a:t>
            </a:r>
            <a:r>
              <a:rPr sz="2000" kern="1200" dirty="0">
                <a:solidFill>
                  <a:srgbClr val="0432FF"/>
                </a:solidFill>
                <a:latin typeface="Cambria Math"/>
                <a:cs typeface="Cambria Math"/>
              </a:rPr>
              <a:t>𝑗</a:t>
            </a:r>
            <a:endParaRPr sz="2000" kern="1200" dirty="0">
              <a:solidFill>
                <a:prstClr val="black"/>
              </a:solidFill>
              <a:latin typeface="Cambria Math"/>
              <a:cs typeface="Cambria Math"/>
            </a:endParaRPr>
          </a:p>
        </p:txBody>
      </p:sp>
    </p:spTree>
    <p:extLst>
      <p:ext uri="{BB962C8B-B14F-4D97-AF65-F5344CB8AC3E}">
        <p14:creationId xmlns:p14="http://schemas.microsoft.com/office/powerpoint/2010/main" val="365444985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120</a:t>
            </a:fld>
            <a:endParaRPr lang="en-US"/>
          </a:p>
        </p:txBody>
      </p:sp>
      <p:sp>
        <p:nvSpPr>
          <p:cNvPr id="17" name="object 2">
            <a:extLst>
              <a:ext uri="{FF2B5EF4-FFF2-40B4-BE49-F238E27FC236}">
                <a16:creationId xmlns:a16="http://schemas.microsoft.com/office/drawing/2014/main" id="{2B3A57A3-A3C7-8631-92FA-F29C56B7063F}"/>
              </a:ext>
            </a:extLst>
          </p:cNvPr>
          <p:cNvSpPr txBox="1">
            <a:spLocks/>
          </p:cNvSpPr>
          <p:nvPr/>
        </p:nvSpPr>
        <p:spPr>
          <a:xfrm>
            <a:off x="707390" y="524763"/>
            <a:ext cx="740346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LR</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Parser</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Configurations</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t>
            </a:r>
            <a:r>
              <a:rPr kumimoji="0" lang="zh-CN" altLang="en-US" sz="3900" b="0" i="0" u="none" strike="noStrike" kern="0" cap="none" spc="110" normalizeH="0" baseline="0" noProof="0">
                <a:ln>
                  <a:noFill/>
                </a:ln>
                <a:solidFill>
                  <a:sysClr val="windowText" lastClr="000000"/>
                </a:solidFill>
                <a:effectLst/>
                <a:uLnTx/>
                <a:uFillTx/>
                <a:latin typeface="SimSun"/>
                <a:ea typeface="宋体" panose="02010600030101010101" pitchFamily="2" charset="-122"/>
                <a:cs typeface="SimSun"/>
              </a:rPr>
              <a:t>态势</a:t>
            </a:r>
            <a:r>
              <a:rPr kumimoji="0" lang="en-US" altLang="zh-CN" sz="4000" b="1" i="0" u="none" strike="noStrike" kern="0" cap="none" spc="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8" name="object 3">
            <a:extLst>
              <a:ext uri="{FF2B5EF4-FFF2-40B4-BE49-F238E27FC236}">
                <a16:creationId xmlns:a16="http://schemas.microsoft.com/office/drawing/2014/main" id="{27864063-56B9-62FC-60ED-EDAB24EA9935}"/>
              </a:ext>
            </a:extLst>
          </p:cNvPr>
          <p:cNvSpPr txBox="1"/>
          <p:nvPr/>
        </p:nvSpPr>
        <p:spPr>
          <a:xfrm>
            <a:off x="707390" y="1600708"/>
            <a:ext cx="7437120" cy="812165"/>
          </a:xfrm>
          <a:prstGeom prst="rect">
            <a:avLst/>
          </a:prstGeom>
        </p:spPr>
        <p:txBody>
          <a:bodyPr vert="horz" wrap="square" lIns="0" tIns="12700" rIns="0" bIns="0" rtlCol="0">
            <a:spAutoFit/>
          </a:bodyPr>
          <a:lstStyle/>
          <a:p>
            <a:pPr marL="242570" marR="5080" indent="-230504" rtl="0">
              <a:lnSpc>
                <a:spcPct val="117300"/>
              </a:lnSpc>
              <a:spcBef>
                <a:spcPts val="100"/>
              </a:spcBef>
              <a:buFont typeface="Arial MT"/>
              <a:buChar char="•"/>
              <a:tabLst>
                <a:tab pos="242570" algn="l"/>
                <a:tab pos="243204" algn="l"/>
              </a:tabLst>
            </a:pPr>
            <a:r>
              <a:rPr sz="2200" kern="1200" spc="-5" dirty="0">
                <a:solidFill>
                  <a:prstClr val="black"/>
                </a:solidFill>
                <a:latin typeface="Palatino Linotype"/>
                <a:cs typeface="Palatino Linotype"/>
              </a:rPr>
              <a:t>“</a:t>
            </a:r>
            <a:r>
              <a:rPr sz="2200" b="1" kern="1200" spc="-5" dirty="0">
                <a:solidFill>
                  <a:srgbClr val="FF0000"/>
                </a:solidFill>
                <a:latin typeface="Palatino Linotype"/>
                <a:cs typeface="Palatino Linotype"/>
              </a:rPr>
              <a:t>Configuration</a:t>
            </a:r>
            <a:r>
              <a:rPr sz="2200" kern="1200" spc="-5" dirty="0">
                <a:solidFill>
                  <a:prstClr val="black"/>
                </a:solidFill>
                <a:latin typeface="Palatino Linotype"/>
                <a:cs typeface="Palatino Linotype"/>
              </a:rPr>
              <a:t>”</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is</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notation for</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representing</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the complete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state</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of</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the </a:t>
            </a:r>
            <a:r>
              <a:rPr sz="2200" kern="1200" spc="-20" dirty="0">
                <a:solidFill>
                  <a:prstClr val="black"/>
                </a:solidFill>
                <a:latin typeface="Palatino Linotype"/>
                <a:cs typeface="Palatino Linotype"/>
              </a:rPr>
              <a:t>parser.</a:t>
            </a:r>
            <a:r>
              <a:rPr sz="2200" kern="1200" spc="-80" dirty="0">
                <a:solidFill>
                  <a:prstClr val="black"/>
                </a:solidFill>
                <a:latin typeface="Palatino Linotype"/>
                <a:cs typeface="Palatino Linotype"/>
              </a:rPr>
              <a:t> </a:t>
            </a:r>
            <a:r>
              <a:rPr sz="2200" kern="1200" dirty="0">
                <a:solidFill>
                  <a:prstClr val="black"/>
                </a:solidFill>
                <a:latin typeface="Palatino Linotype"/>
                <a:cs typeface="Palatino Linotype"/>
              </a:rPr>
              <a:t>A</a:t>
            </a:r>
            <a:r>
              <a:rPr sz="2200" kern="1200" spc="-125" dirty="0">
                <a:solidFill>
                  <a:prstClr val="black"/>
                </a:solidFill>
                <a:latin typeface="Palatino Linotype"/>
                <a:cs typeface="Palatino Linotype"/>
              </a:rPr>
              <a:t> </a:t>
            </a:r>
            <a:r>
              <a:rPr sz="2200" i="1" kern="1200" spc="-5" dirty="0">
                <a:solidFill>
                  <a:prstClr val="black"/>
                </a:solidFill>
                <a:latin typeface="Palatino Linotype"/>
                <a:cs typeface="Palatino Linotype"/>
              </a:rPr>
              <a:t>configuration</a:t>
            </a:r>
            <a:r>
              <a:rPr sz="2200" i="1"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is</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a pair:</a:t>
            </a:r>
          </a:p>
        </p:txBody>
      </p:sp>
      <p:sp>
        <p:nvSpPr>
          <p:cNvPr id="19" name="object 4">
            <a:extLst>
              <a:ext uri="{FF2B5EF4-FFF2-40B4-BE49-F238E27FC236}">
                <a16:creationId xmlns:a16="http://schemas.microsoft.com/office/drawing/2014/main" id="{D2AF8BC1-C4E6-621A-F640-F8837CC89809}"/>
              </a:ext>
            </a:extLst>
          </p:cNvPr>
          <p:cNvSpPr txBox="1"/>
          <p:nvPr/>
        </p:nvSpPr>
        <p:spPr>
          <a:xfrm>
            <a:off x="3054223" y="2731515"/>
            <a:ext cx="3255835" cy="351378"/>
          </a:xfrm>
          <a:prstGeom prst="rect">
            <a:avLst/>
          </a:prstGeom>
        </p:spPr>
        <p:txBody>
          <a:bodyPr vert="horz" wrap="square" lIns="0" tIns="12700" rIns="0" bIns="0" rtlCol="0">
            <a:spAutoFit/>
          </a:bodyPr>
          <a:lstStyle/>
          <a:p>
            <a:pPr marL="38100" rtl="0">
              <a:spcBef>
                <a:spcPts val="100"/>
              </a:spcBef>
            </a:pPr>
            <a:r>
              <a:rPr sz="2200" kern="1200" spc="-5" dirty="0">
                <a:solidFill>
                  <a:prstClr val="black"/>
                </a:solidFill>
                <a:latin typeface="Cambria Math"/>
                <a:cs typeface="Cambria Math"/>
              </a:rPr>
              <a:t>(</a:t>
            </a:r>
            <a:r>
              <a:rPr sz="2200" kern="1200" spc="-60" dirty="0">
                <a:solidFill>
                  <a:prstClr val="black"/>
                </a:solidFill>
                <a:latin typeface="Cambria Math"/>
                <a:cs typeface="Cambria Math"/>
              </a:rPr>
              <a:t>𝑠</a:t>
            </a:r>
            <a:r>
              <a:rPr lang="en-US" altLang="zh-CN" sz="2400" kern="1200" spc="150" baseline="-15625" dirty="0">
                <a:solidFill>
                  <a:prstClr val="black"/>
                </a:solidFill>
                <a:latin typeface="Cambria Math"/>
                <a:cs typeface="Cambria Math"/>
              </a:rPr>
              <a:t>0</a:t>
            </a:r>
            <a:r>
              <a:rPr sz="2200" kern="1200" spc="-110" dirty="0">
                <a:solidFill>
                  <a:prstClr val="black"/>
                </a:solidFill>
                <a:latin typeface="Cambria Math"/>
                <a:cs typeface="Cambria Math"/>
              </a:rPr>
              <a:t>𝑠</a:t>
            </a:r>
            <a:r>
              <a:rPr lang="en-US" altLang="zh-CN" sz="2400" kern="1200" spc="359" baseline="-15625" dirty="0">
                <a:solidFill>
                  <a:prstClr val="black"/>
                </a:solidFill>
                <a:latin typeface="Cambria Math"/>
                <a:cs typeface="Cambria Math"/>
              </a:rPr>
              <a:t>1</a:t>
            </a:r>
            <a:r>
              <a:rPr sz="2400" kern="1200" spc="150" baseline="-15625" dirty="0">
                <a:solidFill>
                  <a:prstClr val="black"/>
                </a:solidFill>
                <a:latin typeface="Cambria Math"/>
                <a:cs typeface="Cambria Math"/>
              </a:rPr>
              <a:t> </a:t>
            </a:r>
            <a:r>
              <a:rPr sz="2200" kern="1200" dirty="0">
                <a:solidFill>
                  <a:prstClr val="black"/>
                </a:solidFill>
                <a:latin typeface="Cambria Math"/>
                <a:cs typeface="Cambria Math"/>
              </a:rPr>
              <a:t>…</a:t>
            </a:r>
            <a:r>
              <a:rPr sz="2200" kern="1200" spc="-125" dirty="0">
                <a:solidFill>
                  <a:prstClr val="black"/>
                </a:solidFill>
                <a:latin typeface="Cambria Math"/>
                <a:cs typeface="Cambria Math"/>
              </a:rPr>
              <a:t> </a:t>
            </a:r>
            <a:r>
              <a:rPr sz="2200" kern="1200" spc="-105" dirty="0">
                <a:solidFill>
                  <a:prstClr val="black"/>
                </a:solidFill>
                <a:latin typeface="Cambria Math"/>
                <a:cs typeface="Cambria Math"/>
              </a:rPr>
              <a:t>𝑠</a:t>
            </a:r>
            <a:r>
              <a:rPr sz="2400" kern="1200" spc="450" baseline="-15625" dirty="0">
                <a:solidFill>
                  <a:prstClr val="black"/>
                </a:solidFill>
                <a:latin typeface="Cambria Math"/>
                <a:cs typeface="Cambria Math"/>
              </a:rPr>
              <a:t>𝑚</a:t>
            </a:r>
            <a:r>
              <a:rPr sz="2200" kern="1200" dirty="0">
                <a:solidFill>
                  <a:prstClr val="black"/>
                </a:solidFill>
                <a:latin typeface="Cambria Math"/>
                <a:cs typeface="Cambria Math"/>
              </a:rPr>
              <a:t>,</a:t>
            </a:r>
            <a:r>
              <a:rPr sz="2200" kern="1200" spc="-120" dirty="0">
                <a:solidFill>
                  <a:prstClr val="black"/>
                </a:solidFill>
                <a:latin typeface="Cambria Math"/>
                <a:cs typeface="Cambria Math"/>
              </a:rPr>
              <a:t> </a:t>
            </a:r>
            <a:r>
              <a:rPr sz="2200" kern="1200" spc="-5" dirty="0">
                <a:solidFill>
                  <a:prstClr val="black"/>
                </a:solidFill>
                <a:latin typeface="Cambria Math"/>
                <a:cs typeface="Cambria Math"/>
              </a:rPr>
              <a:t>𝑎</a:t>
            </a:r>
            <a:r>
              <a:rPr sz="2400" kern="1200" spc="390" baseline="-15625" dirty="0">
                <a:solidFill>
                  <a:prstClr val="black"/>
                </a:solidFill>
                <a:latin typeface="Cambria Math"/>
                <a:cs typeface="Cambria Math"/>
              </a:rPr>
              <a:t>i</a:t>
            </a:r>
            <a:r>
              <a:rPr sz="2200" kern="1200" spc="-5" dirty="0">
                <a:solidFill>
                  <a:prstClr val="black"/>
                </a:solidFill>
                <a:latin typeface="Cambria Math"/>
                <a:cs typeface="Cambria Math"/>
              </a:rPr>
              <a:t>𝑎</a:t>
            </a:r>
            <a:r>
              <a:rPr sz="2400" kern="1200" spc="254" baseline="-15625" dirty="0">
                <a:solidFill>
                  <a:prstClr val="black"/>
                </a:solidFill>
                <a:latin typeface="Cambria Math"/>
                <a:cs typeface="Cambria Math"/>
              </a:rPr>
              <a:t>i</a:t>
            </a:r>
            <a:r>
              <a:rPr lang="en-US" sz="2400" kern="1200" spc="742" baseline="-15625" dirty="0">
                <a:solidFill>
                  <a:prstClr val="black"/>
                </a:solidFill>
                <a:latin typeface="Cambria Math"/>
                <a:cs typeface="Cambria Math"/>
              </a:rPr>
              <a:t>+</a:t>
            </a:r>
            <a:r>
              <a:rPr lang="en-US" altLang="zh-CN" sz="2400" kern="1200" spc="742" baseline="-15625" dirty="0">
                <a:solidFill>
                  <a:prstClr val="black"/>
                </a:solidFill>
                <a:latin typeface="Cambria Math"/>
                <a:cs typeface="Cambria Math"/>
              </a:rPr>
              <a:t>1</a:t>
            </a:r>
            <a:r>
              <a:rPr sz="2400" kern="1200" spc="150" baseline="-15625" dirty="0">
                <a:solidFill>
                  <a:prstClr val="black"/>
                </a:solidFill>
                <a:latin typeface="Cambria Math"/>
                <a:cs typeface="Cambria Math"/>
              </a:rPr>
              <a:t> </a:t>
            </a:r>
            <a:r>
              <a:rPr sz="2200" kern="1200" dirty="0">
                <a:solidFill>
                  <a:prstClr val="black"/>
                </a:solidFill>
                <a:latin typeface="Cambria Math"/>
                <a:cs typeface="Cambria Math"/>
              </a:rPr>
              <a:t>…</a:t>
            </a:r>
            <a:r>
              <a:rPr lang="zh-CN" altLang="en-US" sz="2200" kern="1200" spc="-125" dirty="0">
                <a:solidFill>
                  <a:prstClr val="black"/>
                </a:solidFill>
                <a:latin typeface="Cambria Math"/>
                <a:cs typeface="Cambria Math"/>
              </a:rPr>
              <a:t> </a:t>
            </a:r>
            <a:r>
              <a:rPr sz="2200" kern="1200" spc="-5" dirty="0">
                <a:solidFill>
                  <a:prstClr val="black"/>
                </a:solidFill>
                <a:latin typeface="Cambria Math"/>
                <a:cs typeface="Cambria Math"/>
              </a:rPr>
              <a:t>𝑎</a:t>
            </a:r>
            <a:r>
              <a:rPr sz="2400" kern="1200" spc="487" baseline="-15625" dirty="0">
                <a:solidFill>
                  <a:prstClr val="black"/>
                </a:solidFill>
                <a:latin typeface="Cambria Math"/>
                <a:cs typeface="Cambria Math"/>
              </a:rPr>
              <a:t>𝑛</a:t>
            </a:r>
            <a:r>
              <a:rPr sz="2200" kern="1200" spc="-5" dirty="0">
                <a:solidFill>
                  <a:prstClr val="black"/>
                </a:solidFill>
                <a:latin typeface="Cambria Math"/>
                <a:cs typeface="Cambria Math"/>
              </a:rPr>
              <a:t>$</a:t>
            </a:r>
            <a:r>
              <a:rPr sz="2200" kern="1200" dirty="0">
                <a:solidFill>
                  <a:prstClr val="black"/>
                </a:solidFill>
                <a:latin typeface="Cambria Math"/>
                <a:cs typeface="Cambria Math"/>
              </a:rPr>
              <a:t>)</a:t>
            </a:r>
          </a:p>
        </p:txBody>
      </p:sp>
      <p:grpSp>
        <p:nvGrpSpPr>
          <p:cNvPr id="20" name="object 5">
            <a:extLst>
              <a:ext uri="{FF2B5EF4-FFF2-40B4-BE49-F238E27FC236}">
                <a16:creationId xmlns:a16="http://schemas.microsoft.com/office/drawing/2014/main" id="{21B10D14-2331-0365-41B0-2A495C28071D}"/>
              </a:ext>
            </a:extLst>
          </p:cNvPr>
          <p:cNvGrpSpPr/>
          <p:nvPr/>
        </p:nvGrpSpPr>
        <p:grpSpPr>
          <a:xfrm>
            <a:off x="2799043" y="3012192"/>
            <a:ext cx="1547495" cy="191770"/>
            <a:chOff x="2799043" y="3012192"/>
            <a:chExt cx="1547495" cy="191770"/>
          </a:xfrm>
        </p:grpSpPr>
        <p:sp>
          <p:nvSpPr>
            <p:cNvPr id="21" name="object 6">
              <a:extLst>
                <a:ext uri="{FF2B5EF4-FFF2-40B4-BE49-F238E27FC236}">
                  <a16:creationId xmlns:a16="http://schemas.microsoft.com/office/drawing/2014/main" id="{B926DE38-08BD-A208-CFAC-50F587233668}"/>
                </a:ext>
              </a:extLst>
            </p:cNvPr>
            <p:cNvSpPr/>
            <p:nvPr/>
          </p:nvSpPr>
          <p:spPr>
            <a:xfrm>
              <a:off x="3210909" y="3189889"/>
              <a:ext cx="1135380" cy="0"/>
            </a:xfrm>
            <a:custGeom>
              <a:avLst/>
              <a:gdLst/>
              <a:ahLst/>
              <a:cxnLst/>
              <a:rect l="l" t="t" r="r" b="b"/>
              <a:pathLst>
                <a:path w="1135379">
                  <a:moveTo>
                    <a:pt x="0" y="0"/>
                  </a:moveTo>
                  <a:lnTo>
                    <a:pt x="1135118" y="1"/>
                  </a:lnTo>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7">
              <a:extLst>
                <a:ext uri="{FF2B5EF4-FFF2-40B4-BE49-F238E27FC236}">
                  <a16:creationId xmlns:a16="http://schemas.microsoft.com/office/drawing/2014/main" id="{96806868-5BFA-BF68-8923-F7F74A6716B7}"/>
                </a:ext>
              </a:extLst>
            </p:cNvPr>
            <p:cNvSpPr/>
            <p:nvPr/>
          </p:nvSpPr>
          <p:spPr>
            <a:xfrm>
              <a:off x="2799043" y="3012192"/>
              <a:ext cx="414655" cy="191770"/>
            </a:xfrm>
            <a:custGeom>
              <a:avLst/>
              <a:gdLst/>
              <a:ahLst/>
              <a:cxnLst/>
              <a:rect l="l" t="t" r="r" b="b"/>
              <a:pathLst>
                <a:path w="414655" h="191769">
                  <a:moveTo>
                    <a:pt x="72298" y="29057"/>
                  </a:moveTo>
                  <a:lnTo>
                    <a:pt x="67180" y="40681"/>
                  </a:lnTo>
                  <a:lnTo>
                    <a:pt x="409308" y="191307"/>
                  </a:lnTo>
                  <a:lnTo>
                    <a:pt x="414425" y="179683"/>
                  </a:lnTo>
                  <a:lnTo>
                    <a:pt x="72298" y="29057"/>
                  </a:lnTo>
                  <a:close/>
                </a:path>
                <a:path w="414655" h="191769">
                  <a:moveTo>
                    <a:pt x="85091" y="0"/>
                  </a:moveTo>
                  <a:lnTo>
                    <a:pt x="0" y="4165"/>
                  </a:lnTo>
                  <a:lnTo>
                    <a:pt x="54387" y="69739"/>
                  </a:lnTo>
                  <a:lnTo>
                    <a:pt x="67180" y="40681"/>
                  </a:lnTo>
                  <a:lnTo>
                    <a:pt x="55557" y="35563"/>
                  </a:lnTo>
                  <a:lnTo>
                    <a:pt x="60675" y="23940"/>
                  </a:lnTo>
                  <a:lnTo>
                    <a:pt x="74551" y="23940"/>
                  </a:lnTo>
                  <a:lnTo>
                    <a:pt x="85091" y="0"/>
                  </a:lnTo>
                  <a:close/>
                </a:path>
                <a:path w="414655" h="191769">
                  <a:moveTo>
                    <a:pt x="60675" y="23940"/>
                  </a:moveTo>
                  <a:lnTo>
                    <a:pt x="55557" y="35563"/>
                  </a:lnTo>
                  <a:lnTo>
                    <a:pt x="67180" y="40681"/>
                  </a:lnTo>
                  <a:lnTo>
                    <a:pt x="72298" y="29057"/>
                  </a:lnTo>
                  <a:lnTo>
                    <a:pt x="60675" y="23940"/>
                  </a:lnTo>
                  <a:close/>
                </a:path>
                <a:path w="414655" h="191769">
                  <a:moveTo>
                    <a:pt x="74551" y="23940"/>
                  </a:moveTo>
                  <a:lnTo>
                    <a:pt x="60675" y="23940"/>
                  </a:lnTo>
                  <a:lnTo>
                    <a:pt x="72298" y="29057"/>
                  </a:lnTo>
                  <a:lnTo>
                    <a:pt x="74551" y="2394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pSp>
        <p:nvGrpSpPr>
          <p:cNvPr id="23" name="object 8">
            <a:extLst>
              <a:ext uri="{FF2B5EF4-FFF2-40B4-BE49-F238E27FC236}">
                <a16:creationId xmlns:a16="http://schemas.microsoft.com/office/drawing/2014/main" id="{475C5F75-95FD-A17D-C45A-B9B6009C82AA}"/>
              </a:ext>
            </a:extLst>
          </p:cNvPr>
          <p:cNvGrpSpPr/>
          <p:nvPr/>
        </p:nvGrpSpPr>
        <p:grpSpPr>
          <a:xfrm>
            <a:off x="4456388" y="3010118"/>
            <a:ext cx="1853564" cy="186690"/>
            <a:chOff x="4456388" y="3010118"/>
            <a:chExt cx="1853564" cy="186690"/>
          </a:xfrm>
        </p:grpSpPr>
        <p:sp>
          <p:nvSpPr>
            <p:cNvPr id="24" name="object 9">
              <a:extLst>
                <a:ext uri="{FF2B5EF4-FFF2-40B4-BE49-F238E27FC236}">
                  <a16:creationId xmlns:a16="http://schemas.microsoft.com/office/drawing/2014/main" id="{14E7FC9B-FA7D-0F29-32BE-F633FE5D024A}"/>
                </a:ext>
              </a:extLst>
            </p:cNvPr>
            <p:cNvSpPr/>
            <p:nvPr/>
          </p:nvSpPr>
          <p:spPr>
            <a:xfrm>
              <a:off x="4456388" y="3189889"/>
              <a:ext cx="1476375" cy="0"/>
            </a:xfrm>
            <a:custGeom>
              <a:avLst/>
              <a:gdLst/>
              <a:ahLst/>
              <a:cxnLst/>
              <a:rect l="l" t="t" r="r" b="b"/>
              <a:pathLst>
                <a:path w="1476375">
                  <a:moveTo>
                    <a:pt x="0" y="0"/>
                  </a:moveTo>
                  <a:lnTo>
                    <a:pt x="1476000" y="1"/>
                  </a:lnTo>
                </a:path>
              </a:pathLst>
            </a:custGeom>
            <a:ln w="12700">
              <a:solidFill>
                <a:srgbClr val="0432F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10">
              <a:extLst>
                <a:ext uri="{FF2B5EF4-FFF2-40B4-BE49-F238E27FC236}">
                  <a16:creationId xmlns:a16="http://schemas.microsoft.com/office/drawing/2014/main" id="{F282DFE3-77D3-B3D1-4C73-743885CC0395}"/>
                </a:ext>
              </a:extLst>
            </p:cNvPr>
            <p:cNvSpPr/>
            <p:nvPr/>
          </p:nvSpPr>
          <p:spPr>
            <a:xfrm>
              <a:off x="5920803" y="3010118"/>
              <a:ext cx="389255" cy="186055"/>
            </a:xfrm>
            <a:custGeom>
              <a:avLst/>
              <a:gdLst/>
              <a:ahLst/>
              <a:cxnLst/>
              <a:rect l="l" t="t" r="r" b="b"/>
              <a:pathLst>
                <a:path w="389254" h="186055">
                  <a:moveTo>
                    <a:pt x="316816" y="28865"/>
                  </a:moveTo>
                  <a:lnTo>
                    <a:pt x="0" y="173998"/>
                  </a:lnTo>
                  <a:lnTo>
                    <a:pt x="5289" y="185544"/>
                  </a:lnTo>
                  <a:lnTo>
                    <a:pt x="322106" y="40412"/>
                  </a:lnTo>
                  <a:lnTo>
                    <a:pt x="316816" y="28865"/>
                  </a:lnTo>
                  <a:close/>
                </a:path>
                <a:path w="389254" h="186055">
                  <a:moveTo>
                    <a:pt x="372103" y="23576"/>
                  </a:moveTo>
                  <a:lnTo>
                    <a:pt x="328362" y="23576"/>
                  </a:lnTo>
                  <a:lnTo>
                    <a:pt x="333651" y="35123"/>
                  </a:lnTo>
                  <a:lnTo>
                    <a:pt x="322106" y="40412"/>
                  </a:lnTo>
                  <a:lnTo>
                    <a:pt x="335329" y="69277"/>
                  </a:lnTo>
                  <a:lnTo>
                    <a:pt x="372103" y="23576"/>
                  </a:lnTo>
                  <a:close/>
                </a:path>
                <a:path w="389254" h="186055">
                  <a:moveTo>
                    <a:pt x="328362" y="23576"/>
                  </a:moveTo>
                  <a:lnTo>
                    <a:pt x="316816" y="28865"/>
                  </a:lnTo>
                  <a:lnTo>
                    <a:pt x="322106" y="40412"/>
                  </a:lnTo>
                  <a:lnTo>
                    <a:pt x="333651" y="35123"/>
                  </a:lnTo>
                  <a:lnTo>
                    <a:pt x="328362" y="23576"/>
                  </a:lnTo>
                  <a:close/>
                </a:path>
                <a:path w="389254" h="186055">
                  <a:moveTo>
                    <a:pt x="303593" y="0"/>
                  </a:moveTo>
                  <a:lnTo>
                    <a:pt x="316816" y="28865"/>
                  </a:lnTo>
                  <a:lnTo>
                    <a:pt x="328362" y="23576"/>
                  </a:lnTo>
                  <a:lnTo>
                    <a:pt x="372103" y="23576"/>
                  </a:lnTo>
                  <a:lnTo>
                    <a:pt x="388738" y="2903"/>
                  </a:lnTo>
                  <a:lnTo>
                    <a:pt x="303593"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6" name="object 11">
            <a:extLst>
              <a:ext uri="{FF2B5EF4-FFF2-40B4-BE49-F238E27FC236}">
                <a16:creationId xmlns:a16="http://schemas.microsoft.com/office/drawing/2014/main" id="{E4AC52F3-54AF-599E-5511-491B16C5F075}"/>
              </a:ext>
            </a:extLst>
          </p:cNvPr>
          <p:cNvSpPr txBox="1"/>
          <p:nvPr/>
        </p:nvSpPr>
        <p:spPr>
          <a:xfrm>
            <a:off x="955185" y="2712211"/>
            <a:ext cx="1755775" cy="568325"/>
          </a:xfrm>
          <a:prstGeom prst="rect">
            <a:avLst/>
          </a:prstGeom>
        </p:spPr>
        <p:txBody>
          <a:bodyPr vert="horz" wrap="square" lIns="0" tIns="26670" rIns="0" bIns="0" rtlCol="0">
            <a:spAutoFit/>
          </a:bodyPr>
          <a:lstStyle/>
          <a:p>
            <a:pPr marL="12700" marR="5080" indent="142875" rtl="0">
              <a:lnSpc>
                <a:spcPts val="2110"/>
              </a:lnSpc>
              <a:spcBef>
                <a:spcPts val="210"/>
              </a:spcBef>
            </a:pPr>
            <a:r>
              <a:rPr kern="1200" dirty="0">
                <a:solidFill>
                  <a:srgbClr val="FF0000"/>
                </a:solidFill>
                <a:latin typeface="Palatino Linotype"/>
                <a:cs typeface="Palatino Linotype"/>
              </a:rPr>
              <a:t>Stack contents </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(top</a:t>
            </a:r>
            <a:r>
              <a:rPr kern="1200" spc="-20" dirty="0">
                <a:solidFill>
                  <a:srgbClr val="FF0000"/>
                </a:solidFill>
                <a:latin typeface="Palatino Linotype"/>
                <a:cs typeface="Palatino Linotype"/>
              </a:rPr>
              <a:t> </a:t>
            </a:r>
            <a:r>
              <a:rPr kern="1200" dirty="0">
                <a:solidFill>
                  <a:srgbClr val="FF0000"/>
                </a:solidFill>
                <a:latin typeface="Palatino Linotype"/>
                <a:cs typeface="Palatino Linotype"/>
              </a:rPr>
              <a:t>on</a:t>
            </a:r>
            <a:r>
              <a:rPr kern="1200" spc="-25" dirty="0">
                <a:solidFill>
                  <a:srgbClr val="FF0000"/>
                </a:solidFill>
                <a:latin typeface="Palatino Linotype"/>
                <a:cs typeface="Palatino Linotype"/>
              </a:rPr>
              <a:t> </a:t>
            </a:r>
            <a:r>
              <a:rPr kern="1200" dirty="0">
                <a:solidFill>
                  <a:srgbClr val="FF0000"/>
                </a:solidFill>
                <a:latin typeface="Palatino Linotype"/>
                <a:cs typeface="Palatino Linotype"/>
              </a:rPr>
              <a:t>the</a:t>
            </a:r>
            <a:r>
              <a:rPr kern="1200" spc="-25" dirty="0">
                <a:solidFill>
                  <a:srgbClr val="FF0000"/>
                </a:solidFill>
                <a:latin typeface="Palatino Linotype"/>
                <a:cs typeface="Palatino Linotype"/>
              </a:rPr>
              <a:t> </a:t>
            </a:r>
            <a:r>
              <a:rPr kern="1200" spc="-5" dirty="0">
                <a:solidFill>
                  <a:srgbClr val="FF0000"/>
                </a:solidFill>
                <a:latin typeface="Palatino Linotype"/>
                <a:cs typeface="Palatino Linotype"/>
              </a:rPr>
              <a:t>right)</a:t>
            </a:r>
            <a:endParaRPr kern="1200">
              <a:solidFill>
                <a:prstClr val="black"/>
              </a:solidFill>
              <a:latin typeface="Palatino Linotype"/>
              <a:cs typeface="Palatino Linotype"/>
            </a:endParaRPr>
          </a:p>
        </p:txBody>
      </p:sp>
      <p:sp>
        <p:nvSpPr>
          <p:cNvPr id="27" name="object 12">
            <a:extLst>
              <a:ext uri="{FF2B5EF4-FFF2-40B4-BE49-F238E27FC236}">
                <a16:creationId xmlns:a16="http://schemas.microsoft.com/office/drawing/2014/main" id="{493C5531-9354-6215-2A0B-BDB9F1AF62FF}"/>
              </a:ext>
            </a:extLst>
          </p:cNvPr>
          <p:cNvSpPr txBox="1"/>
          <p:nvPr/>
        </p:nvSpPr>
        <p:spPr>
          <a:xfrm>
            <a:off x="6397538" y="2849371"/>
            <a:ext cx="1738630" cy="299720"/>
          </a:xfrm>
          <a:prstGeom prst="rect">
            <a:avLst/>
          </a:prstGeom>
        </p:spPr>
        <p:txBody>
          <a:bodyPr vert="horz" wrap="square" lIns="0" tIns="12700" rIns="0" bIns="0" rtlCol="0">
            <a:spAutoFit/>
          </a:bodyPr>
          <a:lstStyle/>
          <a:p>
            <a:pPr marL="12700" rtl="0">
              <a:spcBef>
                <a:spcPts val="100"/>
              </a:spcBef>
            </a:pPr>
            <a:r>
              <a:rPr kern="1200" spc="-5">
                <a:solidFill>
                  <a:srgbClr val="0432FF"/>
                </a:solidFill>
                <a:latin typeface="Palatino Linotype"/>
                <a:cs typeface="Palatino Linotype"/>
              </a:rPr>
              <a:t>Remaining</a:t>
            </a:r>
            <a:r>
              <a:rPr kern="1200" spc="-55">
                <a:solidFill>
                  <a:srgbClr val="0432FF"/>
                </a:solidFill>
                <a:latin typeface="Palatino Linotype"/>
                <a:cs typeface="Palatino Linotype"/>
              </a:rPr>
              <a:t> </a:t>
            </a:r>
            <a:r>
              <a:rPr kern="1200">
                <a:solidFill>
                  <a:srgbClr val="0432FF"/>
                </a:solidFill>
                <a:latin typeface="Palatino Linotype"/>
                <a:cs typeface="Palatino Linotype"/>
              </a:rPr>
              <a:t>input</a:t>
            </a:r>
            <a:endParaRPr kern="1200" dirty="0">
              <a:solidFill>
                <a:prstClr val="black"/>
              </a:solidFill>
              <a:latin typeface="Palatino Linotype"/>
              <a:cs typeface="Palatino Linotype"/>
            </a:endParaRPr>
          </a:p>
        </p:txBody>
      </p:sp>
      <p:sp>
        <p:nvSpPr>
          <p:cNvPr id="28" name="object 13">
            <a:extLst>
              <a:ext uri="{FF2B5EF4-FFF2-40B4-BE49-F238E27FC236}">
                <a16:creationId xmlns:a16="http://schemas.microsoft.com/office/drawing/2014/main" id="{9574E47F-65A5-C3FD-BFC3-AEE67D235EDF}"/>
              </a:ext>
            </a:extLst>
          </p:cNvPr>
          <p:cNvSpPr txBox="1"/>
          <p:nvPr/>
        </p:nvSpPr>
        <p:spPr>
          <a:xfrm>
            <a:off x="681990" y="3710939"/>
            <a:ext cx="7762240" cy="2038985"/>
          </a:xfrm>
          <a:prstGeom prst="rect">
            <a:avLst/>
          </a:prstGeom>
        </p:spPr>
        <p:txBody>
          <a:bodyPr vert="horz" wrap="square" lIns="0" tIns="6350" rIns="0" bIns="0" rtlCol="0">
            <a:spAutoFit/>
          </a:bodyPr>
          <a:lstStyle/>
          <a:p>
            <a:pPr marL="267970" marR="30480" indent="-230504" rtl="0">
              <a:lnSpc>
                <a:spcPct val="119000"/>
              </a:lnSpc>
              <a:spcBef>
                <a:spcPts val="50"/>
              </a:spcBef>
              <a:buFont typeface="Arial MT"/>
              <a:buChar char="•"/>
              <a:tabLst>
                <a:tab pos="267970" algn="l"/>
                <a:tab pos="268605" algn="l"/>
              </a:tabLst>
            </a:pPr>
            <a:r>
              <a:rPr sz="2000" kern="1200" dirty="0">
                <a:solidFill>
                  <a:prstClr val="black"/>
                </a:solidFill>
                <a:latin typeface="Palatino Linotype"/>
                <a:cs typeface="Palatino Linotype"/>
              </a:rPr>
              <a:t>By </a:t>
            </a:r>
            <a:r>
              <a:rPr sz="2000" kern="1200" spc="-5" dirty="0">
                <a:solidFill>
                  <a:prstClr val="black"/>
                </a:solidFill>
                <a:latin typeface="Palatino Linotype"/>
                <a:cs typeface="Palatino Linotype"/>
              </a:rPr>
              <a:t>construction, each state (except </a:t>
            </a:r>
            <a:r>
              <a:rPr sz="2000" kern="1200" spc="15" dirty="0">
                <a:solidFill>
                  <a:prstClr val="black"/>
                </a:solidFill>
                <a:latin typeface="Cambria Math"/>
                <a:cs typeface="Cambria Math"/>
              </a:rPr>
              <a:t>𝑠</a:t>
            </a:r>
            <a:r>
              <a:rPr lang="en-US" sz="2250" kern="1200" spc="22" baseline="-14814" dirty="0">
                <a:solidFill>
                  <a:prstClr val="black"/>
                </a:solidFill>
                <a:latin typeface="Cambria Math"/>
                <a:cs typeface="Cambria Math"/>
              </a:rPr>
              <a:t>0</a:t>
            </a:r>
            <a:r>
              <a:rPr sz="2000" kern="1200" spc="15" dirty="0">
                <a:solidFill>
                  <a:prstClr val="black"/>
                </a:solidFill>
                <a:latin typeface="Palatino Linotype"/>
                <a:cs typeface="Palatino Linotype"/>
              </a:rPr>
              <a:t>) </a:t>
            </a:r>
            <a:r>
              <a:rPr sz="2000" kern="1200" dirty="0">
                <a:solidFill>
                  <a:prstClr val="black"/>
                </a:solidFill>
                <a:latin typeface="Palatino Linotype"/>
                <a:cs typeface="Palatino Linotype"/>
              </a:rPr>
              <a:t>in an LR </a:t>
            </a:r>
            <a:r>
              <a:rPr sz="2000" kern="1200" spc="-5" dirty="0">
                <a:solidFill>
                  <a:prstClr val="black"/>
                </a:solidFill>
                <a:latin typeface="Palatino Linotype"/>
                <a:cs typeface="Palatino Linotype"/>
              </a:rPr>
              <a:t>parser corresponds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to </a:t>
            </a:r>
            <a:r>
              <a:rPr sz="2000" kern="1200" dirty="0">
                <a:solidFill>
                  <a:prstClr val="black"/>
                </a:solidFill>
                <a:latin typeface="Palatino Linotype"/>
                <a:cs typeface="Palatino Linotype"/>
              </a:rPr>
              <a:t>a set </a:t>
            </a:r>
            <a:r>
              <a:rPr sz="2000" kern="1200" spc="-5" dirty="0">
                <a:solidFill>
                  <a:prstClr val="black"/>
                </a:solidFill>
                <a:latin typeface="Palatino Linotype"/>
                <a:cs typeface="Palatino Linotype"/>
              </a:rPr>
              <a:t>of items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grammar symbol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symbol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that</a:t>
            </a:r>
            <a:r>
              <a:rPr sz="2000" kern="1200" dirty="0">
                <a:solidFill>
                  <a:prstClr val="black"/>
                </a:solidFill>
                <a:latin typeface="Palatino Linotype"/>
                <a:cs typeface="Palatino Linotype"/>
              </a:rPr>
              <a:t> leads </a:t>
            </a:r>
            <a:r>
              <a:rPr sz="2000" kern="1200" spc="-5" dirty="0">
                <a:solidFill>
                  <a:prstClr val="black"/>
                </a:solidFill>
                <a:latin typeface="Palatino Linotype"/>
                <a:cs typeface="Palatino Linotype"/>
              </a:rPr>
              <a:t>to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state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transition,</a:t>
            </a:r>
            <a:r>
              <a:rPr sz="2000" kern="1200" dirty="0">
                <a:solidFill>
                  <a:prstClr val="black"/>
                </a:solidFill>
                <a:latin typeface="Palatino Linotype"/>
                <a:cs typeface="Palatino Linotype"/>
              </a:rPr>
              <a:t> i.e.,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symbol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on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incoming</a:t>
            </a:r>
            <a:r>
              <a:rPr sz="2000" kern="1200" dirty="0">
                <a:solidFill>
                  <a:prstClr val="black"/>
                </a:solidFill>
                <a:latin typeface="Palatino Linotype"/>
                <a:cs typeface="Palatino Linotype"/>
              </a:rPr>
              <a:t> edges)</a:t>
            </a:r>
          </a:p>
          <a:p>
            <a:pPr marL="723900" lvl="1" indent="-228600" rtl="0">
              <a:spcBef>
                <a:spcPts val="1695"/>
              </a:spcBef>
              <a:buFont typeface="Wingdings"/>
              <a:buChar char=""/>
              <a:tabLst>
                <a:tab pos="723265" algn="l"/>
                <a:tab pos="723900" algn="l"/>
              </a:tabLst>
            </a:pPr>
            <a:r>
              <a:rPr sz="1700" kern="1200" spc="-5" dirty="0">
                <a:solidFill>
                  <a:prstClr val="black"/>
                </a:solidFill>
                <a:latin typeface="Palatino Linotype"/>
                <a:cs typeface="Palatino Linotype"/>
              </a:rPr>
              <a:t>Suppose </a:t>
            </a:r>
            <a:r>
              <a:rPr sz="1700" kern="1200" spc="5" dirty="0">
                <a:solidFill>
                  <a:prstClr val="black"/>
                </a:solidFill>
                <a:latin typeface="Cambria Math"/>
                <a:cs typeface="Cambria Math"/>
              </a:rPr>
              <a:t>𝑋</a:t>
            </a:r>
            <a:r>
              <a:rPr kern="1200" spc="7" baseline="-16203" dirty="0">
                <a:solidFill>
                  <a:prstClr val="black"/>
                </a:solidFill>
                <a:latin typeface="Cambria Math"/>
                <a:cs typeface="Cambria Math"/>
              </a:rPr>
              <a:t>i</a:t>
            </a:r>
            <a:r>
              <a:rPr kern="1200" spc="37" baseline="-16203" dirty="0">
                <a:solidFill>
                  <a:prstClr val="black"/>
                </a:solidFill>
                <a:latin typeface="Cambria Math"/>
                <a:cs typeface="Cambria Math"/>
              </a:rPr>
              <a:t> </a:t>
            </a:r>
            <a:r>
              <a:rPr sz="1700" kern="1200" dirty="0">
                <a:solidFill>
                  <a:prstClr val="black"/>
                </a:solidFill>
                <a:latin typeface="Palatino Linotype"/>
                <a:cs typeface="Palatino Linotype"/>
              </a:rPr>
              <a:t>is </a:t>
            </a:r>
            <a:r>
              <a:rPr sz="1700" kern="1200" spc="-5" dirty="0">
                <a:solidFill>
                  <a:prstClr val="black"/>
                </a:solidFill>
                <a:latin typeface="Palatino Linotype"/>
                <a:cs typeface="Palatino Linotype"/>
              </a:rPr>
              <a:t>the grammar</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symbol</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for</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state </a:t>
            </a:r>
            <a:r>
              <a:rPr sz="1700" kern="1200" spc="20" dirty="0">
                <a:solidFill>
                  <a:prstClr val="black"/>
                </a:solidFill>
                <a:latin typeface="Cambria Math"/>
                <a:cs typeface="Cambria Math"/>
              </a:rPr>
              <a:t>𝑠</a:t>
            </a:r>
            <a:r>
              <a:rPr kern="1200" spc="30" baseline="-16203" dirty="0">
                <a:solidFill>
                  <a:prstClr val="black"/>
                </a:solidFill>
                <a:latin typeface="Cambria Math"/>
                <a:cs typeface="Cambria Math"/>
              </a:rPr>
              <a:t>i</a:t>
            </a:r>
            <a:endParaRPr kern="1200" baseline="-16203" dirty="0">
              <a:solidFill>
                <a:prstClr val="black"/>
              </a:solidFill>
              <a:latin typeface="Cambria Math"/>
              <a:cs typeface="Cambria Math"/>
            </a:endParaRPr>
          </a:p>
          <a:p>
            <a:pPr marL="723900" lvl="1" indent="-228600" rtl="0">
              <a:spcBef>
                <a:spcPts val="1560"/>
              </a:spcBef>
              <a:buFont typeface="Wingdings"/>
              <a:buChar char=""/>
              <a:tabLst>
                <a:tab pos="723265" algn="l"/>
                <a:tab pos="723900" algn="l"/>
              </a:tabLst>
            </a:pPr>
            <a:r>
              <a:rPr sz="1700" kern="1200" spc="-5" dirty="0">
                <a:solidFill>
                  <a:prstClr val="black"/>
                </a:solidFill>
                <a:latin typeface="Palatino Linotype"/>
                <a:cs typeface="Palatino Linotype"/>
              </a:rPr>
              <a:t>Then</a:t>
            </a:r>
            <a:r>
              <a:rPr sz="1700" kern="1200" dirty="0">
                <a:solidFill>
                  <a:prstClr val="black"/>
                </a:solidFill>
                <a:latin typeface="Palatino Linotype"/>
                <a:cs typeface="Palatino Linotype"/>
              </a:rPr>
              <a:t> </a:t>
            </a:r>
            <a:r>
              <a:rPr sz="1700" kern="1200" spc="-55" dirty="0">
                <a:solidFill>
                  <a:srgbClr val="FF0000"/>
                </a:solidFill>
                <a:latin typeface="Cambria Math"/>
                <a:cs typeface="Cambria Math"/>
              </a:rPr>
              <a:t>𝑋</a:t>
            </a:r>
            <a:r>
              <a:rPr lang="en-US" sz="1700" kern="1200" spc="-82" baseline="-16203" dirty="0">
                <a:solidFill>
                  <a:srgbClr val="FF0000"/>
                </a:solidFill>
                <a:latin typeface="Cambria Math"/>
                <a:cs typeface="Cambria Math"/>
              </a:rPr>
              <a:t>0</a:t>
            </a:r>
            <a:r>
              <a:rPr sz="1700" kern="1200" spc="-55" dirty="0">
                <a:solidFill>
                  <a:srgbClr val="FF0000"/>
                </a:solidFill>
                <a:latin typeface="Cambria Math"/>
                <a:cs typeface="Cambria Math"/>
              </a:rPr>
              <a:t>𝑋</a:t>
            </a:r>
            <a:r>
              <a:rPr kern="1200" spc="-82" baseline="-16203" dirty="0">
                <a:solidFill>
                  <a:srgbClr val="FF0000"/>
                </a:solidFill>
                <a:latin typeface="Cambria Math"/>
                <a:cs typeface="Cambria Math"/>
              </a:rPr>
              <a:t>1</a:t>
            </a:r>
            <a:r>
              <a:rPr kern="1200" spc="157" baseline="-16203" dirty="0">
                <a:solidFill>
                  <a:srgbClr val="FF0000"/>
                </a:solidFill>
                <a:latin typeface="Cambria Math"/>
                <a:cs typeface="Cambria Math"/>
              </a:rPr>
              <a:t> </a:t>
            </a:r>
            <a:r>
              <a:rPr sz="1700" kern="1200" dirty="0">
                <a:solidFill>
                  <a:srgbClr val="FF0000"/>
                </a:solidFill>
                <a:latin typeface="Cambria Math"/>
                <a:cs typeface="Cambria Math"/>
              </a:rPr>
              <a:t>…</a:t>
            </a:r>
            <a:r>
              <a:rPr sz="1700" kern="1200" spc="-90" dirty="0">
                <a:solidFill>
                  <a:srgbClr val="FF0000"/>
                </a:solidFill>
                <a:latin typeface="Cambria Math"/>
                <a:cs typeface="Cambria Math"/>
              </a:rPr>
              <a:t> </a:t>
            </a:r>
            <a:r>
              <a:rPr sz="1700" kern="1200" spc="114" dirty="0">
                <a:solidFill>
                  <a:srgbClr val="FF0000"/>
                </a:solidFill>
                <a:latin typeface="Cambria Math"/>
                <a:cs typeface="Cambria Math"/>
              </a:rPr>
              <a:t>𝑋</a:t>
            </a:r>
            <a:r>
              <a:rPr kern="1200" spc="172" baseline="-16203" dirty="0">
                <a:solidFill>
                  <a:srgbClr val="FF0000"/>
                </a:solidFill>
                <a:latin typeface="Cambria Math"/>
                <a:cs typeface="Cambria Math"/>
              </a:rPr>
              <a:t>𝑚</a:t>
            </a:r>
            <a:r>
              <a:rPr sz="1700" kern="1200" spc="114" dirty="0">
                <a:solidFill>
                  <a:srgbClr val="FF0000"/>
                </a:solidFill>
                <a:latin typeface="Cambria Math"/>
                <a:cs typeface="Cambria Math"/>
              </a:rPr>
              <a:t>𝑎</a:t>
            </a:r>
            <a:r>
              <a:rPr kern="1200" spc="172" baseline="-16203" dirty="0">
                <a:solidFill>
                  <a:srgbClr val="FF0000"/>
                </a:solidFill>
                <a:latin typeface="Cambria Math"/>
                <a:cs typeface="Cambria Math"/>
              </a:rPr>
              <a:t>i</a:t>
            </a:r>
            <a:r>
              <a:rPr sz="1700" kern="1200" spc="114" dirty="0">
                <a:solidFill>
                  <a:srgbClr val="FF0000"/>
                </a:solidFill>
                <a:latin typeface="Cambria Math"/>
                <a:cs typeface="Cambria Math"/>
              </a:rPr>
              <a:t>𝑎</a:t>
            </a:r>
            <a:r>
              <a:rPr kern="1200" spc="172" baseline="-16203" dirty="0">
                <a:solidFill>
                  <a:srgbClr val="FF0000"/>
                </a:solidFill>
                <a:latin typeface="Cambria Math"/>
                <a:cs typeface="Cambria Math"/>
              </a:rPr>
              <a:t>i</a:t>
            </a:r>
            <a:r>
              <a:rPr lang="en-US" kern="1200" spc="172" baseline="-16203" dirty="0">
                <a:solidFill>
                  <a:srgbClr val="FF0000"/>
                </a:solidFill>
                <a:latin typeface="Cambria Math"/>
                <a:cs typeface="Cambria Math"/>
              </a:rPr>
              <a:t>+</a:t>
            </a:r>
            <a:r>
              <a:rPr kern="1200" spc="172" baseline="-16203" dirty="0">
                <a:solidFill>
                  <a:srgbClr val="FF0000"/>
                </a:solidFill>
                <a:latin typeface="Cambria Math"/>
                <a:cs typeface="Cambria Math"/>
              </a:rPr>
              <a:t>1</a:t>
            </a:r>
            <a:r>
              <a:rPr kern="1200" spc="165" baseline="-16203" dirty="0">
                <a:solidFill>
                  <a:srgbClr val="FF0000"/>
                </a:solidFill>
                <a:latin typeface="Cambria Math"/>
                <a:cs typeface="Cambria Math"/>
              </a:rPr>
              <a:t> </a:t>
            </a:r>
            <a:r>
              <a:rPr sz="1700" kern="1200" dirty="0">
                <a:solidFill>
                  <a:srgbClr val="FF0000"/>
                </a:solidFill>
                <a:latin typeface="Cambria Math"/>
                <a:cs typeface="Cambria Math"/>
              </a:rPr>
              <a:t>…</a:t>
            </a:r>
            <a:r>
              <a:rPr sz="1700" kern="1200" spc="-90" dirty="0">
                <a:solidFill>
                  <a:srgbClr val="FF0000"/>
                </a:solidFill>
                <a:latin typeface="Cambria Math"/>
                <a:cs typeface="Cambria Math"/>
              </a:rPr>
              <a:t> </a:t>
            </a:r>
            <a:r>
              <a:rPr sz="1700" kern="1200" spc="45" dirty="0">
                <a:solidFill>
                  <a:srgbClr val="FF0000"/>
                </a:solidFill>
                <a:latin typeface="Cambria Math"/>
                <a:cs typeface="Cambria Math"/>
              </a:rPr>
              <a:t>𝑎</a:t>
            </a:r>
            <a:r>
              <a:rPr kern="1200" spc="67" baseline="-16203" dirty="0">
                <a:solidFill>
                  <a:srgbClr val="FF0000"/>
                </a:solidFill>
                <a:latin typeface="Cambria Math"/>
                <a:cs typeface="Cambria Math"/>
              </a:rPr>
              <a:t>𝑛</a:t>
            </a:r>
            <a:r>
              <a:rPr kern="1200" spc="412" baseline="-16203" dirty="0">
                <a:solidFill>
                  <a:srgbClr val="FF0000"/>
                </a:solidFill>
                <a:latin typeface="Cambria Math"/>
                <a:cs typeface="Cambria Math"/>
              </a:rPr>
              <a:t> </a:t>
            </a:r>
            <a:r>
              <a:rPr sz="1700" kern="1200" dirty="0">
                <a:solidFill>
                  <a:prstClr val="black"/>
                </a:solidFill>
                <a:latin typeface="Palatino Linotype"/>
                <a:cs typeface="Palatino Linotype"/>
              </a:rPr>
              <a:t>is</a:t>
            </a:r>
            <a:r>
              <a:rPr sz="1700" kern="1200" spc="5" dirty="0">
                <a:solidFill>
                  <a:prstClr val="black"/>
                </a:solidFill>
                <a:latin typeface="Palatino Linotype"/>
                <a:cs typeface="Palatino Linotype"/>
              </a:rPr>
              <a:t> </a:t>
            </a:r>
            <a:r>
              <a:rPr sz="1700" kern="1200" dirty="0">
                <a:solidFill>
                  <a:prstClr val="black"/>
                </a:solidFill>
                <a:latin typeface="Palatino Linotype"/>
                <a:cs typeface="Palatino Linotype"/>
              </a:rPr>
              <a:t>a</a:t>
            </a:r>
            <a:r>
              <a:rPr sz="1700" kern="1200" spc="5" dirty="0">
                <a:solidFill>
                  <a:prstClr val="black"/>
                </a:solidFill>
                <a:latin typeface="Palatino Linotype"/>
                <a:cs typeface="Palatino Linotype"/>
              </a:rPr>
              <a:t> </a:t>
            </a:r>
            <a:r>
              <a:rPr sz="1700" kern="1200" spc="-5" dirty="0">
                <a:solidFill>
                  <a:srgbClr val="FF0000"/>
                </a:solidFill>
                <a:latin typeface="Palatino Linotype"/>
                <a:cs typeface="Palatino Linotype"/>
              </a:rPr>
              <a:t>right-sentential</a:t>
            </a:r>
            <a:r>
              <a:rPr sz="1700" kern="1200" spc="10" dirty="0">
                <a:solidFill>
                  <a:srgbClr val="FF0000"/>
                </a:solidFill>
                <a:latin typeface="Palatino Linotype"/>
                <a:cs typeface="Palatino Linotype"/>
              </a:rPr>
              <a:t> </a:t>
            </a:r>
            <a:r>
              <a:rPr sz="1700" kern="1200" spc="-5" dirty="0">
                <a:solidFill>
                  <a:srgbClr val="FF0000"/>
                </a:solidFill>
                <a:latin typeface="Palatino Linotype"/>
                <a:cs typeface="Palatino Linotype"/>
              </a:rPr>
              <a:t>form</a:t>
            </a:r>
            <a:r>
              <a:rPr sz="1700" kern="1200" dirty="0">
                <a:solidFill>
                  <a:srgbClr val="FF0000"/>
                </a:solidFill>
                <a:latin typeface="Palatino Linotype"/>
                <a:cs typeface="Palatino Linotype"/>
              </a:rPr>
              <a:t> </a:t>
            </a:r>
            <a:r>
              <a:rPr sz="1700" kern="1200" spc="-5" dirty="0">
                <a:solidFill>
                  <a:prstClr val="black"/>
                </a:solidFill>
                <a:latin typeface="Palatino Linotype"/>
                <a:cs typeface="Palatino Linotype"/>
              </a:rPr>
              <a:t>(assume</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no</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errors)</a:t>
            </a:r>
            <a:endParaRPr sz="1700" kern="1200" dirty="0">
              <a:solidFill>
                <a:prstClr val="black"/>
              </a:solidFill>
              <a:latin typeface="Palatino Linotype"/>
              <a:cs typeface="Palatino Linotype"/>
            </a:endParaRPr>
          </a:p>
        </p:txBody>
      </p:sp>
    </p:spTree>
    <p:extLst>
      <p:ext uri="{BB962C8B-B14F-4D97-AF65-F5344CB8AC3E}">
        <p14:creationId xmlns:p14="http://schemas.microsoft.com/office/powerpoint/2010/main" val="11495678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121</a:t>
            </a:fld>
            <a:endParaRPr lang="en-US"/>
          </a:p>
        </p:txBody>
      </p:sp>
      <p:sp>
        <p:nvSpPr>
          <p:cNvPr id="7" name="object 2">
            <a:extLst>
              <a:ext uri="{FF2B5EF4-FFF2-40B4-BE49-F238E27FC236}">
                <a16:creationId xmlns:a16="http://schemas.microsoft.com/office/drawing/2014/main" id="{34DBA149-A879-5DB3-A820-2F378AD8ACAB}"/>
              </a:ext>
            </a:extLst>
          </p:cNvPr>
          <p:cNvSpPr txBox="1">
            <a:spLocks/>
          </p:cNvSpPr>
          <p:nvPr/>
        </p:nvSpPr>
        <p:spPr>
          <a:xfrm>
            <a:off x="707390" y="524763"/>
            <a:ext cx="594296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Behavior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of</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 the</a:t>
            </a:r>
            <a:r>
              <a:rPr kumimoji="0" lang="en-US" sz="4000" b="1" i="0" u="none" strike="noStrike" kern="0" cap="none" spc="-1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LR</a:t>
            </a:r>
            <a:r>
              <a:rPr kumimoji="0" lang="en-US" sz="40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Parser</a:t>
            </a:r>
          </a:p>
        </p:txBody>
      </p:sp>
      <p:sp>
        <p:nvSpPr>
          <p:cNvPr id="8" name="object 3">
            <a:extLst>
              <a:ext uri="{FF2B5EF4-FFF2-40B4-BE49-F238E27FC236}">
                <a16:creationId xmlns:a16="http://schemas.microsoft.com/office/drawing/2014/main" id="{90B877E6-517E-90B1-F99F-C3F8B3D151BC}"/>
              </a:ext>
            </a:extLst>
          </p:cNvPr>
          <p:cNvSpPr txBox="1"/>
          <p:nvPr/>
        </p:nvSpPr>
        <p:spPr>
          <a:xfrm>
            <a:off x="694688" y="1610867"/>
            <a:ext cx="7919084" cy="3967479"/>
          </a:xfrm>
          <a:prstGeom prst="rect">
            <a:avLst/>
          </a:prstGeom>
        </p:spPr>
        <p:txBody>
          <a:bodyPr vert="horz" wrap="square" lIns="0" tIns="12700" rIns="0" bIns="0" rtlCol="0">
            <a:spAutoFit/>
          </a:bodyPr>
          <a:lstStyle/>
          <a:p>
            <a:pPr marL="255904" marR="17780" indent="-230504" rtl="0">
              <a:lnSpc>
                <a:spcPct val="115999"/>
              </a:lnSpc>
              <a:spcBef>
                <a:spcPts val="100"/>
              </a:spcBef>
              <a:buFont typeface="Arial MT"/>
              <a:buChar char="•"/>
              <a:tabLst>
                <a:tab pos="255270" algn="l"/>
                <a:tab pos="255904" algn="l"/>
              </a:tabLst>
            </a:pPr>
            <a:r>
              <a:rPr sz="2000" kern="1200" spc="-5" dirty="0">
                <a:solidFill>
                  <a:prstClr val="black"/>
                </a:solidFill>
                <a:latin typeface="Palatino Linotype"/>
                <a:cs typeface="Palatino Linotype"/>
              </a:rPr>
              <a:t>For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configuration </a:t>
            </a:r>
            <a:r>
              <a:rPr sz="2000" kern="1200" spc="-5" dirty="0">
                <a:solidFill>
                  <a:srgbClr val="0432FF"/>
                </a:solidFill>
                <a:latin typeface="Cambria Math"/>
                <a:cs typeface="Cambria Math"/>
              </a:rPr>
              <a:t>(𝑠</a:t>
            </a:r>
            <a:r>
              <a:rPr lang="en-US" altLang="zh-CN" sz="2250" kern="1200" spc="-7" baseline="-14814" dirty="0">
                <a:solidFill>
                  <a:srgbClr val="0432FF"/>
                </a:solidFill>
                <a:latin typeface="Cambria Math"/>
                <a:cs typeface="Cambria Math"/>
              </a:rPr>
              <a:t>0</a:t>
            </a:r>
            <a:r>
              <a:rPr sz="2000" kern="1200" spc="-5" dirty="0">
                <a:solidFill>
                  <a:srgbClr val="0432FF"/>
                </a:solidFill>
                <a:latin typeface="Cambria Math"/>
                <a:cs typeface="Cambria Math"/>
              </a:rPr>
              <a:t>𝑠</a:t>
            </a:r>
            <a:r>
              <a:rPr sz="2250" kern="1200" spc="-7" baseline="-14814" dirty="0">
                <a:solidFill>
                  <a:srgbClr val="0432FF"/>
                </a:solidFill>
                <a:latin typeface="Cambria Math"/>
                <a:cs typeface="Cambria Math"/>
              </a:rPr>
              <a:t>1</a:t>
            </a:r>
            <a:r>
              <a:rPr sz="2250" kern="1200" spc="97" baseline="-14814"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14" dirty="0">
                <a:solidFill>
                  <a:srgbClr val="0432FF"/>
                </a:solidFill>
                <a:latin typeface="Cambria Math"/>
                <a:cs typeface="Cambria Math"/>
              </a:rPr>
              <a:t> </a:t>
            </a:r>
            <a:r>
              <a:rPr sz="2000" kern="1200" spc="40" dirty="0">
                <a:solidFill>
                  <a:srgbClr val="0432FF"/>
                </a:solidFill>
                <a:latin typeface="Cambria Math"/>
                <a:cs typeface="Cambria Math"/>
              </a:rPr>
              <a:t>𝑠</a:t>
            </a:r>
            <a:r>
              <a:rPr sz="2250" kern="1200" spc="60" baseline="-14814" dirty="0">
                <a:solidFill>
                  <a:srgbClr val="0432FF"/>
                </a:solidFill>
                <a:latin typeface="Cambria Math"/>
                <a:cs typeface="Cambria Math"/>
              </a:rPr>
              <a:t>𝑚</a:t>
            </a:r>
            <a:r>
              <a:rPr sz="2000" kern="1200" spc="40" dirty="0">
                <a:solidFill>
                  <a:srgbClr val="0432FF"/>
                </a:solidFill>
                <a:latin typeface="Cambria Math"/>
                <a:cs typeface="Cambria Math"/>
              </a:rPr>
              <a:t>,</a:t>
            </a:r>
            <a:r>
              <a:rPr sz="2000" kern="1200" spc="165" dirty="0">
                <a:solidFill>
                  <a:srgbClr val="0432FF"/>
                </a:solidFill>
                <a:latin typeface="Cambria Math"/>
                <a:cs typeface="Cambria Math"/>
              </a:rPr>
              <a:t> </a:t>
            </a:r>
            <a:r>
              <a:rPr sz="2000" kern="1200" spc="-300" dirty="0">
                <a:solidFill>
                  <a:srgbClr val="0432FF"/>
                </a:solidFill>
                <a:latin typeface="Cambria Math"/>
                <a:cs typeface="Cambria Math"/>
              </a:rPr>
              <a:t>𝑎</a:t>
            </a:r>
            <a:r>
              <a:rPr lang="en-US" sz="2250" kern="1200" spc="-450" baseline="-14814" dirty="0" err="1">
                <a:solidFill>
                  <a:srgbClr val="0432FF"/>
                </a:solidFill>
                <a:latin typeface="Cambria Math"/>
                <a:cs typeface="Cambria Math"/>
              </a:rPr>
              <a:t>i</a:t>
            </a:r>
            <a:r>
              <a:rPr lang="en-US" sz="2250" kern="1200" spc="-450" baseline="-14814" dirty="0">
                <a:solidFill>
                  <a:srgbClr val="0432FF"/>
                </a:solidFill>
                <a:latin typeface="Cambria Math"/>
                <a:cs typeface="Cambria Math"/>
              </a:rPr>
              <a:t>                       </a:t>
            </a:r>
            <a:r>
              <a:rPr lang="en-US" altLang="zh-CN" sz="2250" kern="1200" spc="-427" baseline="-14814" dirty="0">
                <a:solidFill>
                  <a:srgbClr val="0432FF"/>
                </a:solidFill>
                <a:latin typeface="Cambria Math"/>
                <a:cs typeface="Cambria Math"/>
              </a:rPr>
              <a:t> </a:t>
            </a:r>
            <a:r>
              <a:rPr sz="2000" kern="1200" spc="-75" dirty="0">
                <a:solidFill>
                  <a:srgbClr val="0432FF"/>
                </a:solidFill>
                <a:latin typeface="Cambria Math"/>
                <a:cs typeface="Cambria Math"/>
              </a:rPr>
              <a:t>𝑎</a:t>
            </a:r>
            <a:r>
              <a:rPr lang="en-US" sz="2250" kern="1200" spc="-112" baseline="-14814" dirty="0">
                <a:solidFill>
                  <a:srgbClr val="0432FF"/>
                </a:solidFill>
                <a:latin typeface="Cambria Math"/>
                <a:cs typeface="Cambria Math"/>
              </a:rPr>
              <a:t>i+</a:t>
            </a:r>
            <a:r>
              <a:rPr sz="2250" kern="1200" spc="-112" baseline="-14814" dirty="0">
                <a:solidFill>
                  <a:srgbClr val="0432FF"/>
                </a:solidFill>
                <a:latin typeface="Cambria Math"/>
                <a:cs typeface="Cambria Math"/>
              </a:rPr>
              <a:t>1</a:t>
            </a:r>
            <a:r>
              <a:rPr sz="2250" kern="1200" spc="97" baseline="-14814" dirty="0">
                <a:solidFill>
                  <a:srgbClr val="0432FF"/>
                </a:solidFill>
                <a:latin typeface="Cambria Math"/>
                <a:cs typeface="Cambria Math"/>
              </a:rPr>
              <a:t> </a:t>
            </a:r>
            <a:r>
              <a:rPr sz="2000" kern="1200" dirty="0">
                <a:solidFill>
                  <a:srgbClr val="0432FF"/>
                </a:solidFill>
                <a:latin typeface="Cambria Math"/>
                <a:cs typeface="Cambria Math"/>
              </a:rPr>
              <a:t>…</a:t>
            </a:r>
            <a:r>
              <a:rPr sz="2000" kern="1200" spc="-114" dirty="0">
                <a:solidFill>
                  <a:srgbClr val="0432FF"/>
                </a:solidFill>
                <a:latin typeface="Cambria Math"/>
                <a:cs typeface="Cambria Math"/>
              </a:rPr>
              <a:t> </a:t>
            </a:r>
            <a:r>
              <a:rPr sz="2000" kern="1200" spc="35" dirty="0">
                <a:solidFill>
                  <a:srgbClr val="0432FF"/>
                </a:solidFill>
                <a:latin typeface="Cambria Math"/>
                <a:cs typeface="Cambria Math"/>
              </a:rPr>
              <a:t>𝑎</a:t>
            </a:r>
            <a:r>
              <a:rPr sz="2250" kern="1200" spc="52" baseline="-14814" dirty="0">
                <a:solidFill>
                  <a:srgbClr val="0432FF"/>
                </a:solidFill>
                <a:latin typeface="Cambria Math"/>
                <a:cs typeface="Cambria Math"/>
              </a:rPr>
              <a:t>𝑛</a:t>
            </a:r>
            <a:r>
              <a:rPr sz="2000" kern="1200" spc="35" dirty="0">
                <a:solidFill>
                  <a:srgbClr val="0432FF"/>
                </a:solidFill>
                <a:latin typeface="Cambria Math"/>
                <a:cs typeface="Cambria Math"/>
              </a:rPr>
              <a:t>$)</a:t>
            </a:r>
            <a:r>
              <a:rPr sz="2000" kern="1200" spc="3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LR</a:t>
            </a:r>
            <a:r>
              <a:rPr sz="2000" kern="1200" spc="-45" dirty="0">
                <a:solidFill>
                  <a:prstClr val="black"/>
                </a:solidFill>
                <a:latin typeface="Palatino Linotype"/>
                <a:cs typeface="Palatino Linotype"/>
              </a:rPr>
              <a:t> </a:t>
            </a:r>
            <a:r>
              <a:rPr sz="2000" kern="1200" spc="-5" dirty="0">
                <a:solidFill>
                  <a:prstClr val="black"/>
                </a:solidFill>
                <a:latin typeface="Palatino Linotype"/>
                <a:cs typeface="Palatino Linotype"/>
              </a:rPr>
              <a:t>parser checks </a:t>
            </a:r>
            <a:r>
              <a:rPr sz="2000" kern="1200" spc="-484" dirty="0">
                <a:solidFill>
                  <a:prstClr val="black"/>
                </a:solidFill>
                <a:latin typeface="Palatino Linotype"/>
                <a:cs typeface="Palatino Linotype"/>
              </a:rPr>
              <a:t> </a:t>
            </a:r>
            <a:r>
              <a:rPr sz="2000" kern="1200" spc="5" dirty="0">
                <a:solidFill>
                  <a:srgbClr val="0432FF"/>
                </a:solidFill>
                <a:latin typeface="Palatino Linotype"/>
                <a:cs typeface="Palatino Linotype"/>
              </a:rPr>
              <a:t>ACTION[</a:t>
            </a:r>
            <a:r>
              <a:rPr sz="2000" kern="1200" spc="5" dirty="0">
                <a:solidFill>
                  <a:srgbClr val="0432FF"/>
                </a:solidFill>
                <a:latin typeface="Cambria Math"/>
                <a:cs typeface="Cambria Math"/>
              </a:rPr>
              <a:t>𝑠</a:t>
            </a:r>
            <a:r>
              <a:rPr sz="2250" kern="1200" spc="7" baseline="-14814" dirty="0">
                <a:solidFill>
                  <a:srgbClr val="0432FF"/>
                </a:solidFill>
                <a:latin typeface="Cambria Math"/>
                <a:cs typeface="Cambria Math"/>
              </a:rPr>
              <a:t>𝑚</a:t>
            </a:r>
            <a:r>
              <a:rPr sz="2000" kern="1200" spc="5" dirty="0">
                <a:solidFill>
                  <a:srgbClr val="0432FF"/>
                </a:solidFill>
                <a:latin typeface="Cambria Math"/>
                <a:cs typeface="Cambria Math"/>
              </a:rPr>
              <a:t>,</a:t>
            </a:r>
            <a:r>
              <a:rPr sz="2000" kern="1200" spc="-105" dirty="0">
                <a:solidFill>
                  <a:srgbClr val="0432FF"/>
                </a:solidFill>
                <a:latin typeface="Cambria Math"/>
                <a:cs typeface="Cambria Math"/>
              </a:rPr>
              <a:t> </a:t>
            </a:r>
            <a:r>
              <a:rPr sz="2000" kern="1200" spc="-165" dirty="0">
                <a:solidFill>
                  <a:srgbClr val="0432FF"/>
                </a:solidFill>
                <a:latin typeface="Cambria Math"/>
                <a:cs typeface="Cambria Math"/>
              </a:rPr>
              <a:t>𝑎</a:t>
            </a:r>
            <a:r>
              <a:rPr lang="en-US" sz="2250" kern="1200" spc="-247" baseline="-14814" dirty="0" err="1">
                <a:solidFill>
                  <a:srgbClr val="0432FF"/>
                </a:solidFill>
                <a:latin typeface="Cambria Math"/>
                <a:cs typeface="Cambria Math"/>
              </a:rPr>
              <a:t>i</a:t>
            </a:r>
            <a:r>
              <a:rPr sz="2000" kern="1200" spc="-165" dirty="0">
                <a:solidFill>
                  <a:srgbClr val="0432FF"/>
                </a:solidFill>
                <a:latin typeface="Palatino Linotype"/>
                <a:cs typeface="Palatino Linotype"/>
              </a:rPr>
              <a:t>]</a:t>
            </a:r>
            <a:r>
              <a:rPr sz="2000" kern="1200" spc="-5" dirty="0">
                <a:solidFill>
                  <a:srgbClr val="0432FF"/>
                </a:solidFill>
                <a:latin typeface="Palatino Linotype"/>
                <a:cs typeface="Palatino Linotype"/>
              </a:rPr>
              <a:t> </a:t>
            </a:r>
            <a:r>
              <a:rPr sz="2000" kern="1200" dirty="0">
                <a:solidFill>
                  <a:prstClr val="black"/>
                </a:solidFill>
                <a:latin typeface="Palatino Linotype"/>
                <a:cs typeface="Palatino Linotype"/>
              </a:rPr>
              <a:t>in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parsing</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table </a:t>
            </a:r>
            <a:r>
              <a:rPr sz="2000" kern="1200" spc="-5" dirty="0">
                <a:solidFill>
                  <a:prstClr val="black"/>
                </a:solidFill>
                <a:latin typeface="Palatino Linotype"/>
                <a:cs typeface="Palatino Linotype"/>
              </a:rPr>
              <a:t>to</a:t>
            </a:r>
            <a:r>
              <a:rPr sz="2000" kern="1200" dirty="0">
                <a:solidFill>
                  <a:prstClr val="black"/>
                </a:solidFill>
                <a:latin typeface="Palatino Linotype"/>
                <a:cs typeface="Palatino Linotype"/>
              </a:rPr>
              <a:t> decide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parsing</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action</a:t>
            </a:r>
            <a:endParaRPr sz="2000" kern="1200" dirty="0">
              <a:solidFill>
                <a:prstClr val="black"/>
              </a:solidFill>
              <a:latin typeface="Palatino Linotype"/>
              <a:cs typeface="Palatino Linotype"/>
            </a:endParaRPr>
          </a:p>
          <a:p>
            <a:pPr marL="711200" lvl="1" indent="-228600" rtl="0">
              <a:spcBef>
                <a:spcPts val="2310"/>
              </a:spcBef>
              <a:buClr>
                <a:srgbClr val="000000"/>
              </a:buClr>
              <a:buFont typeface="Wingdings"/>
              <a:buChar char=""/>
              <a:tabLst>
                <a:tab pos="711200" algn="l"/>
              </a:tabLst>
            </a:pPr>
            <a:r>
              <a:rPr kern="1200" spc="-5" dirty="0">
                <a:solidFill>
                  <a:srgbClr val="FF0000"/>
                </a:solidFill>
                <a:latin typeface="Palatino Linotype"/>
                <a:cs typeface="Palatino Linotype"/>
              </a:rPr>
              <a:t>shift </a:t>
            </a:r>
            <a:r>
              <a:rPr kern="1200" spc="20" dirty="0">
                <a:solidFill>
                  <a:srgbClr val="FF0000"/>
                </a:solidFill>
                <a:latin typeface="Cambria Math"/>
                <a:cs typeface="Cambria Math"/>
              </a:rPr>
              <a:t>𝑠</a:t>
            </a:r>
            <a:r>
              <a:rPr kern="1200" spc="20"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shift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next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state</a:t>
            </a:r>
            <a:r>
              <a:rPr kern="1200" dirty="0">
                <a:solidFill>
                  <a:prstClr val="black"/>
                </a:solidFill>
                <a:latin typeface="Palatino Linotype"/>
                <a:cs typeface="Palatino Linotype"/>
              </a:rPr>
              <a:t> </a:t>
            </a:r>
            <a:r>
              <a:rPr kern="1200" dirty="0">
                <a:solidFill>
                  <a:prstClr val="black"/>
                </a:solidFill>
                <a:latin typeface="Cambria Math"/>
                <a:cs typeface="Cambria Math"/>
              </a:rPr>
              <a:t>𝑠</a:t>
            </a:r>
            <a:r>
              <a:rPr kern="1200" spc="100" dirty="0">
                <a:solidFill>
                  <a:prstClr val="black"/>
                </a:solidFill>
                <a:latin typeface="Cambria Math"/>
                <a:cs typeface="Cambria Math"/>
              </a:rPr>
              <a:t> </a:t>
            </a:r>
            <a:r>
              <a:rPr kern="1200" dirty="0">
                <a:solidFill>
                  <a:prstClr val="black"/>
                </a:solidFill>
                <a:latin typeface="Palatino Linotype"/>
                <a:cs typeface="Palatino Linotype"/>
              </a:rPr>
              <a:t>onto</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stack,</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entering the </a:t>
            </a:r>
            <a:r>
              <a:rPr kern="1200" spc="-5" dirty="0">
                <a:solidFill>
                  <a:prstClr val="black"/>
                </a:solidFill>
                <a:latin typeface="Palatino Linotype"/>
                <a:cs typeface="Palatino Linotype"/>
              </a:rPr>
              <a:t>configuration</a:t>
            </a:r>
            <a:endParaRPr kern="1200" dirty="0">
              <a:solidFill>
                <a:prstClr val="black"/>
              </a:solidFill>
              <a:latin typeface="Palatino Linotype"/>
              <a:cs typeface="Palatino Linotype"/>
            </a:endParaRPr>
          </a:p>
          <a:p>
            <a:pPr marL="710565" rtl="0">
              <a:spcBef>
                <a:spcPts val="434"/>
              </a:spcBef>
            </a:pPr>
            <a:r>
              <a:rPr kern="1200" dirty="0">
                <a:solidFill>
                  <a:srgbClr val="0432FF"/>
                </a:solidFill>
                <a:latin typeface="Cambria Math"/>
                <a:cs typeface="Cambria Math"/>
              </a:rPr>
              <a:t>(</a:t>
            </a:r>
            <a:r>
              <a:rPr kern="1200" spc="-40" dirty="0">
                <a:solidFill>
                  <a:srgbClr val="0432FF"/>
                </a:solidFill>
                <a:latin typeface="Cambria Math"/>
                <a:cs typeface="Cambria Math"/>
              </a:rPr>
              <a:t>𝑠</a:t>
            </a:r>
            <a:r>
              <a:rPr lang="en-US" sz="1950" kern="1200" spc="412" baseline="-14957" dirty="0">
                <a:solidFill>
                  <a:srgbClr val="0432FF"/>
                </a:solidFill>
                <a:latin typeface="Cambria Math"/>
                <a:cs typeface="Cambria Math"/>
              </a:rPr>
              <a:t>0</a:t>
            </a:r>
            <a:r>
              <a:rPr kern="1200" spc="-80" dirty="0">
                <a:solidFill>
                  <a:srgbClr val="0432FF"/>
                </a:solidFill>
                <a:latin typeface="Cambria Math"/>
                <a:cs typeface="Cambria Math"/>
              </a:rPr>
              <a:t>𝑠</a:t>
            </a:r>
            <a:r>
              <a:rPr lang="en-US" sz="1950" kern="1200" spc="-217" baseline="-14957" dirty="0">
                <a:solidFill>
                  <a:srgbClr val="0432FF"/>
                </a:solidFill>
                <a:latin typeface="Cambria Math"/>
                <a:cs typeface="Cambria Math"/>
              </a:rPr>
              <a:t>1</a:t>
            </a:r>
            <a:r>
              <a:rPr sz="1950" kern="1200" spc="142" baseline="-14957" dirty="0">
                <a:solidFill>
                  <a:srgbClr val="0432FF"/>
                </a:solidFill>
                <a:latin typeface="Cambria Math"/>
                <a:cs typeface="Cambria Math"/>
              </a:rPr>
              <a:t> </a:t>
            </a:r>
            <a:r>
              <a:rPr kern="1200" dirty="0">
                <a:solidFill>
                  <a:srgbClr val="0432FF"/>
                </a:solidFill>
                <a:latin typeface="Cambria Math"/>
                <a:cs typeface="Cambria Math"/>
              </a:rPr>
              <a:t>…</a:t>
            </a:r>
            <a:r>
              <a:rPr kern="1200" spc="-100" dirty="0">
                <a:solidFill>
                  <a:srgbClr val="0432FF"/>
                </a:solidFill>
                <a:latin typeface="Cambria Math"/>
                <a:cs typeface="Cambria Math"/>
              </a:rPr>
              <a:t> </a:t>
            </a:r>
            <a:r>
              <a:rPr kern="1200" spc="-75" dirty="0">
                <a:solidFill>
                  <a:srgbClr val="0432FF"/>
                </a:solidFill>
                <a:latin typeface="Cambria Math"/>
                <a:cs typeface="Cambria Math"/>
              </a:rPr>
              <a:t>𝑠</a:t>
            </a:r>
            <a:r>
              <a:rPr sz="1950" kern="1200" spc="375" baseline="-14957" dirty="0">
                <a:solidFill>
                  <a:srgbClr val="0432FF"/>
                </a:solidFill>
                <a:latin typeface="Cambria Math"/>
                <a:cs typeface="Cambria Math"/>
              </a:rPr>
              <a:t>𝑚</a:t>
            </a:r>
            <a:r>
              <a:rPr kern="1200" spc="40" dirty="0">
                <a:solidFill>
                  <a:srgbClr val="0432FF"/>
                </a:solidFill>
                <a:latin typeface="Cambria Math"/>
                <a:cs typeface="Cambria Math"/>
              </a:rPr>
              <a:t>𝑠</a:t>
            </a:r>
            <a:r>
              <a:rPr kern="1200" dirty="0">
                <a:solidFill>
                  <a:srgbClr val="0432FF"/>
                </a:solidFill>
                <a:latin typeface="Cambria Math"/>
                <a:cs typeface="Cambria Math"/>
              </a:rPr>
              <a:t>,</a:t>
            </a:r>
            <a:r>
              <a:rPr kern="1200" spc="-95" dirty="0">
                <a:solidFill>
                  <a:srgbClr val="0432FF"/>
                </a:solidFill>
                <a:latin typeface="Cambria Math"/>
                <a:cs typeface="Cambria Math"/>
              </a:rPr>
              <a:t> </a:t>
            </a:r>
            <a:r>
              <a:rPr kern="1200" spc="-5" dirty="0">
                <a:solidFill>
                  <a:srgbClr val="0432FF"/>
                </a:solidFill>
                <a:latin typeface="Cambria Math"/>
                <a:cs typeface="Cambria Math"/>
              </a:rPr>
              <a:t>𝑎</a:t>
            </a:r>
            <a:r>
              <a:rPr sz="1950" kern="1200" spc="209" baseline="-14957" dirty="0">
                <a:solidFill>
                  <a:srgbClr val="0432FF"/>
                </a:solidFill>
                <a:latin typeface="Cambria Math"/>
                <a:cs typeface="Cambria Math"/>
              </a:rPr>
              <a:t>i</a:t>
            </a:r>
            <a:r>
              <a:rPr lang="en-US" sz="1950" kern="1200" spc="1012" baseline="-14957" dirty="0">
                <a:solidFill>
                  <a:srgbClr val="0432FF"/>
                </a:solidFill>
                <a:latin typeface="Cambria Math"/>
                <a:cs typeface="Cambria Math"/>
              </a:rPr>
              <a:t>+1</a:t>
            </a:r>
            <a:r>
              <a:rPr sz="1950" kern="1200" spc="142" baseline="-14957" dirty="0">
                <a:solidFill>
                  <a:srgbClr val="0432FF"/>
                </a:solidFill>
                <a:latin typeface="Cambria Math"/>
                <a:cs typeface="Cambria Math"/>
              </a:rPr>
              <a:t> </a:t>
            </a:r>
            <a:r>
              <a:rPr kern="1200" dirty="0">
                <a:solidFill>
                  <a:srgbClr val="0432FF"/>
                </a:solidFill>
                <a:latin typeface="Cambria Math"/>
                <a:cs typeface="Cambria Math"/>
              </a:rPr>
              <a:t>…</a:t>
            </a:r>
            <a:r>
              <a:rPr kern="1200" spc="-100" dirty="0">
                <a:solidFill>
                  <a:srgbClr val="0432FF"/>
                </a:solidFill>
                <a:latin typeface="Cambria Math"/>
                <a:cs typeface="Cambria Math"/>
              </a:rPr>
              <a:t> </a:t>
            </a:r>
            <a:r>
              <a:rPr kern="1200" spc="-5" dirty="0">
                <a:solidFill>
                  <a:srgbClr val="0432FF"/>
                </a:solidFill>
                <a:latin typeface="Cambria Math"/>
                <a:cs typeface="Cambria Math"/>
              </a:rPr>
              <a:t>𝑎</a:t>
            </a:r>
            <a:r>
              <a:rPr sz="1950" kern="1200" spc="405" baseline="-14957" dirty="0">
                <a:solidFill>
                  <a:srgbClr val="0432FF"/>
                </a:solidFill>
                <a:latin typeface="Cambria Math"/>
                <a:cs typeface="Cambria Math"/>
              </a:rPr>
              <a:t>𝑛</a:t>
            </a:r>
            <a:r>
              <a:rPr kern="1200" dirty="0">
                <a:solidFill>
                  <a:srgbClr val="0432FF"/>
                </a:solidFill>
                <a:latin typeface="Cambria Math"/>
                <a:cs typeface="Cambria Math"/>
              </a:rPr>
              <a:t>$)</a:t>
            </a:r>
            <a:endParaRPr kern="1200" dirty="0">
              <a:solidFill>
                <a:prstClr val="black"/>
              </a:solidFill>
              <a:latin typeface="Cambria Math"/>
              <a:cs typeface="Cambria Math"/>
            </a:endParaRPr>
          </a:p>
          <a:p>
            <a:pPr marL="710565" marR="668655" lvl="1" indent="-228600" rtl="0">
              <a:lnSpc>
                <a:spcPct val="120600"/>
              </a:lnSpc>
              <a:spcBef>
                <a:spcPts val="1785"/>
              </a:spcBef>
              <a:buClr>
                <a:srgbClr val="000000"/>
              </a:buClr>
              <a:buFont typeface="Wingdings"/>
              <a:buChar char=""/>
              <a:tabLst>
                <a:tab pos="711200" algn="l"/>
              </a:tabLst>
            </a:pPr>
            <a:r>
              <a:rPr kern="1200" spc="-5" dirty="0">
                <a:solidFill>
                  <a:srgbClr val="FF0000"/>
                </a:solidFill>
                <a:latin typeface="Palatino Linotype"/>
                <a:cs typeface="Palatino Linotype"/>
              </a:rPr>
              <a:t>reduce</a:t>
            </a:r>
            <a:r>
              <a:rPr kern="1200" dirty="0">
                <a:solidFill>
                  <a:srgbClr val="FF0000"/>
                </a:solidFill>
                <a:latin typeface="Palatino Linotype"/>
                <a:cs typeface="Palatino Linotype"/>
              </a:rPr>
              <a:t> </a:t>
            </a:r>
            <a:r>
              <a:rPr kern="1200" dirty="0">
                <a:solidFill>
                  <a:srgbClr val="FF0000"/>
                </a:solidFill>
                <a:latin typeface="Cambria Math"/>
                <a:cs typeface="Cambria Math"/>
              </a:rPr>
              <a:t>𝐴</a:t>
            </a:r>
            <a:r>
              <a:rPr kern="1200" spc="114" dirty="0">
                <a:solidFill>
                  <a:srgbClr val="FF0000"/>
                </a:solidFill>
                <a:latin typeface="Cambria Math"/>
                <a:cs typeface="Cambria Math"/>
              </a:rPr>
              <a:t> </a:t>
            </a:r>
            <a:r>
              <a:rPr kern="1200" dirty="0">
                <a:solidFill>
                  <a:srgbClr val="FF0000"/>
                </a:solidFill>
                <a:latin typeface="Cambria Math"/>
                <a:cs typeface="Cambria Math"/>
              </a:rPr>
              <a:t>→</a:t>
            </a:r>
            <a:r>
              <a:rPr kern="1200" spc="105" dirty="0">
                <a:solidFill>
                  <a:srgbClr val="FF0000"/>
                </a:solidFill>
                <a:latin typeface="Cambria Math"/>
                <a:cs typeface="Cambria Math"/>
              </a:rPr>
              <a:t> </a:t>
            </a:r>
            <a:r>
              <a:rPr kern="1200" spc="25" dirty="0">
                <a:solidFill>
                  <a:srgbClr val="FF0000"/>
                </a:solidFill>
                <a:latin typeface="Cambria Math"/>
                <a:cs typeface="Cambria Math"/>
              </a:rPr>
              <a:t>𝛽</a:t>
            </a:r>
            <a:r>
              <a:rPr kern="1200" spc="25"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execute</a:t>
            </a:r>
            <a:r>
              <a:rPr kern="1200" dirty="0">
                <a:solidFill>
                  <a:prstClr val="black"/>
                </a:solidFill>
                <a:latin typeface="Palatino Linotype"/>
                <a:cs typeface="Palatino Linotype"/>
              </a:rPr>
              <a:t> a reduce</a:t>
            </a:r>
            <a:r>
              <a:rPr kern="1200" spc="5" dirty="0">
                <a:solidFill>
                  <a:prstClr val="black"/>
                </a:solidFill>
                <a:latin typeface="Palatino Linotype"/>
                <a:cs typeface="Palatino Linotype"/>
              </a:rPr>
              <a:t> </a:t>
            </a:r>
            <a:r>
              <a:rPr kern="1200" spc="-10" dirty="0">
                <a:solidFill>
                  <a:prstClr val="black"/>
                </a:solidFill>
                <a:latin typeface="Palatino Linotype"/>
                <a:cs typeface="Palatino Linotype"/>
              </a:rPr>
              <a:t>move,</a:t>
            </a:r>
            <a:r>
              <a:rPr kern="1200" dirty="0">
                <a:solidFill>
                  <a:prstClr val="black"/>
                </a:solidFill>
                <a:latin typeface="Palatino Linotype"/>
                <a:cs typeface="Palatino Linotype"/>
              </a:rPr>
              <a:t> entering</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configuration </a:t>
            </a:r>
            <a:r>
              <a:rPr kern="1200" spc="-434" dirty="0">
                <a:solidFill>
                  <a:prstClr val="black"/>
                </a:solidFill>
                <a:latin typeface="Palatino Linotype"/>
                <a:cs typeface="Palatino Linotype"/>
              </a:rPr>
              <a:t> </a:t>
            </a:r>
            <a:r>
              <a:rPr kern="1200" dirty="0">
                <a:solidFill>
                  <a:srgbClr val="0432FF"/>
                </a:solidFill>
                <a:latin typeface="Cambria Math"/>
                <a:cs typeface="Cambria Math"/>
              </a:rPr>
              <a:t>(𝑠</a:t>
            </a:r>
            <a:r>
              <a:rPr lang="en-US" sz="1950" kern="1200" baseline="-14957" dirty="0">
                <a:solidFill>
                  <a:srgbClr val="0432FF"/>
                </a:solidFill>
                <a:latin typeface="Cambria Math"/>
                <a:cs typeface="Cambria Math"/>
              </a:rPr>
              <a:t>0</a:t>
            </a:r>
            <a:r>
              <a:rPr kern="1200" dirty="0">
                <a:solidFill>
                  <a:srgbClr val="0432FF"/>
                </a:solidFill>
                <a:latin typeface="Cambria Math"/>
                <a:cs typeface="Cambria Math"/>
              </a:rPr>
              <a:t>𝑠</a:t>
            </a:r>
            <a:r>
              <a:rPr lang="en-US" sz="1950" kern="1200" baseline="-14957" dirty="0">
                <a:solidFill>
                  <a:srgbClr val="0432FF"/>
                </a:solidFill>
                <a:latin typeface="Cambria Math"/>
                <a:cs typeface="Cambria Math"/>
              </a:rPr>
              <a:t>1</a:t>
            </a:r>
            <a:r>
              <a:rPr sz="1950" kern="1200" baseline="-14957" dirty="0">
                <a:solidFill>
                  <a:srgbClr val="0432FF"/>
                </a:solidFill>
                <a:latin typeface="Cambria Math"/>
                <a:cs typeface="Cambria Math"/>
              </a:rPr>
              <a:t> </a:t>
            </a:r>
            <a:r>
              <a:rPr kern="1200" dirty="0">
                <a:solidFill>
                  <a:srgbClr val="0432FF"/>
                </a:solidFill>
                <a:latin typeface="Cambria Math"/>
                <a:cs typeface="Cambria Math"/>
              </a:rPr>
              <a:t>… </a:t>
            </a:r>
            <a:r>
              <a:rPr kern="1200" spc="155" dirty="0">
                <a:solidFill>
                  <a:srgbClr val="0432FF"/>
                </a:solidFill>
                <a:latin typeface="Cambria Math"/>
                <a:cs typeface="Cambria Math"/>
              </a:rPr>
              <a:t>𝑠</a:t>
            </a:r>
            <a:r>
              <a:rPr sz="1950" kern="1200" spc="232" baseline="-14957" dirty="0">
                <a:solidFill>
                  <a:srgbClr val="0432FF"/>
                </a:solidFill>
                <a:latin typeface="Cambria Math"/>
                <a:cs typeface="Cambria Math"/>
              </a:rPr>
              <a:t>𝑚</a:t>
            </a:r>
            <a:r>
              <a:rPr lang="en-US" sz="1950" kern="1200" spc="232" baseline="-14957" dirty="0">
                <a:solidFill>
                  <a:srgbClr val="0432FF"/>
                </a:solidFill>
                <a:latin typeface="Cambria Math"/>
                <a:cs typeface="Cambria Math"/>
              </a:rPr>
              <a:t>-</a:t>
            </a:r>
            <a:r>
              <a:rPr sz="1950" kern="1200" spc="232" baseline="-14957" dirty="0">
                <a:solidFill>
                  <a:srgbClr val="0432FF"/>
                </a:solidFill>
                <a:latin typeface="Cambria Math"/>
                <a:cs typeface="Cambria Math"/>
              </a:rPr>
              <a:t>𝑟</a:t>
            </a:r>
            <a:r>
              <a:rPr kern="1200" spc="155" dirty="0">
                <a:solidFill>
                  <a:srgbClr val="0432FF"/>
                </a:solidFill>
                <a:latin typeface="Cambria Math"/>
                <a:cs typeface="Cambria Math"/>
              </a:rPr>
              <a:t>𝑠, </a:t>
            </a:r>
            <a:r>
              <a:rPr kern="1200" spc="145" dirty="0">
                <a:solidFill>
                  <a:srgbClr val="0432FF"/>
                </a:solidFill>
                <a:latin typeface="Cambria Math"/>
                <a:cs typeface="Cambria Math"/>
              </a:rPr>
              <a:t>𝑎</a:t>
            </a:r>
            <a:r>
              <a:rPr sz="1950" kern="1200" spc="217" baseline="-14957" dirty="0">
                <a:solidFill>
                  <a:srgbClr val="0432FF"/>
                </a:solidFill>
                <a:latin typeface="Cambria Math"/>
                <a:cs typeface="Cambria Math"/>
              </a:rPr>
              <a:t>i</a:t>
            </a:r>
            <a:r>
              <a:rPr kern="1200" spc="145" dirty="0">
                <a:solidFill>
                  <a:srgbClr val="0432FF"/>
                </a:solidFill>
                <a:latin typeface="Cambria Math"/>
                <a:cs typeface="Cambria Math"/>
              </a:rPr>
              <a:t>𝑎</a:t>
            </a:r>
            <a:r>
              <a:rPr sz="1950" kern="1200" spc="217" baseline="-14957" dirty="0">
                <a:solidFill>
                  <a:srgbClr val="0432FF"/>
                </a:solidFill>
                <a:latin typeface="Cambria Math"/>
                <a:cs typeface="Cambria Math"/>
              </a:rPr>
              <a:t>i</a:t>
            </a:r>
            <a:r>
              <a:rPr lang="en-US" sz="1950" kern="1200" spc="217" baseline="-14957" dirty="0">
                <a:solidFill>
                  <a:srgbClr val="0432FF"/>
                </a:solidFill>
                <a:latin typeface="Cambria Math"/>
                <a:cs typeface="Cambria Math"/>
              </a:rPr>
              <a:t>+1</a:t>
            </a:r>
            <a:r>
              <a:rPr sz="1950" kern="1200" spc="217" baseline="-14957" dirty="0">
                <a:solidFill>
                  <a:srgbClr val="0432FF"/>
                </a:solidFill>
                <a:latin typeface="Cambria Math"/>
                <a:cs typeface="Cambria Math"/>
              </a:rPr>
              <a:t> </a:t>
            </a:r>
            <a:r>
              <a:rPr kern="1200" dirty="0">
                <a:solidFill>
                  <a:srgbClr val="0432FF"/>
                </a:solidFill>
                <a:latin typeface="Cambria Math"/>
                <a:cs typeface="Cambria Math"/>
              </a:rPr>
              <a:t>… </a:t>
            </a:r>
            <a:r>
              <a:rPr kern="1200" spc="35" dirty="0">
                <a:solidFill>
                  <a:srgbClr val="0432FF"/>
                </a:solidFill>
                <a:latin typeface="Cambria Math"/>
                <a:cs typeface="Cambria Math"/>
              </a:rPr>
              <a:t>𝑎</a:t>
            </a:r>
            <a:r>
              <a:rPr sz="1950" kern="1200" spc="52" baseline="-14957" dirty="0">
                <a:solidFill>
                  <a:srgbClr val="0432FF"/>
                </a:solidFill>
                <a:latin typeface="Cambria Math"/>
                <a:cs typeface="Cambria Math"/>
              </a:rPr>
              <a:t>𝑛</a:t>
            </a:r>
            <a:r>
              <a:rPr kern="1200" spc="35" dirty="0">
                <a:solidFill>
                  <a:srgbClr val="0432FF"/>
                </a:solidFill>
                <a:latin typeface="Cambria Math"/>
                <a:cs typeface="Cambria Math"/>
              </a:rPr>
              <a:t>$)</a:t>
            </a:r>
            <a:r>
              <a:rPr kern="1200" spc="35" dirty="0">
                <a:solidFill>
                  <a:prstClr val="black"/>
                </a:solidFill>
                <a:latin typeface="Palatino Linotype"/>
                <a:cs typeface="Palatino Linotype"/>
              </a:rPr>
              <a:t>, </a:t>
            </a:r>
            <a:r>
              <a:rPr kern="1200" spc="-5" dirty="0">
                <a:solidFill>
                  <a:prstClr val="black"/>
                </a:solidFill>
                <a:latin typeface="Palatino Linotype"/>
                <a:cs typeface="Palatino Linotype"/>
              </a:rPr>
              <a:t>where </a:t>
            </a:r>
            <a:r>
              <a:rPr kern="1200" dirty="0">
                <a:solidFill>
                  <a:prstClr val="black"/>
                </a:solidFill>
                <a:latin typeface="Cambria Math"/>
                <a:cs typeface="Cambria Math"/>
              </a:rPr>
              <a:t>𝑟 </a:t>
            </a:r>
            <a:r>
              <a:rPr kern="1200" dirty="0">
                <a:solidFill>
                  <a:prstClr val="black"/>
                </a:solidFill>
                <a:latin typeface="Palatino Linotype"/>
                <a:cs typeface="Palatino Linotype"/>
              </a:rPr>
              <a:t>= the </a:t>
            </a:r>
            <a:r>
              <a:rPr kern="1200" spc="-5" dirty="0">
                <a:solidFill>
                  <a:prstClr val="black"/>
                </a:solidFill>
                <a:latin typeface="Palatino Linotype"/>
                <a:cs typeface="Palatino Linotype"/>
              </a:rPr>
              <a:t>length </a:t>
            </a:r>
            <a:r>
              <a:rPr kern="1200" dirty="0">
                <a:solidFill>
                  <a:prstClr val="black"/>
                </a:solidFill>
                <a:latin typeface="Palatino Linotype"/>
                <a:cs typeface="Palatino Linotype"/>
              </a:rPr>
              <a:t>of </a:t>
            </a:r>
            <a:r>
              <a:rPr kern="1200" spc="25" dirty="0">
                <a:solidFill>
                  <a:prstClr val="black"/>
                </a:solidFill>
                <a:latin typeface="Cambria Math"/>
                <a:cs typeface="Cambria Math"/>
              </a:rPr>
              <a:t>𝛽</a:t>
            </a:r>
            <a:r>
              <a:rPr kern="1200" spc="25" dirty="0">
                <a:solidFill>
                  <a:prstClr val="black"/>
                </a:solidFill>
                <a:latin typeface="Palatino Linotype"/>
                <a:cs typeface="Palatino Linotype"/>
              </a:rPr>
              <a:t>, </a:t>
            </a:r>
            <a:r>
              <a:rPr kern="1200" dirty="0">
                <a:solidFill>
                  <a:prstClr val="black"/>
                </a:solidFill>
                <a:latin typeface="Palatino Linotype"/>
                <a:cs typeface="Palatino Linotype"/>
              </a:rPr>
              <a:t>and </a:t>
            </a:r>
            <a:r>
              <a:rPr kern="1200" dirty="0">
                <a:solidFill>
                  <a:prstClr val="black"/>
                </a:solidFill>
                <a:latin typeface="Cambria Math"/>
                <a:cs typeface="Cambria Math"/>
              </a:rPr>
              <a:t>𝑠 = </a:t>
            </a:r>
            <a:r>
              <a:rPr kern="1200" spc="5" dirty="0">
                <a:solidFill>
                  <a:prstClr val="black"/>
                </a:solidFill>
                <a:latin typeface="Cambria Math"/>
                <a:cs typeface="Cambria Math"/>
              </a:rPr>
              <a:t> </a:t>
            </a:r>
            <a:r>
              <a:rPr kern="1200" spc="85" dirty="0">
                <a:solidFill>
                  <a:prstClr val="black"/>
                </a:solidFill>
                <a:latin typeface="Cambria Math"/>
                <a:cs typeface="Cambria Math"/>
              </a:rPr>
              <a:t>GOTO(𝑠</a:t>
            </a:r>
            <a:r>
              <a:rPr sz="1950" kern="1200" spc="127" baseline="-14957" dirty="0">
                <a:solidFill>
                  <a:prstClr val="black"/>
                </a:solidFill>
                <a:latin typeface="Cambria Math"/>
                <a:cs typeface="Cambria Math"/>
              </a:rPr>
              <a:t>𝑚</a:t>
            </a:r>
            <a:r>
              <a:rPr lang="en-US" sz="1950" kern="1200" spc="127" baseline="-14957" dirty="0">
                <a:solidFill>
                  <a:prstClr val="black"/>
                </a:solidFill>
                <a:latin typeface="Cambria Math"/>
                <a:cs typeface="Cambria Math"/>
              </a:rPr>
              <a:t>-</a:t>
            </a:r>
            <a:r>
              <a:rPr sz="1950" kern="1200" spc="127" baseline="-14957" dirty="0">
                <a:solidFill>
                  <a:prstClr val="black"/>
                </a:solidFill>
                <a:latin typeface="Cambria Math"/>
                <a:cs typeface="Cambria Math"/>
              </a:rPr>
              <a:t>𝑟</a:t>
            </a:r>
            <a:r>
              <a:rPr kern="1200" spc="85" dirty="0">
                <a:solidFill>
                  <a:prstClr val="black"/>
                </a:solidFill>
                <a:latin typeface="Cambria Math"/>
                <a:cs typeface="Cambria Math"/>
              </a:rPr>
              <a:t>,</a:t>
            </a:r>
            <a:r>
              <a:rPr kern="1200" spc="-100" dirty="0">
                <a:solidFill>
                  <a:prstClr val="black"/>
                </a:solidFill>
                <a:latin typeface="Cambria Math"/>
                <a:cs typeface="Cambria Math"/>
              </a:rPr>
              <a:t> </a:t>
            </a:r>
            <a:r>
              <a:rPr kern="1200" spc="5" dirty="0">
                <a:solidFill>
                  <a:prstClr val="black"/>
                </a:solidFill>
                <a:latin typeface="Cambria Math"/>
                <a:cs typeface="Cambria Math"/>
              </a:rPr>
              <a:t>𝐴)</a:t>
            </a:r>
            <a:endParaRPr kern="1200" dirty="0">
              <a:solidFill>
                <a:prstClr val="black"/>
              </a:solidFill>
              <a:latin typeface="Cambria Math"/>
              <a:cs typeface="Cambria Math"/>
            </a:endParaRPr>
          </a:p>
          <a:p>
            <a:pPr lvl="1" rtl="0">
              <a:spcBef>
                <a:spcPts val="5"/>
              </a:spcBef>
              <a:buFontTx/>
              <a:buChar char=""/>
            </a:pPr>
            <a:endParaRPr sz="1900" kern="1200" dirty="0">
              <a:solidFill>
                <a:prstClr val="black"/>
              </a:solidFill>
              <a:latin typeface="Cambria Math"/>
              <a:cs typeface="Cambria Math"/>
            </a:endParaRPr>
          </a:p>
          <a:p>
            <a:pPr marL="711200" lvl="1" indent="-228600" rtl="0">
              <a:buFont typeface="Wingdings"/>
              <a:buChar char=""/>
              <a:tabLst>
                <a:tab pos="711200" algn="l"/>
              </a:tabLst>
            </a:pPr>
            <a:r>
              <a:rPr kern="1200" dirty="0">
                <a:solidFill>
                  <a:srgbClr val="FF0000"/>
                </a:solidFill>
                <a:latin typeface="Palatino Linotype"/>
                <a:cs typeface="Palatino Linotype"/>
              </a:rPr>
              <a:t>accept</a:t>
            </a:r>
            <a:r>
              <a:rPr kern="1200" dirty="0">
                <a:solidFill>
                  <a:prstClr val="black"/>
                </a:solidFill>
                <a:latin typeface="Palatino Linotype"/>
                <a:cs typeface="Palatino Linotype"/>
              </a:rPr>
              <a:t>:</a:t>
            </a:r>
            <a:r>
              <a:rPr kern="1200" spc="-25" dirty="0">
                <a:solidFill>
                  <a:prstClr val="black"/>
                </a:solidFill>
                <a:latin typeface="Palatino Linotype"/>
                <a:cs typeface="Palatino Linotype"/>
              </a:rPr>
              <a:t> </a:t>
            </a:r>
            <a:r>
              <a:rPr kern="1200" dirty="0">
                <a:solidFill>
                  <a:prstClr val="black"/>
                </a:solidFill>
                <a:latin typeface="Palatino Linotype"/>
                <a:cs typeface="Palatino Linotype"/>
              </a:rPr>
              <a:t>parsing</a:t>
            </a:r>
            <a:r>
              <a:rPr kern="1200" spc="-25"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30" dirty="0">
                <a:solidFill>
                  <a:prstClr val="black"/>
                </a:solidFill>
                <a:latin typeface="Palatino Linotype"/>
                <a:cs typeface="Palatino Linotype"/>
              </a:rPr>
              <a:t> </a:t>
            </a:r>
            <a:r>
              <a:rPr kern="1200" dirty="0">
                <a:solidFill>
                  <a:prstClr val="black"/>
                </a:solidFill>
                <a:latin typeface="Palatino Linotype"/>
                <a:cs typeface="Palatino Linotype"/>
              </a:rPr>
              <a:t>completed</a:t>
            </a:r>
          </a:p>
          <a:p>
            <a:pPr lvl="1" rtl="0">
              <a:spcBef>
                <a:spcPts val="30"/>
              </a:spcBef>
              <a:buFontTx/>
              <a:buChar char=""/>
            </a:pPr>
            <a:endParaRPr sz="1650" kern="1200" dirty="0">
              <a:solidFill>
                <a:prstClr val="black"/>
              </a:solidFill>
              <a:latin typeface="Palatino Linotype"/>
              <a:cs typeface="Palatino Linotype"/>
            </a:endParaRPr>
          </a:p>
          <a:p>
            <a:pPr marL="711200" lvl="1" indent="-228600" rtl="0">
              <a:buFont typeface="Wingdings"/>
              <a:buChar char=""/>
              <a:tabLst>
                <a:tab pos="711200" algn="l"/>
              </a:tabLst>
            </a:pPr>
            <a:r>
              <a:rPr kern="1200" dirty="0">
                <a:solidFill>
                  <a:srgbClr val="FF0000"/>
                </a:solidFill>
                <a:latin typeface="Palatino Linotype"/>
                <a:cs typeface="Palatino Linotype"/>
              </a:rPr>
              <a:t>error</a:t>
            </a:r>
            <a:r>
              <a:rPr kern="1200" dirty="0">
                <a:solidFill>
                  <a:prstClr val="black"/>
                </a:solidFill>
                <a:latin typeface="Palatino Linotype"/>
                <a:cs typeface="Palatino Linotype"/>
              </a:rPr>
              <a:t>:</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parser</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has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found</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error</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and</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calls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error</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recovery</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routine</a:t>
            </a:r>
          </a:p>
        </p:txBody>
      </p:sp>
    </p:spTree>
    <p:extLst>
      <p:ext uri="{BB962C8B-B14F-4D97-AF65-F5344CB8AC3E}">
        <p14:creationId xmlns:p14="http://schemas.microsoft.com/office/powerpoint/2010/main" val="19376048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2" name="object 4">
            <a:extLst>
              <a:ext uri="{FF2B5EF4-FFF2-40B4-BE49-F238E27FC236}">
                <a16:creationId xmlns:a16="http://schemas.microsoft.com/office/drawing/2014/main" id="{9E71DC7A-255C-235F-C863-E05E16D4D212}"/>
              </a:ext>
            </a:extLst>
          </p:cNvPr>
          <p:cNvGrpSpPr/>
          <p:nvPr/>
        </p:nvGrpSpPr>
        <p:grpSpPr>
          <a:xfrm>
            <a:off x="1567026" y="3325247"/>
            <a:ext cx="6010275" cy="3311525"/>
            <a:chOff x="1567026" y="3325247"/>
            <a:chExt cx="6010275" cy="3311525"/>
          </a:xfrm>
        </p:grpSpPr>
        <p:pic>
          <p:nvPicPr>
            <p:cNvPr id="13" name="object 5">
              <a:extLst>
                <a:ext uri="{FF2B5EF4-FFF2-40B4-BE49-F238E27FC236}">
                  <a16:creationId xmlns:a16="http://schemas.microsoft.com/office/drawing/2014/main" id="{D7DAD18C-57FF-C5B5-A160-BCB302ED03A3}"/>
                </a:ext>
              </a:extLst>
            </p:cNvPr>
            <p:cNvPicPr/>
            <p:nvPr/>
          </p:nvPicPr>
          <p:blipFill>
            <a:blip r:embed="rId3" cstate="print"/>
            <a:stretch>
              <a:fillRect/>
            </a:stretch>
          </p:blipFill>
          <p:spPr>
            <a:xfrm>
              <a:off x="1576551" y="3334772"/>
              <a:ext cx="5990896" cy="3292113"/>
            </a:xfrm>
            <a:prstGeom prst="rect">
              <a:avLst/>
            </a:prstGeom>
          </p:spPr>
        </p:pic>
        <p:sp>
          <p:nvSpPr>
            <p:cNvPr id="14" name="object 6">
              <a:extLst>
                <a:ext uri="{FF2B5EF4-FFF2-40B4-BE49-F238E27FC236}">
                  <a16:creationId xmlns:a16="http://schemas.microsoft.com/office/drawing/2014/main" id="{A0FB25F9-1D4E-9246-99F2-0CF9F6E81CA0}"/>
                </a:ext>
              </a:extLst>
            </p:cNvPr>
            <p:cNvSpPr/>
            <p:nvPr/>
          </p:nvSpPr>
          <p:spPr>
            <a:xfrm>
              <a:off x="1571789" y="3330009"/>
              <a:ext cx="6000750" cy="3302000"/>
            </a:xfrm>
            <a:custGeom>
              <a:avLst/>
              <a:gdLst/>
              <a:ahLst/>
              <a:cxnLst/>
              <a:rect l="l" t="t" r="r" b="b"/>
              <a:pathLst>
                <a:path w="6000750" h="3302000">
                  <a:moveTo>
                    <a:pt x="0" y="0"/>
                  </a:moveTo>
                  <a:lnTo>
                    <a:pt x="6000421" y="0"/>
                  </a:lnTo>
                  <a:lnTo>
                    <a:pt x="6000421" y="3301639"/>
                  </a:lnTo>
                  <a:lnTo>
                    <a:pt x="0" y="3301639"/>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122</a:t>
            </a:fld>
            <a:endParaRPr lang="en-US"/>
          </a:p>
        </p:txBody>
      </p:sp>
      <p:sp>
        <p:nvSpPr>
          <p:cNvPr id="10" name="object 2">
            <a:extLst>
              <a:ext uri="{FF2B5EF4-FFF2-40B4-BE49-F238E27FC236}">
                <a16:creationId xmlns:a16="http://schemas.microsoft.com/office/drawing/2014/main" id="{F8286039-19B5-AC48-CFC7-CDB6EDA2BCD8}"/>
              </a:ext>
            </a:extLst>
          </p:cNvPr>
          <p:cNvSpPr txBox="1">
            <a:spLocks/>
          </p:cNvSpPr>
          <p:nvPr/>
        </p:nvSpPr>
        <p:spPr>
          <a:xfrm>
            <a:off x="707390" y="524763"/>
            <a:ext cx="51720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rgbClr val="A6A6A6"/>
                </a:solidFill>
                <a:effectLst/>
                <a:uLnTx/>
                <a:uFillTx/>
                <a:latin typeface="Palatino Linotype"/>
                <a:ea typeface="+mj-ea"/>
              </a:rPr>
              <a:t>LR-Parsing</a:t>
            </a:r>
            <a:r>
              <a:rPr kumimoji="0" lang="en-US" sz="4000" b="1" i="0" u="none" strike="noStrike" kern="0" cap="none" spc="-50" normalizeH="0" baseline="0" noProof="0" dirty="0">
                <a:ln>
                  <a:noFill/>
                </a:ln>
                <a:solidFill>
                  <a:srgbClr val="A6A6A6"/>
                </a:solidFill>
                <a:effectLst/>
                <a:uLnTx/>
                <a:uFillTx/>
                <a:latin typeface="Palatino Linotype"/>
                <a:ea typeface="+mj-ea"/>
              </a:rPr>
              <a:t> </a:t>
            </a:r>
            <a:r>
              <a:rPr kumimoji="0" lang="en-US" sz="4000" b="1" i="0" u="none" strike="noStrike" kern="0" cap="none" spc="0" normalizeH="0" baseline="0" noProof="0" dirty="0">
                <a:ln>
                  <a:noFill/>
                </a:ln>
                <a:solidFill>
                  <a:srgbClr val="A6A6A6"/>
                </a:solidFill>
                <a:effectLst/>
                <a:uLnTx/>
                <a:uFillTx/>
                <a:latin typeface="Palatino Linotype"/>
                <a:ea typeface="+mj-ea"/>
              </a:rPr>
              <a:t>Algorithm</a:t>
            </a:r>
          </a:p>
        </p:txBody>
      </p:sp>
      <p:sp>
        <p:nvSpPr>
          <p:cNvPr id="11" name="object 3">
            <a:extLst>
              <a:ext uri="{FF2B5EF4-FFF2-40B4-BE49-F238E27FC236}">
                <a16:creationId xmlns:a16="http://schemas.microsoft.com/office/drawing/2014/main" id="{42000DC4-8B38-77BC-1236-E03E823822EA}"/>
              </a:ext>
            </a:extLst>
          </p:cNvPr>
          <p:cNvSpPr txBox="1"/>
          <p:nvPr/>
        </p:nvSpPr>
        <p:spPr>
          <a:xfrm>
            <a:off x="694690" y="1447291"/>
            <a:ext cx="7395845" cy="1574165"/>
          </a:xfrm>
          <a:prstGeom prst="rect">
            <a:avLst/>
          </a:prstGeom>
        </p:spPr>
        <p:txBody>
          <a:bodyPr vert="horz" wrap="square" lIns="0" tIns="143510" rIns="0" bIns="0" rtlCol="0">
            <a:spAutoFit/>
          </a:bodyPr>
          <a:lstStyle/>
          <a:p>
            <a:pPr marL="255904" indent="-230504" rtl="0">
              <a:spcBef>
                <a:spcPts val="1130"/>
              </a:spcBef>
              <a:buFont typeface="Arial MT"/>
              <a:buChar char="•"/>
              <a:tabLst>
                <a:tab pos="255270" algn="l"/>
                <a:tab pos="255904" algn="l"/>
              </a:tabLst>
            </a:pPr>
            <a:r>
              <a:rPr b="1" kern="1200" spc="-5" dirty="0">
                <a:solidFill>
                  <a:prstClr val="black"/>
                </a:solidFill>
                <a:latin typeface="Palatino Linotype"/>
                <a:cs typeface="Palatino Linotype"/>
              </a:rPr>
              <a:t>Input: </a:t>
            </a:r>
            <a:r>
              <a:rPr kern="1200" spc="-5" dirty="0">
                <a:solidFill>
                  <a:prstClr val="black"/>
                </a:solidFill>
                <a:latin typeface="Palatino Linotype"/>
                <a:cs typeface="Palatino Linotype"/>
              </a:rPr>
              <a:t>The</a:t>
            </a:r>
            <a:r>
              <a:rPr kern="1200" dirty="0">
                <a:solidFill>
                  <a:prstClr val="black"/>
                </a:solidFill>
                <a:latin typeface="Palatino Linotype"/>
                <a:cs typeface="Palatino Linotype"/>
              </a:rPr>
              <a:t> parsing</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table for</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 </a:t>
            </a:r>
            <a:r>
              <a:rPr kern="1200" spc="-5" dirty="0">
                <a:solidFill>
                  <a:prstClr val="black"/>
                </a:solidFill>
                <a:latin typeface="Palatino Linotype"/>
                <a:cs typeface="Palatino Linotype"/>
              </a:rPr>
              <a:t>grammar</a:t>
            </a:r>
            <a:r>
              <a:rPr kern="1200" dirty="0">
                <a:solidFill>
                  <a:prstClr val="black"/>
                </a:solidFill>
                <a:latin typeface="Palatino Linotype"/>
                <a:cs typeface="Palatino Linotype"/>
              </a:rPr>
              <a:t> </a:t>
            </a:r>
            <a:r>
              <a:rPr kern="1200" dirty="0">
                <a:solidFill>
                  <a:prstClr val="black"/>
                </a:solidFill>
                <a:latin typeface="Cambria Math"/>
                <a:cs typeface="Cambria Math"/>
              </a:rPr>
              <a:t>𝐺</a:t>
            </a:r>
            <a:r>
              <a:rPr kern="1200" spc="135" dirty="0">
                <a:solidFill>
                  <a:prstClr val="black"/>
                </a:solidFill>
                <a:latin typeface="Cambria Math"/>
                <a:cs typeface="Cambria Math"/>
              </a:rPr>
              <a:t> </a:t>
            </a:r>
            <a:r>
              <a:rPr kern="1200" dirty="0">
                <a:solidFill>
                  <a:prstClr val="black"/>
                </a:solidFill>
                <a:latin typeface="Palatino Linotype"/>
                <a:cs typeface="Palatino Linotype"/>
              </a:rPr>
              <a:t>and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an input </a:t>
            </a:r>
            <a:r>
              <a:rPr kern="1200" spc="-5" dirty="0">
                <a:solidFill>
                  <a:prstClr val="black"/>
                </a:solidFill>
                <a:latin typeface="Palatino Linotype"/>
                <a:cs typeface="Palatino Linotype"/>
              </a:rPr>
              <a:t>string </a:t>
            </a:r>
            <a:r>
              <a:rPr kern="1200" dirty="0">
                <a:solidFill>
                  <a:prstClr val="black"/>
                </a:solidFill>
                <a:latin typeface="Cambria Math"/>
                <a:cs typeface="Cambria Math"/>
              </a:rPr>
              <a:t>𝜔</a:t>
            </a:r>
          </a:p>
          <a:p>
            <a:pPr marL="255270" marR="17780" indent="-230504" rtl="0">
              <a:lnSpc>
                <a:spcPct val="121100"/>
              </a:lnSpc>
              <a:spcBef>
                <a:spcPts val="575"/>
              </a:spcBef>
              <a:buFont typeface="Arial MT"/>
              <a:buChar char="•"/>
              <a:tabLst>
                <a:tab pos="255270" algn="l"/>
                <a:tab pos="255904" algn="l"/>
              </a:tabLst>
            </a:pPr>
            <a:r>
              <a:rPr b="1" kern="1200" dirty="0">
                <a:solidFill>
                  <a:prstClr val="black"/>
                </a:solidFill>
                <a:latin typeface="Palatino Linotype"/>
                <a:cs typeface="Palatino Linotype"/>
              </a:rPr>
              <a:t>Output:</a:t>
            </a:r>
            <a:r>
              <a:rPr b="1" kern="1200" spc="-5" dirty="0">
                <a:solidFill>
                  <a:prstClr val="black"/>
                </a:solidFill>
                <a:latin typeface="Palatino Linotype"/>
                <a:cs typeface="Palatino Linotype"/>
              </a:rPr>
              <a:t> </a:t>
            </a:r>
            <a:r>
              <a:rPr kern="1200" dirty="0">
                <a:solidFill>
                  <a:prstClr val="black"/>
                </a:solidFill>
                <a:latin typeface="Palatino Linotype"/>
                <a:cs typeface="Palatino Linotype"/>
              </a:rPr>
              <a:t>If </a:t>
            </a:r>
            <a:r>
              <a:rPr kern="1200" dirty="0">
                <a:solidFill>
                  <a:prstClr val="black"/>
                </a:solidFill>
                <a:latin typeface="Cambria Math"/>
                <a:cs typeface="Cambria Math"/>
              </a:rPr>
              <a:t>𝜔</a:t>
            </a:r>
            <a:r>
              <a:rPr kern="1200" spc="80" dirty="0">
                <a:solidFill>
                  <a:prstClr val="black"/>
                </a:solidFill>
                <a:latin typeface="Cambria Math"/>
                <a:cs typeface="Cambria Math"/>
              </a:rPr>
              <a:t> </a:t>
            </a:r>
            <a:r>
              <a:rPr kern="1200" dirty="0">
                <a:solidFill>
                  <a:prstClr val="black"/>
                </a:solidFill>
                <a:latin typeface="Palatino Linotype"/>
                <a:cs typeface="Palatino Linotype"/>
              </a:rPr>
              <a:t>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spc="20" dirty="0">
                <a:solidFill>
                  <a:prstClr val="black"/>
                </a:solidFill>
                <a:latin typeface="Cambria Math"/>
                <a:cs typeface="Cambria Math"/>
              </a:rPr>
              <a:t>𝐿(𝐺)</a:t>
            </a:r>
            <a:r>
              <a:rPr kern="1200" spc="20" dirty="0">
                <a:solidFill>
                  <a:prstClr val="black"/>
                </a:solidFill>
                <a:latin typeface="Palatino Linotype"/>
                <a:cs typeface="Palatino Linotype"/>
              </a:rPr>
              <a:t>,</a:t>
            </a:r>
            <a:r>
              <a:rPr kern="1200" dirty="0">
                <a:solidFill>
                  <a:prstClr val="black"/>
                </a:solidFill>
                <a:latin typeface="Palatino Linotype"/>
                <a:cs typeface="Palatino Linotype"/>
              </a:rPr>
              <a:t> 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reduction steps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of a</a:t>
            </a:r>
            <a:r>
              <a:rPr kern="1200" spc="-5" dirty="0">
                <a:solidFill>
                  <a:prstClr val="black"/>
                </a:solidFill>
                <a:latin typeface="Palatino Linotype"/>
                <a:cs typeface="Palatino Linotype"/>
              </a:rPr>
              <a:t> bottom-up</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parse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for </a:t>
            </a:r>
            <a:r>
              <a:rPr kern="1200" spc="15" dirty="0">
                <a:solidFill>
                  <a:prstClr val="black"/>
                </a:solidFill>
                <a:latin typeface="Cambria Math"/>
                <a:cs typeface="Cambria Math"/>
              </a:rPr>
              <a:t>𝜔</a:t>
            </a:r>
            <a:r>
              <a:rPr kern="1200" spc="15" dirty="0">
                <a:solidFill>
                  <a:prstClr val="black"/>
                </a:solidFill>
                <a:latin typeface="Palatino Linotype"/>
                <a:cs typeface="Palatino Linotype"/>
              </a:rPr>
              <a:t>;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otherwise, </a:t>
            </a:r>
            <a:r>
              <a:rPr kern="1200" dirty="0">
                <a:solidFill>
                  <a:prstClr val="black"/>
                </a:solidFill>
                <a:latin typeface="Palatino Linotype"/>
                <a:cs typeface="Palatino Linotype"/>
              </a:rPr>
              <a:t>an error indication</a:t>
            </a:r>
          </a:p>
          <a:p>
            <a:pPr marL="255904" indent="-230504" rtl="0">
              <a:spcBef>
                <a:spcPts val="1035"/>
              </a:spcBef>
              <a:buFont typeface="Arial MT"/>
              <a:buChar char="•"/>
              <a:tabLst>
                <a:tab pos="255270" algn="l"/>
                <a:tab pos="255904" algn="l"/>
              </a:tabLst>
            </a:pPr>
            <a:r>
              <a:rPr b="1" kern="1200" spc="-5" dirty="0">
                <a:solidFill>
                  <a:prstClr val="black"/>
                </a:solidFill>
                <a:latin typeface="Palatino Linotype"/>
                <a:cs typeface="Palatino Linotype"/>
              </a:rPr>
              <a:t>Initial configuration:</a:t>
            </a:r>
            <a:r>
              <a:rPr b="1" kern="1200" dirty="0">
                <a:solidFill>
                  <a:prstClr val="black"/>
                </a:solidFill>
                <a:latin typeface="Palatino Linotype"/>
                <a:cs typeface="Palatino Linotype"/>
              </a:rPr>
              <a:t> </a:t>
            </a:r>
            <a:r>
              <a:rPr kern="1200" spc="55" dirty="0">
                <a:solidFill>
                  <a:prstClr val="black"/>
                </a:solidFill>
                <a:latin typeface="Cambria Math"/>
                <a:cs typeface="Cambria Math"/>
              </a:rPr>
              <a:t>(𝑠</a:t>
            </a:r>
            <a:r>
              <a:rPr lang="en-US" sz="1950" kern="1200" spc="82" baseline="-14957" dirty="0">
                <a:solidFill>
                  <a:prstClr val="black"/>
                </a:solidFill>
                <a:latin typeface="Cambria Math"/>
                <a:cs typeface="Cambria Math"/>
              </a:rPr>
              <a:t>0</a:t>
            </a:r>
            <a:r>
              <a:rPr kern="1200" spc="55" dirty="0">
                <a:solidFill>
                  <a:prstClr val="black"/>
                </a:solidFill>
                <a:latin typeface="Cambria Math"/>
                <a:cs typeface="Cambria Math"/>
              </a:rPr>
              <a:t>,</a:t>
            </a:r>
            <a:r>
              <a:rPr kern="1200" spc="-95" dirty="0">
                <a:solidFill>
                  <a:prstClr val="black"/>
                </a:solidFill>
                <a:latin typeface="Cambria Math"/>
                <a:cs typeface="Cambria Math"/>
              </a:rPr>
              <a:t> </a:t>
            </a:r>
            <a:r>
              <a:rPr kern="1200" spc="-5" dirty="0">
                <a:solidFill>
                  <a:prstClr val="black"/>
                </a:solidFill>
                <a:latin typeface="Cambria Math"/>
                <a:cs typeface="Cambria Math"/>
              </a:rPr>
              <a:t>𝜔$)</a:t>
            </a:r>
            <a:endParaRPr kern="1200" dirty="0">
              <a:solidFill>
                <a:prstClr val="black"/>
              </a:solidFill>
              <a:latin typeface="Cambria Math"/>
              <a:cs typeface="Cambria Math"/>
            </a:endParaRPr>
          </a:p>
        </p:txBody>
      </p:sp>
    </p:spTree>
    <p:extLst>
      <p:ext uri="{BB962C8B-B14F-4D97-AF65-F5344CB8AC3E}">
        <p14:creationId xmlns:p14="http://schemas.microsoft.com/office/powerpoint/2010/main" val="423457576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123</a:t>
            </a:fld>
            <a:endParaRPr lang="en-US"/>
          </a:p>
        </p:txBody>
      </p:sp>
      <p:sp>
        <p:nvSpPr>
          <p:cNvPr id="14" name="object 2">
            <a:extLst>
              <a:ext uri="{FF2B5EF4-FFF2-40B4-BE49-F238E27FC236}">
                <a16:creationId xmlns:a16="http://schemas.microsoft.com/office/drawing/2014/main" id="{BA8934DB-03DB-6ECC-1099-5F0122FE1E0A}"/>
              </a:ext>
            </a:extLst>
          </p:cNvPr>
          <p:cNvSpPr txBox="1">
            <a:spLocks/>
          </p:cNvSpPr>
          <p:nvPr/>
        </p:nvSpPr>
        <p:spPr>
          <a:xfrm>
            <a:off x="707390" y="524763"/>
            <a:ext cx="53098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80" normalizeH="0" baseline="0" noProof="0">
                <a:ln>
                  <a:noFill/>
                </a:ln>
                <a:solidFill>
                  <a:sysClr val="windowText" lastClr="000000"/>
                </a:solidFill>
                <a:effectLst/>
                <a:uLnTx/>
                <a:uFillTx/>
                <a:latin typeface="Palatino Linotype"/>
                <a:ea typeface="+mj-ea"/>
              </a:rPr>
              <a:t>Table</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grpSp>
        <p:nvGrpSpPr>
          <p:cNvPr id="15" name="object 3">
            <a:extLst>
              <a:ext uri="{FF2B5EF4-FFF2-40B4-BE49-F238E27FC236}">
                <a16:creationId xmlns:a16="http://schemas.microsoft.com/office/drawing/2014/main" id="{5FBD262F-0738-33C7-CB02-38DB6F572395}"/>
              </a:ext>
            </a:extLst>
          </p:cNvPr>
          <p:cNvGrpSpPr/>
          <p:nvPr/>
        </p:nvGrpSpPr>
        <p:grpSpPr>
          <a:xfrm>
            <a:off x="6189997" y="2321411"/>
            <a:ext cx="1378585" cy="2117725"/>
            <a:chOff x="6189997" y="2321411"/>
            <a:chExt cx="1378585" cy="2117725"/>
          </a:xfrm>
        </p:grpSpPr>
        <p:pic>
          <p:nvPicPr>
            <p:cNvPr id="16" name="object 4">
              <a:extLst>
                <a:ext uri="{FF2B5EF4-FFF2-40B4-BE49-F238E27FC236}">
                  <a16:creationId xmlns:a16="http://schemas.microsoft.com/office/drawing/2014/main" id="{D7D7A7D2-2DEA-889A-FDF6-726107FE607E}"/>
                </a:ext>
              </a:extLst>
            </p:cNvPr>
            <p:cNvPicPr/>
            <p:nvPr/>
          </p:nvPicPr>
          <p:blipFill>
            <a:blip r:embed="rId2" cstate="print"/>
            <a:stretch>
              <a:fillRect/>
            </a:stretch>
          </p:blipFill>
          <p:spPr>
            <a:xfrm>
              <a:off x="6292303" y="2503104"/>
              <a:ext cx="1247905" cy="1861277"/>
            </a:xfrm>
            <a:prstGeom prst="rect">
              <a:avLst/>
            </a:prstGeom>
          </p:spPr>
        </p:pic>
        <p:sp>
          <p:nvSpPr>
            <p:cNvPr id="17" name="object 5">
              <a:extLst>
                <a:ext uri="{FF2B5EF4-FFF2-40B4-BE49-F238E27FC236}">
                  <a16:creationId xmlns:a16="http://schemas.microsoft.com/office/drawing/2014/main" id="{0D213AD7-91E2-1F8B-1F5D-3141FE42923D}"/>
                </a:ext>
              </a:extLst>
            </p:cNvPr>
            <p:cNvSpPr/>
            <p:nvPr/>
          </p:nvSpPr>
          <p:spPr>
            <a:xfrm>
              <a:off x="6194760" y="2326173"/>
              <a:ext cx="1369060" cy="2108200"/>
            </a:xfrm>
            <a:custGeom>
              <a:avLst/>
              <a:gdLst/>
              <a:ahLst/>
              <a:cxnLst/>
              <a:rect l="l" t="t" r="r" b="b"/>
              <a:pathLst>
                <a:path w="1369059" h="2108200">
                  <a:moveTo>
                    <a:pt x="0" y="0"/>
                  </a:moveTo>
                  <a:lnTo>
                    <a:pt x="1368768" y="0"/>
                  </a:lnTo>
                  <a:lnTo>
                    <a:pt x="1368768" y="2108114"/>
                  </a:lnTo>
                  <a:lnTo>
                    <a:pt x="0" y="2108114"/>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pSp>
        <p:nvGrpSpPr>
          <p:cNvPr id="18" name="object 6">
            <a:extLst>
              <a:ext uri="{FF2B5EF4-FFF2-40B4-BE49-F238E27FC236}">
                <a16:creationId xmlns:a16="http://schemas.microsoft.com/office/drawing/2014/main" id="{04707DFF-811B-D1AC-0092-A4285FE49BAD}"/>
              </a:ext>
            </a:extLst>
          </p:cNvPr>
          <p:cNvGrpSpPr/>
          <p:nvPr/>
        </p:nvGrpSpPr>
        <p:grpSpPr>
          <a:xfrm>
            <a:off x="798551" y="1702935"/>
            <a:ext cx="4509135" cy="3374390"/>
            <a:chOff x="798551" y="1702935"/>
            <a:chExt cx="4509135" cy="3374390"/>
          </a:xfrm>
        </p:grpSpPr>
        <p:pic>
          <p:nvPicPr>
            <p:cNvPr id="19" name="object 7">
              <a:extLst>
                <a:ext uri="{FF2B5EF4-FFF2-40B4-BE49-F238E27FC236}">
                  <a16:creationId xmlns:a16="http://schemas.microsoft.com/office/drawing/2014/main" id="{4E704BC4-1EFA-EEBE-154C-6A3FEBBABEFE}"/>
                </a:ext>
              </a:extLst>
            </p:cNvPr>
            <p:cNvPicPr/>
            <p:nvPr/>
          </p:nvPicPr>
          <p:blipFill>
            <a:blip r:embed="rId3" cstate="print"/>
            <a:stretch>
              <a:fillRect/>
            </a:stretch>
          </p:blipFill>
          <p:spPr>
            <a:xfrm>
              <a:off x="798551" y="1702935"/>
              <a:ext cx="4508860" cy="3373830"/>
            </a:xfrm>
            <a:prstGeom prst="rect">
              <a:avLst/>
            </a:prstGeom>
          </p:spPr>
        </p:pic>
        <p:sp>
          <p:nvSpPr>
            <p:cNvPr id="20" name="object 8">
              <a:extLst>
                <a:ext uri="{FF2B5EF4-FFF2-40B4-BE49-F238E27FC236}">
                  <a16:creationId xmlns:a16="http://schemas.microsoft.com/office/drawing/2014/main" id="{48DBC2E1-95BD-16EB-84BC-8A70535486F1}"/>
                </a:ext>
              </a:extLst>
            </p:cNvPr>
            <p:cNvSpPr/>
            <p:nvPr/>
          </p:nvSpPr>
          <p:spPr>
            <a:xfrm>
              <a:off x="1518744" y="2330936"/>
              <a:ext cx="615315" cy="356235"/>
            </a:xfrm>
            <a:custGeom>
              <a:avLst/>
              <a:gdLst/>
              <a:ahLst/>
              <a:cxnLst/>
              <a:rect l="l" t="t" r="r" b="b"/>
              <a:pathLst>
                <a:path w="615314" h="356235">
                  <a:moveTo>
                    <a:pt x="0" y="177887"/>
                  </a:moveTo>
                  <a:lnTo>
                    <a:pt x="24159" y="108645"/>
                  </a:lnTo>
                  <a:lnTo>
                    <a:pt x="52503" y="78428"/>
                  </a:lnTo>
                  <a:lnTo>
                    <a:pt x="90043" y="52101"/>
                  </a:lnTo>
                  <a:lnTo>
                    <a:pt x="135541" y="30380"/>
                  </a:lnTo>
                  <a:lnTo>
                    <a:pt x="187762" y="13979"/>
                  </a:lnTo>
                  <a:lnTo>
                    <a:pt x="245470" y="3614"/>
                  </a:lnTo>
                  <a:lnTo>
                    <a:pt x="307427" y="0"/>
                  </a:lnTo>
                  <a:lnTo>
                    <a:pt x="369384" y="3614"/>
                  </a:lnTo>
                  <a:lnTo>
                    <a:pt x="427092" y="13979"/>
                  </a:lnTo>
                  <a:lnTo>
                    <a:pt x="479313" y="30380"/>
                  </a:lnTo>
                  <a:lnTo>
                    <a:pt x="524811" y="52101"/>
                  </a:lnTo>
                  <a:lnTo>
                    <a:pt x="562351" y="78428"/>
                  </a:lnTo>
                  <a:lnTo>
                    <a:pt x="590695" y="108645"/>
                  </a:lnTo>
                  <a:lnTo>
                    <a:pt x="614855" y="177887"/>
                  </a:lnTo>
                  <a:lnTo>
                    <a:pt x="608609" y="213737"/>
                  </a:lnTo>
                  <a:lnTo>
                    <a:pt x="562351" y="277345"/>
                  </a:lnTo>
                  <a:lnTo>
                    <a:pt x="524811" y="303672"/>
                  </a:lnTo>
                  <a:lnTo>
                    <a:pt x="479313" y="325393"/>
                  </a:lnTo>
                  <a:lnTo>
                    <a:pt x="427092" y="341794"/>
                  </a:lnTo>
                  <a:lnTo>
                    <a:pt x="369384" y="352159"/>
                  </a:lnTo>
                  <a:lnTo>
                    <a:pt x="307427" y="355774"/>
                  </a:lnTo>
                  <a:lnTo>
                    <a:pt x="245470" y="352159"/>
                  </a:lnTo>
                  <a:lnTo>
                    <a:pt x="187762" y="341794"/>
                  </a:lnTo>
                  <a:lnTo>
                    <a:pt x="135541" y="325393"/>
                  </a:lnTo>
                  <a:lnTo>
                    <a:pt x="90043" y="303672"/>
                  </a:lnTo>
                  <a:lnTo>
                    <a:pt x="52503" y="277345"/>
                  </a:lnTo>
                  <a:lnTo>
                    <a:pt x="24159" y="247128"/>
                  </a:lnTo>
                  <a:lnTo>
                    <a:pt x="0" y="177887"/>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1" name="object 9">
              <a:extLst>
                <a:ext uri="{FF2B5EF4-FFF2-40B4-BE49-F238E27FC236}">
                  <a16:creationId xmlns:a16="http://schemas.microsoft.com/office/drawing/2014/main" id="{C7F87650-E240-E81F-F459-A29D9D71548C}"/>
                </a:ext>
              </a:extLst>
            </p:cNvPr>
            <p:cNvSpPr/>
            <p:nvPr/>
          </p:nvSpPr>
          <p:spPr>
            <a:xfrm>
              <a:off x="1949668" y="4569640"/>
              <a:ext cx="494030" cy="270510"/>
            </a:xfrm>
            <a:custGeom>
              <a:avLst/>
              <a:gdLst/>
              <a:ahLst/>
              <a:cxnLst/>
              <a:rect l="l" t="t" r="r" b="b"/>
              <a:pathLst>
                <a:path w="494030" h="270510">
                  <a:moveTo>
                    <a:pt x="0" y="135186"/>
                  </a:moveTo>
                  <a:lnTo>
                    <a:pt x="25104" y="75734"/>
                  </a:lnTo>
                  <a:lnTo>
                    <a:pt x="54261" y="50634"/>
                  </a:lnTo>
                  <a:lnTo>
                    <a:pt x="92511" y="29698"/>
                  </a:lnTo>
                  <a:lnTo>
                    <a:pt x="138371" y="13740"/>
                  </a:lnTo>
                  <a:lnTo>
                    <a:pt x="190359" y="3570"/>
                  </a:lnTo>
                  <a:lnTo>
                    <a:pt x="246993" y="0"/>
                  </a:lnTo>
                  <a:lnTo>
                    <a:pt x="303626" y="3570"/>
                  </a:lnTo>
                  <a:lnTo>
                    <a:pt x="355614" y="13740"/>
                  </a:lnTo>
                  <a:lnTo>
                    <a:pt x="401474" y="29698"/>
                  </a:lnTo>
                  <a:lnTo>
                    <a:pt x="439724" y="50634"/>
                  </a:lnTo>
                  <a:lnTo>
                    <a:pt x="468881" y="75734"/>
                  </a:lnTo>
                  <a:lnTo>
                    <a:pt x="493986" y="135186"/>
                  </a:lnTo>
                  <a:lnTo>
                    <a:pt x="487462" y="166183"/>
                  </a:lnTo>
                  <a:lnTo>
                    <a:pt x="439724" y="219738"/>
                  </a:lnTo>
                  <a:lnTo>
                    <a:pt x="401474" y="240674"/>
                  </a:lnTo>
                  <a:lnTo>
                    <a:pt x="355614" y="256632"/>
                  </a:lnTo>
                  <a:lnTo>
                    <a:pt x="303626" y="266802"/>
                  </a:lnTo>
                  <a:lnTo>
                    <a:pt x="246993" y="270373"/>
                  </a:lnTo>
                  <a:lnTo>
                    <a:pt x="190359" y="266802"/>
                  </a:lnTo>
                  <a:lnTo>
                    <a:pt x="138371" y="256632"/>
                  </a:lnTo>
                  <a:lnTo>
                    <a:pt x="92511" y="240674"/>
                  </a:lnTo>
                  <a:lnTo>
                    <a:pt x="54261" y="219738"/>
                  </a:lnTo>
                  <a:lnTo>
                    <a:pt x="25104" y="194638"/>
                  </a:lnTo>
                  <a:lnTo>
                    <a:pt x="0" y="135186"/>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2" name="object 10">
            <a:extLst>
              <a:ext uri="{FF2B5EF4-FFF2-40B4-BE49-F238E27FC236}">
                <a16:creationId xmlns:a16="http://schemas.microsoft.com/office/drawing/2014/main" id="{897AB8A7-040B-F25F-CC7F-289602AD444F}"/>
              </a:ext>
            </a:extLst>
          </p:cNvPr>
          <p:cNvSpPr txBox="1"/>
          <p:nvPr/>
        </p:nvSpPr>
        <p:spPr>
          <a:xfrm>
            <a:off x="784296" y="5098796"/>
            <a:ext cx="7800975" cy="866775"/>
          </a:xfrm>
          <a:prstGeom prst="rect">
            <a:avLst/>
          </a:prstGeom>
        </p:spPr>
        <p:txBody>
          <a:bodyPr vert="horz" wrap="square" lIns="0" tIns="158750" rIns="0" bIns="0" rtlCol="0">
            <a:spAutoFit/>
          </a:bodyPr>
          <a:lstStyle/>
          <a:p>
            <a:pPr marL="298450" indent="-285750" rtl="0">
              <a:spcBef>
                <a:spcPts val="1250"/>
              </a:spcBef>
              <a:buFont typeface="Arial MT"/>
              <a:buChar char="•"/>
              <a:tabLst>
                <a:tab pos="297815" algn="l"/>
                <a:tab pos="298450" algn="l"/>
                <a:tab pos="3221990" algn="l"/>
              </a:tabLst>
            </a:pPr>
            <a:r>
              <a:rPr kern="1200" dirty="0">
                <a:solidFill>
                  <a:srgbClr val="FF0000"/>
                </a:solidFill>
                <a:latin typeface="Cambria Math"/>
                <a:cs typeface="Cambria Math"/>
              </a:rPr>
              <a:t>𝑠5</a:t>
            </a:r>
            <a:r>
              <a:rPr kern="1200" dirty="0">
                <a:solidFill>
                  <a:prstClr val="black"/>
                </a:solidFill>
                <a:latin typeface="Palatino Linotype"/>
                <a:cs typeface="Palatino Linotype"/>
              </a:rPr>
              <a: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shift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by pushing </a:t>
            </a:r>
            <a:r>
              <a:rPr kern="1200" spc="-5" dirty="0">
                <a:solidFill>
                  <a:prstClr val="black"/>
                </a:solidFill>
                <a:latin typeface="Palatino Linotype"/>
                <a:cs typeface="Palatino Linotype"/>
              </a:rPr>
              <a:t>state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5	</a:t>
            </a:r>
            <a:r>
              <a:rPr kern="1200" spc="-5" dirty="0">
                <a:solidFill>
                  <a:srgbClr val="FF0000"/>
                </a:solidFill>
                <a:latin typeface="Cambria Math"/>
                <a:cs typeface="Cambria Math"/>
              </a:rPr>
              <a:t>𝑟3</a:t>
            </a:r>
            <a:r>
              <a:rPr kern="1200" spc="-5" dirty="0">
                <a:solidFill>
                  <a:prstClr val="black"/>
                </a:solidFill>
                <a:latin typeface="Palatino Linotype"/>
                <a:cs typeface="Palatino Linotype"/>
              </a:rPr>
              <a:t>:</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reduce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using</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production</a:t>
            </a:r>
            <a:r>
              <a:rPr kern="1200" spc="-10" dirty="0">
                <a:solidFill>
                  <a:prstClr val="black"/>
                </a:solidFill>
                <a:latin typeface="Palatino Linotype"/>
                <a:cs typeface="Palatino Linotype"/>
              </a:rPr>
              <a:t> </a:t>
            </a:r>
            <a:r>
              <a:rPr kern="1200" dirty="0">
                <a:solidFill>
                  <a:srgbClr val="FF0000"/>
                </a:solidFill>
                <a:latin typeface="Palatino Linotype"/>
                <a:cs typeface="Palatino Linotype"/>
              </a:rPr>
              <a:t>No.</a:t>
            </a:r>
            <a:r>
              <a:rPr kern="1200" spc="-10" dirty="0">
                <a:solidFill>
                  <a:srgbClr val="FF0000"/>
                </a:solidFill>
                <a:latin typeface="Palatino Linotype"/>
                <a:cs typeface="Palatino Linotype"/>
              </a:rPr>
              <a:t> </a:t>
            </a:r>
            <a:r>
              <a:rPr kern="1200" dirty="0">
                <a:solidFill>
                  <a:srgbClr val="FF0000"/>
                </a:solidFill>
                <a:latin typeface="Palatino Linotype"/>
                <a:cs typeface="Palatino Linotype"/>
              </a:rPr>
              <a:t>3</a:t>
            </a:r>
            <a:endParaRPr kern="1200">
              <a:solidFill>
                <a:prstClr val="black"/>
              </a:solidFill>
              <a:latin typeface="Palatino Linotype"/>
              <a:cs typeface="Palatino Linotype"/>
            </a:endParaRPr>
          </a:p>
          <a:p>
            <a:pPr marL="298450" indent="-285750" rtl="0">
              <a:spcBef>
                <a:spcPts val="1155"/>
              </a:spcBef>
              <a:buFont typeface="Arial MT"/>
              <a:buChar char="•"/>
              <a:tabLst>
                <a:tab pos="297815" algn="l"/>
                <a:tab pos="298450" algn="l"/>
              </a:tabLst>
            </a:pPr>
            <a:r>
              <a:rPr kern="1200" spc="-5" dirty="0">
                <a:solidFill>
                  <a:prstClr val="black"/>
                </a:solidFill>
                <a:latin typeface="Palatino Linotype"/>
                <a:cs typeface="Palatino Linotype"/>
              </a:rPr>
              <a:t>GOTO </a:t>
            </a:r>
            <a:r>
              <a:rPr kern="1200" dirty="0">
                <a:solidFill>
                  <a:prstClr val="black"/>
                </a:solidFill>
                <a:latin typeface="Palatino Linotype"/>
                <a:cs typeface="Palatino Linotype"/>
              </a:rPr>
              <a:t>entries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for</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terminals </a:t>
            </a:r>
            <a:r>
              <a:rPr kern="1200" dirty="0">
                <a:solidFill>
                  <a:prstClr val="black"/>
                </a:solidFill>
                <a:latin typeface="Palatino Linotype"/>
                <a:cs typeface="Palatino Linotype"/>
              </a:rPr>
              <a:t>are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not </a:t>
            </a:r>
            <a:r>
              <a:rPr kern="1200" spc="-5" dirty="0">
                <a:solidFill>
                  <a:prstClr val="black"/>
                </a:solidFill>
                <a:latin typeface="Palatino Linotype"/>
                <a:cs typeface="Palatino Linotype"/>
              </a:rPr>
              <a:t>listed,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can be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checked</a:t>
            </a:r>
            <a:r>
              <a:rPr kern="1200" dirty="0">
                <a:solidFill>
                  <a:prstClr val="black"/>
                </a:solidFill>
                <a:latin typeface="Palatino Linotype"/>
                <a:cs typeface="Palatino Linotype"/>
              </a:rPr>
              <a:t> in</a:t>
            </a:r>
            <a:r>
              <a:rPr kern="1200" spc="-60" dirty="0">
                <a:solidFill>
                  <a:prstClr val="black"/>
                </a:solidFill>
                <a:latin typeface="Palatino Linotype"/>
                <a:cs typeface="Palatino Linotype"/>
              </a:rPr>
              <a:t> </a:t>
            </a:r>
            <a:r>
              <a:rPr kern="1200" spc="-5" dirty="0">
                <a:solidFill>
                  <a:prstClr val="black"/>
                </a:solidFill>
                <a:latin typeface="Palatino Linotype"/>
                <a:cs typeface="Palatino Linotype"/>
              </a:rPr>
              <a:t>ACTION</a:t>
            </a:r>
            <a:r>
              <a:rPr kern="1200" dirty="0">
                <a:solidFill>
                  <a:prstClr val="black"/>
                </a:solidFill>
                <a:latin typeface="Palatino Linotype"/>
                <a:cs typeface="Palatino Linotype"/>
              </a:rPr>
              <a:t> part</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163789735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124</a:t>
            </a:fld>
            <a:endParaRPr lang="en-US"/>
          </a:p>
        </p:txBody>
      </p:sp>
      <p:sp>
        <p:nvSpPr>
          <p:cNvPr id="18" name="object 2">
            <a:extLst>
              <a:ext uri="{FF2B5EF4-FFF2-40B4-BE49-F238E27FC236}">
                <a16:creationId xmlns:a16="http://schemas.microsoft.com/office/drawing/2014/main" id="{51E7026D-50F3-F73E-7110-DEA538C8CBB5}"/>
              </a:ext>
            </a:extLst>
          </p:cNvPr>
          <p:cNvSpPr txBox="1">
            <a:spLocks/>
          </p:cNvSpPr>
          <p:nvPr/>
        </p:nvSpPr>
        <p:spPr>
          <a:xfrm>
            <a:off x="707390" y="524763"/>
            <a:ext cx="47009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LR</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9" name="object 3">
            <a:extLst>
              <a:ext uri="{FF2B5EF4-FFF2-40B4-BE49-F238E27FC236}">
                <a16:creationId xmlns:a16="http://schemas.microsoft.com/office/drawing/2014/main" id="{414E6B03-77B0-6311-E8BA-59B06E8D55C7}"/>
              </a:ext>
            </a:extLst>
          </p:cNvPr>
          <p:cNvSpPr txBox="1"/>
          <p:nvPr/>
        </p:nvSpPr>
        <p:spPr>
          <a:xfrm>
            <a:off x="707390" y="1657603"/>
            <a:ext cx="3521710" cy="391160"/>
          </a:xfrm>
          <a:prstGeom prst="rect">
            <a:avLst/>
          </a:prstGeom>
        </p:spPr>
        <p:txBody>
          <a:bodyPr vert="horz" wrap="square" lIns="0" tIns="12700" rIns="0" bIns="0" rtlCol="0">
            <a:spAutoFit/>
          </a:bodyPr>
          <a:lstStyle/>
          <a:p>
            <a:pPr marL="243204" indent="-230504" rtl="0">
              <a:spcBef>
                <a:spcPts val="100"/>
              </a:spcBef>
              <a:buFont typeface="Arial MT"/>
              <a:buChar char="•"/>
              <a:tabLst>
                <a:tab pos="243204" algn="l"/>
              </a:tabLst>
            </a:pPr>
            <a:r>
              <a:rPr sz="2400" kern="1200" spc="-5" dirty="0">
                <a:solidFill>
                  <a:prstClr val="black"/>
                </a:solidFill>
                <a:latin typeface="Palatino Linotype"/>
                <a:cs typeface="Palatino Linotype"/>
              </a:rPr>
              <a:t>Input</a:t>
            </a:r>
            <a:r>
              <a:rPr sz="2400" kern="1200" spc="-10" dirty="0">
                <a:solidFill>
                  <a:prstClr val="black"/>
                </a:solidFill>
                <a:latin typeface="Palatino Linotype"/>
                <a:cs typeface="Palatino Linotype"/>
              </a:rPr>
              <a:t> </a:t>
            </a:r>
            <a:r>
              <a:rPr sz="2400" kern="1200" spc="-5" dirty="0">
                <a:solidFill>
                  <a:prstClr val="black"/>
                </a:solidFill>
                <a:latin typeface="Palatino Linotype"/>
                <a:cs typeface="Palatino Linotype"/>
              </a:rPr>
              <a:t>string: </a:t>
            </a:r>
            <a:r>
              <a:rPr sz="2400" kern="1200" spc="-5" dirty="0">
                <a:solidFill>
                  <a:srgbClr val="0432FF"/>
                </a:solidFill>
                <a:latin typeface="Cambria Math"/>
                <a:cs typeface="Cambria Math"/>
              </a:rPr>
              <a:t>𝐢𝐝</a:t>
            </a:r>
            <a:r>
              <a:rPr sz="2400" kern="1200" spc="-10" dirty="0">
                <a:solidFill>
                  <a:srgbClr val="0432FF"/>
                </a:solidFill>
                <a:latin typeface="Cambria Math"/>
                <a:cs typeface="Cambria Math"/>
              </a:rPr>
              <a:t> </a:t>
            </a:r>
            <a:r>
              <a:rPr sz="2400" kern="1200" dirty="0">
                <a:solidFill>
                  <a:srgbClr val="0432FF"/>
                </a:solidFill>
                <a:latin typeface="Cambria Math"/>
                <a:cs typeface="Cambria Math"/>
              </a:rPr>
              <a:t>∗</a:t>
            </a:r>
            <a:r>
              <a:rPr sz="2400" kern="1200" spc="-5" dirty="0">
                <a:solidFill>
                  <a:srgbClr val="0432FF"/>
                </a:solidFill>
                <a:latin typeface="Cambria Math"/>
                <a:cs typeface="Cambria Math"/>
              </a:rPr>
              <a:t> 𝐢𝐝</a:t>
            </a:r>
            <a:r>
              <a:rPr sz="2400" kern="1200" spc="-10" dirty="0">
                <a:solidFill>
                  <a:srgbClr val="0432FF"/>
                </a:solidFill>
                <a:latin typeface="Cambria Math"/>
                <a:cs typeface="Cambria Math"/>
              </a:rPr>
              <a:t> </a:t>
            </a:r>
            <a:r>
              <a:rPr sz="2400" kern="1200" dirty="0">
                <a:solidFill>
                  <a:srgbClr val="0432FF"/>
                </a:solidFill>
                <a:latin typeface="Cambria Math"/>
                <a:cs typeface="Cambria Math"/>
              </a:rPr>
              <a:t>+</a:t>
            </a:r>
            <a:r>
              <a:rPr sz="2400" kern="1200" spc="-10" dirty="0">
                <a:solidFill>
                  <a:srgbClr val="0432FF"/>
                </a:solidFill>
                <a:latin typeface="Cambria Math"/>
                <a:cs typeface="Cambria Math"/>
              </a:rPr>
              <a:t> </a:t>
            </a:r>
            <a:r>
              <a:rPr sz="2400" kern="1200" spc="-5" dirty="0">
                <a:solidFill>
                  <a:srgbClr val="0432FF"/>
                </a:solidFill>
                <a:latin typeface="Cambria Math"/>
                <a:cs typeface="Cambria Math"/>
              </a:rPr>
              <a:t>𝐢𝐝</a:t>
            </a:r>
            <a:endParaRPr sz="2400" kern="1200">
              <a:solidFill>
                <a:prstClr val="black"/>
              </a:solidFill>
              <a:latin typeface="Cambria Math"/>
              <a:cs typeface="Cambria Math"/>
            </a:endParaRPr>
          </a:p>
        </p:txBody>
      </p:sp>
      <p:grpSp>
        <p:nvGrpSpPr>
          <p:cNvPr id="20" name="object 4">
            <a:extLst>
              <a:ext uri="{FF2B5EF4-FFF2-40B4-BE49-F238E27FC236}">
                <a16:creationId xmlns:a16="http://schemas.microsoft.com/office/drawing/2014/main" id="{1FA5F775-9197-A722-0D97-DBBF521E3C8C}"/>
              </a:ext>
            </a:extLst>
          </p:cNvPr>
          <p:cNvGrpSpPr/>
          <p:nvPr/>
        </p:nvGrpSpPr>
        <p:grpSpPr>
          <a:xfrm>
            <a:off x="895755" y="2282808"/>
            <a:ext cx="6209665" cy="3869054"/>
            <a:chOff x="895755" y="2282808"/>
            <a:chExt cx="6209665" cy="3869054"/>
          </a:xfrm>
        </p:grpSpPr>
        <p:pic>
          <p:nvPicPr>
            <p:cNvPr id="21" name="object 5">
              <a:extLst>
                <a:ext uri="{FF2B5EF4-FFF2-40B4-BE49-F238E27FC236}">
                  <a16:creationId xmlns:a16="http://schemas.microsoft.com/office/drawing/2014/main" id="{C01C3E93-C4FD-4624-B91B-EE3FFB6F3C2F}"/>
                </a:ext>
              </a:extLst>
            </p:cNvPr>
            <p:cNvPicPr/>
            <p:nvPr/>
          </p:nvPicPr>
          <p:blipFill>
            <a:blip r:embed="rId2" cstate="print"/>
            <a:stretch>
              <a:fillRect/>
            </a:stretch>
          </p:blipFill>
          <p:spPr>
            <a:xfrm>
              <a:off x="895755" y="2282808"/>
              <a:ext cx="6209405" cy="3868454"/>
            </a:xfrm>
            <a:prstGeom prst="rect">
              <a:avLst/>
            </a:prstGeom>
          </p:spPr>
        </p:pic>
        <p:sp>
          <p:nvSpPr>
            <p:cNvPr id="22" name="object 6">
              <a:extLst>
                <a:ext uri="{FF2B5EF4-FFF2-40B4-BE49-F238E27FC236}">
                  <a16:creationId xmlns:a16="http://schemas.microsoft.com/office/drawing/2014/main" id="{E8F0F9BB-6A37-0B5A-9D51-8F4E6635936A}"/>
                </a:ext>
              </a:extLst>
            </p:cNvPr>
            <p:cNvSpPr/>
            <p:nvPr/>
          </p:nvSpPr>
          <p:spPr>
            <a:xfrm>
              <a:off x="1523998" y="2690648"/>
              <a:ext cx="5476240" cy="307340"/>
            </a:xfrm>
            <a:custGeom>
              <a:avLst/>
              <a:gdLst/>
              <a:ahLst/>
              <a:cxnLst/>
              <a:rect l="l" t="t" r="r" b="b"/>
              <a:pathLst>
                <a:path w="5476240" h="307339">
                  <a:moveTo>
                    <a:pt x="0" y="0"/>
                  </a:moveTo>
                  <a:lnTo>
                    <a:pt x="5475890" y="0"/>
                  </a:lnTo>
                  <a:lnTo>
                    <a:pt x="5475890" y="307220"/>
                  </a:lnTo>
                  <a:lnTo>
                    <a:pt x="0" y="30722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3" name="object 7">
            <a:extLst>
              <a:ext uri="{FF2B5EF4-FFF2-40B4-BE49-F238E27FC236}">
                <a16:creationId xmlns:a16="http://schemas.microsoft.com/office/drawing/2014/main" id="{C02261CB-8402-5950-0BB4-5B5D19DA4215}"/>
              </a:ext>
            </a:extLst>
          </p:cNvPr>
          <p:cNvSpPr txBox="1"/>
          <p:nvPr/>
        </p:nvSpPr>
        <p:spPr>
          <a:xfrm>
            <a:off x="7078629" y="2569971"/>
            <a:ext cx="1381760" cy="665480"/>
          </a:xfrm>
          <a:prstGeom prst="rect">
            <a:avLst/>
          </a:prstGeom>
        </p:spPr>
        <p:txBody>
          <a:bodyPr vert="horz" wrap="square" lIns="0" tIns="88900" rIns="0" bIns="0" rtlCol="0">
            <a:spAutoFit/>
          </a:bodyPr>
          <a:lstStyle/>
          <a:p>
            <a:pPr marL="298450" indent="-285750" rtl="0">
              <a:spcBef>
                <a:spcPts val="700"/>
              </a:spcBef>
              <a:buFont typeface="Arial MT"/>
              <a:buChar char="•"/>
              <a:tabLst>
                <a:tab pos="297815" algn="l"/>
                <a:tab pos="298450" algn="l"/>
              </a:tabLst>
            </a:pPr>
            <a:r>
              <a:rPr sz="1600" kern="1200" spc="-5" dirty="0">
                <a:solidFill>
                  <a:srgbClr val="FF0000"/>
                </a:solidFill>
                <a:latin typeface="Palatino Linotype"/>
                <a:cs typeface="Palatino Linotype"/>
              </a:rPr>
              <a:t>Push</a:t>
            </a:r>
            <a:r>
              <a:rPr sz="1600" kern="1200" spc="-30" dirty="0">
                <a:solidFill>
                  <a:srgbClr val="FF0000"/>
                </a:solidFill>
                <a:latin typeface="Palatino Linotype"/>
                <a:cs typeface="Palatino Linotype"/>
              </a:rPr>
              <a:t> </a:t>
            </a:r>
            <a:r>
              <a:rPr sz="1600" kern="1200" spc="-5" dirty="0">
                <a:solidFill>
                  <a:srgbClr val="FF0000"/>
                </a:solidFill>
                <a:latin typeface="Palatino Linotype"/>
                <a:cs typeface="Palatino Linotype"/>
              </a:rPr>
              <a:t>state</a:t>
            </a:r>
            <a:r>
              <a:rPr sz="1600" kern="1200" spc="-40" dirty="0">
                <a:solidFill>
                  <a:srgbClr val="FF0000"/>
                </a:solidFill>
                <a:latin typeface="Palatino Linotype"/>
                <a:cs typeface="Palatino Linotype"/>
              </a:rPr>
              <a:t> </a:t>
            </a:r>
            <a:r>
              <a:rPr sz="1600" kern="1200" dirty="0">
                <a:solidFill>
                  <a:srgbClr val="FF0000"/>
                </a:solidFill>
                <a:latin typeface="Palatino Linotype"/>
                <a:cs typeface="Palatino Linotype"/>
              </a:rPr>
              <a:t>5</a:t>
            </a:r>
            <a:endParaRPr sz="1600" kern="1200">
              <a:solidFill>
                <a:prstClr val="black"/>
              </a:solidFill>
              <a:latin typeface="Palatino Linotype"/>
              <a:cs typeface="Palatino Linotype"/>
            </a:endParaRPr>
          </a:p>
          <a:p>
            <a:pPr marL="298450" indent="-285750" rtl="0">
              <a:spcBef>
                <a:spcPts val="600"/>
              </a:spcBef>
              <a:buFont typeface="Arial MT"/>
              <a:buChar char="•"/>
              <a:tabLst>
                <a:tab pos="297815" algn="l"/>
                <a:tab pos="298450" algn="l"/>
              </a:tabLst>
            </a:pPr>
            <a:r>
              <a:rPr sz="1600" kern="1200" spc="-10" dirty="0">
                <a:solidFill>
                  <a:srgbClr val="FF0000"/>
                </a:solidFill>
                <a:latin typeface="Palatino Linotype"/>
                <a:cs typeface="Palatino Linotype"/>
              </a:rPr>
              <a:t>Remove</a:t>
            </a:r>
            <a:r>
              <a:rPr sz="1600" kern="1200" spc="-35" dirty="0">
                <a:solidFill>
                  <a:srgbClr val="FF0000"/>
                </a:solidFill>
                <a:latin typeface="Palatino Linotype"/>
                <a:cs typeface="Palatino Linotype"/>
              </a:rPr>
              <a:t> </a:t>
            </a:r>
            <a:r>
              <a:rPr sz="1600" kern="1200" spc="-5" dirty="0">
                <a:solidFill>
                  <a:srgbClr val="FF0000"/>
                </a:solidFill>
                <a:latin typeface="Palatino Linotype"/>
                <a:cs typeface="Palatino Linotype"/>
              </a:rPr>
              <a:t>id</a:t>
            </a:r>
            <a:endParaRPr sz="1600" kern="1200">
              <a:solidFill>
                <a:prstClr val="black"/>
              </a:solidFill>
              <a:latin typeface="Palatino Linotype"/>
              <a:cs typeface="Palatino Linotype"/>
            </a:endParaRPr>
          </a:p>
        </p:txBody>
      </p:sp>
      <p:grpSp>
        <p:nvGrpSpPr>
          <p:cNvPr id="24" name="object 8">
            <a:extLst>
              <a:ext uri="{FF2B5EF4-FFF2-40B4-BE49-F238E27FC236}">
                <a16:creationId xmlns:a16="http://schemas.microsoft.com/office/drawing/2014/main" id="{9E1E3B0C-676C-112F-FC15-8C3E7923FDB3}"/>
              </a:ext>
            </a:extLst>
          </p:cNvPr>
          <p:cNvGrpSpPr/>
          <p:nvPr/>
        </p:nvGrpSpPr>
        <p:grpSpPr>
          <a:xfrm>
            <a:off x="1512393" y="126994"/>
            <a:ext cx="6953884" cy="4557395"/>
            <a:chOff x="1512393" y="126994"/>
            <a:chExt cx="6953884" cy="4557395"/>
          </a:xfrm>
        </p:grpSpPr>
        <p:pic>
          <p:nvPicPr>
            <p:cNvPr id="25" name="object 9">
              <a:extLst>
                <a:ext uri="{FF2B5EF4-FFF2-40B4-BE49-F238E27FC236}">
                  <a16:creationId xmlns:a16="http://schemas.microsoft.com/office/drawing/2014/main" id="{90B0A826-419E-6D45-7C26-FB7CCAC509D3}"/>
                </a:ext>
              </a:extLst>
            </p:cNvPr>
            <p:cNvPicPr/>
            <p:nvPr/>
          </p:nvPicPr>
          <p:blipFill>
            <a:blip r:embed="rId3" cstate="print"/>
            <a:stretch>
              <a:fillRect/>
            </a:stretch>
          </p:blipFill>
          <p:spPr>
            <a:xfrm>
              <a:off x="7189862" y="308687"/>
              <a:ext cx="1247905" cy="1861275"/>
            </a:xfrm>
            <a:prstGeom prst="rect">
              <a:avLst/>
            </a:prstGeom>
          </p:spPr>
        </p:pic>
        <p:sp>
          <p:nvSpPr>
            <p:cNvPr id="26" name="object 10">
              <a:extLst>
                <a:ext uri="{FF2B5EF4-FFF2-40B4-BE49-F238E27FC236}">
                  <a16:creationId xmlns:a16="http://schemas.microsoft.com/office/drawing/2014/main" id="{08E72983-22FF-22F7-38DD-3881942176B9}"/>
                </a:ext>
              </a:extLst>
            </p:cNvPr>
            <p:cNvSpPr/>
            <p:nvPr/>
          </p:nvSpPr>
          <p:spPr>
            <a:xfrm>
              <a:off x="7092318" y="131757"/>
              <a:ext cx="1369060" cy="2108200"/>
            </a:xfrm>
            <a:custGeom>
              <a:avLst/>
              <a:gdLst/>
              <a:ahLst/>
              <a:cxnLst/>
              <a:rect l="l" t="t" r="r" b="b"/>
              <a:pathLst>
                <a:path w="1369059" h="2108200">
                  <a:moveTo>
                    <a:pt x="0" y="0"/>
                  </a:moveTo>
                  <a:lnTo>
                    <a:pt x="1368768" y="0"/>
                  </a:lnTo>
                  <a:lnTo>
                    <a:pt x="1368768" y="2108114"/>
                  </a:lnTo>
                  <a:lnTo>
                    <a:pt x="0" y="2108114"/>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11">
              <a:extLst>
                <a:ext uri="{FF2B5EF4-FFF2-40B4-BE49-F238E27FC236}">
                  <a16:creationId xmlns:a16="http://schemas.microsoft.com/office/drawing/2014/main" id="{78A30134-DA58-F270-B493-9FDB710A28EC}"/>
                </a:ext>
              </a:extLst>
            </p:cNvPr>
            <p:cNvSpPr/>
            <p:nvPr/>
          </p:nvSpPr>
          <p:spPr>
            <a:xfrm>
              <a:off x="1518743" y="2988810"/>
              <a:ext cx="3429635" cy="228600"/>
            </a:xfrm>
            <a:custGeom>
              <a:avLst/>
              <a:gdLst/>
              <a:ahLst/>
              <a:cxnLst/>
              <a:rect l="l" t="t" r="r" b="b"/>
              <a:pathLst>
                <a:path w="3429635" h="228600">
                  <a:moveTo>
                    <a:pt x="0" y="0"/>
                  </a:moveTo>
                  <a:lnTo>
                    <a:pt x="3429271" y="0"/>
                  </a:lnTo>
                  <a:lnTo>
                    <a:pt x="3429271" y="228600"/>
                  </a:lnTo>
                  <a:lnTo>
                    <a:pt x="0" y="22860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12">
              <a:extLst>
                <a:ext uri="{FF2B5EF4-FFF2-40B4-BE49-F238E27FC236}">
                  <a16:creationId xmlns:a16="http://schemas.microsoft.com/office/drawing/2014/main" id="{20447229-B269-2841-CF77-7B52EE89F2D0}"/>
                </a:ext>
              </a:extLst>
            </p:cNvPr>
            <p:cNvSpPr/>
            <p:nvPr/>
          </p:nvSpPr>
          <p:spPr>
            <a:xfrm>
              <a:off x="1518743" y="4192066"/>
              <a:ext cx="5481320" cy="228600"/>
            </a:xfrm>
            <a:custGeom>
              <a:avLst/>
              <a:gdLst/>
              <a:ahLst/>
              <a:cxnLst/>
              <a:rect l="l" t="t" r="r" b="b"/>
              <a:pathLst>
                <a:path w="5481320" h="228600">
                  <a:moveTo>
                    <a:pt x="0" y="0"/>
                  </a:moveTo>
                  <a:lnTo>
                    <a:pt x="5481145" y="0"/>
                  </a:lnTo>
                  <a:lnTo>
                    <a:pt x="5481145" y="228601"/>
                  </a:lnTo>
                  <a:lnTo>
                    <a:pt x="0" y="228601"/>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9" name="object 13">
              <a:extLst>
                <a:ext uri="{FF2B5EF4-FFF2-40B4-BE49-F238E27FC236}">
                  <a16:creationId xmlns:a16="http://schemas.microsoft.com/office/drawing/2014/main" id="{3DB7565C-4E8A-CD21-13EA-E8678CE888DA}"/>
                </a:ext>
              </a:extLst>
            </p:cNvPr>
            <p:cNvSpPr/>
            <p:nvPr/>
          </p:nvSpPr>
          <p:spPr>
            <a:xfrm>
              <a:off x="1518743" y="4449074"/>
              <a:ext cx="3429635" cy="228600"/>
            </a:xfrm>
            <a:custGeom>
              <a:avLst/>
              <a:gdLst/>
              <a:ahLst/>
              <a:cxnLst/>
              <a:rect l="l" t="t" r="r" b="b"/>
              <a:pathLst>
                <a:path w="3429635" h="228600">
                  <a:moveTo>
                    <a:pt x="0" y="0"/>
                  </a:moveTo>
                  <a:lnTo>
                    <a:pt x="3429271" y="0"/>
                  </a:lnTo>
                  <a:lnTo>
                    <a:pt x="3429271" y="228600"/>
                  </a:lnTo>
                  <a:lnTo>
                    <a:pt x="0" y="22860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0" name="object 14">
            <a:extLst>
              <a:ext uri="{FF2B5EF4-FFF2-40B4-BE49-F238E27FC236}">
                <a16:creationId xmlns:a16="http://schemas.microsoft.com/office/drawing/2014/main" id="{BEE8F6CA-910F-AE70-4437-6388CAC3FD3C}"/>
              </a:ext>
            </a:extLst>
          </p:cNvPr>
          <p:cNvSpPr txBox="1"/>
          <p:nvPr/>
        </p:nvSpPr>
        <p:spPr>
          <a:xfrm>
            <a:off x="7078629" y="3880611"/>
            <a:ext cx="1786255" cy="1083310"/>
          </a:xfrm>
          <a:prstGeom prst="rect">
            <a:avLst/>
          </a:prstGeom>
        </p:spPr>
        <p:txBody>
          <a:bodyPr vert="horz" wrap="square" lIns="0" tIns="22860" rIns="0" bIns="0" rtlCol="0">
            <a:spAutoFit/>
          </a:bodyPr>
          <a:lstStyle/>
          <a:p>
            <a:pPr marL="298450" marR="64769" indent="-285750" rtl="0">
              <a:lnSpc>
                <a:spcPts val="1900"/>
              </a:lnSpc>
              <a:spcBef>
                <a:spcPts val="180"/>
              </a:spcBef>
              <a:buFont typeface="Arial MT"/>
              <a:buChar char="•"/>
              <a:tabLst>
                <a:tab pos="297815" algn="l"/>
                <a:tab pos="298450" algn="l"/>
              </a:tabLst>
            </a:pPr>
            <a:r>
              <a:rPr sz="1600" kern="1200" spc="-20" dirty="0">
                <a:solidFill>
                  <a:srgbClr val="FF0000"/>
                </a:solidFill>
                <a:latin typeface="Palatino Linotype"/>
                <a:cs typeface="Palatino Linotype"/>
              </a:rPr>
              <a:t>Pop</a:t>
            </a:r>
            <a:r>
              <a:rPr sz="1600" kern="1200" spc="-35" dirty="0">
                <a:solidFill>
                  <a:srgbClr val="FF0000"/>
                </a:solidFill>
                <a:latin typeface="Palatino Linotype"/>
                <a:cs typeface="Palatino Linotype"/>
              </a:rPr>
              <a:t> </a:t>
            </a:r>
            <a:r>
              <a:rPr sz="1600" kern="1200" dirty="0">
                <a:solidFill>
                  <a:srgbClr val="FF0000"/>
                </a:solidFill>
                <a:latin typeface="Palatino Linotype"/>
                <a:cs typeface="Palatino Linotype"/>
              </a:rPr>
              <a:t>three</a:t>
            </a:r>
            <a:r>
              <a:rPr sz="1600" kern="1200" spc="-40" dirty="0">
                <a:solidFill>
                  <a:srgbClr val="FF0000"/>
                </a:solidFill>
                <a:latin typeface="Palatino Linotype"/>
                <a:cs typeface="Palatino Linotype"/>
              </a:rPr>
              <a:t> </a:t>
            </a:r>
            <a:r>
              <a:rPr sz="1600" kern="1200" spc="-5" dirty="0">
                <a:solidFill>
                  <a:srgbClr val="FF0000"/>
                </a:solidFill>
                <a:latin typeface="Palatino Linotype"/>
                <a:cs typeface="Palatino Linotype"/>
              </a:rPr>
              <a:t>states </a:t>
            </a:r>
            <a:r>
              <a:rPr sz="1600" kern="1200" spc="-385" dirty="0">
                <a:solidFill>
                  <a:srgbClr val="FF0000"/>
                </a:solidFill>
                <a:latin typeface="Palatino Linotype"/>
                <a:cs typeface="Palatino Linotype"/>
              </a:rPr>
              <a:t> </a:t>
            </a:r>
            <a:r>
              <a:rPr sz="1600" kern="1200" dirty="0">
                <a:solidFill>
                  <a:srgbClr val="FF0000"/>
                </a:solidFill>
                <a:latin typeface="Palatino Linotype"/>
                <a:cs typeface="Palatino Linotype"/>
              </a:rPr>
              <a:t>2,</a:t>
            </a:r>
            <a:r>
              <a:rPr sz="1600" kern="1200" spc="-10" dirty="0">
                <a:solidFill>
                  <a:srgbClr val="FF0000"/>
                </a:solidFill>
                <a:latin typeface="Palatino Linotype"/>
                <a:cs typeface="Palatino Linotype"/>
              </a:rPr>
              <a:t> </a:t>
            </a:r>
            <a:r>
              <a:rPr sz="1600" kern="1200" dirty="0">
                <a:solidFill>
                  <a:srgbClr val="FF0000"/>
                </a:solidFill>
                <a:latin typeface="Palatino Linotype"/>
                <a:cs typeface="Palatino Linotype"/>
              </a:rPr>
              <a:t>7,</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10</a:t>
            </a:r>
            <a:endParaRPr sz="1600" kern="1200">
              <a:solidFill>
                <a:prstClr val="black"/>
              </a:solidFill>
              <a:latin typeface="Palatino Linotype"/>
              <a:cs typeface="Palatino Linotype"/>
            </a:endParaRPr>
          </a:p>
          <a:p>
            <a:pPr marL="298450" marR="5080" indent="-285750" rtl="0">
              <a:lnSpc>
                <a:spcPct val="105000"/>
              </a:lnSpc>
              <a:spcBef>
                <a:spcPts val="415"/>
              </a:spcBef>
              <a:buFont typeface="Arial MT"/>
              <a:buChar char="•"/>
              <a:tabLst>
                <a:tab pos="297815" algn="l"/>
                <a:tab pos="298450" algn="l"/>
              </a:tabLst>
            </a:pPr>
            <a:r>
              <a:rPr sz="1600" kern="1200" spc="-5" dirty="0">
                <a:solidFill>
                  <a:srgbClr val="FF0000"/>
                </a:solidFill>
                <a:latin typeface="Palatino Linotype"/>
                <a:cs typeface="Palatino Linotype"/>
              </a:rPr>
              <a:t>Push state </a:t>
            </a:r>
            <a:r>
              <a:rPr sz="1600" kern="1200" dirty="0">
                <a:solidFill>
                  <a:srgbClr val="FF0000"/>
                </a:solidFill>
                <a:latin typeface="Palatino Linotype"/>
                <a:cs typeface="Palatino Linotype"/>
              </a:rPr>
              <a:t>2 </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a:t>
            </a:r>
            <a:r>
              <a:rPr sz="1600" kern="1200" spc="-5" dirty="0">
                <a:solidFill>
                  <a:srgbClr val="FF0000"/>
                </a:solidFill>
                <a:latin typeface="Cambria Math"/>
                <a:cs typeface="Cambria Math"/>
              </a:rPr>
              <a:t>G</a:t>
            </a:r>
            <a:r>
              <a:rPr sz="1600" kern="1200" spc="-20" dirty="0">
                <a:solidFill>
                  <a:srgbClr val="FF0000"/>
                </a:solidFill>
                <a:latin typeface="Cambria Math"/>
                <a:cs typeface="Cambria Math"/>
              </a:rPr>
              <a:t>O</a:t>
            </a:r>
            <a:r>
              <a:rPr sz="1600" kern="1200" spc="-25" dirty="0">
                <a:solidFill>
                  <a:srgbClr val="FF0000"/>
                </a:solidFill>
                <a:latin typeface="Cambria Math"/>
                <a:cs typeface="Cambria Math"/>
              </a:rPr>
              <a:t>T</a:t>
            </a:r>
            <a:r>
              <a:rPr sz="1600" kern="1200" dirty="0">
                <a:solidFill>
                  <a:srgbClr val="FF0000"/>
                </a:solidFill>
                <a:latin typeface="Cambria Math"/>
                <a:cs typeface="Cambria Math"/>
              </a:rPr>
              <a:t>O[0,</a:t>
            </a:r>
            <a:r>
              <a:rPr sz="1600" kern="1200" spc="-90" dirty="0">
                <a:solidFill>
                  <a:srgbClr val="FF0000"/>
                </a:solidFill>
                <a:latin typeface="Cambria Math"/>
                <a:cs typeface="Cambria Math"/>
              </a:rPr>
              <a:t> </a:t>
            </a:r>
            <a:r>
              <a:rPr sz="1600" kern="1200" spc="30" dirty="0">
                <a:solidFill>
                  <a:srgbClr val="FF0000"/>
                </a:solidFill>
                <a:latin typeface="Cambria Math"/>
                <a:cs typeface="Cambria Math"/>
              </a:rPr>
              <a:t>𝑇</a:t>
            </a:r>
            <a:r>
              <a:rPr sz="1600" kern="1200" dirty="0">
                <a:solidFill>
                  <a:srgbClr val="FF0000"/>
                </a:solidFill>
                <a:latin typeface="Cambria Math"/>
                <a:cs typeface="Cambria Math"/>
              </a:rPr>
              <a:t>]</a:t>
            </a:r>
            <a:r>
              <a:rPr sz="1600" kern="1200" spc="90" dirty="0">
                <a:solidFill>
                  <a:srgbClr val="FF0000"/>
                </a:solidFill>
                <a:latin typeface="Cambria Math"/>
                <a:cs typeface="Cambria Math"/>
              </a:rPr>
              <a:t> </a:t>
            </a:r>
            <a:r>
              <a:rPr sz="1600" kern="1200" dirty="0">
                <a:solidFill>
                  <a:srgbClr val="FF0000"/>
                </a:solidFill>
                <a:latin typeface="Cambria Math"/>
                <a:cs typeface="Cambria Math"/>
              </a:rPr>
              <a:t>=</a:t>
            </a:r>
            <a:r>
              <a:rPr sz="1600" kern="1200" spc="95" dirty="0">
                <a:solidFill>
                  <a:srgbClr val="FF0000"/>
                </a:solidFill>
                <a:latin typeface="Cambria Math"/>
                <a:cs typeface="Cambria Math"/>
              </a:rPr>
              <a:t> </a:t>
            </a:r>
            <a:r>
              <a:rPr sz="1600" kern="1200" dirty="0">
                <a:solidFill>
                  <a:srgbClr val="FF0000"/>
                </a:solidFill>
                <a:latin typeface="Cambria Math"/>
                <a:cs typeface="Cambria Math"/>
              </a:rPr>
              <a:t>2</a:t>
            </a:r>
            <a:r>
              <a:rPr sz="1600" kern="1200" dirty="0">
                <a:solidFill>
                  <a:srgbClr val="FF0000"/>
                </a:solidFill>
                <a:latin typeface="Palatino Linotype"/>
                <a:cs typeface="Palatino Linotype"/>
              </a:rPr>
              <a:t>)</a:t>
            </a:r>
            <a:endParaRPr sz="1600" kern="1200">
              <a:solidFill>
                <a:prstClr val="black"/>
              </a:solidFill>
              <a:latin typeface="Palatino Linotype"/>
              <a:cs typeface="Palatino Linotype"/>
            </a:endParaRPr>
          </a:p>
        </p:txBody>
      </p:sp>
    </p:spTree>
    <p:extLst>
      <p:ext uri="{BB962C8B-B14F-4D97-AF65-F5344CB8AC3E}">
        <p14:creationId xmlns:p14="http://schemas.microsoft.com/office/powerpoint/2010/main" val="376990388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 name="object 13">
            <a:extLst>
              <a:ext uri="{FF2B5EF4-FFF2-40B4-BE49-F238E27FC236}">
                <a16:creationId xmlns:a16="http://schemas.microsoft.com/office/drawing/2014/main" id="{19C83FA7-BC2B-2571-1A29-64AC10683499}"/>
              </a:ext>
            </a:extLst>
          </p:cNvPr>
          <p:cNvSpPr txBox="1"/>
          <p:nvPr/>
        </p:nvSpPr>
        <p:spPr>
          <a:xfrm>
            <a:off x="694690" y="1449323"/>
            <a:ext cx="7790815" cy="4215765"/>
          </a:xfrm>
          <a:prstGeom prst="rect">
            <a:avLst/>
          </a:prstGeom>
        </p:spPr>
        <p:txBody>
          <a:bodyPr vert="horz" wrap="square" lIns="0" tIns="12700" rIns="0" bIns="0" rtlCol="0">
            <a:spAutoFit/>
          </a:bodyPr>
          <a:lstStyle/>
          <a:p>
            <a:pPr marL="255270" marR="241935" indent="-230504" rtl="0">
              <a:lnSpc>
                <a:spcPct val="115999"/>
              </a:lnSpc>
              <a:spcBef>
                <a:spcPts val="100"/>
              </a:spcBef>
              <a:buFont typeface="Arial MT"/>
              <a:buChar char="•"/>
              <a:tabLst>
                <a:tab pos="255270" algn="l"/>
                <a:tab pos="255904" algn="l"/>
              </a:tabLst>
            </a:pP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SLR-parsing</a:t>
            </a:r>
            <a:r>
              <a:rPr sz="2000" kern="1200" dirty="0">
                <a:solidFill>
                  <a:prstClr val="black"/>
                </a:solidFill>
                <a:latin typeface="Palatino Linotype"/>
                <a:cs typeface="Palatino Linotype"/>
              </a:rPr>
              <a:t> table </a:t>
            </a:r>
            <a:r>
              <a:rPr sz="2000" kern="1200" spc="-5" dirty="0">
                <a:solidFill>
                  <a:prstClr val="black"/>
                </a:solidFill>
                <a:latin typeface="Palatino Linotype"/>
                <a:cs typeface="Palatino Linotype"/>
              </a:rPr>
              <a:t>for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grammar </a:t>
            </a:r>
            <a:r>
              <a:rPr sz="2000" kern="1200" dirty="0">
                <a:solidFill>
                  <a:prstClr val="black"/>
                </a:solidFill>
                <a:latin typeface="Cambria Math"/>
                <a:cs typeface="Cambria Math"/>
              </a:rPr>
              <a:t>𝐺</a:t>
            </a:r>
            <a:r>
              <a:rPr sz="2000" kern="1200" spc="150" dirty="0">
                <a:solidFill>
                  <a:prstClr val="black"/>
                </a:solidFill>
                <a:latin typeface="Cambria Math"/>
                <a:cs typeface="Cambria Math"/>
              </a:rPr>
              <a:t> </a:t>
            </a:r>
            <a:r>
              <a:rPr sz="2000" kern="1200" spc="-5" dirty="0">
                <a:solidFill>
                  <a:prstClr val="black"/>
                </a:solidFill>
                <a:latin typeface="Palatino Linotype"/>
                <a:cs typeface="Palatino Linotype"/>
              </a:rPr>
              <a:t>can </a:t>
            </a:r>
            <a:r>
              <a:rPr sz="2000" kern="1200" dirty="0">
                <a:solidFill>
                  <a:prstClr val="black"/>
                </a:solidFill>
                <a:latin typeface="Palatino Linotype"/>
                <a:cs typeface="Palatino Linotype"/>
              </a:rPr>
              <a:t>be </a:t>
            </a:r>
            <a:r>
              <a:rPr sz="2000" kern="1200" spc="-5" dirty="0">
                <a:solidFill>
                  <a:prstClr val="black"/>
                </a:solidFill>
                <a:latin typeface="Palatino Linotype"/>
                <a:cs typeface="Palatino Linotype"/>
              </a:rPr>
              <a:t>constructed</a:t>
            </a:r>
            <a:r>
              <a:rPr sz="2000" kern="1200" dirty="0">
                <a:solidFill>
                  <a:prstClr val="black"/>
                </a:solidFill>
                <a:latin typeface="Palatino Linotype"/>
                <a:cs typeface="Palatino Linotype"/>
              </a:rPr>
              <a:t> based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on</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LR(0) </a:t>
            </a:r>
            <a:r>
              <a:rPr sz="2000" kern="1200" dirty="0">
                <a:solidFill>
                  <a:prstClr val="black"/>
                </a:solidFill>
                <a:latin typeface="Palatino Linotype"/>
                <a:cs typeface="Palatino Linotype"/>
              </a:rPr>
              <a:t>item</a:t>
            </a:r>
            <a:r>
              <a:rPr sz="2000" kern="1200" spc="-5" dirty="0">
                <a:solidFill>
                  <a:prstClr val="black"/>
                </a:solidFill>
                <a:latin typeface="Palatino Linotype"/>
                <a:cs typeface="Palatino Linotype"/>
              </a:rPr>
              <a:t> sets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LR(0) automaton</a:t>
            </a:r>
            <a:endParaRPr sz="2000" kern="1200" dirty="0">
              <a:solidFill>
                <a:prstClr val="black"/>
              </a:solidFill>
              <a:latin typeface="Palatino Linotype"/>
              <a:cs typeface="Palatino Linotype"/>
            </a:endParaRPr>
          </a:p>
          <a:p>
            <a:pPr marL="825500" marR="547370" lvl="1" indent="-342900" rtl="0">
              <a:lnSpc>
                <a:spcPct val="120000"/>
              </a:lnSpc>
              <a:spcBef>
                <a:spcPts val="1310"/>
              </a:spcBef>
              <a:buFontTx/>
              <a:buAutoNum type="arabicPeriod"/>
              <a:tabLst>
                <a:tab pos="824865" algn="l"/>
                <a:tab pos="825500" algn="l"/>
              </a:tabLst>
            </a:pPr>
            <a:r>
              <a:rPr sz="1600" kern="1200" dirty="0">
                <a:solidFill>
                  <a:prstClr val="black"/>
                </a:solidFill>
                <a:latin typeface="Palatino Linotype"/>
                <a:cs typeface="Palatino Linotype"/>
              </a:rPr>
              <a:t>Construct the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canonical</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LR(0) </a:t>
            </a:r>
            <a:r>
              <a:rPr sz="1600" kern="1200" spc="-5" dirty="0">
                <a:solidFill>
                  <a:prstClr val="black"/>
                </a:solidFill>
                <a:latin typeface="Palatino Linotype"/>
                <a:cs typeface="Palatino Linotype"/>
              </a:rPr>
              <a:t>collection</a:t>
            </a:r>
            <a:r>
              <a:rPr sz="1600" kern="1200" spc="5" dirty="0">
                <a:solidFill>
                  <a:prstClr val="black"/>
                </a:solidFill>
                <a:latin typeface="Palatino Linotype"/>
                <a:cs typeface="Palatino Linotype"/>
              </a:rPr>
              <a:t> </a:t>
            </a:r>
            <a:r>
              <a:rPr sz="1600" kern="1200" spc="-45" dirty="0">
                <a:solidFill>
                  <a:prstClr val="black"/>
                </a:solidFill>
                <a:latin typeface="Cambria Math"/>
                <a:cs typeface="Cambria Math"/>
              </a:rPr>
              <a:t>{𝐼</a:t>
            </a:r>
            <a:r>
              <a:rPr lang="en-US" altLang="zh-CN" sz="1600" kern="1200" spc="-67" baseline="-16203" dirty="0">
                <a:solidFill>
                  <a:prstClr val="black"/>
                </a:solidFill>
                <a:latin typeface="Cambria Math"/>
                <a:cs typeface="Cambria Math"/>
              </a:rPr>
              <a:t>0</a:t>
            </a:r>
            <a:r>
              <a:rPr sz="1600" kern="1200" spc="-45"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20" dirty="0">
                <a:solidFill>
                  <a:prstClr val="black"/>
                </a:solidFill>
                <a:latin typeface="Cambria Math"/>
                <a:cs typeface="Cambria Math"/>
              </a:rPr>
              <a:t>𝐼</a:t>
            </a:r>
            <a:r>
              <a:rPr kern="1200" spc="-30" baseline="-16203" dirty="0">
                <a:solidFill>
                  <a:prstClr val="black"/>
                </a:solidFill>
                <a:latin typeface="Cambria Math"/>
                <a:cs typeface="Cambria Math"/>
              </a:rPr>
              <a:t>1</a:t>
            </a:r>
            <a:r>
              <a:rPr sz="1600" kern="1200" spc="-2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20" dirty="0">
                <a:solidFill>
                  <a:prstClr val="black"/>
                </a:solidFill>
                <a:latin typeface="Cambria Math"/>
                <a:cs typeface="Cambria Math"/>
              </a:rPr>
              <a:t>𝐼</a:t>
            </a:r>
            <a:r>
              <a:rPr kern="1200" spc="30" baseline="-16203" dirty="0">
                <a:solidFill>
                  <a:prstClr val="black"/>
                </a:solidFill>
                <a:latin typeface="Cambria Math"/>
                <a:cs typeface="Cambria Math"/>
              </a:rPr>
              <a:t>𝑛</a:t>
            </a:r>
            <a:r>
              <a:rPr sz="1600" kern="1200" spc="20" dirty="0">
                <a:solidFill>
                  <a:prstClr val="black"/>
                </a:solidFill>
                <a:latin typeface="Cambria Math"/>
                <a:cs typeface="Cambria Math"/>
              </a:rPr>
              <a:t>}</a:t>
            </a:r>
            <a:r>
              <a:rPr sz="1600" kern="1200" spc="50" dirty="0">
                <a:solidFill>
                  <a:prstClr val="black"/>
                </a:solidFill>
                <a:latin typeface="Cambria Math"/>
                <a:cs typeface="Cambria Math"/>
              </a:rPr>
              <a:t> </a:t>
            </a:r>
            <a:r>
              <a:rPr sz="1600" kern="1200" dirty="0">
                <a:solidFill>
                  <a:prstClr val="black"/>
                </a:solidFill>
                <a:latin typeface="Palatino Linotype"/>
                <a:cs typeface="Palatino Linotype"/>
              </a:rPr>
              <a:t>for</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augmented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grammar</a:t>
            </a:r>
            <a:r>
              <a:rPr sz="1600" kern="1200" dirty="0">
                <a:solidFill>
                  <a:prstClr val="black"/>
                </a:solidFill>
                <a:latin typeface="Palatino Linotype"/>
                <a:cs typeface="Palatino Linotype"/>
              </a:rPr>
              <a:t> </a:t>
            </a:r>
            <a:r>
              <a:rPr sz="1600" kern="1200" dirty="0">
                <a:solidFill>
                  <a:prstClr val="black"/>
                </a:solidFill>
                <a:latin typeface="Cambria Math"/>
                <a:cs typeface="Cambria Math"/>
              </a:rPr>
              <a:t>𝐺’</a:t>
            </a:r>
          </a:p>
          <a:p>
            <a:pPr marL="825500" lvl="1" indent="-342900" rtl="0">
              <a:spcBef>
                <a:spcPts val="1585"/>
              </a:spcBef>
              <a:buFontTx/>
              <a:buAutoNum type="arabicPeriod"/>
              <a:tabLst>
                <a:tab pos="824865" algn="l"/>
                <a:tab pos="825500" algn="l"/>
              </a:tabLst>
            </a:pPr>
            <a:r>
              <a:rPr sz="1600" kern="1200" spc="-5" dirty="0">
                <a:solidFill>
                  <a:prstClr val="black"/>
                </a:solidFill>
                <a:latin typeface="Palatino Linotype"/>
                <a:cs typeface="Palatino Linotype"/>
              </a:rPr>
              <a:t>State</a:t>
            </a:r>
            <a:r>
              <a:rPr sz="1600" kern="1200" dirty="0">
                <a:solidFill>
                  <a:prstClr val="black"/>
                </a:solidFill>
                <a:latin typeface="Palatino Linotype"/>
                <a:cs typeface="Palatino Linotype"/>
              </a:rPr>
              <a:t> </a:t>
            </a:r>
            <a:r>
              <a:rPr sz="1600" i="1" kern="1200" dirty="0">
                <a:solidFill>
                  <a:prstClr val="black"/>
                </a:solidFill>
                <a:latin typeface="Palatino Linotype"/>
                <a:cs typeface="Palatino Linotype"/>
              </a:rPr>
              <a:t>i</a:t>
            </a:r>
            <a:r>
              <a:rPr sz="1600" i="1"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is</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constructed</a:t>
            </a:r>
            <a:r>
              <a:rPr sz="1600" kern="1200" dirty="0">
                <a:solidFill>
                  <a:prstClr val="black"/>
                </a:solidFill>
                <a:latin typeface="Palatino Linotype"/>
                <a:cs typeface="Palatino Linotype"/>
              </a:rPr>
              <a:t> from</a:t>
            </a:r>
            <a:r>
              <a:rPr sz="1600" kern="1200" spc="5" dirty="0">
                <a:solidFill>
                  <a:prstClr val="black"/>
                </a:solidFill>
                <a:latin typeface="Palatino Linotype"/>
                <a:cs typeface="Palatino Linotype"/>
              </a:rPr>
              <a:t> </a:t>
            </a:r>
            <a:r>
              <a:rPr sz="1600" kern="1200" spc="30" dirty="0">
                <a:solidFill>
                  <a:prstClr val="black"/>
                </a:solidFill>
                <a:latin typeface="Cambria Math"/>
                <a:cs typeface="Cambria Math"/>
              </a:rPr>
              <a:t>𝐼</a:t>
            </a:r>
            <a:r>
              <a:rPr kern="1200" spc="44" baseline="-16203" dirty="0">
                <a:solidFill>
                  <a:prstClr val="black"/>
                </a:solidFill>
                <a:latin typeface="Cambria Math"/>
                <a:cs typeface="Cambria Math"/>
              </a:rPr>
              <a:t>i</a:t>
            </a:r>
            <a:r>
              <a:rPr sz="1600" kern="1200" spc="30" dirty="0">
                <a:solidFill>
                  <a:prstClr val="black"/>
                </a:solidFill>
                <a:latin typeface="Palatino Linotype"/>
                <a:cs typeface="Palatino Linotype"/>
              </a:rPr>
              <a:t>.</a:t>
            </a:r>
            <a:r>
              <a:rPr sz="1600" kern="1200" spc="-60" dirty="0">
                <a:solidFill>
                  <a:prstClr val="black"/>
                </a:solidFill>
                <a:latin typeface="Palatino Linotype"/>
                <a:cs typeface="Palatino Linotype"/>
              </a:rPr>
              <a:t> </a:t>
            </a:r>
            <a:r>
              <a:rPr sz="1600" kern="1200" spc="-5" dirty="0">
                <a:solidFill>
                  <a:prstClr val="black"/>
                </a:solidFill>
                <a:latin typeface="Palatino Linotype"/>
                <a:cs typeface="Palatino Linotype"/>
              </a:rPr>
              <a:t>ACTION</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can</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be </a:t>
            </a:r>
            <a:r>
              <a:rPr sz="1600" kern="1200" spc="-5" dirty="0">
                <a:solidFill>
                  <a:prstClr val="black"/>
                </a:solidFill>
                <a:latin typeface="Palatino Linotype"/>
                <a:cs typeface="Palatino Linotype"/>
              </a:rPr>
              <a:t>determined</a:t>
            </a:r>
            <a:r>
              <a:rPr sz="1600" kern="1200" dirty="0">
                <a:solidFill>
                  <a:prstClr val="black"/>
                </a:solidFill>
                <a:latin typeface="Palatino Linotype"/>
                <a:cs typeface="Palatino Linotype"/>
              </a:rPr>
              <a:t> as </a:t>
            </a:r>
            <a:r>
              <a:rPr sz="1600" kern="1200" spc="-5" dirty="0">
                <a:solidFill>
                  <a:prstClr val="black"/>
                </a:solidFill>
                <a:latin typeface="Palatino Linotype"/>
                <a:cs typeface="Palatino Linotype"/>
              </a:rPr>
              <a:t>follows:</a:t>
            </a:r>
            <a:endParaRPr sz="1600" kern="1200" dirty="0">
              <a:solidFill>
                <a:prstClr val="black"/>
              </a:solidFill>
              <a:latin typeface="Palatino Linotype"/>
              <a:cs typeface="Palatino Linotype"/>
            </a:endParaRPr>
          </a:p>
          <a:p>
            <a:pPr marL="1168400" lvl="2" indent="-229235" rtl="0">
              <a:spcBef>
                <a:spcPts val="1090"/>
              </a:spcBef>
              <a:buFont typeface="Courier New"/>
              <a:buChar char="o"/>
              <a:tabLst>
                <a:tab pos="1168400" algn="l"/>
              </a:tabLst>
            </a:pPr>
            <a:r>
              <a:rPr sz="1400" kern="1200" dirty="0">
                <a:solidFill>
                  <a:prstClr val="black"/>
                </a:solidFill>
                <a:latin typeface="Palatino Linotype"/>
                <a:cs typeface="Palatino Linotype"/>
              </a:rPr>
              <a:t>If</a:t>
            </a:r>
            <a:r>
              <a:rPr sz="1400" kern="1200" spc="-5" dirty="0">
                <a:solidFill>
                  <a:prstClr val="black"/>
                </a:solidFill>
                <a:latin typeface="Palatino Linotype"/>
                <a:cs typeface="Palatino Linotype"/>
              </a:rPr>
              <a:t> </a:t>
            </a:r>
            <a:r>
              <a:rPr sz="1400" kern="1200" spc="-5" dirty="0">
                <a:solidFill>
                  <a:prstClr val="black"/>
                </a:solidFill>
                <a:latin typeface="Cambria Math"/>
                <a:cs typeface="Cambria Math"/>
              </a:rPr>
              <a:t>[𝐴</a:t>
            </a:r>
            <a:r>
              <a:rPr sz="1400" kern="1200" spc="9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80" dirty="0">
                <a:solidFill>
                  <a:prstClr val="black"/>
                </a:solidFill>
                <a:latin typeface="Cambria Math"/>
                <a:cs typeface="Cambria Math"/>
              </a:rPr>
              <a:t> </a:t>
            </a:r>
            <a:r>
              <a:rPr sz="1400" kern="1200" dirty="0">
                <a:solidFill>
                  <a:prstClr val="black"/>
                </a:solidFill>
                <a:latin typeface="Cambria Math"/>
                <a:cs typeface="Cambria Math"/>
              </a:rPr>
              <a:t>𝛼</a:t>
            </a:r>
            <a:r>
              <a:rPr sz="1400" kern="1200" spc="40" dirty="0">
                <a:solidFill>
                  <a:prstClr val="black"/>
                </a:solidFill>
                <a:latin typeface="Cambria Math"/>
                <a:cs typeface="Cambria Math"/>
              </a:rPr>
              <a:t> </a:t>
            </a:r>
            <a:r>
              <a:rPr lang="en-US" altLang="zh-CN" sz="1400" kern="1200" spc="-655" dirty="0">
                <a:solidFill>
                  <a:prstClr val="black"/>
                </a:solidFill>
                <a:latin typeface="Cambria Math"/>
                <a:cs typeface="Cambria Math"/>
              </a:rPr>
              <a:t>·    </a:t>
            </a:r>
            <a:r>
              <a:rPr sz="1400" kern="1200" spc="5" dirty="0">
                <a:solidFill>
                  <a:prstClr val="black"/>
                </a:solidFill>
                <a:latin typeface="Cambria Math"/>
                <a:cs typeface="Cambria Math"/>
              </a:rPr>
              <a:t> </a:t>
            </a:r>
            <a:r>
              <a:rPr lang="en-US" altLang="en-US" sz="1400" kern="1200" spc="5" dirty="0">
                <a:solidFill>
                  <a:prstClr val="black"/>
                </a:solidFill>
                <a:latin typeface="Cambria Math"/>
                <a:cs typeface="Cambria Math"/>
              </a:rPr>
              <a:t> </a:t>
            </a:r>
            <a:r>
              <a:rPr sz="1400" kern="1200" spc="10" dirty="0">
                <a:solidFill>
                  <a:prstClr val="black"/>
                </a:solidFill>
                <a:latin typeface="Cambria Math"/>
                <a:cs typeface="Cambria Math"/>
              </a:rPr>
              <a:t>𝑎𝛽]</a:t>
            </a:r>
            <a:r>
              <a:rPr sz="1400" kern="1200" spc="35" dirty="0">
                <a:solidFill>
                  <a:prstClr val="black"/>
                </a:solidFill>
                <a:latin typeface="Cambria Math"/>
                <a:cs typeface="Cambria Math"/>
              </a:rPr>
              <a:t> </a:t>
            </a:r>
            <a:r>
              <a:rPr sz="1400" kern="1200" dirty="0">
                <a:solidFill>
                  <a:prstClr val="black"/>
                </a:solidFill>
                <a:latin typeface="Palatino Linotype"/>
                <a:cs typeface="Palatino Linotype"/>
              </a:rPr>
              <a:t>is</a:t>
            </a:r>
            <a:r>
              <a:rPr sz="1400" kern="1200" spc="-10" dirty="0">
                <a:solidFill>
                  <a:prstClr val="black"/>
                </a:solidFill>
                <a:latin typeface="Palatino Linotype"/>
                <a:cs typeface="Palatino Linotype"/>
              </a:rPr>
              <a:t> </a:t>
            </a:r>
            <a:r>
              <a:rPr sz="1400" kern="1200" dirty="0">
                <a:solidFill>
                  <a:prstClr val="black"/>
                </a:solidFill>
                <a:latin typeface="Palatino Linotype"/>
                <a:cs typeface="Palatino Linotype"/>
              </a:rPr>
              <a:t>in</a:t>
            </a:r>
            <a:r>
              <a:rPr lang="en-US" sz="1400" kern="1200" dirty="0">
                <a:solidFill>
                  <a:prstClr val="black"/>
                </a:solidFill>
                <a:latin typeface="Palatino Linotype"/>
                <a:cs typeface="Palatino Linotype"/>
              </a:rPr>
              <a:t> </a:t>
            </a:r>
            <a:r>
              <a:rPr lang="zh-CN" altLang="en-US" sz="1400" kern="1200" spc="25" dirty="0">
                <a:solidFill>
                  <a:prstClr val="black"/>
                </a:solidFill>
                <a:latin typeface="Cambria Math"/>
                <a:cs typeface="Cambria Math"/>
              </a:rPr>
              <a:t>𝐼</a:t>
            </a:r>
            <a:r>
              <a:rPr lang="zh-CN" altLang="en-US" sz="1500" kern="1200" spc="37" baseline="-16666" dirty="0">
                <a:solidFill>
                  <a:prstClr val="black"/>
                </a:solidFill>
                <a:latin typeface="Cambria Math"/>
                <a:cs typeface="Cambria Math"/>
              </a:rPr>
              <a:t>𝑖 </a:t>
            </a:r>
            <a:r>
              <a:rPr sz="1400" kern="1200" spc="-5" dirty="0">
                <a:solidFill>
                  <a:prstClr val="black"/>
                </a:solidFill>
                <a:latin typeface="Palatino Linotype"/>
                <a:cs typeface="Palatino Linotype"/>
              </a:rPr>
              <a:t>and</a:t>
            </a:r>
            <a:r>
              <a:rPr sz="1400" kern="1200" spc="-10" dirty="0">
                <a:solidFill>
                  <a:prstClr val="black"/>
                </a:solidFill>
                <a:latin typeface="Palatino Linotype"/>
                <a:cs typeface="Palatino Linotype"/>
              </a:rPr>
              <a:t> </a:t>
            </a:r>
            <a:r>
              <a:rPr sz="1400" kern="1200" spc="-15" dirty="0">
                <a:solidFill>
                  <a:prstClr val="black"/>
                </a:solidFill>
                <a:latin typeface="Cambria Math"/>
                <a:cs typeface="Cambria Math"/>
              </a:rPr>
              <a:t>GOTO</a:t>
            </a:r>
            <a:r>
              <a:rPr lang="en-US" sz="1400" kern="1200" spc="-15" dirty="0">
                <a:solidFill>
                  <a:prstClr val="black"/>
                </a:solidFill>
                <a:latin typeface="Cambria Math"/>
                <a:cs typeface="Cambria Math"/>
              </a:rPr>
              <a:t>   </a:t>
            </a:r>
            <a:r>
              <a:rPr lang="zh-CN" altLang="en-US" sz="1400" kern="1200" spc="25" dirty="0">
                <a:solidFill>
                  <a:prstClr val="black"/>
                </a:solidFill>
                <a:latin typeface="Cambria Math"/>
                <a:cs typeface="Cambria Math"/>
              </a:rPr>
              <a:t>𝐼</a:t>
            </a:r>
            <a:r>
              <a:rPr lang="zh-CN" altLang="en-US" sz="1500" kern="1200" spc="37" baseline="-16666" dirty="0">
                <a:solidFill>
                  <a:prstClr val="black"/>
                </a:solidFill>
                <a:latin typeface="Cambria Math"/>
                <a:cs typeface="Cambria Math"/>
              </a:rPr>
              <a:t>𝑖</a:t>
            </a:r>
            <a:r>
              <a:rPr sz="1400" kern="1200" dirty="0">
                <a:solidFill>
                  <a:prstClr val="black"/>
                </a:solidFill>
                <a:latin typeface="Cambria Math"/>
                <a:cs typeface="Cambria Math"/>
              </a:rPr>
              <a:t>,</a:t>
            </a:r>
            <a:r>
              <a:rPr sz="1400" kern="1200" spc="-75" dirty="0">
                <a:solidFill>
                  <a:prstClr val="black"/>
                </a:solidFill>
                <a:latin typeface="Cambria Math"/>
                <a:cs typeface="Cambria Math"/>
              </a:rPr>
              <a:t> </a:t>
            </a:r>
            <a:r>
              <a:rPr sz="1400" kern="1200" dirty="0">
                <a:solidFill>
                  <a:prstClr val="black"/>
                </a:solidFill>
                <a:latin typeface="Cambria Math"/>
                <a:cs typeface="Cambria Math"/>
              </a:rPr>
              <a:t>𝑎</a:t>
            </a:r>
            <a:r>
              <a:rPr lang="en-US" sz="1400" kern="1200" dirty="0">
                <a:solidFill>
                  <a:prstClr val="black"/>
                </a:solidFill>
                <a:latin typeface="Cambria Math"/>
                <a:cs typeface="Cambria Math"/>
              </a:rPr>
              <a:t> </a:t>
            </a:r>
            <a:r>
              <a:rPr sz="1400" kern="1200" spc="59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80" dirty="0">
                <a:solidFill>
                  <a:prstClr val="black"/>
                </a:solidFill>
                <a:latin typeface="Cambria Math"/>
                <a:cs typeface="Cambria Math"/>
              </a:rPr>
              <a:t> </a:t>
            </a:r>
            <a:r>
              <a:rPr sz="1400" kern="1200" spc="25" dirty="0">
                <a:solidFill>
                  <a:prstClr val="black"/>
                </a:solidFill>
                <a:latin typeface="Cambria Math"/>
                <a:cs typeface="Cambria Math"/>
              </a:rPr>
              <a:t>𝐼</a:t>
            </a:r>
            <a:r>
              <a:rPr sz="1500" kern="1200" spc="37" baseline="-16666" dirty="0">
                <a:solidFill>
                  <a:prstClr val="black"/>
                </a:solidFill>
                <a:latin typeface="Cambria Math"/>
                <a:cs typeface="Cambria Math"/>
              </a:rPr>
              <a:t>j</a:t>
            </a:r>
            <a:r>
              <a:rPr sz="1400" kern="1200" spc="25" dirty="0">
                <a:solidFill>
                  <a:prstClr val="black"/>
                </a:solidFill>
                <a:latin typeface="Palatino Linotype"/>
                <a:cs typeface="Palatino Linotype"/>
              </a:rPr>
              <a:t>,</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then</a:t>
            </a:r>
            <a:r>
              <a:rPr sz="1400" kern="1200" spc="-5" dirty="0">
                <a:solidFill>
                  <a:prstClr val="black"/>
                </a:solidFill>
                <a:latin typeface="Palatino Linotype"/>
                <a:cs typeface="Palatino Linotype"/>
              </a:rPr>
              <a:t> set</a:t>
            </a:r>
            <a:r>
              <a:rPr sz="1400" kern="1200" spc="5" dirty="0">
                <a:solidFill>
                  <a:prstClr val="black"/>
                </a:solidFill>
                <a:latin typeface="Palatino Linotype"/>
                <a:cs typeface="Palatino Linotype"/>
              </a:rPr>
              <a:t> </a:t>
            </a:r>
            <a:r>
              <a:rPr sz="1400" kern="1200" spc="-10" dirty="0">
                <a:solidFill>
                  <a:prstClr val="black"/>
                </a:solidFill>
                <a:latin typeface="Cambria Math"/>
                <a:cs typeface="Cambria Math"/>
              </a:rPr>
              <a:t>ACTIO</a:t>
            </a:r>
            <a:r>
              <a:rPr lang="en-US" sz="1400" kern="1200" spc="-10" dirty="0">
                <a:solidFill>
                  <a:prstClr val="black"/>
                </a:solidFill>
                <a:latin typeface="Cambria Math"/>
                <a:cs typeface="Cambria Math"/>
              </a:rPr>
              <a:t>N </a:t>
            </a:r>
            <a:r>
              <a:rPr sz="1400" kern="1200" spc="15" dirty="0">
                <a:solidFill>
                  <a:prstClr val="black"/>
                </a:solidFill>
                <a:latin typeface="Cambria Math"/>
                <a:cs typeface="Cambria Math"/>
              </a:rPr>
              <a:t>𝑖,</a:t>
            </a:r>
            <a:r>
              <a:rPr sz="1400" kern="1200" spc="-75" dirty="0">
                <a:solidFill>
                  <a:prstClr val="black"/>
                </a:solidFill>
                <a:latin typeface="Cambria Math"/>
                <a:cs typeface="Cambria Math"/>
              </a:rPr>
              <a:t> </a:t>
            </a:r>
            <a:r>
              <a:rPr sz="1400" kern="1200" dirty="0">
                <a:solidFill>
                  <a:prstClr val="black"/>
                </a:solidFill>
                <a:latin typeface="Cambria Math"/>
                <a:cs typeface="Cambria Math"/>
              </a:rPr>
              <a:t>𝑎</a:t>
            </a:r>
            <a:r>
              <a:rPr sz="1400" kern="1200" spc="555" dirty="0">
                <a:solidFill>
                  <a:prstClr val="black"/>
                </a:solidFill>
                <a:latin typeface="Cambria Math"/>
                <a:cs typeface="Cambria Math"/>
              </a:rPr>
              <a:t> </a:t>
            </a:r>
            <a:r>
              <a:rPr sz="1400" kern="1200" dirty="0">
                <a:solidFill>
                  <a:prstClr val="black"/>
                </a:solidFill>
                <a:latin typeface="Palatino Linotype"/>
                <a:cs typeface="Palatino Linotype"/>
              </a:rPr>
              <a:t>to </a:t>
            </a:r>
            <a:r>
              <a:rPr sz="1400" kern="1200" spc="-5" dirty="0">
                <a:solidFill>
                  <a:prstClr val="black"/>
                </a:solidFill>
                <a:latin typeface="Palatino Linotype"/>
                <a:cs typeface="Palatino Linotype"/>
              </a:rPr>
              <a:t>“shift</a:t>
            </a:r>
            <a:r>
              <a:rPr sz="1400" kern="1200" spc="5" dirty="0">
                <a:solidFill>
                  <a:prstClr val="black"/>
                </a:solidFill>
                <a:latin typeface="Palatino Linotype"/>
                <a:cs typeface="Palatino Linotype"/>
              </a:rPr>
              <a:t> </a:t>
            </a:r>
            <a:r>
              <a:rPr sz="1400" i="1" kern="1200" spc="-5" dirty="0">
                <a:solidFill>
                  <a:prstClr val="black"/>
                </a:solidFill>
                <a:latin typeface="Palatino Linotype"/>
                <a:cs typeface="Palatino Linotype"/>
              </a:rPr>
              <a:t>j</a:t>
            </a:r>
            <a:r>
              <a:rPr sz="1400" kern="1200" spc="-5" dirty="0">
                <a:solidFill>
                  <a:prstClr val="black"/>
                </a:solidFill>
                <a:latin typeface="Palatino Linotype"/>
                <a:cs typeface="Palatino Linotype"/>
              </a:rPr>
              <a:t>”</a:t>
            </a:r>
            <a:r>
              <a:rPr sz="1400" kern="1200" dirty="0">
                <a:solidFill>
                  <a:prstClr val="black"/>
                </a:solidFill>
                <a:latin typeface="Palatino Linotype"/>
                <a:cs typeface="Palatino Linotype"/>
              </a:rPr>
              <a:t> </a:t>
            </a:r>
            <a:r>
              <a:rPr sz="1400" kern="1200" spc="-5" dirty="0">
                <a:solidFill>
                  <a:prstClr val="black"/>
                </a:solidFill>
                <a:latin typeface="Palatino Linotype"/>
                <a:cs typeface="Palatino Linotype"/>
              </a:rPr>
              <a:t>(here</a:t>
            </a:r>
            <a:r>
              <a:rPr sz="1400" kern="1200" dirty="0">
                <a:solidFill>
                  <a:prstClr val="black"/>
                </a:solidFill>
                <a:latin typeface="Palatino Linotype"/>
                <a:cs typeface="Palatino Linotype"/>
              </a:rPr>
              <a:t> </a:t>
            </a:r>
            <a:r>
              <a:rPr sz="1400" kern="1200" dirty="0">
                <a:solidFill>
                  <a:prstClr val="black"/>
                </a:solidFill>
                <a:latin typeface="Cambria Math"/>
                <a:cs typeface="Cambria Math"/>
              </a:rPr>
              <a:t>𝑎</a:t>
            </a:r>
          </a:p>
          <a:p>
            <a:pPr marL="1167765" rtl="0">
              <a:spcBef>
                <a:spcPts val="405"/>
              </a:spcBef>
            </a:pPr>
            <a:r>
              <a:rPr sz="1400" kern="1200" spc="-5" dirty="0">
                <a:solidFill>
                  <a:prstClr val="black"/>
                </a:solidFill>
                <a:latin typeface="Palatino Linotype"/>
                <a:cs typeface="Palatino Linotype"/>
              </a:rPr>
              <a:t>must</a:t>
            </a:r>
            <a:r>
              <a:rPr sz="1400" kern="1200" spc="-15" dirty="0">
                <a:solidFill>
                  <a:prstClr val="black"/>
                </a:solidFill>
                <a:latin typeface="Palatino Linotype"/>
                <a:cs typeface="Palatino Linotype"/>
              </a:rPr>
              <a:t> </a:t>
            </a:r>
            <a:r>
              <a:rPr sz="1400" kern="1200" dirty="0">
                <a:solidFill>
                  <a:prstClr val="black"/>
                </a:solidFill>
                <a:latin typeface="Palatino Linotype"/>
                <a:cs typeface="Palatino Linotype"/>
              </a:rPr>
              <a:t>be</a:t>
            </a:r>
            <a:r>
              <a:rPr sz="1400" kern="1200" spc="-20" dirty="0">
                <a:solidFill>
                  <a:prstClr val="black"/>
                </a:solidFill>
                <a:latin typeface="Palatino Linotype"/>
                <a:cs typeface="Palatino Linotype"/>
              </a:rPr>
              <a:t> </a:t>
            </a:r>
            <a:r>
              <a:rPr sz="1400" kern="1200" dirty="0">
                <a:solidFill>
                  <a:prstClr val="black"/>
                </a:solidFill>
                <a:latin typeface="Palatino Linotype"/>
                <a:cs typeface="Palatino Linotype"/>
              </a:rPr>
              <a:t>a</a:t>
            </a:r>
            <a:r>
              <a:rPr sz="1400" kern="1200" spc="-20" dirty="0">
                <a:solidFill>
                  <a:prstClr val="black"/>
                </a:solidFill>
                <a:latin typeface="Palatino Linotype"/>
                <a:cs typeface="Palatino Linotype"/>
              </a:rPr>
              <a:t> </a:t>
            </a:r>
            <a:r>
              <a:rPr sz="1400" kern="1200" dirty="0">
                <a:solidFill>
                  <a:prstClr val="black"/>
                </a:solidFill>
                <a:latin typeface="Palatino Linotype"/>
                <a:cs typeface="Palatino Linotype"/>
              </a:rPr>
              <a:t>terminal)</a:t>
            </a:r>
          </a:p>
          <a:p>
            <a:pPr marL="1167765" marR="81280" indent="-228600" rtl="0">
              <a:lnSpc>
                <a:spcPct val="118600"/>
              </a:lnSpc>
              <a:spcBef>
                <a:spcPts val="625"/>
              </a:spcBef>
            </a:pPr>
            <a:r>
              <a:rPr sz="1400" kern="1200" dirty="0">
                <a:solidFill>
                  <a:prstClr val="black"/>
                </a:solidFill>
                <a:latin typeface="Courier New"/>
                <a:cs typeface="Courier New"/>
              </a:rPr>
              <a:t>o</a:t>
            </a:r>
            <a:r>
              <a:rPr sz="1400" kern="1200" spc="114" dirty="0">
                <a:solidFill>
                  <a:prstClr val="black"/>
                </a:solidFill>
                <a:latin typeface="Courier New"/>
                <a:cs typeface="Courier New"/>
              </a:rPr>
              <a:t> </a:t>
            </a:r>
            <a:r>
              <a:rPr sz="1400" kern="1200" dirty="0">
                <a:solidFill>
                  <a:prstClr val="black"/>
                </a:solidFill>
                <a:latin typeface="Palatino Linotype"/>
                <a:cs typeface="Palatino Linotype"/>
              </a:rPr>
              <a:t>If</a:t>
            </a:r>
            <a:r>
              <a:rPr sz="1400" kern="1200" spc="-5" dirty="0">
                <a:solidFill>
                  <a:prstClr val="black"/>
                </a:solidFill>
                <a:latin typeface="Palatino Linotype"/>
                <a:cs typeface="Palatino Linotype"/>
              </a:rPr>
              <a:t> </a:t>
            </a:r>
            <a:r>
              <a:rPr sz="1400" kern="1200" spc="-5" dirty="0">
                <a:solidFill>
                  <a:prstClr val="black"/>
                </a:solidFill>
                <a:latin typeface="Cambria Math"/>
                <a:cs typeface="Cambria Math"/>
              </a:rPr>
              <a:t>[</a:t>
            </a:r>
            <a:r>
              <a:rPr sz="1400" kern="1200" dirty="0">
                <a:solidFill>
                  <a:prstClr val="black"/>
                </a:solidFill>
                <a:latin typeface="Cambria Math"/>
                <a:cs typeface="Cambria Math"/>
              </a:rPr>
              <a:t>𝐴</a:t>
            </a:r>
            <a:r>
              <a:rPr sz="1400" kern="1200" spc="9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80" dirty="0">
                <a:solidFill>
                  <a:prstClr val="black"/>
                </a:solidFill>
                <a:latin typeface="Cambria Math"/>
                <a:cs typeface="Cambria Math"/>
              </a:rPr>
              <a:t> </a:t>
            </a:r>
            <a:r>
              <a:rPr sz="1400" kern="1200" dirty="0">
                <a:solidFill>
                  <a:prstClr val="black"/>
                </a:solidFill>
                <a:latin typeface="Cambria Math"/>
                <a:cs typeface="Cambria Math"/>
              </a:rPr>
              <a:t>𝛼</a:t>
            </a:r>
            <a:r>
              <a:rPr lang="en-US" altLang="zh-CN" sz="1400" kern="1200" spc="40" dirty="0">
                <a:solidFill>
                  <a:prstClr val="black"/>
                </a:solidFill>
                <a:latin typeface="Cambria Math"/>
                <a:cs typeface="Cambria Math"/>
              </a:rPr>
              <a:t>·</a:t>
            </a:r>
            <a:r>
              <a:rPr sz="1400" kern="1200" dirty="0">
                <a:solidFill>
                  <a:prstClr val="black"/>
                </a:solidFill>
                <a:latin typeface="Cambria Math"/>
                <a:cs typeface="Cambria Math"/>
              </a:rPr>
              <a:t>]</a:t>
            </a:r>
            <a:r>
              <a:rPr sz="1400" kern="1200" spc="35" dirty="0">
                <a:solidFill>
                  <a:prstClr val="black"/>
                </a:solidFill>
                <a:latin typeface="Cambria Math"/>
                <a:cs typeface="Cambria Math"/>
              </a:rPr>
              <a:t> </a:t>
            </a:r>
            <a:r>
              <a:rPr sz="1400" kern="1200" spc="5" dirty="0">
                <a:solidFill>
                  <a:prstClr val="black"/>
                </a:solidFill>
                <a:latin typeface="Palatino Linotype"/>
                <a:cs typeface="Palatino Linotype"/>
              </a:rPr>
              <a:t>i</a:t>
            </a:r>
            <a:r>
              <a:rPr sz="1400" kern="1200" dirty="0">
                <a:solidFill>
                  <a:prstClr val="black"/>
                </a:solidFill>
                <a:latin typeface="Palatino Linotype"/>
                <a:cs typeface="Palatino Linotype"/>
              </a:rPr>
              <a:t>s</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i</a:t>
            </a:r>
            <a:r>
              <a:rPr sz="1400" kern="1200" dirty="0">
                <a:solidFill>
                  <a:prstClr val="black"/>
                </a:solidFill>
                <a:latin typeface="Palatino Linotype"/>
                <a:cs typeface="Palatino Linotype"/>
              </a:rPr>
              <a:t>n</a:t>
            </a:r>
            <a:r>
              <a:rPr lang="en-US" sz="1400" kern="1200" dirty="0">
                <a:solidFill>
                  <a:prstClr val="black"/>
                </a:solidFill>
                <a:latin typeface="Palatino Linotype"/>
                <a:cs typeface="Palatino Linotype"/>
              </a:rPr>
              <a:t> </a:t>
            </a:r>
            <a:r>
              <a:rPr lang="zh-CN" altLang="en-US" sz="1400" kern="1200" spc="25" dirty="0">
                <a:solidFill>
                  <a:prstClr val="black"/>
                </a:solidFill>
                <a:latin typeface="Cambria Math"/>
                <a:cs typeface="Cambria Math"/>
              </a:rPr>
              <a:t>𝐼</a:t>
            </a:r>
            <a:r>
              <a:rPr lang="zh-CN" altLang="en-US" sz="1500" kern="1200" spc="37" baseline="-16666" dirty="0">
                <a:solidFill>
                  <a:prstClr val="black"/>
                </a:solidFill>
                <a:latin typeface="Cambria Math"/>
                <a:cs typeface="Cambria Math"/>
              </a:rPr>
              <a:t>𝑖 </a:t>
            </a:r>
            <a:r>
              <a:rPr lang="en-US" altLang="zh-CN" sz="1400" kern="1200" dirty="0">
                <a:solidFill>
                  <a:prstClr val="black"/>
                </a:solidFill>
                <a:latin typeface="Palatino Linotype"/>
                <a:cs typeface="Palatino Linotype"/>
              </a:rPr>
              <a:t>, </a:t>
            </a:r>
            <a:r>
              <a:rPr sz="1400" kern="1200" spc="5" dirty="0">
                <a:solidFill>
                  <a:prstClr val="black"/>
                </a:solidFill>
                <a:latin typeface="Palatino Linotype"/>
                <a:cs typeface="Palatino Linotype"/>
              </a:rPr>
              <a:t>t</a:t>
            </a:r>
            <a:r>
              <a:rPr sz="1400" kern="1200" spc="-5" dirty="0">
                <a:solidFill>
                  <a:prstClr val="black"/>
                </a:solidFill>
                <a:latin typeface="Palatino Linotype"/>
                <a:cs typeface="Palatino Linotype"/>
              </a:rPr>
              <a:t>h</a:t>
            </a:r>
            <a:r>
              <a:rPr sz="1400" kern="1200" dirty="0">
                <a:solidFill>
                  <a:prstClr val="black"/>
                </a:solidFill>
                <a:latin typeface="Palatino Linotype"/>
                <a:cs typeface="Palatino Linotype"/>
              </a:rPr>
              <a:t>en</a:t>
            </a:r>
            <a:r>
              <a:rPr sz="1400" kern="1200" spc="-5" dirty="0">
                <a:solidFill>
                  <a:prstClr val="black"/>
                </a:solidFill>
                <a:latin typeface="Palatino Linotype"/>
                <a:cs typeface="Palatino Linotype"/>
              </a:rPr>
              <a:t> </a:t>
            </a:r>
            <a:r>
              <a:rPr sz="1400" kern="1200" spc="-10" dirty="0">
                <a:solidFill>
                  <a:prstClr val="black"/>
                </a:solidFill>
                <a:latin typeface="Palatino Linotype"/>
                <a:cs typeface="Palatino Linotype"/>
              </a:rPr>
              <a:t>s</a:t>
            </a:r>
            <a:r>
              <a:rPr sz="1400" kern="1200" dirty="0">
                <a:solidFill>
                  <a:prstClr val="black"/>
                </a:solidFill>
                <a:latin typeface="Palatino Linotype"/>
                <a:cs typeface="Palatino Linotype"/>
              </a:rPr>
              <a:t>et</a:t>
            </a:r>
            <a:r>
              <a:rPr sz="1400" kern="1200" spc="5" dirty="0">
                <a:solidFill>
                  <a:prstClr val="black"/>
                </a:solidFill>
                <a:latin typeface="Palatino Linotype"/>
                <a:cs typeface="Palatino Linotype"/>
              </a:rPr>
              <a:t> </a:t>
            </a:r>
            <a:r>
              <a:rPr sz="1400" kern="1200" spc="-25" dirty="0">
                <a:solidFill>
                  <a:prstClr val="black"/>
                </a:solidFill>
                <a:latin typeface="Cambria Math"/>
                <a:cs typeface="Cambria Math"/>
              </a:rPr>
              <a:t>A</a:t>
            </a:r>
            <a:r>
              <a:rPr sz="1400" kern="1200" spc="-5" dirty="0">
                <a:solidFill>
                  <a:prstClr val="black"/>
                </a:solidFill>
                <a:latin typeface="Cambria Math"/>
                <a:cs typeface="Cambria Math"/>
              </a:rPr>
              <a:t>C</a:t>
            </a:r>
            <a:r>
              <a:rPr sz="1400" kern="1200" spc="-10" dirty="0">
                <a:solidFill>
                  <a:prstClr val="black"/>
                </a:solidFill>
                <a:latin typeface="Cambria Math"/>
                <a:cs typeface="Cambria Math"/>
              </a:rPr>
              <a:t>T</a:t>
            </a:r>
            <a:r>
              <a:rPr sz="1400" kern="1200" spc="-5" dirty="0">
                <a:solidFill>
                  <a:prstClr val="black"/>
                </a:solidFill>
                <a:latin typeface="Cambria Math"/>
                <a:cs typeface="Cambria Math"/>
              </a:rPr>
              <a:t>IO</a:t>
            </a:r>
            <a:r>
              <a:rPr sz="1400" kern="1200" dirty="0">
                <a:solidFill>
                  <a:prstClr val="black"/>
                </a:solidFill>
                <a:latin typeface="Cambria Math"/>
                <a:cs typeface="Cambria Math"/>
              </a:rPr>
              <a:t>N </a:t>
            </a:r>
            <a:r>
              <a:rPr sz="1400" kern="1200" spc="-130" dirty="0">
                <a:solidFill>
                  <a:prstClr val="black"/>
                </a:solidFill>
                <a:latin typeface="Cambria Math"/>
                <a:cs typeface="Cambria Math"/>
              </a:rPr>
              <a:t> </a:t>
            </a:r>
            <a:r>
              <a:rPr sz="1400" kern="1200" spc="35" dirty="0">
                <a:solidFill>
                  <a:prstClr val="black"/>
                </a:solidFill>
                <a:latin typeface="Cambria Math"/>
                <a:cs typeface="Cambria Math"/>
              </a:rPr>
              <a:t>𝑖</a:t>
            </a:r>
            <a:r>
              <a:rPr sz="1400" kern="1200" dirty="0">
                <a:solidFill>
                  <a:prstClr val="black"/>
                </a:solidFill>
                <a:latin typeface="Cambria Math"/>
                <a:cs typeface="Cambria Math"/>
              </a:rPr>
              <a:t>,</a:t>
            </a:r>
            <a:r>
              <a:rPr sz="1400" kern="1200" spc="-75" dirty="0">
                <a:solidFill>
                  <a:prstClr val="black"/>
                </a:solidFill>
                <a:latin typeface="Cambria Math"/>
                <a:cs typeface="Cambria Math"/>
              </a:rPr>
              <a:t> </a:t>
            </a:r>
            <a:r>
              <a:rPr sz="1400" kern="1200" dirty="0">
                <a:solidFill>
                  <a:prstClr val="black"/>
                </a:solidFill>
                <a:latin typeface="Cambria Math"/>
                <a:cs typeface="Cambria Math"/>
              </a:rPr>
              <a:t>𝑎  </a:t>
            </a:r>
            <a:r>
              <a:rPr sz="1400" kern="1200" spc="-60" dirty="0">
                <a:solidFill>
                  <a:prstClr val="black"/>
                </a:solidFill>
                <a:latin typeface="Cambria Math"/>
                <a:cs typeface="Cambria Math"/>
              </a:rPr>
              <a:t> </a:t>
            </a:r>
            <a:r>
              <a:rPr sz="1400" kern="1200" spc="5" dirty="0">
                <a:solidFill>
                  <a:prstClr val="black"/>
                </a:solidFill>
                <a:latin typeface="Palatino Linotype"/>
                <a:cs typeface="Palatino Linotype"/>
              </a:rPr>
              <a:t>t</a:t>
            </a:r>
            <a:r>
              <a:rPr sz="1400" kern="1200" dirty="0">
                <a:solidFill>
                  <a:prstClr val="black"/>
                </a:solidFill>
                <a:latin typeface="Palatino Linotype"/>
                <a:cs typeface="Palatino Linotype"/>
              </a:rPr>
              <a:t>o</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a:t>
            </a:r>
            <a:r>
              <a:rPr sz="1400" kern="1200" spc="-5" dirty="0">
                <a:solidFill>
                  <a:prstClr val="black"/>
                </a:solidFill>
                <a:latin typeface="Palatino Linotype"/>
                <a:cs typeface="Palatino Linotype"/>
              </a:rPr>
              <a:t>r</a:t>
            </a:r>
            <a:r>
              <a:rPr sz="1400" kern="1200" dirty="0">
                <a:solidFill>
                  <a:prstClr val="black"/>
                </a:solidFill>
                <a:latin typeface="Palatino Linotype"/>
                <a:cs typeface="Palatino Linotype"/>
              </a:rPr>
              <a:t>e</a:t>
            </a:r>
            <a:r>
              <a:rPr sz="1400" kern="1200" spc="-10" dirty="0">
                <a:solidFill>
                  <a:prstClr val="black"/>
                </a:solidFill>
                <a:latin typeface="Palatino Linotype"/>
                <a:cs typeface="Palatino Linotype"/>
              </a:rPr>
              <a:t>d</a:t>
            </a:r>
            <a:r>
              <a:rPr sz="1400" kern="1200" spc="5" dirty="0">
                <a:solidFill>
                  <a:prstClr val="black"/>
                </a:solidFill>
                <a:latin typeface="Palatino Linotype"/>
                <a:cs typeface="Palatino Linotype"/>
              </a:rPr>
              <a:t>u</a:t>
            </a:r>
            <a:r>
              <a:rPr sz="1400" kern="1200" dirty="0">
                <a:solidFill>
                  <a:prstClr val="black"/>
                </a:solidFill>
                <a:latin typeface="Palatino Linotype"/>
                <a:cs typeface="Palatino Linotype"/>
              </a:rPr>
              <a:t>ce </a:t>
            </a:r>
            <a:r>
              <a:rPr sz="1400" kern="1200" dirty="0">
                <a:solidFill>
                  <a:prstClr val="black"/>
                </a:solidFill>
                <a:latin typeface="Cambria Math"/>
                <a:cs typeface="Cambria Math"/>
              </a:rPr>
              <a:t>𝐴</a:t>
            </a:r>
            <a:r>
              <a:rPr sz="1400" kern="1200" spc="95" dirty="0">
                <a:solidFill>
                  <a:prstClr val="black"/>
                </a:solidFill>
                <a:latin typeface="Cambria Math"/>
                <a:cs typeface="Cambria Math"/>
              </a:rPr>
              <a:t> </a:t>
            </a:r>
            <a:r>
              <a:rPr sz="1400" kern="1200" dirty="0">
                <a:solidFill>
                  <a:prstClr val="black"/>
                </a:solidFill>
                <a:latin typeface="Cambria Math"/>
                <a:cs typeface="Cambria Math"/>
              </a:rPr>
              <a:t>→</a:t>
            </a:r>
            <a:r>
              <a:rPr sz="1400" kern="1200" spc="80" dirty="0">
                <a:solidFill>
                  <a:prstClr val="black"/>
                </a:solidFill>
                <a:latin typeface="Cambria Math"/>
                <a:cs typeface="Cambria Math"/>
              </a:rPr>
              <a:t> </a:t>
            </a:r>
            <a:r>
              <a:rPr sz="1400" kern="1200" spc="40" dirty="0">
                <a:solidFill>
                  <a:prstClr val="black"/>
                </a:solidFill>
                <a:latin typeface="Cambria Math"/>
                <a:cs typeface="Cambria Math"/>
              </a:rPr>
              <a:t>𝛼</a:t>
            </a:r>
            <a:r>
              <a:rPr sz="1400" kern="1200" dirty="0">
                <a:solidFill>
                  <a:prstClr val="black"/>
                </a:solidFill>
                <a:latin typeface="Palatino Linotype"/>
                <a:cs typeface="Palatino Linotype"/>
              </a:rPr>
              <a:t>” </a:t>
            </a:r>
            <a:r>
              <a:rPr sz="1400" kern="1200" spc="-5" dirty="0">
                <a:solidFill>
                  <a:prstClr val="black"/>
                </a:solidFill>
                <a:latin typeface="Palatino Linotype"/>
                <a:cs typeface="Palatino Linotype"/>
              </a:rPr>
              <a:t>fo</a:t>
            </a:r>
            <a:r>
              <a:rPr sz="1400" kern="1200" dirty="0">
                <a:solidFill>
                  <a:prstClr val="black"/>
                </a:solidFill>
                <a:latin typeface="Palatino Linotype"/>
                <a:cs typeface="Palatino Linotype"/>
              </a:rPr>
              <a:t>r</a:t>
            </a:r>
            <a:r>
              <a:rPr sz="1400" kern="1200" spc="-5" dirty="0">
                <a:solidFill>
                  <a:prstClr val="black"/>
                </a:solidFill>
                <a:latin typeface="Palatino Linotype"/>
                <a:cs typeface="Palatino Linotype"/>
              </a:rPr>
              <a:t> </a:t>
            </a:r>
            <a:r>
              <a:rPr sz="1400" b="1" kern="1200" dirty="0">
                <a:solidFill>
                  <a:srgbClr val="FF0000"/>
                </a:solidFill>
                <a:latin typeface="Palatino Linotype"/>
                <a:cs typeface="Palatino Linotype"/>
              </a:rPr>
              <a:t>a</a:t>
            </a:r>
            <a:r>
              <a:rPr sz="1400" b="1" kern="1200" spc="-5" dirty="0">
                <a:solidFill>
                  <a:srgbClr val="FF0000"/>
                </a:solidFill>
                <a:latin typeface="Palatino Linotype"/>
                <a:cs typeface="Palatino Linotype"/>
              </a:rPr>
              <a:t>l</a:t>
            </a:r>
            <a:r>
              <a:rPr sz="1400" b="1" kern="1200" dirty="0">
                <a:solidFill>
                  <a:srgbClr val="FF0000"/>
                </a:solidFill>
                <a:latin typeface="Palatino Linotype"/>
                <a:cs typeface="Palatino Linotype"/>
              </a:rPr>
              <a:t>l</a:t>
            </a:r>
            <a:r>
              <a:rPr sz="1400" b="1" kern="1200" spc="-5" dirty="0">
                <a:solidFill>
                  <a:srgbClr val="FF0000"/>
                </a:solidFill>
                <a:latin typeface="Palatino Linotype"/>
                <a:cs typeface="Palatino Linotype"/>
              </a:rPr>
              <a:t> </a:t>
            </a:r>
            <a:r>
              <a:rPr sz="1400" kern="1200" dirty="0">
                <a:solidFill>
                  <a:srgbClr val="FF0000"/>
                </a:solidFill>
                <a:latin typeface="Cambria Math"/>
                <a:cs typeface="Cambria Math"/>
              </a:rPr>
              <a:t>𝒂</a:t>
            </a:r>
            <a:r>
              <a:rPr sz="1400" kern="1200" spc="45" dirty="0">
                <a:solidFill>
                  <a:srgbClr val="FF0000"/>
                </a:solidFill>
                <a:latin typeface="Cambria Math"/>
                <a:cs typeface="Cambria Math"/>
              </a:rPr>
              <a:t> </a:t>
            </a:r>
            <a:r>
              <a:rPr sz="1400" b="1" kern="1200" spc="-5" dirty="0">
                <a:solidFill>
                  <a:srgbClr val="FF0000"/>
                </a:solidFill>
                <a:latin typeface="Palatino Linotype"/>
                <a:cs typeface="Palatino Linotype"/>
              </a:rPr>
              <a:t>i</a:t>
            </a:r>
            <a:r>
              <a:rPr sz="1400" b="1" kern="1200" dirty="0">
                <a:solidFill>
                  <a:srgbClr val="FF0000"/>
                </a:solidFill>
                <a:latin typeface="Palatino Linotype"/>
                <a:cs typeface="Palatino Linotype"/>
              </a:rPr>
              <a:t>n</a:t>
            </a:r>
            <a:r>
              <a:rPr sz="1400" b="1" kern="1200" spc="-10" dirty="0">
                <a:solidFill>
                  <a:srgbClr val="FF0000"/>
                </a:solidFill>
                <a:latin typeface="Palatino Linotype"/>
                <a:cs typeface="Palatino Linotype"/>
              </a:rPr>
              <a:t> </a:t>
            </a:r>
            <a:r>
              <a:rPr sz="1400" kern="1200" spc="-5" dirty="0">
                <a:solidFill>
                  <a:srgbClr val="FF0000"/>
                </a:solidFill>
                <a:latin typeface="Cambria Math"/>
                <a:cs typeface="Cambria Math"/>
              </a:rPr>
              <a:t>𝐅</a:t>
            </a:r>
            <a:r>
              <a:rPr sz="1400" kern="1200" spc="-10" dirty="0">
                <a:solidFill>
                  <a:srgbClr val="FF0000"/>
                </a:solidFill>
                <a:latin typeface="Cambria Math"/>
                <a:cs typeface="Cambria Math"/>
              </a:rPr>
              <a:t>𝐎</a:t>
            </a:r>
            <a:r>
              <a:rPr sz="1400" kern="1200" spc="-5" dirty="0">
                <a:solidFill>
                  <a:srgbClr val="FF0000"/>
                </a:solidFill>
                <a:latin typeface="Cambria Math"/>
                <a:cs typeface="Cambria Math"/>
              </a:rPr>
              <a:t>𝐋𝐋</a:t>
            </a:r>
            <a:r>
              <a:rPr sz="1400" kern="1200" spc="5" dirty="0">
                <a:solidFill>
                  <a:srgbClr val="FF0000"/>
                </a:solidFill>
                <a:latin typeface="Cambria Math"/>
                <a:cs typeface="Cambria Math"/>
              </a:rPr>
              <a:t>𝐎</a:t>
            </a:r>
            <a:r>
              <a:rPr sz="1400" kern="1200" spc="-5" dirty="0">
                <a:solidFill>
                  <a:srgbClr val="FF0000"/>
                </a:solidFill>
                <a:latin typeface="Cambria Math"/>
                <a:cs typeface="Cambria Math"/>
              </a:rPr>
              <a:t>𝐖</a:t>
            </a:r>
            <a:r>
              <a:rPr sz="1400" kern="1200" spc="-10" dirty="0">
                <a:solidFill>
                  <a:srgbClr val="FF0000"/>
                </a:solidFill>
                <a:latin typeface="Cambria Math"/>
                <a:cs typeface="Cambria Math"/>
              </a:rPr>
              <a:t>(</a:t>
            </a:r>
            <a:r>
              <a:rPr sz="1400" kern="1200" spc="-5" dirty="0">
                <a:solidFill>
                  <a:srgbClr val="FF0000"/>
                </a:solidFill>
                <a:latin typeface="Cambria Math"/>
                <a:cs typeface="Cambria Math"/>
              </a:rPr>
              <a:t>𝑨</a:t>
            </a:r>
            <a:r>
              <a:rPr sz="1400" kern="1200" spc="-10" dirty="0">
                <a:solidFill>
                  <a:srgbClr val="FF0000"/>
                </a:solidFill>
                <a:latin typeface="Cambria Math"/>
                <a:cs typeface="Cambria Math"/>
              </a:rPr>
              <a:t>)</a:t>
            </a:r>
            <a:r>
              <a:rPr sz="1400" kern="1200" dirty="0">
                <a:solidFill>
                  <a:prstClr val="black"/>
                </a:solidFill>
                <a:latin typeface="Palatino Linotype"/>
                <a:cs typeface="Palatino Linotype"/>
              </a:rPr>
              <a:t>;  </a:t>
            </a:r>
            <a:r>
              <a:rPr sz="1400" kern="1200" spc="-5" dirty="0">
                <a:solidFill>
                  <a:prstClr val="black"/>
                </a:solidFill>
                <a:latin typeface="Palatino Linotype"/>
                <a:cs typeface="Palatino Linotype"/>
              </a:rPr>
              <a:t>here </a:t>
            </a:r>
            <a:r>
              <a:rPr sz="1400" kern="1200" dirty="0">
                <a:solidFill>
                  <a:prstClr val="black"/>
                </a:solidFill>
                <a:latin typeface="Cambria Math"/>
                <a:cs typeface="Cambria Math"/>
              </a:rPr>
              <a:t>𝐴</a:t>
            </a:r>
            <a:r>
              <a:rPr sz="1400" kern="1200" spc="55" dirty="0">
                <a:solidFill>
                  <a:prstClr val="black"/>
                </a:solidFill>
                <a:latin typeface="Cambria Math"/>
                <a:cs typeface="Cambria Math"/>
              </a:rPr>
              <a:t> </a:t>
            </a:r>
            <a:r>
              <a:rPr sz="1400" kern="1200" dirty="0">
                <a:solidFill>
                  <a:prstClr val="black"/>
                </a:solidFill>
                <a:latin typeface="Palatino Linotype"/>
                <a:cs typeface="Palatino Linotype"/>
              </a:rPr>
              <a:t>may</a:t>
            </a:r>
            <a:r>
              <a:rPr sz="1400" kern="1200" spc="-5" dirty="0">
                <a:solidFill>
                  <a:prstClr val="black"/>
                </a:solidFill>
                <a:latin typeface="Palatino Linotype"/>
                <a:cs typeface="Palatino Linotype"/>
              </a:rPr>
              <a:t> not</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be </a:t>
            </a:r>
            <a:r>
              <a:rPr sz="1400" kern="1200" spc="-5" dirty="0">
                <a:solidFill>
                  <a:prstClr val="black"/>
                </a:solidFill>
                <a:latin typeface="Cambria Math"/>
                <a:cs typeface="Cambria Math"/>
              </a:rPr>
              <a:t>𝑆’</a:t>
            </a:r>
            <a:endParaRPr sz="1400" kern="1200" dirty="0">
              <a:solidFill>
                <a:prstClr val="black"/>
              </a:solidFill>
              <a:latin typeface="Cambria Math"/>
              <a:cs typeface="Cambria Math"/>
            </a:endParaRPr>
          </a:p>
          <a:p>
            <a:pPr marL="1168400" lvl="2" indent="-229235" rtl="0">
              <a:spcBef>
                <a:spcPts val="910"/>
              </a:spcBef>
              <a:buFont typeface="Courier New"/>
              <a:buChar char="o"/>
              <a:tabLst>
                <a:tab pos="1168400" algn="l"/>
              </a:tabLst>
            </a:pPr>
            <a:r>
              <a:rPr sz="1400" kern="1200" dirty="0">
                <a:solidFill>
                  <a:prstClr val="black"/>
                </a:solidFill>
                <a:latin typeface="Palatino Linotype"/>
                <a:cs typeface="Palatino Linotype"/>
              </a:rPr>
              <a:t>If</a:t>
            </a:r>
            <a:r>
              <a:rPr sz="1400" kern="1200" spc="-5" dirty="0">
                <a:solidFill>
                  <a:prstClr val="black"/>
                </a:solidFill>
                <a:latin typeface="Palatino Linotype"/>
                <a:cs typeface="Palatino Linotype"/>
              </a:rPr>
              <a:t> </a:t>
            </a:r>
            <a:r>
              <a:rPr sz="1400" kern="1200" spc="-5" dirty="0">
                <a:solidFill>
                  <a:prstClr val="black"/>
                </a:solidFill>
                <a:latin typeface="Cambria Math"/>
                <a:cs typeface="Cambria Math"/>
              </a:rPr>
              <a:t>[𝑆</a:t>
            </a:r>
            <a:r>
              <a:rPr sz="1400" kern="1200" dirty="0">
                <a:solidFill>
                  <a:prstClr val="black"/>
                </a:solidFill>
                <a:latin typeface="Cambria Math"/>
                <a:cs typeface="Cambria Math"/>
              </a:rPr>
              <a:t>’</a:t>
            </a:r>
            <a:r>
              <a:rPr sz="1400" kern="1200" spc="80" dirty="0">
                <a:solidFill>
                  <a:prstClr val="black"/>
                </a:solidFill>
                <a:latin typeface="Cambria Math"/>
                <a:cs typeface="Cambria Math"/>
              </a:rPr>
              <a:t> </a:t>
            </a:r>
            <a:r>
              <a:rPr sz="1400" kern="1200" dirty="0">
                <a:solidFill>
                  <a:prstClr val="black"/>
                </a:solidFill>
                <a:latin typeface="Cambria Math"/>
                <a:cs typeface="Cambria Math"/>
              </a:rPr>
              <a:t>→</a:t>
            </a:r>
            <a:r>
              <a:rPr sz="1400" kern="1200" spc="80" dirty="0">
                <a:solidFill>
                  <a:prstClr val="black"/>
                </a:solidFill>
                <a:latin typeface="Cambria Math"/>
                <a:cs typeface="Cambria Math"/>
              </a:rPr>
              <a:t> </a:t>
            </a:r>
            <a:r>
              <a:rPr sz="1400" kern="1200" dirty="0">
                <a:solidFill>
                  <a:prstClr val="black"/>
                </a:solidFill>
                <a:latin typeface="Cambria Math"/>
                <a:cs typeface="Cambria Math"/>
              </a:rPr>
              <a:t>𝑆</a:t>
            </a:r>
            <a:r>
              <a:rPr lang="en-US" altLang="zh-CN" sz="1400" kern="1200" spc="25" dirty="0">
                <a:solidFill>
                  <a:prstClr val="black"/>
                </a:solidFill>
                <a:latin typeface="Cambria Math"/>
                <a:cs typeface="Cambria Math"/>
              </a:rPr>
              <a:t>·</a:t>
            </a:r>
            <a:r>
              <a:rPr sz="1400" kern="1200" dirty="0">
                <a:solidFill>
                  <a:prstClr val="black"/>
                </a:solidFill>
                <a:latin typeface="Cambria Math"/>
                <a:cs typeface="Cambria Math"/>
              </a:rPr>
              <a:t>]</a:t>
            </a:r>
            <a:r>
              <a:rPr sz="1400" kern="1200" spc="35" dirty="0">
                <a:solidFill>
                  <a:prstClr val="black"/>
                </a:solidFill>
                <a:latin typeface="Cambria Math"/>
                <a:cs typeface="Cambria Math"/>
              </a:rPr>
              <a:t> </a:t>
            </a:r>
            <a:r>
              <a:rPr sz="1400" kern="1200" spc="5" dirty="0">
                <a:solidFill>
                  <a:prstClr val="black"/>
                </a:solidFill>
                <a:latin typeface="Palatino Linotype"/>
                <a:cs typeface="Palatino Linotype"/>
              </a:rPr>
              <a:t>i</a:t>
            </a:r>
            <a:r>
              <a:rPr sz="1400" kern="1200" dirty="0">
                <a:solidFill>
                  <a:prstClr val="black"/>
                </a:solidFill>
                <a:latin typeface="Palatino Linotype"/>
                <a:cs typeface="Palatino Linotype"/>
              </a:rPr>
              <a:t>s</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i</a:t>
            </a:r>
            <a:r>
              <a:rPr sz="1400" kern="1200" dirty="0">
                <a:solidFill>
                  <a:prstClr val="black"/>
                </a:solidFill>
                <a:latin typeface="Palatino Linotype"/>
                <a:cs typeface="Palatino Linotype"/>
              </a:rPr>
              <a:t>n</a:t>
            </a:r>
            <a:r>
              <a:rPr lang="en-US" sz="1400" kern="1200" dirty="0">
                <a:solidFill>
                  <a:prstClr val="black"/>
                </a:solidFill>
                <a:latin typeface="Palatino Linotype"/>
                <a:cs typeface="Palatino Linotype"/>
              </a:rPr>
              <a:t> </a:t>
            </a:r>
            <a:r>
              <a:rPr lang="zh-CN" altLang="en-US" sz="1400" kern="1200" spc="25" dirty="0">
                <a:solidFill>
                  <a:prstClr val="black"/>
                </a:solidFill>
                <a:latin typeface="Cambria Math"/>
                <a:cs typeface="Cambria Math"/>
              </a:rPr>
              <a:t>𝐼</a:t>
            </a:r>
            <a:r>
              <a:rPr lang="zh-CN" altLang="en-US" sz="1500" kern="1200" spc="37" baseline="-16666" dirty="0">
                <a:solidFill>
                  <a:prstClr val="black"/>
                </a:solidFill>
                <a:latin typeface="Cambria Math"/>
                <a:cs typeface="Cambria Math"/>
              </a:rPr>
              <a:t>𝑖 </a:t>
            </a:r>
            <a:r>
              <a:rPr sz="1400" kern="1200" dirty="0">
                <a:solidFill>
                  <a:prstClr val="black"/>
                </a:solidFill>
                <a:latin typeface="Palatino Linotype"/>
                <a:cs typeface="Palatino Linotype"/>
              </a:rPr>
              <a:t>, </a:t>
            </a:r>
            <a:r>
              <a:rPr sz="1400" kern="1200" spc="5" dirty="0">
                <a:solidFill>
                  <a:prstClr val="black"/>
                </a:solidFill>
                <a:latin typeface="Palatino Linotype"/>
                <a:cs typeface="Palatino Linotype"/>
              </a:rPr>
              <a:t>t</a:t>
            </a:r>
            <a:r>
              <a:rPr sz="1400" kern="1200" spc="-5" dirty="0">
                <a:solidFill>
                  <a:prstClr val="black"/>
                </a:solidFill>
                <a:latin typeface="Palatino Linotype"/>
                <a:cs typeface="Palatino Linotype"/>
              </a:rPr>
              <a:t>h</a:t>
            </a:r>
            <a:r>
              <a:rPr sz="1400" kern="1200" dirty="0">
                <a:solidFill>
                  <a:prstClr val="black"/>
                </a:solidFill>
                <a:latin typeface="Palatino Linotype"/>
                <a:cs typeface="Palatino Linotype"/>
              </a:rPr>
              <a:t>en</a:t>
            </a:r>
            <a:r>
              <a:rPr sz="1400" kern="1200" spc="-5" dirty="0">
                <a:solidFill>
                  <a:prstClr val="black"/>
                </a:solidFill>
                <a:latin typeface="Palatino Linotype"/>
                <a:cs typeface="Palatino Linotype"/>
              </a:rPr>
              <a:t> </a:t>
            </a:r>
            <a:r>
              <a:rPr sz="1400" kern="1200" spc="-10" dirty="0">
                <a:solidFill>
                  <a:prstClr val="black"/>
                </a:solidFill>
                <a:latin typeface="Palatino Linotype"/>
                <a:cs typeface="Palatino Linotype"/>
              </a:rPr>
              <a:t>s</a:t>
            </a:r>
            <a:r>
              <a:rPr sz="1400" kern="1200" dirty="0">
                <a:solidFill>
                  <a:prstClr val="black"/>
                </a:solidFill>
                <a:latin typeface="Palatino Linotype"/>
                <a:cs typeface="Palatino Linotype"/>
              </a:rPr>
              <a:t>et</a:t>
            </a:r>
            <a:r>
              <a:rPr sz="1400" kern="1200" spc="5" dirty="0">
                <a:solidFill>
                  <a:prstClr val="black"/>
                </a:solidFill>
                <a:latin typeface="Palatino Linotype"/>
                <a:cs typeface="Palatino Linotype"/>
              </a:rPr>
              <a:t> </a:t>
            </a:r>
            <a:r>
              <a:rPr sz="1400" kern="1200" spc="-25" dirty="0">
                <a:solidFill>
                  <a:prstClr val="black"/>
                </a:solidFill>
                <a:latin typeface="Cambria Math"/>
                <a:cs typeface="Cambria Math"/>
              </a:rPr>
              <a:t>A</a:t>
            </a:r>
            <a:r>
              <a:rPr sz="1400" kern="1200" spc="-5" dirty="0">
                <a:solidFill>
                  <a:prstClr val="black"/>
                </a:solidFill>
                <a:latin typeface="Cambria Math"/>
                <a:cs typeface="Cambria Math"/>
              </a:rPr>
              <a:t>C</a:t>
            </a:r>
            <a:r>
              <a:rPr sz="1400" kern="1200" spc="-10" dirty="0">
                <a:solidFill>
                  <a:prstClr val="black"/>
                </a:solidFill>
                <a:latin typeface="Cambria Math"/>
                <a:cs typeface="Cambria Math"/>
              </a:rPr>
              <a:t>T</a:t>
            </a:r>
            <a:r>
              <a:rPr sz="1400" kern="1200" spc="-5" dirty="0">
                <a:solidFill>
                  <a:prstClr val="black"/>
                </a:solidFill>
                <a:latin typeface="Cambria Math"/>
                <a:cs typeface="Cambria Math"/>
              </a:rPr>
              <a:t>IO</a:t>
            </a:r>
            <a:r>
              <a:rPr sz="1400" kern="1200" dirty="0">
                <a:solidFill>
                  <a:prstClr val="black"/>
                </a:solidFill>
                <a:latin typeface="Cambria Math"/>
                <a:cs typeface="Cambria Math"/>
              </a:rPr>
              <a:t>N </a:t>
            </a:r>
            <a:r>
              <a:rPr sz="1400" kern="1200" spc="-130" dirty="0">
                <a:solidFill>
                  <a:prstClr val="black"/>
                </a:solidFill>
                <a:latin typeface="Cambria Math"/>
                <a:cs typeface="Cambria Math"/>
              </a:rPr>
              <a:t> </a:t>
            </a:r>
            <a:r>
              <a:rPr sz="1400" kern="1200" spc="35" dirty="0">
                <a:solidFill>
                  <a:prstClr val="black"/>
                </a:solidFill>
                <a:latin typeface="Cambria Math"/>
                <a:cs typeface="Cambria Math"/>
              </a:rPr>
              <a:t>𝑖</a:t>
            </a:r>
            <a:r>
              <a:rPr sz="1400" kern="1200" dirty="0">
                <a:solidFill>
                  <a:prstClr val="black"/>
                </a:solidFill>
                <a:latin typeface="Cambria Math"/>
                <a:cs typeface="Cambria Math"/>
              </a:rPr>
              <a:t>,</a:t>
            </a:r>
            <a:r>
              <a:rPr sz="1400" kern="1200" spc="-75" dirty="0">
                <a:solidFill>
                  <a:prstClr val="black"/>
                </a:solidFill>
                <a:latin typeface="Cambria Math"/>
                <a:cs typeface="Cambria Math"/>
              </a:rPr>
              <a:t> </a:t>
            </a:r>
            <a:r>
              <a:rPr sz="1400" kern="1200" dirty="0">
                <a:solidFill>
                  <a:prstClr val="black"/>
                </a:solidFill>
                <a:latin typeface="Cambria Math"/>
                <a:cs typeface="Cambria Math"/>
              </a:rPr>
              <a:t>$  </a:t>
            </a:r>
            <a:r>
              <a:rPr sz="1400" kern="1200" spc="-85" dirty="0">
                <a:solidFill>
                  <a:prstClr val="black"/>
                </a:solidFill>
                <a:latin typeface="Cambria Math"/>
                <a:cs typeface="Cambria Math"/>
              </a:rPr>
              <a:t> </a:t>
            </a:r>
            <a:r>
              <a:rPr sz="1400" kern="1200" spc="5" dirty="0">
                <a:solidFill>
                  <a:prstClr val="black"/>
                </a:solidFill>
                <a:latin typeface="Palatino Linotype"/>
                <a:cs typeface="Palatino Linotype"/>
              </a:rPr>
              <a:t>t</a:t>
            </a:r>
            <a:r>
              <a:rPr sz="1400" kern="1200" dirty="0">
                <a:solidFill>
                  <a:prstClr val="black"/>
                </a:solidFill>
                <a:latin typeface="Palatino Linotype"/>
                <a:cs typeface="Palatino Linotype"/>
              </a:rPr>
              <a:t>o</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“acce</a:t>
            </a:r>
            <a:r>
              <a:rPr sz="1400" kern="1200" spc="-5" dirty="0">
                <a:solidFill>
                  <a:prstClr val="black"/>
                </a:solidFill>
                <a:latin typeface="Palatino Linotype"/>
                <a:cs typeface="Palatino Linotype"/>
              </a:rPr>
              <a:t>p</a:t>
            </a:r>
            <a:r>
              <a:rPr sz="1400" kern="1200" spc="5" dirty="0">
                <a:solidFill>
                  <a:prstClr val="black"/>
                </a:solidFill>
                <a:latin typeface="Palatino Linotype"/>
                <a:cs typeface="Palatino Linotype"/>
              </a:rPr>
              <a:t>t</a:t>
            </a:r>
            <a:r>
              <a:rPr sz="1400" kern="1200" dirty="0">
                <a:solidFill>
                  <a:prstClr val="black"/>
                </a:solidFill>
                <a:latin typeface="Palatino Linotype"/>
                <a:cs typeface="Palatino Linotype"/>
              </a:rPr>
              <a:t>”</a:t>
            </a:r>
          </a:p>
          <a:p>
            <a:pPr marL="825500" marR="262890" lvl="1" indent="-342900" rtl="0">
              <a:lnSpc>
                <a:spcPct val="130000"/>
              </a:lnSpc>
              <a:spcBef>
                <a:spcPts val="955"/>
              </a:spcBef>
              <a:buFont typeface="+mj-lt"/>
              <a:buAutoNum type="arabicPeriod" startAt="3"/>
              <a:tabLst>
                <a:tab pos="824865" algn="l"/>
                <a:tab pos="825500" algn="l"/>
                <a:tab pos="2873375" algn="l"/>
                <a:tab pos="4775200" algn="l"/>
              </a:tabLst>
            </a:pPr>
            <a:r>
              <a:rPr sz="1600" kern="1200" spc="-5" dirty="0">
                <a:solidFill>
                  <a:prstClr val="black"/>
                </a:solidFill>
                <a:latin typeface="Palatino Linotype"/>
                <a:cs typeface="Palatino Linotype"/>
              </a:rPr>
              <a:t>The</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goto</a:t>
            </a:r>
            <a:r>
              <a:rPr sz="1600" kern="1200" dirty="0">
                <a:solidFill>
                  <a:prstClr val="black"/>
                </a:solidFill>
                <a:latin typeface="Palatino Linotype"/>
                <a:cs typeface="Palatino Linotype"/>
              </a:rPr>
              <a:t> transitions for</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state</a:t>
            </a:r>
            <a:r>
              <a:rPr sz="1600" kern="1200" dirty="0">
                <a:solidFill>
                  <a:prstClr val="black"/>
                </a:solidFill>
                <a:latin typeface="Palatino Linotype"/>
                <a:cs typeface="Palatino Linotype"/>
              </a:rPr>
              <a:t> </a:t>
            </a:r>
            <a:r>
              <a:rPr sz="1600" i="1" kern="1200" dirty="0">
                <a:solidFill>
                  <a:prstClr val="black"/>
                </a:solidFill>
                <a:latin typeface="Palatino Linotype"/>
                <a:cs typeface="Palatino Linotype"/>
              </a:rPr>
              <a:t>i</a:t>
            </a:r>
            <a:r>
              <a:rPr sz="1600" i="1"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are </a:t>
            </a:r>
            <a:r>
              <a:rPr sz="1600" kern="1200" spc="-5" dirty="0">
                <a:solidFill>
                  <a:prstClr val="black"/>
                </a:solidFill>
                <a:latin typeface="Palatino Linotype"/>
                <a:cs typeface="Palatino Linotype"/>
              </a:rPr>
              <a:t>constructed </a:t>
            </a:r>
            <a:r>
              <a:rPr sz="1600" kern="1200" dirty="0">
                <a:solidFill>
                  <a:prstClr val="black"/>
                </a:solidFill>
                <a:latin typeface="Palatino Linotype"/>
                <a:cs typeface="Palatino Linotype"/>
              </a:rPr>
              <a:t>for</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all </a:t>
            </a:r>
            <a:r>
              <a:rPr sz="1600" kern="1200" dirty="0">
                <a:solidFill>
                  <a:prstClr val="black"/>
                </a:solidFill>
                <a:latin typeface="Palatino Linotype"/>
                <a:cs typeface="Palatino Linotype"/>
              </a:rPr>
              <a:t>nonterminals </a:t>
            </a:r>
            <a:r>
              <a:rPr sz="1600" i="1" kern="1200" dirty="0">
                <a:solidFill>
                  <a:prstClr val="black"/>
                </a:solidFill>
                <a:latin typeface="Palatino Linotype"/>
                <a:cs typeface="Palatino Linotype"/>
              </a:rPr>
              <a:t>A</a:t>
            </a:r>
            <a:r>
              <a:rPr sz="1600" i="1"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using </a:t>
            </a:r>
            <a:r>
              <a:rPr sz="1600" kern="1200" spc="-385" dirty="0">
                <a:solidFill>
                  <a:prstClr val="black"/>
                </a:solidFill>
                <a:latin typeface="Palatino Linotype"/>
                <a:cs typeface="Palatino Linotype"/>
              </a:rPr>
              <a:t>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rule:</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If</a:t>
            </a:r>
            <a:r>
              <a:rPr sz="1600" kern="1200" spc="5" dirty="0">
                <a:solidFill>
                  <a:prstClr val="black"/>
                </a:solidFill>
                <a:latin typeface="Palatino Linotype"/>
                <a:cs typeface="Palatino Linotype"/>
              </a:rPr>
              <a:t> </a:t>
            </a:r>
            <a:r>
              <a:rPr sz="1600" kern="1200" spc="-15" dirty="0">
                <a:solidFill>
                  <a:prstClr val="black"/>
                </a:solidFill>
                <a:latin typeface="Cambria Math"/>
                <a:cs typeface="Cambria Math"/>
              </a:rPr>
              <a:t>GOTO</a:t>
            </a:r>
            <a:r>
              <a:rPr lang="en-US" sz="1600" kern="1200" spc="-15" dirty="0">
                <a:solidFill>
                  <a:prstClr val="black"/>
                </a:solidFill>
                <a:latin typeface="Cambria Math"/>
                <a:cs typeface="Cambria Math"/>
              </a:rPr>
              <a:t>  </a:t>
            </a:r>
            <a:r>
              <a:rPr lang="en-US" sz="1600" kern="1200" spc="30" dirty="0">
                <a:solidFill>
                  <a:prstClr val="black"/>
                </a:solidFill>
                <a:latin typeface="Cambria Math"/>
                <a:cs typeface="Cambria Math"/>
              </a:rPr>
              <a:t>𝐼</a:t>
            </a:r>
            <a:r>
              <a:rPr lang="en-US" kern="1200" spc="44" baseline="-16203" dirty="0" err="1">
                <a:solidFill>
                  <a:prstClr val="black"/>
                </a:solidFill>
                <a:latin typeface="Cambria Math"/>
                <a:cs typeface="Cambria Math"/>
              </a:rPr>
              <a:t>i</a:t>
            </a:r>
            <a:r>
              <a:rPr sz="1600" kern="1200" spc="3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𝐴	=</a:t>
            </a:r>
            <a:r>
              <a:rPr sz="1600" kern="1200" spc="100" dirty="0">
                <a:solidFill>
                  <a:prstClr val="black"/>
                </a:solidFill>
                <a:latin typeface="Cambria Math"/>
                <a:cs typeface="Cambria Math"/>
              </a:rPr>
              <a:t> </a:t>
            </a:r>
            <a:r>
              <a:rPr sz="1600" kern="1200" spc="-30" dirty="0">
                <a:solidFill>
                  <a:prstClr val="black"/>
                </a:solidFill>
                <a:latin typeface="Cambria Math"/>
                <a:cs typeface="Cambria Math"/>
              </a:rPr>
              <a:t>𝐼</a:t>
            </a:r>
            <a:r>
              <a:rPr lang="zh-CN" altLang="en-US" kern="1200" spc="-44" baseline="-16203" dirty="0">
                <a:solidFill>
                  <a:prstClr val="black"/>
                </a:solidFill>
                <a:latin typeface="Cambria Math"/>
                <a:cs typeface="Cambria Math"/>
              </a:rPr>
              <a:t>𝑗</a:t>
            </a:r>
            <a:r>
              <a:rPr sz="1600" kern="1200" spc="-30" dirty="0">
                <a:solidFill>
                  <a:prstClr val="black"/>
                </a:solidFill>
                <a:latin typeface="Palatino Linotype"/>
                <a:cs typeface="Palatino Linotype"/>
              </a:rPr>
              <a:t>,</a:t>
            </a:r>
            <a:r>
              <a:rPr sz="1600" kern="1200" dirty="0">
                <a:solidFill>
                  <a:prstClr val="black"/>
                </a:solidFill>
                <a:latin typeface="Palatino Linotype"/>
                <a:cs typeface="Palatino Linotype"/>
              </a:rPr>
              <a:t> then</a:t>
            </a:r>
            <a:r>
              <a:rPr sz="1600" kern="1200" spc="10" dirty="0">
                <a:solidFill>
                  <a:prstClr val="black"/>
                </a:solidFill>
                <a:latin typeface="Palatino Linotype"/>
                <a:cs typeface="Palatino Linotype"/>
              </a:rPr>
              <a:t> </a:t>
            </a:r>
            <a:r>
              <a:rPr sz="1600" kern="1200" spc="-15" dirty="0">
                <a:solidFill>
                  <a:prstClr val="black"/>
                </a:solidFill>
                <a:latin typeface="Cambria Math"/>
                <a:cs typeface="Cambria Math"/>
              </a:rPr>
              <a:t>GOTO</a:t>
            </a:r>
            <a:r>
              <a:rPr sz="1600" kern="1200" spc="315" dirty="0">
                <a:solidFill>
                  <a:prstClr val="black"/>
                </a:solidFill>
                <a:latin typeface="Cambria Math"/>
                <a:cs typeface="Cambria Math"/>
              </a:rPr>
              <a:t> </a:t>
            </a:r>
            <a:r>
              <a:rPr sz="1600" kern="1200" spc="25" dirty="0">
                <a:solidFill>
                  <a:prstClr val="black"/>
                </a:solidFill>
                <a:latin typeface="Cambria Math"/>
                <a:cs typeface="Cambria Math"/>
              </a:rPr>
              <a:t>𝑖,</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𝐴	=</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𝑗</a:t>
            </a:r>
          </a:p>
        </p:txBody>
      </p:sp>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125</a:t>
            </a:fld>
            <a:endParaRPr lang="en-US"/>
          </a:p>
        </p:txBody>
      </p:sp>
      <p:sp>
        <p:nvSpPr>
          <p:cNvPr id="17" name="object 2">
            <a:extLst>
              <a:ext uri="{FF2B5EF4-FFF2-40B4-BE49-F238E27FC236}">
                <a16:creationId xmlns:a16="http://schemas.microsoft.com/office/drawing/2014/main" id="{8DE14732-711B-D09E-E0FA-8FA2FFAD1C92}"/>
              </a:ext>
            </a:extLst>
          </p:cNvPr>
          <p:cNvSpPr txBox="1">
            <a:spLocks/>
          </p:cNvSpPr>
          <p:nvPr/>
        </p:nvSpPr>
        <p:spPr>
          <a:xfrm>
            <a:off x="707390" y="554227"/>
            <a:ext cx="7585709" cy="57404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5" normalizeH="0" baseline="0" noProof="0" dirty="0">
                <a:ln>
                  <a:noFill/>
                </a:ln>
                <a:solidFill>
                  <a:sysClr val="windowText" lastClr="000000"/>
                </a:solidFill>
                <a:effectLst/>
                <a:uLnTx/>
                <a:uFillTx/>
                <a:latin typeface="Palatino Linotype"/>
                <a:ea typeface="+mj-ea"/>
              </a:rPr>
              <a:t>Constructing</a:t>
            </a:r>
            <a:r>
              <a:rPr kumimoji="0" lang="en-US" sz="36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SLR-Parsing</a:t>
            </a:r>
            <a:r>
              <a:rPr kumimoji="0" lang="en-US" sz="3600" b="1" i="0" u="none" strike="noStrike" kern="0" cap="none" spc="-10"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60" normalizeH="0" baseline="0" noProof="0" dirty="0">
                <a:ln>
                  <a:noFill/>
                </a:ln>
                <a:solidFill>
                  <a:sysClr val="windowText" lastClr="000000"/>
                </a:solidFill>
                <a:effectLst/>
                <a:uLnTx/>
                <a:uFillTx/>
                <a:latin typeface="Palatino Linotype"/>
                <a:ea typeface="+mj-ea"/>
              </a:rPr>
              <a:t>Tables</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(1)</a:t>
            </a:r>
          </a:p>
        </p:txBody>
      </p:sp>
      <p:sp>
        <p:nvSpPr>
          <p:cNvPr id="18" name="object 3">
            <a:extLst>
              <a:ext uri="{FF2B5EF4-FFF2-40B4-BE49-F238E27FC236}">
                <a16:creationId xmlns:a16="http://schemas.microsoft.com/office/drawing/2014/main" id="{C8A61AC9-3524-FA82-7023-E4756FDA7F85}"/>
              </a:ext>
            </a:extLst>
          </p:cNvPr>
          <p:cNvSpPr/>
          <p:nvPr/>
        </p:nvSpPr>
        <p:spPr>
          <a:xfrm>
            <a:off x="4675479" y="3547109"/>
            <a:ext cx="38735" cy="166370"/>
          </a:xfrm>
          <a:custGeom>
            <a:avLst/>
            <a:gdLst/>
            <a:ahLst/>
            <a:cxnLst/>
            <a:rect l="l" t="t" r="r" b="b"/>
            <a:pathLst>
              <a:path w="38735" h="166370">
                <a:moveTo>
                  <a:pt x="38722" y="0"/>
                </a:moveTo>
                <a:lnTo>
                  <a:pt x="0" y="0"/>
                </a:lnTo>
                <a:lnTo>
                  <a:pt x="0" y="7620"/>
                </a:lnTo>
                <a:lnTo>
                  <a:pt x="24320" y="7620"/>
                </a:lnTo>
                <a:lnTo>
                  <a:pt x="24320" y="160020"/>
                </a:lnTo>
                <a:lnTo>
                  <a:pt x="0" y="160020"/>
                </a:lnTo>
                <a:lnTo>
                  <a:pt x="0" y="166370"/>
                </a:lnTo>
                <a:lnTo>
                  <a:pt x="38722" y="166370"/>
                </a:lnTo>
                <a:lnTo>
                  <a:pt x="38722" y="160020"/>
                </a:lnTo>
                <a:lnTo>
                  <a:pt x="38722" y="762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4">
            <a:extLst>
              <a:ext uri="{FF2B5EF4-FFF2-40B4-BE49-F238E27FC236}">
                <a16:creationId xmlns:a16="http://schemas.microsoft.com/office/drawing/2014/main" id="{38581497-9654-A205-68ED-3645B8ED065C}"/>
              </a:ext>
            </a:extLst>
          </p:cNvPr>
          <p:cNvSpPr/>
          <p:nvPr/>
        </p:nvSpPr>
        <p:spPr>
          <a:xfrm>
            <a:off x="4346295" y="3547109"/>
            <a:ext cx="38735" cy="166370"/>
          </a:xfrm>
          <a:custGeom>
            <a:avLst/>
            <a:gdLst/>
            <a:ahLst/>
            <a:cxnLst/>
            <a:rect l="l" t="t" r="r" b="b"/>
            <a:pathLst>
              <a:path w="38735" h="166370">
                <a:moveTo>
                  <a:pt x="38722" y="0"/>
                </a:moveTo>
                <a:lnTo>
                  <a:pt x="0" y="0"/>
                </a:lnTo>
                <a:lnTo>
                  <a:pt x="0" y="7620"/>
                </a:lnTo>
                <a:lnTo>
                  <a:pt x="0" y="160020"/>
                </a:lnTo>
                <a:lnTo>
                  <a:pt x="0" y="166370"/>
                </a:lnTo>
                <a:lnTo>
                  <a:pt x="38722" y="166370"/>
                </a:lnTo>
                <a:lnTo>
                  <a:pt x="38722" y="160020"/>
                </a:lnTo>
                <a:lnTo>
                  <a:pt x="14414" y="160020"/>
                </a:lnTo>
                <a:lnTo>
                  <a:pt x="14414" y="7620"/>
                </a:lnTo>
                <a:lnTo>
                  <a:pt x="38722" y="762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5">
            <a:extLst>
              <a:ext uri="{FF2B5EF4-FFF2-40B4-BE49-F238E27FC236}">
                <a16:creationId xmlns:a16="http://schemas.microsoft.com/office/drawing/2014/main" id="{B3B36985-3BE9-7008-02C4-C6DF9B5D091A}"/>
              </a:ext>
            </a:extLst>
          </p:cNvPr>
          <p:cNvSpPr/>
          <p:nvPr/>
        </p:nvSpPr>
        <p:spPr>
          <a:xfrm>
            <a:off x="6728942" y="3547109"/>
            <a:ext cx="38735" cy="166370"/>
          </a:xfrm>
          <a:custGeom>
            <a:avLst/>
            <a:gdLst/>
            <a:ahLst/>
            <a:cxnLst/>
            <a:rect l="l" t="t" r="r" b="b"/>
            <a:pathLst>
              <a:path w="38734" h="166370">
                <a:moveTo>
                  <a:pt x="38722" y="0"/>
                </a:moveTo>
                <a:lnTo>
                  <a:pt x="0" y="0"/>
                </a:lnTo>
                <a:lnTo>
                  <a:pt x="0" y="7620"/>
                </a:lnTo>
                <a:lnTo>
                  <a:pt x="24320" y="7620"/>
                </a:lnTo>
                <a:lnTo>
                  <a:pt x="24320" y="160020"/>
                </a:lnTo>
                <a:lnTo>
                  <a:pt x="0" y="160020"/>
                </a:lnTo>
                <a:lnTo>
                  <a:pt x="0" y="166370"/>
                </a:lnTo>
                <a:lnTo>
                  <a:pt x="38722" y="166370"/>
                </a:lnTo>
                <a:lnTo>
                  <a:pt x="38722" y="160020"/>
                </a:lnTo>
                <a:lnTo>
                  <a:pt x="38722" y="762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1" name="object 6">
            <a:extLst>
              <a:ext uri="{FF2B5EF4-FFF2-40B4-BE49-F238E27FC236}">
                <a16:creationId xmlns:a16="http://schemas.microsoft.com/office/drawing/2014/main" id="{DA2FD31D-7CDA-5292-686C-C55BAFB8CA22}"/>
              </a:ext>
            </a:extLst>
          </p:cNvPr>
          <p:cNvSpPr/>
          <p:nvPr/>
        </p:nvSpPr>
        <p:spPr>
          <a:xfrm>
            <a:off x="6452654" y="3547109"/>
            <a:ext cx="38735" cy="166370"/>
          </a:xfrm>
          <a:custGeom>
            <a:avLst/>
            <a:gdLst/>
            <a:ahLst/>
            <a:cxnLst/>
            <a:rect l="l" t="t" r="r" b="b"/>
            <a:pathLst>
              <a:path w="38735" h="166370">
                <a:moveTo>
                  <a:pt x="38722" y="0"/>
                </a:moveTo>
                <a:lnTo>
                  <a:pt x="0" y="0"/>
                </a:lnTo>
                <a:lnTo>
                  <a:pt x="0" y="7620"/>
                </a:lnTo>
                <a:lnTo>
                  <a:pt x="0" y="160020"/>
                </a:lnTo>
                <a:lnTo>
                  <a:pt x="0" y="166370"/>
                </a:lnTo>
                <a:lnTo>
                  <a:pt x="38722" y="166370"/>
                </a:lnTo>
                <a:lnTo>
                  <a:pt x="38722" y="160020"/>
                </a:lnTo>
                <a:lnTo>
                  <a:pt x="14414" y="160020"/>
                </a:lnTo>
                <a:lnTo>
                  <a:pt x="14414" y="7620"/>
                </a:lnTo>
                <a:lnTo>
                  <a:pt x="38722" y="762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7">
            <a:extLst>
              <a:ext uri="{FF2B5EF4-FFF2-40B4-BE49-F238E27FC236}">
                <a16:creationId xmlns:a16="http://schemas.microsoft.com/office/drawing/2014/main" id="{EC720ACE-3DC9-1555-F409-6653B6F18B66}"/>
              </a:ext>
            </a:extLst>
          </p:cNvPr>
          <p:cNvSpPr/>
          <p:nvPr/>
        </p:nvSpPr>
        <p:spPr>
          <a:xfrm>
            <a:off x="4895189" y="4144009"/>
            <a:ext cx="38735" cy="166370"/>
          </a:xfrm>
          <a:custGeom>
            <a:avLst/>
            <a:gdLst/>
            <a:ahLst/>
            <a:cxnLst/>
            <a:rect l="l" t="t" r="r" b="b"/>
            <a:pathLst>
              <a:path w="38735" h="166370">
                <a:moveTo>
                  <a:pt x="38722" y="0"/>
                </a:moveTo>
                <a:lnTo>
                  <a:pt x="0" y="0"/>
                </a:lnTo>
                <a:lnTo>
                  <a:pt x="0" y="7620"/>
                </a:lnTo>
                <a:lnTo>
                  <a:pt x="24320" y="7620"/>
                </a:lnTo>
                <a:lnTo>
                  <a:pt x="24320" y="160020"/>
                </a:lnTo>
                <a:lnTo>
                  <a:pt x="0" y="160020"/>
                </a:lnTo>
                <a:lnTo>
                  <a:pt x="0" y="166370"/>
                </a:lnTo>
                <a:lnTo>
                  <a:pt x="38722" y="166370"/>
                </a:lnTo>
                <a:lnTo>
                  <a:pt x="38722" y="160020"/>
                </a:lnTo>
                <a:lnTo>
                  <a:pt x="38722" y="762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8">
            <a:extLst>
              <a:ext uri="{FF2B5EF4-FFF2-40B4-BE49-F238E27FC236}">
                <a16:creationId xmlns:a16="http://schemas.microsoft.com/office/drawing/2014/main" id="{D9B4C142-052C-7867-2039-19CC53312DFD}"/>
              </a:ext>
            </a:extLst>
          </p:cNvPr>
          <p:cNvSpPr/>
          <p:nvPr/>
        </p:nvSpPr>
        <p:spPr>
          <a:xfrm>
            <a:off x="4618901" y="4144009"/>
            <a:ext cx="38735" cy="166370"/>
          </a:xfrm>
          <a:custGeom>
            <a:avLst/>
            <a:gdLst/>
            <a:ahLst/>
            <a:cxnLst/>
            <a:rect l="l" t="t" r="r" b="b"/>
            <a:pathLst>
              <a:path w="38735" h="166370">
                <a:moveTo>
                  <a:pt x="38722" y="0"/>
                </a:moveTo>
                <a:lnTo>
                  <a:pt x="0" y="0"/>
                </a:lnTo>
                <a:lnTo>
                  <a:pt x="0" y="7620"/>
                </a:lnTo>
                <a:lnTo>
                  <a:pt x="0" y="160020"/>
                </a:lnTo>
                <a:lnTo>
                  <a:pt x="0" y="166370"/>
                </a:lnTo>
                <a:lnTo>
                  <a:pt x="38722" y="166370"/>
                </a:lnTo>
                <a:lnTo>
                  <a:pt x="38722" y="160020"/>
                </a:lnTo>
                <a:lnTo>
                  <a:pt x="14414" y="160020"/>
                </a:lnTo>
                <a:lnTo>
                  <a:pt x="14414" y="7620"/>
                </a:lnTo>
                <a:lnTo>
                  <a:pt x="38722" y="762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9">
            <a:extLst>
              <a:ext uri="{FF2B5EF4-FFF2-40B4-BE49-F238E27FC236}">
                <a16:creationId xmlns:a16="http://schemas.microsoft.com/office/drawing/2014/main" id="{93A82398-1D23-DF56-D8C3-97E7969709F8}"/>
              </a:ext>
            </a:extLst>
          </p:cNvPr>
          <p:cNvSpPr/>
          <p:nvPr/>
        </p:nvSpPr>
        <p:spPr>
          <a:xfrm>
            <a:off x="4887252" y="4728209"/>
            <a:ext cx="38735" cy="166370"/>
          </a:xfrm>
          <a:custGeom>
            <a:avLst/>
            <a:gdLst/>
            <a:ahLst/>
            <a:cxnLst/>
            <a:rect l="l" t="t" r="r" b="b"/>
            <a:pathLst>
              <a:path w="38735" h="166370">
                <a:moveTo>
                  <a:pt x="38722" y="0"/>
                </a:moveTo>
                <a:lnTo>
                  <a:pt x="0" y="0"/>
                </a:lnTo>
                <a:lnTo>
                  <a:pt x="0" y="7620"/>
                </a:lnTo>
                <a:lnTo>
                  <a:pt x="24320" y="7620"/>
                </a:lnTo>
                <a:lnTo>
                  <a:pt x="24320" y="160020"/>
                </a:lnTo>
                <a:lnTo>
                  <a:pt x="0" y="160020"/>
                </a:lnTo>
                <a:lnTo>
                  <a:pt x="0" y="166370"/>
                </a:lnTo>
                <a:lnTo>
                  <a:pt x="38722" y="166370"/>
                </a:lnTo>
                <a:lnTo>
                  <a:pt x="38722" y="160020"/>
                </a:lnTo>
                <a:lnTo>
                  <a:pt x="38722" y="762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10">
            <a:extLst>
              <a:ext uri="{FF2B5EF4-FFF2-40B4-BE49-F238E27FC236}">
                <a16:creationId xmlns:a16="http://schemas.microsoft.com/office/drawing/2014/main" id="{F391A334-908B-CA55-CAFA-5312235FD789}"/>
              </a:ext>
            </a:extLst>
          </p:cNvPr>
          <p:cNvSpPr/>
          <p:nvPr/>
        </p:nvSpPr>
        <p:spPr>
          <a:xfrm>
            <a:off x="4623219" y="4728209"/>
            <a:ext cx="38735" cy="166370"/>
          </a:xfrm>
          <a:custGeom>
            <a:avLst/>
            <a:gdLst/>
            <a:ahLst/>
            <a:cxnLst/>
            <a:rect l="l" t="t" r="r" b="b"/>
            <a:pathLst>
              <a:path w="38735" h="166370">
                <a:moveTo>
                  <a:pt x="38722" y="0"/>
                </a:moveTo>
                <a:lnTo>
                  <a:pt x="0" y="0"/>
                </a:lnTo>
                <a:lnTo>
                  <a:pt x="0" y="7620"/>
                </a:lnTo>
                <a:lnTo>
                  <a:pt x="0" y="160020"/>
                </a:lnTo>
                <a:lnTo>
                  <a:pt x="0" y="166370"/>
                </a:lnTo>
                <a:lnTo>
                  <a:pt x="38722" y="166370"/>
                </a:lnTo>
                <a:lnTo>
                  <a:pt x="38722" y="160020"/>
                </a:lnTo>
                <a:lnTo>
                  <a:pt x="14414" y="160020"/>
                </a:lnTo>
                <a:lnTo>
                  <a:pt x="14414" y="7620"/>
                </a:lnTo>
                <a:lnTo>
                  <a:pt x="38722" y="7620"/>
                </a:lnTo>
                <a:lnTo>
                  <a:pt x="38722"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11">
            <a:extLst>
              <a:ext uri="{FF2B5EF4-FFF2-40B4-BE49-F238E27FC236}">
                <a16:creationId xmlns:a16="http://schemas.microsoft.com/office/drawing/2014/main" id="{07CA4C98-BA7C-055C-6006-2AF9A1B41031}"/>
              </a:ext>
            </a:extLst>
          </p:cNvPr>
          <p:cNvSpPr/>
          <p:nvPr/>
        </p:nvSpPr>
        <p:spPr>
          <a:xfrm>
            <a:off x="3023948" y="5459469"/>
            <a:ext cx="470534" cy="188595"/>
          </a:xfrm>
          <a:custGeom>
            <a:avLst/>
            <a:gdLst/>
            <a:ahLst/>
            <a:cxnLst/>
            <a:rect l="l" t="t" r="r" b="b"/>
            <a:pathLst>
              <a:path w="470535" h="188595">
                <a:moveTo>
                  <a:pt x="410420" y="0"/>
                </a:moveTo>
                <a:lnTo>
                  <a:pt x="407742" y="7640"/>
                </a:lnTo>
                <a:lnTo>
                  <a:pt x="418637" y="12368"/>
                </a:lnTo>
                <a:lnTo>
                  <a:pt x="428007" y="18913"/>
                </a:lnTo>
                <a:lnTo>
                  <a:pt x="450505" y="62470"/>
                </a:lnTo>
                <a:lnTo>
                  <a:pt x="453283" y="93165"/>
                </a:lnTo>
                <a:lnTo>
                  <a:pt x="452585" y="109767"/>
                </a:lnTo>
                <a:lnTo>
                  <a:pt x="442121" y="150415"/>
                </a:lnTo>
                <a:lnTo>
                  <a:pt x="408039" y="180578"/>
                </a:lnTo>
                <a:lnTo>
                  <a:pt x="410420" y="188218"/>
                </a:lnTo>
                <a:lnTo>
                  <a:pt x="446381" y="166851"/>
                </a:lnTo>
                <a:lnTo>
                  <a:pt x="466578" y="127409"/>
                </a:lnTo>
                <a:lnTo>
                  <a:pt x="470448" y="94159"/>
                </a:lnTo>
                <a:lnTo>
                  <a:pt x="469478" y="76904"/>
                </a:lnTo>
                <a:lnTo>
                  <a:pt x="454920" y="32990"/>
                </a:lnTo>
                <a:lnTo>
                  <a:pt x="424066" y="4927"/>
                </a:lnTo>
                <a:lnTo>
                  <a:pt x="410420" y="0"/>
                </a:lnTo>
                <a:close/>
              </a:path>
              <a:path w="470535" h="188595">
                <a:moveTo>
                  <a:pt x="60027" y="0"/>
                </a:moveTo>
                <a:lnTo>
                  <a:pt x="24132" y="21422"/>
                </a:lnTo>
                <a:lnTo>
                  <a:pt x="3882" y="60957"/>
                </a:lnTo>
                <a:lnTo>
                  <a:pt x="0" y="94159"/>
                </a:lnTo>
                <a:lnTo>
                  <a:pt x="967" y="111450"/>
                </a:lnTo>
                <a:lnTo>
                  <a:pt x="15478" y="155327"/>
                </a:lnTo>
                <a:lnTo>
                  <a:pt x="46342" y="183297"/>
                </a:lnTo>
                <a:lnTo>
                  <a:pt x="60027" y="188218"/>
                </a:lnTo>
                <a:lnTo>
                  <a:pt x="62409" y="180578"/>
                </a:lnTo>
                <a:lnTo>
                  <a:pt x="51684" y="175828"/>
                </a:lnTo>
                <a:lnTo>
                  <a:pt x="42428" y="169217"/>
                </a:lnTo>
                <a:lnTo>
                  <a:pt x="19955" y="124842"/>
                </a:lnTo>
                <a:lnTo>
                  <a:pt x="17165" y="93165"/>
                </a:lnTo>
                <a:lnTo>
                  <a:pt x="17863" y="77108"/>
                </a:lnTo>
                <a:lnTo>
                  <a:pt x="28327" y="37454"/>
                </a:lnTo>
                <a:lnTo>
                  <a:pt x="62706" y="7640"/>
                </a:lnTo>
                <a:lnTo>
                  <a:pt x="60027"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12">
            <a:extLst>
              <a:ext uri="{FF2B5EF4-FFF2-40B4-BE49-F238E27FC236}">
                <a16:creationId xmlns:a16="http://schemas.microsoft.com/office/drawing/2014/main" id="{0065D63C-B67D-F6D0-2629-6BF56625B0E4}"/>
              </a:ext>
            </a:extLst>
          </p:cNvPr>
          <p:cNvSpPr/>
          <p:nvPr/>
        </p:nvSpPr>
        <p:spPr>
          <a:xfrm>
            <a:off x="4985527" y="5459469"/>
            <a:ext cx="410209" cy="188595"/>
          </a:xfrm>
          <a:custGeom>
            <a:avLst/>
            <a:gdLst/>
            <a:ahLst/>
            <a:cxnLst/>
            <a:rect l="l" t="t" r="r" b="b"/>
            <a:pathLst>
              <a:path w="410210" h="188595">
                <a:moveTo>
                  <a:pt x="350159" y="0"/>
                </a:moveTo>
                <a:lnTo>
                  <a:pt x="347479" y="7640"/>
                </a:lnTo>
                <a:lnTo>
                  <a:pt x="358375" y="12368"/>
                </a:lnTo>
                <a:lnTo>
                  <a:pt x="367745" y="18913"/>
                </a:lnTo>
                <a:lnTo>
                  <a:pt x="390243" y="62470"/>
                </a:lnTo>
                <a:lnTo>
                  <a:pt x="393021" y="93165"/>
                </a:lnTo>
                <a:lnTo>
                  <a:pt x="392324" y="109767"/>
                </a:lnTo>
                <a:lnTo>
                  <a:pt x="381859" y="150415"/>
                </a:lnTo>
                <a:lnTo>
                  <a:pt x="347778" y="180578"/>
                </a:lnTo>
                <a:lnTo>
                  <a:pt x="350159" y="188218"/>
                </a:lnTo>
                <a:lnTo>
                  <a:pt x="386119" y="166851"/>
                </a:lnTo>
                <a:lnTo>
                  <a:pt x="406316" y="127409"/>
                </a:lnTo>
                <a:lnTo>
                  <a:pt x="410185" y="94159"/>
                </a:lnTo>
                <a:lnTo>
                  <a:pt x="409215" y="76904"/>
                </a:lnTo>
                <a:lnTo>
                  <a:pt x="394658" y="32990"/>
                </a:lnTo>
                <a:lnTo>
                  <a:pt x="363804" y="4927"/>
                </a:lnTo>
                <a:lnTo>
                  <a:pt x="350159" y="0"/>
                </a:lnTo>
                <a:close/>
              </a:path>
              <a:path w="410210" h="188595">
                <a:moveTo>
                  <a:pt x="60027" y="0"/>
                </a:moveTo>
                <a:lnTo>
                  <a:pt x="24132" y="21422"/>
                </a:lnTo>
                <a:lnTo>
                  <a:pt x="3882" y="60957"/>
                </a:lnTo>
                <a:lnTo>
                  <a:pt x="0" y="94159"/>
                </a:lnTo>
                <a:lnTo>
                  <a:pt x="967" y="111450"/>
                </a:lnTo>
                <a:lnTo>
                  <a:pt x="15478" y="155327"/>
                </a:lnTo>
                <a:lnTo>
                  <a:pt x="46341" y="183297"/>
                </a:lnTo>
                <a:lnTo>
                  <a:pt x="60027" y="188218"/>
                </a:lnTo>
                <a:lnTo>
                  <a:pt x="62409" y="180578"/>
                </a:lnTo>
                <a:lnTo>
                  <a:pt x="51684" y="175828"/>
                </a:lnTo>
                <a:lnTo>
                  <a:pt x="42428" y="169217"/>
                </a:lnTo>
                <a:lnTo>
                  <a:pt x="19955" y="124842"/>
                </a:lnTo>
                <a:lnTo>
                  <a:pt x="17165" y="93165"/>
                </a:lnTo>
                <a:lnTo>
                  <a:pt x="17862" y="77108"/>
                </a:lnTo>
                <a:lnTo>
                  <a:pt x="28327" y="37454"/>
                </a:lnTo>
                <a:lnTo>
                  <a:pt x="62706" y="7640"/>
                </a:lnTo>
                <a:lnTo>
                  <a:pt x="60027"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19577998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126</a:t>
            </a:fld>
            <a:endParaRPr lang="en-US"/>
          </a:p>
        </p:txBody>
      </p:sp>
      <p:sp>
        <p:nvSpPr>
          <p:cNvPr id="8" name="object 2">
            <a:extLst>
              <a:ext uri="{FF2B5EF4-FFF2-40B4-BE49-F238E27FC236}">
                <a16:creationId xmlns:a16="http://schemas.microsoft.com/office/drawing/2014/main" id="{A7831460-487A-149E-AFF9-B373813E6A7B}"/>
              </a:ext>
            </a:extLst>
          </p:cNvPr>
          <p:cNvSpPr txBox="1">
            <a:spLocks/>
          </p:cNvSpPr>
          <p:nvPr/>
        </p:nvSpPr>
        <p:spPr>
          <a:xfrm>
            <a:off x="707390" y="554227"/>
            <a:ext cx="7585709" cy="57404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5" normalizeH="0" baseline="0" noProof="0">
                <a:ln>
                  <a:noFill/>
                </a:ln>
                <a:solidFill>
                  <a:sysClr val="windowText" lastClr="000000"/>
                </a:solidFill>
                <a:effectLst/>
                <a:uLnTx/>
                <a:uFillTx/>
                <a:latin typeface="Palatino Linotype"/>
                <a:ea typeface="+mj-ea"/>
              </a:rPr>
              <a:t>Constructing</a:t>
            </a:r>
            <a:r>
              <a:rPr kumimoji="0" lang="en-US" sz="3600" b="1" i="0" u="none" strike="noStrike" kern="0" cap="none" spc="-15" normalizeH="0" baseline="0" noProof="0">
                <a:ln>
                  <a:noFill/>
                </a:ln>
                <a:solidFill>
                  <a:sysClr val="windowText" lastClr="000000"/>
                </a:solidFill>
                <a:effectLst/>
                <a:uLnTx/>
                <a:uFillTx/>
                <a:latin typeface="Palatino Linotype"/>
                <a:ea typeface="+mj-ea"/>
              </a:rPr>
              <a:t> </a:t>
            </a:r>
            <a:r>
              <a:rPr kumimoji="0" lang="en-US" sz="3600" b="1" i="0" u="none" strike="noStrike" kern="0" cap="none" spc="0" normalizeH="0" baseline="0" noProof="0">
                <a:ln>
                  <a:noFill/>
                </a:ln>
                <a:solidFill>
                  <a:sysClr val="windowText" lastClr="000000"/>
                </a:solidFill>
                <a:effectLst/>
                <a:uLnTx/>
                <a:uFillTx/>
                <a:latin typeface="Palatino Linotype"/>
                <a:ea typeface="+mj-ea"/>
              </a:rPr>
              <a:t>SLR-Parsing</a:t>
            </a:r>
            <a:r>
              <a:rPr kumimoji="0" lang="en-US" sz="3600" b="1" i="0" u="none" strike="noStrike" kern="0" cap="none" spc="-10" normalizeH="0" baseline="0" noProof="0">
                <a:ln>
                  <a:noFill/>
                </a:ln>
                <a:solidFill>
                  <a:sysClr val="windowText" lastClr="000000"/>
                </a:solidFill>
                <a:effectLst/>
                <a:uLnTx/>
                <a:uFillTx/>
                <a:latin typeface="Palatino Linotype"/>
                <a:ea typeface="+mj-ea"/>
              </a:rPr>
              <a:t> </a:t>
            </a:r>
            <a:r>
              <a:rPr kumimoji="0" lang="en-US" sz="3600" b="1" i="0" u="none" strike="noStrike" kern="0" cap="none" spc="-60" normalizeH="0" baseline="0" noProof="0">
                <a:ln>
                  <a:noFill/>
                </a:ln>
                <a:solidFill>
                  <a:sysClr val="windowText" lastClr="000000"/>
                </a:solidFill>
                <a:effectLst/>
                <a:uLnTx/>
                <a:uFillTx/>
                <a:latin typeface="Palatino Linotype"/>
                <a:ea typeface="+mj-ea"/>
              </a:rPr>
              <a:t>Tables</a:t>
            </a:r>
            <a:r>
              <a:rPr kumimoji="0" lang="en-US" sz="3600" b="1" i="0" u="none" strike="noStrike" kern="0" cap="none" spc="-5" normalizeH="0" baseline="0" noProof="0">
                <a:ln>
                  <a:noFill/>
                </a:ln>
                <a:solidFill>
                  <a:sysClr val="windowText" lastClr="000000"/>
                </a:solidFill>
                <a:effectLst/>
                <a:uLnTx/>
                <a:uFillTx/>
                <a:latin typeface="Palatino Linotype"/>
                <a:ea typeface="+mj-ea"/>
              </a:rPr>
              <a:t> </a:t>
            </a:r>
            <a:r>
              <a:rPr kumimoji="0" lang="en-US" sz="3600" b="1" i="0" u="none" strike="noStrike" kern="0" cap="none" spc="0" normalizeH="0" baseline="0" noProof="0">
                <a:ln>
                  <a:noFill/>
                </a:ln>
                <a:solidFill>
                  <a:sysClr val="windowText" lastClr="000000"/>
                </a:solidFill>
                <a:effectLst/>
                <a:uLnTx/>
                <a:uFillTx/>
                <a:latin typeface="Palatino Linotype"/>
                <a:ea typeface="+mj-ea"/>
              </a:rPr>
              <a:t>(2)</a:t>
            </a:r>
          </a:p>
        </p:txBody>
      </p:sp>
      <p:sp>
        <p:nvSpPr>
          <p:cNvPr id="9" name="object 3">
            <a:extLst>
              <a:ext uri="{FF2B5EF4-FFF2-40B4-BE49-F238E27FC236}">
                <a16:creationId xmlns:a16="http://schemas.microsoft.com/office/drawing/2014/main" id="{86B471DA-BB38-C129-369D-92DE5529F010}"/>
              </a:ext>
            </a:extLst>
          </p:cNvPr>
          <p:cNvSpPr txBox="1"/>
          <p:nvPr/>
        </p:nvSpPr>
        <p:spPr>
          <a:xfrm>
            <a:off x="707390" y="1953259"/>
            <a:ext cx="7559040" cy="781685"/>
          </a:xfrm>
          <a:prstGeom prst="rect">
            <a:avLst/>
          </a:prstGeom>
        </p:spPr>
        <p:txBody>
          <a:bodyPr vert="horz" wrap="square" lIns="0" tIns="12700" rIns="0" bIns="0" rtlCol="0">
            <a:spAutoFit/>
          </a:bodyPr>
          <a:lstStyle/>
          <a:p>
            <a:pPr marL="355600" indent="-342900" rtl="0">
              <a:spcBef>
                <a:spcPts val="100"/>
              </a:spcBef>
              <a:buFontTx/>
              <a:buAutoNum type="arabicPeriod" startAt="4"/>
              <a:tabLst>
                <a:tab pos="354965" algn="l"/>
                <a:tab pos="355600" algn="l"/>
              </a:tabLst>
            </a:pPr>
            <a:r>
              <a:rPr kern="1200" spc="-5" dirty="0">
                <a:solidFill>
                  <a:prstClr val="black"/>
                </a:solidFill>
                <a:latin typeface="Palatino Linotype"/>
                <a:cs typeface="Palatino Linotype"/>
              </a:rPr>
              <a:t>All</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entries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not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defined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steps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2</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and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3</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are</a:t>
            </a:r>
            <a:r>
              <a:rPr kern="1200" spc="-5" dirty="0">
                <a:solidFill>
                  <a:prstClr val="black"/>
                </a:solidFill>
                <a:latin typeface="Palatino Linotype"/>
                <a:cs typeface="Palatino Linotype"/>
              </a:rPr>
              <a:t> set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 </a:t>
            </a:r>
            <a:r>
              <a:rPr kern="1200" spc="15" dirty="0">
                <a:solidFill>
                  <a:prstClr val="black"/>
                </a:solidFill>
                <a:latin typeface="Palatino Linotype"/>
                <a:cs typeface="Palatino Linotype"/>
              </a:rPr>
              <a:t>“</a:t>
            </a:r>
            <a:r>
              <a:rPr kern="1200" spc="15" dirty="0">
                <a:solidFill>
                  <a:srgbClr val="FF0000"/>
                </a:solidFill>
                <a:latin typeface="Palatino Linotype"/>
                <a:cs typeface="Palatino Linotype"/>
              </a:rPr>
              <a:t>error</a:t>
            </a:r>
            <a:r>
              <a:rPr kern="1200" spc="15" dirty="0">
                <a:solidFill>
                  <a:prstClr val="black"/>
                </a:solidFill>
                <a:latin typeface="Palatino Linotype"/>
                <a:cs typeface="Palatino Linotype"/>
              </a:rPr>
              <a:t>”</a:t>
            </a:r>
            <a:endParaRPr kern="1200" dirty="0">
              <a:solidFill>
                <a:prstClr val="black"/>
              </a:solidFill>
              <a:latin typeface="Palatino Linotype"/>
              <a:cs typeface="Palatino Linotype"/>
            </a:endParaRPr>
          </a:p>
          <a:p>
            <a:pPr marL="355600" indent="-342900" rtl="0">
              <a:spcBef>
                <a:spcPts val="1630"/>
              </a:spcBef>
              <a:buFontTx/>
              <a:buAutoNum type="arabicPeriod" startAt="4"/>
              <a:tabLst>
                <a:tab pos="354965" algn="l"/>
                <a:tab pos="355600" algn="l"/>
              </a:tabLst>
            </a:pPr>
            <a:r>
              <a:rPr kern="1200" dirty="0">
                <a:solidFill>
                  <a:prstClr val="black"/>
                </a:solidFill>
                <a:latin typeface="Palatino Linotype"/>
                <a:cs typeface="Palatino Linotype"/>
              </a:rPr>
              <a:t>Initial</a:t>
            </a:r>
            <a:r>
              <a:rPr kern="1200" spc="-5" dirty="0">
                <a:solidFill>
                  <a:prstClr val="black"/>
                </a:solidFill>
                <a:latin typeface="Palatino Linotype"/>
                <a:cs typeface="Palatino Linotype"/>
              </a:rPr>
              <a:t> state</a:t>
            </a:r>
            <a:r>
              <a:rPr kern="1200" dirty="0">
                <a:solidFill>
                  <a:prstClr val="black"/>
                </a:solidFill>
                <a:latin typeface="Palatino Linotype"/>
                <a:cs typeface="Palatino Linotype"/>
              </a:rPr>
              <a:t> 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one</a:t>
            </a:r>
            <a:r>
              <a:rPr kern="1200" spc="-5" dirty="0">
                <a:solidFill>
                  <a:prstClr val="black"/>
                </a:solidFill>
                <a:latin typeface="Palatino Linotype"/>
                <a:cs typeface="Palatino Linotype"/>
              </a:rPr>
              <a:t> constructed</a:t>
            </a:r>
            <a:r>
              <a:rPr kern="1200" dirty="0">
                <a:solidFill>
                  <a:prstClr val="black"/>
                </a:solidFill>
                <a:latin typeface="Palatino Linotype"/>
                <a:cs typeface="Palatino Linotype"/>
              </a:rPr>
              <a:t> from</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item</a:t>
            </a:r>
            <a:r>
              <a:rPr kern="1200" spc="-5" dirty="0">
                <a:solidFill>
                  <a:prstClr val="black"/>
                </a:solidFill>
                <a:latin typeface="Palatino Linotype"/>
                <a:cs typeface="Palatino Linotype"/>
              </a:rPr>
              <a:t> set </a:t>
            </a:r>
            <a:r>
              <a:rPr kern="1200" dirty="0">
                <a:solidFill>
                  <a:prstClr val="black"/>
                </a:solidFill>
                <a:latin typeface="Palatino Linotype"/>
                <a:cs typeface="Palatino Linotype"/>
              </a:rPr>
              <a:t>containing</a:t>
            </a:r>
            <a:r>
              <a:rPr kern="1200" spc="-5" dirty="0">
                <a:solidFill>
                  <a:prstClr val="black"/>
                </a:solidFill>
                <a:latin typeface="Palatino Linotype"/>
                <a:cs typeface="Palatino Linotype"/>
              </a:rPr>
              <a:t> </a:t>
            </a:r>
            <a:r>
              <a:rPr kern="1200" spc="-5" dirty="0">
                <a:solidFill>
                  <a:prstClr val="black"/>
                </a:solidFill>
                <a:latin typeface="Cambria Math"/>
                <a:cs typeface="Cambria Math"/>
              </a:rPr>
              <a:t>[𝑆′</a:t>
            </a:r>
            <a:r>
              <a:rPr kern="1200" spc="100" dirty="0">
                <a:solidFill>
                  <a:prstClr val="black"/>
                </a:solidFill>
                <a:latin typeface="Cambria Math"/>
                <a:cs typeface="Cambria Math"/>
              </a:rPr>
              <a:t> </a:t>
            </a:r>
            <a:r>
              <a:rPr kern="1200" spc="-95" dirty="0">
                <a:solidFill>
                  <a:prstClr val="black"/>
                </a:solidFill>
                <a:latin typeface="Cambria Math"/>
                <a:cs typeface="Cambria Math"/>
              </a:rPr>
              <a:t>→</a:t>
            </a:r>
            <a:r>
              <a:rPr lang="en-US" kern="1200" spc="-95" dirty="0">
                <a:solidFill>
                  <a:prstClr val="black"/>
                </a:solidFill>
                <a:latin typeface="Cambria Math"/>
                <a:cs typeface="Cambria Math"/>
              </a:rPr>
              <a:t> </a:t>
            </a:r>
            <a:r>
              <a:rPr lang="en-US" altLang="zh-CN" kern="1200" spc="-95" dirty="0">
                <a:solidFill>
                  <a:prstClr val="black"/>
                </a:solidFill>
                <a:latin typeface="Cambria Math"/>
                <a:cs typeface="Cambria Math"/>
              </a:rPr>
              <a:t>·</a:t>
            </a:r>
            <a:r>
              <a:rPr kern="1200" spc="5" dirty="0">
                <a:solidFill>
                  <a:prstClr val="black"/>
                </a:solidFill>
                <a:latin typeface="Cambria Math"/>
                <a:cs typeface="Cambria Math"/>
              </a:rPr>
              <a:t> </a:t>
            </a:r>
            <a:r>
              <a:rPr kern="1200" spc="15" dirty="0">
                <a:solidFill>
                  <a:prstClr val="black"/>
                </a:solidFill>
                <a:latin typeface="Cambria Math"/>
                <a:cs typeface="Cambria Math"/>
              </a:rPr>
              <a:t>𝑆]</a:t>
            </a:r>
            <a:endParaRPr kern="1200" dirty="0">
              <a:solidFill>
                <a:prstClr val="black"/>
              </a:solidFill>
              <a:latin typeface="Cambria Math"/>
              <a:cs typeface="Cambria Math"/>
            </a:endParaRPr>
          </a:p>
        </p:txBody>
      </p:sp>
      <p:sp>
        <p:nvSpPr>
          <p:cNvPr id="10" name="object 4">
            <a:extLst>
              <a:ext uri="{FF2B5EF4-FFF2-40B4-BE49-F238E27FC236}">
                <a16:creationId xmlns:a16="http://schemas.microsoft.com/office/drawing/2014/main" id="{DFFBAD93-ABD3-1C05-AFC5-59C6DE1806DD}"/>
              </a:ext>
            </a:extLst>
          </p:cNvPr>
          <p:cNvSpPr txBox="1"/>
          <p:nvPr/>
        </p:nvSpPr>
        <p:spPr>
          <a:xfrm>
            <a:off x="797507" y="3429000"/>
            <a:ext cx="7549515" cy="735965"/>
          </a:xfrm>
          <a:prstGeom prst="rect">
            <a:avLst/>
          </a:prstGeom>
          <a:solidFill>
            <a:srgbClr val="FFF2CC"/>
          </a:solidFill>
          <a:ln w="9525">
            <a:solidFill>
              <a:srgbClr val="000000"/>
            </a:solidFill>
          </a:ln>
        </p:spPr>
        <p:txBody>
          <a:bodyPr vert="horz" wrap="square" lIns="0" tIns="2540" rIns="0" bIns="0" rtlCol="0">
            <a:spAutoFit/>
          </a:bodyPr>
          <a:lstStyle/>
          <a:p>
            <a:pPr marL="91440" marR="161290" rtl="0">
              <a:lnSpc>
                <a:spcPct val="120000"/>
              </a:lnSpc>
              <a:spcBef>
                <a:spcPts val="20"/>
              </a:spcBef>
            </a:pPr>
            <a:r>
              <a:rPr kern="1200" dirty="0">
                <a:solidFill>
                  <a:prstClr val="black"/>
                </a:solidFill>
                <a:latin typeface="Palatino Linotype"/>
                <a:cs typeface="Palatino Linotype"/>
              </a:rPr>
              <a:t>If there is no conflict during the parsing table </a:t>
            </a:r>
            <a:r>
              <a:rPr kern="1200" spc="-5" dirty="0">
                <a:solidFill>
                  <a:prstClr val="black"/>
                </a:solidFill>
                <a:latin typeface="Palatino Linotype"/>
                <a:cs typeface="Palatino Linotype"/>
              </a:rPr>
              <a:t>construction </a:t>
            </a:r>
            <a:r>
              <a:rPr kern="1200" dirty="0">
                <a:solidFill>
                  <a:prstClr val="black"/>
                </a:solidFill>
                <a:latin typeface="Palatino Linotype"/>
                <a:cs typeface="Palatino Linotype"/>
              </a:rPr>
              <a:t>(i.e., multiple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actions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for a table </a:t>
            </a:r>
            <a:r>
              <a:rPr kern="1200" spc="-5" dirty="0">
                <a:solidFill>
                  <a:prstClr val="black"/>
                </a:solidFill>
                <a:latin typeface="Palatino Linotype"/>
                <a:cs typeface="Palatino Linotype"/>
              </a:rPr>
              <a:t>entry),</a:t>
            </a:r>
            <a:r>
              <a:rPr kern="1200" dirty="0">
                <a:solidFill>
                  <a:prstClr val="black"/>
                </a:solidFill>
                <a:latin typeface="Palatino Linotype"/>
                <a:cs typeface="Palatino Linotype"/>
              </a:rPr>
              <a:t> the </a:t>
            </a:r>
            <a:r>
              <a:rPr kern="1200" spc="-5" dirty="0">
                <a:solidFill>
                  <a:prstClr val="black"/>
                </a:solidFill>
                <a:latin typeface="Palatino Linotype"/>
                <a:cs typeface="Palatino Linotype"/>
              </a:rPr>
              <a:t>grammar</a:t>
            </a:r>
            <a:r>
              <a:rPr kern="1200" dirty="0">
                <a:solidFill>
                  <a:prstClr val="black"/>
                </a:solidFill>
                <a:latin typeface="Palatino Linotype"/>
                <a:cs typeface="Palatino Linotype"/>
              </a:rPr>
              <a:t> is</a:t>
            </a:r>
            <a:r>
              <a:rPr kern="1200" spc="-5" dirty="0">
                <a:solidFill>
                  <a:prstClr val="black"/>
                </a:solidFill>
                <a:latin typeface="Palatino Linotype"/>
                <a:cs typeface="Palatino Linotype"/>
              </a:rPr>
              <a:t> </a:t>
            </a:r>
            <a:r>
              <a:rPr b="1" kern="1200" spc="-5" dirty="0">
                <a:solidFill>
                  <a:srgbClr val="FF0000"/>
                </a:solidFill>
                <a:latin typeface="Palatino Linotype"/>
                <a:cs typeface="Palatino Linotype"/>
              </a:rPr>
              <a:t>SLR(1)</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422103863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127</a:t>
            </a:fld>
            <a:endParaRPr lang="en-US"/>
          </a:p>
        </p:txBody>
      </p:sp>
      <p:grpSp>
        <p:nvGrpSpPr>
          <p:cNvPr id="17" name="object 2">
            <a:extLst>
              <a:ext uri="{FF2B5EF4-FFF2-40B4-BE49-F238E27FC236}">
                <a16:creationId xmlns:a16="http://schemas.microsoft.com/office/drawing/2014/main" id="{6B3F2C6D-6E6F-5024-44BB-9237E9981551}"/>
              </a:ext>
            </a:extLst>
          </p:cNvPr>
          <p:cNvGrpSpPr/>
          <p:nvPr/>
        </p:nvGrpSpPr>
        <p:grpSpPr>
          <a:xfrm>
            <a:off x="669597" y="1615611"/>
            <a:ext cx="4463415" cy="4688205"/>
            <a:chOff x="669597" y="1615611"/>
            <a:chExt cx="4463415" cy="4688205"/>
          </a:xfrm>
        </p:grpSpPr>
        <p:pic>
          <p:nvPicPr>
            <p:cNvPr id="18" name="object 3">
              <a:extLst>
                <a:ext uri="{FF2B5EF4-FFF2-40B4-BE49-F238E27FC236}">
                  <a16:creationId xmlns:a16="http://schemas.microsoft.com/office/drawing/2014/main" id="{8FFC3B62-2F77-0719-1F25-3F0DB364C422}"/>
                </a:ext>
              </a:extLst>
            </p:cNvPr>
            <p:cNvPicPr/>
            <p:nvPr/>
          </p:nvPicPr>
          <p:blipFill>
            <a:blip r:embed="rId2" cstate="print"/>
            <a:stretch>
              <a:fillRect/>
            </a:stretch>
          </p:blipFill>
          <p:spPr>
            <a:xfrm>
              <a:off x="723872" y="1632864"/>
              <a:ext cx="4409028" cy="4670595"/>
            </a:xfrm>
            <a:prstGeom prst="rect">
              <a:avLst/>
            </a:prstGeom>
          </p:spPr>
        </p:pic>
        <p:sp>
          <p:nvSpPr>
            <p:cNvPr id="19" name="object 4">
              <a:extLst>
                <a:ext uri="{FF2B5EF4-FFF2-40B4-BE49-F238E27FC236}">
                  <a16:creationId xmlns:a16="http://schemas.microsoft.com/office/drawing/2014/main" id="{10BF2290-73C7-D2A7-7B83-AD73305ACE8C}"/>
                </a:ext>
              </a:extLst>
            </p:cNvPr>
            <p:cNvSpPr/>
            <p:nvPr/>
          </p:nvSpPr>
          <p:spPr>
            <a:xfrm>
              <a:off x="675947" y="1621961"/>
              <a:ext cx="864235" cy="1421130"/>
            </a:xfrm>
            <a:custGeom>
              <a:avLst/>
              <a:gdLst/>
              <a:ahLst/>
              <a:cxnLst/>
              <a:rect l="l" t="t" r="r" b="b"/>
              <a:pathLst>
                <a:path w="864235" h="1421130">
                  <a:moveTo>
                    <a:pt x="0" y="0"/>
                  </a:moveTo>
                  <a:lnTo>
                    <a:pt x="863819" y="0"/>
                  </a:lnTo>
                  <a:lnTo>
                    <a:pt x="863819" y="1420783"/>
                  </a:lnTo>
                  <a:lnTo>
                    <a:pt x="0" y="1420783"/>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0" name="object 5">
            <a:extLst>
              <a:ext uri="{FF2B5EF4-FFF2-40B4-BE49-F238E27FC236}">
                <a16:creationId xmlns:a16="http://schemas.microsoft.com/office/drawing/2014/main" id="{2070AAA8-0B8D-E090-C490-2238F406F921}"/>
              </a:ext>
            </a:extLst>
          </p:cNvPr>
          <p:cNvSpPr txBox="1">
            <a:spLocks/>
          </p:cNvSpPr>
          <p:nvPr/>
        </p:nvSpPr>
        <p:spPr>
          <a:xfrm>
            <a:off x="707390" y="524763"/>
            <a:ext cx="274764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r>
              <a:rPr kumimoji="0" lang="en-US" sz="4000" b="1" i="0" u="none" strike="noStrike" kern="0" cap="none" spc="-9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(1)</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8" name="object 13">
            <a:extLst>
              <a:ext uri="{FF2B5EF4-FFF2-40B4-BE49-F238E27FC236}">
                <a16:creationId xmlns:a16="http://schemas.microsoft.com/office/drawing/2014/main" id="{217548A6-FED9-7DC0-C59B-8E985E08B9CD}"/>
              </a:ext>
            </a:extLst>
          </p:cNvPr>
          <p:cNvSpPr txBox="1"/>
          <p:nvPr/>
        </p:nvSpPr>
        <p:spPr>
          <a:xfrm>
            <a:off x="5607645" y="1844824"/>
            <a:ext cx="2887980" cy="3893820"/>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kern="1200" spc="-35" dirty="0">
                <a:solidFill>
                  <a:prstClr val="black"/>
                </a:solidFill>
                <a:latin typeface="Cambria Math"/>
                <a:cs typeface="Cambria Math"/>
              </a:rPr>
              <a:t>A</a:t>
            </a:r>
            <a:r>
              <a:rPr kern="1200" spc="-5" dirty="0">
                <a:solidFill>
                  <a:prstClr val="black"/>
                </a:solidFill>
                <a:latin typeface="Cambria Math"/>
                <a:cs typeface="Cambria Math"/>
              </a:rPr>
              <a:t>CT</a:t>
            </a:r>
            <a:r>
              <a:rPr kern="1200" dirty="0">
                <a:solidFill>
                  <a:prstClr val="black"/>
                </a:solidFill>
                <a:latin typeface="Cambria Math"/>
                <a:cs typeface="Cambria Math"/>
              </a:rPr>
              <a:t>I</a:t>
            </a:r>
            <a:r>
              <a:rPr kern="1200" spc="-5" dirty="0">
                <a:solidFill>
                  <a:prstClr val="black"/>
                </a:solidFill>
                <a:latin typeface="Cambria Math"/>
                <a:cs typeface="Cambria Math"/>
              </a:rPr>
              <a:t>O</a:t>
            </a:r>
            <a:r>
              <a:rPr kern="1200" dirty="0">
                <a:solidFill>
                  <a:prstClr val="black"/>
                </a:solidFill>
                <a:latin typeface="Cambria Math"/>
                <a:cs typeface="Cambria Math"/>
              </a:rPr>
              <a:t>N(0,</a:t>
            </a:r>
            <a:r>
              <a:rPr kern="1200" spc="-95" dirty="0">
                <a:solidFill>
                  <a:prstClr val="black"/>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prstClr val="black"/>
                </a:solidFill>
                <a:latin typeface="Cambria Math"/>
                <a:cs typeface="Cambria Math"/>
              </a:rPr>
              <a:t>s4</a:t>
            </a:r>
            <a:r>
              <a:rPr kern="1200" spc="55" dirty="0">
                <a:solidFill>
                  <a:prstClr val="black"/>
                </a:solidFill>
                <a:latin typeface="Cambria Math"/>
                <a:cs typeface="Cambria Math"/>
              </a:rPr>
              <a:t> </a:t>
            </a:r>
            <a:r>
              <a:rPr kern="1200" dirty="0">
                <a:solidFill>
                  <a:prstClr val="black"/>
                </a:solidFill>
                <a:latin typeface="Palatino Linotype"/>
                <a:cs typeface="Palatino Linotype"/>
              </a:rPr>
              <a:t>(</a:t>
            </a:r>
            <a:r>
              <a:rPr kern="1200" spc="-5" dirty="0">
                <a:solidFill>
                  <a:prstClr val="black"/>
                </a:solidFill>
                <a:latin typeface="Palatino Linotype"/>
                <a:cs typeface="Palatino Linotype"/>
              </a:rPr>
              <a:t>s</a:t>
            </a:r>
            <a:r>
              <a:rPr kern="1200" dirty="0">
                <a:solidFill>
                  <a:prstClr val="black"/>
                </a:solidFill>
                <a:latin typeface="Palatino Linotype"/>
                <a:cs typeface="Palatino Linotype"/>
              </a:rPr>
              <a:t>hift 4)</a:t>
            </a:r>
          </a:p>
          <a:p>
            <a:pPr rtl="0">
              <a:spcBef>
                <a:spcPts val="55"/>
              </a:spcBef>
              <a:buFont typeface="Arial MT"/>
              <a:buChar char="•"/>
            </a:pPr>
            <a:endParaRPr sz="3550" kern="1200" dirty="0">
              <a:solidFill>
                <a:prstClr val="black"/>
              </a:solidFill>
              <a:latin typeface="Palatino Linotype"/>
              <a:cs typeface="Palatino Linotype"/>
            </a:endParaRPr>
          </a:p>
          <a:p>
            <a:pPr marL="243204" indent="-230504" rtl="0">
              <a:buFont typeface="Arial MT"/>
              <a:buChar char="•"/>
              <a:tabLst>
                <a:tab pos="242570" algn="l"/>
                <a:tab pos="243204" algn="l"/>
                <a:tab pos="1704339" algn="l"/>
              </a:tabLst>
            </a:pPr>
            <a:r>
              <a:rPr kern="1200" spc="-10" dirty="0">
                <a:solidFill>
                  <a:prstClr val="black"/>
                </a:solidFill>
                <a:latin typeface="Cambria Math"/>
                <a:cs typeface="Cambria Math"/>
              </a:rPr>
              <a:t>ACTION</a:t>
            </a:r>
            <a:r>
              <a:rPr lang="en-US" kern="1200" spc="-10" dirty="0">
                <a:solidFill>
                  <a:prstClr val="black"/>
                </a:solidFill>
                <a:latin typeface="Cambria Math"/>
                <a:cs typeface="Cambria Math"/>
              </a:rPr>
              <a:t>(</a:t>
            </a:r>
            <a:r>
              <a:rPr kern="1200" dirty="0">
                <a:solidFill>
                  <a:prstClr val="black"/>
                </a:solidFill>
                <a:latin typeface="Cambria Math"/>
                <a:cs typeface="Cambria Math"/>
              </a:rPr>
              <a:t>0,</a:t>
            </a:r>
            <a:r>
              <a:rPr kern="1200" spc="-95" dirty="0">
                <a:solidFill>
                  <a:prstClr val="black"/>
                </a:solidFill>
                <a:latin typeface="Cambria Math"/>
                <a:cs typeface="Cambria Math"/>
              </a:rPr>
              <a:t> </a:t>
            </a:r>
            <a:r>
              <a:rPr kern="1200" spc="-5" dirty="0">
                <a:solidFill>
                  <a:prstClr val="black"/>
                </a:solidFill>
                <a:latin typeface="Cambria Math"/>
                <a:cs typeface="Cambria Math"/>
              </a:rPr>
              <a:t>𝐢𝐝</a:t>
            </a:r>
            <a:r>
              <a:rPr lang="en-US" kern="1200" spc="-5" dirty="0">
                <a:solidFill>
                  <a:prstClr val="black"/>
                </a:solidFill>
                <a:latin typeface="Cambria Math"/>
                <a:cs typeface="Cambria Math"/>
              </a:rPr>
              <a:t>) </a:t>
            </a:r>
            <a:r>
              <a:rPr kern="1200" dirty="0">
                <a:solidFill>
                  <a:prstClr val="black"/>
                </a:solidFill>
                <a:latin typeface="Cambria Math"/>
                <a:cs typeface="Cambria Math"/>
              </a:rPr>
              <a:t>=</a:t>
            </a:r>
            <a:r>
              <a:rPr kern="1200" spc="60" dirty="0">
                <a:solidFill>
                  <a:prstClr val="black"/>
                </a:solidFill>
                <a:latin typeface="Cambria Math"/>
                <a:cs typeface="Cambria Math"/>
              </a:rPr>
              <a:t> </a:t>
            </a:r>
            <a:r>
              <a:rPr kern="1200" dirty="0">
                <a:solidFill>
                  <a:prstClr val="black"/>
                </a:solidFill>
                <a:latin typeface="Cambria Math"/>
                <a:cs typeface="Cambria Math"/>
              </a:rPr>
              <a:t>s5</a:t>
            </a:r>
          </a:p>
          <a:p>
            <a:pPr rtl="0">
              <a:buFont typeface="Arial MT"/>
              <a:buChar char="•"/>
            </a:pPr>
            <a:endParaRPr sz="2100" kern="1200" dirty="0">
              <a:solidFill>
                <a:prstClr val="black"/>
              </a:solidFill>
              <a:latin typeface="Cambria Math"/>
              <a:cs typeface="Cambria Math"/>
            </a:endParaRPr>
          </a:p>
          <a:p>
            <a:pPr rtl="0">
              <a:spcBef>
                <a:spcPts val="20"/>
              </a:spcBef>
              <a:buFont typeface="Arial MT"/>
              <a:buChar char="•"/>
            </a:pPr>
            <a:endParaRPr sz="2100" kern="1200" dirty="0">
              <a:solidFill>
                <a:prstClr val="black"/>
              </a:solidFill>
              <a:latin typeface="Cambria Math"/>
              <a:cs typeface="Cambria Math"/>
            </a:endParaRPr>
          </a:p>
          <a:p>
            <a:pPr marL="243204" indent="-230504" rtl="0">
              <a:buFont typeface="Arial MT"/>
              <a:buChar char="•"/>
              <a:tabLst>
                <a:tab pos="242570" algn="l"/>
                <a:tab pos="243204" algn="l"/>
                <a:tab pos="1397635" algn="l"/>
              </a:tabLst>
            </a:pPr>
            <a:r>
              <a:rPr kern="1200" spc="-15" dirty="0">
                <a:solidFill>
                  <a:prstClr val="black"/>
                </a:solidFill>
                <a:latin typeface="Cambria Math"/>
                <a:cs typeface="Cambria Math"/>
              </a:rPr>
              <a:t>GOTO</a:t>
            </a:r>
            <a:r>
              <a:rPr lang="en-US" kern="1200" spc="-15" dirty="0">
                <a:solidFill>
                  <a:prstClr val="black"/>
                </a:solidFill>
                <a:latin typeface="Cambria Math"/>
                <a:cs typeface="Cambria Math"/>
              </a:rPr>
              <a:t>[</a:t>
            </a:r>
            <a:r>
              <a:rPr kern="1200" dirty="0">
                <a:solidFill>
                  <a:prstClr val="black"/>
                </a:solidFill>
                <a:latin typeface="Cambria Math"/>
                <a:cs typeface="Cambria Math"/>
              </a:rPr>
              <a:t>0,</a:t>
            </a:r>
            <a:r>
              <a:rPr kern="1200" spc="-95" dirty="0">
                <a:solidFill>
                  <a:prstClr val="black"/>
                </a:solidFill>
                <a:latin typeface="Cambria Math"/>
                <a:cs typeface="Cambria Math"/>
              </a:rPr>
              <a:t> </a:t>
            </a:r>
            <a:r>
              <a:rPr kern="1200" dirty="0">
                <a:solidFill>
                  <a:prstClr val="black"/>
                </a:solidFill>
                <a:latin typeface="Cambria Math"/>
                <a:cs typeface="Cambria Math"/>
              </a:rPr>
              <a:t>𝐸</a:t>
            </a:r>
            <a:r>
              <a:rPr lang="en-US" kern="1200" dirty="0">
                <a:solidFill>
                  <a:prstClr val="black"/>
                </a:solidFill>
                <a:latin typeface="Cambria Math"/>
                <a:cs typeface="Cambria Math"/>
              </a:rPr>
              <a:t>]</a:t>
            </a:r>
            <a:r>
              <a:rPr lang="zh-CN" altLang="en-US" kern="1200" dirty="0">
                <a:solidFill>
                  <a:prstClr val="black"/>
                </a:solidFill>
                <a:latin typeface="Cambria Math"/>
                <a:cs typeface="Cambria Math"/>
              </a:rPr>
              <a:t>	</a:t>
            </a:r>
            <a:r>
              <a:rPr kern="1200" dirty="0">
                <a:solidFill>
                  <a:prstClr val="black"/>
                </a:solidFill>
                <a:latin typeface="Cambria Math"/>
                <a:cs typeface="Cambria Math"/>
              </a:rPr>
              <a:t>=</a:t>
            </a:r>
            <a:r>
              <a:rPr kern="1200" spc="5" dirty="0">
                <a:solidFill>
                  <a:prstClr val="black"/>
                </a:solidFill>
                <a:latin typeface="Cambria Math"/>
                <a:cs typeface="Cambria Math"/>
              </a:rPr>
              <a:t> </a:t>
            </a:r>
            <a:r>
              <a:rPr kern="1200" dirty="0">
                <a:solidFill>
                  <a:prstClr val="black"/>
                </a:solidFill>
                <a:latin typeface="Cambria Math"/>
                <a:cs typeface="Cambria Math"/>
              </a:rPr>
              <a:t>1</a:t>
            </a:r>
          </a:p>
          <a:p>
            <a:pPr rtl="0">
              <a:buFont typeface="Arial MT"/>
              <a:buChar char="•"/>
            </a:pPr>
            <a:endParaRPr sz="2100" kern="1200" dirty="0">
              <a:solidFill>
                <a:prstClr val="black"/>
              </a:solidFill>
              <a:latin typeface="Cambria Math"/>
              <a:cs typeface="Cambria Math"/>
            </a:endParaRPr>
          </a:p>
          <a:p>
            <a:pPr rtl="0">
              <a:spcBef>
                <a:spcPts val="55"/>
              </a:spcBef>
              <a:buFont typeface="Arial MT"/>
              <a:buChar char="•"/>
            </a:pPr>
            <a:endParaRPr sz="2050" kern="1200" dirty="0">
              <a:solidFill>
                <a:prstClr val="black"/>
              </a:solidFill>
              <a:latin typeface="Cambria Math"/>
              <a:cs typeface="Cambria Math"/>
            </a:endParaRPr>
          </a:p>
          <a:p>
            <a:pPr marL="243204" indent="-230504" rtl="0">
              <a:buFont typeface="Arial MT"/>
              <a:buChar char="•"/>
              <a:tabLst>
                <a:tab pos="242570" algn="l"/>
                <a:tab pos="243204" algn="l"/>
                <a:tab pos="1387475" algn="l"/>
              </a:tabLst>
            </a:pPr>
            <a:r>
              <a:rPr kern="1200" spc="-15" dirty="0">
                <a:solidFill>
                  <a:prstClr val="black"/>
                </a:solidFill>
                <a:latin typeface="Cambria Math"/>
                <a:cs typeface="Cambria Math"/>
              </a:rPr>
              <a:t>GOTO</a:t>
            </a:r>
            <a:r>
              <a:rPr lang="en-US" kern="1200" spc="229" dirty="0">
                <a:solidFill>
                  <a:prstClr val="black"/>
                </a:solidFill>
                <a:latin typeface="Cambria Math"/>
                <a:cs typeface="Cambria Math"/>
              </a:rPr>
              <a:t>[</a:t>
            </a:r>
            <a:r>
              <a:rPr kern="1200" dirty="0">
                <a:solidFill>
                  <a:prstClr val="black"/>
                </a:solidFill>
                <a:latin typeface="Cambria Math"/>
                <a:cs typeface="Cambria Math"/>
              </a:rPr>
              <a:t>0,</a:t>
            </a:r>
            <a:r>
              <a:rPr kern="1200" spc="-95" dirty="0">
                <a:solidFill>
                  <a:prstClr val="black"/>
                </a:solidFill>
                <a:latin typeface="Cambria Math"/>
                <a:cs typeface="Cambria Math"/>
              </a:rPr>
              <a:t> </a:t>
            </a:r>
            <a:r>
              <a:rPr kern="1200" dirty="0">
                <a:solidFill>
                  <a:prstClr val="black"/>
                </a:solidFill>
                <a:latin typeface="Cambria Math"/>
                <a:cs typeface="Cambria Math"/>
              </a:rPr>
              <a:t>𝑇</a:t>
            </a:r>
            <a:r>
              <a:rPr lang="en-US" kern="1200" dirty="0">
                <a:solidFill>
                  <a:prstClr val="black"/>
                </a:solidFill>
                <a:latin typeface="Cambria Math"/>
                <a:cs typeface="Cambria Math"/>
              </a:rPr>
              <a:t>]</a:t>
            </a:r>
            <a:r>
              <a:rPr kern="1200" dirty="0">
                <a:solidFill>
                  <a:prstClr val="black"/>
                </a:solidFill>
                <a:latin typeface="Cambria Math"/>
                <a:cs typeface="Cambria Math"/>
              </a:rPr>
              <a:t>	=</a:t>
            </a:r>
            <a:r>
              <a:rPr kern="1200" spc="5" dirty="0">
                <a:solidFill>
                  <a:prstClr val="black"/>
                </a:solidFill>
                <a:latin typeface="Cambria Math"/>
                <a:cs typeface="Cambria Math"/>
              </a:rPr>
              <a:t> </a:t>
            </a:r>
            <a:r>
              <a:rPr kern="1200" dirty="0">
                <a:solidFill>
                  <a:prstClr val="black"/>
                </a:solidFill>
                <a:latin typeface="Cambria Math"/>
                <a:cs typeface="Cambria Math"/>
              </a:rPr>
              <a:t>2</a:t>
            </a:r>
          </a:p>
          <a:p>
            <a:pPr rtl="0">
              <a:buFont typeface="Arial MT"/>
              <a:buChar char="•"/>
            </a:pPr>
            <a:endParaRPr sz="2100" kern="1200" dirty="0">
              <a:solidFill>
                <a:prstClr val="black"/>
              </a:solidFill>
              <a:latin typeface="Cambria Math"/>
              <a:cs typeface="Cambria Math"/>
            </a:endParaRPr>
          </a:p>
          <a:p>
            <a:pPr rtl="0">
              <a:spcBef>
                <a:spcPts val="20"/>
              </a:spcBef>
              <a:buFont typeface="Arial MT"/>
              <a:buChar char="•"/>
            </a:pPr>
            <a:endParaRPr sz="2100" kern="1200" dirty="0">
              <a:solidFill>
                <a:prstClr val="black"/>
              </a:solidFill>
              <a:latin typeface="Cambria Math"/>
              <a:cs typeface="Cambria Math"/>
            </a:endParaRPr>
          </a:p>
          <a:p>
            <a:pPr marL="243204" indent="-230504" rtl="0">
              <a:buFont typeface="Arial MT"/>
              <a:buChar char="•"/>
              <a:tabLst>
                <a:tab pos="242570" algn="l"/>
                <a:tab pos="243204" algn="l"/>
                <a:tab pos="1394460" algn="l"/>
              </a:tabLst>
            </a:pPr>
            <a:r>
              <a:rPr kern="1200" spc="-15" dirty="0">
                <a:solidFill>
                  <a:prstClr val="black"/>
                </a:solidFill>
                <a:latin typeface="Cambria Math"/>
                <a:cs typeface="Cambria Math"/>
              </a:rPr>
              <a:t>GOTO</a:t>
            </a:r>
            <a:r>
              <a:rPr lang="en-US" kern="1200" spc="229" dirty="0">
                <a:solidFill>
                  <a:prstClr val="black"/>
                </a:solidFill>
                <a:latin typeface="Cambria Math"/>
                <a:cs typeface="Cambria Math"/>
              </a:rPr>
              <a:t>[</a:t>
            </a:r>
            <a:r>
              <a:rPr kern="1200" dirty="0">
                <a:solidFill>
                  <a:prstClr val="black"/>
                </a:solidFill>
                <a:latin typeface="Cambria Math"/>
                <a:cs typeface="Cambria Math"/>
              </a:rPr>
              <a:t>0,</a:t>
            </a:r>
            <a:r>
              <a:rPr kern="1200" spc="-95" dirty="0">
                <a:solidFill>
                  <a:prstClr val="black"/>
                </a:solidFill>
                <a:latin typeface="Cambria Math"/>
                <a:cs typeface="Cambria Math"/>
              </a:rPr>
              <a:t> </a:t>
            </a:r>
            <a:r>
              <a:rPr kern="1200" dirty="0">
                <a:solidFill>
                  <a:prstClr val="black"/>
                </a:solidFill>
                <a:latin typeface="Cambria Math"/>
                <a:cs typeface="Cambria Math"/>
              </a:rPr>
              <a:t>𝐹</a:t>
            </a:r>
            <a:r>
              <a:rPr lang="en-US" kern="1200" dirty="0">
                <a:solidFill>
                  <a:prstClr val="black"/>
                </a:solidFill>
                <a:latin typeface="Cambria Math"/>
                <a:cs typeface="Cambria Math"/>
              </a:rPr>
              <a:t>]</a:t>
            </a:r>
            <a:r>
              <a:rPr kern="1200" dirty="0">
                <a:solidFill>
                  <a:prstClr val="black"/>
                </a:solidFill>
                <a:latin typeface="Cambria Math"/>
                <a:cs typeface="Cambria Math"/>
              </a:rPr>
              <a:t>	=</a:t>
            </a:r>
            <a:r>
              <a:rPr kern="1200" spc="5" dirty="0">
                <a:solidFill>
                  <a:prstClr val="black"/>
                </a:solidFill>
                <a:latin typeface="Cambria Math"/>
                <a:cs typeface="Cambria Math"/>
              </a:rPr>
              <a:t> </a:t>
            </a:r>
            <a:r>
              <a:rPr kern="1200" dirty="0">
                <a:solidFill>
                  <a:prstClr val="black"/>
                </a:solidFill>
                <a:latin typeface="Cambria Math"/>
                <a:cs typeface="Cambria Math"/>
              </a:rPr>
              <a:t>3</a:t>
            </a:r>
          </a:p>
        </p:txBody>
      </p:sp>
    </p:spTree>
    <p:extLst>
      <p:ext uri="{BB962C8B-B14F-4D97-AF65-F5344CB8AC3E}">
        <p14:creationId xmlns:p14="http://schemas.microsoft.com/office/powerpoint/2010/main" val="9823263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128</a:t>
            </a:fld>
            <a:endParaRPr lang="en-US"/>
          </a:p>
        </p:txBody>
      </p:sp>
      <p:grpSp>
        <p:nvGrpSpPr>
          <p:cNvPr id="13" name="object 2">
            <a:extLst>
              <a:ext uri="{FF2B5EF4-FFF2-40B4-BE49-F238E27FC236}">
                <a16:creationId xmlns:a16="http://schemas.microsoft.com/office/drawing/2014/main" id="{FBBE307A-FCFF-2548-9624-8AFDDAA10FA7}"/>
              </a:ext>
            </a:extLst>
          </p:cNvPr>
          <p:cNvGrpSpPr/>
          <p:nvPr/>
        </p:nvGrpSpPr>
        <p:grpSpPr>
          <a:xfrm>
            <a:off x="723872" y="1432034"/>
            <a:ext cx="4409440" cy="4871720"/>
            <a:chOff x="723872" y="1432034"/>
            <a:chExt cx="4409440" cy="4871720"/>
          </a:xfrm>
        </p:grpSpPr>
        <p:pic>
          <p:nvPicPr>
            <p:cNvPr id="14" name="object 3">
              <a:extLst>
                <a:ext uri="{FF2B5EF4-FFF2-40B4-BE49-F238E27FC236}">
                  <a16:creationId xmlns:a16="http://schemas.microsoft.com/office/drawing/2014/main" id="{40C9087E-2D53-C50A-FE0D-FCBD824FCFB9}"/>
                </a:ext>
              </a:extLst>
            </p:cNvPr>
            <p:cNvPicPr/>
            <p:nvPr/>
          </p:nvPicPr>
          <p:blipFill>
            <a:blip r:embed="rId2" cstate="print"/>
            <a:stretch>
              <a:fillRect/>
            </a:stretch>
          </p:blipFill>
          <p:spPr>
            <a:xfrm>
              <a:off x="723872" y="1632864"/>
              <a:ext cx="4409028" cy="4670595"/>
            </a:xfrm>
            <a:prstGeom prst="rect">
              <a:avLst/>
            </a:prstGeom>
          </p:spPr>
        </p:pic>
        <p:sp>
          <p:nvSpPr>
            <p:cNvPr id="15" name="object 4">
              <a:extLst>
                <a:ext uri="{FF2B5EF4-FFF2-40B4-BE49-F238E27FC236}">
                  <a16:creationId xmlns:a16="http://schemas.microsoft.com/office/drawing/2014/main" id="{BE905EBC-F26C-CDD0-9AF6-86356AB4F0F6}"/>
                </a:ext>
              </a:extLst>
            </p:cNvPr>
            <p:cNvSpPr/>
            <p:nvPr/>
          </p:nvSpPr>
          <p:spPr>
            <a:xfrm>
              <a:off x="1884638" y="1438384"/>
              <a:ext cx="864235" cy="1210310"/>
            </a:xfrm>
            <a:custGeom>
              <a:avLst/>
              <a:gdLst/>
              <a:ahLst/>
              <a:cxnLst/>
              <a:rect l="l" t="t" r="r" b="b"/>
              <a:pathLst>
                <a:path w="864235" h="1210310">
                  <a:moveTo>
                    <a:pt x="0" y="0"/>
                  </a:moveTo>
                  <a:lnTo>
                    <a:pt x="863819" y="0"/>
                  </a:lnTo>
                  <a:lnTo>
                    <a:pt x="863819" y="1210223"/>
                  </a:lnTo>
                  <a:lnTo>
                    <a:pt x="0" y="1210223"/>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6" name="object 5">
            <a:extLst>
              <a:ext uri="{FF2B5EF4-FFF2-40B4-BE49-F238E27FC236}">
                <a16:creationId xmlns:a16="http://schemas.microsoft.com/office/drawing/2014/main" id="{A93D1B59-52D5-A72D-51BF-E90B1F614956}"/>
              </a:ext>
            </a:extLst>
          </p:cNvPr>
          <p:cNvSpPr txBox="1">
            <a:spLocks/>
          </p:cNvSpPr>
          <p:nvPr/>
        </p:nvSpPr>
        <p:spPr>
          <a:xfrm>
            <a:off x="707390" y="524763"/>
            <a:ext cx="274764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r>
              <a:rPr kumimoji="0" lang="en-US" sz="4000" b="1" i="0" u="none" strike="noStrike" kern="0" cap="none" spc="-9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(2)</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7" name="object 6">
            <a:extLst>
              <a:ext uri="{FF2B5EF4-FFF2-40B4-BE49-F238E27FC236}">
                <a16:creationId xmlns:a16="http://schemas.microsoft.com/office/drawing/2014/main" id="{24C034B3-B8D6-770F-63BA-8F0540D3C2FD}"/>
              </a:ext>
            </a:extLst>
          </p:cNvPr>
          <p:cNvSpPr txBox="1"/>
          <p:nvPr/>
        </p:nvSpPr>
        <p:spPr>
          <a:xfrm>
            <a:off x="5622945" y="2026411"/>
            <a:ext cx="2135505" cy="299720"/>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kern="1200" spc="-35" dirty="0">
                <a:solidFill>
                  <a:prstClr val="black"/>
                </a:solidFill>
                <a:latin typeface="Cambria Math"/>
                <a:cs typeface="Cambria Math"/>
              </a:rPr>
              <a:t>A</a:t>
            </a:r>
            <a:r>
              <a:rPr kern="1200" spc="-5" dirty="0">
                <a:solidFill>
                  <a:prstClr val="black"/>
                </a:solidFill>
                <a:latin typeface="Cambria Math"/>
                <a:cs typeface="Cambria Math"/>
              </a:rPr>
              <a:t>CT</a:t>
            </a:r>
            <a:r>
              <a:rPr kern="1200" dirty="0">
                <a:solidFill>
                  <a:prstClr val="black"/>
                </a:solidFill>
                <a:latin typeface="Cambria Math"/>
                <a:cs typeface="Cambria Math"/>
              </a:rPr>
              <a:t>I</a:t>
            </a:r>
            <a:r>
              <a:rPr kern="1200" spc="-5" dirty="0">
                <a:solidFill>
                  <a:prstClr val="black"/>
                </a:solidFill>
                <a:latin typeface="Cambria Math"/>
                <a:cs typeface="Cambria Math"/>
              </a:rPr>
              <a:t>O</a:t>
            </a:r>
            <a:r>
              <a:rPr kern="1200" dirty="0">
                <a:solidFill>
                  <a:prstClr val="black"/>
                </a:solidFill>
                <a:latin typeface="Cambria Math"/>
                <a:cs typeface="Cambria Math"/>
              </a:rPr>
              <a:t>N(1,</a:t>
            </a:r>
            <a:r>
              <a:rPr kern="1200" spc="-95" dirty="0">
                <a:solidFill>
                  <a:prstClr val="black"/>
                </a:solidFill>
                <a:latin typeface="Cambria Math"/>
                <a:cs typeface="Cambria Math"/>
              </a:rPr>
              <a:t> </a:t>
            </a:r>
            <a:r>
              <a:rPr kern="1200" spc="5" dirty="0">
                <a:solidFill>
                  <a:prstClr val="black"/>
                </a:solidFill>
                <a:latin typeface="Cambria Math"/>
                <a:cs typeface="Cambria Math"/>
              </a:rPr>
              <a:t>+</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prstClr val="black"/>
                </a:solidFill>
                <a:latin typeface="Cambria Math"/>
                <a:cs typeface="Cambria Math"/>
              </a:rPr>
              <a:t>s6</a:t>
            </a:r>
            <a:endParaRPr kern="1200">
              <a:solidFill>
                <a:prstClr val="black"/>
              </a:solidFill>
              <a:latin typeface="Cambria Math"/>
              <a:cs typeface="Cambria Math"/>
            </a:endParaRPr>
          </a:p>
        </p:txBody>
      </p:sp>
      <p:sp>
        <p:nvSpPr>
          <p:cNvPr id="18" name="object 7">
            <a:extLst>
              <a:ext uri="{FF2B5EF4-FFF2-40B4-BE49-F238E27FC236}">
                <a16:creationId xmlns:a16="http://schemas.microsoft.com/office/drawing/2014/main" id="{C09EDE1A-62C9-5FEC-5955-EF4883BF3C25}"/>
              </a:ext>
            </a:extLst>
          </p:cNvPr>
          <p:cNvSpPr/>
          <p:nvPr/>
        </p:nvSpPr>
        <p:spPr>
          <a:xfrm>
            <a:off x="6667293" y="2986084"/>
            <a:ext cx="478790" cy="212090"/>
          </a:xfrm>
          <a:custGeom>
            <a:avLst/>
            <a:gdLst/>
            <a:ahLst/>
            <a:cxnLst/>
            <a:rect l="l" t="t" r="r" b="b"/>
            <a:pathLst>
              <a:path w="478790" h="212089">
                <a:moveTo>
                  <a:pt x="410644" y="0"/>
                </a:moveTo>
                <a:lnTo>
                  <a:pt x="407630" y="8594"/>
                </a:lnTo>
                <a:lnTo>
                  <a:pt x="419888" y="13913"/>
                </a:lnTo>
                <a:lnTo>
                  <a:pt x="430429" y="21277"/>
                </a:lnTo>
                <a:lnTo>
                  <a:pt x="451832" y="55409"/>
                </a:lnTo>
                <a:lnTo>
                  <a:pt x="458864" y="104811"/>
                </a:lnTo>
                <a:lnTo>
                  <a:pt x="458080" y="123487"/>
                </a:lnTo>
                <a:lnTo>
                  <a:pt x="446307" y="169217"/>
                </a:lnTo>
                <a:lnTo>
                  <a:pt x="420031" y="197806"/>
                </a:lnTo>
                <a:lnTo>
                  <a:pt x="407965" y="203150"/>
                </a:lnTo>
                <a:lnTo>
                  <a:pt x="410644" y="211744"/>
                </a:lnTo>
                <a:lnTo>
                  <a:pt x="451099" y="187708"/>
                </a:lnTo>
                <a:lnTo>
                  <a:pt x="473822" y="143335"/>
                </a:lnTo>
                <a:lnTo>
                  <a:pt x="478175" y="105928"/>
                </a:lnTo>
                <a:lnTo>
                  <a:pt x="477083" y="86516"/>
                </a:lnTo>
                <a:lnTo>
                  <a:pt x="460706" y="37114"/>
                </a:lnTo>
                <a:lnTo>
                  <a:pt x="425996" y="5542"/>
                </a:lnTo>
                <a:lnTo>
                  <a:pt x="410644" y="0"/>
                </a:lnTo>
                <a:close/>
              </a:path>
              <a:path w="478790" h="212089">
                <a:moveTo>
                  <a:pt x="67530" y="0"/>
                </a:moveTo>
                <a:lnTo>
                  <a:pt x="27147" y="24099"/>
                </a:lnTo>
                <a:lnTo>
                  <a:pt x="4367" y="68577"/>
                </a:lnTo>
                <a:lnTo>
                  <a:pt x="0" y="105928"/>
                </a:lnTo>
                <a:lnTo>
                  <a:pt x="1088" y="125381"/>
                </a:lnTo>
                <a:lnTo>
                  <a:pt x="17412" y="174743"/>
                </a:lnTo>
                <a:lnTo>
                  <a:pt x="52134" y="206209"/>
                </a:lnTo>
                <a:lnTo>
                  <a:pt x="67530" y="211744"/>
                </a:lnTo>
                <a:lnTo>
                  <a:pt x="70209" y="203150"/>
                </a:lnTo>
                <a:lnTo>
                  <a:pt x="58143" y="197806"/>
                </a:lnTo>
                <a:lnTo>
                  <a:pt x="47731" y="190369"/>
                </a:lnTo>
                <a:lnTo>
                  <a:pt x="26373" y="155690"/>
                </a:lnTo>
                <a:lnTo>
                  <a:pt x="19310" y="104811"/>
                </a:lnTo>
                <a:lnTo>
                  <a:pt x="20095" y="86747"/>
                </a:lnTo>
                <a:lnTo>
                  <a:pt x="31866" y="42137"/>
                </a:lnTo>
                <a:lnTo>
                  <a:pt x="58332" y="13913"/>
                </a:lnTo>
                <a:lnTo>
                  <a:pt x="70544" y="8594"/>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8">
            <a:extLst>
              <a:ext uri="{FF2B5EF4-FFF2-40B4-BE49-F238E27FC236}">
                <a16:creationId xmlns:a16="http://schemas.microsoft.com/office/drawing/2014/main" id="{73DDBAE4-BF7B-DD7F-F760-2CC813623420}"/>
              </a:ext>
            </a:extLst>
          </p:cNvPr>
          <p:cNvSpPr txBox="1"/>
          <p:nvPr/>
        </p:nvSpPr>
        <p:spPr>
          <a:xfrm>
            <a:off x="5622945" y="2916428"/>
            <a:ext cx="1460500" cy="299720"/>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kern="1200" spc="-35" dirty="0">
                <a:solidFill>
                  <a:prstClr val="black"/>
                </a:solidFill>
                <a:latin typeface="Cambria Math"/>
                <a:cs typeface="Cambria Math"/>
              </a:rPr>
              <a:t>A</a:t>
            </a:r>
            <a:r>
              <a:rPr kern="1200" spc="-5" dirty="0">
                <a:solidFill>
                  <a:prstClr val="black"/>
                </a:solidFill>
                <a:latin typeface="Cambria Math"/>
                <a:cs typeface="Cambria Math"/>
              </a:rPr>
              <a:t>CT</a:t>
            </a:r>
            <a:r>
              <a:rPr kern="1200" dirty="0">
                <a:solidFill>
                  <a:prstClr val="black"/>
                </a:solidFill>
                <a:latin typeface="Cambria Math"/>
                <a:cs typeface="Cambria Math"/>
              </a:rPr>
              <a:t>I</a:t>
            </a:r>
            <a:r>
              <a:rPr kern="1200" spc="-5" dirty="0">
                <a:solidFill>
                  <a:prstClr val="black"/>
                </a:solidFill>
                <a:latin typeface="Cambria Math"/>
                <a:cs typeface="Cambria Math"/>
              </a:rPr>
              <a:t>O</a:t>
            </a:r>
            <a:r>
              <a:rPr kern="1200" dirty="0">
                <a:solidFill>
                  <a:prstClr val="black"/>
                </a:solidFill>
                <a:latin typeface="Cambria Math"/>
                <a:cs typeface="Cambria Math"/>
              </a:rPr>
              <a:t>N </a:t>
            </a:r>
            <a:r>
              <a:rPr kern="1200" spc="-45" dirty="0">
                <a:solidFill>
                  <a:prstClr val="black"/>
                </a:solidFill>
                <a:latin typeface="Cambria Math"/>
                <a:cs typeface="Cambria Math"/>
              </a:rPr>
              <a:t> </a:t>
            </a:r>
            <a:r>
              <a:rPr kern="1200" dirty="0">
                <a:solidFill>
                  <a:prstClr val="black"/>
                </a:solidFill>
                <a:latin typeface="Cambria Math"/>
                <a:cs typeface="Cambria Math"/>
              </a:rPr>
              <a:t>1,</a:t>
            </a:r>
            <a:r>
              <a:rPr kern="1200" spc="-95" dirty="0">
                <a:solidFill>
                  <a:prstClr val="black"/>
                </a:solidFill>
                <a:latin typeface="Cambria Math"/>
                <a:cs typeface="Cambria Math"/>
              </a:rPr>
              <a:t> </a:t>
            </a:r>
            <a:r>
              <a:rPr kern="1200" dirty="0">
                <a:solidFill>
                  <a:prstClr val="black"/>
                </a:solidFill>
                <a:latin typeface="Cambria Math"/>
                <a:cs typeface="Cambria Math"/>
              </a:rPr>
              <a:t>$</a:t>
            </a:r>
            <a:endParaRPr kern="1200">
              <a:solidFill>
                <a:prstClr val="black"/>
              </a:solidFill>
              <a:latin typeface="Cambria Math"/>
              <a:cs typeface="Cambria Math"/>
            </a:endParaRPr>
          </a:p>
        </p:txBody>
      </p:sp>
      <p:sp>
        <p:nvSpPr>
          <p:cNvPr id="20" name="object 9">
            <a:extLst>
              <a:ext uri="{FF2B5EF4-FFF2-40B4-BE49-F238E27FC236}">
                <a16:creationId xmlns:a16="http://schemas.microsoft.com/office/drawing/2014/main" id="{61FF4C4C-1044-68C7-F110-DE32E4565FB5}"/>
              </a:ext>
            </a:extLst>
          </p:cNvPr>
          <p:cNvSpPr txBox="1"/>
          <p:nvPr/>
        </p:nvSpPr>
        <p:spPr>
          <a:xfrm>
            <a:off x="7216350" y="2916428"/>
            <a:ext cx="887094"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ambria Math"/>
                <a:cs typeface="Cambria Math"/>
              </a:rPr>
              <a:t>=</a:t>
            </a:r>
            <a:r>
              <a:rPr kern="1200" spc="20" dirty="0">
                <a:solidFill>
                  <a:prstClr val="black"/>
                </a:solidFill>
                <a:latin typeface="Cambria Math"/>
                <a:cs typeface="Cambria Math"/>
              </a:rPr>
              <a:t> </a:t>
            </a:r>
            <a:r>
              <a:rPr kern="1200" spc="-5" dirty="0">
                <a:solidFill>
                  <a:prstClr val="black"/>
                </a:solidFill>
                <a:latin typeface="Cambria Math"/>
                <a:cs typeface="Cambria Math"/>
              </a:rPr>
              <a:t>accept</a:t>
            </a:r>
            <a:endParaRPr kern="1200">
              <a:solidFill>
                <a:prstClr val="black"/>
              </a:solidFill>
              <a:latin typeface="Cambria Math"/>
              <a:cs typeface="Cambria Math"/>
            </a:endParaRPr>
          </a:p>
        </p:txBody>
      </p:sp>
    </p:spTree>
    <p:extLst>
      <p:ext uri="{BB962C8B-B14F-4D97-AF65-F5344CB8AC3E}">
        <p14:creationId xmlns:p14="http://schemas.microsoft.com/office/powerpoint/2010/main" val="89879861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129</a:t>
            </a:fld>
            <a:endParaRPr lang="en-US"/>
          </a:p>
        </p:txBody>
      </p:sp>
      <p:grpSp>
        <p:nvGrpSpPr>
          <p:cNvPr id="16" name="object 2">
            <a:extLst>
              <a:ext uri="{FF2B5EF4-FFF2-40B4-BE49-F238E27FC236}">
                <a16:creationId xmlns:a16="http://schemas.microsoft.com/office/drawing/2014/main" id="{47FE59F8-E925-B888-A8E5-41C0EA1B898B}"/>
              </a:ext>
            </a:extLst>
          </p:cNvPr>
          <p:cNvGrpSpPr/>
          <p:nvPr/>
        </p:nvGrpSpPr>
        <p:grpSpPr>
          <a:xfrm>
            <a:off x="723872" y="1632865"/>
            <a:ext cx="4409440" cy="4671060"/>
            <a:chOff x="723872" y="1632865"/>
            <a:chExt cx="4409440" cy="4671060"/>
          </a:xfrm>
        </p:grpSpPr>
        <p:pic>
          <p:nvPicPr>
            <p:cNvPr id="17" name="object 3">
              <a:extLst>
                <a:ext uri="{FF2B5EF4-FFF2-40B4-BE49-F238E27FC236}">
                  <a16:creationId xmlns:a16="http://schemas.microsoft.com/office/drawing/2014/main" id="{09884055-D434-9B09-5FE2-9E2DF19EC68A}"/>
                </a:ext>
              </a:extLst>
            </p:cNvPr>
            <p:cNvPicPr/>
            <p:nvPr/>
          </p:nvPicPr>
          <p:blipFill>
            <a:blip r:embed="rId2" cstate="print"/>
            <a:stretch>
              <a:fillRect/>
            </a:stretch>
          </p:blipFill>
          <p:spPr>
            <a:xfrm>
              <a:off x="723872" y="1632865"/>
              <a:ext cx="4409028" cy="4670595"/>
            </a:xfrm>
            <a:prstGeom prst="rect">
              <a:avLst/>
            </a:prstGeom>
          </p:spPr>
        </p:pic>
        <p:sp>
          <p:nvSpPr>
            <p:cNvPr id="18" name="object 4">
              <a:extLst>
                <a:ext uri="{FF2B5EF4-FFF2-40B4-BE49-F238E27FC236}">
                  <a16:creationId xmlns:a16="http://schemas.microsoft.com/office/drawing/2014/main" id="{85127415-C1E3-394C-12B6-9785FA6D0D21}"/>
                </a:ext>
              </a:extLst>
            </p:cNvPr>
            <p:cNvSpPr/>
            <p:nvPr/>
          </p:nvSpPr>
          <p:spPr>
            <a:xfrm>
              <a:off x="1602827" y="2741671"/>
              <a:ext cx="1229995" cy="687705"/>
            </a:xfrm>
            <a:custGeom>
              <a:avLst/>
              <a:gdLst/>
              <a:ahLst/>
              <a:cxnLst/>
              <a:rect l="l" t="t" r="r" b="b"/>
              <a:pathLst>
                <a:path w="1229995" h="687704">
                  <a:moveTo>
                    <a:pt x="0" y="0"/>
                  </a:moveTo>
                  <a:lnTo>
                    <a:pt x="1229710" y="0"/>
                  </a:lnTo>
                  <a:lnTo>
                    <a:pt x="1229710" y="687330"/>
                  </a:lnTo>
                  <a:lnTo>
                    <a:pt x="0" y="687330"/>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9" name="object 5">
            <a:extLst>
              <a:ext uri="{FF2B5EF4-FFF2-40B4-BE49-F238E27FC236}">
                <a16:creationId xmlns:a16="http://schemas.microsoft.com/office/drawing/2014/main" id="{AFE0A951-96A2-020E-A714-9E1840F839F2}"/>
              </a:ext>
            </a:extLst>
          </p:cNvPr>
          <p:cNvSpPr txBox="1">
            <a:spLocks/>
          </p:cNvSpPr>
          <p:nvPr/>
        </p:nvSpPr>
        <p:spPr>
          <a:xfrm>
            <a:off x="707390" y="524763"/>
            <a:ext cx="274764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r>
              <a:rPr kumimoji="0" lang="en-US" sz="4000" b="1" i="0" u="none" strike="noStrike" kern="0" cap="none" spc="-9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(3)</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0" name="object 6">
            <a:extLst>
              <a:ext uri="{FF2B5EF4-FFF2-40B4-BE49-F238E27FC236}">
                <a16:creationId xmlns:a16="http://schemas.microsoft.com/office/drawing/2014/main" id="{DB55DC4C-BC8E-B033-D8CC-C0C15DEDA9F1}"/>
              </a:ext>
            </a:extLst>
          </p:cNvPr>
          <p:cNvSpPr/>
          <p:nvPr/>
        </p:nvSpPr>
        <p:spPr>
          <a:xfrm>
            <a:off x="6478024" y="2973384"/>
            <a:ext cx="478790" cy="212090"/>
          </a:xfrm>
          <a:custGeom>
            <a:avLst/>
            <a:gdLst/>
            <a:ahLst/>
            <a:cxnLst/>
            <a:rect l="l" t="t" r="r" b="b"/>
            <a:pathLst>
              <a:path w="478790" h="212089">
                <a:moveTo>
                  <a:pt x="410644" y="0"/>
                </a:moveTo>
                <a:lnTo>
                  <a:pt x="407630" y="8594"/>
                </a:lnTo>
                <a:lnTo>
                  <a:pt x="419888" y="13913"/>
                </a:lnTo>
                <a:lnTo>
                  <a:pt x="430429" y="21277"/>
                </a:lnTo>
                <a:lnTo>
                  <a:pt x="451832" y="55409"/>
                </a:lnTo>
                <a:lnTo>
                  <a:pt x="458864" y="104811"/>
                </a:lnTo>
                <a:lnTo>
                  <a:pt x="458080" y="123487"/>
                </a:lnTo>
                <a:lnTo>
                  <a:pt x="446307" y="169217"/>
                </a:lnTo>
                <a:lnTo>
                  <a:pt x="420031" y="197806"/>
                </a:lnTo>
                <a:lnTo>
                  <a:pt x="407965" y="203150"/>
                </a:lnTo>
                <a:lnTo>
                  <a:pt x="410644" y="211744"/>
                </a:lnTo>
                <a:lnTo>
                  <a:pt x="451099" y="187708"/>
                </a:lnTo>
                <a:lnTo>
                  <a:pt x="473822" y="143335"/>
                </a:lnTo>
                <a:lnTo>
                  <a:pt x="478175" y="105928"/>
                </a:lnTo>
                <a:lnTo>
                  <a:pt x="477083" y="86516"/>
                </a:lnTo>
                <a:lnTo>
                  <a:pt x="460706" y="37114"/>
                </a:lnTo>
                <a:lnTo>
                  <a:pt x="425996" y="5542"/>
                </a:lnTo>
                <a:lnTo>
                  <a:pt x="410644" y="0"/>
                </a:lnTo>
                <a:close/>
              </a:path>
              <a:path w="478790" h="212089">
                <a:moveTo>
                  <a:pt x="67530" y="0"/>
                </a:moveTo>
                <a:lnTo>
                  <a:pt x="27148" y="24099"/>
                </a:lnTo>
                <a:lnTo>
                  <a:pt x="4367" y="68577"/>
                </a:lnTo>
                <a:lnTo>
                  <a:pt x="0" y="105928"/>
                </a:lnTo>
                <a:lnTo>
                  <a:pt x="1088" y="125381"/>
                </a:lnTo>
                <a:lnTo>
                  <a:pt x="17412" y="174743"/>
                </a:lnTo>
                <a:lnTo>
                  <a:pt x="52134" y="206209"/>
                </a:lnTo>
                <a:lnTo>
                  <a:pt x="67530" y="211744"/>
                </a:lnTo>
                <a:lnTo>
                  <a:pt x="70209" y="203150"/>
                </a:lnTo>
                <a:lnTo>
                  <a:pt x="58143" y="197806"/>
                </a:lnTo>
                <a:lnTo>
                  <a:pt x="47731" y="190369"/>
                </a:lnTo>
                <a:lnTo>
                  <a:pt x="26373" y="155690"/>
                </a:lnTo>
                <a:lnTo>
                  <a:pt x="19310" y="104811"/>
                </a:lnTo>
                <a:lnTo>
                  <a:pt x="20095" y="86747"/>
                </a:lnTo>
                <a:lnTo>
                  <a:pt x="31866" y="42137"/>
                </a:lnTo>
                <a:lnTo>
                  <a:pt x="58332" y="13913"/>
                </a:lnTo>
                <a:lnTo>
                  <a:pt x="70544" y="8594"/>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1" name="object 7">
            <a:extLst>
              <a:ext uri="{FF2B5EF4-FFF2-40B4-BE49-F238E27FC236}">
                <a16:creationId xmlns:a16="http://schemas.microsoft.com/office/drawing/2014/main" id="{0AE713FA-6428-3D62-7302-4DD840DBCA43}"/>
              </a:ext>
            </a:extLst>
          </p:cNvPr>
          <p:cNvSpPr/>
          <p:nvPr/>
        </p:nvSpPr>
        <p:spPr>
          <a:xfrm>
            <a:off x="6478024" y="3836984"/>
            <a:ext cx="534035" cy="212090"/>
          </a:xfrm>
          <a:custGeom>
            <a:avLst/>
            <a:gdLst/>
            <a:ahLst/>
            <a:cxnLst/>
            <a:rect l="l" t="t" r="r" b="b"/>
            <a:pathLst>
              <a:path w="534034" h="212089">
                <a:moveTo>
                  <a:pt x="466206" y="0"/>
                </a:moveTo>
                <a:lnTo>
                  <a:pt x="463193" y="8594"/>
                </a:lnTo>
                <a:lnTo>
                  <a:pt x="475450" y="13913"/>
                </a:lnTo>
                <a:lnTo>
                  <a:pt x="485992" y="21277"/>
                </a:lnTo>
                <a:lnTo>
                  <a:pt x="507395" y="55409"/>
                </a:lnTo>
                <a:lnTo>
                  <a:pt x="514427" y="104811"/>
                </a:lnTo>
                <a:lnTo>
                  <a:pt x="513642" y="123487"/>
                </a:lnTo>
                <a:lnTo>
                  <a:pt x="501869" y="169217"/>
                </a:lnTo>
                <a:lnTo>
                  <a:pt x="475593" y="197806"/>
                </a:lnTo>
                <a:lnTo>
                  <a:pt x="463528" y="203150"/>
                </a:lnTo>
                <a:lnTo>
                  <a:pt x="466206" y="211744"/>
                </a:lnTo>
                <a:lnTo>
                  <a:pt x="506662" y="187708"/>
                </a:lnTo>
                <a:lnTo>
                  <a:pt x="529384" y="143335"/>
                </a:lnTo>
                <a:lnTo>
                  <a:pt x="533737" y="105928"/>
                </a:lnTo>
                <a:lnTo>
                  <a:pt x="532646" y="86516"/>
                </a:lnTo>
                <a:lnTo>
                  <a:pt x="516268" y="37113"/>
                </a:lnTo>
                <a:lnTo>
                  <a:pt x="481558" y="5542"/>
                </a:lnTo>
                <a:lnTo>
                  <a:pt x="466206" y="0"/>
                </a:lnTo>
                <a:close/>
              </a:path>
              <a:path w="534034" h="212089">
                <a:moveTo>
                  <a:pt x="67530" y="0"/>
                </a:moveTo>
                <a:lnTo>
                  <a:pt x="27148" y="24099"/>
                </a:lnTo>
                <a:lnTo>
                  <a:pt x="4367" y="68576"/>
                </a:lnTo>
                <a:lnTo>
                  <a:pt x="0" y="105928"/>
                </a:lnTo>
                <a:lnTo>
                  <a:pt x="1088" y="125381"/>
                </a:lnTo>
                <a:lnTo>
                  <a:pt x="17412" y="174743"/>
                </a:lnTo>
                <a:lnTo>
                  <a:pt x="52134" y="206209"/>
                </a:lnTo>
                <a:lnTo>
                  <a:pt x="67530" y="211744"/>
                </a:lnTo>
                <a:lnTo>
                  <a:pt x="70209" y="203150"/>
                </a:lnTo>
                <a:lnTo>
                  <a:pt x="58143" y="197806"/>
                </a:lnTo>
                <a:lnTo>
                  <a:pt x="47731" y="190369"/>
                </a:lnTo>
                <a:lnTo>
                  <a:pt x="26373" y="155690"/>
                </a:lnTo>
                <a:lnTo>
                  <a:pt x="19310" y="104811"/>
                </a:lnTo>
                <a:lnTo>
                  <a:pt x="20095" y="86746"/>
                </a:lnTo>
                <a:lnTo>
                  <a:pt x="31866" y="42137"/>
                </a:lnTo>
                <a:lnTo>
                  <a:pt x="58332" y="13913"/>
                </a:lnTo>
                <a:lnTo>
                  <a:pt x="70544" y="8594"/>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8">
            <a:extLst>
              <a:ext uri="{FF2B5EF4-FFF2-40B4-BE49-F238E27FC236}">
                <a16:creationId xmlns:a16="http://schemas.microsoft.com/office/drawing/2014/main" id="{EA53ADD6-0A42-5E25-A316-B7F718ACE60E}"/>
              </a:ext>
            </a:extLst>
          </p:cNvPr>
          <p:cNvSpPr/>
          <p:nvPr/>
        </p:nvSpPr>
        <p:spPr>
          <a:xfrm>
            <a:off x="6478024" y="4713284"/>
            <a:ext cx="457834" cy="212090"/>
          </a:xfrm>
          <a:custGeom>
            <a:avLst/>
            <a:gdLst/>
            <a:ahLst/>
            <a:cxnLst/>
            <a:rect l="l" t="t" r="r" b="b"/>
            <a:pathLst>
              <a:path w="457834" h="212089">
                <a:moveTo>
                  <a:pt x="390006" y="0"/>
                </a:moveTo>
                <a:lnTo>
                  <a:pt x="386993" y="8594"/>
                </a:lnTo>
                <a:lnTo>
                  <a:pt x="399250" y="13913"/>
                </a:lnTo>
                <a:lnTo>
                  <a:pt x="409792" y="21277"/>
                </a:lnTo>
                <a:lnTo>
                  <a:pt x="431195" y="55409"/>
                </a:lnTo>
                <a:lnTo>
                  <a:pt x="438227" y="104811"/>
                </a:lnTo>
                <a:lnTo>
                  <a:pt x="437442" y="123487"/>
                </a:lnTo>
                <a:lnTo>
                  <a:pt x="425669" y="169217"/>
                </a:lnTo>
                <a:lnTo>
                  <a:pt x="399393" y="197806"/>
                </a:lnTo>
                <a:lnTo>
                  <a:pt x="387328" y="203150"/>
                </a:lnTo>
                <a:lnTo>
                  <a:pt x="390006" y="211744"/>
                </a:lnTo>
                <a:lnTo>
                  <a:pt x="430462" y="187708"/>
                </a:lnTo>
                <a:lnTo>
                  <a:pt x="453184" y="143335"/>
                </a:lnTo>
                <a:lnTo>
                  <a:pt x="457537" y="105928"/>
                </a:lnTo>
                <a:lnTo>
                  <a:pt x="456446" y="86516"/>
                </a:lnTo>
                <a:lnTo>
                  <a:pt x="440068" y="37113"/>
                </a:lnTo>
                <a:lnTo>
                  <a:pt x="405358" y="5542"/>
                </a:lnTo>
                <a:lnTo>
                  <a:pt x="390006" y="0"/>
                </a:lnTo>
                <a:close/>
              </a:path>
              <a:path w="457834" h="212089">
                <a:moveTo>
                  <a:pt x="67530" y="0"/>
                </a:moveTo>
                <a:lnTo>
                  <a:pt x="27148" y="24099"/>
                </a:lnTo>
                <a:lnTo>
                  <a:pt x="4367" y="68576"/>
                </a:lnTo>
                <a:lnTo>
                  <a:pt x="0" y="105928"/>
                </a:lnTo>
                <a:lnTo>
                  <a:pt x="1088" y="125381"/>
                </a:lnTo>
                <a:lnTo>
                  <a:pt x="17412" y="174743"/>
                </a:lnTo>
                <a:lnTo>
                  <a:pt x="52134" y="206209"/>
                </a:lnTo>
                <a:lnTo>
                  <a:pt x="67530" y="211744"/>
                </a:lnTo>
                <a:lnTo>
                  <a:pt x="70209" y="203150"/>
                </a:lnTo>
                <a:lnTo>
                  <a:pt x="58143" y="197806"/>
                </a:lnTo>
                <a:lnTo>
                  <a:pt x="47731" y="190369"/>
                </a:lnTo>
                <a:lnTo>
                  <a:pt x="26373" y="155690"/>
                </a:lnTo>
                <a:lnTo>
                  <a:pt x="19310" y="104811"/>
                </a:lnTo>
                <a:lnTo>
                  <a:pt x="20095" y="86746"/>
                </a:lnTo>
                <a:lnTo>
                  <a:pt x="31866" y="42137"/>
                </a:lnTo>
                <a:lnTo>
                  <a:pt x="58332" y="13913"/>
                </a:lnTo>
                <a:lnTo>
                  <a:pt x="70544" y="8594"/>
                </a:lnTo>
                <a:lnTo>
                  <a:pt x="6753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9">
            <a:extLst>
              <a:ext uri="{FF2B5EF4-FFF2-40B4-BE49-F238E27FC236}">
                <a16:creationId xmlns:a16="http://schemas.microsoft.com/office/drawing/2014/main" id="{66884264-DF89-9BAD-6489-0D0263B15114}"/>
              </a:ext>
            </a:extLst>
          </p:cNvPr>
          <p:cNvSpPr txBox="1"/>
          <p:nvPr/>
        </p:nvSpPr>
        <p:spPr>
          <a:xfrm>
            <a:off x="5433677" y="2026411"/>
            <a:ext cx="3256279" cy="2915285"/>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kern="1200" spc="-5" dirty="0">
                <a:solidFill>
                  <a:prstClr val="black"/>
                </a:solidFill>
                <a:latin typeface="Cambria Math"/>
                <a:cs typeface="Cambria Math"/>
              </a:rPr>
              <a:t>ACTION(2,∗)</a:t>
            </a:r>
            <a:r>
              <a:rPr kern="1200" spc="75" dirty="0">
                <a:solidFill>
                  <a:prstClr val="black"/>
                </a:solidFill>
                <a:latin typeface="Cambria Math"/>
                <a:cs typeface="Cambria Math"/>
              </a:rPr>
              <a:t> </a:t>
            </a:r>
            <a:r>
              <a:rPr kern="1200" dirty="0">
                <a:solidFill>
                  <a:prstClr val="black"/>
                </a:solidFill>
                <a:latin typeface="Cambria Math"/>
                <a:cs typeface="Cambria Math"/>
              </a:rPr>
              <a:t>=</a:t>
            </a:r>
            <a:r>
              <a:rPr kern="1200" spc="80" dirty="0">
                <a:solidFill>
                  <a:prstClr val="black"/>
                </a:solidFill>
                <a:latin typeface="Cambria Math"/>
                <a:cs typeface="Cambria Math"/>
              </a:rPr>
              <a:t> </a:t>
            </a:r>
            <a:r>
              <a:rPr kern="1200" dirty="0">
                <a:solidFill>
                  <a:prstClr val="black"/>
                </a:solidFill>
                <a:latin typeface="Cambria Math"/>
                <a:cs typeface="Cambria Math"/>
              </a:rPr>
              <a:t>s7</a:t>
            </a:r>
            <a:endParaRPr kern="1200">
              <a:solidFill>
                <a:prstClr val="black"/>
              </a:solidFill>
              <a:latin typeface="Cambria Math"/>
              <a:cs typeface="Cambria Math"/>
            </a:endParaRPr>
          </a:p>
          <a:p>
            <a:pPr rtl="0">
              <a:buFont typeface="Arial MT"/>
              <a:buChar char="•"/>
            </a:pPr>
            <a:endParaRPr sz="2100" kern="1200">
              <a:solidFill>
                <a:prstClr val="black"/>
              </a:solidFill>
              <a:latin typeface="Cambria Math"/>
              <a:cs typeface="Cambria Math"/>
            </a:endParaRPr>
          </a:p>
          <a:p>
            <a:pPr rtl="0">
              <a:buFont typeface="Arial MT"/>
              <a:buChar char="•"/>
            </a:pPr>
            <a:endParaRPr sz="1950" kern="1200">
              <a:solidFill>
                <a:prstClr val="black"/>
              </a:solidFill>
              <a:latin typeface="Cambria Math"/>
              <a:cs typeface="Cambria Math"/>
            </a:endParaRPr>
          </a:p>
          <a:p>
            <a:pPr marL="243204" indent="-230504" rtl="0">
              <a:buFont typeface="Arial MT"/>
              <a:buChar char="•"/>
              <a:tabLst>
                <a:tab pos="242570" algn="l"/>
                <a:tab pos="243204" algn="l"/>
                <a:tab pos="1605915" algn="l"/>
              </a:tabLst>
            </a:pPr>
            <a:r>
              <a:rPr kern="1200" spc="-10" dirty="0">
                <a:solidFill>
                  <a:prstClr val="black"/>
                </a:solidFill>
                <a:latin typeface="Cambria Math"/>
                <a:cs typeface="Cambria Math"/>
              </a:rPr>
              <a:t>ACTION</a:t>
            </a:r>
            <a:r>
              <a:rPr kern="1200" spc="350" dirty="0">
                <a:solidFill>
                  <a:prstClr val="black"/>
                </a:solidFill>
                <a:latin typeface="Cambria Math"/>
                <a:cs typeface="Cambria Math"/>
              </a:rPr>
              <a:t> </a:t>
            </a:r>
            <a:r>
              <a:rPr kern="1200" dirty="0">
                <a:solidFill>
                  <a:prstClr val="black"/>
                </a:solidFill>
                <a:latin typeface="Cambria Math"/>
                <a:cs typeface="Cambria Math"/>
              </a:rPr>
              <a:t>2,</a:t>
            </a:r>
            <a:r>
              <a:rPr kern="1200" spc="-90" dirty="0">
                <a:solidFill>
                  <a:prstClr val="black"/>
                </a:solidFill>
                <a:latin typeface="Cambria Math"/>
                <a:cs typeface="Cambria Math"/>
              </a:rPr>
              <a:t> </a:t>
            </a:r>
            <a:r>
              <a:rPr kern="1200" dirty="0">
                <a:solidFill>
                  <a:srgbClr val="FF0000"/>
                </a:solidFill>
                <a:latin typeface="Cambria Math"/>
                <a:cs typeface="Cambria Math"/>
              </a:rPr>
              <a:t>$	</a:t>
            </a:r>
            <a:r>
              <a:rPr kern="1200" dirty="0">
                <a:solidFill>
                  <a:prstClr val="black"/>
                </a:solidFill>
                <a:latin typeface="Cambria Math"/>
                <a:cs typeface="Cambria Math"/>
              </a:rPr>
              <a:t>=</a:t>
            </a:r>
            <a:r>
              <a:rPr kern="1200" spc="40" dirty="0">
                <a:solidFill>
                  <a:prstClr val="black"/>
                </a:solidFill>
                <a:latin typeface="Cambria Math"/>
                <a:cs typeface="Cambria Math"/>
              </a:rPr>
              <a:t> </a:t>
            </a:r>
            <a:r>
              <a:rPr kern="1200" spc="-5" dirty="0">
                <a:solidFill>
                  <a:prstClr val="black"/>
                </a:solidFill>
                <a:latin typeface="Palatino Linotype"/>
                <a:cs typeface="Palatino Linotype"/>
              </a:rPr>
              <a:t>reduce</a:t>
            </a:r>
            <a:r>
              <a:rPr kern="1200" spc="-15" dirty="0">
                <a:solidFill>
                  <a:prstClr val="black"/>
                </a:solidFill>
                <a:latin typeface="Palatino Linotype"/>
                <a:cs typeface="Palatino Linotype"/>
              </a:rPr>
              <a:t> </a:t>
            </a:r>
            <a:r>
              <a:rPr kern="1200" dirty="0">
                <a:solidFill>
                  <a:prstClr val="black"/>
                </a:solidFill>
                <a:latin typeface="Cambria Math"/>
                <a:cs typeface="Cambria Math"/>
              </a:rPr>
              <a:t>𝐸</a:t>
            </a:r>
            <a:r>
              <a:rPr kern="1200" spc="155" dirty="0">
                <a:solidFill>
                  <a:prstClr val="black"/>
                </a:solidFill>
                <a:latin typeface="Cambria Math"/>
                <a:cs typeface="Cambria Math"/>
              </a:rPr>
              <a:t> </a:t>
            </a:r>
            <a:r>
              <a:rPr kern="1200" dirty="0">
                <a:solidFill>
                  <a:prstClr val="black"/>
                </a:solidFill>
                <a:latin typeface="Cambria Math"/>
                <a:cs typeface="Cambria Math"/>
              </a:rPr>
              <a:t>→</a:t>
            </a:r>
            <a:r>
              <a:rPr kern="1200" spc="90" dirty="0">
                <a:solidFill>
                  <a:prstClr val="black"/>
                </a:solidFill>
                <a:latin typeface="Cambria Math"/>
                <a:cs typeface="Cambria Math"/>
              </a:rPr>
              <a:t> </a:t>
            </a:r>
            <a:r>
              <a:rPr kern="1200" dirty="0">
                <a:solidFill>
                  <a:prstClr val="black"/>
                </a:solidFill>
                <a:latin typeface="Cambria Math"/>
                <a:cs typeface="Cambria Math"/>
              </a:rPr>
              <a:t>𝑇</a:t>
            </a:r>
            <a:endParaRPr kern="1200">
              <a:solidFill>
                <a:prstClr val="black"/>
              </a:solidFill>
              <a:latin typeface="Cambria Math"/>
              <a:cs typeface="Cambria Math"/>
            </a:endParaRPr>
          </a:p>
          <a:p>
            <a:pPr rtl="0">
              <a:buFont typeface="Arial MT"/>
              <a:buChar char="•"/>
            </a:pPr>
            <a:endParaRPr sz="2400" kern="1200">
              <a:solidFill>
                <a:prstClr val="black"/>
              </a:solidFill>
              <a:latin typeface="Cambria Math"/>
              <a:cs typeface="Cambria Math"/>
            </a:endParaRPr>
          </a:p>
          <a:p>
            <a:pPr marL="243204" indent="-230504" rtl="0">
              <a:spcBef>
                <a:spcPts val="1820"/>
              </a:spcBef>
              <a:buFont typeface="Arial MT"/>
              <a:buChar char="•"/>
              <a:tabLst>
                <a:tab pos="242570" algn="l"/>
                <a:tab pos="243204" algn="l"/>
                <a:tab pos="1661160" algn="l"/>
              </a:tabLst>
            </a:pPr>
            <a:r>
              <a:rPr kern="1200" spc="-10" dirty="0">
                <a:solidFill>
                  <a:prstClr val="black"/>
                </a:solidFill>
                <a:latin typeface="Cambria Math"/>
                <a:cs typeface="Cambria Math"/>
              </a:rPr>
              <a:t>ACTION</a:t>
            </a:r>
            <a:r>
              <a:rPr kern="1200" spc="350" dirty="0">
                <a:solidFill>
                  <a:prstClr val="black"/>
                </a:solidFill>
                <a:latin typeface="Cambria Math"/>
                <a:cs typeface="Cambria Math"/>
              </a:rPr>
              <a:t> </a:t>
            </a:r>
            <a:r>
              <a:rPr kern="1200" dirty="0">
                <a:solidFill>
                  <a:prstClr val="black"/>
                </a:solidFill>
                <a:latin typeface="Cambria Math"/>
                <a:cs typeface="Cambria Math"/>
              </a:rPr>
              <a:t>2,</a:t>
            </a:r>
            <a:r>
              <a:rPr kern="1200" spc="-90" dirty="0">
                <a:solidFill>
                  <a:prstClr val="black"/>
                </a:solidFill>
                <a:latin typeface="Cambria Math"/>
                <a:cs typeface="Cambria Math"/>
              </a:rPr>
              <a:t> </a:t>
            </a:r>
            <a:r>
              <a:rPr kern="1200" dirty="0">
                <a:solidFill>
                  <a:srgbClr val="FF0000"/>
                </a:solidFill>
                <a:latin typeface="Cambria Math"/>
                <a:cs typeface="Cambria Math"/>
              </a:rPr>
              <a:t>+	</a:t>
            </a:r>
            <a:r>
              <a:rPr kern="1200" dirty="0">
                <a:solidFill>
                  <a:prstClr val="black"/>
                </a:solidFill>
                <a:latin typeface="Cambria Math"/>
                <a:cs typeface="Cambria Math"/>
              </a:rPr>
              <a:t>=</a:t>
            </a:r>
            <a:r>
              <a:rPr kern="1200" spc="35" dirty="0">
                <a:solidFill>
                  <a:prstClr val="black"/>
                </a:solidFill>
                <a:latin typeface="Cambria Math"/>
                <a:cs typeface="Cambria Math"/>
              </a:rPr>
              <a:t> </a:t>
            </a:r>
            <a:r>
              <a:rPr kern="1200" spc="-5" dirty="0">
                <a:solidFill>
                  <a:prstClr val="black"/>
                </a:solidFill>
                <a:latin typeface="Palatino Linotype"/>
                <a:cs typeface="Palatino Linotype"/>
              </a:rPr>
              <a:t>reduce</a:t>
            </a:r>
            <a:r>
              <a:rPr kern="1200" spc="-15" dirty="0">
                <a:solidFill>
                  <a:prstClr val="black"/>
                </a:solidFill>
                <a:latin typeface="Palatino Linotype"/>
                <a:cs typeface="Palatino Linotype"/>
              </a:rPr>
              <a:t> </a:t>
            </a:r>
            <a:r>
              <a:rPr kern="1200" dirty="0">
                <a:solidFill>
                  <a:prstClr val="black"/>
                </a:solidFill>
                <a:latin typeface="Cambria Math"/>
                <a:cs typeface="Cambria Math"/>
              </a:rPr>
              <a:t>𝐸</a:t>
            </a:r>
            <a:r>
              <a:rPr kern="1200" spc="150" dirty="0">
                <a:solidFill>
                  <a:prstClr val="black"/>
                </a:solidFill>
                <a:latin typeface="Cambria Math"/>
                <a:cs typeface="Cambria Math"/>
              </a:rPr>
              <a:t> </a:t>
            </a:r>
            <a:r>
              <a:rPr kern="1200" dirty="0">
                <a:solidFill>
                  <a:prstClr val="black"/>
                </a:solidFill>
                <a:latin typeface="Cambria Math"/>
                <a:cs typeface="Cambria Math"/>
              </a:rPr>
              <a:t>→</a:t>
            </a:r>
            <a:r>
              <a:rPr kern="1200" spc="90" dirty="0">
                <a:solidFill>
                  <a:prstClr val="black"/>
                </a:solidFill>
                <a:latin typeface="Cambria Math"/>
                <a:cs typeface="Cambria Math"/>
              </a:rPr>
              <a:t> </a:t>
            </a:r>
            <a:r>
              <a:rPr kern="1200" dirty="0">
                <a:solidFill>
                  <a:prstClr val="black"/>
                </a:solidFill>
                <a:latin typeface="Cambria Math"/>
                <a:cs typeface="Cambria Math"/>
              </a:rPr>
              <a:t>𝑇</a:t>
            </a:r>
            <a:endParaRPr kern="1200">
              <a:solidFill>
                <a:prstClr val="black"/>
              </a:solidFill>
              <a:latin typeface="Cambria Math"/>
              <a:cs typeface="Cambria Math"/>
            </a:endParaRPr>
          </a:p>
          <a:p>
            <a:pPr rtl="0">
              <a:buFont typeface="Arial MT"/>
              <a:buChar char="•"/>
            </a:pPr>
            <a:endParaRPr sz="2400" kern="1200">
              <a:solidFill>
                <a:prstClr val="black"/>
              </a:solidFill>
              <a:latin typeface="Cambria Math"/>
              <a:cs typeface="Cambria Math"/>
            </a:endParaRPr>
          </a:p>
          <a:p>
            <a:pPr marL="243204" indent="-230504" rtl="0">
              <a:spcBef>
                <a:spcPts val="1914"/>
              </a:spcBef>
              <a:buFont typeface="Arial MT"/>
              <a:buChar char="•"/>
              <a:tabLst>
                <a:tab pos="242570" algn="l"/>
                <a:tab pos="243204" algn="l"/>
                <a:tab pos="1584960" algn="l"/>
              </a:tabLst>
            </a:pPr>
            <a:r>
              <a:rPr kern="1200" spc="-10" dirty="0">
                <a:solidFill>
                  <a:prstClr val="black"/>
                </a:solidFill>
                <a:latin typeface="Cambria Math"/>
                <a:cs typeface="Cambria Math"/>
              </a:rPr>
              <a:t>ACTION</a:t>
            </a:r>
            <a:r>
              <a:rPr kern="1200" spc="350" dirty="0">
                <a:solidFill>
                  <a:prstClr val="black"/>
                </a:solidFill>
                <a:latin typeface="Cambria Math"/>
                <a:cs typeface="Cambria Math"/>
              </a:rPr>
              <a:t> </a:t>
            </a:r>
            <a:r>
              <a:rPr kern="1200" dirty="0">
                <a:solidFill>
                  <a:prstClr val="black"/>
                </a:solidFill>
                <a:latin typeface="Cambria Math"/>
                <a:cs typeface="Cambria Math"/>
              </a:rPr>
              <a:t>2,</a:t>
            </a:r>
            <a:r>
              <a:rPr kern="1200" spc="-90" dirty="0">
                <a:solidFill>
                  <a:prstClr val="black"/>
                </a:solidFill>
                <a:latin typeface="Cambria Math"/>
                <a:cs typeface="Cambria Math"/>
              </a:rPr>
              <a:t> </a:t>
            </a:r>
            <a:r>
              <a:rPr kern="1200" dirty="0">
                <a:solidFill>
                  <a:srgbClr val="FF0000"/>
                </a:solidFill>
                <a:latin typeface="Cambria Math"/>
                <a:cs typeface="Cambria Math"/>
              </a:rPr>
              <a:t>)	</a:t>
            </a:r>
            <a:r>
              <a:rPr kern="1200" dirty="0">
                <a:solidFill>
                  <a:prstClr val="black"/>
                </a:solidFill>
                <a:latin typeface="Cambria Math"/>
                <a:cs typeface="Cambria Math"/>
              </a:rPr>
              <a:t>=</a:t>
            </a:r>
            <a:r>
              <a:rPr kern="1200" spc="40" dirty="0">
                <a:solidFill>
                  <a:prstClr val="black"/>
                </a:solidFill>
                <a:latin typeface="Cambria Math"/>
                <a:cs typeface="Cambria Math"/>
              </a:rPr>
              <a:t> </a:t>
            </a:r>
            <a:r>
              <a:rPr kern="1200" spc="-5" dirty="0">
                <a:solidFill>
                  <a:prstClr val="black"/>
                </a:solidFill>
                <a:latin typeface="Palatino Linotype"/>
                <a:cs typeface="Palatino Linotype"/>
              </a:rPr>
              <a:t>reduce</a:t>
            </a:r>
            <a:r>
              <a:rPr kern="1200" spc="-15" dirty="0">
                <a:solidFill>
                  <a:prstClr val="black"/>
                </a:solidFill>
                <a:latin typeface="Palatino Linotype"/>
                <a:cs typeface="Palatino Linotype"/>
              </a:rPr>
              <a:t> </a:t>
            </a:r>
            <a:r>
              <a:rPr kern="1200" dirty="0">
                <a:solidFill>
                  <a:prstClr val="black"/>
                </a:solidFill>
                <a:latin typeface="Cambria Math"/>
                <a:cs typeface="Cambria Math"/>
              </a:rPr>
              <a:t>𝐸</a:t>
            </a:r>
            <a:r>
              <a:rPr kern="1200" spc="160" dirty="0">
                <a:solidFill>
                  <a:prstClr val="black"/>
                </a:solidFill>
                <a:latin typeface="Cambria Math"/>
                <a:cs typeface="Cambria Math"/>
              </a:rPr>
              <a:t> </a:t>
            </a:r>
            <a:r>
              <a:rPr kern="1200" dirty="0">
                <a:solidFill>
                  <a:prstClr val="black"/>
                </a:solidFill>
                <a:latin typeface="Cambria Math"/>
                <a:cs typeface="Cambria Math"/>
              </a:rPr>
              <a:t>→</a:t>
            </a:r>
            <a:r>
              <a:rPr kern="1200" spc="85" dirty="0">
                <a:solidFill>
                  <a:prstClr val="black"/>
                </a:solidFill>
                <a:latin typeface="Cambria Math"/>
                <a:cs typeface="Cambria Math"/>
              </a:rPr>
              <a:t> </a:t>
            </a:r>
            <a:r>
              <a:rPr kern="1200" dirty="0">
                <a:solidFill>
                  <a:prstClr val="black"/>
                </a:solidFill>
                <a:latin typeface="Cambria Math"/>
                <a:cs typeface="Cambria Math"/>
              </a:rPr>
              <a:t>𝑇</a:t>
            </a:r>
            <a:endParaRPr kern="1200">
              <a:solidFill>
                <a:prstClr val="black"/>
              </a:solidFill>
              <a:latin typeface="Cambria Math"/>
              <a:cs typeface="Cambria Math"/>
            </a:endParaRPr>
          </a:p>
        </p:txBody>
      </p:sp>
      <p:sp>
        <p:nvSpPr>
          <p:cNvPr id="24" name="object 10">
            <a:extLst>
              <a:ext uri="{FF2B5EF4-FFF2-40B4-BE49-F238E27FC236}">
                <a16:creationId xmlns:a16="http://schemas.microsoft.com/office/drawing/2014/main" id="{269BF0C5-52FA-8219-2C0A-08B0FD3413FA}"/>
              </a:ext>
            </a:extLst>
          </p:cNvPr>
          <p:cNvSpPr/>
          <p:nvPr/>
        </p:nvSpPr>
        <p:spPr>
          <a:xfrm>
            <a:off x="6928938" y="5602284"/>
            <a:ext cx="281940" cy="212090"/>
          </a:xfrm>
          <a:custGeom>
            <a:avLst/>
            <a:gdLst/>
            <a:ahLst/>
            <a:cxnLst/>
            <a:rect l="l" t="t" r="r" b="b"/>
            <a:pathLst>
              <a:path w="281940" h="212089">
                <a:moveTo>
                  <a:pt x="213794" y="0"/>
                </a:moveTo>
                <a:lnTo>
                  <a:pt x="210780" y="8594"/>
                </a:lnTo>
                <a:lnTo>
                  <a:pt x="223038" y="13914"/>
                </a:lnTo>
                <a:lnTo>
                  <a:pt x="233579" y="21277"/>
                </a:lnTo>
                <a:lnTo>
                  <a:pt x="254982" y="55409"/>
                </a:lnTo>
                <a:lnTo>
                  <a:pt x="262014" y="104812"/>
                </a:lnTo>
                <a:lnTo>
                  <a:pt x="261230" y="123487"/>
                </a:lnTo>
                <a:lnTo>
                  <a:pt x="249457" y="169217"/>
                </a:lnTo>
                <a:lnTo>
                  <a:pt x="223181" y="197806"/>
                </a:lnTo>
                <a:lnTo>
                  <a:pt x="211115" y="203150"/>
                </a:lnTo>
                <a:lnTo>
                  <a:pt x="213794" y="211745"/>
                </a:lnTo>
                <a:lnTo>
                  <a:pt x="254250" y="187708"/>
                </a:lnTo>
                <a:lnTo>
                  <a:pt x="276972" y="143335"/>
                </a:lnTo>
                <a:lnTo>
                  <a:pt x="281325" y="105928"/>
                </a:lnTo>
                <a:lnTo>
                  <a:pt x="280233" y="86516"/>
                </a:lnTo>
                <a:lnTo>
                  <a:pt x="263856" y="37114"/>
                </a:lnTo>
                <a:lnTo>
                  <a:pt x="229146" y="5542"/>
                </a:lnTo>
                <a:lnTo>
                  <a:pt x="213794" y="0"/>
                </a:lnTo>
                <a:close/>
              </a:path>
              <a:path w="281940" h="212089">
                <a:moveTo>
                  <a:pt x="67529" y="0"/>
                </a:moveTo>
                <a:lnTo>
                  <a:pt x="27147" y="24099"/>
                </a:lnTo>
                <a:lnTo>
                  <a:pt x="4367" y="68577"/>
                </a:lnTo>
                <a:lnTo>
                  <a:pt x="0" y="105928"/>
                </a:lnTo>
                <a:lnTo>
                  <a:pt x="1088" y="125381"/>
                </a:lnTo>
                <a:lnTo>
                  <a:pt x="17412" y="174742"/>
                </a:lnTo>
                <a:lnTo>
                  <a:pt x="52133" y="206209"/>
                </a:lnTo>
                <a:lnTo>
                  <a:pt x="67529" y="211745"/>
                </a:lnTo>
                <a:lnTo>
                  <a:pt x="70209" y="203150"/>
                </a:lnTo>
                <a:lnTo>
                  <a:pt x="58143" y="197806"/>
                </a:lnTo>
                <a:lnTo>
                  <a:pt x="47731" y="190369"/>
                </a:lnTo>
                <a:lnTo>
                  <a:pt x="26373" y="155690"/>
                </a:lnTo>
                <a:lnTo>
                  <a:pt x="19310" y="104812"/>
                </a:lnTo>
                <a:lnTo>
                  <a:pt x="20095" y="86747"/>
                </a:lnTo>
                <a:lnTo>
                  <a:pt x="31866" y="42136"/>
                </a:lnTo>
                <a:lnTo>
                  <a:pt x="58332" y="13914"/>
                </a:lnTo>
                <a:lnTo>
                  <a:pt x="70544" y="8594"/>
                </a:lnTo>
                <a:lnTo>
                  <a:pt x="67529"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11">
            <a:extLst>
              <a:ext uri="{FF2B5EF4-FFF2-40B4-BE49-F238E27FC236}">
                <a16:creationId xmlns:a16="http://schemas.microsoft.com/office/drawing/2014/main" id="{BCBEAC10-4028-966C-3E8F-4EC9345C7BC5}"/>
              </a:ext>
            </a:extLst>
          </p:cNvPr>
          <p:cNvSpPr txBox="1"/>
          <p:nvPr/>
        </p:nvSpPr>
        <p:spPr>
          <a:xfrm>
            <a:off x="6024608" y="5531611"/>
            <a:ext cx="1123315" cy="299720"/>
          </a:xfrm>
          <a:prstGeom prst="rect">
            <a:avLst/>
          </a:prstGeom>
        </p:spPr>
        <p:txBody>
          <a:bodyPr vert="horz" wrap="square" lIns="0" tIns="12700" rIns="0" bIns="0" rtlCol="0">
            <a:spAutoFit/>
          </a:bodyPr>
          <a:lstStyle/>
          <a:p>
            <a:pPr marL="12700" rtl="0">
              <a:spcBef>
                <a:spcPts val="100"/>
              </a:spcBef>
            </a:pPr>
            <a:r>
              <a:rPr kern="1200" spc="-10" dirty="0">
                <a:solidFill>
                  <a:srgbClr val="0432FF"/>
                </a:solidFill>
                <a:latin typeface="Cambria Math"/>
                <a:cs typeface="Cambria Math"/>
              </a:rPr>
              <a:t>FOLLOW</a:t>
            </a:r>
            <a:r>
              <a:rPr kern="1200" spc="260" dirty="0">
                <a:solidFill>
                  <a:srgbClr val="0432FF"/>
                </a:solidFill>
                <a:latin typeface="Cambria Math"/>
                <a:cs typeface="Cambria Math"/>
              </a:rPr>
              <a:t> </a:t>
            </a:r>
            <a:r>
              <a:rPr kern="1200" dirty="0">
                <a:solidFill>
                  <a:srgbClr val="0432FF"/>
                </a:solidFill>
                <a:latin typeface="Cambria Math"/>
                <a:cs typeface="Cambria Math"/>
              </a:rPr>
              <a:t>E</a:t>
            </a:r>
            <a:endParaRPr kern="1200">
              <a:solidFill>
                <a:prstClr val="black"/>
              </a:solidFill>
              <a:latin typeface="Cambria Math"/>
              <a:cs typeface="Cambria Math"/>
            </a:endParaRPr>
          </a:p>
        </p:txBody>
      </p:sp>
      <p:sp>
        <p:nvSpPr>
          <p:cNvPr id="26" name="object 12">
            <a:extLst>
              <a:ext uri="{FF2B5EF4-FFF2-40B4-BE49-F238E27FC236}">
                <a16:creationId xmlns:a16="http://schemas.microsoft.com/office/drawing/2014/main" id="{6D649277-7D8D-B6D4-0145-10EA1432F543}"/>
              </a:ext>
            </a:extLst>
          </p:cNvPr>
          <p:cNvSpPr txBox="1"/>
          <p:nvPr/>
        </p:nvSpPr>
        <p:spPr>
          <a:xfrm>
            <a:off x="7281146" y="5531611"/>
            <a:ext cx="991869" cy="299720"/>
          </a:xfrm>
          <a:prstGeom prst="rect">
            <a:avLst/>
          </a:prstGeom>
        </p:spPr>
        <p:txBody>
          <a:bodyPr vert="horz" wrap="square" lIns="0" tIns="12700" rIns="0" bIns="0" rtlCol="0">
            <a:spAutoFit/>
          </a:bodyPr>
          <a:lstStyle/>
          <a:p>
            <a:pPr marL="12700" rtl="0">
              <a:spcBef>
                <a:spcPts val="100"/>
              </a:spcBef>
            </a:pPr>
            <a:r>
              <a:rPr kern="1200" dirty="0">
                <a:solidFill>
                  <a:srgbClr val="0432FF"/>
                </a:solidFill>
                <a:latin typeface="Cambria Math"/>
                <a:cs typeface="Cambria Math"/>
              </a:rPr>
              <a:t>=</a:t>
            </a:r>
            <a:r>
              <a:rPr kern="1200" spc="105" dirty="0">
                <a:solidFill>
                  <a:srgbClr val="0432FF"/>
                </a:solidFill>
                <a:latin typeface="Cambria Math"/>
                <a:cs typeface="Cambria Math"/>
              </a:rPr>
              <a:t> </a:t>
            </a:r>
            <a:r>
              <a:rPr kern="1200" dirty="0">
                <a:solidFill>
                  <a:srgbClr val="0432FF"/>
                </a:solidFill>
                <a:latin typeface="Cambria Math"/>
                <a:cs typeface="Cambria Math"/>
              </a:rPr>
              <a:t>{</a:t>
            </a:r>
            <a:r>
              <a:rPr kern="1200" dirty="0">
                <a:solidFill>
                  <a:srgbClr val="FF0000"/>
                </a:solidFill>
                <a:latin typeface="Cambria Math"/>
                <a:cs typeface="Cambria Math"/>
              </a:rPr>
              <a:t>$</a:t>
            </a:r>
            <a:r>
              <a:rPr kern="1200" dirty="0">
                <a:solidFill>
                  <a:srgbClr val="0432FF"/>
                </a:solidFill>
                <a:latin typeface="Cambria Math"/>
                <a:cs typeface="Cambria Math"/>
              </a:rPr>
              <a:t>,</a:t>
            </a:r>
            <a:r>
              <a:rPr kern="1200" spc="-95" dirty="0">
                <a:solidFill>
                  <a:srgbClr val="0432FF"/>
                </a:solidFill>
                <a:latin typeface="Cambria Math"/>
                <a:cs typeface="Cambria Math"/>
              </a:rPr>
              <a:t> </a:t>
            </a:r>
            <a:r>
              <a:rPr kern="1200" spc="5" dirty="0">
                <a:solidFill>
                  <a:srgbClr val="FF0000"/>
                </a:solidFill>
                <a:latin typeface="Cambria Math"/>
                <a:cs typeface="Cambria Math"/>
              </a:rPr>
              <a:t>+</a:t>
            </a:r>
            <a:r>
              <a:rPr kern="1200" dirty="0">
                <a:solidFill>
                  <a:srgbClr val="0432FF"/>
                </a:solidFill>
                <a:latin typeface="Cambria Math"/>
                <a:cs typeface="Cambria Math"/>
              </a:rPr>
              <a:t>,</a:t>
            </a:r>
            <a:r>
              <a:rPr kern="1200" spc="-95" dirty="0">
                <a:solidFill>
                  <a:srgbClr val="0432FF"/>
                </a:solidFill>
                <a:latin typeface="Cambria Math"/>
                <a:cs typeface="Cambria Math"/>
              </a:rPr>
              <a:t> </a:t>
            </a:r>
            <a:r>
              <a:rPr kern="1200" dirty="0">
                <a:solidFill>
                  <a:srgbClr val="FF0000"/>
                </a:solidFill>
                <a:latin typeface="Cambria Math"/>
                <a:cs typeface="Cambria Math"/>
              </a:rPr>
              <a:t>)</a:t>
            </a:r>
            <a:r>
              <a:rPr kern="1200" dirty="0">
                <a:solidFill>
                  <a:srgbClr val="0432FF"/>
                </a:solidFill>
                <a:latin typeface="Cambria Math"/>
                <a:cs typeface="Cambria Math"/>
              </a:rPr>
              <a:t>}</a:t>
            </a:r>
            <a:endParaRPr kern="1200">
              <a:solidFill>
                <a:prstClr val="black"/>
              </a:solidFill>
              <a:latin typeface="Cambria Math"/>
              <a:cs typeface="Cambria Math"/>
            </a:endParaRPr>
          </a:p>
        </p:txBody>
      </p:sp>
    </p:spTree>
    <p:extLst>
      <p:ext uri="{BB962C8B-B14F-4D97-AF65-F5344CB8AC3E}">
        <p14:creationId xmlns:p14="http://schemas.microsoft.com/office/powerpoint/2010/main" val="14569071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130</a:t>
            </a:fld>
            <a:endParaRPr lang="en-US"/>
          </a:p>
        </p:txBody>
      </p:sp>
      <p:sp>
        <p:nvSpPr>
          <p:cNvPr id="17" name="object 2">
            <a:extLst>
              <a:ext uri="{FF2B5EF4-FFF2-40B4-BE49-F238E27FC236}">
                <a16:creationId xmlns:a16="http://schemas.microsoft.com/office/drawing/2014/main" id="{4BC8D9F1-B50C-6AE5-3B4E-5D18EDD7D65B}"/>
              </a:ext>
            </a:extLst>
          </p:cNvPr>
          <p:cNvSpPr txBox="1">
            <a:spLocks/>
          </p:cNvSpPr>
          <p:nvPr/>
        </p:nvSpPr>
        <p:spPr>
          <a:xfrm>
            <a:off x="707390" y="524763"/>
            <a:ext cx="455104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Non-SLR</a:t>
            </a:r>
            <a:r>
              <a:rPr kumimoji="0" lang="en-US" sz="4000" b="1" i="0" u="none" strike="noStrike" kern="0" cap="none" spc="-6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Grammar</a:t>
            </a:r>
          </a:p>
        </p:txBody>
      </p:sp>
      <p:sp>
        <p:nvSpPr>
          <p:cNvPr id="18" name="object 3">
            <a:extLst>
              <a:ext uri="{FF2B5EF4-FFF2-40B4-BE49-F238E27FC236}">
                <a16:creationId xmlns:a16="http://schemas.microsoft.com/office/drawing/2014/main" id="{035D6F20-ABA3-C95B-DC62-6C43509E04AC}"/>
              </a:ext>
            </a:extLst>
          </p:cNvPr>
          <p:cNvSpPr txBox="1"/>
          <p:nvPr/>
        </p:nvSpPr>
        <p:spPr>
          <a:xfrm>
            <a:off x="707390" y="1519653"/>
            <a:ext cx="2054225" cy="1684655"/>
          </a:xfrm>
          <a:prstGeom prst="rect">
            <a:avLst/>
          </a:prstGeom>
        </p:spPr>
        <p:txBody>
          <a:bodyPr vert="horz" wrap="square" lIns="0" tIns="152400" rIns="0" bIns="0" rtlCol="0">
            <a:spAutoFit/>
          </a:bodyPr>
          <a:lstStyle/>
          <a:p>
            <a:pPr marL="243204" indent="-230504" rtl="0">
              <a:spcBef>
                <a:spcPts val="1200"/>
              </a:spcBef>
              <a:buFont typeface="Arial MT"/>
              <a:buChar char="•"/>
              <a:tabLst>
                <a:tab pos="242570" algn="l"/>
                <a:tab pos="243204" algn="l"/>
              </a:tabLst>
            </a:pPr>
            <a:r>
              <a:rPr sz="2000" kern="1200" spc="-5" dirty="0">
                <a:solidFill>
                  <a:prstClr val="black"/>
                </a:solidFill>
                <a:latin typeface="Palatino Linotype"/>
                <a:cs typeface="Palatino Linotype"/>
              </a:rPr>
              <a:t>Grammar</a:t>
            </a:r>
            <a:endParaRPr sz="2000" kern="1200">
              <a:solidFill>
                <a:prstClr val="black"/>
              </a:solidFill>
              <a:latin typeface="Palatino Linotype"/>
              <a:cs typeface="Palatino Linotype"/>
            </a:endParaRPr>
          </a:p>
          <a:p>
            <a:pPr marL="698500" lvl="1" indent="-228600" rtl="0">
              <a:spcBef>
                <a:spcPts val="995"/>
              </a:spcBef>
              <a:buFont typeface="Wingdings"/>
              <a:buChar char=""/>
              <a:tabLst>
                <a:tab pos="698500" algn="l"/>
              </a:tabLst>
            </a:pPr>
            <a:r>
              <a:rPr kern="1200" dirty="0">
                <a:solidFill>
                  <a:prstClr val="black"/>
                </a:solidFill>
                <a:latin typeface="Cambria Math"/>
                <a:cs typeface="Cambria Math"/>
              </a:rPr>
              <a:t>𝑆</a:t>
            </a:r>
            <a:r>
              <a:rPr kern="1200" spc="114" dirty="0">
                <a:solidFill>
                  <a:prstClr val="black"/>
                </a:solidFill>
                <a:latin typeface="Cambria Math"/>
                <a:cs typeface="Cambria Math"/>
              </a:rPr>
              <a:t> </a:t>
            </a:r>
            <a:r>
              <a:rPr kern="1200" dirty="0">
                <a:solidFill>
                  <a:prstClr val="black"/>
                </a:solidFill>
                <a:latin typeface="Cambria Math"/>
                <a:cs typeface="Cambria Math"/>
              </a:rPr>
              <a:t>→</a:t>
            </a:r>
            <a:r>
              <a:rPr kern="1200" spc="90" dirty="0">
                <a:solidFill>
                  <a:prstClr val="black"/>
                </a:solidFill>
                <a:latin typeface="Cambria Math"/>
                <a:cs typeface="Cambria Math"/>
              </a:rPr>
              <a:t> </a:t>
            </a:r>
            <a:r>
              <a:rPr kern="1200" dirty="0">
                <a:solidFill>
                  <a:prstClr val="black"/>
                </a:solidFill>
                <a:latin typeface="Cambria Math"/>
                <a:cs typeface="Cambria Math"/>
              </a:rPr>
              <a:t>𝐿</a:t>
            </a:r>
            <a:r>
              <a:rPr kern="1200" spc="125" dirty="0">
                <a:solidFill>
                  <a:prstClr val="black"/>
                </a:solidFill>
                <a:latin typeface="Cambria Math"/>
                <a:cs typeface="Cambria Math"/>
              </a:rPr>
              <a:t> </a:t>
            </a:r>
            <a:r>
              <a:rPr kern="1200" dirty="0">
                <a:solidFill>
                  <a:prstClr val="black"/>
                </a:solidFill>
                <a:latin typeface="Cambria Math"/>
                <a:cs typeface="Cambria Math"/>
              </a:rPr>
              <a:t>=</a:t>
            </a:r>
            <a:r>
              <a:rPr kern="1200" spc="90" dirty="0">
                <a:solidFill>
                  <a:prstClr val="black"/>
                </a:solidFill>
                <a:latin typeface="Cambria Math"/>
                <a:cs typeface="Cambria Math"/>
              </a:rPr>
              <a:t> </a:t>
            </a:r>
            <a:r>
              <a:rPr kern="1200" dirty="0">
                <a:solidFill>
                  <a:prstClr val="black"/>
                </a:solidFill>
                <a:latin typeface="Cambria Math"/>
                <a:cs typeface="Cambria Math"/>
              </a:rPr>
              <a:t>𝑅</a:t>
            </a:r>
            <a:r>
              <a:rPr kern="1200" spc="40"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𝑅</a:t>
            </a:r>
            <a:endParaRPr kern="1200">
              <a:solidFill>
                <a:prstClr val="black"/>
              </a:solidFill>
              <a:latin typeface="Cambria Math"/>
              <a:cs typeface="Cambria Math"/>
            </a:endParaRPr>
          </a:p>
          <a:p>
            <a:pPr marL="698500" lvl="1" indent="-228600" rtl="0">
              <a:spcBef>
                <a:spcPts val="1030"/>
              </a:spcBef>
              <a:buFont typeface="Wingdings"/>
              <a:buChar char=""/>
              <a:tabLst>
                <a:tab pos="698500" algn="l"/>
              </a:tabLst>
            </a:pPr>
            <a:r>
              <a:rPr kern="1200" dirty="0">
                <a:solidFill>
                  <a:prstClr val="black"/>
                </a:solidFill>
                <a:latin typeface="Cambria Math"/>
                <a:cs typeface="Cambria Math"/>
              </a:rPr>
              <a:t>𝐿</a:t>
            </a:r>
            <a:r>
              <a:rPr kern="1200" spc="120"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𝑅</a:t>
            </a:r>
            <a:r>
              <a:rPr kern="1200" spc="35"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spc="-5" dirty="0">
                <a:solidFill>
                  <a:prstClr val="black"/>
                </a:solidFill>
                <a:latin typeface="Cambria Math"/>
                <a:cs typeface="Cambria Math"/>
              </a:rPr>
              <a:t>𝐢𝐝</a:t>
            </a:r>
            <a:endParaRPr kern="1200">
              <a:solidFill>
                <a:prstClr val="black"/>
              </a:solidFill>
              <a:latin typeface="Cambria Math"/>
              <a:cs typeface="Cambria Math"/>
            </a:endParaRPr>
          </a:p>
          <a:p>
            <a:pPr marL="698500" lvl="1" indent="-228600" rtl="0">
              <a:spcBef>
                <a:spcPts val="1055"/>
              </a:spcBef>
              <a:buFont typeface="Wingdings"/>
              <a:buChar char=""/>
              <a:tabLst>
                <a:tab pos="698500" algn="l"/>
              </a:tabLst>
            </a:pPr>
            <a:r>
              <a:rPr kern="1200" dirty="0">
                <a:solidFill>
                  <a:prstClr val="black"/>
                </a:solidFill>
                <a:latin typeface="Cambria Math"/>
                <a:cs typeface="Cambria Math"/>
              </a:rPr>
              <a:t>𝑅</a:t>
            </a:r>
            <a:r>
              <a:rPr kern="1200" spc="120" dirty="0">
                <a:solidFill>
                  <a:prstClr val="black"/>
                </a:solidFill>
                <a:latin typeface="Cambria Math"/>
                <a:cs typeface="Cambria Math"/>
              </a:rPr>
              <a:t> </a:t>
            </a:r>
            <a:r>
              <a:rPr kern="1200" dirty="0">
                <a:solidFill>
                  <a:prstClr val="black"/>
                </a:solidFill>
                <a:latin typeface="Cambria Math"/>
                <a:cs typeface="Cambria Math"/>
              </a:rPr>
              <a:t>→</a:t>
            </a:r>
            <a:r>
              <a:rPr kern="1200" spc="75" dirty="0">
                <a:solidFill>
                  <a:prstClr val="black"/>
                </a:solidFill>
                <a:latin typeface="Cambria Math"/>
                <a:cs typeface="Cambria Math"/>
              </a:rPr>
              <a:t> </a:t>
            </a:r>
            <a:r>
              <a:rPr kern="1200" dirty="0">
                <a:solidFill>
                  <a:prstClr val="black"/>
                </a:solidFill>
                <a:latin typeface="Cambria Math"/>
                <a:cs typeface="Cambria Math"/>
              </a:rPr>
              <a:t>𝐿</a:t>
            </a:r>
            <a:endParaRPr kern="1200">
              <a:solidFill>
                <a:prstClr val="black"/>
              </a:solidFill>
              <a:latin typeface="Cambria Math"/>
              <a:cs typeface="Cambria Math"/>
            </a:endParaRPr>
          </a:p>
        </p:txBody>
      </p:sp>
      <p:sp>
        <p:nvSpPr>
          <p:cNvPr id="19" name="object 4">
            <a:extLst>
              <a:ext uri="{FF2B5EF4-FFF2-40B4-BE49-F238E27FC236}">
                <a16:creationId xmlns:a16="http://schemas.microsoft.com/office/drawing/2014/main" id="{5A17CA67-2B97-1C2A-C434-EAD88FE6C8F5}"/>
              </a:ext>
            </a:extLst>
          </p:cNvPr>
          <p:cNvSpPr/>
          <p:nvPr/>
        </p:nvSpPr>
        <p:spPr>
          <a:xfrm>
            <a:off x="2518410" y="4262119"/>
            <a:ext cx="44450" cy="189230"/>
          </a:xfrm>
          <a:custGeom>
            <a:avLst/>
            <a:gdLst/>
            <a:ahLst/>
            <a:cxnLst/>
            <a:rect l="l" t="t" r="r" b="b"/>
            <a:pathLst>
              <a:path w="44450" h="189229">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5">
            <a:extLst>
              <a:ext uri="{FF2B5EF4-FFF2-40B4-BE49-F238E27FC236}">
                <a16:creationId xmlns:a16="http://schemas.microsoft.com/office/drawing/2014/main" id="{1510D706-5CEE-B24A-3275-56545988D75C}"/>
              </a:ext>
            </a:extLst>
          </p:cNvPr>
          <p:cNvSpPr/>
          <p:nvPr/>
        </p:nvSpPr>
        <p:spPr>
          <a:xfrm>
            <a:off x="2125421" y="4262119"/>
            <a:ext cx="44450" cy="189230"/>
          </a:xfrm>
          <a:custGeom>
            <a:avLst/>
            <a:gdLst/>
            <a:ahLst/>
            <a:cxnLst/>
            <a:rect l="l" t="t" r="r" b="b"/>
            <a:pathLst>
              <a:path w="44450" h="189229">
                <a:moveTo>
                  <a:pt x="44246" y="0"/>
                </a:moveTo>
                <a:lnTo>
                  <a:pt x="0" y="0"/>
                </a:lnTo>
                <a:lnTo>
                  <a:pt x="0" y="7620"/>
                </a:lnTo>
                <a:lnTo>
                  <a:pt x="0" y="181610"/>
                </a:lnTo>
                <a:lnTo>
                  <a:pt x="0" y="189230"/>
                </a:lnTo>
                <a:lnTo>
                  <a:pt x="44246" y="189230"/>
                </a:lnTo>
                <a:lnTo>
                  <a:pt x="44246" y="181610"/>
                </a:lnTo>
                <a:lnTo>
                  <a:pt x="16471" y="181610"/>
                </a:lnTo>
                <a:lnTo>
                  <a:pt x="16471" y="7620"/>
                </a:lnTo>
                <a:lnTo>
                  <a:pt x="44246" y="7620"/>
                </a:lnTo>
                <a:lnTo>
                  <a:pt x="4424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1" name="object 6">
            <a:extLst>
              <a:ext uri="{FF2B5EF4-FFF2-40B4-BE49-F238E27FC236}">
                <a16:creationId xmlns:a16="http://schemas.microsoft.com/office/drawing/2014/main" id="{36BB4DFB-0B74-8846-B635-DD181E4E9DD9}"/>
              </a:ext>
            </a:extLst>
          </p:cNvPr>
          <p:cNvSpPr/>
          <p:nvPr/>
        </p:nvSpPr>
        <p:spPr>
          <a:xfrm>
            <a:off x="2518410" y="4998720"/>
            <a:ext cx="44450" cy="189230"/>
          </a:xfrm>
          <a:custGeom>
            <a:avLst/>
            <a:gdLst/>
            <a:ahLst/>
            <a:cxnLst/>
            <a:rect l="l" t="t" r="r" b="b"/>
            <a:pathLst>
              <a:path w="44450" h="189229">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7">
            <a:extLst>
              <a:ext uri="{FF2B5EF4-FFF2-40B4-BE49-F238E27FC236}">
                <a16:creationId xmlns:a16="http://schemas.microsoft.com/office/drawing/2014/main" id="{94E20357-6720-C26E-47B9-5359070319C7}"/>
              </a:ext>
            </a:extLst>
          </p:cNvPr>
          <p:cNvSpPr/>
          <p:nvPr/>
        </p:nvSpPr>
        <p:spPr>
          <a:xfrm>
            <a:off x="2125421" y="4998720"/>
            <a:ext cx="44450" cy="189230"/>
          </a:xfrm>
          <a:custGeom>
            <a:avLst/>
            <a:gdLst/>
            <a:ahLst/>
            <a:cxnLst/>
            <a:rect l="l" t="t" r="r" b="b"/>
            <a:pathLst>
              <a:path w="44450" h="189229">
                <a:moveTo>
                  <a:pt x="44246" y="0"/>
                </a:moveTo>
                <a:lnTo>
                  <a:pt x="0" y="0"/>
                </a:lnTo>
                <a:lnTo>
                  <a:pt x="0" y="7620"/>
                </a:lnTo>
                <a:lnTo>
                  <a:pt x="0" y="181610"/>
                </a:lnTo>
                <a:lnTo>
                  <a:pt x="0" y="189230"/>
                </a:lnTo>
                <a:lnTo>
                  <a:pt x="44246" y="189230"/>
                </a:lnTo>
                <a:lnTo>
                  <a:pt x="44246" y="181610"/>
                </a:lnTo>
                <a:lnTo>
                  <a:pt x="16471" y="181610"/>
                </a:lnTo>
                <a:lnTo>
                  <a:pt x="16471" y="7620"/>
                </a:lnTo>
                <a:lnTo>
                  <a:pt x="44246" y="7620"/>
                </a:lnTo>
                <a:lnTo>
                  <a:pt x="4424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8">
            <a:extLst>
              <a:ext uri="{FF2B5EF4-FFF2-40B4-BE49-F238E27FC236}">
                <a16:creationId xmlns:a16="http://schemas.microsoft.com/office/drawing/2014/main" id="{D1E3ADE2-EE32-61B2-7E50-6996EBBC234B}"/>
              </a:ext>
            </a:extLst>
          </p:cNvPr>
          <p:cNvSpPr txBox="1"/>
          <p:nvPr/>
        </p:nvSpPr>
        <p:spPr>
          <a:xfrm>
            <a:off x="681990" y="3287014"/>
            <a:ext cx="3497579" cy="2210435"/>
          </a:xfrm>
          <a:prstGeom prst="rect">
            <a:avLst/>
          </a:prstGeom>
        </p:spPr>
        <p:txBody>
          <a:bodyPr vert="horz" wrap="square" lIns="0" tIns="186690" rIns="0" bIns="0" rtlCol="0">
            <a:spAutoFit/>
          </a:bodyPr>
          <a:lstStyle/>
          <a:p>
            <a:pPr marL="268605" indent="-230504" rtl="0">
              <a:spcBef>
                <a:spcPts val="1470"/>
              </a:spcBef>
              <a:buFont typeface="Arial MT"/>
              <a:buChar char="•"/>
              <a:tabLst>
                <a:tab pos="267970" algn="l"/>
                <a:tab pos="268605" algn="l"/>
              </a:tabLst>
            </a:pPr>
            <a:r>
              <a:rPr sz="2000" kern="1200" spc="-5" dirty="0">
                <a:solidFill>
                  <a:prstClr val="black"/>
                </a:solidFill>
                <a:latin typeface="Palatino Linotype"/>
                <a:cs typeface="Palatino Linotype"/>
              </a:rPr>
              <a:t>For</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item</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set</a:t>
            </a:r>
            <a:r>
              <a:rPr sz="2000" kern="1200" spc="-20" dirty="0">
                <a:solidFill>
                  <a:prstClr val="black"/>
                </a:solidFill>
                <a:latin typeface="Palatino Linotype"/>
                <a:cs typeface="Palatino Linotype"/>
              </a:rPr>
              <a:t> </a:t>
            </a:r>
            <a:r>
              <a:rPr sz="2000" kern="1200" spc="-75" dirty="0">
                <a:solidFill>
                  <a:prstClr val="black"/>
                </a:solidFill>
                <a:latin typeface="Cambria Math"/>
                <a:cs typeface="Cambria Math"/>
              </a:rPr>
              <a:t>𝐼</a:t>
            </a:r>
            <a:r>
              <a:rPr lang="en-US" sz="2250" kern="1200" spc="-112" baseline="-14814" dirty="0">
                <a:solidFill>
                  <a:prstClr val="black"/>
                </a:solidFill>
                <a:latin typeface="Cambria Math"/>
                <a:cs typeface="Cambria Math"/>
              </a:rPr>
              <a:t>2</a:t>
            </a:r>
            <a:r>
              <a:rPr sz="2000" kern="1200" spc="-75" dirty="0">
                <a:solidFill>
                  <a:prstClr val="black"/>
                </a:solidFill>
                <a:latin typeface="Palatino Linotype"/>
                <a:cs typeface="Palatino Linotype"/>
              </a:rPr>
              <a:t>:</a:t>
            </a:r>
            <a:endParaRPr sz="2000" kern="1200" dirty="0">
              <a:solidFill>
                <a:prstClr val="black"/>
              </a:solidFill>
              <a:latin typeface="Palatino Linotype"/>
              <a:cs typeface="Palatino Linotype"/>
            </a:endParaRPr>
          </a:p>
          <a:p>
            <a:pPr marL="723900" lvl="1" indent="-228600" rtl="0">
              <a:spcBef>
                <a:spcPts val="1095"/>
              </a:spcBef>
              <a:buFont typeface="Wingdings"/>
              <a:buChar char=""/>
              <a:tabLst>
                <a:tab pos="723265" algn="l"/>
                <a:tab pos="723900" algn="l"/>
              </a:tabLst>
            </a:pPr>
            <a:r>
              <a:rPr sz="1600" kern="1200" dirty="0">
                <a:solidFill>
                  <a:prstClr val="black"/>
                </a:solidFill>
                <a:latin typeface="Palatino Linotype"/>
                <a:cs typeface="Palatino Linotype"/>
              </a:rPr>
              <a:t>According</a:t>
            </a:r>
            <a:r>
              <a:rPr sz="1600" kern="1200" spc="-25" dirty="0">
                <a:solidFill>
                  <a:prstClr val="black"/>
                </a:solidFill>
                <a:latin typeface="Palatino Linotype"/>
                <a:cs typeface="Palatino Linotype"/>
              </a:rPr>
              <a:t> </a:t>
            </a:r>
            <a:r>
              <a:rPr sz="1600" kern="1200" dirty="0">
                <a:solidFill>
                  <a:prstClr val="black"/>
                </a:solidFill>
                <a:latin typeface="Palatino Linotype"/>
                <a:cs typeface="Palatino Linotype"/>
              </a:rPr>
              <a:t>to</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item</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#1:</a:t>
            </a:r>
            <a:endParaRPr sz="1600" kern="1200" dirty="0">
              <a:solidFill>
                <a:prstClr val="black"/>
              </a:solidFill>
              <a:latin typeface="Palatino Linotype"/>
              <a:cs typeface="Palatino Linotype"/>
            </a:endParaRPr>
          </a:p>
          <a:p>
            <a:pPr marL="723900" rtl="0">
              <a:spcBef>
                <a:spcPts val="384"/>
              </a:spcBef>
            </a:pPr>
            <a:r>
              <a:rPr sz="1600" kern="1200" spc="-25" dirty="0">
                <a:solidFill>
                  <a:prstClr val="black"/>
                </a:solidFill>
                <a:latin typeface="Cambria Math"/>
                <a:cs typeface="Cambria Math"/>
              </a:rPr>
              <a:t>A</a:t>
            </a:r>
            <a:r>
              <a:rPr sz="1600" kern="1200" spc="-5" dirty="0">
                <a:solidFill>
                  <a:prstClr val="black"/>
                </a:solidFill>
                <a:latin typeface="Cambria Math"/>
                <a:cs typeface="Cambria Math"/>
              </a:rPr>
              <a:t>C</a:t>
            </a:r>
            <a:r>
              <a:rPr sz="1600" kern="1200" dirty="0">
                <a:solidFill>
                  <a:prstClr val="black"/>
                </a:solidFill>
                <a:latin typeface="Cambria Math"/>
                <a:cs typeface="Cambria Math"/>
              </a:rPr>
              <a:t>T</a:t>
            </a:r>
            <a:r>
              <a:rPr sz="1600" kern="1200" spc="5" dirty="0">
                <a:solidFill>
                  <a:prstClr val="black"/>
                </a:solidFill>
                <a:latin typeface="Cambria Math"/>
                <a:cs typeface="Cambria Math"/>
              </a:rPr>
              <a:t>I</a:t>
            </a:r>
            <a:r>
              <a:rPr sz="1600" kern="1200" dirty="0">
                <a:solidFill>
                  <a:prstClr val="black"/>
                </a:solidFill>
                <a:latin typeface="Cambria Math"/>
                <a:cs typeface="Cambria Math"/>
              </a:rPr>
              <a:t>ON </a:t>
            </a:r>
            <a:r>
              <a:rPr sz="1600" kern="1200" spc="-150" dirty="0">
                <a:solidFill>
                  <a:prstClr val="black"/>
                </a:solidFill>
                <a:latin typeface="Cambria Math"/>
                <a:cs typeface="Cambria Math"/>
              </a:rPr>
              <a:t> </a:t>
            </a:r>
            <a:r>
              <a:rPr sz="1600" kern="1200" dirty="0">
                <a:solidFill>
                  <a:prstClr val="black"/>
                </a:solidFill>
                <a:latin typeface="Cambria Math"/>
                <a:cs typeface="Cambria Math"/>
              </a:rPr>
              <a:t>2,</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  </a:t>
            </a:r>
            <a:r>
              <a:rPr sz="1600" kern="1200" spc="-145" dirty="0">
                <a:solidFill>
                  <a:prstClr val="black"/>
                </a:solidFill>
                <a:latin typeface="Cambria Math"/>
                <a:cs typeface="Cambria Math"/>
              </a:rPr>
              <a:t> </a:t>
            </a:r>
            <a:r>
              <a:rPr sz="1600" kern="1200" spc="5" dirty="0">
                <a:solidFill>
                  <a:prstClr val="black"/>
                </a:solidFill>
                <a:latin typeface="Cambria Math"/>
                <a:cs typeface="Cambria Math"/>
              </a:rPr>
              <a:t>i</a:t>
            </a:r>
            <a:r>
              <a:rPr sz="1600" kern="1200" dirty="0">
                <a:solidFill>
                  <a:prstClr val="black"/>
                </a:solidFill>
                <a:latin typeface="Cambria Math"/>
                <a:cs typeface="Cambria Math"/>
              </a:rPr>
              <a:t>s</a:t>
            </a:r>
            <a:r>
              <a:rPr sz="1600" kern="1200" spc="-5" dirty="0">
                <a:solidFill>
                  <a:prstClr val="black"/>
                </a:solidFill>
                <a:latin typeface="Cambria Math"/>
                <a:cs typeface="Cambria Math"/>
              </a:rPr>
              <a:t> "</a:t>
            </a:r>
            <a:r>
              <a:rPr sz="1600" kern="1200" dirty="0">
                <a:solidFill>
                  <a:srgbClr val="FF0000"/>
                </a:solidFill>
                <a:latin typeface="Cambria Math"/>
                <a:cs typeface="Cambria Math"/>
              </a:rPr>
              <a:t>s6"</a:t>
            </a:r>
            <a:endParaRPr sz="1600" kern="1200" dirty="0">
              <a:solidFill>
                <a:prstClr val="black"/>
              </a:solidFill>
              <a:latin typeface="Cambria Math"/>
              <a:cs typeface="Cambria Math"/>
            </a:endParaRPr>
          </a:p>
          <a:p>
            <a:pPr marL="723900" lvl="1" indent="-228600" rtl="0">
              <a:spcBef>
                <a:spcPts val="1580"/>
              </a:spcBef>
              <a:buFont typeface="Wingdings"/>
              <a:buChar char=""/>
              <a:tabLst>
                <a:tab pos="723265" algn="l"/>
                <a:tab pos="723900" algn="l"/>
              </a:tabLst>
            </a:pPr>
            <a:r>
              <a:rPr sz="1600" kern="1200" dirty="0">
                <a:solidFill>
                  <a:prstClr val="black"/>
                </a:solidFill>
                <a:latin typeface="Palatino Linotype"/>
                <a:cs typeface="Palatino Linotype"/>
              </a:rPr>
              <a:t>According</a:t>
            </a:r>
            <a:r>
              <a:rPr sz="1600" kern="1200" spc="-25" dirty="0">
                <a:solidFill>
                  <a:prstClr val="black"/>
                </a:solidFill>
                <a:latin typeface="Palatino Linotype"/>
                <a:cs typeface="Palatino Linotype"/>
              </a:rPr>
              <a:t> </a:t>
            </a:r>
            <a:r>
              <a:rPr sz="1600" kern="1200" dirty="0">
                <a:solidFill>
                  <a:prstClr val="black"/>
                </a:solidFill>
                <a:latin typeface="Palatino Linotype"/>
                <a:cs typeface="Palatino Linotype"/>
              </a:rPr>
              <a:t>to</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item</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#2:</a:t>
            </a:r>
            <a:endParaRPr sz="1600" kern="1200" dirty="0">
              <a:solidFill>
                <a:prstClr val="black"/>
              </a:solidFill>
              <a:latin typeface="Palatino Linotype"/>
              <a:cs typeface="Palatino Linotype"/>
            </a:endParaRPr>
          </a:p>
          <a:p>
            <a:pPr marL="723900" rtl="0">
              <a:spcBef>
                <a:spcPts val="385"/>
              </a:spcBef>
            </a:pPr>
            <a:r>
              <a:rPr sz="1600" kern="1200" spc="-25" dirty="0">
                <a:solidFill>
                  <a:prstClr val="black"/>
                </a:solidFill>
                <a:latin typeface="Cambria Math"/>
                <a:cs typeface="Cambria Math"/>
              </a:rPr>
              <a:t>A</a:t>
            </a:r>
            <a:r>
              <a:rPr sz="1600" kern="1200" spc="-5" dirty="0">
                <a:solidFill>
                  <a:prstClr val="black"/>
                </a:solidFill>
                <a:latin typeface="Cambria Math"/>
                <a:cs typeface="Cambria Math"/>
              </a:rPr>
              <a:t>C</a:t>
            </a:r>
            <a:r>
              <a:rPr sz="1600" kern="1200" dirty="0">
                <a:solidFill>
                  <a:prstClr val="black"/>
                </a:solidFill>
                <a:latin typeface="Cambria Math"/>
                <a:cs typeface="Cambria Math"/>
              </a:rPr>
              <a:t>T</a:t>
            </a:r>
            <a:r>
              <a:rPr sz="1600" kern="1200" spc="5" dirty="0">
                <a:solidFill>
                  <a:prstClr val="black"/>
                </a:solidFill>
                <a:latin typeface="Cambria Math"/>
                <a:cs typeface="Cambria Math"/>
              </a:rPr>
              <a:t>I</a:t>
            </a:r>
            <a:r>
              <a:rPr sz="1600" kern="1200" dirty="0">
                <a:solidFill>
                  <a:prstClr val="black"/>
                </a:solidFill>
                <a:latin typeface="Cambria Math"/>
                <a:cs typeface="Cambria Math"/>
              </a:rPr>
              <a:t>ON </a:t>
            </a:r>
            <a:r>
              <a:rPr sz="1600" kern="1200" spc="-150" dirty="0">
                <a:solidFill>
                  <a:prstClr val="black"/>
                </a:solidFill>
                <a:latin typeface="Cambria Math"/>
                <a:cs typeface="Cambria Math"/>
              </a:rPr>
              <a:t> </a:t>
            </a:r>
            <a:r>
              <a:rPr sz="1600" kern="1200" dirty="0">
                <a:solidFill>
                  <a:prstClr val="black"/>
                </a:solidFill>
                <a:latin typeface="Cambria Math"/>
                <a:cs typeface="Cambria Math"/>
              </a:rPr>
              <a:t>2,</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  </a:t>
            </a:r>
            <a:r>
              <a:rPr sz="1600" kern="1200" spc="-145" dirty="0">
                <a:solidFill>
                  <a:prstClr val="black"/>
                </a:solidFill>
                <a:latin typeface="Cambria Math"/>
                <a:cs typeface="Cambria Math"/>
              </a:rPr>
              <a:t> </a:t>
            </a:r>
            <a:r>
              <a:rPr sz="1600" kern="1200" spc="5" dirty="0">
                <a:solidFill>
                  <a:prstClr val="black"/>
                </a:solidFill>
                <a:latin typeface="Cambria Math"/>
                <a:cs typeface="Cambria Math"/>
              </a:rPr>
              <a:t>i</a:t>
            </a:r>
            <a:r>
              <a:rPr sz="1600" kern="1200" dirty="0">
                <a:solidFill>
                  <a:prstClr val="black"/>
                </a:solidFill>
                <a:latin typeface="Cambria Math"/>
                <a:cs typeface="Cambria Math"/>
              </a:rPr>
              <a:t>s</a:t>
            </a:r>
            <a:r>
              <a:rPr sz="1600" kern="1200" spc="-5" dirty="0">
                <a:solidFill>
                  <a:prstClr val="black"/>
                </a:solidFill>
                <a:latin typeface="Cambria Math"/>
                <a:cs typeface="Cambria Math"/>
              </a:rPr>
              <a:t> </a:t>
            </a:r>
            <a:r>
              <a:rPr sz="1600" kern="1200" spc="-5" dirty="0">
                <a:solidFill>
                  <a:srgbClr val="FF0000"/>
                </a:solidFill>
                <a:latin typeface="Cambria Math"/>
                <a:cs typeface="Cambria Math"/>
              </a:rPr>
              <a:t>"</a:t>
            </a:r>
            <a:r>
              <a:rPr sz="1600" kern="1200" spc="-25" dirty="0">
                <a:solidFill>
                  <a:srgbClr val="FF0000"/>
                </a:solidFill>
                <a:latin typeface="Cambria Math"/>
                <a:cs typeface="Cambria Math"/>
              </a:rPr>
              <a:t>r</a:t>
            </a:r>
            <a:r>
              <a:rPr sz="1600" kern="1200" spc="-10" dirty="0">
                <a:solidFill>
                  <a:srgbClr val="FF0000"/>
                </a:solidFill>
                <a:latin typeface="Cambria Math"/>
                <a:cs typeface="Cambria Math"/>
              </a:rPr>
              <a:t>e</a:t>
            </a:r>
            <a:r>
              <a:rPr sz="1600" kern="1200" spc="-5" dirty="0">
                <a:solidFill>
                  <a:srgbClr val="FF0000"/>
                </a:solidFill>
                <a:latin typeface="Cambria Math"/>
                <a:cs typeface="Cambria Math"/>
              </a:rPr>
              <a:t>d</a:t>
            </a:r>
            <a:r>
              <a:rPr sz="1600" kern="1200" dirty="0">
                <a:solidFill>
                  <a:srgbClr val="FF0000"/>
                </a:solidFill>
                <a:latin typeface="Cambria Math"/>
                <a:cs typeface="Cambria Math"/>
              </a:rPr>
              <a:t>u</a:t>
            </a:r>
            <a:r>
              <a:rPr sz="1600" kern="1200" spc="-10" dirty="0">
                <a:solidFill>
                  <a:srgbClr val="FF0000"/>
                </a:solidFill>
                <a:latin typeface="Cambria Math"/>
                <a:cs typeface="Cambria Math"/>
              </a:rPr>
              <a:t>c</a:t>
            </a:r>
            <a:r>
              <a:rPr sz="1600" kern="1200" dirty="0">
                <a:solidFill>
                  <a:srgbClr val="FF0000"/>
                </a:solidFill>
                <a:latin typeface="Cambria Math"/>
                <a:cs typeface="Cambria Math"/>
              </a:rPr>
              <a:t>e</a:t>
            </a:r>
            <a:r>
              <a:rPr sz="1600" kern="1200" spc="-10" dirty="0">
                <a:solidFill>
                  <a:srgbClr val="FF0000"/>
                </a:solidFill>
                <a:latin typeface="Cambria Math"/>
                <a:cs typeface="Cambria Math"/>
              </a:rPr>
              <a:t> </a:t>
            </a:r>
            <a:r>
              <a:rPr sz="1600" kern="1200" dirty="0">
                <a:solidFill>
                  <a:srgbClr val="FF0000"/>
                </a:solidFill>
                <a:latin typeface="Cambria Math"/>
                <a:cs typeface="Cambria Math"/>
              </a:rPr>
              <a:t>𝑅</a:t>
            </a:r>
            <a:r>
              <a:rPr sz="1600" kern="1200" spc="140" dirty="0">
                <a:solidFill>
                  <a:srgbClr val="FF0000"/>
                </a:solidFill>
                <a:latin typeface="Cambria Math"/>
                <a:cs typeface="Cambria Math"/>
              </a:rPr>
              <a:t> </a:t>
            </a:r>
            <a:r>
              <a:rPr sz="1600" kern="1200" dirty="0">
                <a:solidFill>
                  <a:srgbClr val="FF0000"/>
                </a:solidFill>
                <a:latin typeface="Cambria Math"/>
                <a:cs typeface="Cambria Math"/>
              </a:rPr>
              <a:t>→</a:t>
            </a:r>
            <a:r>
              <a:rPr sz="1600" kern="1200" spc="85" dirty="0">
                <a:solidFill>
                  <a:srgbClr val="FF0000"/>
                </a:solidFill>
                <a:latin typeface="Cambria Math"/>
                <a:cs typeface="Cambria Math"/>
              </a:rPr>
              <a:t> </a:t>
            </a:r>
            <a:r>
              <a:rPr sz="1600" kern="1200" spc="-5" dirty="0">
                <a:solidFill>
                  <a:srgbClr val="FF0000"/>
                </a:solidFill>
                <a:latin typeface="Cambria Math"/>
                <a:cs typeface="Cambria Math"/>
              </a:rPr>
              <a:t>𝐿"</a:t>
            </a:r>
            <a:endParaRPr sz="1600" kern="1200" dirty="0">
              <a:solidFill>
                <a:prstClr val="black"/>
              </a:solidFill>
              <a:latin typeface="Cambria Math"/>
              <a:cs typeface="Cambria Math"/>
            </a:endParaRPr>
          </a:p>
          <a:p>
            <a:pPr marL="723900" rtl="0">
              <a:spcBef>
                <a:spcPts val="385"/>
              </a:spcBef>
            </a:pPr>
            <a:r>
              <a:rPr sz="1600" kern="1200" dirty="0">
                <a:solidFill>
                  <a:prstClr val="black"/>
                </a:solidFill>
                <a:latin typeface="Palatino Linotype"/>
                <a:cs typeface="Palatino Linotype"/>
              </a:rPr>
              <a:t>(</a:t>
            </a:r>
            <a:r>
              <a:rPr sz="1600" kern="1200" dirty="0">
                <a:solidFill>
                  <a:prstClr val="black"/>
                </a:solidFill>
                <a:latin typeface="Cambria Math"/>
                <a:cs typeface="Cambria Math"/>
              </a:rPr>
              <a:t>FOLLOW(𝑅)</a:t>
            </a:r>
            <a:r>
              <a:rPr sz="1600" kern="1200" spc="20" dirty="0">
                <a:solidFill>
                  <a:prstClr val="black"/>
                </a:solidFill>
                <a:latin typeface="Cambria Math"/>
                <a:cs typeface="Cambria Math"/>
              </a:rPr>
              <a:t> </a:t>
            </a:r>
            <a:r>
              <a:rPr sz="1600" kern="1200" dirty="0">
                <a:solidFill>
                  <a:prstClr val="black"/>
                </a:solidFill>
                <a:latin typeface="Palatino Linotype"/>
                <a:cs typeface="Palatino Linotype"/>
              </a:rPr>
              <a:t>contains</a:t>
            </a:r>
            <a:r>
              <a:rPr sz="1600" kern="1200" spc="-30" dirty="0">
                <a:solidFill>
                  <a:prstClr val="black"/>
                </a:solidFill>
                <a:latin typeface="Palatino Linotype"/>
                <a:cs typeface="Palatino Linotype"/>
              </a:rPr>
              <a:t> </a:t>
            </a:r>
            <a:r>
              <a:rPr sz="1600" kern="1200" dirty="0">
                <a:solidFill>
                  <a:prstClr val="black"/>
                </a:solidFill>
                <a:latin typeface="Palatino Linotype"/>
                <a:cs typeface="Palatino Linotype"/>
              </a:rPr>
              <a:t>=)</a:t>
            </a:r>
          </a:p>
        </p:txBody>
      </p:sp>
      <p:grpSp>
        <p:nvGrpSpPr>
          <p:cNvPr id="24" name="object 9">
            <a:extLst>
              <a:ext uri="{FF2B5EF4-FFF2-40B4-BE49-F238E27FC236}">
                <a16:creationId xmlns:a16="http://schemas.microsoft.com/office/drawing/2014/main" id="{EDAAB19C-37BB-8AA9-1504-4EB3BA63C5EE}"/>
              </a:ext>
            </a:extLst>
          </p:cNvPr>
          <p:cNvGrpSpPr/>
          <p:nvPr/>
        </p:nvGrpSpPr>
        <p:grpSpPr>
          <a:xfrm>
            <a:off x="4428251" y="1906870"/>
            <a:ext cx="4071620" cy="3509645"/>
            <a:chOff x="4428251" y="1906870"/>
            <a:chExt cx="4071620" cy="3509645"/>
          </a:xfrm>
        </p:grpSpPr>
        <p:pic>
          <p:nvPicPr>
            <p:cNvPr id="25" name="object 10">
              <a:extLst>
                <a:ext uri="{FF2B5EF4-FFF2-40B4-BE49-F238E27FC236}">
                  <a16:creationId xmlns:a16="http://schemas.microsoft.com/office/drawing/2014/main" id="{6041413A-C5F3-8EEE-EF4D-E481B2CB9FCB}"/>
                </a:ext>
              </a:extLst>
            </p:cNvPr>
            <p:cNvPicPr/>
            <p:nvPr/>
          </p:nvPicPr>
          <p:blipFill>
            <a:blip r:embed="rId3" cstate="print"/>
            <a:stretch>
              <a:fillRect/>
            </a:stretch>
          </p:blipFill>
          <p:spPr>
            <a:xfrm>
              <a:off x="4428251" y="1906870"/>
              <a:ext cx="4071140" cy="3509507"/>
            </a:xfrm>
            <a:prstGeom prst="rect">
              <a:avLst/>
            </a:prstGeom>
          </p:spPr>
        </p:pic>
        <p:sp>
          <p:nvSpPr>
            <p:cNvPr id="26" name="object 11">
              <a:extLst>
                <a:ext uri="{FF2B5EF4-FFF2-40B4-BE49-F238E27FC236}">
                  <a16:creationId xmlns:a16="http://schemas.microsoft.com/office/drawing/2014/main" id="{03C9F09C-5B55-84A2-173E-718BC9523FC3}"/>
                </a:ext>
              </a:extLst>
            </p:cNvPr>
            <p:cNvSpPr/>
            <p:nvPr/>
          </p:nvSpPr>
          <p:spPr>
            <a:xfrm>
              <a:off x="4703378" y="3603638"/>
              <a:ext cx="1135380" cy="570230"/>
            </a:xfrm>
            <a:custGeom>
              <a:avLst/>
              <a:gdLst/>
              <a:ahLst/>
              <a:cxnLst/>
              <a:rect l="l" t="t" r="r" b="b"/>
              <a:pathLst>
                <a:path w="1135379" h="570229">
                  <a:moveTo>
                    <a:pt x="0" y="0"/>
                  </a:moveTo>
                  <a:lnTo>
                    <a:pt x="1135118" y="0"/>
                  </a:lnTo>
                  <a:lnTo>
                    <a:pt x="1135118" y="569884"/>
                  </a:lnTo>
                  <a:lnTo>
                    <a:pt x="0" y="569884"/>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7" name="object 12">
            <a:extLst>
              <a:ext uri="{FF2B5EF4-FFF2-40B4-BE49-F238E27FC236}">
                <a16:creationId xmlns:a16="http://schemas.microsoft.com/office/drawing/2014/main" id="{AAFF7E5A-F720-1AC8-A8A1-6F95E7AB92BC}"/>
              </a:ext>
            </a:extLst>
          </p:cNvPr>
          <p:cNvSpPr txBox="1"/>
          <p:nvPr/>
        </p:nvSpPr>
        <p:spPr>
          <a:xfrm>
            <a:off x="4395547" y="1826665"/>
            <a:ext cx="4226560" cy="3667125"/>
          </a:xfrm>
          <a:prstGeom prst="rect">
            <a:avLst/>
          </a:prstGeom>
          <a:ln w="9525">
            <a:solidFill>
              <a:srgbClr val="000000"/>
            </a:solidFill>
          </a:ln>
        </p:spPr>
        <p:txBody>
          <a:bodyPr vert="horz" wrap="square" lIns="0" tIns="0" rIns="0" bIns="0" rtlCol="0">
            <a:spAutoFit/>
          </a:bodyPr>
          <a:lstStyle/>
          <a:p>
            <a:pPr rtl="0"/>
            <a:endParaRPr sz="2100" kern="1200">
              <a:solidFill>
                <a:prstClr val="black"/>
              </a:solidFill>
              <a:latin typeface="Times New Roman"/>
              <a:cs typeface="Times New Roman"/>
            </a:endParaRPr>
          </a:p>
          <a:p>
            <a:pPr rtl="0"/>
            <a:endParaRPr sz="2100" kern="1200">
              <a:solidFill>
                <a:prstClr val="black"/>
              </a:solidFill>
              <a:latin typeface="Times New Roman"/>
              <a:cs typeface="Times New Roman"/>
            </a:endParaRPr>
          </a:p>
          <a:p>
            <a:pPr rtl="0"/>
            <a:endParaRPr sz="2100" kern="1200">
              <a:solidFill>
                <a:prstClr val="black"/>
              </a:solidFill>
              <a:latin typeface="Times New Roman"/>
              <a:cs typeface="Times New Roman"/>
            </a:endParaRPr>
          </a:p>
          <a:p>
            <a:pPr rtl="0"/>
            <a:endParaRPr sz="2100" kern="1200">
              <a:solidFill>
                <a:prstClr val="black"/>
              </a:solidFill>
              <a:latin typeface="Times New Roman"/>
              <a:cs typeface="Times New Roman"/>
            </a:endParaRPr>
          </a:p>
          <a:p>
            <a:pPr rtl="0"/>
            <a:endParaRPr sz="2100" kern="1200">
              <a:solidFill>
                <a:prstClr val="black"/>
              </a:solidFill>
              <a:latin typeface="Times New Roman"/>
              <a:cs typeface="Times New Roman"/>
            </a:endParaRPr>
          </a:p>
          <a:p>
            <a:pPr rtl="0"/>
            <a:endParaRPr sz="2100" kern="1200">
              <a:solidFill>
                <a:prstClr val="black"/>
              </a:solidFill>
              <a:latin typeface="Times New Roman"/>
              <a:cs typeface="Times New Roman"/>
            </a:endParaRPr>
          </a:p>
          <a:p>
            <a:pPr rtl="0"/>
            <a:endParaRPr sz="2100" kern="1200">
              <a:solidFill>
                <a:prstClr val="black"/>
              </a:solidFill>
              <a:latin typeface="Times New Roman"/>
              <a:cs typeface="Times New Roman"/>
            </a:endParaRPr>
          </a:p>
          <a:p>
            <a:pPr rtl="0"/>
            <a:endParaRPr sz="2100" kern="1200">
              <a:solidFill>
                <a:prstClr val="black"/>
              </a:solidFill>
              <a:latin typeface="Times New Roman"/>
              <a:cs typeface="Times New Roman"/>
            </a:endParaRPr>
          </a:p>
          <a:p>
            <a:pPr rtl="0">
              <a:spcBef>
                <a:spcPts val="25"/>
              </a:spcBef>
            </a:pPr>
            <a:endParaRPr sz="2950" kern="1200">
              <a:solidFill>
                <a:prstClr val="black"/>
              </a:solidFill>
              <a:latin typeface="Times New Roman"/>
              <a:cs typeface="Times New Roman"/>
            </a:endParaRPr>
          </a:p>
          <a:p>
            <a:pPr marL="2063750" marR="741680" indent="-58419" rtl="0">
              <a:lnSpc>
                <a:spcPts val="1900"/>
              </a:lnSpc>
            </a:pPr>
            <a:r>
              <a:rPr sz="1600" kern="1200" spc="-5" dirty="0">
                <a:solidFill>
                  <a:srgbClr val="FF0000"/>
                </a:solidFill>
                <a:latin typeface="Palatino Linotype"/>
                <a:cs typeface="Palatino Linotype"/>
              </a:rPr>
              <a:t>This</a:t>
            </a:r>
            <a:r>
              <a:rPr sz="1600" kern="1200" spc="-35" dirty="0">
                <a:solidFill>
                  <a:srgbClr val="FF0000"/>
                </a:solidFill>
                <a:latin typeface="Palatino Linotype"/>
                <a:cs typeface="Palatino Linotype"/>
              </a:rPr>
              <a:t> </a:t>
            </a:r>
            <a:r>
              <a:rPr sz="1600" kern="1200" spc="-5" dirty="0">
                <a:solidFill>
                  <a:srgbClr val="FF0000"/>
                </a:solidFill>
                <a:latin typeface="Palatino Linotype"/>
                <a:cs typeface="Palatino Linotype"/>
              </a:rPr>
              <a:t>grammar</a:t>
            </a:r>
            <a:r>
              <a:rPr sz="1600" kern="1200" spc="-20" dirty="0">
                <a:solidFill>
                  <a:srgbClr val="FF0000"/>
                </a:solidFill>
                <a:latin typeface="Palatino Linotype"/>
                <a:cs typeface="Palatino Linotype"/>
              </a:rPr>
              <a:t> </a:t>
            </a:r>
            <a:r>
              <a:rPr sz="1600" kern="1200" spc="-5" dirty="0">
                <a:solidFill>
                  <a:srgbClr val="FF0000"/>
                </a:solidFill>
                <a:latin typeface="Palatino Linotype"/>
                <a:cs typeface="Palatino Linotype"/>
              </a:rPr>
              <a:t>is </a:t>
            </a:r>
            <a:r>
              <a:rPr sz="1600" kern="1200" spc="-385" dirty="0">
                <a:solidFill>
                  <a:srgbClr val="FF0000"/>
                </a:solidFill>
                <a:latin typeface="Palatino Linotype"/>
                <a:cs typeface="Palatino Linotype"/>
              </a:rPr>
              <a:t> </a:t>
            </a:r>
            <a:r>
              <a:rPr sz="1600" kern="1200" dirty="0">
                <a:solidFill>
                  <a:srgbClr val="FF0000"/>
                </a:solidFill>
                <a:latin typeface="Palatino Linotype"/>
                <a:cs typeface="Palatino Linotype"/>
              </a:rPr>
              <a:t>not</a:t>
            </a:r>
            <a:r>
              <a:rPr sz="1600" kern="1200" spc="-35" dirty="0">
                <a:solidFill>
                  <a:srgbClr val="FF0000"/>
                </a:solidFill>
                <a:latin typeface="Palatino Linotype"/>
                <a:cs typeface="Palatino Linotype"/>
              </a:rPr>
              <a:t> </a:t>
            </a:r>
            <a:r>
              <a:rPr sz="1600" kern="1200" spc="-5" dirty="0">
                <a:solidFill>
                  <a:srgbClr val="FF0000"/>
                </a:solidFill>
                <a:latin typeface="Palatino Linotype"/>
                <a:cs typeface="Palatino Linotype"/>
              </a:rPr>
              <a:t>ambiguous</a:t>
            </a:r>
            <a:endParaRPr sz="1600" kern="1200">
              <a:solidFill>
                <a:prstClr val="black"/>
              </a:solidFill>
              <a:latin typeface="Palatino Linotype"/>
              <a:cs typeface="Palatino Linotype"/>
            </a:endParaRPr>
          </a:p>
        </p:txBody>
      </p:sp>
      <p:sp>
        <p:nvSpPr>
          <p:cNvPr id="28" name="object 13">
            <a:extLst>
              <a:ext uri="{FF2B5EF4-FFF2-40B4-BE49-F238E27FC236}">
                <a16:creationId xmlns:a16="http://schemas.microsoft.com/office/drawing/2014/main" id="{20F8C723-3D68-64C2-AACF-48AD0C0026A4}"/>
              </a:ext>
            </a:extLst>
          </p:cNvPr>
          <p:cNvSpPr txBox="1"/>
          <p:nvPr/>
        </p:nvSpPr>
        <p:spPr>
          <a:xfrm>
            <a:off x="940588" y="5784596"/>
            <a:ext cx="7440295" cy="400685"/>
          </a:xfrm>
          <a:prstGeom prst="rect">
            <a:avLst/>
          </a:prstGeom>
        </p:spPr>
        <p:txBody>
          <a:bodyPr vert="horz" wrap="square" lIns="0" tIns="3175" rIns="0" bIns="0" rtlCol="0">
            <a:spAutoFit/>
          </a:bodyPr>
          <a:lstStyle/>
          <a:p>
            <a:pPr marL="12700" marR="5080" rtl="0">
              <a:lnSpc>
                <a:spcPct val="105000"/>
              </a:lnSpc>
              <a:spcBef>
                <a:spcPts val="25"/>
              </a:spcBef>
            </a:pPr>
            <a:r>
              <a:rPr sz="1200" kern="1200" spc="-5" dirty="0">
                <a:solidFill>
                  <a:srgbClr val="A6A6A6"/>
                </a:solidFill>
                <a:latin typeface="Palatino Linotype"/>
                <a:cs typeface="Palatino Linotype"/>
              </a:rPr>
              <a:t>CLR</a:t>
            </a:r>
            <a:r>
              <a:rPr sz="1200" kern="1200" spc="-25" dirty="0">
                <a:solidFill>
                  <a:srgbClr val="A6A6A6"/>
                </a:solidFill>
                <a:latin typeface="Palatino Linotype"/>
                <a:cs typeface="Palatino Linotype"/>
              </a:rPr>
              <a:t> </a:t>
            </a:r>
            <a:r>
              <a:rPr sz="1200" kern="1200" dirty="0">
                <a:solidFill>
                  <a:srgbClr val="A6A6A6"/>
                </a:solidFill>
                <a:latin typeface="Palatino Linotype"/>
                <a:cs typeface="Palatino Linotype"/>
              </a:rPr>
              <a:t>and</a:t>
            </a:r>
            <a:r>
              <a:rPr sz="1200" kern="1200" spc="5" dirty="0">
                <a:solidFill>
                  <a:srgbClr val="A6A6A6"/>
                </a:solidFill>
                <a:latin typeface="Palatino Linotype"/>
                <a:cs typeface="Palatino Linotype"/>
              </a:rPr>
              <a:t> </a:t>
            </a:r>
            <a:r>
              <a:rPr sz="1200" kern="1200" dirty="0">
                <a:solidFill>
                  <a:srgbClr val="A6A6A6"/>
                </a:solidFill>
                <a:latin typeface="Palatino Linotype"/>
                <a:cs typeface="Palatino Linotype"/>
              </a:rPr>
              <a:t>LALR</a:t>
            </a:r>
            <a:r>
              <a:rPr sz="1200" kern="1200" spc="-25" dirty="0">
                <a:solidFill>
                  <a:srgbClr val="A6A6A6"/>
                </a:solidFill>
                <a:latin typeface="Palatino Linotype"/>
                <a:cs typeface="Palatino Linotype"/>
              </a:rPr>
              <a:t> </a:t>
            </a:r>
            <a:r>
              <a:rPr sz="1200" kern="1200" spc="-5" dirty="0">
                <a:solidFill>
                  <a:srgbClr val="A6A6A6"/>
                </a:solidFill>
                <a:latin typeface="Palatino Linotype"/>
                <a:cs typeface="Palatino Linotype"/>
              </a:rPr>
              <a:t>will</a:t>
            </a:r>
            <a:r>
              <a:rPr sz="1200" kern="1200" spc="10" dirty="0">
                <a:solidFill>
                  <a:srgbClr val="A6A6A6"/>
                </a:solidFill>
                <a:latin typeface="Palatino Linotype"/>
                <a:cs typeface="Palatino Linotype"/>
              </a:rPr>
              <a:t> </a:t>
            </a:r>
            <a:r>
              <a:rPr sz="1200" kern="1200" dirty="0">
                <a:solidFill>
                  <a:srgbClr val="A6A6A6"/>
                </a:solidFill>
                <a:latin typeface="Palatino Linotype"/>
                <a:cs typeface="Palatino Linotype"/>
              </a:rPr>
              <a:t>succeed</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on</a:t>
            </a:r>
            <a:r>
              <a:rPr sz="1200" kern="1200" spc="5" dirty="0">
                <a:solidFill>
                  <a:srgbClr val="A6A6A6"/>
                </a:solidFill>
                <a:latin typeface="Palatino Linotype"/>
                <a:cs typeface="Palatino Linotype"/>
              </a:rPr>
              <a:t> </a:t>
            </a:r>
            <a:r>
              <a:rPr sz="1200" kern="1200" dirty="0">
                <a:solidFill>
                  <a:srgbClr val="A6A6A6"/>
                </a:solidFill>
                <a:latin typeface="Palatino Linotype"/>
                <a:cs typeface="Palatino Linotype"/>
              </a:rPr>
              <a:t>a</a:t>
            </a:r>
            <a:r>
              <a:rPr sz="1200" kern="1200" spc="10" dirty="0">
                <a:solidFill>
                  <a:srgbClr val="A6A6A6"/>
                </a:solidFill>
                <a:latin typeface="Palatino Linotype"/>
                <a:cs typeface="Palatino Linotype"/>
              </a:rPr>
              <a:t> </a:t>
            </a:r>
            <a:r>
              <a:rPr sz="1200" kern="1200" spc="-5" dirty="0">
                <a:solidFill>
                  <a:srgbClr val="A6A6A6"/>
                </a:solidFill>
                <a:latin typeface="Palatino Linotype"/>
                <a:cs typeface="Palatino Linotype"/>
              </a:rPr>
              <a:t>larger</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collection</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of</a:t>
            </a:r>
            <a:r>
              <a:rPr sz="1200" kern="1200" spc="10" dirty="0">
                <a:solidFill>
                  <a:srgbClr val="A6A6A6"/>
                </a:solidFill>
                <a:latin typeface="Palatino Linotype"/>
                <a:cs typeface="Palatino Linotype"/>
              </a:rPr>
              <a:t> </a:t>
            </a:r>
            <a:r>
              <a:rPr sz="1200" kern="1200" spc="-5" dirty="0">
                <a:solidFill>
                  <a:srgbClr val="A6A6A6"/>
                </a:solidFill>
                <a:latin typeface="Palatino Linotype"/>
                <a:cs typeface="Palatino Linotype"/>
              </a:rPr>
              <a:t>grammars,</a:t>
            </a:r>
            <a:r>
              <a:rPr sz="1200" kern="1200" spc="5" dirty="0">
                <a:solidFill>
                  <a:srgbClr val="A6A6A6"/>
                </a:solidFill>
                <a:latin typeface="Palatino Linotype"/>
                <a:cs typeface="Palatino Linotype"/>
              </a:rPr>
              <a:t> </a:t>
            </a:r>
            <a:r>
              <a:rPr sz="1200" kern="1200" dirty="0">
                <a:solidFill>
                  <a:srgbClr val="A6A6A6"/>
                </a:solidFill>
                <a:latin typeface="Palatino Linotype"/>
                <a:cs typeface="Palatino Linotype"/>
              </a:rPr>
              <a:t>including </a:t>
            </a:r>
            <a:r>
              <a:rPr sz="1200" kern="1200" spc="-5" dirty="0">
                <a:solidFill>
                  <a:srgbClr val="A6A6A6"/>
                </a:solidFill>
                <a:latin typeface="Palatino Linotype"/>
                <a:cs typeface="Palatino Linotype"/>
              </a:rPr>
              <a:t>the</a:t>
            </a:r>
            <a:r>
              <a:rPr sz="1200" kern="1200" spc="10" dirty="0">
                <a:solidFill>
                  <a:srgbClr val="A6A6A6"/>
                </a:solidFill>
                <a:latin typeface="Palatino Linotype"/>
                <a:cs typeface="Palatino Linotype"/>
              </a:rPr>
              <a:t> </a:t>
            </a:r>
            <a:r>
              <a:rPr sz="1200" kern="1200" spc="-10" dirty="0">
                <a:solidFill>
                  <a:srgbClr val="A6A6A6"/>
                </a:solidFill>
                <a:latin typeface="Palatino Linotype"/>
                <a:cs typeface="Palatino Linotype"/>
              </a:rPr>
              <a:t>above</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one.</a:t>
            </a:r>
            <a:r>
              <a:rPr sz="1200" kern="1200" spc="5" dirty="0">
                <a:solidFill>
                  <a:srgbClr val="A6A6A6"/>
                </a:solidFill>
                <a:latin typeface="Palatino Linotype"/>
                <a:cs typeface="Palatino Linotype"/>
              </a:rPr>
              <a:t> </a:t>
            </a:r>
            <a:r>
              <a:rPr sz="1200" kern="1200" spc="-15" dirty="0">
                <a:solidFill>
                  <a:srgbClr val="A6A6A6"/>
                </a:solidFill>
                <a:latin typeface="Palatino Linotype"/>
                <a:cs typeface="Palatino Linotype"/>
              </a:rPr>
              <a:t>However,</a:t>
            </a:r>
            <a:r>
              <a:rPr sz="1200" kern="1200" spc="10" dirty="0">
                <a:solidFill>
                  <a:srgbClr val="A6A6A6"/>
                </a:solidFill>
                <a:latin typeface="Palatino Linotype"/>
                <a:cs typeface="Palatino Linotype"/>
              </a:rPr>
              <a:t> </a:t>
            </a:r>
            <a:r>
              <a:rPr sz="1200" kern="1200" spc="-5" dirty="0">
                <a:solidFill>
                  <a:srgbClr val="A6A6A6"/>
                </a:solidFill>
                <a:latin typeface="Palatino Linotype"/>
                <a:cs typeface="Palatino Linotype"/>
              </a:rPr>
              <a:t>there</a:t>
            </a:r>
            <a:r>
              <a:rPr sz="1200" kern="1200" spc="5" dirty="0">
                <a:solidFill>
                  <a:srgbClr val="A6A6A6"/>
                </a:solidFill>
                <a:latin typeface="Palatino Linotype"/>
                <a:cs typeface="Palatino Linotype"/>
              </a:rPr>
              <a:t> </a:t>
            </a:r>
            <a:r>
              <a:rPr sz="1200" kern="1200" dirty="0">
                <a:solidFill>
                  <a:srgbClr val="A6A6A6"/>
                </a:solidFill>
                <a:latin typeface="Palatino Linotype"/>
                <a:cs typeface="Palatino Linotype"/>
              </a:rPr>
              <a:t>exist </a:t>
            </a:r>
            <a:r>
              <a:rPr sz="1200" kern="1200" spc="-285" dirty="0">
                <a:solidFill>
                  <a:srgbClr val="A6A6A6"/>
                </a:solidFill>
                <a:latin typeface="Palatino Linotype"/>
                <a:cs typeface="Palatino Linotype"/>
              </a:rPr>
              <a:t> </a:t>
            </a:r>
            <a:r>
              <a:rPr sz="1200" kern="1200" spc="-5" dirty="0">
                <a:solidFill>
                  <a:srgbClr val="A6A6A6"/>
                </a:solidFill>
                <a:latin typeface="Palatino Linotype"/>
                <a:cs typeface="Palatino Linotype"/>
              </a:rPr>
              <a:t>unambiguous</a:t>
            </a:r>
            <a:r>
              <a:rPr sz="1200" kern="1200" dirty="0">
                <a:solidFill>
                  <a:srgbClr val="A6A6A6"/>
                </a:solidFill>
                <a:latin typeface="Palatino Linotype"/>
                <a:cs typeface="Palatino Linotype"/>
              </a:rPr>
              <a:t> </a:t>
            </a:r>
            <a:r>
              <a:rPr sz="1200" kern="1200" spc="-5" dirty="0">
                <a:solidFill>
                  <a:srgbClr val="A6A6A6"/>
                </a:solidFill>
                <a:latin typeface="Palatino Linotype"/>
                <a:cs typeface="Palatino Linotype"/>
              </a:rPr>
              <a:t>grammars</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for</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which</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every</a:t>
            </a:r>
            <a:r>
              <a:rPr sz="1200" kern="1200" dirty="0">
                <a:solidFill>
                  <a:srgbClr val="A6A6A6"/>
                </a:solidFill>
                <a:latin typeface="Palatino Linotype"/>
                <a:cs typeface="Palatino Linotype"/>
              </a:rPr>
              <a:t> LR</a:t>
            </a:r>
            <a:r>
              <a:rPr sz="1200" kern="1200" spc="-25" dirty="0">
                <a:solidFill>
                  <a:srgbClr val="A6A6A6"/>
                </a:solidFill>
                <a:latin typeface="Palatino Linotype"/>
                <a:cs typeface="Palatino Linotype"/>
              </a:rPr>
              <a:t> </a:t>
            </a:r>
            <a:r>
              <a:rPr sz="1200" kern="1200" dirty="0">
                <a:solidFill>
                  <a:srgbClr val="A6A6A6"/>
                </a:solidFill>
                <a:latin typeface="Palatino Linotype"/>
                <a:cs typeface="Palatino Linotype"/>
              </a:rPr>
              <a:t>parser</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construction</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method</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will</a:t>
            </a:r>
            <a:r>
              <a:rPr sz="1200" kern="1200" spc="5" dirty="0">
                <a:solidFill>
                  <a:srgbClr val="A6A6A6"/>
                </a:solidFill>
                <a:latin typeface="Palatino Linotype"/>
                <a:cs typeface="Palatino Linotype"/>
              </a:rPr>
              <a:t> </a:t>
            </a:r>
            <a:r>
              <a:rPr sz="1200" kern="1200" spc="-5" dirty="0">
                <a:solidFill>
                  <a:srgbClr val="A6A6A6"/>
                </a:solidFill>
                <a:latin typeface="Palatino Linotype"/>
                <a:cs typeface="Palatino Linotype"/>
              </a:rPr>
              <a:t>encounter</a:t>
            </a:r>
            <a:r>
              <a:rPr sz="1200" kern="1200" dirty="0">
                <a:solidFill>
                  <a:srgbClr val="A6A6A6"/>
                </a:solidFill>
                <a:latin typeface="Palatino Linotype"/>
                <a:cs typeface="Palatino Linotype"/>
              </a:rPr>
              <a:t> </a:t>
            </a:r>
            <a:r>
              <a:rPr sz="1200" kern="1200" spc="-5" dirty="0">
                <a:solidFill>
                  <a:srgbClr val="A6A6A6"/>
                </a:solidFill>
                <a:latin typeface="Palatino Linotype"/>
                <a:cs typeface="Palatino Linotype"/>
              </a:rPr>
              <a:t>conflicts.</a:t>
            </a:r>
            <a:endParaRPr sz="1200" kern="1200" dirty="0">
              <a:solidFill>
                <a:prstClr val="black"/>
              </a:solidFill>
              <a:latin typeface="Palatino Linotype"/>
              <a:cs typeface="Palatino Linotype"/>
            </a:endParaRPr>
          </a:p>
        </p:txBody>
      </p:sp>
    </p:spTree>
    <p:extLst>
      <p:ext uri="{BB962C8B-B14F-4D97-AF65-F5344CB8AC3E}">
        <p14:creationId xmlns:p14="http://schemas.microsoft.com/office/powerpoint/2010/main" val="139168461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131</a:t>
            </a:fld>
            <a:endParaRPr lang="en-US"/>
          </a:p>
        </p:txBody>
      </p:sp>
      <p:sp>
        <p:nvSpPr>
          <p:cNvPr id="8" name="object 2">
            <a:extLst>
              <a:ext uri="{FF2B5EF4-FFF2-40B4-BE49-F238E27FC236}">
                <a16:creationId xmlns:a16="http://schemas.microsoft.com/office/drawing/2014/main" id="{0CD5E264-AAFC-47D8-D16B-6A62E97BBA07}"/>
              </a:ext>
            </a:extLst>
          </p:cNvPr>
          <p:cNvSpPr txBox="1">
            <a:spLocks/>
          </p:cNvSpPr>
          <p:nvPr/>
        </p:nvSpPr>
        <p:spPr>
          <a:xfrm>
            <a:off x="707390" y="524763"/>
            <a:ext cx="686371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45" normalizeH="0" baseline="0" noProof="0" dirty="0">
                <a:ln>
                  <a:noFill/>
                </a:ln>
                <a:solidFill>
                  <a:sysClr val="windowText" lastClr="000000"/>
                </a:solidFill>
                <a:effectLst/>
                <a:uLnTx/>
                <a:uFillTx/>
                <a:latin typeface="Palatino Linotype"/>
                <a:ea typeface="+mj-ea"/>
              </a:rPr>
              <a:t>Weakness</a:t>
            </a:r>
            <a:r>
              <a:rPr kumimoji="0" lang="en-US" sz="40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of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the SLR</a:t>
            </a:r>
            <a:r>
              <a:rPr kumimoji="0" lang="en-US" sz="40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Method</a:t>
            </a:r>
          </a:p>
        </p:txBody>
      </p:sp>
      <p:sp>
        <p:nvSpPr>
          <p:cNvPr id="9" name="object 3">
            <a:extLst>
              <a:ext uri="{FF2B5EF4-FFF2-40B4-BE49-F238E27FC236}">
                <a16:creationId xmlns:a16="http://schemas.microsoft.com/office/drawing/2014/main" id="{878FE89A-B451-4EF7-8AAC-59BCBE33EC2C}"/>
              </a:ext>
            </a:extLst>
          </p:cNvPr>
          <p:cNvSpPr/>
          <p:nvPr/>
        </p:nvSpPr>
        <p:spPr>
          <a:xfrm>
            <a:off x="7359050" y="2294827"/>
            <a:ext cx="329565" cy="235585"/>
          </a:xfrm>
          <a:custGeom>
            <a:avLst/>
            <a:gdLst/>
            <a:ahLst/>
            <a:cxnLst/>
            <a:rect l="l" t="t" r="r" b="b"/>
            <a:pathLst>
              <a:path w="329565" h="235585">
                <a:moveTo>
                  <a:pt x="253960" y="0"/>
                </a:moveTo>
                <a:lnTo>
                  <a:pt x="250611" y="9549"/>
                </a:lnTo>
                <a:lnTo>
                  <a:pt x="264231" y="15459"/>
                </a:lnTo>
                <a:lnTo>
                  <a:pt x="275943" y="23641"/>
                </a:lnTo>
                <a:lnTo>
                  <a:pt x="299725" y="61565"/>
                </a:lnTo>
                <a:lnTo>
                  <a:pt x="307539" y="116457"/>
                </a:lnTo>
                <a:lnTo>
                  <a:pt x="306667" y="137208"/>
                </a:lnTo>
                <a:lnTo>
                  <a:pt x="293585" y="188019"/>
                </a:lnTo>
                <a:lnTo>
                  <a:pt x="264390" y="219784"/>
                </a:lnTo>
                <a:lnTo>
                  <a:pt x="250983" y="225722"/>
                </a:lnTo>
                <a:lnTo>
                  <a:pt x="253960" y="235272"/>
                </a:lnTo>
                <a:lnTo>
                  <a:pt x="298911" y="208564"/>
                </a:lnTo>
                <a:lnTo>
                  <a:pt x="324157" y="159261"/>
                </a:lnTo>
                <a:lnTo>
                  <a:pt x="328994" y="117698"/>
                </a:lnTo>
                <a:lnTo>
                  <a:pt x="327781" y="96129"/>
                </a:lnTo>
                <a:lnTo>
                  <a:pt x="318077" y="57899"/>
                </a:lnTo>
                <a:lnTo>
                  <a:pt x="285974" y="15083"/>
                </a:lnTo>
                <a:lnTo>
                  <a:pt x="271018" y="6158"/>
                </a:lnTo>
                <a:lnTo>
                  <a:pt x="253960" y="0"/>
                </a:lnTo>
                <a:close/>
              </a:path>
              <a:path w="329565" h="235585">
                <a:moveTo>
                  <a:pt x="75034" y="0"/>
                </a:moveTo>
                <a:lnTo>
                  <a:pt x="30164" y="26776"/>
                </a:lnTo>
                <a:lnTo>
                  <a:pt x="4852" y="76196"/>
                </a:lnTo>
                <a:lnTo>
                  <a:pt x="0" y="117698"/>
                </a:lnTo>
                <a:lnTo>
                  <a:pt x="1209" y="139313"/>
                </a:lnTo>
                <a:lnTo>
                  <a:pt x="10882" y="177543"/>
                </a:lnTo>
                <a:lnTo>
                  <a:pt x="42942" y="220219"/>
                </a:lnTo>
                <a:lnTo>
                  <a:pt x="75034" y="235272"/>
                </a:lnTo>
                <a:lnTo>
                  <a:pt x="78011" y="225722"/>
                </a:lnTo>
                <a:lnTo>
                  <a:pt x="64604" y="219784"/>
                </a:lnTo>
                <a:lnTo>
                  <a:pt x="53035" y="211521"/>
                </a:lnTo>
                <a:lnTo>
                  <a:pt x="29304" y="172989"/>
                </a:lnTo>
                <a:lnTo>
                  <a:pt x="21455" y="116457"/>
                </a:lnTo>
                <a:lnTo>
                  <a:pt x="22327" y="96385"/>
                </a:lnTo>
                <a:lnTo>
                  <a:pt x="35408" y="46818"/>
                </a:lnTo>
                <a:lnTo>
                  <a:pt x="64813" y="15459"/>
                </a:lnTo>
                <a:lnTo>
                  <a:pt x="78381"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0" name="object 4">
            <a:extLst>
              <a:ext uri="{FF2B5EF4-FFF2-40B4-BE49-F238E27FC236}">
                <a16:creationId xmlns:a16="http://schemas.microsoft.com/office/drawing/2014/main" id="{18F61AE3-B33A-3855-6831-DD6CC277F95B}"/>
              </a:ext>
            </a:extLst>
          </p:cNvPr>
          <p:cNvSpPr txBox="1"/>
          <p:nvPr/>
        </p:nvSpPr>
        <p:spPr>
          <a:xfrm>
            <a:off x="669290" y="1815084"/>
            <a:ext cx="7322184" cy="2219960"/>
          </a:xfrm>
          <a:prstGeom prst="rect">
            <a:avLst/>
          </a:prstGeom>
        </p:spPr>
        <p:txBody>
          <a:bodyPr vert="horz" wrap="square" lIns="0" tIns="60960" rIns="0" bIns="0" rtlCol="0">
            <a:spAutoFit/>
          </a:bodyPr>
          <a:lstStyle/>
          <a:p>
            <a:pPr marL="229870" marR="33020" indent="-229870" rtl="0">
              <a:spcBef>
                <a:spcPts val="480"/>
              </a:spcBef>
              <a:buFont typeface="Arial MT"/>
              <a:buChar char="•"/>
              <a:tabLst>
                <a:tab pos="229870" algn="l"/>
                <a:tab pos="281305" algn="l"/>
              </a:tabLst>
            </a:pPr>
            <a:r>
              <a:rPr sz="2000" kern="1200" dirty="0">
                <a:solidFill>
                  <a:prstClr val="black"/>
                </a:solidFill>
                <a:latin typeface="Palatino Linotype"/>
                <a:cs typeface="Palatino Linotype"/>
              </a:rPr>
              <a:t>In</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SLR, </a:t>
            </a:r>
            <a:r>
              <a:rPr sz="2000" kern="1200" spc="-5" dirty="0">
                <a:solidFill>
                  <a:prstClr val="black"/>
                </a:solidFill>
                <a:latin typeface="Palatino Linotype"/>
                <a:cs typeface="Palatino Linotype"/>
              </a:rPr>
              <a:t>the state</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𝑖</a:t>
            </a:r>
            <a:r>
              <a:rPr sz="2000" kern="1200" spc="120" dirty="0">
                <a:solidFill>
                  <a:prstClr val="black"/>
                </a:solidFill>
                <a:latin typeface="Cambria Math"/>
                <a:cs typeface="Cambria Math"/>
              </a:rPr>
              <a:t> </a:t>
            </a:r>
            <a:r>
              <a:rPr sz="2000" kern="1200" dirty="0">
                <a:solidFill>
                  <a:prstClr val="black"/>
                </a:solidFill>
                <a:latin typeface="Palatino Linotype"/>
                <a:cs typeface="Palatino Linotype"/>
              </a:rPr>
              <a:t>calls </a:t>
            </a:r>
            <a:r>
              <a:rPr sz="2000" kern="1200" spc="-5" dirty="0">
                <a:solidFill>
                  <a:prstClr val="black"/>
                </a:solidFill>
                <a:latin typeface="Palatino Linotype"/>
                <a:cs typeface="Palatino Linotype"/>
              </a:rPr>
              <a:t>for reduction</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by</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𝐴</a:t>
            </a:r>
            <a:r>
              <a:rPr sz="2000" kern="1200" spc="1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𝛼</a:t>
            </a:r>
            <a:r>
              <a:rPr sz="2000" kern="1200" spc="120" dirty="0">
                <a:solidFill>
                  <a:prstClr val="black"/>
                </a:solidFill>
                <a:latin typeface="Cambria Math"/>
                <a:cs typeface="Cambria Math"/>
              </a:rPr>
              <a:t> </a:t>
            </a:r>
            <a:r>
              <a:rPr sz="2000" kern="1200" dirty="0">
                <a:solidFill>
                  <a:prstClr val="black"/>
                </a:solidFill>
                <a:latin typeface="Palatino Linotype"/>
                <a:cs typeface="Palatino Linotype"/>
              </a:rPr>
              <a:t>if</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item</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set</a:t>
            </a:r>
            <a:r>
              <a:rPr sz="2000" kern="1200" spc="-5" dirty="0">
                <a:solidFill>
                  <a:prstClr val="black"/>
                </a:solidFill>
                <a:latin typeface="Palatino Linotype"/>
                <a:cs typeface="Palatino Linotype"/>
              </a:rPr>
              <a:t> </a:t>
            </a:r>
            <a:r>
              <a:rPr sz="2000" kern="1200" spc="-355" dirty="0">
                <a:solidFill>
                  <a:prstClr val="black"/>
                </a:solidFill>
                <a:latin typeface="Cambria Math"/>
                <a:cs typeface="Cambria Math"/>
              </a:rPr>
              <a:t>𝐼</a:t>
            </a:r>
            <a:r>
              <a:rPr lang="en-US" sz="2250" kern="1200" spc="-532" baseline="-14814" dirty="0">
                <a:solidFill>
                  <a:prstClr val="black"/>
                </a:solidFill>
                <a:latin typeface="Cambria Math"/>
                <a:cs typeface="Cambria Math"/>
              </a:rPr>
              <a:t>      </a:t>
            </a:r>
            <a:r>
              <a:rPr lang="zh-CN" altLang="en-US" sz="2250" kern="1200" spc="-532" baseline="-14814" dirty="0">
                <a:solidFill>
                  <a:prstClr val="black"/>
                </a:solidFill>
                <a:latin typeface="Cambria Math"/>
                <a:cs typeface="Cambria Math"/>
              </a:rPr>
              <a:t>𝑖</a:t>
            </a:r>
            <a:endParaRPr sz="2250" kern="1200" baseline="-14814" dirty="0">
              <a:solidFill>
                <a:prstClr val="black"/>
              </a:solidFill>
              <a:latin typeface="Cambria Math"/>
              <a:cs typeface="Cambria Math"/>
            </a:endParaRPr>
          </a:p>
          <a:p>
            <a:pPr marR="99060" algn="ctr" rtl="0">
              <a:spcBef>
                <a:spcPts val="385"/>
              </a:spcBef>
            </a:pPr>
            <a:r>
              <a:rPr sz="2000" kern="1200" spc="-5" dirty="0">
                <a:solidFill>
                  <a:prstClr val="black"/>
                </a:solidFill>
                <a:latin typeface="Palatino Linotype"/>
                <a:cs typeface="Palatino Linotype"/>
              </a:rPr>
              <a:t>contains </a:t>
            </a:r>
            <a:r>
              <a:rPr sz="2000" kern="1200" dirty="0">
                <a:solidFill>
                  <a:prstClr val="black"/>
                </a:solidFill>
                <a:latin typeface="Palatino Linotype"/>
                <a:cs typeface="Palatino Linotype"/>
              </a:rPr>
              <a:t>item</a:t>
            </a:r>
            <a:r>
              <a:rPr sz="2000" kern="1200" spc="-5" dirty="0">
                <a:solidFill>
                  <a:prstClr val="black"/>
                </a:solidFill>
                <a:latin typeface="Palatino Linotype"/>
                <a:cs typeface="Palatino Linotype"/>
              </a:rPr>
              <a:t> </a:t>
            </a:r>
            <a:r>
              <a:rPr sz="2000" kern="1200" spc="-5" dirty="0">
                <a:solidFill>
                  <a:prstClr val="black"/>
                </a:solidFill>
                <a:latin typeface="Cambria Math"/>
                <a:cs typeface="Cambria Math"/>
              </a:rPr>
              <a:t>[𝐴</a:t>
            </a:r>
            <a:r>
              <a:rPr sz="2000" kern="1200" spc="13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𝛼</a:t>
            </a:r>
            <a:r>
              <a:rPr sz="2000" kern="1200" spc="60" dirty="0">
                <a:solidFill>
                  <a:prstClr val="black"/>
                </a:solidFill>
                <a:latin typeface="Cambria Math"/>
                <a:cs typeface="Cambria Math"/>
              </a:rPr>
              <a:t> </a:t>
            </a:r>
            <a:r>
              <a:rPr lang="en-US" altLang="zh-CN" sz="2000" kern="1200" spc="-60" dirty="0">
                <a:solidFill>
                  <a:prstClr val="black"/>
                </a:solidFill>
                <a:latin typeface="Cambria Math"/>
                <a:cs typeface="Cambria Math"/>
              </a:rPr>
              <a:t>· </a:t>
            </a:r>
            <a:r>
              <a:rPr sz="2000" kern="1200" spc="-60" dirty="0">
                <a:solidFill>
                  <a:prstClr val="black"/>
                </a:solidFill>
                <a:latin typeface="Cambria Math"/>
                <a:cs typeface="Cambria Math"/>
              </a:rPr>
              <a:t>]</a:t>
            </a:r>
            <a:r>
              <a:rPr sz="2000" kern="1200" spc="55" dirty="0">
                <a:solidFill>
                  <a:prstClr val="black"/>
                </a:solidFill>
                <a:latin typeface="Cambria Math"/>
                <a:cs typeface="Cambria Math"/>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input symbol </a:t>
            </a:r>
            <a:r>
              <a:rPr sz="2000" kern="1200" dirty="0">
                <a:solidFill>
                  <a:prstClr val="black"/>
                </a:solidFill>
                <a:latin typeface="Cambria Math"/>
                <a:cs typeface="Cambria Math"/>
              </a:rPr>
              <a:t>𝑎</a:t>
            </a:r>
            <a:r>
              <a:rPr sz="2000" kern="1200" spc="105" dirty="0">
                <a:solidFill>
                  <a:prstClr val="black"/>
                </a:solidFill>
                <a:latin typeface="Cambria Math"/>
                <a:cs typeface="Cambria Math"/>
              </a:rPr>
              <a:t> </a:t>
            </a:r>
            <a:r>
              <a:rPr sz="2000" kern="1200" dirty="0">
                <a:solidFill>
                  <a:prstClr val="black"/>
                </a:solidFill>
                <a:latin typeface="Palatino Linotype"/>
                <a:cs typeface="Palatino Linotype"/>
              </a:rPr>
              <a:t>is in</a:t>
            </a:r>
            <a:r>
              <a:rPr sz="2000" kern="1200" spc="-5" dirty="0">
                <a:solidFill>
                  <a:prstClr val="black"/>
                </a:solidFill>
                <a:latin typeface="Palatino Linotype"/>
                <a:cs typeface="Palatino Linotype"/>
              </a:rPr>
              <a:t> </a:t>
            </a:r>
            <a:r>
              <a:rPr sz="2000" kern="1200" spc="-5" dirty="0">
                <a:solidFill>
                  <a:prstClr val="black"/>
                </a:solidFill>
                <a:latin typeface="Cambria Math"/>
                <a:cs typeface="Cambria Math"/>
              </a:rPr>
              <a:t>FOLLOW</a:t>
            </a:r>
            <a:r>
              <a:rPr sz="2000" kern="1200" spc="375" dirty="0">
                <a:solidFill>
                  <a:prstClr val="black"/>
                </a:solidFill>
                <a:latin typeface="Cambria Math"/>
                <a:cs typeface="Cambria Math"/>
              </a:rPr>
              <a:t> </a:t>
            </a:r>
            <a:r>
              <a:rPr sz="2000" kern="1200" dirty="0">
                <a:solidFill>
                  <a:prstClr val="black"/>
                </a:solidFill>
                <a:latin typeface="Cambria Math"/>
                <a:cs typeface="Cambria Math"/>
              </a:rPr>
              <a:t>𝐴</a:t>
            </a:r>
          </a:p>
          <a:p>
            <a:pPr rtl="0">
              <a:spcBef>
                <a:spcPts val="10"/>
              </a:spcBef>
            </a:pPr>
            <a:endParaRPr sz="2550" kern="1200" dirty="0">
              <a:solidFill>
                <a:prstClr val="black"/>
              </a:solidFill>
              <a:latin typeface="Cambria Math"/>
              <a:cs typeface="Cambria Math"/>
            </a:endParaRPr>
          </a:p>
          <a:p>
            <a:pPr marL="280670" marR="17780" indent="-230504" rtl="0">
              <a:lnSpc>
                <a:spcPct val="121000"/>
              </a:lnSpc>
              <a:buFont typeface="Arial MT"/>
              <a:buChar char="•"/>
              <a:tabLst>
                <a:tab pos="280670" algn="l"/>
                <a:tab pos="281305" algn="l"/>
              </a:tabLst>
            </a:pPr>
            <a:r>
              <a:rPr sz="2000" kern="1200" dirty="0">
                <a:solidFill>
                  <a:prstClr val="black"/>
                </a:solidFill>
                <a:latin typeface="Palatino Linotype"/>
                <a:cs typeface="Palatino Linotype"/>
              </a:rPr>
              <a:t>In</a:t>
            </a:r>
            <a:r>
              <a:rPr sz="2000" kern="1200" spc="-5" dirty="0">
                <a:solidFill>
                  <a:prstClr val="black"/>
                </a:solidFill>
                <a:latin typeface="Palatino Linotype"/>
                <a:cs typeface="Palatino Linotype"/>
              </a:rPr>
              <a:t> some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situations,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after reduction, </a:t>
            </a:r>
            <a:r>
              <a:rPr sz="2000" kern="1200" spc="-5" dirty="0">
                <a:solidFill>
                  <a:srgbClr val="FF0000"/>
                </a:solidFill>
                <a:latin typeface="Palatino Linotype"/>
                <a:cs typeface="Palatino Linotype"/>
              </a:rPr>
              <a:t>the</a:t>
            </a:r>
            <a:r>
              <a:rPr sz="2000" kern="1200" spc="5" dirty="0">
                <a:solidFill>
                  <a:srgbClr val="FF0000"/>
                </a:solidFill>
                <a:latin typeface="Palatino Linotype"/>
                <a:cs typeface="Palatino Linotype"/>
              </a:rPr>
              <a:t> </a:t>
            </a:r>
            <a:r>
              <a:rPr sz="2000" kern="1200" spc="-5" dirty="0">
                <a:solidFill>
                  <a:srgbClr val="FF0000"/>
                </a:solidFill>
                <a:latin typeface="Palatino Linotype"/>
                <a:cs typeface="Palatino Linotype"/>
              </a:rPr>
              <a:t>content </a:t>
            </a:r>
            <a:r>
              <a:rPr sz="2000" kern="1200" dirty="0">
                <a:solidFill>
                  <a:srgbClr val="FF0000"/>
                </a:solidFill>
                <a:latin typeface="Cambria Math"/>
                <a:cs typeface="Cambria Math"/>
              </a:rPr>
              <a:t>𝛽𝛼</a:t>
            </a:r>
            <a:r>
              <a:rPr sz="2000" kern="1200" spc="125" dirty="0">
                <a:solidFill>
                  <a:srgbClr val="FF0000"/>
                </a:solidFill>
                <a:latin typeface="Cambria Math"/>
                <a:cs typeface="Cambria Math"/>
              </a:rPr>
              <a:t> </a:t>
            </a:r>
            <a:r>
              <a:rPr sz="2000" kern="1200" spc="-5" dirty="0">
                <a:solidFill>
                  <a:srgbClr val="FF0000"/>
                </a:solidFill>
                <a:latin typeface="Palatino Linotype"/>
                <a:cs typeface="Palatino Linotype"/>
              </a:rPr>
              <a:t>on stack</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top </a:t>
            </a:r>
            <a:r>
              <a:rPr sz="2000" kern="1200" spc="-484" dirty="0">
                <a:solidFill>
                  <a:srgbClr val="FF0000"/>
                </a:solidFill>
                <a:latin typeface="Palatino Linotype"/>
                <a:cs typeface="Palatino Linotype"/>
              </a:rPr>
              <a:t> </a:t>
            </a:r>
            <a:r>
              <a:rPr sz="2000" kern="1200" spc="-10" dirty="0">
                <a:solidFill>
                  <a:srgbClr val="FF0000"/>
                </a:solidFill>
                <a:latin typeface="Palatino Linotype"/>
                <a:cs typeface="Palatino Linotype"/>
              </a:rPr>
              <a:t>would</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become</a:t>
            </a:r>
            <a:r>
              <a:rPr sz="2000" kern="1200" dirty="0">
                <a:solidFill>
                  <a:srgbClr val="FF0000"/>
                </a:solidFill>
                <a:latin typeface="Palatino Linotype"/>
                <a:cs typeface="Palatino Linotype"/>
              </a:rPr>
              <a:t> </a:t>
            </a:r>
            <a:r>
              <a:rPr sz="2000" kern="1200" dirty="0">
                <a:solidFill>
                  <a:srgbClr val="FF0000"/>
                </a:solidFill>
                <a:latin typeface="Cambria Math"/>
                <a:cs typeface="Cambria Math"/>
              </a:rPr>
              <a:t>𝛽𝐴</a:t>
            </a:r>
            <a:r>
              <a:rPr sz="2000" kern="1200" spc="75" dirty="0">
                <a:solidFill>
                  <a:srgbClr val="FF0000"/>
                </a:solidFill>
                <a:latin typeface="Cambria Math"/>
                <a:cs typeface="Cambria Math"/>
              </a:rPr>
              <a:t> </a:t>
            </a:r>
            <a:r>
              <a:rPr sz="2000" kern="1200" spc="-5" dirty="0">
                <a:solidFill>
                  <a:srgbClr val="FF0000"/>
                </a:solidFill>
                <a:latin typeface="Palatino Linotype"/>
                <a:cs typeface="Palatino Linotype"/>
              </a:rPr>
              <a:t>that</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cannot </a:t>
            </a:r>
            <a:r>
              <a:rPr sz="2000" kern="1200" dirty="0">
                <a:solidFill>
                  <a:srgbClr val="FF0000"/>
                </a:solidFill>
                <a:latin typeface="Palatino Linotype"/>
                <a:cs typeface="Palatino Linotype"/>
              </a:rPr>
              <a:t>be </a:t>
            </a:r>
            <a:r>
              <a:rPr sz="2000" kern="1200" spc="-10" dirty="0">
                <a:solidFill>
                  <a:srgbClr val="FF0000"/>
                </a:solidFill>
                <a:latin typeface="Palatino Linotype"/>
                <a:cs typeface="Palatino Linotype"/>
              </a:rPr>
              <a:t>followed</a:t>
            </a:r>
            <a:r>
              <a:rPr sz="2000" kern="1200" dirty="0">
                <a:solidFill>
                  <a:srgbClr val="FF0000"/>
                </a:solidFill>
                <a:latin typeface="Palatino Linotype"/>
                <a:cs typeface="Palatino Linotype"/>
              </a:rPr>
              <a:t> by </a:t>
            </a:r>
            <a:r>
              <a:rPr sz="2000" kern="1200" dirty="0">
                <a:solidFill>
                  <a:srgbClr val="FF0000"/>
                </a:solidFill>
                <a:latin typeface="Cambria Math"/>
                <a:cs typeface="Cambria Math"/>
              </a:rPr>
              <a:t>𝑎</a:t>
            </a:r>
            <a:r>
              <a:rPr sz="2000" kern="1200" spc="105" dirty="0">
                <a:solidFill>
                  <a:srgbClr val="FF0000"/>
                </a:solidFill>
                <a:latin typeface="Cambria Math"/>
                <a:cs typeface="Cambria Math"/>
              </a:rPr>
              <a:t> </a:t>
            </a:r>
            <a:r>
              <a:rPr sz="2000" kern="1200" dirty="0">
                <a:solidFill>
                  <a:srgbClr val="FF0000"/>
                </a:solidFill>
                <a:latin typeface="Palatino Linotype"/>
                <a:cs typeface="Palatino Linotype"/>
              </a:rPr>
              <a:t>in</a:t>
            </a:r>
            <a:r>
              <a:rPr sz="2000" kern="1200" spc="-5" dirty="0">
                <a:solidFill>
                  <a:srgbClr val="FF0000"/>
                </a:solidFill>
                <a:latin typeface="Palatino Linotype"/>
                <a:cs typeface="Palatino Linotype"/>
              </a:rPr>
              <a:t> any</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right- </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sentential</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form</a:t>
            </a:r>
            <a:endParaRPr sz="2000" kern="1200" dirty="0">
              <a:solidFill>
                <a:prstClr val="black"/>
              </a:solidFill>
              <a:latin typeface="Palatino Linotype"/>
              <a:cs typeface="Palatino Linotype"/>
            </a:endParaRPr>
          </a:p>
        </p:txBody>
      </p:sp>
    </p:spTree>
    <p:extLst>
      <p:ext uri="{BB962C8B-B14F-4D97-AF65-F5344CB8AC3E}">
        <p14:creationId xmlns:p14="http://schemas.microsoft.com/office/powerpoint/2010/main" val="54042015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132</a:t>
            </a:fld>
            <a:endParaRPr lang="en-US"/>
          </a:p>
        </p:txBody>
      </p:sp>
      <p:sp>
        <p:nvSpPr>
          <p:cNvPr id="17" name="object 2">
            <a:extLst>
              <a:ext uri="{FF2B5EF4-FFF2-40B4-BE49-F238E27FC236}">
                <a16:creationId xmlns:a16="http://schemas.microsoft.com/office/drawing/2014/main" id="{5B93A64D-9E75-BD00-F778-4253A75BB58A}"/>
              </a:ext>
            </a:extLst>
          </p:cNvPr>
          <p:cNvSpPr txBox="1">
            <a:spLocks/>
          </p:cNvSpPr>
          <p:nvPr/>
        </p:nvSpPr>
        <p:spPr>
          <a:xfrm>
            <a:off x="707390" y="524763"/>
            <a:ext cx="562610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id</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id</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grpSp>
        <p:nvGrpSpPr>
          <p:cNvPr id="18" name="object 3">
            <a:extLst>
              <a:ext uri="{FF2B5EF4-FFF2-40B4-BE49-F238E27FC236}">
                <a16:creationId xmlns:a16="http://schemas.microsoft.com/office/drawing/2014/main" id="{CF53DA36-ECFA-D45B-686A-34BC076AE697}"/>
              </a:ext>
            </a:extLst>
          </p:cNvPr>
          <p:cNvGrpSpPr/>
          <p:nvPr/>
        </p:nvGrpSpPr>
        <p:grpSpPr>
          <a:xfrm>
            <a:off x="346036" y="2163456"/>
            <a:ext cx="1518920" cy="3676650"/>
            <a:chOff x="346036" y="2163456"/>
            <a:chExt cx="1518920" cy="3676650"/>
          </a:xfrm>
        </p:grpSpPr>
        <p:pic>
          <p:nvPicPr>
            <p:cNvPr id="19" name="object 4">
              <a:extLst>
                <a:ext uri="{FF2B5EF4-FFF2-40B4-BE49-F238E27FC236}">
                  <a16:creationId xmlns:a16="http://schemas.microsoft.com/office/drawing/2014/main" id="{BFFFC9A3-B092-8764-A1B0-25B9F8F048AB}"/>
                </a:ext>
              </a:extLst>
            </p:cNvPr>
            <p:cNvPicPr/>
            <p:nvPr/>
          </p:nvPicPr>
          <p:blipFill>
            <a:blip r:embed="rId3" cstate="print"/>
            <a:stretch>
              <a:fillRect/>
            </a:stretch>
          </p:blipFill>
          <p:spPr>
            <a:xfrm>
              <a:off x="383482" y="2248424"/>
              <a:ext cx="1250867" cy="3509507"/>
            </a:xfrm>
            <a:prstGeom prst="rect">
              <a:avLst/>
            </a:prstGeom>
          </p:spPr>
        </p:pic>
        <p:sp>
          <p:nvSpPr>
            <p:cNvPr id="20" name="object 5">
              <a:extLst>
                <a:ext uri="{FF2B5EF4-FFF2-40B4-BE49-F238E27FC236}">
                  <a16:creationId xmlns:a16="http://schemas.microsoft.com/office/drawing/2014/main" id="{3CFD0609-D755-5A06-B299-4BD890E342A9}"/>
                </a:ext>
              </a:extLst>
            </p:cNvPr>
            <p:cNvSpPr/>
            <p:nvPr/>
          </p:nvSpPr>
          <p:spPr>
            <a:xfrm>
              <a:off x="350798" y="2168219"/>
              <a:ext cx="1509395" cy="3667125"/>
            </a:xfrm>
            <a:custGeom>
              <a:avLst/>
              <a:gdLst/>
              <a:ahLst/>
              <a:cxnLst/>
              <a:rect l="l" t="t" r="r" b="b"/>
              <a:pathLst>
                <a:path w="1509395" h="3667125">
                  <a:moveTo>
                    <a:pt x="0" y="0"/>
                  </a:moveTo>
                  <a:lnTo>
                    <a:pt x="1508890" y="0"/>
                  </a:lnTo>
                  <a:lnTo>
                    <a:pt x="1508890" y="3667125"/>
                  </a:lnTo>
                  <a:lnTo>
                    <a:pt x="0" y="3667125"/>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1" name="object 6">
            <a:extLst>
              <a:ext uri="{FF2B5EF4-FFF2-40B4-BE49-F238E27FC236}">
                <a16:creationId xmlns:a16="http://schemas.microsoft.com/office/drawing/2014/main" id="{4F093A8A-2E09-EBD2-8019-BC2379C7F582}"/>
              </a:ext>
            </a:extLst>
          </p:cNvPr>
          <p:cNvSpPr txBox="1"/>
          <p:nvPr/>
        </p:nvSpPr>
        <p:spPr>
          <a:xfrm>
            <a:off x="6630758" y="365128"/>
            <a:ext cx="1894839" cy="1066800"/>
          </a:xfrm>
          <a:prstGeom prst="rect">
            <a:avLst/>
          </a:prstGeom>
          <a:ln w="9525">
            <a:solidFill>
              <a:srgbClr val="000000"/>
            </a:solidFill>
          </a:ln>
        </p:spPr>
        <p:txBody>
          <a:bodyPr vert="horz" wrap="square" lIns="0" tIns="58419" rIns="0" bIns="0" rtlCol="0">
            <a:spAutoFit/>
          </a:bodyPr>
          <a:lstStyle/>
          <a:p>
            <a:pPr marL="377190" indent="-285750" rtl="0">
              <a:spcBef>
                <a:spcPts val="459"/>
              </a:spcBef>
              <a:buFont typeface="Arial MT"/>
              <a:buChar char="•"/>
              <a:tabLst>
                <a:tab pos="376555" algn="l"/>
                <a:tab pos="377190" algn="l"/>
              </a:tabLst>
            </a:pPr>
            <a:r>
              <a:rPr kern="1200" dirty="0">
                <a:solidFill>
                  <a:prstClr val="black"/>
                </a:solidFill>
                <a:latin typeface="Cambria Math"/>
                <a:cs typeface="Cambria Math"/>
              </a:rPr>
              <a:t>𝑆</a:t>
            </a:r>
            <a:r>
              <a:rPr kern="1200" spc="114" dirty="0">
                <a:solidFill>
                  <a:prstClr val="black"/>
                </a:solidFill>
                <a:latin typeface="Cambria Math"/>
                <a:cs typeface="Cambria Math"/>
              </a:rPr>
              <a:t> </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dirty="0">
                <a:solidFill>
                  <a:prstClr val="black"/>
                </a:solidFill>
                <a:latin typeface="Cambria Math"/>
                <a:cs typeface="Cambria Math"/>
              </a:rPr>
              <a:t>𝐿</a:t>
            </a:r>
            <a:r>
              <a:rPr kern="1200" spc="130" dirty="0">
                <a:solidFill>
                  <a:prstClr val="black"/>
                </a:solidFill>
                <a:latin typeface="Cambria Math"/>
                <a:cs typeface="Cambria Math"/>
              </a:rPr>
              <a:t> </a:t>
            </a:r>
            <a:r>
              <a:rPr kern="1200" dirty="0">
                <a:solidFill>
                  <a:prstClr val="black"/>
                </a:solidFill>
                <a:latin typeface="Cambria Math"/>
                <a:cs typeface="Cambria Math"/>
              </a:rPr>
              <a:t>=</a:t>
            </a:r>
            <a:r>
              <a:rPr kern="1200" spc="90" dirty="0">
                <a:solidFill>
                  <a:prstClr val="black"/>
                </a:solidFill>
                <a:latin typeface="Cambria Math"/>
                <a:cs typeface="Cambria Math"/>
              </a:rPr>
              <a:t> </a:t>
            </a:r>
            <a:r>
              <a:rPr kern="1200" dirty="0">
                <a:solidFill>
                  <a:prstClr val="black"/>
                </a:solidFill>
                <a:latin typeface="Cambria Math"/>
                <a:cs typeface="Cambria Math"/>
              </a:rPr>
              <a:t>𝑅</a:t>
            </a:r>
            <a:r>
              <a:rPr kern="1200" spc="40" dirty="0">
                <a:solidFill>
                  <a:prstClr val="black"/>
                </a:solidFill>
                <a:latin typeface="Cambria Math"/>
                <a:cs typeface="Cambria Math"/>
              </a:rPr>
              <a:t> </a:t>
            </a:r>
            <a:r>
              <a:rPr kern="1200" dirty="0">
                <a:solidFill>
                  <a:prstClr val="black"/>
                </a:solidFill>
                <a:latin typeface="Cambria Math"/>
                <a:cs typeface="Cambria Math"/>
              </a:rPr>
              <a:t>|</a:t>
            </a:r>
            <a:r>
              <a:rPr kern="1200" spc="-5" dirty="0">
                <a:solidFill>
                  <a:prstClr val="black"/>
                </a:solidFill>
                <a:latin typeface="Cambria Math"/>
                <a:cs typeface="Cambria Math"/>
              </a:rPr>
              <a:t> </a:t>
            </a:r>
            <a:r>
              <a:rPr kern="1200" dirty="0">
                <a:solidFill>
                  <a:prstClr val="black"/>
                </a:solidFill>
                <a:latin typeface="Cambria Math"/>
                <a:cs typeface="Cambria Math"/>
              </a:rPr>
              <a:t>𝑅</a:t>
            </a:r>
            <a:endParaRPr kern="1200">
              <a:solidFill>
                <a:prstClr val="black"/>
              </a:solidFill>
              <a:latin typeface="Cambria Math"/>
              <a:cs typeface="Cambria Math"/>
            </a:endParaRPr>
          </a:p>
          <a:p>
            <a:pPr marL="377190" indent="-285750" rtl="0">
              <a:spcBef>
                <a:spcPts val="430"/>
              </a:spcBef>
              <a:buFont typeface="Arial MT"/>
              <a:buChar char="•"/>
              <a:tabLst>
                <a:tab pos="376555" algn="l"/>
                <a:tab pos="377190" algn="l"/>
              </a:tabLst>
            </a:pPr>
            <a:r>
              <a:rPr kern="1200" dirty="0">
                <a:solidFill>
                  <a:prstClr val="black"/>
                </a:solidFill>
                <a:latin typeface="Cambria Math"/>
                <a:cs typeface="Cambria Math"/>
              </a:rPr>
              <a:t>𝐿</a:t>
            </a:r>
            <a:r>
              <a:rPr kern="1200" spc="120"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𝑅</a:t>
            </a:r>
            <a:r>
              <a:rPr kern="1200" spc="35"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spc="-5" dirty="0">
                <a:solidFill>
                  <a:prstClr val="black"/>
                </a:solidFill>
                <a:latin typeface="Cambria Math"/>
                <a:cs typeface="Cambria Math"/>
              </a:rPr>
              <a:t>𝐢𝐝</a:t>
            </a:r>
            <a:endParaRPr kern="1200">
              <a:solidFill>
                <a:prstClr val="black"/>
              </a:solidFill>
              <a:latin typeface="Cambria Math"/>
              <a:cs typeface="Cambria Math"/>
            </a:endParaRPr>
          </a:p>
          <a:p>
            <a:pPr marL="377190" indent="-285750" rtl="0">
              <a:spcBef>
                <a:spcPts val="455"/>
              </a:spcBef>
              <a:buFont typeface="Arial MT"/>
              <a:buChar char="•"/>
              <a:tabLst>
                <a:tab pos="376555" algn="l"/>
                <a:tab pos="377190" algn="l"/>
              </a:tabLst>
            </a:pPr>
            <a:r>
              <a:rPr kern="1200" dirty="0">
                <a:solidFill>
                  <a:prstClr val="black"/>
                </a:solidFill>
                <a:latin typeface="Cambria Math"/>
                <a:cs typeface="Cambria Math"/>
              </a:rPr>
              <a:t>𝑅</a:t>
            </a:r>
            <a:r>
              <a:rPr kern="1200" spc="120" dirty="0">
                <a:solidFill>
                  <a:prstClr val="black"/>
                </a:solidFill>
                <a:latin typeface="Cambria Math"/>
                <a:cs typeface="Cambria Math"/>
              </a:rPr>
              <a:t> </a:t>
            </a:r>
            <a:r>
              <a:rPr kern="1200" dirty="0">
                <a:solidFill>
                  <a:prstClr val="black"/>
                </a:solidFill>
                <a:latin typeface="Cambria Math"/>
                <a:cs typeface="Cambria Math"/>
              </a:rPr>
              <a:t>→</a:t>
            </a:r>
            <a:r>
              <a:rPr kern="1200" spc="75" dirty="0">
                <a:solidFill>
                  <a:prstClr val="black"/>
                </a:solidFill>
                <a:latin typeface="Cambria Math"/>
                <a:cs typeface="Cambria Math"/>
              </a:rPr>
              <a:t> </a:t>
            </a:r>
            <a:r>
              <a:rPr kern="1200" dirty="0">
                <a:solidFill>
                  <a:prstClr val="black"/>
                </a:solidFill>
                <a:latin typeface="Cambria Math"/>
                <a:cs typeface="Cambria Math"/>
              </a:rPr>
              <a:t>𝐿</a:t>
            </a:r>
            <a:endParaRPr kern="1200">
              <a:solidFill>
                <a:prstClr val="black"/>
              </a:solidFill>
              <a:latin typeface="Cambria Math"/>
              <a:cs typeface="Cambria Math"/>
            </a:endParaRPr>
          </a:p>
        </p:txBody>
      </p:sp>
      <p:graphicFrame>
        <p:nvGraphicFramePr>
          <p:cNvPr id="22" name="object 7">
            <a:extLst>
              <a:ext uri="{FF2B5EF4-FFF2-40B4-BE49-F238E27FC236}">
                <a16:creationId xmlns:a16="http://schemas.microsoft.com/office/drawing/2014/main" id="{8AE63327-EEBA-693D-2389-2ECF8133D2AC}"/>
              </a:ext>
            </a:extLst>
          </p:cNvPr>
          <p:cNvGraphicFramePr>
            <a:graphicFrameLocks noGrp="1"/>
          </p:cNvGraphicFramePr>
          <p:nvPr/>
        </p:nvGraphicFramePr>
        <p:xfrm>
          <a:off x="4073473" y="1818477"/>
          <a:ext cx="4439919" cy="2062480"/>
        </p:xfrm>
        <a:graphic>
          <a:graphicData uri="http://schemas.openxmlformats.org/drawingml/2006/table">
            <a:tbl>
              <a:tblPr firstRow="1" bandRow="1"/>
              <a:tblGrid>
                <a:gridCol w="845185">
                  <a:extLst>
                    <a:ext uri="{9D8B030D-6E8A-4147-A177-3AD203B41FA5}">
                      <a16:colId xmlns:a16="http://schemas.microsoft.com/office/drawing/2014/main" val="20000"/>
                    </a:ext>
                  </a:extLst>
                </a:gridCol>
                <a:gridCol w="1123950">
                  <a:extLst>
                    <a:ext uri="{9D8B030D-6E8A-4147-A177-3AD203B41FA5}">
                      <a16:colId xmlns:a16="http://schemas.microsoft.com/office/drawing/2014/main" val="20001"/>
                    </a:ext>
                  </a:extLst>
                </a:gridCol>
                <a:gridCol w="862964">
                  <a:extLst>
                    <a:ext uri="{9D8B030D-6E8A-4147-A177-3AD203B41FA5}">
                      <a16:colId xmlns:a16="http://schemas.microsoft.com/office/drawing/2014/main" val="20002"/>
                    </a:ext>
                  </a:extLst>
                </a:gridCol>
                <a:gridCol w="1607820">
                  <a:extLst>
                    <a:ext uri="{9D8B030D-6E8A-4147-A177-3AD203B41FA5}">
                      <a16:colId xmlns:a16="http://schemas.microsoft.com/office/drawing/2014/main" val="20003"/>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68275">
                        <a:lnSpc>
                          <a:spcPct val="100000"/>
                        </a:lnSpc>
                        <a:spcBef>
                          <a:spcPts val="254"/>
                        </a:spcBef>
                      </a:pPr>
                      <a:r>
                        <a:rPr sz="1600" b="1" spc="-5" dirty="0">
                          <a:solidFill>
                            <a:srgbClr val="FFFFFF"/>
                          </a:solidFill>
                          <a:latin typeface="Palatino Linotype"/>
                          <a:cs typeface="Palatino Linotype"/>
                        </a:rPr>
                        <a:t>Stack</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54940">
                        <a:lnSpc>
                          <a:spcPct val="100000"/>
                        </a:lnSpc>
                        <a:spcBef>
                          <a:spcPts val="254"/>
                        </a:spcBef>
                      </a:pPr>
                      <a:r>
                        <a:rPr sz="1600" b="1" spc="-5" dirty="0">
                          <a:solidFill>
                            <a:srgbClr val="FFFFFF"/>
                          </a:solidFill>
                          <a:latin typeface="Palatino Linotype"/>
                          <a:cs typeface="Palatino Linotype"/>
                        </a:rPr>
                        <a:t>Symbols</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71450">
                        <a:lnSpc>
                          <a:spcPct val="100000"/>
                        </a:lnSpc>
                        <a:spcBef>
                          <a:spcPts val="254"/>
                        </a:spcBef>
                      </a:pPr>
                      <a:r>
                        <a:rPr sz="1600" b="1" spc="-5" dirty="0">
                          <a:solidFill>
                            <a:srgbClr val="FFFFFF"/>
                          </a:solidFill>
                          <a:latin typeface="Palatino Linotype"/>
                          <a:cs typeface="Palatino Linotype"/>
                        </a:rPr>
                        <a:t>Input</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492125">
                        <a:lnSpc>
                          <a:spcPct val="100000"/>
                        </a:lnSpc>
                        <a:spcBef>
                          <a:spcPts val="254"/>
                        </a:spcBef>
                      </a:pPr>
                      <a:r>
                        <a:rPr sz="1600" b="1" dirty="0">
                          <a:solidFill>
                            <a:srgbClr val="FFFFFF"/>
                          </a:solidFill>
                          <a:latin typeface="Palatino Linotype"/>
                          <a:cs typeface="Palatino Linotype"/>
                        </a:rPr>
                        <a:t>Action</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0805">
                        <a:lnSpc>
                          <a:spcPct val="100000"/>
                        </a:lnSpc>
                        <a:spcBef>
                          <a:spcPts val="260"/>
                        </a:spcBef>
                      </a:pPr>
                      <a:r>
                        <a:rPr sz="1600" dirty="0">
                          <a:latin typeface="Palatino Linotype"/>
                          <a:cs typeface="Palatino Linotype"/>
                        </a:rPr>
                        <a:t>$0</a:t>
                      </a:r>
                      <a:endParaRPr sz="1600">
                        <a:latin typeface="Palatino Linotype"/>
                        <a:cs typeface="Palatino Linotype"/>
                      </a:endParaRPr>
                    </a:p>
                  </a:txBody>
                  <a:tcPr marL="0" marR="0" marT="3302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CFD5EA"/>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600">
                        <a:latin typeface="Times New Roman"/>
                        <a:cs typeface="Times New Roman"/>
                      </a:endParaRPr>
                    </a:p>
                  </a:txBody>
                  <a:tcPr marL="0" marR="0" marT="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CFD5EA"/>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84455" algn="r">
                        <a:lnSpc>
                          <a:spcPct val="100000"/>
                        </a:lnSpc>
                        <a:spcBef>
                          <a:spcPts val="260"/>
                        </a:spcBef>
                      </a:pPr>
                      <a:r>
                        <a:rPr sz="1600" spc="-5" dirty="0">
                          <a:latin typeface="Palatino Linotype"/>
                          <a:cs typeface="Palatino Linotype"/>
                        </a:rPr>
                        <a:t>id</a:t>
                      </a:r>
                      <a:r>
                        <a:rPr sz="1600" spc="-35" dirty="0">
                          <a:latin typeface="Palatino Linotype"/>
                          <a:cs typeface="Palatino Linotype"/>
                        </a:rPr>
                        <a:t> </a:t>
                      </a:r>
                      <a:r>
                        <a:rPr sz="1600" dirty="0">
                          <a:latin typeface="Palatino Linotype"/>
                          <a:cs typeface="Palatino Linotype"/>
                        </a:rPr>
                        <a:t>=</a:t>
                      </a:r>
                      <a:r>
                        <a:rPr sz="1600" spc="-25" dirty="0">
                          <a:latin typeface="Palatino Linotype"/>
                          <a:cs typeface="Palatino Linotype"/>
                        </a:rPr>
                        <a:t> </a:t>
                      </a:r>
                      <a:r>
                        <a:rPr sz="1600" spc="-5" dirty="0">
                          <a:latin typeface="Palatino Linotype"/>
                          <a:cs typeface="Palatino Linotype"/>
                        </a:rPr>
                        <a:t>id</a:t>
                      </a:r>
                      <a:endParaRPr sz="1600">
                        <a:latin typeface="Palatino Linotype"/>
                        <a:cs typeface="Palatino Linotype"/>
                      </a:endParaRPr>
                    </a:p>
                  </a:txBody>
                  <a:tcPr marL="0" marR="0" marT="3302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CFD5EA"/>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260"/>
                        </a:spcBef>
                      </a:pPr>
                      <a:r>
                        <a:rPr sz="1600" spc="-5" dirty="0">
                          <a:latin typeface="Palatino Linotype"/>
                          <a:cs typeface="Palatino Linotype"/>
                        </a:rPr>
                        <a:t>Shift</a:t>
                      </a:r>
                      <a:r>
                        <a:rPr sz="1600" spc="-35" dirty="0">
                          <a:latin typeface="Palatino Linotype"/>
                          <a:cs typeface="Palatino Linotype"/>
                        </a:rPr>
                        <a:t> </a:t>
                      </a:r>
                      <a:r>
                        <a:rPr sz="1600" dirty="0">
                          <a:latin typeface="Palatino Linotype"/>
                          <a:cs typeface="Palatino Linotype"/>
                        </a:rPr>
                        <a:t>5</a:t>
                      </a:r>
                      <a:endParaRPr sz="1600">
                        <a:latin typeface="Palatino Linotype"/>
                        <a:cs typeface="Palatino Linotype"/>
                      </a:endParaRPr>
                    </a:p>
                  </a:txBody>
                  <a:tcPr marL="0" marR="0" marT="3302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CFD5EA"/>
                    </a:solid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0805">
                        <a:lnSpc>
                          <a:spcPct val="100000"/>
                        </a:lnSpc>
                        <a:spcBef>
                          <a:spcPts val="270"/>
                        </a:spcBef>
                      </a:pPr>
                      <a:r>
                        <a:rPr sz="1600" dirty="0">
                          <a:latin typeface="Palatino Linotype"/>
                          <a:cs typeface="Palatino Linotype"/>
                        </a:rPr>
                        <a:t>$05</a:t>
                      </a:r>
                      <a:endParaRPr sz="1600">
                        <a:latin typeface="Palatino Linotype"/>
                        <a:cs typeface="Palatino Linotype"/>
                      </a:endParaRPr>
                    </a:p>
                  </a:txBody>
                  <a:tcPr marL="0" marR="0" marT="3429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E9EBF5"/>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0805">
                        <a:lnSpc>
                          <a:spcPct val="100000"/>
                        </a:lnSpc>
                        <a:spcBef>
                          <a:spcPts val="270"/>
                        </a:spcBef>
                      </a:pPr>
                      <a:r>
                        <a:rPr sz="1600" spc="-5" dirty="0">
                          <a:latin typeface="Palatino Linotype"/>
                          <a:cs typeface="Palatino Linotype"/>
                        </a:rPr>
                        <a:t>id</a:t>
                      </a:r>
                      <a:endParaRPr sz="1600">
                        <a:latin typeface="Palatino Linotype"/>
                        <a:cs typeface="Palatino Linotype"/>
                      </a:endParaRPr>
                    </a:p>
                  </a:txBody>
                  <a:tcPr marL="0" marR="0" marT="3429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E9EBF5"/>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84455" algn="r">
                        <a:lnSpc>
                          <a:spcPct val="100000"/>
                        </a:lnSpc>
                        <a:spcBef>
                          <a:spcPts val="270"/>
                        </a:spcBef>
                      </a:pPr>
                      <a:r>
                        <a:rPr sz="1600" dirty="0">
                          <a:latin typeface="Palatino Linotype"/>
                          <a:cs typeface="Palatino Linotype"/>
                        </a:rPr>
                        <a:t>=</a:t>
                      </a:r>
                      <a:r>
                        <a:rPr sz="1600" spc="-45" dirty="0">
                          <a:latin typeface="Palatino Linotype"/>
                          <a:cs typeface="Palatino Linotype"/>
                        </a:rPr>
                        <a:t> </a:t>
                      </a:r>
                      <a:r>
                        <a:rPr sz="1600" spc="-5" dirty="0">
                          <a:latin typeface="Palatino Linotype"/>
                          <a:cs typeface="Palatino Linotype"/>
                        </a:rPr>
                        <a:t>id</a:t>
                      </a:r>
                      <a:endParaRPr sz="1600">
                        <a:latin typeface="Palatino Linotype"/>
                        <a:cs typeface="Palatino Linotype"/>
                      </a:endParaRPr>
                    </a:p>
                  </a:txBody>
                  <a:tcPr marL="0" marR="0" marT="3429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E9EBF5"/>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270"/>
                        </a:spcBef>
                      </a:pPr>
                      <a:r>
                        <a:rPr sz="1600" spc="-5" dirty="0">
                          <a:latin typeface="Palatino Linotype"/>
                          <a:cs typeface="Palatino Linotype"/>
                        </a:rPr>
                        <a:t>Reduce</a:t>
                      </a:r>
                      <a:r>
                        <a:rPr sz="1600" spc="-40" dirty="0">
                          <a:latin typeface="Palatino Linotype"/>
                          <a:cs typeface="Palatino Linotype"/>
                        </a:rPr>
                        <a:t> </a:t>
                      </a:r>
                      <a:r>
                        <a:rPr sz="1600" spc="-5" dirty="0">
                          <a:latin typeface="Palatino Linotype"/>
                          <a:cs typeface="Palatino Linotype"/>
                        </a:rPr>
                        <a:t>L</a:t>
                      </a:r>
                      <a:r>
                        <a:rPr sz="1600" spc="-5" dirty="0">
                          <a:latin typeface="Times New Roman"/>
                          <a:cs typeface="Times New Roman"/>
                        </a:rPr>
                        <a:t>→</a:t>
                      </a:r>
                      <a:r>
                        <a:rPr sz="1600" spc="-5" dirty="0">
                          <a:latin typeface="Palatino Linotype"/>
                          <a:cs typeface="Palatino Linotype"/>
                        </a:rPr>
                        <a:t>id</a:t>
                      </a:r>
                      <a:endParaRPr sz="1600">
                        <a:latin typeface="Palatino Linotype"/>
                        <a:cs typeface="Palatino Linotype"/>
                      </a:endParaRPr>
                    </a:p>
                  </a:txBody>
                  <a:tcPr marL="0" marR="0" marT="3429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10002"/>
                  </a:ext>
                </a:extLst>
              </a:tr>
              <a:tr h="57912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0805">
                        <a:lnSpc>
                          <a:spcPct val="100000"/>
                        </a:lnSpc>
                        <a:spcBef>
                          <a:spcPts val="254"/>
                        </a:spcBef>
                      </a:pPr>
                      <a:r>
                        <a:rPr sz="1600" dirty="0">
                          <a:latin typeface="Palatino Linotype"/>
                          <a:cs typeface="Palatino Linotype"/>
                        </a:rPr>
                        <a:t>$02</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CFD5EA"/>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0805">
                        <a:lnSpc>
                          <a:spcPct val="100000"/>
                        </a:lnSpc>
                        <a:spcBef>
                          <a:spcPts val="254"/>
                        </a:spcBef>
                      </a:pPr>
                      <a:r>
                        <a:rPr sz="1600" dirty="0">
                          <a:latin typeface="Palatino Linotype"/>
                          <a:cs typeface="Palatino Linotype"/>
                        </a:rPr>
                        <a:t>L</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CFD5EA"/>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84455" algn="r">
                        <a:lnSpc>
                          <a:spcPct val="100000"/>
                        </a:lnSpc>
                        <a:spcBef>
                          <a:spcPts val="254"/>
                        </a:spcBef>
                      </a:pPr>
                      <a:r>
                        <a:rPr sz="1600" dirty="0">
                          <a:latin typeface="Palatino Linotype"/>
                          <a:cs typeface="Palatino Linotype"/>
                        </a:rPr>
                        <a:t>=</a:t>
                      </a:r>
                      <a:r>
                        <a:rPr sz="1600" spc="-45" dirty="0">
                          <a:latin typeface="Palatino Linotype"/>
                          <a:cs typeface="Palatino Linotype"/>
                        </a:rPr>
                        <a:t> </a:t>
                      </a:r>
                      <a:r>
                        <a:rPr sz="1600" spc="-5" dirty="0">
                          <a:latin typeface="Palatino Linotype"/>
                          <a:cs typeface="Palatino Linotype"/>
                        </a:rPr>
                        <a:t>id</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CFD5EA"/>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marR="381635">
                        <a:lnSpc>
                          <a:spcPts val="1900"/>
                        </a:lnSpc>
                        <a:spcBef>
                          <a:spcPts val="335"/>
                        </a:spcBef>
                      </a:pPr>
                      <a:r>
                        <a:rPr sz="1600" spc="-5" dirty="0">
                          <a:solidFill>
                            <a:srgbClr val="FF0000"/>
                          </a:solidFill>
                          <a:latin typeface="Palatino Linotype"/>
                          <a:cs typeface="Palatino Linotype"/>
                        </a:rPr>
                        <a:t>Suppose </a:t>
                      </a:r>
                      <a:r>
                        <a:rPr sz="1600" dirty="0">
                          <a:solidFill>
                            <a:srgbClr val="FF0000"/>
                          </a:solidFill>
                          <a:latin typeface="Palatino Linotype"/>
                          <a:cs typeface="Palatino Linotype"/>
                        </a:rPr>
                        <a:t> </a:t>
                      </a:r>
                      <a:r>
                        <a:rPr sz="1600" spc="-5" dirty="0">
                          <a:solidFill>
                            <a:srgbClr val="FF0000"/>
                          </a:solidFill>
                          <a:latin typeface="Palatino Linotype"/>
                          <a:cs typeface="Palatino Linotype"/>
                        </a:rPr>
                        <a:t>reduce</a:t>
                      </a:r>
                      <a:r>
                        <a:rPr sz="1600" spc="-75" dirty="0">
                          <a:solidFill>
                            <a:srgbClr val="FF0000"/>
                          </a:solidFill>
                          <a:latin typeface="Palatino Linotype"/>
                          <a:cs typeface="Palatino Linotype"/>
                        </a:rPr>
                        <a:t> </a:t>
                      </a:r>
                      <a:r>
                        <a:rPr sz="1600" dirty="0">
                          <a:solidFill>
                            <a:srgbClr val="FF0000"/>
                          </a:solidFill>
                          <a:latin typeface="Palatino Linotype"/>
                          <a:cs typeface="Palatino Linotype"/>
                        </a:rPr>
                        <a:t>R</a:t>
                      </a:r>
                      <a:r>
                        <a:rPr sz="1600" dirty="0">
                          <a:solidFill>
                            <a:srgbClr val="FF0000"/>
                          </a:solidFill>
                          <a:latin typeface="Times New Roman"/>
                          <a:cs typeface="Times New Roman"/>
                        </a:rPr>
                        <a:t>→</a:t>
                      </a:r>
                      <a:r>
                        <a:rPr sz="1600" dirty="0">
                          <a:solidFill>
                            <a:srgbClr val="FF0000"/>
                          </a:solidFill>
                          <a:latin typeface="Palatino Linotype"/>
                          <a:cs typeface="Palatino Linotype"/>
                        </a:rPr>
                        <a:t>L</a:t>
                      </a:r>
                      <a:endParaRPr sz="1600">
                        <a:latin typeface="Palatino Linotype"/>
                        <a:cs typeface="Palatino Linotype"/>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CFD5EA"/>
                    </a:solidFill>
                  </a:tcPr>
                </a:tc>
                <a:extLst>
                  <a:ext uri="{0D108BD9-81ED-4DB2-BD59-A6C34878D82A}">
                    <a16:rowId xmlns:a16="http://schemas.microsoft.com/office/drawing/2014/main" val="10003"/>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0805">
                        <a:lnSpc>
                          <a:spcPct val="100000"/>
                        </a:lnSpc>
                        <a:spcBef>
                          <a:spcPts val="254"/>
                        </a:spcBef>
                      </a:pPr>
                      <a:r>
                        <a:rPr sz="1600" dirty="0">
                          <a:latin typeface="Palatino Linotype"/>
                          <a:cs typeface="Palatino Linotype"/>
                        </a:rPr>
                        <a:t>$03</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E9EBF5"/>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0805">
                        <a:lnSpc>
                          <a:spcPct val="100000"/>
                        </a:lnSpc>
                        <a:spcBef>
                          <a:spcPts val="254"/>
                        </a:spcBef>
                      </a:pPr>
                      <a:r>
                        <a:rPr sz="1600" dirty="0">
                          <a:latin typeface="Palatino Linotype"/>
                          <a:cs typeface="Palatino Linotype"/>
                        </a:rPr>
                        <a:t>R</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E9EBF5"/>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84455" algn="r">
                        <a:lnSpc>
                          <a:spcPct val="100000"/>
                        </a:lnSpc>
                        <a:spcBef>
                          <a:spcPts val="254"/>
                        </a:spcBef>
                      </a:pPr>
                      <a:r>
                        <a:rPr sz="1600" dirty="0">
                          <a:latin typeface="Palatino Linotype"/>
                          <a:cs typeface="Palatino Linotype"/>
                        </a:rPr>
                        <a:t>=</a:t>
                      </a:r>
                      <a:r>
                        <a:rPr sz="1600" spc="-45" dirty="0">
                          <a:latin typeface="Palatino Linotype"/>
                          <a:cs typeface="Palatino Linotype"/>
                        </a:rPr>
                        <a:t> </a:t>
                      </a:r>
                      <a:r>
                        <a:rPr sz="1600" spc="-5" dirty="0">
                          <a:latin typeface="Palatino Linotype"/>
                          <a:cs typeface="Palatino Linotype"/>
                        </a:rPr>
                        <a:t>id</a:t>
                      </a:r>
                      <a:endParaRPr sz="1600">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E9EBF5"/>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91440">
                        <a:lnSpc>
                          <a:spcPct val="100000"/>
                        </a:lnSpc>
                        <a:spcBef>
                          <a:spcPts val="254"/>
                        </a:spcBef>
                      </a:pPr>
                      <a:r>
                        <a:rPr sz="1600" b="1" dirty="0">
                          <a:solidFill>
                            <a:srgbClr val="0432FF"/>
                          </a:solidFill>
                          <a:latin typeface="Palatino Linotype"/>
                          <a:cs typeface="Palatino Linotype"/>
                        </a:rPr>
                        <a:t>Error!</a:t>
                      </a:r>
                      <a:r>
                        <a:rPr sz="1650" b="1" i="1" baseline="25252" dirty="0">
                          <a:solidFill>
                            <a:srgbClr val="0432FF"/>
                          </a:solidFill>
                          <a:latin typeface="Palatino Linotype"/>
                          <a:cs typeface="Palatino Linotype"/>
                        </a:rPr>
                        <a:t>*</a:t>
                      </a:r>
                      <a:endParaRPr sz="1650" baseline="25252">
                        <a:latin typeface="Palatino Linotype"/>
                        <a:cs typeface="Palatino Linotype"/>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10004"/>
                  </a:ext>
                </a:extLst>
              </a:tr>
            </a:tbl>
          </a:graphicData>
        </a:graphic>
      </p:graphicFrame>
      <p:grpSp>
        <p:nvGrpSpPr>
          <p:cNvPr id="23" name="object 8">
            <a:extLst>
              <a:ext uri="{FF2B5EF4-FFF2-40B4-BE49-F238E27FC236}">
                <a16:creationId xmlns:a16="http://schemas.microsoft.com/office/drawing/2014/main" id="{E6FFE2A2-BE24-10E9-A1D4-257DD6437626}"/>
              </a:ext>
            </a:extLst>
          </p:cNvPr>
          <p:cNvGrpSpPr/>
          <p:nvPr/>
        </p:nvGrpSpPr>
        <p:grpSpPr>
          <a:xfrm>
            <a:off x="2002155" y="2163456"/>
            <a:ext cx="1621790" cy="3676650"/>
            <a:chOff x="2002155" y="2163456"/>
            <a:chExt cx="1621790" cy="3676650"/>
          </a:xfrm>
        </p:grpSpPr>
        <p:pic>
          <p:nvPicPr>
            <p:cNvPr id="24" name="object 9">
              <a:extLst>
                <a:ext uri="{FF2B5EF4-FFF2-40B4-BE49-F238E27FC236}">
                  <a16:creationId xmlns:a16="http://schemas.microsoft.com/office/drawing/2014/main" id="{51EC6033-6708-BAF0-C4B5-A891A65C330E}"/>
                </a:ext>
              </a:extLst>
            </p:cNvPr>
            <p:cNvPicPr/>
            <p:nvPr/>
          </p:nvPicPr>
          <p:blipFill>
            <a:blip r:embed="rId4" cstate="print"/>
            <a:stretch>
              <a:fillRect/>
            </a:stretch>
          </p:blipFill>
          <p:spPr>
            <a:xfrm>
              <a:off x="2248965" y="2256807"/>
              <a:ext cx="1247843" cy="2341534"/>
            </a:xfrm>
            <a:prstGeom prst="rect">
              <a:avLst/>
            </a:prstGeom>
          </p:spPr>
        </p:pic>
        <p:sp>
          <p:nvSpPr>
            <p:cNvPr id="25" name="object 10">
              <a:extLst>
                <a:ext uri="{FF2B5EF4-FFF2-40B4-BE49-F238E27FC236}">
                  <a16:creationId xmlns:a16="http://schemas.microsoft.com/office/drawing/2014/main" id="{1090A317-1AA9-8D6C-1571-824DB669CE0C}"/>
                </a:ext>
              </a:extLst>
            </p:cNvPr>
            <p:cNvSpPr/>
            <p:nvPr/>
          </p:nvSpPr>
          <p:spPr>
            <a:xfrm>
              <a:off x="2006917" y="2168219"/>
              <a:ext cx="1612265" cy="3667125"/>
            </a:xfrm>
            <a:custGeom>
              <a:avLst/>
              <a:gdLst/>
              <a:ahLst/>
              <a:cxnLst/>
              <a:rect l="l" t="t" r="r" b="b"/>
              <a:pathLst>
                <a:path w="1612264" h="3667125">
                  <a:moveTo>
                    <a:pt x="0" y="0"/>
                  </a:moveTo>
                  <a:lnTo>
                    <a:pt x="1611902" y="0"/>
                  </a:lnTo>
                  <a:lnTo>
                    <a:pt x="1611902" y="3667125"/>
                  </a:lnTo>
                  <a:lnTo>
                    <a:pt x="0" y="3667125"/>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6" name="object 11">
            <a:extLst>
              <a:ext uri="{FF2B5EF4-FFF2-40B4-BE49-F238E27FC236}">
                <a16:creationId xmlns:a16="http://schemas.microsoft.com/office/drawing/2014/main" id="{09E2F559-3148-EC9D-0143-58E161ACBC4C}"/>
              </a:ext>
            </a:extLst>
          </p:cNvPr>
          <p:cNvSpPr txBox="1"/>
          <p:nvPr/>
        </p:nvSpPr>
        <p:spPr>
          <a:xfrm>
            <a:off x="4128960" y="4009644"/>
            <a:ext cx="4159885" cy="238760"/>
          </a:xfrm>
          <a:prstGeom prst="rect">
            <a:avLst/>
          </a:prstGeom>
        </p:spPr>
        <p:txBody>
          <a:bodyPr vert="horz" wrap="square" lIns="0" tIns="12700" rIns="0" bIns="0" rtlCol="0">
            <a:spAutoFit/>
          </a:bodyPr>
          <a:lstStyle/>
          <a:p>
            <a:pPr marL="12700" rtl="0">
              <a:spcBef>
                <a:spcPts val="100"/>
              </a:spcBef>
            </a:pPr>
            <a:r>
              <a:rPr sz="1400" kern="1200" dirty="0">
                <a:solidFill>
                  <a:srgbClr val="A6A6A6"/>
                </a:solidFill>
                <a:latin typeface="Palatino Linotype"/>
                <a:cs typeface="Palatino Linotype"/>
              </a:rPr>
              <a:t>* </a:t>
            </a:r>
            <a:r>
              <a:rPr sz="1400" kern="1200" spc="-5" dirty="0">
                <a:solidFill>
                  <a:srgbClr val="A6A6A6"/>
                </a:solidFill>
                <a:latin typeface="Palatino Linotype"/>
                <a:cs typeface="Palatino Linotype"/>
              </a:rPr>
              <a:t>Cannot</a:t>
            </a:r>
            <a:r>
              <a:rPr sz="1400" kern="1200" spc="5" dirty="0">
                <a:solidFill>
                  <a:srgbClr val="A6A6A6"/>
                </a:solidFill>
                <a:latin typeface="Palatino Linotype"/>
                <a:cs typeface="Palatino Linotype"/>
              </a:rPr>
              <a:t> </a:t>
            </a:r>
            <a:r>
              <a:rPr sz="1400" kern="1200" spc="-5" dirty="0">
                <a:solidFill>
                  <a:srgbClr val="A6A6A6"/>
                </a:solidFill>
                <a:latin typeface="Palatino Linotype"/>
                <a:cs typeface="Palatino Linotype"/>
              </a:rPr>
              <a:t>shift,</a:t>
            </a:r>
            <a:r>
              <a:rPr sz="1400" kern="1200" dirty="0">
                <a:solidFill>
                  <a:srgbClr val="A6A6A6"/>
                </a:solidFill>
                <a:latin typeface="Palatino Linotype"/>
                <a:cs typeface="Palatino Linotype"/>
              </a:rPr>
              <a:t> </a:t>
            </a:r>
            <a:r>
              <a:rPr sz="1400" kern="1200" spc="-5" dirty="0">
                <a:solidFill>
                  <a:srgbClr val="A6A6A6"/>
                </a:solidFill>
                <a:latin typeface="Palatino Linotype"/>
                <a:cs typeface="Palatino Linotype"/>
              </a:rPr>
              <a:t>cannot</a:t>
            </a:r>
            <a:r>
              <a:rPr sz="1400" kern="1200" spc="5" dirty="0">
                <a:solidFill>
                  <a:srgbClr val="A6A6A6"/>
                </a:solidFill>
                <a:latin typeface="Palatino Linotype"/>
                <a:cs typeface="Palatino Linotype"/>
              </a:rPr>
              <a:t> </a:t>
            </a:r>
            <a:r>
              <a:rPr sz="1400" kern="1200" spc="-5" dirty="0">
                <a:solidFill>
                  <a:srgbClr val="A6A6A6"/>
                </a:solidFill>
                <a:latin typeface="Palatino Linotype"/>
                <a:cs typeface="Palatino Linotype"/>
              </a:rPr>
              <a:t>reduce since</a:t>
            </a:r>
            <a:r>
              <a:rPr sz="1400" kern="1200" dirty="0">
                <a:solidFill>
                  <a:srgbClr val="A6A6A6"/>
                </a:solidFill>
                <a:latin typeface="Palatino Linotype"/>
                <a:cs typeface="Palatino Linotype"/>
              </a:rPr>
              <a:t> </a:t>
            </a:r>
            <a:r>
              <a:rPr sz="1400" kern="1200" spc="-5" dirty="0">
                <a:solidFill>
                  <a:srgbClr val="A6A6A6"/>
                </a:solidFill>
                <a:latin typeface="Palatino Linotype"/>
                <a:cs typeface="Palatino Linotype"/>
              </a:rPr>
              <a:t>FOLLOW(S) </a:t>
            </a:r>
            <a:r>
              <a:rPr sz="1400" kern="1200" dirty="0">
                <a:solidFill>
                  <a:srgbClr val="A6A6A6"/>
                </a:solidFill>
                <a:latin typeface="Palatino Linotype"/>
                <a:cs typeface="Palatino Linotype"/>
              </a:rPr>
              <a:t>= </a:t>
            </a:r>
            <a:r>
              <a:rPr sz="1400" kern="1200" spc="-5" dirty="0">
                <a:solidFill>
                  <a:srgbClr val="A6A6A6"/>
                </a:solidFill>
                <a:latin typeface="Palatino Linotype"/>
                <a:cs typeface="Palatino Linotype"/>
              </a:rPr>
              <a:t>{$}</a:t>
            </a:r>
            <a:endParaRPr sz="1400" kern="1200">
              <a:solidFill>
                <a:prstClr val="black"/>
              </a:solidFill>
              <a:latin typeface="Palatino Linotype"/>
              <a:cs typeface="Palatino Linotype"/>
            </a:endParaRPr>
          </a:p>
        </p:txBody>
      </p:sp>
      <p:sp>
        <p:nvSpPr>
          <p:cNvPr id="27" name="object 12">
            <a:extLst>
              <a:ext uri="{FF2B5EF4-FFF2-40B4-BE49-F238E27FC236}">
                <a16:creationId xmlns:a16="http://schemas.microsoft.com/office/drawing/2014/main" id="{AB6DE4EE-15F7-464C-1A7D-F3F0BF0B6B61}"/>
              </a:ext>
            </a:extLst>
          </p:cNvPr>
          <p:cNvSpPr txBox="1"/>
          <p:nvPr/>
        </p:nvSpPr>
        <p:spPr>
          <a:xfrm>
            <a:off x="4079823" y="4929314"/>
            <a:ext cx="4436110" cy="960119"/>
          </a:xfrm>
          <a:prstGeom prst="rect">
            <a:avLst/>
          </a:prstGeom>
          <a:solidFill>
            <a:srgbClr val="FFF2CC"/>
          </a:solidFill>
          <a:ln w="9525">
            <a:solidFill>
              <a:srgbClr val="000000"/>
            </a:solidFill>
          </a:ln>
        </p:spPr>
        <p:txBody>
          <a:bodyPr vert="horz" wrap="square" lIns="0" tIns="9525" rIns="0" bIns="0" rtlCol="0">
            <a:spAutoFit/>
          </a:bodyPr>
          <a:lstStyle/>
          <a:p>
            <a:pPr marL="90805" marR="253365" rtl="0">
              <a:lnSpc>
                <a:spcPct val="120000"/>
              </a:lnSpc>
              <a:spcBef>
                <a:spcPts val="75"/>
              </a:spcBef>
            </a:pPr>
            <a:r>
              <a:rPr sz="1600" b="1" kern="1200" spc="-5" dirty="0">
                <a:solidFill>
                  <a:srgbClr val="FF0000"/>
                </a:solidFill>
                <a:latin typeface="Palatino Linotype"/>
                <a:cs typeface="Palatino Linotype"/>
              </a:rPr>
              <a:t>How </a:t>
            </a:r>
            <a:r>
              <a:rPr sz="1600" b="1" kern="1200" dirty="0">
                <a:solidFill>
                  <a:srgbClr val="FF0000"/>
                </a:solidFill>
                <a:latin typeface="Palatino Linotype"/>
                <a:cs typeface="Palatino Linotype"/>
              </a:rPr>
              <a:t>to </a:t>
            </a:r>
            <a:r>
              <a:rPr sz="1600" b="1" kern="1200" spc="-5" dirty="0">
                <a:solidFill>
                  <a:srgbClr val="FF0000"/>
                </a:solidFill>
                <a:latin typeface="Palatino Linotype"/>
                <a:cs typeface="Palatino Linotype"/>
              </a:rPr>
              <a:t>know </a:t>
            </a:r>
            <a:r>
              <a:rPr sz="1600" b="1" kern="1200" dirty="0">
                <a:solidFill>
                  <a:srgbClr val="FF0000"/>
                </a:solidFill>
                <a:latin typeface="Palatino Linotype"/>
                <a:cs typeface="Palatino Linotype"/>
              </a:rPr>
              <a:t>if a </a:t>
            </a:r>
            <a:r>
              <a:rPr sz="1600" b="1" kern="1200" spc="-5" dirty="0">
                <a:solidFill>
                  <a:srgbClr val="FF0000"/>
                </a:solidFill>
                <a:latin typeface="Palatino Linotype"/>
                <a:cs typeface="Palatino Linotype"/>
              </a:rPr>
              <a:t>reduction </a:t>
            </a:r>
            <a:r>
              <a:rPr sz="1600" b="1" kern="1200" dirty="0">
                <a:solidFill>
                  <a:srgbClr val="FF0000"/>
                </a:solidFill>
                <a:latin typeface="Palatino Linotype"/>
                <a:cs typeface="Palatino Linotype"/>
              </a:rPr>
              <a:t>is a </a:t>
            </a:r>
            <a:r>
              <a:rPr sz="1600" b="1" kern="1200" spc="-5" dirty="0">
                <a:solidFill>
                  <a:srgbClr val="FF0000"/>
                </a:solidFill>
                <a:latin typeface="Palatino Linotype"/>
                <a:cs typeface="Palatino Linotype"/>
              </a:rPr>
              <a:t>good move? </a:t>
            </a:r>
            <a:r>
              <a:rPr sz="1600" b="1" kern="1200" spc="-385" dirty="0">
                <a:solidFill>
                  <a:srgbClr val="FF0000"/>
                </a:solidFill>
                <a:latin typeface="Palatino Linotype"/>
                <a:cs typeface="Palatino Linotype"/>
              </a:rPr>
              <a:t> </a:t>
            </a:r>
            <a:r>
              <a:rPr sz="1600" b="1" kern="1200" dirty="0">
                <a:solidFill>
                  <a:srgbClr val="0432FF"/>
                </a:solidFill>
                <a:latin typeface="Palatino Linotype"/>
                <a:cs typeface="Palatino Linotype"/>
              </a:rPr>
              <a:t>Utilize</a:t>
            </a:r>
            <a:r>
              <a:rPr sz="1600" b="1" kern="1200" spc="-5" dirty="0">
                <a:solidFill>
                  <a:srgbClr val="0432FF"/>
                </a:solidFill>
                <a:latin typeface="Palatino Linotype"/>
                <a:cs typeface="Palatino Linotype"/>
              </a:rPr>
              <a:t> the</a:t>
            </a:r>
            <a:r>
              <a:rPr sz="1600" b="1" kern="1200" dirty="0">
                <a:solidFill>
                  <a:srgbClr val="0432FF"/>
                </a:solidFill>
                <a:latin typeface="Palatino Linotype"/>
                <a:cs typeface="Palatino Linotype"/>
              </a:rPr>
              <a:t> </a:t>
            </a:r>
            <a:r>
              <a:rPr sz="1600" b="1" kern="1200" spc="-5" dirty="0">
                <a:solidFill>
                  <a:srgbClr val="0432FF"/>
                </a:solidFill>
                <a:latin typeface="Palatino Linotype"/>
                <a:cs typeface="Palatino Linotype"/>
              </a:rPr>
              <a:t>next</a:t>
            </a:r>
            <a:r>
              <a:rPr sz="1600" b="1" kern="1200" dirty="0">
                <a:solidFill>
                  <a:srgbClr val="0432FF"/>
                </a:solidFill>
                <a:latin typeface="Palatino Linotype"/>
                <a:cs typeface="Palatino Linotype"/>
              </a:rPr>
              <a:t> </a:t>
            </a:r>
            <a:r>
              <a:rPr sz="1600" b="1" kern="1200" spc="-5" dirty="0">
                <a:solidFill>
                  <a:srgbClr val="0432FF"/>
                </a:solidFill>
                <a:latin typeface="Palatino Linotype"/>
                <a:cs typeface="Palatino Linotype"/>
              </a:rPr>
              <a:t>input</a:t>
            </a:r>
            <a:r>
              <a:rPr sz="1600" b="1" kern="1200" dirty="0">
                <a:solidFill>
                  <a:srgbClr val="0432FF"/>
                </a:solidFill>
                <a:latin typeface="Palatino Linotype"/>
                <a:cs typeface="Palatino Linotype"/>
              </a:rPr>
              <a:t> </a:t>
            </a:r>
            <a:r>
              <a:rPr sz="1600" b="1" kern="1200" spc="-5" dirty="0">
                <a:solidFill>
                  <a:srgbClr val="0432FF"/>
                </a:solidFill>
                <a:latin typeface="Palatino Linotype"/>
                <a:cs typeface="Palatino Linotype"/>
              </a:rPr>
              <a:t>symbol</a:t>
            </a:r>
            <a:r>
              <a:rPr sz="1600" b="1" kern="1200" dirty="0">
                <a:solidFill>
                  <a:srgbClr val="0432FF"/>
                </a:solidFill>
                <a:latin typeface="Palatino Linotype"/>
                <a:cs typeface="Palatino Linotype"/>
              </a:rPr>
              <a:t> to</a:t>
            </a:r>
            <a:r>
              <a:rPr sz="1600" b="1" kern="1200" spc="-5" dirty="0">
                <a:solidFill>
                  <a:srgbClr val="0432FF"/>
                </a:solidFill>
                <a:latin typeface="Palatino Linotype"/>
                <a:cs typeface="Palatino Linotype"/>
              </a:rPr>
              <a:t> precisely </a:t>
            </a:r>
            <a:r>
              <a:rPr sz="1600" b="1" kern="1200" dirty="0">
                <a:solidFill>
                  <a:srgbClr val="0432FF"/>
                </a:solidFill>
                <a:latin typeface="Palatino Linotype"/>
                <a:cs typeface="Palatino Linotype"/>
              </a:rPr>
              <a:t> </a:t>
            </a:r>
            <a:r>
              <a:rPr sz="1600" b="1" kern="1200" spc="-5" dirty="0">
                <a:solidFill>
                  <a:srgbClr val="0432FF"/>
                </a:solidFill>
                <a:latin typeface="Palatino Linotype"/>
                <a:cs typeface="Palatino Linotype"/>
              </a:rPr>
              <a:t>determine</a:t>
            </a:r>
            <a:r>
              <a:rPr sz="1600" b="1" kern="1200" dirty="0">
                <a:solidFill>
                  <a:srgbClr val="0432FF"/>
                </a:solidFill>
                <a:latin typeface="Palatino Linotype"/>
                <a:cs typeface="Palatino Linotype"/>
              </a:rPr>
              <a:t> </a:t>
            </a:r>
            <a:r>
              <a:rPr sz="1600" b="1" kern="1200" spc="-5" dirty="0">
                <a:solidFill>
                  <a:srgbClr val="0432FF"/>
                </a:solidFill>
                <a:latin typeface="Palatino Linotype"/>
                <a:cs typeface="Palatino Linotype"/>
              </a:rPr>
              <a:t>whether</a:t>
            </a:r>
            <a:r>
              <a:rPr sz="1600" b="1" kern="1200" dirty="0">
                <a:solidFill>
                  <a:srgbClr val="0432FF"/>
                </a:solidFill>
                <a:latin typeface="Palatino Linotype"/>
                <a:cs typeface="Palatino Linotype"/>
              </a:rPr>
              <a:t> to</a:t>
            </a:r>
            <a:r>
              <a:rPr sz="1600" b="1" kern="1200" spc="-5" dirty="0">
                <a:solidFill>
                  <a:srgbClr val="0432FF"/>
                </a:solidFill>
                <a:latin typeface="Palatino Linotype"/>
                <a:cs typeface="Palatino Linotype"/>
              </a:rPr>
              <a:t> </a:t>
            </a:r>
            <a:r>
              <a:rPr sz="1600" b="1" kern="1200" dirty="0">
                <a:solidFill>
                  <a:srgbClr val="0432FF"/>
                </a:solidFill>
                <a:latin typeface="Palatino Linotype"/>
                <a:cs typeface="Palatino Linotype"/>
              </a:rPr>
              <a:t>call </a:t>
            </a:r>
            <a:r>
              <a:rPr sz="1600" b="1" kern="1200" spc="-5" dirty="0">
                <a:solidFill>
                  <a:srgbClr val="0432FF"/>
                </a:solidFill>
                <a:latin typeface="Palatino Linotype"/>
                <a:cs typeface="Palatino Linotype"/>
              </a:rPr>
              <a:t>for</a:t>
            </a:r>
            <a:r>
              <a:rPr sz="1600" b="1" kern="1200" dirty="0">
                <a:solidFill>
                  <a:srgbClr val="0432FF"/>
                </a:solidFill>
                <a:latin typeface="Palatino Linotype"/>
                <a:cs typeface="Palatino Linotype"/>
              </a:rPr>
              <a:t> a </a:t>
            </a:r>
            <a:r>
              <a:rPr sz="1600" b="1" kern="1200" spc="-5" dirty="0">
                <a:solidFill>
                  <a:srgbClr val="0432FF"/>
                </a:solidFill>
                <a:latin typeface="Palatino Linotype"/>
                <a:cs typeface="Palatino Linotype"/>
              </a:rPr>
              <a:t>reduction.</a:t>
            </a:r>
            <a:endParaRPr sz="1600" kern="1200" dirty="0">
              <a:solidFill>
                <a:prstClr val="black"/>
              </a:solidFill>
              <a:latin typeface="Palatino Linotype"/>
              <a:cs typeface="Palatino Linotype"/>
            </a:endParaRPr>
          </a:p>
        </p:txBody>
      </p:sp>
      <p:sp>
        <p:nvSpPr>
          <p:cNvPr id="28" name="object 13">
            <a:extLst>
              <a:ext uri="{FF2B5EF4-FFF2-40B4-BE49-F238E27FC236}">
                <a16:creationId xmlns:a16="http://schemas.microsoft.com/office/drawing/2014/main" id="{C27F7B18-2E63-D5E3-3926-30BB11651842}"/>
              </a:ext>
            </a:extLst>
          </p:cNvPr>
          <p:cNvSpPr txBox="1"/>
          <p:nvPr/>
        </p:nvSpPr>
        <p:spPr>
          <a:xfrm>
            <a:off x="4079679" y="4415815"/>
            <a:ext cx="4436110" cy="368935"/>
          </a:xfrm>
          <a:prstGeom prst="rect">
            <a:avLst/>
          </a:prstGeom>
          <a:solidFill>
            <a:srgbClr val="FFF2CC"/>
          </a:solidFill>
          <a:ln w="9525">
            <a:solidFill>
              <a:srgbClr val="000000"/>
            </a:solidFill>
          </a:ln>
        </p:spPr>
        <p:txBody>
          <a:bodyPr vert="horz" wrap="square" lIns="0" tIns="59690" rIns="0" bIns="0" rtlCol="0">
            <a:spAutoFit/>
          </a:bodyPr>
          <a:lstStyle/>
          <a:p>
            <a:pPr marL="90805" rtl="0">
              <a:spcBef>
                <a:spcPts val="470"/>
              </a:spcBef>
            </a:pPr>
            <a:r>
              <a:rPr sz="1600" b="1" kern="1200" spc="-5" dirty="0">
                <a:solidFill>
                  <a:srgbClr val="FF0000"/>
                </a:solidFill>
                <a:latin typeface="Palatino Linotype"/>
                <a:cs typeface="Palatino Linotype"/>
              </a:rPr>
              <a:t>Problem:</a:t>
            </a:r>
            <a:r>
              <a:rPr sz="1600" b="1" kern="1200" spc="-10" dirty="0">
                <a:solidFill>
                  <a:srgbClr val="FF0000"/>
                </a:solidFill>
                <a:latin typeface="Palatino Linotype"/>
                <a:cs typeface="Palatino Linotype"/>
              </a:rPr>
              <a:t> </a:t>
            </a:r>
            <a:r>
              <a:rPr sz="1600" b="1" kern="1200" dirty="0">
                <a:solidFill>
                  <a:srgbClr val="0432FF"/>
                </a:solidFill>
                <a:latin typeface="Palatino Linotype"/>
                <a:cs typeface="Palatino Linotype"/>
              </a:rPr>
              <a:t>SLR</a:t>
            </a:r>
            <a:r>
              <a:rPr sz="1600" b="1" kern="1200" spc="-5" dirty="0">
                <a:solidFill>
                  <a:srgbClr val="0432FF"/>
                </a:solidFill>
                <a:latin typeface="Palatino Linotype"/>
                <a:cs typeface="Palatino Linotype"/>
              </a:rPr>
              <a:t> reduces</a:t>
            </a:r>
            <a:r>
              <a:rPr sz="1600" b="1" kern="1200" dirty="0">
                <a:solidFill>
                  <a:srgbClr val="0432FF"/>
                </a:solidFill>
                <a:latin typeface="Palatino Linotype"/>
                <a:cs typeface="Palatino Linotype"/>
              </a:rPr>
              <a:t> </a:t>
            </a:r>
            <a:r>
              <a:rPr sz="1600" b="1" kern="1200" spc="-5" dirty="0">
                <a:solidFill>
                  <a:srgbClr val="0432FF"/>
                </a:solidFill>
                <a:latin typeface="Palatino Linotype"/>
                <a:cs typeface="Palatino Linotype"/>
              </a:rPr>
              <a:t>too casually</a:t>
            </a:r>
            <a:endParaRPr sz="1600" kern="1200">
              <a:solidFill>
                <a:prstClr val="black"/>
              </a:solidFill>
              <a:latin typeface="Palatino Linotype"/>
              <a:cs typeface="Palatino Linotype"/>
            </a:endParaRPr>
          </a:p>
        </p:txBody>
      </p:sp>
    </p:spTree>
    <p:extLst>
      <p:ext uri="{BB962C8B-B14F-4D97-AF65-F5344CB8AC3E}">
        <p14:creationId xmlns:p14="http://schemas.microsoft.com/office/powerpoint/2010/main" val="315436845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133</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9">
            <a:extLst>
              <a:ext uri="{FF2B5EF4-FFF2-40B4-BE49-F238E27FC236}">
                <a16:creationId xmlns:a16="http://schemas.microsoft.com/office/drawing/2014/main" id="{1EFC2DBA-E153-5383-F78F-1720981C24C4}"/>
              </a:ext>
            </a:extLst>
          </p:cNvPr>
          <p:cNvSpPr txBox="1"/>
          <p:nvPr/>
        </p:nvSpPr>
        <p:spPr>
          <a:xfrm>
            <a:off x="5687680" y="3421435"/>
            <a:ext cx="3391158" cy="1470274"/>
          </a:xfrm>
          <a:prstGeom prst="rect">
            <a:avLst/>
          </a:prstGeom>
          <a:ln w="12700">
            <a:solidFill>
              <a:srgbClr val="7F7F7F"/>
            </a:solidFill>
          </a:ln>
        </p:spPr>
        <p:txBody>
          <a:bodyPr vert="horz" wrap="square" lIns="0" tIns="122555" rIns="0" bIns="0" rtlCol="0">
            <a:spAutoFit/>
          </a:bodyPr>
          <a:lstStyle/>
          <a:p>
            <a:pPr marL="532765" indent="-286385">
              <a:lnSpc>
                <a:spcPct val="100000"/>
              </a:lnSpc>
              <a:spcBef>
                <a:spcPts val="965"/>
              </a:spcBef>
              <a:buFont typeface="Arial MT"/>
              <a:buChar char="•"/>
              <a:tabLst>
                <a:tab pos="532765" algn="l"/>
                <a:tab pos="533400" algn="l"/>
              </a:tabLst>
            </a:pPr>
            <a:r>
              <a:rPr sz="1800" dirty="0">
                <a:solidFill>
                  <a:schemeClr val="bg2">
                    <a:lumMod val="50000"/>
                  </a:schemeClr>
                </a:solidFill>
                <a:latin typeface="Palatino Linotype"/>
                <a:cs typeface="Palatino Linotype"/>
              </a:rPr>
              <a:t>Simple</a:t>
            </a:r>
            <a:r>
              <a:rPr sz="1800" spc="-30"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LR</a:t>
            </a:r>
            <a:r>
              <a:rPr sz="1800" spc="-7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(SLR)</a:t>
            </a:r>
          </a:p>
          <a:p>
            <a:pPr>
              <a:lnSpc>
                <a:spcPct val="100000"/>
              </a:lnSpc>
              <a:spcBef>
                <a:spcPts val="35"/>
              </a:spcBef>
              <a:buChar char="•"/>
            </a:pPr>
            <a:endParaRPr sz="1700" dirty="0">
              <a:latin typeface="Palatino Linotype"/>
              <a:cs typeface="Palatino Linotype"/>
            </a:endParaRPr>
          </a:p>
          <a:p>
            <a:pPr marL="532765" indent="-286385">
              <a:lnSpc>
                <a:spcPct val="100000"/>
              </a:lnSpc>
              <a:buFont typeface="Arial MT"/>
              <a:buChar char="•"/>
              <a:tabLst>
                <a:tab pos="532765" algn="l"/>
                <a:tab pos="533400" algn="l"/>
              </a:tabLst>
            </a:pPr>
            <a:r>
              <a:rPr sz="1800" spc="-5" dirty="0">
                <a:latin typeface="Palatino Linotype"/>
                <a:cs typeface="Palatino Linotype"/>
              </a:rPr>
              <a:t>Canonical</a:t>
            </a:r>
            <a:r>
              <a:rPr sz="1800" spc="-15" dirty="0">
                <a:latin typeface="Palatino Linotype"/>
                <a:cs typeface="Palatino Linotype"/>
              </a:rPr>
              <a:t> </a:t>
            </a:r>
            <a:r>
              <a:rPr sz="1800" dirty="0">
                <a:latin typeface="Palatino Linotype"/>
                <a:cs typeface="Palatino Linotype"/>
              </a:rPr>
              <a:t>LR</a:t>
            </a:r>
            <a:r>
              <a:rPr sz="1800" spc="-60" dirty="0">
                <a:latin typeface="Palatino Linotype"/>
                <a:cs typeface="Palatino Linotype"/>
              </a:rPr>
              <a:t> </a:t>
            </a:r>
            <a:r>
              <a:rPr sz="1800" spc="-5" dirty="0">
                <a:latin typeface="Palatino Linotype"/>
                <a:cs typeface="Palatino Linotype"/>
              </a:rPr>
              <a:t>(CLR)</a:t>
            </a:r>
            <a:endParaRPr sz="1800" dirty="0">
              <a:latin typeface="Palatino Linotype"/>
              <a:cs typeface="Palatino Linotype"/>
            </a:endParaRPr>
          </a:p>
          <a:p>
            <a:pPr>
              <a:lnSpc>
                <a:spcPct val="100000"/>
              </a:lnSpc>
              <a:spcBef>
                <a:spcPts val="30"/>
              </a:spcBef>
              <a:buChar char="•"/>
            </a:pPr>
            <a:endParaRPr sz="1650" dirty="0">
              <a:latin typeface="Palatino Linotype"/>
              <a:cs typeface="Palatino Linotype"/>
            </a:endParaRPr>
          </a:p>
          <a:p>
            <a:pPr marL="532765" indent="-286385">
              <a:lnSpc>
                <a:spcPct val="100000"/>
              </a:lnSpc>
              <a:buFont typeface="Arial MT"/>
              <a:buChar char="•"/>
              <a:tabLst>
                <a:tab pos="532765" algn="l"/>
                <a:tab pos="533400" algn="l"/>
              </a:tabLst>
            </a:pPr>
            <a:r>
              <a:rPr sz="1800" dirty="0">
                <a:solidFill>
                  <a:schemeClr val="bg2">
                    <a:lumMod val="50000"/>
                  </a:schemeClr>
                </a:solidFill>
                <a:latin typeface="Palatino Linotype"/>
                <a:cs typeface="Palatino Linotype"/>
              </a:rPr>
              <a:t>Error</a:t>
            </a:r>
            <a:r>
              <a:rPr sz="1800" spc="-30" dirty="0">
                <a:solidFill>
                  <a:schemeClr val="bg2">
                    <a:lumMod val="50000"/>
                  </a:schemeClr>
                </a:solidFill>
                <a:latin typeface="Palatino Linotype"/>
                <a:cs typeface="Palatino Linotype"/>
              </a:rPr>
              <a:t> </a:t>
            </a:r>
            <a:r>
              <a:rPr sz="1800" spc="-10" dirty="0">
                <a:solidFill>
                  <a:schemeClr val="bg2">
                    <a:lumMod val="50000"/>
                  </a:schemeClr>
                </a:solidFill>
                <a:latin typeface="Palatino Linotype"/>
                <a:cs typeface="Palatino Linotype"/>
              </a:rPr>
              <a:t>Recovery</a:t>
            </a:r>
            <a:endParaRPr sz="1800" dirty="0">
              <a:solidFill>
                <a:schemeClr val="bg2">
                  <a:lumMod val="50000"/>
                </a:schemeClr>
              </a:solidFill>
              <a:latin typeface="Palatino Linotype"/>
              <a:cs typeface="Palatino Linotype"/>
            </a:endParaRPr>
          </a:p>
        </p:txBody>
      </p:sp>
      <p:sp>
        <p:nvSpPr>
          <p:cNvPr id="6" name="object 10">
            <a:extLst>
              <a:ext uri="{FF2B5EF4-FFF2-40B4-BE49-F238E27FC236}">
                <a16:creationId xmlns:a16="http://schemas.microsoft.com/office/drawing/2014/main" id="{14CE4A7B-F005-05A0-3A4D-ABE8DD73077A}"/>
              </a:ext>
            </a:extLst>
          </p:cNvPr>
          <p:cNvSpPr/>
          <p:nvPr/>
        </p:nvSpPr>
        <p:spPr>
          <a:xfrm>
            <a:off x="3711502" y="4221088"/>
            <a:ext cx="1976178" cy="685248"/>
          </a:xfrm>
          <a:custGeom>
            <a:avLst/>
            <a:gdLst/>
            <a:ahLst/>
            <a:cxnLst/>
            <a:rect l="l" t="t" r="r" b="b"/>
            <a:pathLst>
              <a:path w="1804035" h="709295">
                <a:moveTo>
                  <a:pt x="1803481" y="0"/>
                </a:moveTo>
                <a:lnTo>
                  <a:pt x="0" y="708766"/>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227494281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134</a:t>
            </a:fld>
            <a:endParaRPr lang="en-US"/>
          </a:p>
        </p:txBody>
      </p:sp>
      <p:sp>
        <p:nvSpPr>
          <p:cNvPr id="11" name="object 2">
            <a:extLst>
              <a:ext uri="{FF2B5EF4-FFF2-40B4-BE49-F238E27FC236}">
                <a16:creationId xmlns:a16="http://schemas.microsoft.com/office/drawing/2014/main" id="{33772832-9B36-8DCB-9200-1BFB37AC54D0}"/>
              </a:ext>
            </a:extLst>
          </p:cNvPr>
          <p:cNvSpPr txBox="1">
            <a:spLocks/>
          </p:cNvSpPr>
          <p:nvPr/>
        </p:nvSpPr>
        <p:spPr>
          <a:xfrm>
            <a:off x="707390" y="524763"/>
            <a:ext cx="24904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LR(1)</a:t>
            </a:r>
            <a:r>
              <a:rPr kumimoji="0" lang="en-US" sz="4000" b="1" i="0" u="none" strike="noStrike" kern="0" cap="none" spc="-6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Item</a:t>
            </a:r>
          </a:p>
        </p:txBody>
      </p:sp>
      <p:sp>
        <p:nvSpPr>
          <p:cNvPr id="12" name="object 3">
            <a:extLst>
              <a:ext uri="{FF2B5EF4-FFF2-40B4-BE49-F238E27FC236}">
                <a16:creationId xmlns:a16="http://schemas.microsoft.com/office/drawing/2014/main" id="{1811551E-547D-5BD4-B77E-402C8CC6F5B8}"/>
              </a:ext>
            </a:extLst>
          </p:cNvPr>
          <p:cNvSpPr/>
          <p:nvPr/>
        </p:nvSpPr>
        <p:spPr>
          <a:xfrm>
            <a:off x="6296101" y="2595879"/>
            <a:ext cx="60960" cy="260350"/>
          </a:xfrm>
          <a:custGeom>
            <a:avLst/>
            <a:gdLst/>
            <a:ahLst/>
            <a:cxnLst/>
            <a:rect l="l" t="t" r="r" b="b"/>
            <a:pathLst>
              <a:path w="60960" h="260350">
                <a:moveTo>
                  <a:pt x="60845" y="0"/>
                </a:moveTo>
                <a:lnTo>
                  <a:pt x="0" y="0"/>
                </a:lnTo>
                <a:lnTo>
                  <a:pt x="0" y="11430"/>
                </a:lnTo>
                <a:lnTo>
                  <a:pt x="38201" y="11430"/>
                </a:lnTo>
                <a:lnTo>
                  <a:pt x="38201" y="250190"/>
                </a:lnTo>
                <a:lnTo>
                  <a:pt x="0" y="250190"/>
                </a:lnTo>
                <a:lnTo>
                  <a:pt x="0" y="260350"/>
                </a:lnTo>
                <a:lnTo>
                  <a:pt x="60845" y="260350"/>
                </a:lnTo>
                <a:lnTo>
                  <a:pt x="60845" y="250190"/>
                </a:lnTo>
                <a:lnTo>
                  <a:pt x="60845" y="11430"/>
                </a:lnTo>
                <a:lnTo>
                  <a:pt x="60845"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3" name="object 4">
            <a:extLst>
              <a:ext uri="{FF2B5EF4-FFF2-40B4-BE49-F238E27FC236}">
                <a16:creationId xmlns:a16="http://schemas.microsoft.com/office/drawing/2014/main" id="{FD7D1AB8-7AA7-3755-A289-4C4431D78480}"/>
              </a:ext>
            </a:extLst>
          </p:cNvPr>
          <p:cNvSpPr/>
          <p:nvPr/>
        </p:nvSpPr>
        <p:spPr>
          <a:xfrm>
            <a:off x="4831384" y="2595879"/>
            <a:ext cx="60960" cy="260350"/>
          </a:xfrm>
          <a:custGeom>
            <a:avLst/>
            <a:gdLst/>
            <a:ahLst/>
            <a:cxnLst/>
            <a:rect l="l" t="t" r="r" b="b"/>
            <a:pathLst>
              <a:path w="60960" h="260350">
                <a:moveTo>
                  <a:pt x="60845" y="0"/>
                </a:moveTo>
                <a:lnTo>
                  <a:pt x="0" y="0"/>
                </a:lnTo>
                <a:lnTo>
                  <a:pt x="0" y="11430"/>
                </a:lnTo>
                <a:lnTo>
                  <a:pt x="0" y="250190"/>
                </a:lnTo>
                <a:lnTo>
                  <a:pt x="0" y="260350"/>
                </a:lnTo>
                <a:lnTo>
                  <a:pt x="60845" y="260350"/>
                </a:lnTo>
                <a:lnTo>
                  <a:pt x="60845" y="250190"/>
                </a:lnTo>
                <a:lnTo>
                  <a:pt x="22644" y="250190"/>
                </a:lnTo>
                <a:lnTo>
                  <a:pt x="22644" y="11430"/>
                </a:lnTo>
                <a:lnTo>
                  <a:pt x="60845" y="11430"/>
                </a:lnTo>
                <a:lnTo>
                  <a:pt x="60845"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4" name="object 5">
            <a:extLst>
              <a:ext uri="{FF2B5EF4-FFF2-40B4-BE49-F238E27FC236}">
                <a16:creationId xmlns:a16="http://schemas.microsoft.com/office/drawing/2014/main" id="{F613AC63-A23E-4799-D090-A67909C0BB74}"/>
              </a:ext>
            </a:extLst>
          </p:cNvPr>
          <p:cNvSpPr/>
          <p:nvPr/>
        </p:nvSpPr>
        <p:spPr>
          <a:xfrm>
            <a:off x="4319981" y="4828539"/>
            <a:ext cx="47625" cy="200660"/>
          </a:xfrm>
          <a:custGeom>
            <a:avLst/>
            <a:gdLst/>
            <a:ahLst/>
            <a:cxnLst/>
            <a:rect l="l" t="t" r="r" b="b"/>
            <a:pathLst>
              <a:path w="47625" h="200660">
                <a:moveTo>
                  <a:pt x="47028" y="0"/>
                </a:moveTo>
                <a:lnTo>
                  <a:pt x="0" y="0"/>
                </a:lnTo>
                <a:lnTo>
                  <a:pt x="0" y="7620"/>
                </a:lnTo>
                <a:lnTo>
                  <a:pt x="29527" y="7620"/>
                </a:lnTo>
                <a:lnTo>
                  <a:pt x="29527" y="193040"/>
                </a:lnTo>
                <a:lnTo>
                  <a:pt x="0" y="193040"/>
                </a:lnTo>
                <a:lnTo>
                  <a:pt x="0" y="200660"/>
                </a:lnTo>
                <a:lnTo>
                  <a:pt x="47028" y="200660"/>
                </a:lnTo>
                <a:lnTo>
                  <a:pt x="47028" y="193040"/>
                </a:lnTo>
                <a:lnTo>
                  <a:pt x="47028" y="7620"/>
                </a:lnTo>
                <a:lnTo>
                  <a:pt x="47028"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6">
            <a:extLst>
              <a:ext uri="{FF2B5EF4-FFF2-40B4-BE49-F238E27FC236}">
                <a16:creationId xmlns:a16="http://schemas.microsoft.com/office/drawing/2014/main" id="{B9955E89-8650-A0DE-C90A-E8C59FDFC130}"/>
              </a:ext>
            </a:extLst>
          </p:cNvPr>
          <p:cNvSpPr/>
          <p:nvPr/>
        </p:nvSpPr>
        <p:spPr>
          <a:xfrm>
            <a:off x="3373018" y="4828539"/>
            <a:ext cx="47625" cy="200660"/>
          </a:xfrm>
          <a:custGeom>
            <a:avLst/>
            <a:gdLst/>
            <a:ahLst/>
            <a:cxnLst/>
            <a:rect l="l" t="t" r="r" b="b"/>
            <a:pathLst>
              <a:path w="47625" h="200660">
                <a:moveTo>
                  <a:pt x="47015" y="0"/>
                </a:moveTo>
                <a:lnTo>
                  <a:pt x="0" y="0"/>
                </a:lnTo>
                <a:lnTo>
                  <a:pt x="0" y="7620"/>
                </a:lnTo>
                <a:lnTo>
                  <a:pt x="0" y="193040"/>
                </a:lnTo>
                <a:lnTo>
                  <a:pt x="0" y="200660"/>
                </a:lnTo>
                <a:lnTo>
                  <a:pt x="47015" y="200660"/>
                </a:lnTo>
                <a:lnTo>
                  <a:pt x="47015" y="193040"/>
                </a:lnTo>
                <a:lnTo>
                  <a:pt x="17500" y="193040"/>
                </a:lnTo>
                <a:lnTo>
                  <a:pt x="17500" y="7620"/>
                </a:lnTo>
                <a:lnTo>
                  <a:pt x="47015" y="7620"/>
                </a:lnTo>
                <a:lnTo>
                  <a:pt x="47015" y="0"/>
                </a:lnTo>
                <a:close/>
              </a:path>
            </a:pathLst>
          </a:custGeom>
          <a:solidFill>
            <a:srgbClr val="0432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7">
            <a:extLst>
              <a:ext uri="{FF2B5EF4-FFF2-40B4-BE49-F238E27FC236}">
                <a16:creationId xmlns:a16="http://schemas.microsoft.com/office/drawing/2014/main" id="{9C4E2019-BD92-EE73-4AB1-0E861F48BFA1}"/>
              </a:ext>
            </a:extLst>
          </p:cNvPr>
          <p:cNvSpPr txBox="1"/>
          <p:nvPr/>
        </p:nvSpPr>
        <p:spPr>
          <a:xfrm>
            <a:off x="656590" y="1412776"/>
            <a:ext cx="7804150" cy="4659630"/>
          </a:xfrm>
          <a:prstGeom prst="rect">
            <a:avLst/>
          </a:prstGeom>
        </p:spPr>
        <p:txBody>
          <a:bodyPr vert="horz" wrap="square" lIns="0" tIns="12700" rIns="0" bIns="0" rtlCol="0">
            <a:spAutoFit/>
          </a:bodyPr>
          <a:lstStyle/>
          <a:p>
            <a:pPr marL="293370" marR="342900" indent="-230504" rtl="0">
              <a:lnSpc>
                <a:spcPct val="117300"/>
              </a:lnSpc>
              <a:spcBef>
                <a:spcPts val="100"/>
              </a:spcBef>
              <a:buClr>
                <a:srgbClr val="000000"/>
              </a:buClr>
              <a:buFont typeface="Arial MT"/>
              <a:buChar char="•"/>
              <a:tabLst>
                <a:tab pos="293370" algn="l"/>
                <a:tab pos="294005" algn="l"/>
              </a:tabLst>
            </a:pPr>
            <a:r>
              <a:rPr sz="2200" b="1" kern="1200" spc="-5" dirty="0">
                <a:solidFill>
                  <a:srgbClr val="FF0000"/>
                </a:solidFill>
                <a:latin typeface="Palatino Linotype"/>
                <a:cs typeface="Palatino Linotype"/>
              </a:rPr>
              <a:t>Idea:</a:t>
            </a:r>
            <a:r>
              <a:rPr sz="2200" b="1" kern="1200" dirty="0">
                <a:solidFill>
                  <a:srgbClr val="FF0000"/>
                </a:solidFill>
                <a:latin typeface="Palatino Linotype"/>
                <a:cs typeface="Palatino Linotype"/>
              </a:rPr>
              <a:t> </a:t>
            </a:r>
            <a:r>
              <a:rPr sz="2200" kern="1200" dirty="0">
                <a:solidFill>
                  <a:prstClr val="black"/>
                </a:solidFill>
                <a:latin typeface="Palatino Linotype"/>
                <a:cs typeface="Palatino Linotype"/>
              </a:rPr>
              <a:t>Carry</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more information in</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the</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state</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to rule</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out some </a:t>
            </a:r>
            <a:r>
              <a:rPr sz="2200" kern="1200" spc="-535" dirty="0">
                <a:solidFill>
                  <a:prstClr val="black"/>
                </a:solidFill>
                <a:latin typeface="Palatino Linotype"/>
                <a:cs typeface="Palatino Linotype"/>
              </a:rPr>
              <a:t> </a:t>
            </a:r>
            <a:r>
              <a:rPr sz="2200" kern="1200" spc="-15" dirty="0">
                <a:solidFill>
                  <a:prstClr val="black"/>
                </a:solidFill>
                <a:latin typeface="Palatino Linotype"/>
                <a:cs typeface="Palatino Linotype"/>
              </a:rPr>
              <a:t>invalid</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reductions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a:t>
            </a:r>
            <a:r>
              <a:rPr sz="2200" kern="1200" spc="-5" dirty="0">
                <a:solidFill>
                  <a:srgbClr val="FF0000"/>
                </a:solidFill>
                <a:latin typeface="Palatino Linotype"/>
                <a:cs typeface="Palatino Linotype"/>
              </a:rPr>
              <a:t>splitting</a:t>
            </a:r>
            <a:r>
              <a:rPr sz="2200" kern="1200" dirty="0">
                <a:solidFill>
                  <a:srgbClr val="FF0000"/>
                </a:solidFill>
                <a:latin typeface="Palatino Linotype"/>
                <a:cs typeface="Palatino Linotype"/>
              </a:rPr>
              <a:t> LR(0) </a:t>
            </a:r>
            <a:r>
              <a:rPr sz="2200" kern="1200" spc="-5" dirty="0">
                <a:solidFill>
                  <a:srgbClr val="FF0000"/>
                </a:solidFill>
                <a:latin typeface="Palatino Linotype"/>
                <a:cs typeface="Palatino Linotype"/>
              </a:rPr>
              <a:t>states</a:t>
            </a:r>
            <a:r>
              <a:rPr sz="2200" kern="1200" spc="-5" dirty="0">
                <a:solidFill>
                  <a:prstClr val="black"/>
                </a:solidFill>
                <a:latin typeface="Palatino Linotype"/>
                <a:cs typeface="Palatino Linotype"/>
              </a:rPr>
              <a:t>)</a:t>
            </a:r>
            <a:endParaRPr sz="2200" kern="1200" dirty="0">
              <a:solidFill>
                <a:prstClr val="black"/>
              </a:solidFill>
              <a:latin typeface="Palatino Linotype"/>
              <a:cs typeface="Palatino Linotype"/>
            </a:endParaRPr>
          </a:p>
          <a:p>
            <a:pPr rtl="0">
              <a:spcBef>
                <a:spcPts val="5"/>
              </a:spcBef>
              <a:buFont typeface="Arial MT"/>
              <a:buChar char="•"/>
            </a:pPr>
            <a:endParaRPr sz="2200" kern="1200" dirty="0">
              <a:solidFill>
                <a:prstClr val="black"/>
              </a:solidFill>
              <a:latin typeface="Palatino Linotype"/>
              <a:cs typeface="Palatino Linotype"/>
            </a:endParaRPr>
          </a:p>
          <a:p>
            <a:pPr marL="294005" indent="-230504" rtl="0">
              <a:buFont typeface="Arial MT"/>
              <a:buChar char="•"/>
              <a:tabLst>
                <a:tab pos="293370" algn="l"/>
                <a:tab pos="294005" algn="l"/>
                <a:tab pos="4241165" algn="l"/>
              </a:tabLst>
            </a:pPr>
            <a:r>
              <a:rPr sz="2200" kern="1200" spc="-5" dirty="0">
                <a:solidFill>
                  <a:prstClr val="black"/>
                </a:solidFill>
                <a:latin typeface="Palatino Linotype"/>
                <a:cs typeface="Palatino Linotype"/>
              </a:rPr>
              <a:t>Ge</a:t>
            </a:r>
            <a:r>
              <a:rPr sz="2200" kern="1200" spc="-10" dirty="0">
                <a:solidFill>
                  <a:prstClr val="black"/>
                </a:solidFill>
                <a:latin typeface="Palatino Linotype"/>
                <a:cs typeface="Palatino Linotype"/>
              </a:rPr>
              <a:t>n</a:t>
            </a:r>
            <a:r>
              <a:rPr sz="2200" kern="1200" spc="-5" dirty="0">
                <a:solidFill>
                  <a:prstClr val="black"/>
                </a:solidFill>
                <a:latin typeface="Palatino Linotype"/>
                <a:cs typeface="Palatino Linotype"/>
              </a:rPr>
              <a:t>e</a:t>
            </a:r>
            <a:r>
              <a:rPr sz="2200" kern="1200" spc="5" dirty="0">
                <a:solidFill>
                  <a:prstClr val="black"/>
                </a:solidFill>
                <a:latin typeface="Palatino Linotype"/>
                <a:cs typeface="Palatino Linotype"/>
              </a:rPr>
              <a:t>r</a:t>
            </a:r>
            <a:r>
              <a:rPr sz="2200" kern="1200" dirty="0">
                <a:solidFill>
                  <a:prstClr val="black"/>
                </a:solidFill>
                <a:latin typeface="Palatino Linotype"/>
                <a:cs typeface="Palatino Linotype"/>
              </a:rPr>
              <a:t>al</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f</a:t>
            </a:r>
            <a:r>
              <a:rPr sz="2200" kern="1200" spc="-5" dirty="0">
                <a:solidFill>
                  <a:prstClr val="black"/>
                </a:solidFill>
                <a:latin typeface="Palatino Linotype"/>
                <a:cs typeface="Palatino Linotype"/>
              </a:rPr>
              <a:t>o</a:t>
            </a:r>
            <a:r>
              <a:rPr sz="2200" kern="1200" spc="5" dirty="0">
                <a:solidFill>
                  <a:prstClr val="black"/>
                </a:solidFill>
                <a:latin typeface="Palatino Linotype"/>
                <a:cs typeface="Palatino Linotype"/>
              </a:rPr>
              <a:t>r</a:t>
            </a:r>
            <a:r>
              <a:rPr sz="2200" kern="1200" dirty="0">
                <a:solidFill>
                  <a:prstClr val="black"/>
                </a:solidFill>
                <a:latin typeface="Palatino Linotype"/>
                <a:cs typeface="Palatino Linotype"/>
              </a:rPr>
              <a:t>m</a:t>
            </a:r>
            <a:r>
              <a:rPr sz="2200" kern="1200" spc="-5" dirty="0">
                <a:solidFill>
                  <a:prstClr val="black"/>
                </a:solidFill>
                <a:latin typeface="Palatino Linotype"/>
                <a:cs typeface="Palatino Linotype"/>
              </a:rPr>
              <a:t> o</a:t>
            </a:r>
            <a:r>
              <a:rPr sz="2200" kern="1200" dirty="0">
                <a:solidFill>
                  <a:prstClr val="black"/>
                </a:solidFill>
                <a:latin typeface="Palatino Linotype"/>
                <a:cs typeface="Palatino Linotype"/>
              </a:rPr>
              <a:t>f an</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LR</a:t>
            </a:r>
            <a:r>
              <a:rPr sz="2200" kern="1200" dirty="0">
                <a:solidFill>
                  <a:prstClr val="black"/>
                </a:solidFill>
                <a:latin typeface="Palatino Linotype"/>
                <a:cs typeface="Palatino Linotype"/>
              </a:rPr>
              <a:t>(1) </a:t>
            </a:r>
            <a:r>
              <a:rPr sz="2200" kern="1200" spc="-5" dirty="0">
                <a:solidFill>
                  <a:prstClr val="black"/>
                </a:solidFill>
                <a:latin typeface="Palatino Linotype"/>
                <a:cs typeface="Palatino Linotype"/>
              </a:rPr>
              <a:t>item</a:t>
            </a:r>
            <a:r>
              <a:rPr sz="2200" kern="1200" dirty="0">
                <a:solidFill>
                  <a:prstClr val="black"/>
                </a:solidFill>
                <a:latin typeface="Palatino Linotype"/>
                <a:cs typeface="Palatino Linotype"/>
              </a:rPr>
              <a:t>:	</a:t>
            </a:r>
            <a:r>
              <a:rPr sz="2200" kern="1200" dirty="0">
                <a:solidFill>
                  <a:srgbClr val="0432FF"/>
                </a:solidFill>
                <a:latin typeface="Cambria Math"/>
                <a:cs typeface="Cambria Math"/>
              </a:rPr>
              <a:t>𝐴</a:t>
            </a:r>
            <a:r>
              <a:rPr sz="2200" kern="1200" spc="140" dirty="0">
                <a:solidFill>
                  <a:srgbClr val="0432FF"/>
                </a:solidFill>
                <a:latin typeface="Cambria Math"/>
                <a:cs typeface="Cambria Math"/>
              </a:rPr>
              <a:t> </a:t>
            </a:r>
            <a:r>
              <a:rPr sz="2200" kern="1200" dirty="0">
                <a:solidFill>
                  <a:srgbClr val="0432FF"/>
                </a:solidFill>
                <a:latin typeface="Cambria Math"/>
                <a:cs typeface="Cambria Math"/>
              </a:rPr>
              <a:t>→</a:t>
            </a:r>
            <a:r>
              <a:rPr sz="2200" kern="1200" spc="120" dirty="0">
                <a:solidFill>
                  <a:srgbClr val="0432FF"/>
                </a:solidFill>
                <a:latin typeface="Cambria Math"/>
                <a:cs typeface="Cambria Math"/>
              </a:rPr>
              <a:t> </a:t>
            </a:r>
            <a:r>
              <a:rPr sz="2200" kern="1200" dirty="0">
                <a:solidFill>
                  <a:srgbClr val="0432FF"/>
                </a:solidFill>
                <a:latin typeface="Cambria Math"/>
                <a:cs typeface="Cambria Math"/>
              </a:rPr>
              <a:t>𝛼</a:t>
            </a:r>
            <a:r>
              <a:rPr sz="2200" kern="1200" spc="75" dirty="0">
                <a:solidFill>
                  <a:srgbClr val="0432FF"/>
                </a:solidFill>
                <a:latin typeface="Cambria Math"/>
                <a:cs typeface="Cambria Math"/>
              </a:rPr>
              <a:t> </a:t>
            </a:r>
            <a:r>
              <a:rPr lang="en-US" altLang="zh-CN" sz="2200" kern="1200" spc="-765" dirty="0">
                <a:solidFill>
                  <a:srgbClr val="0432FF"/>
                </a:solidFill>
                <a:latin typeface="Cambria Math"/>
                <a:cs typeface="Cambria Math"/>
              </a:rPr>
              <a:t>·</a:t>
            </a:r>
            <a:r>
              <a:rPr sz="2200" kern="1200" spc="5" dirty="0">
                <a:solidFill>
                  <a:srgbClr val="0432FF"/>
                </a:solidFill>
                <a:latin typeface="Cambria Math"/>
                <a:cs typeface="Cambria Math"/>
              </a:rPr>
              <a:t> </a:t>
            </a:r>
            <a:r>
              <a:rPr lang="en-US" sz="2200" kern="1200" spc="5" dirty="0">
                <a:solidFill>
                  <a:srgbClr val="0432FF"/>
                </a:solidFill>
                <a:latin typeface="Cambria Math"/>
                <a:cs typeface="Cambria Math"/>
              </a:rPr>
              <a:t> </a:t>
            </a:r>
            <a:r>
              <a:rPr sz="2200" kern="1200" spc="70" dirty="0">
                <a:solidFill>
                  <a:srgbClr val="0432FF"/>
                </a:solidFill>
                <a:latin typeface="Cambria Math"/>
                <a:cs typeface="Cambria Math"/>
              </a:rPr>
              <a:t>𝛽</a:t>
            </a:r>
            <a:r>
              <a:rPr sz="2200" kern="1200" dirty="0">
                <a:solidFill>
                  <a:srgbClr val="0432FF"/>
                </a:solidFill>
                <a:latin typeface="Cambria Math"/>
                <a:cs typeface="Cambria Math"/>
              </a:rPr>
              <a:t>,</a:t>
            </a:r>
            <a:r>
              <a:rPr sz="2200" kern="1200" spc="-120" dirty="0">
                <a:solidFill>
                  <a:srgbClr val="0432FF"/>
                </a:solidFill>
                <a:latin typeface="Cambria Math"/>
                <a:cs typeface="Cambria Math"/>
              </a:rPr>
              <a:t> </a:t>
            </a:r>
            <a:r>
              <a:rPr sz="2200" kern="1200" dirty="0">
                <a:solidFill>
                  <a:srgbClr val="0432FF"/>
                </a:solidFill>
                <a:latin typeface="Cambria Math"/>
                <a:cs typeface="Cambria Math"/>
              </a:rPr>
              <a:t>𝑎</a:t>
            </a:r>
            <a:endParaRPr sz="2200" kern="1200" dirty="0">
              <a:solidFill>
                <a:prstClr val="black"/>
              </a:solidFill>
              <a:latin typeface="Cambria Math"/>
              <a:cs typeface="Cambria Math"/>
            </a:endParaRPr>
          </a:p>
          <a:p>
            <a:pPr marL="749300" lvl="1" indent="-228600" rtl="0">
              <a:spcBef>
                <a:spcPts val="1655"/>
              </a:spcBef>
              <a:buFont typeface="Wingdings"/>
              <a:buChar char=""/>
              <a:tabLst>
                <a:tab pos="748665" algn="l"/>
                <a:tab pos="749300" algn="l"/>
              </a:tabLst>
            </a:pPr>
            <a:r>
              <a:rPr sz="1700" kern="1200" dirty="0">
                <a:solidFill>
                  <a:prstClr val="black"/>
                </a:solidFill>
                <a:latin typeface="Cambria Math"/>
                <a:cs typeface="Cambria Math"/>
              </a:rPr>
              <a:t>𝐴</a:t>
            </a:r>
            <a:r>
              <a:rPr sz="1700" kern="1200" spc="105" dirty="0">
                <a:solidFill>
                  <a:prstClr val="black"/>
                </a:solidFill>
                <a:latin typeface="Cambria Math"/>
                <a:cs typeface="Cambria Math"/>
              </a:rPr>
              <a:t> </a:t>
            </a:r>
            <a:r>
              <a:rPr sz="1700" kern="1200" dirty="0">
                <a:solidFill>
                  <a:prstClr val="black"/>
                </a:solidFill>
                <a:latin typeface="Cambria Math"/>
                <a:cs typeface="Cambria Math"/>
              </a:rPr>
              <a:t>→</a:t>
            </a:r>
            <a:r>
              <a:rPr sz="1700" kern="1200" spc="95" dirty="0">
                <a:solidFill>
                  <a:prstClr val="black"/>
                </a:solidFill>
                <a:latin typeface="Cambria Math"/>
                <a:cs typeface="Cambria Math"/>
              </a:rPr>
              <a:t> </a:t>
            </a:r>
            <a:r>
              <a:rPr sz="1700" kern="1200" dirty="0">
                <a:solidFill>
                  <a:prstClr val="black"/>
                </a:solidFill>
                <a:latin typeface="Cambria Math"/>
                <a:cs typeface="Cambria Math"/>
              </a:rPr>
              <a:t>𝛼𝛽</a:t>
            </a:r>
            <a:r>
              <a:rPr sz="1700" kern="1200" spc="95" dirty="0">
                <a:solidFill>
                  <a:prstClr val="black"/>
                </a:solidFill>
                <a:latin typeface="Cambria Math"/>
                <a:cs typeface="Cambria Math"/>
              </a:rPr>
              <a:t> </a:t>
            </a:r>
            <a:r>
              <a:rPr sz="1700" kern="1200" dirty="0">
                <a:solidFill>
                  <a:prstClr val="black"/>
                </a:solidFill>
                <a:latin typeface="Palatino Linotype"/>
                <a:cs typeface="Palatino Linotype"/>
              </a:rPr>
              <a:t>is</a:t>
            </a:r>
            <a:r>
              <a:rPr sz="1700" kern="1200" spc="-5" dirty="0">
                <a:solidFill>
                  <a:prstClr val="black"/>
                </a:solidFill>
                <a:latin typeface="Palatino Linotype"/>
                <a:cs typeface="Palatino Linotype"/>
              </a:rPr>
              <a:t> </a:t>
            </a:r>
            <a:r>
              <a:rPr sz="1700" kern="1200" dirty="0">
                <a:solidFill>
                  <a:prstClr val="black"/>
                </a:solidFill>
                <a:latin typeface="Palatino Linotype"/>
                <a:cs typeface="Palatino Linotype"/>
              </a:rPr>
              <a:t>a </a:t>
            </a:r>
            <a:r>
              <a:rPr sz="1700" kern="1200" spc="-5" dirty="0">
                <a:solidFill>
                  <a:prstClr val="black"/>
                </a:solidFill>
                <a:latin typeface="Palatino Linotype"/>
                <a:cs typeface="Palatino Linotype"/>
              </a:rPr>
              <a:t>production and</a:t>
            </a:r>
            <a:r>
              <a:rPr sz="1700" kern="1200" spc="-10" dirty="0">
                <a:solidFill>
                  <a:prstClr val="black"/>
                </a:solidFill>
                <a:latin typeface="Palatino Linotype"/>
                <a:cs typeface="Palatino Linotype"/>
              </a:rPr>
              <a:t> </a:t>
            </a:r>
            <a:r>
              <a:rPr sz="1700" kern="1200" dirty="0">
                <a:solidFill>
                  <a:prstClr val="black"/>
                </a:solidFill>
                <a:latin typeface="Cambria Math"/>
                <a:cs typeface="Cambria Math"/>
              </a:rPr>
              <a:t>𝑎</a:t>
            </a:r>
            <a:r>
              <a:rPr sz="1700" kern="1200" spc="95" dirty="0">
                <a:solidFill>
                  <a:prstClr val="black"/>
                </a:solidFill>
                <a:latin typeface="Cambria Math"/>
                <a:cs typeface="Cambria Math"/>
              </a:rPr>
              <a:t> </a:t>
            </a:r>
            <a:r>
              <a:rPr sz="1700" kern="1200" dirty="0">
                <a:solidFill>
                  <a:prstClr val="black"/>
                </a:solidFill>
                <a:latin typeface="Palatino Linotype"/>
                <a:cs typeface="Palatino Linotype"/>
              </a:rPr>
              <a:t>is a</a:t>
            </a:r>
            <a:r>
              <a:rPr sz="1700" kern="1200" spc="-5" dirty="0">
                <a:solidFill>
                  <a:prstClr val="black"/>
                </a:solidFill>
                <a:latin typeface="Palatino Linotype"/>
                <a:cs typeface="Palatino Linotype"/>
              </a:rPr>
              <a:t> terminal</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or</a:t>
            </a:r>
            <a:r>
              <a:rPr sz="1700" kern="1200" dirty="0">
                <a:solidFill>
                  <a:prstClr val="black"/>
                </a:solidFill>
                <a:latin typeface="Palatino Linotype"/>
                <a:cs typeface="Palatino Linotype"/>
              </a:rPr>
              <a:t> </a:t>
            </a:r>
            <a:r>
              <a:rPr sz="1700" kern="1200" dirty="0">
                <a:solidFill>
                  <a:prstClr val="black"/>
                </a:solidFill>
                <a:latin typeface="Cambria Math"/>
                <a:cs typeface="Cambria Math"/>
              </a:rPr>
              <a:t>$</a:t>
            </a:r>
          </a:p>
          <a:p>
            <a:pPr marL="749300" lvl="1" indent="-228600" rtl="0">
              <a:spcBef>
                <a:spcPts val="1655"/>
              </a:spcBef>
              <a:buFont typeface="Wingdings"/>
              <a:buChar char=""/>
              <a:tabLst>
                <a:tab pos="748665" algn="l"/>
                <a:tab pos="749300" algn="l"/>
              </a:tabLst>
            </a:pPr>
            <a:r>
              <a:rPr sz="1700" kern="1200" dirty="0">
                <a:solidFill>
                  <a:prstClr val="black"/>
                </a:solidFill>
                <a:latin typeface="Palatino Linotype"/>
                <a:cs typeface="Palatino Linotype"/>
              </a:rPr>
              <a:t>“1” </a:t>
            </a:r>
            <a:r>
              <a:rPr sz="1700" kern="1200" spc="-5" dirty="0">
                <a:solidFill>
                  <a:prstClr val="black"/>
                </a:solidFill>
                <a:latin typeface="Palatino Linotype"/>
                <a:cs typeface="Palatino Linotype"/>
              </a:rPr>
              <a:t>refers</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to the length of the </a:t>
            </a:r>
            <a:r>
              <a:rPr sz="1700" kern="1200" spc="5" dirty="0">
                <a:solidFill>
                  <a:prstClr val="black"/>
                </a:solidFill>
                <a:latin typeface="Palatino Linotype"/>
                <a:cs typeface="Palatino Linotype"/>
              </a:rPr>
              <a:t>2</a:t>
            </a:r>
            <a:r>
              <a:rPr sz="1650" kern="1200" spc="7" baseline="25252" dirty="0">
                <a:solidFill>
                  <a:prstClr val="black"/>
                </a:solidFill>
                <a:latin typeface="Palatino Linotype"/>
                <a:cs typeface="Palatino Linotype"/>
              </a:rPr>
              <a:t>nd</a:t>
            </a:r>
            <a:r>
              <a:rPr sz="1650" kern="1200" spc="247" baseline="25252" dirty="0">
                <a:solidFill>
                  <a:prstClr val="black"/>
                </a:solidFill>
                <a:latin typeface="Palatino Linotype"/>
                <a:cs typeface="Palatino Linotype"/>
              </a:rPr>
              <a:t> </a:t>
            </a:r>
            <a:r>
              <a:rPr sz="1700" kern="1200" spc="-5" dirty="0">
                <a:solidFill>
                  <a:prstClr val="black"/>
                </a:solidFill>
                <a:latin typeface="Palatino Linotype"/>
                <a:cs typeface="Palatino Linotype"/>
              </a:rPr>
              <a:t>component:</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the </a:t>
            </a:r>
            <a:r>
              <a:rPr sz="1700" i="1" kern="1200" spc="-5" dirty="0">
                <a:solidFill>
                  <a:srgbClr val="FF0000"/>
                </a:solidFill>
                <a:latin typeface="Palatino Linotype"/>
                <a:cs typeface="Palatino Linotype"/>
              </a:rPr>
              <a:t>lookahead </a:t>
            </a:r>
            <a:r>
              <a:rPr sz="1700" kern="1200" spc="-5" dirty="0">
                <a:solidFill>
                  <a:prstClr val="black"/>
                </a:solidFill>
                <a:latin typeface="Palatino Linotype"/>
                <a:cs typeface="Palatino Linotype"/>
              </a:rPr>
              <a:t>(</a:t>
            </a:r>
            <a:r>
              <a:rPr sz="1700" kern="1200" dirty="0">
                <a:solidFill>
                  <a:srgbClr val="FF0000"/>
                </a:solidFill>
                <a:latin typeface="SimSun"/>
                <a:cs typeface="SimSun"/>
              </a:rPr>
              <a:t>向前看字符</a:t>
            </a:r>
            <a:r>
              <a:rPr sz="1700" kern="1200" spc="-5" dirty="0">
                <a:solidFill>
                  <a:prstClr val="black"/>
                </a:solidFill>
                <a:latin typeface="Palatino Linotype"/>
                <a:cs typeface="Palatino Linotype"/>
              </a:rPr>
              <a:t>)</a:t>
            </a:r>
            <a:r>
              <a:rPr sz="1650" kern="1200" spc="-7" baseline="25252" dirty="0">
                <a:solidFill>
                  <a:prstClr val="black"/>
                </a:solidFill>
                <a:latin typeface="Palatino Linotype"/>
                <a:cs typeface="Palatino Linotype"/>
              </a:rPr>
              <a:t>*</a:t>
            </a:r>
            <a:endParaRPr sz="1650" kern="1200" baseline="25252" dirty="0">
              <a:solidFill>
                <a:prstClr val="black"/>
              </a:solidFill>
              <a:latin typeface="Palatino Linotype"/>
              <a:cs typeface="Palatino Linotype"/>
            </a:endParaRPr>
          </a:p>
          <a:p>
            <a:pPr marL="749300" marR="55880" lvl="1" indent="-228600" rtl="0">
              <a:lnSpc>
                <a:spcPct val="122400"/>
              </a:lnSpc>
              <a:spcBef>
                <a:spcPts val="1100"/>
              </a:spcBef>
              <a:buFont typeface="Wingdings"/>
              <a:buChar char=""/>
              <a:tabLst>
                <a:tab pos="748665" algn="l"/>
                <a:tab pos="749300" algn="l"/>
              </a:tabLst>
            </a:pPr>
            <a:r>
              <a:rPr sz="1700" kern="1200" spc="-5" dirty="0">
                <a:solidFill>
                  <a:prstClr val="black"/>
                </a:solidFill>
                <a:latin typeface="Palatino Linotype"/>
                <a:cs typeface="Palatino Linotype"/>
              </a:rPr>
              <a:t>The lookahead symbol</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has</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no effect </a:t>
            </a:r>
            <a:r>
              <a:rPr sz="1700" kern="1200" dirty="0">
                <a:solidFill>
                  <a:srgbClr val="FF0000"/>
                </a:solidFill>
                <a:latin typeface="Palatino Linotype"/>
                <a:cs typeface="Palatino Linotype"/>
              </a:rPr>
              <a:t>if </a:t>
            </a:r>
            <a:r>
              <a:rPr sz="1700" kern="1200" dirty="0">
                <a:solidFill>
                  <a:srgbClr val="FF0000"/>
                </a:solidFill>
                <a:latin typeface="Cambria Math"/>
                <a:cs typeface="Cambria Math"/>
              </a:rPr>
              <a:t>𝛽</a:t>
            </a:r>
            <a:r>
              <a:rPr sz="1700" kern="1200" spc="95" dirty="0">
                <a:solidFill>
                  <a:srgbClr val="FF0000"/>
                </a:solidFill>
                <a:latin typeface="Cambria Math"/>
                <a:cs typeface="Cambria Math"/>
              </a:rPr>
              <a:t> </a:t>
            </a:r>
            <a:r>
              <a:rPr sz="1700" kern="1200" dirty="0">
                <a:solidFill>
                  <a:srgbClr val="FF0000"/>
                </a:solidFill>
                <a:latin typeface="Palatino Linotype"/>
                <a:cs typeface="Palatino Linotype"/>
              </a:rPr>
              <a:t>is </a:t>
            </a:r>
            <a:r>
              <a:rPr sz="1700" kern="1200" spc="-5" dirty="0">
                <a:solidFill>
                  <a:srgbClr val="FF0000"/>
                </a:solidFill>
                <a:latin typeface="Palatino Linotype"/>
                <a:cs typeface="Palatino Linotype"/>
              </a:rPr>
              <a:t>not</a:t>
            </a:r>
            <a:r>
              <a:rPr sz="1700" kern="1200" dirty="0">
                <a:solidFill>
                  <a:srgbClr val="FF0000"/>
                </a:solidFill>
                <a:latin typeface="Palatino Linotype"/>
                <a:cs typeface="Palatino Linotype"/>
              </a:rPr>
              <a:t> </a:t>
            </a:r>
            <a:r>
              <a:rPr sz="1700" kern="1200" dirty="0">
                <a:solidFill>
                  <a:srgbClr val="FF0000"/>
                </a:solidFill>
                <a:latin typeface="Cambria Math"/>
                <a:cs typeface="Cambria Math"/>
              </a:rPr>
              <a:t>𝜖</a:t>
            </a:r>
            <a:r>
              <a:rPr sz="1700" kern="1200" spc="100" dirty="0">
                <a:solidFill>
                  <a:srgbClr val="FF0000"/>
                </a:solidFill>
                <a:latin typeface="Cambria Math"/>
                <a:cs typeface="Cambria Math"/>
              </a:rPr>
              <a:t> </a:t>
            </a:r>
            <a:r>
              <a:rPr sz="1700" kern="1200" spc="-5" dirty="0">
                <a:solidFill>
                  <a:prstClr val="black"/>
                </a:solidFill>
                <a:latin typeface="Palatino Linotype"/>
                <a:cs typeface="Palatino Linotype"/>
              </a:rPr>
              <a:t>since</a:t>
            </a:r>
            <a:r>
              <a:rPr sz="1700" kern="1200" dirty="0">
                <a:solidFill>
                  <a:prstClr val="black"/>
                </a:solidFill>
                <a:latin typeface="Palatino Linotype"/>
                <a:cs typeface="Palatino Linotype"/>
              </a:rPr>
              <a:t> it</a:t>
            </a:r>
            <a:r>
              <a:rPr sz="1700" kern="1200" spc="-5" dirty="0">
                <a:solidFill>
                  <a:prstClr val="black"/>
                </a:solidFill>
                <a:latin typeface="Palatino Linotype"/>
                <a:cs typeface="Palatino Linotype"/>
              </a:rPr>
              <a:t> only</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helps </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determine</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whether</a:t>
            </a:r>
            <a:r>
              <a:rPr sz="1700" kern="1200" spc="5" dirty="0">
                <a:solidFill>
                  <a:prstClr val="black"/>
                </a:solidFill>
                <a:latin typeface="Palatino Linotype"/>
                <a:cs typeface="Palatino Linotype"/>
              </a:rPr>
              <a:t> </a:t>
            </a:r>
            <a:r>
              <a:rPr sz="1700" kern="1200" spc="-5" dirty="0">
                <a:solidFill>
                  <a:prstClr val="black"/>
                </a:solidFill>
                <a:latin typeface="Palatino Linotype"/>
                <a:cs typeface="Palatino Linotype"/>
              </a:rPr>
              <a:t>to</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reduce</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a:t>
            </a:r>
            <a:r>
              <a:rPr sz="1700" kern="1200" spc="-5" dirty="0">
                <a:solidFill>
                  <a:schemeClr val="bg2">
                    <a:lumMod val="50000"/>
                  </a:schemeClr>
                </a:solidFill>
                <a:latin typeface="Cambria Math"/>
                <a:cs typeface="Cambria Math"/>
              </a:rPr>
              <a:t>𝑎</a:t>
            </a:r>
            <a:r>
              <a:rPr sz="1700" kern="1200" spc="100" dirty="0">
                <a:solidFill>
                  <a:schemeClr val="bg2">
                    <a:lumMod val="50000"/>
                  </a:schemeClr>
                </a:solidFill>
                <a:latin typeface="Cambria Math"/>
                <a:cs typeface="Cambria Math"/>
              </a:rPr>
              <a:t> </a:t>
            </a:r>
            <a:r>
              <a:rPr sz="1700" kern="1200" dirty="0">
                <a:solidFill>
                  <a:schemeClr val="bg2">
                    <a:lumMod val="50000"/>
                  </a:schemeClr>
                </a:solidFill>
                <a:latin typeface="Palatino Linotype"/>
                <a:cs typeface="Palatino Linotype"/>
              </a:rPr>
              <a:t>will</a:t>
            </a:r>
            <a:r>
              <a:rPr sz="1700" kern="1200" spc="10" dirty="0">
                <a:solidFill>
                  <a:schemeClr val="bg2">
                    <a:lumMod val="50000"/>
                  </a:schemeClr>
                </a:solidFill>
                <a:latin typeface="Palatino Linotype"/>
                <a:cs typeface="Palatino Linotype"/>
              </a:rPr>
              <a:t> </a:t>
            </a:r>
            <a:r>
              <a:rPr sz="1700" kern="1200" spc="-5" dirty="0">
                <a:solidFill>
                  <a:schemeClr val="bg2">
                    <a:lumMod val="50000"/>
                  </a:schemeClr>
                </a:solidFill>
                <a:latin typeface="Palatino Linotype"/>
                <a:cs typeface="Palatino Linotype"/>
              </a:rPr>
              <a:t>be</a:t>
            </a:r>
            <a:r>
              <a:rPr sz="1700" kern="1200" dirty="0">
                <a:solidFill>
                  <a:schemeClr val="bg2">
                    <a:lumMod val="50000"/>
                  </a:schemeClr>
                </a:solidFill>
                <a:latin typeface="Palatino Linotype"/>
                <a:cs typeface="Palatino Linotype"/>
              </a:rPr>
              <a:t> </a:t>
            </a:r>
            <a:r>
              <a:rPr sz="1700" kern="1200" spc="-5" dirty="0">
                <a:solidFill>
                  <a:schemeClr val="bg2">
                    <a:lumMod val="50000"/>
                  </a:schemeClr>
                </a:solidFill>
                <a:latin typeface="Palatino Linotype"/>
                <a:cs typeface="Palatino Linotype"/>
              </a:rPr>
              <a:t>inherited</a:t>
            </a:r>
            <a:r>
              <a:rPr sz="1700" kern="1200" dirty="0">
                <a:solidFill>
                  <a:schemeClr val="bg2">
                    <a:lumMod val="50000"/>
                  </a:schemeClr>
                </a:solidFill>
                <a:latin typeface="Palatino Linotype"/>
                <a:cs typeface="Palatino Linotype"/>
              </a:rPr>
              <a:t> </a:t>
            </a:r>
            <a:r>
              <a:rPr sz="1700" kern="1200" spc="-5" dirty="0">
                <a:solidFill>
                  <a:schemeClr val="bg2">
                    <a:lumMod val="50000"/>
                  </a:schemeClr>
                </a:solidFill>
                <a:latin typeface="Palatino Linotype"/>
                <a:cs typeface="Palatino Linotype"/>
              </a:rPr>
              <a:t>during</a:t>
            </a:r>
            <a:r>
              <a:rPr sz="1700" kern="1200" spc="5" dirty="0">
                <a:solidFill>
                  <a:schemeClr val="bg2">
                    <a:lumMod val="50000"/>
                  </a:schemeClr>
                </a:solidFill>
                <a:latin typeface="Palatino Linotype"/>
                <a:cs typeface="Palatino Linotype"/>
              </a:rPr>
              <a:t> </a:t>
            </a:r>
            <a:r>
              <a:rPr sz="1700" kern="1200" spc="-5" dirty="0">
                <a:solidFill>
                  <a:schemeClr val="bg2">
                    <a:lumMod val="50000"/>
                  </a:schemeClr>
                </a:solidFill>
                <a:latin typeface="Palatino Linotype"/>
                <a:cs typeface="Palatino Linotype"/>
              </a:rPr>
              <a:t>state</a:t>
            </a:r>
            <a:r>
              <a:rPr sz="1700" kern="1200" dirty="0">
                <a:solidFill>
                  <a:schemeClr val="bg2">
                    <a:lumMod val="50000"/>
                  </a:schemeClr>
                </a:solidFill>
                <a:latin typeface="Palatino Linotype"/>
                <a:cs typeface="Palatino Linotype"/>
              </a:rPr>
              <a:t> </a:t>
            </a:r>
            <a:r>
              <a:rPr sz="1700" kern="1200" spc="-5" dirty="0">
                <a:solidFill>
                  <a:schemeClr val="bg2">
                    <a:lumMod val="50000"/>
                  </a:schemeClr>
                </a:solidFill>
                <a:latin typeface="Palatino Linotype"/>
                <a:cs typeface="Palatino Linotype"/>
              </a:rPr>
              <a:t>transitions</a:t>
            </a:r>
            <a:r>
              <a:rPr sz="1700" kern="1200" spc="-5" dirty="0">
                <a:solidFill>
                  <a:prstClr val="black"/>
                </a:solidFill>
                <a:latin typeface="Palatino Linotype"/>
                <a:cs typeface="Palatino Linotype"/>
              </a:rPr>
              <a:t>)</a:t>
            </a:r>
            <a:endParaRPr sz="1700" kern="1200" dirty="0">
              <a:solidFill>
                <a:prstClr val="black"/>
              </a:solidFill>
              <a:latin typeface="Palatino Linotype"/>
              <a:cs typeface="Palatino Linotype"/>
            </a:endParaRPr>
          </a:p>
          <a:p>
            <a:pPr marL="749300" marR="171450" lvl="1" indent="-228600" rtl="0">
              <a:lnSpc>
                <a:spcPct val="123500"/>
              </a:lnSpc>
              <a:spcBef>
                <a:spcPts val="1080"/>
              </a:spcBef>
              <a:buFont typeface="Wingdings"/>
              <a:buChar char=""/>
              <a:tabLst>
                <a:tab pos="748665" algn="l"/>
                <a:tab pos="749300" algn="l"/>
                <a:tab pos="2767330" algn="l"/>
                <a:tab pos="3787775" algn="l"/>
              </a:tabLst>
            </a:pPr>
            <a:r>
              <a:rPr sz="1700" kern="1200" dirty="0">
                <a:solidFill>
                  <a:prstClr val="black"/>
                </a:solidFill>
                <a:latin typeface="Palatino Linotype"/>
                <a:cs typeface="Palatino Linotype"/>
              </a:rPr>
              <a:t>An </a:t>
            </a:r>
            <a:r>
              <a:rPr sz="1700" kern="1200" spc="-5" dirty="0">
                <a:solidFill>
                  <a:prstClr val="black"/>
                </a:solidFill>
                <a:latin typeface="Palatino Linotype"/>
                <a:cs typeface="Palatino Linotype"/>
              </a:rPr>
              <a:t>item</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of</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the</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form	</a:t>
            </a:r>
            <a:r>
              <a:rPr sz="1700" kern="1200" dirty="0">
                <a:solidFill>
                  <a:srgbClr val="0432FF"/>
                </a:solidFill>
                <a:latin typeface="Cambria Math"/>
                <a:cs typeface="Cambria Math"/>
              </a:rPr>
              <a:t>𝐴</a:t>
            </a:r>
            <a:r>
              <a:rPr sz="1700" kern="1200" spc="110" dirty="0">
                <a:solidFill>
                  <a:srgbClr val="0432FF"/>
                </a:solidFill>
                <a:latin typeface="Cambria Math"/>
                <a:cs typeface="Cambria Math"/>
              </a:rPr>
              <a:t> </a:t>
            </a:r>
            <a:r>
              <a:rPr sz="1700" kern="1200" dirty="0">
                <a:solidFill>
                  <a:srgbClr val="0432FF"/>
                </a:solidFill>
                <a:latin typeface="Cambria Math"/>
                <a:cs typeface="Cambria Math"/>
              </a:rPr>
              <a:t>→</a:t>
            </a:r>
            <a:r>
              <a:rPr sz="1700" kern="1200" spc="95" dirty="0">
                <a:solidFill>
                  <a:srgbClr val="0432FF"/>
                </a:solidFill>
                <a:latin typeface="Cambria Math"/>
                <a:cs typeface="Cambria Math"/>
              </a:rPr>
              <a:t> </a:t>
            </a:r>
            <a:r>
              <a:rPr sz="1700" kern="1200" dirty="0">
                <a:solidFill>
                  <a:srgbClr val="0432FF"/>
                </a:solidFill>
                <a:latin typeface="Cambria Math"/>
                <a:cs typeface="Cambria Math"/>
              </a:rPr>
              <a:t>𝛼</a:t>
            </a:r>
            <a:r>
              <a:rPr lang="en-US" altLang="zh-CN" sz="1700" kern="1200" spc="60" dirty="0">
                <a:solidFill>
                  <a:srgbClr val="0432FF"/>
                </a:solidFill>
                <a:latin typeface="Cambria Math"/>
                <a:cs typeface="Cambria Math"/>
              </a:rPr>
              <a:t>· </a:t>
            </a:r>
            <a:r>
              <a:rPr sz="1700" kern="1200" spc="-325" dirty="0">
                <a:solidFill>
                  <a:srgbClr val="0432FF"/>
                </a:solidFill>
                <a:latin typeface="Cambria Math"/>
                <a:cs typeface="Cambria Math"/>
              </a:rPr>
              <a:t>,</a:t>
            </a:r>
            <a:r>
              <a:rPr sz="1700" kern="1200" spc="-90" dirty="0">
                <a:solidFill>
                  <a:srgbClr val="0432FF"/>
                </a:solidFill>
                <a:latin typeface="Cambria Math"/>
                <a:cs typeface="Cambria Math"/>
              </a:rPr>
              <a:t> </a:t>
            </a:r>
            <a:r>
              <a:rPr sz="1700" kern="1200" dirty="0">
                <a:solidFill>
                  <a:srgbClr val="0432FF"/>
                </a:solidFill>
                <a:latin typeface="Cambria Math"/>
                <a:cs typeface="Cambria Math"/>
              </a:rPr>
              <a:t>𝑎	</a:t>
            </a:r>
            <a:r>
              <a:rPr sz="1700" kern="1200" dirty="0">
                <a:solidFill>
                  <a:prstClr val="black"/>
                </a:solidFill>
                <a:latin typeface="Palatino Linotype"/>
                <a:cs typeface="Palatino Linotype"/>
              </a:rPr>
              <a:t>calls</a:t>
            </a:r>
            <a:r>
              <a:rPr sz="1700" kern="1200" spc="-5" dirty="0">
                <a:solidFill>
                  <a:prstClr val="black"/>
                </a:solidFill>
                <a:latin typeface="Palatino Linotype"/>
                <a:cs typeface="Palatino Linotype"/>
              </a:rPr>
              <a:t> for </a:t>
            </a:r>
            <a:r>
              <a:rPr sz="1700" kern="1200" dirty="0">
                <a:solidFill>
                  <a:prstClr val="black"/>
                </a:solidFill>
                <a:latin typeface="Palatino Linotype"/>
                <a:cs typeface="Palatino Linotype"/>
              </a:rPr>
              <a:t>a </a:t>
            </a:r>
            <a:r>
              <a:rPr sz="1700" kern="1200" spc="-5" dirty="0">
                <a:solidFill>
                  <a:prstClr val="black"/>
                </a:solidFill>
                <a:latin typeface="Palatino Linotype"/>
                <a:cs typeface="Palatino Linotype"/>
              </a:rPr>
              <a:t>reduction</a:t>
            </a:r>
            <a:r>
              <a:rPr sz="1700" kern="1200" spc="-10" dirty="0">
                <a:solidFill>
                  <a:prstClr val="black"/>
                </a:solidFill>
                <a:latin typeface="Palatino Linotype"/>
                <a:cs typeface="Palatino Linotype"/>
              </a:rPr>
              <a:t> </a:t>
            </a:r>
            <a:r>
              <a:rPr sz="1700" kern="1200" spc="-5" dirty="0">
                <a:solidFill>
                  <a:prstClr val="black"/>
                </a:solidFill>
                <a:latin typeface="Palatino Linotype"/>
                <a:cs typeface="Palatino Linotype"/>
              </a:rPr>
              <a:t>by </a:t>
            </a:r>
            <a:r>
              <a:rPr sz="1700" kern="1200" dirty="0">
                <a:solidFill>
                  <a:srgbClr val="0432FF"/>
                </a:solidFill>
                <a:latin typeface="Cambria Math"/>
                <a:cs typeface="Cambria Math"/>
              </a:rPr>
              <a:t>𝐴</a:t>
            </a:r>
            <a:r>
              <a:rPr sz="1700" kern="1200" spc="105" dirty="0">
                <a:solidFill>
                  <a:srgbClr val="0432FF"/>
                </a:solidFill>
                <a:latin typeface="Cambria Math"/>
                <a:cs typeface="Cambria Math"/>
              </a:rPr>
              <a:t> </a:t>
            </a:r>
            <a:r>
              <a:rPr sz="1700" kern="1200" dirty="0">
                <a:solidFill>
                  <a:srgbClr val="0432FF"/>
                </a:solidFill>
                <a:latin typeface="Cambria Math"/>
                <a:cs typeface="Cambria Math"/>
              </a:rPr>
              <a:t>→</a:t>
            </a:r>
            <a:r>
              <a:rPr sz="1700" kern="1200" spc="90" dirty="0">
                <a:solidFill>
                  <a:srgbClr val="0432FF"/>
                </a:solidFill>
                <a:latin typeface="Cambria Math"/>
                <a:cs typeface="Cambria Math"/>
              </a:rPr>
              <a:t> </a:t>
            </a:r>
            <a:r>
              <a:rPr sz="1700" kern="1200" dirty="0">
                <a:solidFill>
                  <a:srgbClr val="0432FF"/>
                </a:solidFill>
                <a:latin typeface="Cambria Math"/>
                <a:cs typeface="Cambria Math"/>
              </a:rPr>
              <a:t>𝛼</a:t>
            </a:r>
            <a:r>
              <a:rPr sz="1700" kern="1200" spc="105" dirty="0">
                <a:solidFill>
                  <a:srgbClr val="0432FF"/>
                </a:solidFill>
                <a:latin typeface="Cambria Math"/>
                <a:cs typeface="Cambria Math"/>
              </a:rPr>
              <a:t> </a:t>
            </a:r>
            <a:r>
              <a:rPr sz="1700" kern="1200" spc="-5" dirty="0">
                <a:solidFill>
                  <a:srgbClr val="FF0000"/>
                </a:solidFill>
                <a:latin typeface="Palatino Linotype"/>
                <a:cs typeface="Palatino Linotype"/>
              </a:rPr>
              <a:t>only </a:t>
            </a:r>
            <a:r>
              <a:rPr sz="1700" kern="1200" dirty="0">
                <a:solidFill>
                  <a:srgbClr val="FF0000"/>
                </a:solidFill>
                <a:latin typeface="Palatino Linotype"/>
                <a:cs typeface="Palatino Linotype"/>
              </a:rPr>
              <a:t>if</a:t>
            </a:r>
            <a:r>
              <a:rPr sz="1700" kern="1200" spc="-10" dirty="0">
                <a:solidFill>
                  <a:srgbClr val="FF0000"/>
                </a:solidFill>
                <a:latin typeface="Palatino Linotype"/>
                <a:cs typeface="Palatino Linotype"/>
              </a:rPr>
              <a:t> </a:t>
            </a:r>
            <a:r>
              <a:rPr sz="1700" kern="1200" spc="-5" dirty="0">
                <a:solidFill>
                  <a:srgbClr val="FF0000"/>
                </a:solidFill>
                <a:latin typeface="Palatino Linotype"/>
                <a:cs typeface="Palatino Linotype"/>
              </a:rPr>
              <a:t>the </a:t>
            </a:r>
            <a:r>
              <a:rPr sz="1700" kern="1200" spc="-409" dirty="0">
                <a:solidFill>
                  <a:srgbClr val="FF0000"/>
                </a:solidFill>
                <a:latin typeface="Palatino Linotype"/>
                <a:cs typeface="Palatino Linotype"/>
              </a:rPr>
              <a:t> </a:t>
            </a:r>
            <a:r>
              <a:rPr sz="1700" kern="1200" spc="-5" dirty="0">
                <a:solidFill>
                  <a:srgbClr val="FF0000"/>
                </a:solidFill>
                <a:latin typeface="Palatino Linotype"/>
                <a:cs typeface="Palatino Linotype"/>
              </a:rPr>
              <a:t>next input symbol</a:t>
            </a:r>
            <a:r>
              <a:rPr sz="1700" kern="1200" spc="10" dirty="0">
                <a:solidFill>
                  <a:srgbClr val="FF0000"/>
                </a:solidFill>
                <a:latin typeface="Palatino Linotype"/>
                <a:cs typeface="Palatino Linotype"/>
              </a:rPr>
              <a:t> </a:t>
            </a:r>
            <a:r>
              <a:rPr sz="1700" kern="1200" dirty="0">
                <a:solidFill>
                  <a:srgbClr val="FF0000"/>
                </a:solidFill>
                <a:latin typeface="Palatino Linotype"/>
                <a:cs typeface="Palatino Linotype"/>
              </a:rPr>
              <a:t>is </a:t>
            </a:r>
            <a:r>
              <a:rPr sz="1700" kern="1200" dirty="0">
                <a:solidFill>
                  <a:srgbClr val="FF0000"/>
                </a:solidFill>
                <a:latin typeface="Cambria Math"/>
                <a:cs typeface="Cambria Math"/>
              </a:rPr>
              <a:t>𝑎</a:t>
            </a:r>
            <a:r>
              <a:rPr sz="1700" kern="1200" spc="95" dirty="0">
                <a:solidFill>
                  <a:srgbClr val="FF0000"/>
                </a:solidFill>
                <a:latin typeface="Cambria Math"/>
                <a:cs typeface="Cambria Math"/>
              </a:rPr>
              <a:t> </a:t>
            </a:r>
            <a:r>
              <a:rPr sz="1700" kern="1200" spc="-5" dirty="0">
                <a:solidFill>
                  <a:prstClr val="black"/>
                </a:solidFill>
                <a:latin typeface="Palatino Linotype"/>
                <a:cs typeface="Palatino Linotype"/>
              </a:rPr>
              <a:t>(the</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set of</a:t>
            </a:r>
            <a:r>
              <a:rPr sz="1700" kern="1200" dirty="0">
                <a:solidFill>
                  <a:prstClr val="black"/>
                </a:solidFill>
                <a:latin typeface="Palatino Linotype"/>
                <a:cs typeface="Palatino Linotype"/>
              </a:rPr>
              <a:t> </a:t>
            </a:r>
            <a:r>
              <a:rPr sz="1700" kern="1200" spc="-5" dirty="0">
                <a:solidFill>
                  <a:prstClr val="black"/>
                </a:solidFill>
                <a:latin typeface="Palatino Linotype"/>
                <a:cs typeface="Palatino Linotype"/>
              </a:rPr>
              <a:t>such </a:t>
            </a:r>
            <a:r>
              <a:rPr sz="1700" kern="1200" spc="-50" dirty="0">
                <a:solidFill>
                  <a:prstClr val="black"/>
                </a:solidFill>
                <a:latin typeface="Cambria Math"/>
                <a:cs typeface="Cambria Math"/>
              </a:rPr>
              <a:t>𝑎</a:t>
            </a:r>
            <a:r>
              <a:rPr sz="1700" kern="1200" spc="-50" dirty="0">
                <a:solidFill>
                  <a:prstClr val="black"/>
                </a:solidFill>
                <a:latin typeface="Palatino Linotype"/>
                <a:cs typeface="Palatino Linotype"/>
              </a:rPr>
              <a:t>’s</a:t>
            </a:r>
            <a:r>
              <a:rPr sz="1700" kern="1200" dirty="0">
                <a:solidFill>
                  <a:prstClr val="black"/>
                </a:solidFill>
                <a:latin typeface="Palatino Linotype"/>
                <a:cs typeface="Palatino Linotype"/>
              </a:rPr>
              <a:t> is</a:t>
            </a:r>
            <a:r>
              <a:rPr sz="1700" kern="1200" spc="5" dirty="0">
                <a:solidFill>
                  <a:prstClr val="black"/>
                </a:solidFill>
                <a:latin typeface="Palatino Linotype"/>
                <a:cs typeface="Palatino Linotype"/>
              </a:rPr>
              <a:t> </a:t>
            </a:r>
            <a:r>
              <a:rPr sz="1700" kern="1200" dirty="0">
                <a:solidFill>
                  <a:prstClr val="black"/>
                </a:solidFill>
                <a:latin typeface="Palatino Linotype"/>
                <a:cs typeface="Palatino Linotype"/>
              </a:rPr>
              <a:t>a</a:t>
            </a:r>
            <a:r>
              <a:rPr sz="1700" kern="1200" spc="-5" dirty="0">
                <a:solidFill>
                  <a:prstClr val="black"/>
                </a:solidFill>
                <a:latin typeface="Palatino Linotype"/>
                <a:cs typeface="Palatino Linotype"/>
              </a:rPr>
              <a:t> </a:t>
            </a:r>
            <a:r>
              <a:rPr sz="1700" b="1" kern="1200" spc="-5" dirty="0">
                <a:solidFill>
                  <a:srgbClr val="FF0000"/>
                </a:solidFill>
                <a:latin typeface="Palatino Linotype"/>
                <a:cs typeface="Palatino Linotype"/>
              </a:rPr>
              <a:t>subset </a:t>
            </a:r>
            <a:r>
              <a:rPr sz="1700" kern="1200" spc="-5" dirty="0">
                <a:solidFill>
                  <a:srgbClr val="FF0000"/>
                </a:solidFill>
                <a:latin typeface="Palatino Linotype"/>
                <a:cs typeface="Palatino Linotype"/>
              </a:rPr>
              <a:t>of</a:t>
            </a:r>
            <a:r>
              <a:rPr sz="1700" kern="1200" dirty="0">
                <a:solidFill>
                  <a:srgbClr val="FF0000"/>
                </a:solidFill>
                <a:latin typeface="Palatino Linotype"/>
                <a:cs typeface="Palatino Linotype"/>
              </a:rPr>
              <a:t> </a:t>
            </a:r>
            <a:r>
              <a:rPr sz="1700" kern="1200" spc="-10" dirty="0">
                <a:solidFill>
                  <a:srgbClr val="FF0000"/>
                </a:solidFill>
                <a:latin typeface="Cambria Math"/>
                <a:cs typeface="Cambria Math"/>
              </a:rPr>
              <a:t>FOLLOW(𝐴)</a:t>
            </a:r>
            <a:r>
              <a:rPr sz="1700" kern="1200" spc="-10" dirty="0">
                <a:solidFill>
                  <a:prstClr val="black"/>
                </a:solidFill>
                <a:latin typeface="Palatino Linotype"/>
                <a:cs typeface="Palatino Linotype"/>
              </a:rPr>
              <a:t>)</a:t>
            </a:r>
            <a:endParaRPr sz="1700" kern="1200" dirty="0">
              <a:solidFill>
                <a:prstClr val="black"/>
              </a:solidFill>
              <a:latin typeface="Palatino Linotype"/>
              <a:cs typeface="Palatino Linotype"/>
            </a:endParaRPr>
          </a:p>
          <a:p>
            <a:pPr rtl="0">
              <a:spcBef>
                <a:spcPts val="25"/>
              </a:spcBef>
            </a:pPr>
            <a:endParaRPr sz="2500" kern="1200" dirty="0">
              <a:solidFill>
                <a:prstClr val="black"/>
              </a:solidFill>
              <a:latin typeface="Palatino Linotype"/>
              <a:cs typeface="Palatino Linotype"/>
            </a:endParaRPr>
          </a:p>
          <a:p>
            <a:pPr marL="132080" rtl="0"/>
            <a:r>
              <a:rPr sz="1400" kern="120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LR(0) </a:t>
            </a:r>
            <a:r>
              <a:rPr sz="1400" kern="1200" dirty="0">
                <a:solidFill>
                  <a:schemeClr val="bg2">
                    <a:lumMod val="50000"/>
                  </a:schemeClr>
                </a:solidFill>
                <a:latin typeface="Palatino Linotype"/>
                <a:cs typeface="Palatino Linotype"/>
              </a:rPr>
              <a:t>items</a:t>
            </a:r>
            <a:r>
              <a:rPr sz="1400" kern="1200" spc="-5" dirty="0">
                <a:solidFill>
                  <a:schemeClr val="bg2">
                    <a:lumMod val="50000"/>
                  </a:schemeClr>
                </a:solidFill>
                <a:latin typeface="Palatino Linotype"/>
                <a:cs typeface="Palatino Linotype"/>
              </a:rPr>
              <a:t> do not</a:t>
            </a:r>
            <a:r>
              <a:rPr sz="1400" kern="1200" spc="10" dirty="0">
                <a:solidFill>
                  <a:schemeClr val="bg2">
                    <a:lumMod val="50000"/>
                  </a:schemeClr>
                </a:solidFill>
                <a:latin typeface="Palatino Linotype"/>
                <a:cs typeface="Palatino Linotype"/>
              </a:rPr>
              <a:t> </a:t>
            </a:r>
            <a:r>
              <a:rPr sz="1400" kern="1200" spc="-10" dirty="0">
                <a:solidFill>
                  <a:schemeClr val="bg2">
                    <a:lumMod val="50000"/>
                  </a:schemeClr>
                </a:solidFill>
                <a:latin typeface="Palatino Linotype"/>
                <a:cs typeface="Palatino Linotype"/>
              </a:rPr>
              <a:t>have</a:t>
            </a:r>
            <a:r>
              <a:rPr sz="1400" kern="120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lookahead symbols,</a:t>
            </a:r>
            <a:r>
              <a:rPr sz="1400" kern="120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and hence</a:t>
            </a:r>
            <a:r>
              <a:rPr sz="1400" kern="1200" dirty="0">
                <a:solidFill>
                  <a:schemeClr val="bg2">
                    <a:lumMod val="50000"/>
                  </a:schemeClr>
                </a:solidFill>
                <a:latin typeface="Palatino Linotype"/>
                <a:cs typeface="Palatino Linotype"/>
              </a:rPr>
              <a:t> they </a:t>
            </a:r>
            <a:r>
              <a:rPr sz="1400" kern="1200" spc="-5" dirty="0">
                <a:solidFill>
                  <a:schemeClr val="bg2">
                    <a:lumMod val="50000"/>
                  </a:schemeClr>
                </a:solidFill>
                <a:latin typeface="Palatino Linotype"/>
                <a:cs typeface="Palatino Linotype"/>
              </a:rPr>
              <a:t>are</a:t>
            </a:r>
            <a:r>
              <a:rPr sz="1400" kern="1200" dirty="0">
                <a:solidFill>
                  <a:schemeClr val="bg2">
                    <a:lumMod val="50000"/>
                  </a:schemeClr>
                </a:solidFill>
                <a:latin typeface="Palatino Linotype"/>
                <a:cs typeface="Palatino Linotype"/>
              </a:rPr>
              <a:t> called</a:t>
            </a:r>
            <a:r>
              <a:rPr sz="1400" kern="1200" spc="-5" dirty="0">
                <a:solidFill>
                  <a:schemeClr val="bg2">
                    <a:lumMod val="50000"/>
                  </a:schemeClr>
                </a:solidFill>
                <a:latin typeface="Palatino Linotype"/>
                <a:cs typeface="Palatino Linotype"/>
              </a:rPr>
              <a:t> LR(0)</a:t>
            </a:r>
            <a:endParaRPr sz="1400" kern="1200" dirty="0">
              <a:solidFill>
                <a:schemeClr val="bg2">
                  <a:lumMod val="50000"/>
                </a:schemeClr>
              </a:solidFill>
              <a:latin typeface="Palatino Linotype"/>
              <a:cs typeface="Palatino Linotype"/>
            </a:endParaRPr>
          </a:p>
        </p:txBody>
      </p:sp>
    </p:spTree>
    <p:extLst>
      <p:ext uri="{BB962C8B-B14F-4D97-AF65-F5344CB8AC3E}">
        <p14:creationId xmlns:p14="http://schemas.microsoft.com/office/powerpoint/2010/main" val="146171021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135</a:t>
            </a:fld>
            <a:endParaRPr lang="en-US"/>
          </a:p>
        </p:txBody>
      </p:sp>
      <p:sp>
        <p:nvSpPr>
          <p:cNvPr id="17" name="object 2">
            <a:extLst>
              <a:ext uri="{FF2B5EF4-FFF2-40B4-BE49-F238E27FC236}">
                <a16:creationId xmlns:a16="http://schemas.microsoft.com/office/drawing/2014/main" id="{0F780F13-11E3-E8CA-EBF2-41D09D8CBB38}"/>
              </a:ext>
            </a:extLst>
          </p:cNvPr>
          <p:cNvSpPr txBox="1">
            <a:spLocks/>
          </p:cNvSpPr>
          <p:nvPr/>
        </p:nvSpPr>
        <p:spPr>
          <a:xfrm>
            <a:off x="707390" y="524763"/>
            <a:ext cx="74434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Constructing LR(1)</a:t>
            </a:r>
            <a:r>
              <a:rPr kumimoji="0" lang="en-US" sz="4000" b="1" i="0" u="none" strike="noStrike" kern="0" cap="none" spc="0" normalizeH="0" baseline="0" noProof="0">
                <a:ln>
                  <a:noFill/>
                </a:ln>
                <a:solidFill>
                  <a:sysClr val="windowText" lastClr="000000"/>
                </a:solidFill>
                <a:effectLst/>
                <a:uLnTx/>
                <a:uFillTx/>
                <a:latin typeface="Palatino Linotype"/>
                <a:ea typeface="+mj-ea"/>
              </a:rPr>
              <a:t> Item </a:t>
            </a:r>
            <a:r>
              <a:rPr kumimoji="0" lang="en-US" sz="4000" b="1" i="0" u="none" strike="noStrike" kern="0" cap="none" spc="-5" normalizeH="0" baseline="0" noProof="0">
                <a:ln>
                  <a:noFill/>
                </a:ln>
                <a:solidFill>
                  <a:sysClr val="windowText" lastClr="000000"/>
                </a:solidFill>
                <a:effectLst/>
                <a:uLnTx/>
                <a:uFillTx/>
                <a:latin typeface="Palatino Linotype"/>
                <a:ea typeface="+mj-ea"/>
              </a:rPr>
              <a:t>Sets </a:t>
            </a:r>
            <a:r>
              <a:rPr kumimoji="0" lang="en-US" sz="4000" b="1" i="0" u="none" strike="noStrike" kern="0" cap="none" spc="0" normalizeH="0" baseline="0" noProof="0">
                <a:ln>
                  <a:noFill/>
                </a:ln>
                <a:solidFill>
                  <a:sysClr val="windowText" lastClr="000000"/>
                </a:solidFill>
                <a:effectLst/>
                <a:uLnTx/>
                <a:uFillTx/>
                <a:latin typeface="Palatino Linotype"/>
                <a:ea typeface="+mj-ea"/>
              </a:rPr>
              <a:t>(1)</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8" name="object 3">
            <a:extLst>
              <a:ext uri="{FF2B5EF4-FFF2-40B4-BE49-F238E27FC236}">
                <a16:creationId xmlns:a16="http://schemas.microsoft.com/office/drawing/2014/main" id="{7F686427-8B9F-AB13-B77E-02CD16C9AAF4}"/>
              </a:ext>
            </a:extLst>
          </p:cNvPr>
          <p:cNvSpPr txBox="1"/>
          <p:nvPr/>
        </p:nvSpPr>
        <p:spPr>
          <a:xfrm>
            <a:off x="707390" y="1449323"/>
            <a:ext cx="7366634" cy="1101725"/>
          </a:xfrm>
          <a:prstGeom prst="rect">
            <a:avLst/>
          </a:prstGeom>
        </p:spPr>
        <p:txBody>
          <a:bodyPr vert="horz" wrap="square" lIns="0" tIns="5080" rIns="0" bIns="0" rtlCol="0">
            <a:spAutoFit/>
          </a:bodyPr>
          <a:lstStyle/>
          <a:p>
            <a:pPr marL="242570" marR="5080" indent="-230504" rtl="0">
              <a:lnSpc>
                <a:spcPct val="118500"/>
              </a:lnSpc>
              <a:spcBef>
                <a:spcPts val="40"/>
              </a:spcBef>
              <a:buFont typeface="Arial MT"/>
              <a:buChar char="•"/>
              <a:tabLst>
                <a:tab pos="242570" algn="l"/>
                <a:tab pos="243204" algn="l"/>
              </a:tabLst>
            </a:pPr>
            <a:r>
              <a:rPr sz="2000" kern="1200" spc="-5" dirty="0">
                <a:solidFill>
                  <a:prstClr val="black"/>
                </a:solidFill>
                <a:latin typeface="Palatino Linotype"/>
                <a:cs typeface="Palatino Linotype"/>
              </a:rPr>
              <a:t>Constructing</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collection of LR(1) </a:t>
            </a:r>
            <a:r>
              <a:rPr sz="2000" kern="1200" dirty="0">
                <a:solidFill>
                  <a:prstClr val="black"/>
                </a:solidFill>
                <a:latin typeface="Palatino Linotype"/>
                <a:cs typeface="Palatino Linotype"/>
              </a:rPr>
              <a:t>item </a:t>
            </a:r>
            <a:r>
              <a:rPr sz="2000" kern="1200" spc="-5" dirty="0">
                <a:solidFill>
                  <a:prstClr val="black"/>
                </a:solidFill>
                <a:latin typeface="Palatino Linotype"/>
                <a:cs typeface="Palatino Linotype"/>
              </a:rPr>
              <a:t>sets</a:t>
            </a:r>
            <a:r>
              <a:rPr sz="2000" kern="1200" dirty="0">
                <a:solidFill>
                  <a:prstClr val="black"/>
                </a:solidFill>
                <a:latin typeface="Palatino Linotype"/>
                <a:cs typeface="Palatino Linotype"/>
              </a:rPr>
              <a:t> is essentially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same</a:t>
            </a:r>
            <a:r>
              <a:rPr sz="2000" kern="1200" dirty="0">
                <a:solidFill>
                  <a:prstClr val="black"/>
                </a:solidFill>
                <a:latin typeface="Palatino Linotype"/>
                <a:cs typeface="Palatino Linotype"/>
              </a:rPr>
              <a:t> as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constructing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canonical</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collection</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LR(0)</a:t>
            </a:r>
            <a:r>
              <a:rPr sz="2000" kern="1200" dirty="0">
                <a:solidFill>
                  <a:prstClr val="black"/>
                </a:solidFill>
                <a:latin typeface="Palatino Linotype"/>
                <a:cs typeface="Palatino Linotype"/>
              </a:rPr>
              <a:t> item </a:t>
            </a:r>
            <a:r>
              <a:rPr sz="2000" kern="1200" spc="-5" dirty="0">
                <a:solidFill>
                  <a:prstClr val="black"/>
                </a:solidFill>
                <a:latin typeface="Palatino Linotype"/>
                <a:cs typeface="Palatino Linotype"/>
              </a:rPr>
              <a:t>sets.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only</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differences</a:t>
            </a:r>
            <a:r>
              <a:rPr sz="2000" kern="1200" dirty="0">
                <a:solidFill>
                  <a:prstClr val="black"/>
                </a:solidFill>
                <a:latin typeface="Palatino Linotype"/>
                <a:cs typeface="Palatino Linotype"/>
              </a:rPr>
              <a:t> lie in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srgbClr val="FF0000"/>
                </a:solidFill>
                <a:latin typeface="Palatino Linotype"/>
                <a:cs typeface="Palatino Linotype"/>
              </a:rPr>
              <a:t>CLOSURE</a:t>
            </a:r>
            <a:r>
              <a:rPr sz="2000" kern="1200" spc="5" dirty="0">
                <a:solidFill>
                  <a:srgbClr val="FF0000"/>
                </a:solidFill>
                <a:latin typeface="Palatino Linotype"/>
                <a:cs typeface="Palatino Linotype"/>
              </a:rPr>
              <a:t>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GOTO</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functions.</a:t>
            </a:r>
            <a:endParaRPr sz="2000" kern="1200" dirty="0">
              <a:solidFill>
                <a:prstClr val="black"/>
              </a:solidFill>
              <a:latin typeface="Palatino Linotype"/>
              <a:cs typeface="Palatino Linotype"/>
            </a:endParaRPr>
          </a:p>
        </p:txBody>
      </p:sp>
      <p:grpSp>
        <p:nvGrpSpPr>
          <p:cNvPr id="19" name="object 4">
            <a:extLst>
              <a:ext uri="{FF2B5EF4-FFF2-40B4-BE49-F238E27FC236}">
                <a16:creationId xmlns:a16="http://schemas.microsoft.com/office/drawing/2014/main" id="{441A825D-52DF-945F-96C3-E8DAFBD955A2}"/>
              </a:ext>
            </a:extLst>
          </p:cNvPr>
          <p:cNvGrpSpPr/>
          <p:nvPr/>
        </p:nvGrpSpPr>
        <p:grpSpPr>
          <a:xfrm>
            <a:off x="991797" y="2699879"/>
            <a:ext cx="6952615" cy="2550160"/>
            <a:chOff x="991797" y="2699879"/>
            <a:chExt cx="6952615" cy="2550160"/>
          </a:xfrm>
        </p:grpSpPr>
        <p:pic>
          <p:nvPicPr>
            <p:cNvPr id="20" name="object 5">
              <a:extLst>
                <a:ext uri="{FF2B5EF4-FFF2-40B4-BE49-F238E27FC236}">
                  <a16:creationId xmlns:a16="http://schemas.microsoft.com/office/drawing/2014/main" id="{6965BE2B-11BF-C2C8-F42E-40517D038C41}"/>
                </a:ext>
              </a:extLst>
            </p:cNvPr>
            <p:cNvPicPr/>
            <p:nvPr/>
          </p:nvPicPr>
          <p:blipFill>
            <a:blip r:embed="rId3" cstate="print"/>
            <a:stretch>
              <a:fillRect/>
            </a:stretch>
          </p:blipFill>
          <p:spPr>
            <a:xfrm>
              <a:off x="1055875" y="3466898"/>
              <a:ext cx="4334275" cy="1710252"/>
            </a:xfrm>
            <a:prstGeom prst="rect">
              <a:avLst/>
            </a:prstGeom>
          </p:spPr>
        </p:pic>
        <p:sp>
          <p:nvSpPr>
            <p:cNvPr id="21" name="object 6">
              <a:extLst>
                <a:ext uri="{FF2B5EF4-FFF2-40B4-BE49-F238E27FC236}">
                  <a16:creationId xmlns:a16="http://schemas.microsoft.com/office/drawing/2014/main" id="{DC42706B-B6B8-035D-CEA9-E8EAA0DB6E79}"/>
                </a:ext>
              </a:extLst>
            </p:cNvPr>
            <p:cNvSpPr/>
            <p:nvPr/>
          </p:nvSpPr>
          <p:spPr>
            <a:xfrm>
              <a:off x="996559" y="3418493"/>
              <a:ext cx="4472305" cy="1826260"/>
            </a:xfrm>
            <a:custGeom>
              <a:avLst/>
              <a:gdLst/>
              <a:ahLst/>
              <a:cxnLst/>
              <a:rect l="l" t="t" r="r" b="b"/>
              <a:pathLst>
                <a:path w="4472305" h="1826260">
                  <a:moveTo>
                    <a:pt x="0" y="0"/>
                  </a:moveTo>
                  <a:lnTo>
                    <a:pt x="4472002" y="0"/>
                  </a:lnTo>
                  <a:lnTo>
                    <a:pt x="4472002" y="1826157"/>
                  </a:lnTo>
                  <a:lnTo>
                    <a:pt x="0" y="1826157"/>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22" name="object 7">
              <a:extLst>
                <a:ext uri="{FF2B5EF4-FFF2-40B4-BE49-F238E27FC236}">
                  <a16:creationId xmlns:a16="http://schemas.microsoft.com/office/drawing/2014/main" id="{F41BDD00-BB9D-C888-43CD-D8CFD67576FE}"/>
                </a:ext>
              </a:extLst>
            </p:cNvPr>
            <p:cNvPicPr/>
            <p:nvPr/>
          </p:nvPicPr>
          <p:blipFill>
            <a:blip r:embed="rId4" cstate="print"/>
            <a:stretch>
              <a:fillRect/>
            </a:stretch>
          </p:blipFill>
          <p:spPr>
            <a:xfrm>
              <a:off x="5146455" y="2709403"/>
              <a:ext cx="2788409" cy="1418513"/>
            </a:xfrm>
            <a:prstGeom prst="rect">
              <a:avLst/>
            </a:prstGeom>
          </p:spPr>
        </p:pic>
        <p:sp>
          <p:nvSpPr>
            <p:cNvPr id="23" name="object 8">
              <a:extLst>
                <a:ext uri="{FF2B5EF4-FFF2-40B4-BE49-F238E27FC236}">
                  <a16:creationId xmlns:a16="http://schemas.microsoft.com/office/drawing/2014/main" id="{54A79A52-01CB-7540-16D1-F5E9F50653C2}"/>
                </a:ext>
              </a:extLst>
            </p:cNvPr>
            <p:cNvSpPr/>
            <p:nvPr/>
          </p:nvSpPr>
          <p:spPr>
            <a:xfrm>
              <a:off x="5141693" y="2704641"/>
              <a:ext cx="2798445" cy="1428115"/>
            </a:xfrm>
            <a:custGeom>
              <a:avLst/>
              <a:gdLst/>
              <a:ahLst/>
              <a:cxnLst/>
              <a:rect l="l" t="t" r="r" b="b"/>
              <a:pathLst>
                <a:path w="2798445" h="1428114">
                  <a:moveTo>
                    <a:pt x="0" y="0"/>
                  </a:moveTo>
                  <a:lnTo>
                    <a:pt x="2797935" y="0"/>
                  </a:lnTo>
                  <a:lnTo>
                    <a:pt x="2797935" y="1428039"/>
                  </a:lnTo>
                  <a:lnTo>
                    <a:pt x="0" y="1428039"/>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9">
              <a:extLst>
                <a:ext uri="{FF2B5EF4-FFF2-40B4-BE49-F238E27FC236}">
                  <a16:creationId xmlns:a16="http://schemas.microsoft.com/office/drawing/2014/main" id="{32FCBD82-F5D0-D102-0272-DEB234D7C307}"/>
                </a:ext>
              </a:extLst>
            </p:cNvPr>
            <p:cNvSpPr/>
            <p:nvPr/>
          </p:nvSpPr>
          <p:spPr>
            <a:xfrm>
              <a:off x="2839693" y="4204401"/>
              <a:ext cx="2582545" cy="216535"/>
            </a:xfrm>
            <a:custGeom>
              <a:avLst/>
              <a:gdLst/>
              <a:ahLst/>
              <a:cxnLst/>
              <a:rect l="l" t="t" r="r" b="b"/>
              <a:pathLst>
                <a:path w="2582545" h="216535">
                  <a:moveTo>
                    <a:pt x="0" y="0"/>
                  </a:moveTo>
                  <a:lnTo>
                    <a:pt x="2582376" y="0"/>
                  </a:lnTo>
                  <a:lnTo>
                    <a:pt x="2582376" y="215964"/>
                  </a:lnTo>
                  <a:lnTo>
                    <a:pt x="0" y="215964"/>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6" name="object 11">
            <a:extLst>
              <a:ext uri="{FF2B5EF4-FFF2-40B4-BE49-F238E27FC236}">
                <a16:creationId xmlns:a16="http://schemas.microsoft.com/office/drawing/2014/main" id="{B74DA53E-484D-FA7F-F97A-D92BD597520D}"/>
              </a:ext>
            </a:extLst>
          </p:cNvPr>
          <p:cNvSpPr/>
          <p:nvPr/>
        </p:nvSpPr>
        <p:spPr>
          <a:xfrm>
            <a:off x="982478" y="5517348"/>
            <a:ext cx="7510382" cy="296175"/>
          </a:xfrm>
          <a:custGeom>
            <a:avLst/>
            <a:gdLst/>
            <a:ahLst/>
            <a:cxnLst/>
            <a:rect l="l" t="t" r="r" b="b"/>
            <a:pathLst>
              <a:path w="7514590" h="368300">
                <a:moveTo>
                  <a:pt x="7514028" y="0"/>
                </a:moveTo>
                <a:lnTo>
                  <a:pt x="0" y="0"/>
                </a:lnTo>
                <a:lnTo>
                  <a:pt x="0" y="367793"/>
                </a:lnTo>
                <a:lnTo>
                  <a:pt x="7514028" y="367793"/>
                </a:lnTo>
                <a:lnTo>
                  <a:pt x="7514028" y="0"/>
                </a:lnTo>
                <a:close/>
              </a:path>
            </a:pathLst>
          </a:custGeom>
          <a:solidFill>
            <a:srgbClr val="FFF2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endParaRPr>
          </a:p>
        </p:txBody>
      </p:sp>
      <p:sp>
        <p:nvSpPr>
          <p:cNvPr id="2" name="object 13">
            <a:extLst>
              <a:ext uri="{FF2B5EF4-FFF2-40B4-BE49-F238E27FC236}">
                <a16:creationId xmlns:a16="http://schemas.microsoft.com/office/drawing/2014/main" id="{607F0B48-E518-83BA-F441-42CFFDA8EFF1}"/>
              </a:ext>
            </a:extLst>
          </p:cNvPr>
          <p:cNvSpPr txBox="1"/>
          <p:nvPr/>
        </p:nvSpPr>
        <p:spPr bwMode="auto">
          <a:xfrm>
            <a:off x="978270" y="5517349"/>
            <a:ext cx="7514590" cy="303288"/>
          </a:xfrm>
          <a:prstGeom prst="rect">
            <a:avLst/>
          </a:prstGeom>
          <a:ln w="9525">
            <a:solidFill>
              <a:srgbClr val="000000"/>
            </a:solidFill>
          </a:ln>
        </p:spPr>
        <p:txBody>
          <a:bodyPr vert="horz" wrap="square" lIns="0" tIns="56515" rIns="0" bIns="0" rtlCol="0">
            <a:spAutoFit/>
          </a:bodyPr>
          <a:lstStyle/>
          <a:p>
            <a:pPr marL="90805" rtl="0">
              <a:spcBef>
                <a:spcPts val="445"/>
              </a:spcBef>
            </a:pPr>
            <a:r>
              <a:rPr lang="en-US" altLang="zh-CN" sz="1600" kern="1200" spc="-5" dirty="0">
                <a:solidFill>
                  <a:prstClr val="black"/>
                </a:solidFill>
                <a:latin typeface="Palatino Linotype"/>
                <a:cs typeface="Palatino Linotype"/>
              </a:rPr>
              <a:t>I</a:t>
            </a:r>
            <a:r>
              <a:rPr lang="en-US" altLang="zh-CN" sz="1600" kern="1200" dirty="0">
                <a:solidFill>
                  <a:prstClr val="black"/>
                </a:solidFill>
                <a:latin typeface="Palatino Linotype"/>
                <a:cs typeface="Palatino Linotype"/>
              </a:rPr>
              <a:t>t o</a:t>
            </a:r>
            <a:r>
              <a:rPr lang="en-US" altLang="zh-CN" sz="1600" kern="1200" spc="5" dirty="0">
                <a:solidFill>
                  <a:prstClr val="black"/>
                </a:solidFill>
                <a:latin typeface="Palatino Linotype"/>
                <a:cs typeface="Palatino Linotype"/>
              </a:rPr>
              <a:t>n</a:t>
            </a:r>
            <a:r>
              <a:rPr lang="en-US" altLang="zh-CN" sz="1600" kern="1200" spc="-5" dirty="0">
                <a:solidFill>
                  <a:prstClr val="black"/>
                </a:solidFill>
                <a:latin typeface="Palatino Linotype"/>
                <a:cs typeface="Palatino Linotype"/>
              </a:rPr>
              <a:t>l</a:t>
            </a:r>
            <a:r>
              <a:rPr lang="en-US" altLang="zh-CN" sz="1600" kern="1200" dirty="0">
                <a:solidFill>
                  <a:prstClr val="black"/>
                </a:solidFill>
                <a:latin typeface="Palatino Linotype"/>
                <a:cs typeface="Palatino Linotype"/>
              </a:rPr>
              <a:t>y</a:t>
            </a:r>
            <a:r>
              <a:rPr lang="en-US" altLang="zh-CN" sz="1600" kern="1200" spc="-5" dirty="0">
                <a:solidFill>
                  <a:prstClr val="black"/>
                </a:solidFill>
                <a:latin typeface="Palatino Linotype"/>
                <a:cs typeface="Palatino Linotype"/>
              </a:rPr>
              <a:t> ge</a:t>
            </a:r>
            <a:r>
              <a:rPr lang="en-US" altLang="zh-CN" sz="1600" kern="1200" spc="5" dirty="0">
                <a:solidFill>
                  <a:prstClr val="black"/>
                </a:solidFill>
                <a:latin typeface="Palatino Linotype"/>
                <a:cs typeface="Palatino Linotype"/>
              </a:rPr>
              <a:t>n</a:t>
            </a:r>
            <a:r>
              <a:rPr lang="en-US" altLang="zh-CN" sz="1600" kern="1200" spc="-5" dirty="0">
                <a:solidFill>
                  <a:prstClr val="black"/>
                </a:solidFill>
                <a:latin typeface="Palatino Linotype"/>
                <a:cs typeface="Palatino Linotype"/>
              </a:rPr>
              <a:t>e</a:t>
            </a:r>
            <a:r>
              <a:rPr lang="en-US" altLang="zh-CN" sz="1600" kern="1200" spc="5" dirty="0">
                <a:solidFill>
                  <a:prstClr val="black"/>
                </a:solidFill>
                <a:latin typeface="Palatino Linotype"/>
                <a:cs typeface="Palatino Linotype"/>
              </a:rPr>
              <a:t>r</a:t>
            </a:r>
            <a:r>
              <a:rPr lang="en-US" altLang="zh-CN" sz="1600" kern="1200" dirty="0">
                <a:solidFill>
                  <a:prstClr val="black"/>
                </a:solidFill>
                <a:latin typeface="Palatino Linotype"/>
                <a:cs typeface="Palatino Linotype"/>
              </a:rPr>
              <a:t>at</a:t>
            </a:r>
            <a:r>
              <a:rPr lang="en-US" altLang="zh-CN" sz="1600" kern="1200" spc="-5" dirty="0">
                <a:solidFill>
                  <a:prstClr val="black"/>
                </a:solidFill>
                <a:latin typeface="Palatino Linotype"/>
                <a:cs typeface="Palatino Linotype"/>
              </a:rPr>
              <a:t>e</a:t>
            </a:r>
            <a:r>
              <a:rPr lang="en-US" altLang="zh-CN" sz="1600" kern="1200" dirty="0">
                <a:solidFill>
                  <a:prstClr val="black"/>
                </a:solidFill>
                <a:latin typeface="Palatino Linotype"/>
                <a:cs typeface="Palatino Linotype"/>
              </a:rPr>
              <a:t>s</a:t>
            </a:r>
            <a:r>
              <a:rPr lang="en-US" altLang="zh-CN" sz="1600" kern="1200" spc="-5" dirty="0">
                <a:solidFill>
                  <a:prstClr val="black"/>
                </a:solidFill>
                <a:latin typeface="Palatino Linotype"/>
                <a:cs typeface="Palatino Linotype"/>
              </a:rPr>
              <a:t> </a:t>
            </a:r>
            <a:r>
              <a:rPr lang="en-US" altLang="zh-CN" sz="1600" kern="1200" dirty="0">
                <a:solidFill>
                  <a:prstClr val="black"/>
                </a:solidFill>
                <a:latin typeface="Palatino Linotype"/>
                <a:cs typeface="Palatino Linotype"/>
              </a:rPr>
              <a:t>t</a:t>
            </a:r>
            <a:r>
              <a:rPr lang="en-US" altLang="zh-CN" sz="1600" kern="1200" spc="5" dirty="0">
                <a:solidFill>
                  <a:prstClr val="black"/>
                </a:solidFill>
                <a:latin typeface="Palatino Linotype"/>
                <a:cs typeface="Palatino Linotype"/>
              </a:rPr>
              <a:t>h</a:t>
            </a:r>
            <a:r>
              <a:rPr lang="en-US" altLang="zh-CN" sz="1600" kern="1200" dirty="0">
                <a:solidFill>
                  <a:prstClr val="black"/>
                </a:solidFill>
                <a:latin typeface="Palatino Linotype"/>
                <a:cs typeface="Palatino Linotype"/>
              </a:rPr>
              <a:t>e</a:t>
            </a:r>
            <a:r>
              <a:rPr lang="en-US" altLang="zh-CN" sz="1600" kern="1200" spc="-5" dirty="0">
                <a:solidFill>
                  <a:prstClr val="black"/>
                </a:solidFill>
                <a:latin typeface="Palatino Linotype"/>
                <a:cs typeface="Palatino Linotype"/>
              </a:rPr>
              <a:t> </a:t>
            </a:r>
            <a:r>
              <a:rPr lang="en-US" altLang="zh-CN" sz="1600" kern="1200" spc="5" dirty="0">
                <a:solidFill>
                  <a:prstClr val="black"/>
                </a:solidFill>
                <a:latin typeface="Palatino Linotype"/>
                <a:cs typeface="Palatino Linotype"/>
              </a:rPr>
              <a:t>n</a:t>
            </a:r>
            <a:r>
              <a:rPr lang="en-US" altLang="zh-CN" sz="1600" kern="1200" spc="-5" dirty="0">
                <a:solidFill>
                  <a:prstClr val="black"/>
                </a:solidFill>
                <a:latin typeface="Palatino Linotype"/>
                <a:cs typeface="Palatino Linotype"/>
              </a:rPr>
              <a:t>e</a:t>
            </a:r>
            <a:r>
              <a:rPr lang="en-US" altLang="zh-CN" sz="1600" kern="1200" dirty="0">
                <a:solidFill>
                  <a:prstClr val="black"/>
                </a:solidFill>
                <a:latin typeface="Palatino Linotype"/>
                <a:cs typeface="Palatino Linotype"/>
              </a:rPr>
              <a:t>w </a:t>
            </a:r>
            <a:r>
              <a:rPr lang="en-US" altLang="zh-CN" sz="1600" kern="1200" spc="-5" dirty="0">
                <a:solidFill>
                  <a:prstClr val="black"/>
                </a:solidFill>
                <a:latin typeface="Palatino Linotype"/>
                <a:cs typeface="Palatino Linotype"/>
              </a:rPr>
              <a:t>i</a:t>
            </a:r>
            <a:r>
              <a:rPr lang="en-US" altLang="zh-CN" sz="1600" kern="1200" dirty="0">
                <a:solidFill>
                  <a:prstClr val="black"/>
                </a:solidFill>
                <a:latin typeface="Palatino Linotype"/>
                <a:cs typeface="Palatino Linotype"/>
              </a:rPr>
              <a:t>t</a:t>
            </a:r>
            <a:r>
              <a:rPr lang="en-US" altLang="zh-CN" sz="1600" kern="1200" spc="-5" dirty="0">
                <a:solidFill>
                  <a:prstClr val="black"/>
                </a:solidFill>
                <a:latin typeface="Palatino Linotype"/>
                <a:cs typeface="Palatino Linotype"/>
              </a:rPr>
              <a:t>e</a:t>
            </a:r>
            <a:r>
              <a:rPr lang="en-US" altLang="zh-CN" sz="1600" kern="1200" dirty="0">
                <a:solidFill>
                  <a:prstClr val="black"/>
                </a:solidFill>
                <a:latin typeface="Palatino Linotype"/>
                <a:cs typeface="Palatino Linotype"/>
              </a:rPr>
              <a:t>m</a:t>
            </a:r>
            <a:r>
              <a:rPr lang="en-US" altLang="zh-CN" sz="1600" kern="1200" spc="-5" dirty="0">
                <a:solidFill>
                  <a:prstClr val="black"/>
                </a:solidFill>
                <a:latin typeface="Palatino Linotype"/>
                <a:cs typeface="Palatino Linotype"/>
              </a:rPr>
              <a:t> </a:t>
            </a:r>
            <a:r>
              <a:rPr lang="en-US" altLang="zh-CN" sz="1600" kern="1200" dirty="0">
                <a:solidFill>
                  <a:srgbClr val="0432FF"/>
                </a:solidFill>
                <a:latin typeface="Cambria Math"/>
                <a:cs typeface="Cambria Math"/>
              </a:rPr>
              <a:t>[</a:t>
            </a:r>
            <a:r>
              <a:rPr lang="zh-CN" altLang="en-US" sz="1600" kern="1200" dirty="0">
                <a:solidFill>
                  <a:srgbClr val="0432FF"/>
                </a:solidFill>
                <a:latin typeface="Cambria Math"/>
                <a:cs typeface="Cambria Math"/>
              </a:rPr>
              <a:t>𝐵→</a:t>
            </a:r>
            <a:r>
              <a:rPr lang="en-US" altLang="zh-CN" sz="1600" kern="1200" dirty="0">
                <a:solidFill>
                  <a:srgbClr val="0432FF"/>
                </a:solidFill>
                <a:latin typeface="Cambria Math"/>
                <a:cs typeface="Cambria Math"/>
              </a:rPr>
              <a:t>·</a:t>
            </a:r>
            <a:r>
              <a:rPr lang="zh-CN" altLang="en-US" sz="1600" kern="1200" spc="35" dirty="0">
                <a:solidFill>
                  <a:srgbClr val="0432FF"/>
                </a:solidFill>
                <a:latin typeface="Cambria Math"/>
                <a:cs typeface="Cambria Math"/>
              </a:rPr>
              <a:t>𝛾</a:t>
            </a:r>
            <a:r>
              <a:rPr lang="en-US" altLang="zh-CN" sz="1600" kern="1200" spc="35" dirty="0">
                <a:solidFill>
                  <a:srgbClr val="0432FF"/>
                </a:solidFill>
                <a:latin typeface="Cambria Math"/>
                <a:cs typeface="Cambria Math"/>
              </a:rPr>
              <a:t>, </a:t>
            </a:r>
            <a:r>
              <a:rPr lang="zh-CN" altLang="en-US" sz="1600" kern="1200" spc="35" dirty="0">
                <a:solidFill>
                  <a:srgbClr val="0432FF"/>
                </a:solidFill>
                <a:latin typeface="Cambria Math"/>
                <a:cs typeface="Cambria Math"/>
              </a:rPr>
              <a:t>𝑏</a:t>
            </a:r>
            <a:r>
              <a:rPr lang="en-US" altLang="zh-CN" sz="1600" kern="1200" dirty="0">
                <a:solidFill>
                  <a:srgbClr val="0432FF"/>
                </a:solidFill>
                <a:latin typeface="Cambria Math"/>
                <a:cs typeface="Cambria Math"/>
              </a:rPr>
              <a:t>]</a:t>
            </a:r>
            <a:r>
              <a:rPr lang="en-US" altLang="zh-CN" sz="1600" kern="1200" spc="50" dirty="0">
                <a:solidFill>
                  <a:srgbClr val="0432FF"/>
                </a:solidFill>
                <a:latin typeface="Cambria Math"/>
                <a:cs typeface="Cambria Math"/>
              </a:rPr>
              <a:t> </a:t>
            </a:r>
            <a:r>
              <a:rPr lang="en-US" altLang="zh-CN" sz="1600" kern="1200" dirty="0">
                <a:solidFill>
                  <a:prstClr val="black"/>
                </a:solidFill>
                <a:latin typeface="Palatino Linotype"/>
                <a:cs typeface="Palatino Linotype"/>
              </a:rPr>
              <a:t>f</a:t>
            </a:r>
            <a:r>
              <a:rPr lang="en-US" altLang="zh-CN" sz="1600" kern="1200" spc="5" dirty="0">
                <a:solidFill>
                  <a:prstClr val="black"/>
                </a:solidFill>
                <a:latin typeface="Palatino Linotype"/>
                <a:cs typeface="Palatino Linotype"/>
              </a:rPr>
              <a:t>r</a:t>
            </a:r>
            <a:r>
              <a:rPr lang="en-US" altLang="zh-CN" sz="1600" kern="1200" dirty="0">
                <a:solidFill>
                  <a:prstClr val="black"/>
                </a:solidFill>
                <a:latin typeface="Palatino Linotype"/>
                <a:cs typeface="Palatino Linotype"/>
              </a:rPr>
              <a:t>om </a:t>
            </a:r>
            <a:r>
              <a:rPr lang="en-US" altLang="zh-CN" sz="1600" kern="1200" spc="155" dirty="0">
                <a:solidFill>
                  <a:prstClr val="black"/>
                </a:solidFill>
                <a:latin typeface="Palatino Linotype"/>
                <a:cs typeface="Palatino Linotype"/>
              </a:rPr>
              <a:t>[</a:t>
            </a:r>
            <a:r>
              <a:rPr lang="zh-CN" altLang="en-US" sz="1600" kern="1200" dirty="0">
                <a:solidFill>
                  <a:prstClr val="black"/>
                </a:solidFill>
                <a:latin typeface="Cambria Math"/>
                <a:cs typeface="Cambria Math"/>
              </a:rPr>
              <a:t>𝐴</a:t>
            </a:r>
            <a:r>
              <a:rPr lang="en-US" altLang="zh-CN" sz="1600" kern="1200" spc="105" dirty="0">
                <a:solidFill>
                  <a:prstClr val="black"/>
                </a:solidFill>
                <a:latin typeface="Cambria Math"/>
                <a:cs typeface="Cambria Math"/>
              </a:rPr>
              <a:t> </a:t>
            </a:r>
            <a:r>
              <a:rPr lang="en-US" altLang="zh-CN" sz="1600" kern="1200" dirty="0">
                <a:solidFill>
                  <a:prstClr val="black"/>
                </a:solidFill>
                <a:latin typeface="Cambria Math"/>
                <a:cs typeface="Cambria Math"/>
              </a:rPr>
              <a:t>→</a:t>
            </a:r>
            <a:r>
              <a:rPr lang="zh-CN" altLang="en-US" sz="1600" kern="1200" dirty="0">
                <a:solidFill>
                  <a:prstClr val="black"/>
                </a:solidFill>
                <a:latin typeface="Cambria Math"/>
                <a:cs typeface="Cambria Math"/>
              </a:rPr>
              <a:t>𝛼</a:t>
            </a:r>
            <a:r>
              <a:rPr lang="en-US" altLang="zh-CN" sz="1600" kern="1200" dirty="0">
                <a:solidFill>
                  <a:prstClr val="black"/>
                </a:solidFill>
                <a:latin typeface="Cambria Math"/>
                <a:cs typeface="Cambria Math"/>
              </a:rPr>
              <a:t>·</a:t>
            </a:r>
            <a:r>
              <a:rPr lang="zh-CN" altLang="en-US" sz="1600" kern="1200" dirty="0">
                <a:solidFill>
                  <a:prstClr val="black"/>
                </a:solidFill>
                <a:latin typeface="Cambria Math"/>
                <a:cs typeface="Cambria Math"/>
              </a:rPr>
              <a:t>𝐵</a:t>
            </a:r>
            <a:r>
              <a:rPr lang="zh-CN" altLang="en-US" sz="1600" kern="1200" spc="50" dirty="0">
                <a:solidFill>
                  <a:srgbClr val="FF0000"/>
                </a:solidFill>
                <a:latin typeface="Cambria Math"/>
                <a:cs typeface="Cambria Math"/>
              </a:rPr>
              <a:t>𝛽</a:t>
            </a:r>
            <a:r>
              <a:rPr lang="en-US" altLang="zh-CN" sz="1600" kern="1200" dirty="0">
                <a:solidFill>
                  <a:prstClr val="black"/>
                </a:solidFill>
                <a:latin typeface="Cambria Math"/>
                <a:cs typeface="Cambria Math"/>
              </a:rPr>
              <a:t>,</a:t>
            </a:r>
            <a:r>
              <a:rPr lang="en-US" altLang="zh-CN" sz="1600" kern="1200" spc="-90" dirty="0">
                <a:solidFill>
                  <a:prstClr val="black"/>
                </a:solidFill>
                <a:latin typeface="Cambria Math"/>
                <a:cs typeface="Cambria Math"/>
              </a:rPr>
              <a:t> </a:t>
            </a:r>
            <a:r>
              <a:rPr lang="zh-CN" altLang="en-US" sz="1600" kern="1200" dirty="0">
                <a:solidFill>
                  <a:srgbClr val="FF0000"/>
                </a:solidFill>
                <a:latin typeface="Cambria Math"/>
                <a:cs typeface="Cambria Math"/>
              </a:rPr>
              <a:t>𝑎</a:t>
            </a:r>
            <a:r>
              <a:rPr lang="en-US" altLang="zh-CN" sz="1600" kern="1200" dirty="0">
                <a:solidFill>
                  <a:prstClr val="black"/>
                </a:solidFill>
                <a:latin typeface="Cambria Math"/>
                <a:cs typeface="Cambria Math"/>
              </a:rPr>
              <a:t> </a:t>
            </a:r>
            <a:r>
              <a:rPr lang="en-US" altLang="zh-CN" sz="1600" kern="1200" dirty="0">
                <a:latin typeface="Cambria Math"/>
                <a:cs typeface="Cambria Math"/>
              </a:rPr>
              <a:t>]</a:t>
            </a:r>
            <a:r>
              <a:rPr lang="zh-CN" altLang="en-US" sz="1600" kern="1200" dirty="0">
                <a:solidFill>
                  <a:srgbClr val="FF0000"/>
                </a:solidFill>
                <a:latin typeface="Cambria Math"/>
                <a:cs typeface="Cambria Math"/>
              </a:rPr>
              <a:t> </a:t>
            </a:r>
            <a:r>
              <a:rPr lang="en-US" altLang="zh-CN" sz="1600" kern="1200" spc="-65" dirty="0">
                <a:solidFill>
                  <a:srgbClr val="FF0000"/>
                </a:solidFill>
                <a:latin typeface="Cambria Math"/>
                <a:cs typeface="Cambria Math"/>
              </a:rPr>
              <a:t> </a:t>
            </a:r>
            <a:r>
              <a:rPr lang="en-US" altLang="zh-CN" sz="1600" kern="1200" spc="-5" dirty="0">
                <a:solidFill>
                  <a:prstClr val="black"/>
                </a:solidFill>
                <a:latin typeface="Palatino Linotype"/>
                <a:cs typeface="Palatino Linotype"/>
              </a:rPr>
              <a:t>i</a:t>
            </a:r>
            <a:r>
              <a:rPr lang="en-US" altLang="zh-CN" sz="1600" kern="1200" dirty="0">
                <a:solidFill>
                  <a:prstClr val="black"/>
                </a:solidFill>
                <a:latin typeface="Palatino Linotype"/>
                <a:cs typeface="Palatino Linotype"/>
              </a:rPr>
              <a:t>f </a:t>
            </a:r>
            <a:r>
              <a:rPr lang="zh-CN" altLang="en-US" sz="1600" kern="1200" dirty="0">
                <a:solidFill>
                  <a:prstClr val="black"/>
                </a:solidFill>
                <a:latin typeface="Cambria Math"/>
                <a:cs typeface="Cambria Math"/>
              </a:rPr>
              <a:t>𝑏</a:t>
            </a:r>
            <a:r>
              <a:rPr lang="en-US" altLang="zh-CN" sz="1600" kern="1200" spc="80" dirty="0">
                <a:solidFill>
                  <a:prstClr val="black"/>
                </a:solidFill>
                <a:latin typeface="Cambria Math"/>
                <a:cs typeface="Cambria Math"/>
              </a:rPr>
              <a:t> </a:t>
            </a:r>
            <a:r>
              <a:rPr lang="en-US" altLang="zh-CN" sz="1600" kern="1200" spc="-5" dirty="0">
                <a:solidFill>
                  <a:prstClr val="black"/>
                </a:solidFill>
                <a:latin typeface="Palatino Linotype"/>
                <a:cs typeface="Palatino Linotype"/>
              </a:rPr>
              <a:t>i</a:t>
            </a:r>
            <a:r>
              <a:rPr lang="en-US" altLang="zh-CN" sz="1600" kern="1200" dirty="0">
                <a:solidFill>
                  <a:prstClr val="black"/>
                </a:solidFill>
                <a:latin typeface="Palatino Linotype"/>
                <a:cs typeface="Palatino Linotype"/>
              </a:rPr>
              <a:t>s</a:t>
            </a:r>
            <a:r>
              <a:rPr lang="en-US" altLang="zh-CN" sz="1600" kern="1200" spc="-5" dirty="0">
                <a:solidFill>
                  <a:prstClr val="black"/>
                </a:solidFill>
                <a:latin typeface="Palatino Linotype"/>
                <a:cs typeface="Palatino Linotype"/>
              </a:rPr>
              <a:t> i</a:t>
            </a:r>
            <a:r>
              <a:rPr lang="en-US" altLang="zh-CN" sz="1600" kern="1200" dirty="0">
                <a:solidFill>
                  <a:prstClr val="black"/>
                </a:solidFill>
                <a:latin typeface="Palatino Linotype"/>
                <a:cs typeface="Palatino Linotype"/>
              </a:rPr>
              <a:t>n</a:t>
            </a:r>
            <a:r>
              <a:rPr lang="en-US" altLang="zh-CN" sz="1600" kern="1200" spc="5" dirty="0">
                <a:solidFill>
                  <a:prstClr val="black"/>
                </a:solidFill>
                <a:latin typeface="Palatino Linotype"/>
                <a:cs typeface="Palatino Linotype"/>
              </a:rPr>
              <a:t> </a:t>
            </a:r>
            <a:r>
              <a:rPr lang="en-US" altLang="zh-CN" sz="1600" kern="1200" dirty="0">
                <a:solidFill>
                  <a:srgbClr val="FF0000"/>
                </a:solidFill>
                <a:latin typeface="Cambria Math"/>
                <a:cs typeface="Cambria Math"/>
              </a:rPr>
              <a:t>F</a:t>
            </a:r>
            <a:r>
              <a:rPr lang="en-US" altLang="zh-CN" sz="1600" kern="1200" spc="5" dirty="0">
                <a:solidFill>
                  <a:srgbClr val="FF0000"/>
                </a:solidFill>
                <a:latin typeface="Cambria Math"/>
                <a:cs typeface="Cambria Math"/>
              </a:rPr>
              <a:t>I</a:t>
            </a:r>
            <a:r>
              <a:rPr lang="en-US" altLang="zh-CN" sz="1600" kern="1200" spc="-20" dirty="0">
                <a:solidFill>
                  <a:srgbClr val="FF0000"/>
                </a:solidFill>
                <a:latin typeface="Cambria Math"/>
                <a:cs typeface="Cambria Math"/>
              </a:rPr>
              <a:t>RS</a:t>
            </a:r>
            <a:r>
              <a:rPr lang="en-US" altLang="zh-CN" sz="1600" kern="1200" dirty="0">
                <a:solidFill>
                  <a:srgbClr val="FF0000"/>
                </a:solidFill>
                <a:latin typeface="Cambria Math"/>
                <a:cs typeface="Cambria Math"/>
              </a:rPr>
              <a:t>T</a:t>
            </a:r>
            <a:r>
              <a:rPr lang="en-US" altLang="zh-CN" sz="1600" kern="1200" spc="-5" dirty="0">
                <a:solidFill>
                  <a:srgbClr val="FF0000"/>
                </a:solidFill>
                <a:latin typeface="Cambria Math"/>
                <a:cs typeface="Cambria Math"/>
              </a:rPr>
              <a:t>(</a:t>
            </a:r>
            <a:r>
              <a:rPr lang="zh-CN" altLang="en-US" sz="1600" kern="1200" spc="5" dirty="0">
                <a:solidFill>
                  <a:srgbClr val="FF0000"/>
                </a:solidFill>
                <a:latin typeface="Cambria Math"/>
                <a:cs typeface="Cambria Math"/>
              </a:rPr>
              <a:t>𝛽</a:t>
            </a:r>
            <a:r>
              <a:rPr lang="zh-CN" altLang="en-US" sz="1600" kern="1200" spc="35" dirty="0">
                <a:solidFill>
                  <a:srgbClr val="FF0000"/>
                </a:solidFill>
                <a:latin typeface="Cambria Math"/>
                <a:cs typeface="Cambria Math"/>
              </a:rPr>
              <a:t>𝑎</a:t>
            </a:r>
            <a:r>
              <a:rPr lang="en-US" altLang="zh-CN" sz="1600" kern="1200" dirty="0">
                <a:solidFill>
                  <a:srgbClr val="FF0000"/>
                </a:solidFill>
                <a:latin typeface="Cambria Math"/>
                <a:cs typeface="Cambria Math"/>
              </a:rPr>
              <a:t>)</a:t>
            </a:r>
            <a:endParaRPr lang="en-US" altLang="zh-CN" sz="1600" kern="1200" dirty="0">
              <a:solidFill>
                <a:prstClr val="black"/>
              </a:solidFill>
              <a:latin typeface="Cambria Math"/>
              <a:cs typeface="Cambria Math"/>
            </a:endParaRPr>
          </a:p>
        </p:txBody>
      </p:sp>
    </p:spTree>
    <p:extLst>
      <p:ext uri="{BB962C8B-B14F-4D97-AF65-F5344CB8AC3E}">
        <p14:creationId xmlns:p14="http://schemas.microsoft.com/office/powerpoint/2010/main" val="105511280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2" name="object 10">
            <a:extLst>
              <a:ext uri="{FF2B5EF4-FFF2-40B4-BE49-F238E27FC236}">
                <a16:creationId xmlns:a16="http://schemas.microsoft.com/office/drawing/2014/main" id="{56A0A456-C136-44B8-AC4C-774CD3B6E832}"/>
              </a:ext>
            </a:extLst>
          </p:cNvPr>
          <p:cNvSpPr txBox="1"/>
          <p:nvPr/>
        </p:nvSpPr>
        <p:spPr>
          <a:xfrm>
            <a:off x="707390" y="1572069"/>
            <a:ext cx="7727315" cy="4385816"/>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2570" algn="l"/>
                <a:tab pos="243204" algn="l"/>
              </a:tabLst>
            </a:pPr>
            <a:r>
              <a:rPr sz="2200" b="1" kern="1200" dirty="0">
                <a:solidFill>
                  <a:srgbClr val="0432FF"/>
                </a:solidFill>
                <a:latin typeface="Palatino Linotype"/>
                <a:cs typeface="Palatino Linotype"/>
              </a:rPr>
              <a:t>An</a:t>
            </a:r>
            <a:r>
              <a:rPr sz="2200" b="1" kern="1200" spc="-10" dirty="0">
                <a:solidFill>
                  <a:srgbClr val="0432FF"/>
                </a:solidFill>
                <a:latin typeface="Palatino Linotype"/>
                <a:cs typeface="Palatino Linotype"/>
              </a:rPr>
              <a:t> </a:t>
            </a:r>
            <a:r>
              <a:rPr sz="2200" b="1" kern="1200" spc="-5" dirty="0">
                <a:solidFill>
                  <a:srgbClr val="0432FF"/>
                </a:solidFill>
                <a:latin typeface="Palatino Linotype"/>
                <a:cs typeface="Palatino Linotype"/>
              </a:rPr>
              <a:t>informal</a:t>
            </a:r>
            <a:r>
              <a:rPr sz="2200" b="1" kern="1200" spc="-15" dirty="0">
                <a:solidFill>
                  <a:srgbClr val="0432FF"/>
                </a:solidFill>
                <a:latin typeface="Palatino Linotype"/>
                <a:cs typeface="Palatino Linotype"/>
              </a:rPr>
              <a:t> </a:t>
            </a:r>
            <a:r>
              <a:rPr sz="2200" b="1" kern="1200" spc="-5" dirty="0">
                <a:solidFill>
                  <a:srgbClr val="0432FF"/>
                </a:solidFill>
                <a:latin typeface="Palatino Linotype"/>
                <a:cs typeface="Palatino Linotype"/>
              </a:rPr>
              <a:t>analysis:</a:t>
            </a:r>
            <a:endParaRPr sz="2200" kern="1200" dirty="0">
              <a:solidFill>
                <a:prstClr val="black"/>
              </a:solidFill>
              <a:latin typeface="Palatino Linotype"/>
              <a:cs typeface="Palatino Linotype"/>
            </a:endParaRPr>
          </a:p>
          <a:p>
            <a:pPr marL="698500" lvl="1" indent="-228600" rtl="0">
              <a:spcBef>
                <a:spcPts val="2255"/>
              </a:spcBef>
              <a:buFont typeface="Wingdings"/>
              <a:buChar char=""/>
              <a:tabLst>
                <a:tab pos="697865" algn="l"/>
                <a:tab pos="698500" algn="l"/>
              </a:tabLst>
            </a:pPr>
            <a:r>
              <a:rPr sz="1600" kern="1200" spc="-5" dirty="0">
                <a:solidFill>
                  <a:prstClr val="black"/>
                </a:solidFill>
                <a:latin typeface="Palatino Linotype"/>
                <a:cs typeface="Palatino Linotype"/>
              </a:rPr>
              <a:t>The</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lookahead </a:t>
            </a:r>
            <a:r>
              <a:rPr sz="1600" kern="1200" dirty="0">
                <a:solidFill>
                  <a:prstClr val="black"/>
                </a:solidFill>
                <a:latin typeface="Cambria Math"/>
                <a:cs typeface="Cambria Math"/>
              </a:rPr>
              <a:t>𝑏</a:t>
            </a:r>
            <a:r>
              <a:rPr sz="1600" kern="1200" spc="75" dirty="0">
                <a:solidFill>
                  <a:prstClr val="black"/>
                </a:solidFill>
                <a:latin typeface="Cambria Math"/>
                <a:cs typeface="Cambria Math"/>
              </a:rPr>
              <a:t> </a:t>
            </a:r>
            <a:r>
              <a:rPr sz="1600" kern="1200" spc="-5" dirty="0">
                <a:solidFill>
                  <a:prstClr val="black"/>
                </a:solidFill>
                <a:latin typeface="Palatino Linotype"/>
                <a:cs typeface="Palatino Linotype"/>
              </a:rPr>
              <a:t>decides </a:t>
            </a:r>
            <a:r>
              <a:rPr sz="1600" kern="1200" dirty="0">
                <a:solidFill>
                  <a:prstClr val="black"/>
                </a:solidFill>
                <a:latin typeface="Palatino Linotype"/>
                <a:cs typeface="Palatino Linotype"/>
              </a:rPr>
              <a:t>when to </a:t>
            </a:r>
            <a:r>
              <a:rPr sz="1600" kern="1200" spc="-5" dirty="0">
                <a:solidFill>
                  <a:prstClr val="black"/>
                </a:solidFill>
                <a:latin typeface="Palatino Linotype"/>
                <a:cs typeface="Palatino Linotype"/>
              </a:rPr>
              <a:t>reduce</a:t>
            </a:r>
            <a:r>
              <a:rPr sz="1600" kern="1200" spc="-10" dirty="0">
                <a:solidFill>
                  <a:prstClr val="black"/>
                </a:solidFill>
                <a:latin typeface="Palatino Linotype"/>
                <a:cs typeface="Palatino Linotype"/>
              </a:rPr>
              <a:t> </a:t>
            </a:r>
            <a:r>
              <a:rPr sz="1600" kern="1200" dirty="0">
                <a:solidFill>
                  <a:prstClr val="black"/>
                </a:solidFill>
                <a:latin typeface="Cambria Math"/>
                <a:cs typeface="Cambria Math"/>
              </a:rPr>
              <a:t>𝛾</a:t>
            </a:r>
            <a:r>
              <a:rPr sz="1600" kern="1200" spc="85" dirty="0">
                <a:solidFill>
                  <a:prstClr val="black"/>
                </a:solidFill>
                <a:latin typeface="Cambria Math"/>
                <a:cs typeface="Cambria Math"/>
              </a:rPr>
              <a:t> </a:t>
            </a:r>
            <a:r>
              <a:rPr sz="1600" kern="1200"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dirty="0">
                <a:solidFill>
                  <a:prstClr val="black"/>
                </a:solidFill>
                <a:latin typeface="Cambria Math"/>
                <a:cs typeface="Cambria Math"/>
              </a:rPr>
              <a:t>𝐵</a:t>
            </a:r>
          </a:p>
          <a:p>
            <a:pPr lvl="1" rtl="0">
              <a:spcBef>
                <a:spcPts val="15"/>
              </a:spcBef>
              <a:buFont typeface="Wingdings"/>
              <a:buChar char=""/>
            </a:pPr>
            <a:endParaRPr sz="1850" kern="1200" dirty="0">
              <a:solidFill>
                <a:prstClr val="black"/>
              </a:solidFill>
              <a:latin typeface="Cambria Math"/>
              <a:cs typeface="Cambria Math"/>
            </a:endParaRPr>
          </a:p>
          <a:p>
            <a:pPr marL="698500" lvl="1" indent="-228600" rtl="0">
              <a:buFont typeface="Wingdings"/>
              <a:buChar char=""/>
              <a:tabLst>
                <a:tab pos="697865" algn="l"/>
                <a:tab pos="698500" algn="l"/>
              </a:tabLst>
            </a:pPr>
            <a:r>
              <a:rPr sz="1600" kern="1200" spc="-5" dirty="0">
                <a:solidFill>
                  <a:prstClr val="black"/>
                </a:solidFill>
                <a:latin typeface="Palatino Linotype"/>
                <a:cs typeface="Palatino Linotype"/>
              </a:rPr>
              <a:t>Suppose </a:t>
            </a:r>
            <a:r>
              <a:rPr sz="1600" kern="1200" dirty="0">
                <a:solidFill>
                  <a:prstClr val="black"/>
                </a:solidFill>
                <a:latin typeface="Palatino Linotype"/>
                <a:cs typeface="Palatino Linotype"/>
              </a:rPr>
              <a:t>the </a:t>
            </a:r>
            <a:r>
              <a:rPr sz="1600" kern="1200" spc="-5" dirty="0">
                <a:solidFill>
                  <a:prstClr val="black"/>
                </a:solidFill>
                <a:latin typeface="Palatino Linotype"/>
                <a:cs typeface="Palatino Linotype"/>
              </a:rPr>
              <a:t>algorithm</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also</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generates</a:t>
            </a:r>
            <a:r>
              <a:rPr sz="1600" kern="1200" dirty="0">
                <a:solidFill>
                  <a:prstClr val="black"/>
                </a:solidFill>
                <a:latin typeface="Palatino Linotype"/>
                <a:cs typeface="Palatino Linotype"/>
              </a:rPr>
              <a:t> an</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item</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for</a:t>
            </a:r>
            <a:r>
              <a:rPr sz="1600" kern="1200" spc="10" dirty="0">
                <a:solidFill>
                  <a:prstClr val="black"/>
                </a:solidFill>
                <a:latin typeface="Palatino Linotype"/>
                <a:cs typeface="Palatino Linotype"/>
              </a:rPr>
              <a:t> </a:t>
            </a:r>
            <a:r>
              <a:rPr sz="1600" kern="1200" dirty="0">
                <a:solidFill>
                  <a:prstClr val="black"/>
                </a:solidFill>
                <a:latin typeface="Cambria Math"/>
                <a:cs typeface="Cambria Math"/>
              </a:rPr>
              <a:t>𝑏</a:t>
            </a:r>
            <a:r>
              <a:rPr sz="1600" kern="1200" spc="85" dirty="0">
                <a:solidFill>
                  <a:prstClr val="black"/>
                </a:solidFill>
                <a:latin typeface="Cambria Math"/>
                <a:cs typeface="Cambria Math"/>
              </a:rPr>
              <a:t> </a:t>
            </a:r>
            <a:r>
              <a:rPr sz="1600" kern="1200" dirty="0">
                <a:solidFill>
                  <a:prstClr val="black"/>
                </a:solidFill>
                <a:latin typeface="Palatino Linotype"/>
                <a:cs typeface="Palatino Linotype"/>
              </a:rPr>
              <a:t>that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is NOT in</a:t>
            </a:r>
            <a:r>
              <a:rPr sz="1600" kern="1200" spc="10" dirty="0">
                <a:solidFill>
                  <a:prstClr val="black"/>
                </a:solidFill>
                <a:latin typeface="Palatino Linotype"/>
                <a:cs typeface="Palatino Linotype"/>
              </a:rPr>
              <a:t> </a:t>
            </a:r>
            <a:r>
              <a:rPr sz="1600" kern="1200" spc="-10" dirty="0">
                <a:solidFill>
                  <a:prstClr val="black"/>
                </a:solidFill>
                <a:latin typeface="Cambria Math"/>
                <a:cs typeface="Cambria Math"/>
              </a:rPr>
              <a:t>FIRST</a:t>
            </a:r>
            <a:r>
              <a:rPr lang="en-US" sz="1600" kern="1200" spc="320" dirty="0">
                <a:solidFill>
                  <a:prstClr val="black"/>
                </a:solidFill>
                <a:latin typeface="Cambria Math"/>
                <a:cs typeface="Cambria Math"/>
              </a:rPr>
              <a:t>(</a:t>
            </a:r>
            <a:r>
              <a:rPr sz="1600" kern="1200" dirty="0">
                <a:solidFill>
                  <a:prstClr val="black"/>
                </a:solidFill>
                <a:latin typeface="Cambria Math"/>
                <a:cs typeface="Cambria Math"/>
              </a:rPr>
              <a:t>𝛽𝑎</a:t>
            </a:r>
            <a:r>
              <a:rPr lang="en-US" sz="1600" kern="1200" dirty="0">
                <a:solidFill>
                  <a:prstClr val="black"/>
                </a:solidFill>
                <a:latin typeface="Cambria Math"/>
                <a:cs typeface="Cambria Math"/>
              </a:rPr>
              <a:t>)</a:t>
            </a:r>
            <a:endParaRPr sz="1600" kern="1200" dirty="0">
              <a:solidFill>
                <a:prstClr val="black"/>
              </a:solidFill>
              <a:latin typeface="Cambria Math"/>
              <a:cs typeface="Cambria Math"/>
            </a:endParaRPr>
          </a:p>
          <a:p>
            <a:pPr marL="698500" marR="121285" lvl="1" indent="-228600" rtl="0">
              <a:lnSpc>
                <a:spcPct val="120000"/>
              </a:lnSpc>
              <a:spcBef>
                <a:spcPts val="1800"/>
              </a:spcBef>
              <a:buFont typeface="Wingdings"/>
              <a:buChar char=""/>
              <a:tabLst>
                <a:tab pos="697865" algn="l"/>
                <a:tab pos="698500" algn="l"/>
              </a:tabLst>
            </a:pPr>
            <a:r>
              <a:rPr sz="1600" kern="1200" dirty="0">
                <a:solidFill>
                  <a:prstClr val="black"/>
                </a:solidFill>
                <a:latin typeface="Palatino Linotype"/>
                <a:cs typeface="Palatino Linotype"/>
              </a:rPr>
              <a:t>At a </a:t>
            </a:r>
            <a:r>
              <a:rPr sz="1600" kern="1200" spc="-5" dirty="0">
                <a:solidFill>
                  <a:prstClr val="black"/>
                </a:solidFill>
                <a:latin typeface="Palatino Linotype"/>
                <a:cs typeface="Palatino Linotype"/>
              </a:rPr>
              <a:t>certain</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point, when</a:t>
            </a:r>
            <a:r>
              <a:rPr sz="1600" kern="1200" spc="5" dirty="0">
                <a:solidFill>
                  <a:prstClr val="black"/>
                </a:solidFill>
                <a:latin typeface="Palatino Linotype"/>
                <a:cs typeface="Palatino Linotype"/>
              </a:rPr>
              <a:t> </a:t>
            </a:r>
            <a:r>
              <a:rPr sz="1600" kern="1200" spc="-15" dirty="0">
                <a:solidFill>
                  <a:prstClr val="black"/>
                </a:solidFill>
                <a:latin typeface="Palatino Linotype"/>
                <a:cs typeface="Palatino Linotype"/>
              </a:rPr>
              <a:t>we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see </a:t>
            </a:r>
            <a:r>
              <a:rPr sz="1600" kern="1200" dirty="0">
                <a:solidFill>
                  <a:prstClr val="black"/>
                </a:solidFill>
                <a:latin typeface="Cambria Math"/>
                <a:cs typeface="Cambria Math"/>
              </a:rPr>
              <a:t>𝛾</a:t>
            </a:r>
            <a:r>
              <a:rPr sz="1600" kern="1200" spc="85" dirty="0">
                <a:solidFill>
                  <a:prstClr val="black"/>
                </a:solidFill>
                <a:latin typeface="Cambria Math"/>
                <a:cs typeface="Cambria Math"/>
              </a:rPr>
              <a:t> </a:t>
            </a:r>
            <a:r>
              <a:rPr sz="1600" kern="1200" dirty="0">
                <a:solidFill>
                  <a:prstClr val="black"/>
                </a:solidFill>
                <a:latin typeface="Palatino Linotype"/>
                <a:cs typeface="Palatino Linotype"/>
              </a:rPr>
              <a:t>on</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stack </a:t>
            </a:r>
            <a:r>
              <a:rPr sz="1600" kern="1200" dirty="0">
                <a:solidFill>
                  <a:prstClr val="black"/>
                </a:solidFill>
                <a:latin typeface="Palatino Linotype"/>
                <a:cs typeface="Palatino Linotype"/>
              </a:rPr>
              <a:t>top and </a:t>
            </a:r>
            <a:r>
              <a:rPr sz="1600" kern="1200" dirty="0">
                <a:solidFill>
                  <a:prstClr val="black"/>
                </a:solidFill>
                <a:latin typeface="Cambria Math"/>
                <a:cs typeface="Cambria Math"/>
              </a:rPr>
              <a:t>𝑏</a:t>
            </a:r>
            <a:r>
              <a:rPr sz="1600" kern="1200" spc="80" dirty="0">
                <a:solidFill>
                  <a:prstClr val="black"/>
                </a:solidFill>
                <a:latin typeface="Cambria Math"/>
                <a:cs typeface="Cambria Math"/>
              </a:rPr>
              <a:t> </a:t>
            </a:r>
            <a:r>
              <a:rPr sz="1600" kern="1200" dirty="0">
                <a:solidFill>
                  <a:prstClr val="black"/>
                </a:solidFill>
                <a:latin typeface="Palatino Linotype"/>
                <a:cs typeface="Palatino Linotype"/>
              </a:rPr>
              <a:t>as</a:t>
            </a:r>
            <a:r>
              <a:rPr sz="1600" kern="1200" spc="-5" dirty="0">
                <a:solidFill>
                  <a:prstClr val="black"/>
                </a:solidFill>
                <a:latin typeface="Palatino Linotype"/>
                <a:cs typeface="Palatino Linotype"/>
              </a:rPr>
              <a:t> next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input,</a:t>
            </a:r>
            <a:r>
              <a:rPr sz="1600" kern="1200" dirty="0">
                <a:solidFill>
                  <a:prstClr val="black"/>
                </a:solidFill>
                <a:latin typeface="Palatino Linotype"/>
                <a:cs typeface="Palatino Linotype"/>
              </a:rPr>
              <a:t> </a:t>
            </a:r>
            <a:r>
              <a:rPr sz="1600" kern="1200" spc="-15" dirty="0">
                <a:solidFill>
                  <a:prstClr val="black"/>
                </a:solidFill>
                <a:latin typeface="Palatino Linotype"/>
                <a:cs typeface="Palatino Linotype"/>
              </a:rPr>
              <a:t>we</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would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r</a:t>
            </a:r>
            <a:r>
              <a:rPr sz="1600" kern="1200" spc="-5" dirty="0">
                <a:solidFill>
                  <a:prstClr val="black"/>
                </a:solidFill>
                <a:latin typeface="Palatino Linotype"/>
                <a:cs typeface="Palatino Linotype"/>
              </a:rPr>
              <a:t>edu</a:t>
            </a:r>
            <a:r>
              <a:rPr sz="1600" kern="1200" dirty="0">
                <a:solidFill>
                  <a:prstClr val="black"/>
                </a:solidFill>
                <a:latin typeface="Palatino Linotype"/>
                <a:cs typeface="Palatino Linotype"/>
              </a:rPr>
              <a:t>ce</a:t>
            </a:r>
            <a:r>
              <a:rPr sz="1600" kern="1200" spc="-5" dirty="0">
                <a:solidFill>
                  <a:prstClr val="black"/>
                </a:solidFill>
                <a:latin typeface="Palatino Linotype"/>
                <a:cs typeface="Palatino Linotype"/>
              </a:rPr>
              <a:t> </a:t>
            </a:r>
            <a:r>
              <a:rPr sz="1600" kern="1200" dirty="0">
                <a:solidFill>
                  <a:prstClr val="black"/>
                </a:solidFill>
                <a:latin typeface="Cambria Math"/>
                <a:cs typeface="Cambria Math"/>
              </a:rPr>
              <a:t>𝛾</a:t>
            </a:r>
            <a:r>
              <a:rPr sz="1600" kern="1200" spc="85" dirty="0">
                <a:solidFill>
                  <a:prstClr val="black"/>
                </a:solidFill>
                <a:latin typeface="Cambria Math"/>
                <a:cs typeface="Cambria Math"/>
              </a:rPr>
              <a:t> </a:t>
            </a:r>
            <a:r>
              <a:rPr sz="1600" kern="1200" dirty="0">
                <a:solidFill>
                  <a:prstClr val="black"/>
                </a:solidFill>
                <a:latin typeface="Palatino Linotype"/>
                <a:cs typeface="Palatino Linotype"/>
              </a:rPr>
              <a:t>to</a:t>
            </a:r>
            <a:r>
              <a:rPr lang="en-US" sz="1600" kern="1200" dirty="0">
                <a:solidFill>
                  <a:prstClr val="black"/>
                </a:solidFill>
                <a:latin typeface="Palatino Linotype"/>
                <a:cs typeface="Palatino Linotype"/>
              </a:rPr>
              <a:t> </a:t>
            </a:r>
            <a:r>
              <a:rPr lang="zh-CN" altLang="en-US" sz="1600" kern="1200" dirty="0">
                <a:solidFill>
                  <a:prstClr val="black"/>
                </a:solidFill>
                <a:latin typeface="Cambria Math"/>
                <a:cs typeface="Cambria Math"/>
              </a:rPr>
              <a:t>𝐵 </a:t>
            </a:r>
            <a:r>
              <a:rPr lang="en-US" sz="1600" kern="1200" dirty="0">
                <a:solidFill>
                  <a:prstClr val="black"/>
                </a:solidFill>
                <a:latin typeface="Palatino Linotype"/>
                <a:cs typeface="Palatino Linotype"/>
              </a:rPr>
              <a:t>([</a:t>
            </a:r>
            <a:r>
              <a:rPr lang="zh-CN" altLang="en-US" sz="1600" kern="1200" dirty="0">
                <a:solidFill>
                  <a:prstClr val="black"/>
                </a:solidFill>
                <a:latin typeface="Cambria Math"/>
                <a:cs typeface="Cambria Math"/>
              </a:rPr>
              <a:t>𝐵 → 𝛾 </a:t>
            </a:r>
            <a:r>
              <a:rPr lang="en-US" altLang="zh-CN" sz="1600" kern="1200" dirty="0">
                <a:solidFill>
                  <a:prstClr val="black"/>
                </a:solidFill>
                <a:latin typeface="Cambria Math"/>
                <a:cs typeface="Cambria Math"/>
              </a:rPr>
              <a:t>·, </a:t>
            </a:r>
            <a:r>
              <a:rPr lang="zh-CN" altLang="en-US" sz="1600" kern="1200" dirty="0">
                <a:solidFill>
                  <a:prstClr val="black"/>
                </a:solidFill>
                <a:latin typeface="Cambria Math"/>
                <a:cs typeface="Cambria Math"/>
              </a:rPr>
              <a:t>𝑏</a:t>
            </a:r>
            <a:r>
              <a:rPr lang="en-US" sz="1600" kern="1200" dirty="0">
                <a:solidFill>
                  <a:prstClr val="black"/>
                </a:solidFill>
                <a:latin typeface="Palatino Linotype"/>
                <a:cs typeface="Palatino Linotype"/>
              </a:rPr>
              <a:t>] must come from </a:t>
            </a:r>
            <a:r>
              <a:rPr lang="en-US" altLang="zh-CN" sz="1600" kern="1200" dirty="0">
                <a:solidFill>
                  <a:prstClr val="black"/>
                </a:solidFill>
                <a:latin typeface="Palatino Linotype"/>
                <a:cs typeface="Palatino Linotype"/>
              </a:rPr>
              <a:t>[</a:t>
            </a:r>
            <a:r>
              <a:rPr lang="zh-CN" altLang="en-US" sz="1600" kern="1200" dirty="0">
                <a:solidFill>
                  <a:prstClr val="black"/>
                </a:solidFill>
                <a:latin typeface="Cambria Math"/>
                <a:cs typeface="Cambria Math"/>
              </a:rPr>
              <a:t>𝐵 → </a:t>
            </a:r>
            <a:r>
              <a:rPr lang="en-US" altLang="zh-CN" sz="1600" kern="1200" dirty="0">
                <a:solidFill>
                  <a:prstClr val="black"/>
                </a:solidFill>
                <a:latin typeface="Cambria Math"/>
                <a:cs typeface="Cambria Math"/>
              </a:rPr>
              <a:t>· </a:t>
            </a:r>
            <a:r>
              <a:rPr lang="zh-CN" altLang="en-US" sz="1600" kern="1200" dirty="0">
                <a:solidFill>
                  <a:prstClr val="black"/>
                </a:solidFill>
                <a:latin typeface="Cambria Math"/>
                <a:cs typeface="Cambria Math"/>
              </a:rPr>
              <a:t>𝛾</a:t>
            </a:r>
            <a:r>
              <a:rPr lang="en-US" altLang="zh-CN" sz="1600" kern="1200" dirty="0">
                <a:solidFill>
                  <a:prstClr val="black"/>
                </a:solidFill>
                <a:latin typeface="Cambria Math"/>
                <a:cs typeface="Cambria Math"/>
              </a:rPr>
              <a:t>, </a:t>
            </a:r>
            <a:r>
              <a:rPr lang="zh-CN" altLang="en-US" sz="1600" kern="1200" dirty="0">
                <a:solidFill>
                  <a:prstClr val="black"/>
                </a:solidFill>
                <a:latin typeface="Cambria Math"/>
                <a:cs typeface="Cambria Math"/>
              </a:rPr>
              <a:t>𝑏</a:t>
            </a:r>
            <a:r>
              <a:rPr lang="en-US" altLang="zh-CN" sz="1600" kern="1200" dirty="0">
                <a:solidFill>
                  <a:prstClr val="black"/>
                </a:solidFill>
                <a:latin typeface="Palatino Linotype"/>
                <a:cs typeface="Palatino Linotype"/>
              </a:rPr>
              <a:t>] </a:t>
            </a:r>
            <a:r>
              <a:rPr lang="en-US" sz="1600" kern="1200" dirty="0">
                <a:solidFill>
                  <a:prstClr val="black"/>
                </a:solidFill>
                <a:latin typeface="Palatino Linotype"/>
                <a:cs typeface="Palatino Linotype"/>
              </a:rPr>
              <a:t>)</a:t>
            </a:r>
            <a:endParaRPr sz="1600" kern="1200" dirty="0">
              <a:solidFill>
                <a:prstClr val="black"/>
              </a:solidFill>
              <a:latin typeface="Palatino Linotype"/>
              <a:cs typeface="Palatino Linotype"/>
            </a:endParaRPr>
          </a:p>
          <a:p>
            <a:pPr marL="698500" marR="5080" lvl="1" indent="-228600" rtl="0">
              <a:lnSpc>
                <a:spcPct val="120000"/>
              </a:lnSpc>
              <a:spcBef>
                <a:spcPts val="1775"/>
              </a:spcBef>
              <a:buFont typeface="Wingdings"/>
              <a:buChar char=""/>
              <a:tabLst>
                <a:tab pos="697865" algn="l"/>
                <a:tab pos="698500" algn="l"/>
              </a:tabLst>
            </a:pPr>
            <a:r>
              <a:rPr sz="1600" kern="1200" spc="-5" dirty="0">
                <a:solidFill>
                  <a:prstClr val="black"/>
                </a:solidFill>
                <a:latin typeface="Palatino Linotype"/>
                <a:cs typeface="Palatino Linotype"/>
              </a:rPr>
              <a:t>Since </a:t>
            </a:r>
            <a:r>
              <a:rPr sz="1600" kern="1200" spc="-15" dirty="0">
                <a:solidFill>
                  <a:prstClr val="black"/>
                </a:solidFill>
                <a:latin typeface="Palatino Linotype"/>
                <a:cs typeface="Palatino Linotype"/>
              </a:rPr>
              <a:t>we </a:t>
            </a:r>
            <a:r>
              <a:rPr sz="1600" kern="1200" spc="-5" dirty="0">
                <a:solidFill>
                  <a:prstClr val="black"/>
                </a:solidFill>
                <a:latin typeface="Palatino Linotype"/>
                <a:cs typeface="Palatino Linotype"/>
              </a:rPr>
              <a:t>generate </a:t>
            </a:r>
            <a:r>
              <a:rPr lang="en-US" altLang="zh-CN" sz="1600" kern="1200" dirty="0">
                <a:solidFill>
                  <a:prstClr val="black"/>
                </a:solidFill>
                <a:latin typeface="Palatino Linotype"/>
                <a:cs typeface="Palatino Linotype"/>
              </a:rPr>
              <a:t>[</a:t>
            </a:r>
            <a:r>
              <a:rPr lang="zh-CN" altLang="en-US" sz="1600" kern="1200" dirty="0">
                <a:solidFill>
                  <a:prstClr val="black"/>
                </a:solidFill>
                <a:latin typeface="Cambria Math"/>
                <a:cs typeface="Cambria Math"/>
              </a:rPr>
              <a:t>𝐵 → </a:t>
            </a:r>
            <a:r>
              <a:rPr lang="en-US" altLang="zh-CN" sz="1600" kern="1200" dirty="0">
                <a:solidFill>
                  <a:prstClr val="black"/>
                </a:solidFill>
                <a:latin typeface="Cambria Math"/>
                <a:cs typeface="Cambria Math"/>
              </a:rPr>
              <a:t>· </a:t>
            </a:r>
            <a:r>
              <a:rPr lang="zh-CN" altLang="en-US" sz="1600" kern="1200" dirty="0">
                <a:solidFill>
                  <a:prstClr val="black"/>
                </a:solidFill>
                <a:latin typeface="Cambria Math"/>
                <a:cs typeface="Cambria Math"/>
              </a:rPr>
              <a:t>𝛾</a:t>
            </a:r>
            <a:r>
              <a:rPr lang="en-US" altLang="zh-CN" sz="1600" kern="1200" dirty="0">
                <a:solidFill>
                  <a:prstClr val="black"/>
                </a:solidFill>
                <a:latin typeface="Cambria Math"/>
                <a:cs typeface="Cambria Math"/>
              </a:rPr>
              <a:t>, </a:t>
            </a:r>
            <a:r>
              <a:rPr lang="zh-CN" altLang="en-US" sz="1600" kern="1200" dirty="0">
                <a:solidFill>
                  <a:prstClr val="black"/>
                </a:solidFill>
                <a:latin typeface="Cambria Math"/>
                <a:cs typeface="Cambria Math"/>
              </a:rPr>
              <a:t>𝑏</a:t>
            </a:r>
            <a:r>
              <a:rPr lang="en-US" altLang="zh-CN" sz="1600" kern="1200" dirty="0">
                <a:solidFill>
                  <a:prstClr val="black"/>
                </a:solidFill>
                <a:latin typeface="Palatino Linotype"/>
                <a:cs typeface="Palatino Linotype"/>
              </a:rPr>
              <a:t>] </a:t>
            </a:r>
            <a:r>
              <a:rPr sz="1600" kern="1200" dirty="0">
                <a:solidFill>
                  <a:prstClr val="black"/>
                </a:solidFill>
                <a:latin typeface="Palatino Linotype"/>
                <a:cs typeface="Palatino Linotype"/>
              </a:rPr>
              <a:t>from </a:t>
            </a:r>
            <a:r>
              <a:rPr lang="en-US" altLang="zh-CN" sz="1600" kern="1200" dirty="0">
                <a:solidFill>
                  <a:prstClr val="black"/>
                </a:solidFill>
                <a:latin typeface="Palatino Linotype"/>
                <a:cs typeface="Palatino Linotype"/>
              </a:rPr>
              <a:t>[</a:t>
            </a:r>
            <a:r>
              <a:rPr lang="zh-CN" altLang="en-US" sz="1600" kern="1200" dirty="0">
                <a:solidFill>
                  <a:prstClr val="black"/>
                </a:solidFill>
                <a:latin typeface="Cambria Math"/>
                <a:cs typeface="Cambria Math"/>
              </a:rPr>
              <a:t>𝐴→𝛼</a:t>
            </a:r>
            <a:r>
              <a:rPr lang="en-US" altLang="zh-CN" sz="1600" kern="1200" dirty="0">
                <a:solidFill>
                  <a:prstClr val="black"/>
                </a:solidFill>
                <a:latin typeface="Cambria Math"/>
                <a:cs typeface="Cambria Math"/>
              </a:rPr>
              <a:t>·</a:t>
            </a:r>
            <a:r>
              <a:rPr lang="zh-CN" altLang="en-US" sz="1600" kern="1200" dirty="0">
                <a:solidFill>
                  <a:prstClr val="black"/>
                </a:solidFill>
                <a:latin typeface="Cambria Math"/>
                <a:cs typeface="Cambria Math"/>
              </a:rPr>
              <a:t>𝐵</a:t>
            </a:r>
            <a:r>
              <a:rPr lang="zh-CN" altLang="en-US" sz="1600" kern="1200" spc="15" dirty="0">
                <a:solidFill>
                  <a:prstClr val="black"/>
                </a:solidFill>
                <a:latin typeface="Cambria Math"/>
                <a:cs typeface="Cambria Math"/>
              </a:rPr>
              <a:t>𝛽</a:t>
            </a:r>
            <a:r>
              <a:rPr lang="en-US" altLang="zh-CN" sz="1600" kern="1200" dirty="0">
                <a:solidFill>
                  <a:prstClr val="black"/>
                </a:solidFill>
                <a:latin typeface="Cambria Math"/>
                <a:cs typeface="Cambria Math"/>
              </a:rPr>
              <a:t>, </a:t>
            </a:r>
            <a:r>
              <a:rPr lang="zh-CN" altLang="en-US" sz="1600" kern="1200" spc="15" dirty="0">
                <a:solidFill>
                  <a:prstClr val="black"/>
                </a:solidFill>
                <a:latin typeface="Cambria Math"/>
                <a:cs typeface="Cambria Math"/>
              </a:rPr>
              <a:t>𝑎</a:t>
            </a:r>
            <a:r>
              <a:rPr lang="en-US" altLang="zh-CN"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during closure computation, </a:t>
            </a:r>
            <a:r>
              <a:rPr sz="1600" kern="1200" spc="-385" dirty="0">
                <a:solidFill>
                  <a:prstClr val="black"/>
                </a:solidFill>
                <a:latin typeface="Palatino Linotype"/>
                <a:cs typeface="Palatino Linotype"/>
              </a:rPr>
              <a:t> </a:t>
            </a:r>
            <a:r>
              <a:rPr sz="1600" kern="1200" spc="-15" dirty="0">
                <a:solidFill>
                  <a:prstClr val="black"/>
                </a:solidFill>
                <a:latin typeface="Palatino Linotype"/>
                <a:cs typeface="Palatino Linotype"/>
              </a:rPr>
              <a:t>we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hope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see </a:t>
            </a:r>
            <a:r>
              <a:rPr sz="1600" kern="1200" dirty="0">
                <a:solidFill>
                  <a:prstClr val="black"/>
                </a:solidFill>
                <a:latin typeface="Cambria Math"/>
                <a:cs typeface="Cambria Math"/>
              </a:rPr>
              <a:t>α</a:t>
            </a:r>
            <a:r>
              <a:rPr sz="1600" kern="1200" dirty="0">
                <a:solidFill>
                  <a:srgbClr val="FF0000"/>
                </a:solidFill>
                <a:latin typeface="Cambria Math"/>
                <a:cs typeface="Cambria Math"/>
              </a:rPr>
              <a:t>𝐵𝛽</a:t>
            </a:r>
            <a:r>
              <a:rPr sz="1600" kern="1200" spc="100" dirty="0">
                <a:solidFill>
                  <a:srgbClr val="FF0000"/>
                </a:solidFill>
                <a:latin typeface="Cambria Math"/>
                <a:cs typeface="Cambria Math"/>
              </a:rPr>
              <a:t> </a:t>
            </a:r>
            <a:r>
              <a:rPr sz="1600" kern="1200" dirty="0">
                <a:solidFill>
                  <a:prstClr val="black"/>
                </a:solidFill>
                <a:latin typeface="Palatino Linotype"/>
                <a:cs typeface="Palatino Linotype"/>
              </a:rPr>
              <a:t>at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stack </a:t>
            </a:r>
            <a:r>
              <a:rPr sz="1600" kern="1200" dirty="0">
                <a:solidFill>
                  <a:prstClr val="black"/>
                </a:solidFill>
                <a:latin typeface="Palatino Linotype"/>
                <a:cs typeface="Palatino Linotype"/>
              </a:rPr>
              <a:t>top</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sometime after</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reducing</a:t>
            </a:r>
            <a:r>
              <a:rPr sz="1600" kern="1200" dirty="0">
                <a:solidFill>
                  <a:prstClr val="black"/>
                </a:solidFill>
                <a:latin typeface="Palatino Linotype"/>
                <a:cs typeface="Palatino Linotype"/>
              </a:rPr>
              <a:t> </a:t>
            </a:r>
            <a:r>
              <a:rPr sz="1600" kern="1200" dirty="0">
                <a:solidFill>
                  <a:prstClr val="black"/>
                </a:solidFill>
                <a:latin typeface="Cambria Math"/>
                <a:cs typeface="Cambria Math"/>
              </a:rPr>
              <a:t>𝛾</a:t>
            </a:r>
            <a:r>
              <a:rPr sz="1600" kern="1200" spc="85" dirty="0">
                <a:solidFill>
                  <a:prstClr val="black"/>
                </a:solidFill>
                <a:latin typeface="Cambria Math"/>
                <a:cs typeface="Cambria Math"/>
              </a:rPr>
              <a:t> </a:t>
            </a:r>
            <a:r>
              <a:rPr sz="1600" kern="1200" dirty="0">
                <a:solidFill>
                  <a:prstClr val="black"/>
                </a:solidFill>
                <a:latin typeface="Palatino Linotype"/>
                <a:cs typeface="Palatino Linotype"/>
              </a:rPr>
              <a:t>to </a:t>
            </a:r>
            <a:r>
              <a:rPr sz="1600" kern="1200" dirty="0">
                <a:solidFill>
                  <a:prstClr val="black"/>
                </a:solidFill>
                <a:latin typeface="Cambria Math"/>
                <a:cs typeface="Cambria Math"/>
              </a:rPr>
              <a:t>𝐵</a:t>
            </a:r>
            <a:r>
              <a:rPr sz="1600" kern="1200" spc="95" dirty="0">
                <a:solidFill>
                  <a:prstClr val="black"/>
                </a:solidFill>
                <a:latin typeface="Cambria Math"/>
                <a:cs typeface="Cambria Math"/>
              </a:rPr>
              <a:t> </a:t>
            </a:r>
            <a:r>
              <a:rPr sz="1600" kern="1200" dirty="0">
                <a:solidFill>
                  <a:prstClr val="black"/>
                </a:solidFill>
                <a:latin typeface="Palatino Linotype"/>
                <a:cs typeface="Palatino Linotype"/>
              </a:rPr>
              <a:t>and</a:t>
            </a:r>
            <a:r>
              <a:rPr sz="1600" kern="1200" spc="-5" dirty="0">
                <a:solidFill>
                  <a:prstClr val="black"/>
                </a:solidFill>
                <a:latin typeface="Palatino Linotype"/>
                <a:cs typeface="Palatino Linotype"/>
              </a:rPr>
              <a:t> reduce </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using</a:t>
            </a:r>
            <a:r>
              <a:rPr sz="1600" kern="1200" spc="-10" dirty="0">
                <a:solidFill>
                  <a:prstClr val="black"/>
                </a:solidFill>
                <a:latin typeface="Palatino Linotype"/>
                <a:cs typeface="Palatino Linotype"/>
              </a:rPr>
              <a:t> </a:t>
            </a:r>
            <a:r>
              <a:rPr sz="1600" kern="1200" dirty="0">
                <a:solidFill>
                  <a:prstClr val="black"/>
                </a:solidFill>
                <a:latin typeface="Cambria Math"/>
                <a:cs typeface="Cambria Math"/>
              </a:rPr>
              <a:t>𝐴</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𝛼𝐵𝛽</a:t>
            </a:r>
            <a:r>
              <a:rPr sz="1600" kern="1200" spc="100" dirty="0">
                <a:solidFill>
                  <a:prstClr val="black"/>
                </a:solidFill>
                <a:latin typeface="Cambria Math"/>
                <a:cs typeface="Cambria Math"/>
              </a:rPr>
              <a:t> </a:t>
            </a:r>
            <a:r>
              <a:rPr sz="1600" kern="1200" dirty="0">
                <a:solidFill>
                  <a:prstClr val="black"/>
                </a:solidFill>
                <a:latin typeface="Palatino Linotype"/>
                <a:cs typeface="Palatino Linotype"/>
              </a:rPr>
              <a:t>when</a:t>
            </a:r>
            <a:r>
              <a:rPr sz="1600" kern="1200" spc="10" dirty="0">
                <a:solidFill>
                  <a:prstClr val="black"/>
                </a:solidFill>
                <a:latin typeface="Palatino Linotype"/>
                <a:cs typeface="Palatino Linotype"/>
              </a:rPr>
              <a:t> </a:t>
            </a:r>
            <a:r>
              <a:rPr sz="1600" kern="1200" dirty="0">
                <a:solidFill>
                  <a:prstClr val="black"/>
                </a:solidFill>
                <a:latin typeface="Cambria Math"/>
                <a:cs typeface="Cambria Math"/>
              </a:rPr>
              <a:t>𝑎</a:t>
            </a:r>
            <a:r>
              <a:rPr sz="1600" kern="1200" spc="80" dirty="0">
                <a:solidFill>
                  <a:prstClr val="black"/>
                </a:solidFill>
                <a:latin typeface="Cambria Math"/>
                <a:cs typeface="Cambria Math"/>
              </a:rPr>
              <a:t> </a:t>
            </a:r>
            <a:r>
              <a:rPr sz="1600" kern="1200" spc="-5" dirty="0">
                <a:solidFill>
                  <a:prstClr val="black"/>
                </a:solidFill>
                <a:latin typeface="Palatino Linotype"/>
                <a:cs typeface="Palatino Linotype"/>
              </a:rPr>
              <a:t>is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next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input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symbol</a:t>
            </a:r>
            <a:endParaRPr sz="1600" kern="1200" dirty="0">
              <a:solidFill>
                <a:prstClr val="black"/>
              </a:solidFill>
              <a:latin typeface="Palatino Linotype"/>
              <a:cs typeface="Palatino Linotype"/>
            </a:endParaRPr>
          </a:p>
          <a:p>
            <a:pPr lvl="1" rtl="0">
              <a:spcBef>
                <a:spcPts val="25"/>
              </a:spcBef>
              <a:buFont typeface="Wingdings"/>
              <a:buChar char=""/>
            </a:pPr>
            <a:endParaRPr sz="1600" kern="1200" dirty="0">
              <a:solidFill>
                <a:prstClr val="black"/>
              </a:solidFill>
              <a:latin typeface="Palatino Linotype"/>
              <a:cs typeface="Palatino Linotype"/>
            </a:endParaRPr>
          </a:p>
          <a:p>
            <a:pPr marL="698500" lvl="1" indent="-228600" rtl="0">
              <a:buFont typeface="Wingdings"/>
              <a:buChar char=""/>
              <a:tabLst>
                <a:tab pos="697865" algn="l"/>
                <a:tab pos="698500" algn="l"/>
              </a:tabLst>
            </a:pPr>
            <a:r>
              <a:rPr sz="1600" kern="1200" spc="-15" dirty="0">
                <a:solidFill>
                  <a:prstClr val="black"/>
                </a:solidFill>
                <a:latin typeface="Palatino Linotype"/>
                <a:cs typeface="Palatino Linotype"/>
              </a:rPr>
              <a:t>Unfortunately,</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this</a:t>
            </a:r>
            <a:r>
              <a:rPr sz="1600" kern="1200" spc="-5" dirty="0">
                <a:solidFill>
                  <a:prstClr val="black"/>
                </a:solidFill>
                <a:latin typeface="Palatino Linotype"/>
                <a:cs typeface="Palatino Linotype"/>
              </a:rPr>
              <a:t> is impossible </a:t>
            </a:r>
            <a:r>
              <a:rPr sz="1600" kern="1200" dirty="0">
                <a:solidFill>
                  <a:prstClr val="black"/>
                </a:solidFill>
                <a:latin typeface="Palatino Linotype"/>
                <a:cs typeface="Palatino Linotype"/>
              </a:rPr>
              <a:t>when</a:t>
            </a:r>
            <a:r>
              <a:rPr sz="1600" kern="1200" spc="5" dirty="0">
                <a:solidFill>
                  <a:prstClr val="black"/>
                </a:solidFill>
                <a:latin typeface="Palatino Linotype"/>
                <a:cs typeface="Palatino Linotype"/>
              </a:rPr>
              <a:t> </a:t>
            </a:r>
            <a:r>
              <a:rPr sz="1600" kern="1200" dirty="0">
                <a:solidFill>
                  <a:prstClr val="black"/>
                </a:solidFill>
                <a:latin typeface="Cambria Math"/>
                <a:cs typeface="Cambria Math"/>
              </a:rPr>
              <a:t>𝑏</a:t>
            </a:r>
            <a:r>
              <a:rPr sz="1600" kern="1200" spc="80" dirty="0">
                <a:solidFill>
                  <a:prstClr val="black"/>
                </a:solidFill>
                <a:latin typeface="Cambria Math"/>
                <a:cs typeface="Cambria Math"/>
              </a:rPr>
              <a:t> </a:t>
            </a:r>
            <a:r>
              <a:rPr sz="1600" kern="1200" spc="-5" dirty="0">
                <a:solidFill>
                  <a:prstClr val="black"/>
                </a:solidFill>
                <a:latin typeface="Palatino Linotype"/>
                <a:cs typeface="Palatino Linotype"/>
              </a:rPr>
              <a:t>is </a:t>
            </a:r>
            <a:r>
              <a:rPr sz="1600" kern="1200" dirty="0">
                <a:solidFill>
                  <a:prstClr val="black"/>
                </a:solidFill>
                <a:latin typeface="Palatino Linotype"/>
                <a:cs typeface="Palatino Linotype"/>
              </a:rPr>
              <a:t>not </a:t>
            </a:r>
            <a:r>
              <a:rPr sz="1600" kern="1200" spc="-5" dirty="0">
                <a:solidFill>
                  <a:prstClr val="black"/>
                </a:solidFill>
                <a:latin typeface="Palatino Linotype"/>
                <a:cs typeface="Palatino Linotype"/>
              </a:rPr>
              <a:t>in</a:t>
            </a:r>
            <a:r>
              <a:rPr sz="1600" kern="1200" spc="5" dirty="0">
                <a:solidFill>
                  <a:prstClr val="black"/>
                </a:solidFill>
                <a:latin typeface="Palatino Linotype"/>
                <a:cs typeface="Palatino Linotype"/>
              </a:rPr>
              <a:t> </a:t>
            </a:r>
            <a:r>
              <a:rPr sz="1600" kern="1200" spc="-10" dirty="0">
                <a:solidFill>
                  <a:prstClr val="black"/>
                </a:solidFill>
                <a:latin typeface="Cambria Math"/>
                <a:cs typeface="Cambria Math"/>
              </a:rPr>
              <a:t>FIRST</a:t>
            </a:r>
            <a:r>
              <a:rPr lang="en-US" sz="1600" kern="1200" spc="310" dirty="0">
                <a:solidFill>
                  <a:prstClr val="black"/>
                </a:solidFill>
                <a:latin typeface="Cambria Math"/>
                <a:cs typeface="Cambria Math"/>
              </a:rPr>
              <a:t>(</a:t>
            </a:r>
            <a:r>
              <a:rPr sz="1600" kern="1200" spc="5" dirty="0">
                <a:solidFill>
                  <a:prstClr val="black"/>
                </a:solidFill>
                <a:latin typeface="Cambria Math"/>
                <a:cs typeface="Cambria Math"/>
              </a:rPr>
              <a:t>𝛽𝑎</a:t>
            </a:r>
            <a:r>
              <a:rPr lang="en-US" sz="1600" kern="1200" spc="5" dirty="0">
                <a:solidFill>
                  <a:prstClr val="black"/>
                </a:solidFill>
                <a:latin typeface="Cambria Math"/>
                <a:cs typeface="Cambria Math"/>
              </a:rPr>
              <a:t>)</a:t>
            </a:r>
            <a:endParaRPr sz="1600" kern="1200" dirty="0">
              <a:solidFill>
                <a:prstClr val="black"/>
              </a:solidFill>
              <a:latin typeface="Cambria Math"/>
              <a:cs typeface="Cambria Math"/>
            </a:endParaRPr>
          </a:p>
          <a:p>
            <a:pPr lvl="1" rtl="0">
              <a:spcBef>
                <a:spcPts val="15"/>
              </a:spcBef>
              <a:buFont typeface="Wingdings"/>
              <a:buChar char=""/>
            </a:pPr>
            <a:endParaRPr sz="1850" kern="1200" dirty="0">
              <a:solidFill>
                <a:prstClr val="black"/>
              </a:solidFill>
              <a:latin typeface="Cambria Math"/>
              <a:cs typeface="Cambria Math"/>
            </a:endParaRPr>
          </a:p>
          <a:p>
            <a:pPr marL="698500" lvl="1" indent="-228600" rtl="0">
              <a:buClr>
                <a:srgbClr val="000000"/>
              </a:buClr>
              <a:buFont typeface="Wingdings"/>
              <a:buChar char=""/>
              <a:tabLst>
                <a:tab pos="697865" algn="l"/>
                <a:tab pos="698500" algn="l"/>
              </a:tabLst>
            </a:pPr>
            <a:r>
              <a:rPr sz="1600" kern="1200" spc="-10" dirty="0">
                <a:solidFill>
                  <a:srgbClr val="FF0000"/>
                </a:solidFill>
                <a:latin typeface="Palatino Linotype"/>
                <a:cs typeface="Palatino Linotype"/>
              </a:rPr>
              <a:t>T</a:t>
            </a:r>
            <a:r>
              <a:rPr sz="1600" kern="1200" spc="5" dirty="0">
                <a:solidFill>
                  <a:srgbClr val="FF0000"/>
                </a:solidFill>
                <a:latin typeface="Palatino Linotype"/>
                <a:cs typeface="Palatino Linotype"/>
              </a:rPr>
              <a:t>h</a:t>
            </a:r>
            <a:r>
              <a:rPr sz="1600" kern="1200" spc="-5" dirty="0">
                <a:solidFill>
                  <a:srgbClr val="FF0000"/>
                </a:solidFill>
                <a:latin typeface="Palatino Linotype"/>
                <a:cs typeface="Palatino Linotype"/>
              </a:rPr>
              <a:t>e</a:t>
            </a:r>
            <a:r>
              <a:rPr sz="1600" kern="1200" dirty="0">
                <a:solidFill>
                  <a:srgbClr val="FF0000"/>
                </a:solidFill>
                <a:latin typeface="Palatino Linotype"/>
                <a:cs typeface="Palatino Linotype"/>
              </a:rPr>
              <a:t>n</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w</a:t>
            </a:r>
            <a:r>
              <a:rPr sz="1600" kern="1200" spc="5" dirty="0">
                <a:solidFill>
                  <a:srgbClr val="FF0000"/>
                </a:solidFill>
                <a:latin typeface="Palatino Linotype"/>
                <a:cs typeface="Palatino Linotype"/>
              </a:rPr>
              <a:t>h</a:t>
            </a:r>
            <a:r>
              <a:rPr sz="1600" kern="1200" dirty="0">
                <a:solidFill>
                  <a:srgbClr val="FF0000"/>
                </a:solidFill>
                <a:latin typeface="Palatino Linotype"/>
                <a:cs typeface="Palatino Linotype"/>
              </a:rPr>
              <a:t>y</a:t>
            </a:r>
            <a:r>
              <a:rPr sz="1600" kern="1200" spc="-5" dirty="0">
                <a:solidFill>
                  <a:srgbClr val="FF0000"/>
                </a:solidFill>
                <a:latin typeface="Palatino Linotype"/>
                <a:cs typeface="Palatino Linotype"/>
              </a:rPr>
              <a:t> ge</a:t>
            </a:r>
            <a:r>
              <a:rPr sz="1600" kern="1200" spc="5" dirty="0">
                <a:solidFill>
                  <a:srgbClr val="FF0000"/>
                </a:solidFill>
                <a:latin typeface="Palatino Linotype"/>
                <a:cs typeface="Palatino Linotype"/>
              </a:rPr>
              <a:t>n</a:t>
            </a:r>
            <a:r>
              <a:rPr sz="1600" kern="1200" spc="-5" dirty="0">
                <a:solidFill>
                  <a:srgbClr val="FF0000"/>
                </a:solidFill>
                <a:latin typeface="Palatino Linotype"/>
                <a:cs typeface="Palatino Linotype"/>
              </a:rPr>
              <a:t>e</a:t>
            </a:r>
            <a:r>
              <a:rPr sz="1600" kern="1200" spc="5" dirty="0">
                <a:solidFill>
                  <a:srgbClr val="FF0000"/>
                </a:solidFill>
                <a:latin typeface="Palatino Linotype"/>
                <a:cs typeface="Palatino Linotype"/>
              </a:rPr>
              <a:t>r</a:t>
            </a:r>
            <a:r>
              <a:rPr sz="1600" kern="1200" dirty="0">
                <a:solidFill>
                  <a:srgbClr val="FF0000"/>
                </a:solidFill>
                <a:latin typeface="Palatino Linotype"/>
                <a:cs typeface="Palatino Linotype"/>
              </a:rPr>
              <a:t>ate </a:t>
            </a:r>
            <a:r>
              <a:rPr lang="zh-CN" altLang="en-US" sz="1600" kern="1200" spc="-5" dirty="0">
                <a:solidFill>
                  <a:srgbClr val="FF0000"/>
                </a:solidFill>
                <a:latin typeface="Palatino Linotype"/>
                <a:cs typeface="Palatino Linotype"/>
              </a:rPr>
              <a:t> </a:t>
            </a:r>
            <a:r>
              <a:rPr lang="en-US" altLang="zh-CN" sz="1600" kern="1200" spc="-5" dirty="0">
                <a:solidFill>
                  <a:srgbClr val="FF0000"/>
                </a:solidFill>
                <a:latin typeface="Palatino Linotype"/>
                <a:cs typeface="Palatino Linotype"/>
              </a:rPr>
              <a:t>[</a:t>
            </a:r>
            <a:r>
              <a:rPr lang="zh-CN" altLang="en-US" sz="1600" kern="1200" spc="-5" dirty="0">
                <a:solidFill>
                  <a:srgbClr val="FF0000"/>
                </a:solidFill>
                <a:latin typeface="Palatino Linotype"/>
                <a:cs typeface="Palatino Linotype"/>
              </a:rPr>
              <a:t>𝐵 → </a:t>
            </a:r>
            <a:r>
              <a:rPr lang="en-US" altLang="zh-CN" sz="1600" kern="1200" spc="-5" dirty="0">
                <a:solidFill>
                  <a:srgbClr val="FF0000"/>
                </a:solidFill>
                <a:latin typeface="Palatino Linotype"/>
                <a:cs typeface="Palatino Linotype"/>
              </a:rPr>
              <a:t>· </a:t>
            </a:r>
            <a:r>
              <a:rPr lang="zh-CN" altLang="en-US" sz="1600" kern="1200" spc="-5" dirty="0">
                <a:solidFill>
                  <a:srgbClr val="FF0000"/>
                </a:solidFill>
                <a:latin typeface="Palatino Linotype"/>
                <a:cs typeface="Palatino Linotype"/>
              </a:rPr>
              <a:t>𝛾</a:t>
            </a:r>
            <a:r>
              <a:rPr lang="en-US" altLang="zh-CN" sz="1600" kern="1200" spc="-5" dirty="0">
                <a:solidFill>
                  <a:srgbClr val="FF0000"/>
                </a:solidFill>
                <a:latin typeface="Palatino Linotype"/>
                <a:cs typeface="Palatino Linotype"/>
              </a:rPr>
              <a:t>, </a:t>
            </a:r>
            <a:r>
              <a:rPr lang="zh-CN" altLang="en-US" sz="1600" kern="1200" spc="-5" dirty="0">
                <a:solidFill>
                  <a:srgbClr val="FF0000"/>
                </a:solidFill>
                <a:latin typeface="Palatino Linotype"/>
                <a:cs typeface="Palatino Linotype"/>
              </a:rPr>
              <a:t>𝑏</a:t>
            </a:r>
            <a:r>
              <a:rPr lang="en-US" altLang="zh-CN" sz="1600" kern="1200" spc="-5" dirty="0">
                <a:solidFill>
                  <a:srgbClr val="FF0000"/>
                </a:solidFill>
                <a:latin typeface="Palatino Linotype"/>
                <a:cs typeface="Palatino Linotype"/>
              </a:rPr>
              <a:t>]</a:t>
            </a:r>
            <a:r>
              <a:rPr sz="1600" kern="1200" dirty="0">
                <a:solidFill>
                  <a:srgbClr val="FF0000"/>
                </a:solidFill>
                <a:latin typeface="Palatino Linotype"/>
                <a:cs typeface="Palatino Linotype"/>
              </a:rPr>
              <a:t>f</a:t>
            </a:r>
            <a:r>
              <a:rPr sz="1600" kern="1200" spc="5" dirty="0">
                <a:solidFill>
                  <a:srgbClr val="FF0000"/>
                </a:solidFill>
                <a:latin typeface="Palatino Linotype"/>
                <a:cs typeface="Palatino Linotype"/>
              </a:rPr>
              <a:t>r</a:t>
            </a:r>
            <a:r>
              <a:rPr sz="1600" kern="1200" dirty="0">
                <a:solidFill>
                  <a:srgbClr val="FF0000"/>
                </a:solidFill>
                <a:latin typeface="Palatino Linotype"/>
                <a:cs typeface="Palatino Linotype"/>
              </a:rPr>
              <a:t>om</a:t>
            </a:r>
            <a:r>
              <a:rPr sz="1600" kern="1200" spc="-5" dirty="0">
                <a:solidFill>
                  <a:srgbClr val="FF0000"/>
                </a:solidFill>
                <a:latin typeface="Palatino Linotype"/>
                <a:cs typeface="Palatino Linotype"/>
              </a:rPr>
              <a:t> </a:t>
            </a:r>
            <a:r>
              <a:rPr lang="en-US" altLang="zh-CN" sz="1600" kern="1200" spc="-5" dirty="0">
                <a:solidFill>
                  <a:srgbClr val="FF0000"/>
                </a:solidFill>
                <a:latin typeface="Palatino Linotype"/>
                <a:cs typeface="Palatino Linotype"/>
              </a:rPr>
              <a:t>[</a:t>
            </a:r>
            <a:r>
              <a:rPr lang="zh-CN" altLang="en-US" sz="1600" kern="1200" spc="-5" dirty="0">
                <a:solidFill>
                  <a:srgbClr val="FF0000"/>
                </a:solidFill>
                <a:latin typeface="Palatino Linotype"/>
                <a:cs typeface="Palatino Linotype"/>
              </a:rPr>
              <a:t>𝐴→𝛼</a:t>
            </a:r>
            <a:r>
              <a:rPr lang="en-US" altLang="zh-CN" sz="1600" kern="1200" spc="-5" dirty="0">
                <a:solidFill>
                  <a:srgbClr val="FF0000"/>
                </a:solidFill>
                <a:latin typeface="Palatino Linotype"/>
                <a:cs typeface="Palatino Linotype"/>
              </a:rPr>
              <a:t>·</a:t>
            </a:r>
            <a:r>
              <a:rPr lang="zh-CN" altLang="en-US" sz="1600" kern="1200" spc="-5" dirty="0">
                <a:solidFill>
                  <a:srgbClr val="FF0000"/>
                </a:solidFill>
                <a:latin typeface="Palatino Linotype"/>
                <a:cs typeface="Palatino Linotype"/>
              </a:rPr>
              <a:t>𝐵𝛽</a:t>
            </a:r>
            <a:r>
              <a:rPr lang="en-US" altLang="zh-CN" sz="1600" kern="1200" spc="-5" dirty="0">
                <a:solidFill>
                  <a:srgbClr val="FF0000"/>
                </a:solidFill>
                <a:latin typeface="Palatino Linotype"/>
                <a:cs typeface="Palatino Linotype"/>
              </a:rPr>
              <a:t>, </a:t>
            </a:r>
            <a:r>
              <a:rPr lang="zh-CN" altLang="en-US" sz="1600" kern="1200" spc="-5" dirty="0">
                <a:solidFill>
                  <a:srgbClr val="FF0000"/>
                </a:solidFill>
                <a:latin typeface="Palatino Linotype"/>
                <a:cs typeface="Palatino Linotype"/>
              </a:rPr>
              <a:t>𝑎</a:t>
            </a:r>
            <a:r>
              <a:rPr lang="en-US" altLang="zh-CN"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a:t>
            </a:r>
            <a:endParaRPr sz="1600" kern="1200" dirty="0">
              <a:solidFill>
                <a:prstClr val="black"/>
              </a:solidFill>
              <a:latin typeface="Palatino Linotype"/>
              <a:cs typeface="Palatino Linotype"/>
            </a:endParaRPr>
          </a:p>
        </p:txBody>
      </p:sp>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136</a:t>
            </a:fld>
            <a:endParaRPr lang="en-US"/>
          </a:p>
        </p:txBody>
      </p:sp>
      <p:sp>
        <p:nvSpPr>
          <p:cNvPr id="14" name="object 2">
            <a:extLst>
              <a:ext uri="{FF2B5EF4-FFF2-40B4-BE49-F238E27FC236}">
                <a16:creationId xmlns:a16="http://schemas.microsoft.com/office/drawing/2014/main" id="{B535CD1C-FF0F-B42F-94B0-2A681B3D91F3}"/>
              </a:ext>
            </a:extLst>
          </p:cNvPr>
          <p:cNvSpPr/>
          <p:nvPr/>
        </p:nvSpPr>
        <p:spPr>
          <a:xfrm>
            <a:off x="6876612" y="666201"/>
            <a:ext cx="993140" cy="471170"/>
          </a:xfrm>
          <a:custGeom>
            <a:avLst/>
            <a:gdLst/>
            <a:ahLst/>
            <a:cxnLst/>
            <a:rect l="l" t="t" r="r" b="b"/>
            <a:pathLst>
              <a:path w="993140" h="471169">
                <a:moveTo>
                  <a:pt x="842694" y="0"/>
                </a:moveTo>
                <a:lnTo>
                  <a:pt x="835996" y="19099"/>
                </a:lnTo>
                <a:lnTo>
                  <a:pt x="863235" y="30920"/>
                </a:lnTo>
                <a:lnTo>
                  <a:pt x="886661" y="47283"/>
                </a:lnTo>
                <a:lnTo>
                  <a:pt x="922069" y="93637"/>
                </a:lnTo>
                <a:lnTo>
                  <a:pt x="942905" y="156176"/>
                </a:lnTo>
                <a:lnTo>
                  <a:pt x="949850" y="232915"/>
                </a:lnTo>
                <a:lnTo>
                  <a:pt x="948106" y="274416"/>
                </a:lnTo>
                <a:lnTo>
                  <a:pt x="934153" y="345978"/>
                </a:lnTo>
                <a:lnTo>
                  <a:pt x="906155" y="401867"/>
                </a:lnTo>
                <a:lnTo>
                  <a:pt x="863553" y="439570"/>
                </a:lnTo>
                <a:lnTo>
                  <a:pt x="836740" y="451445"/>
                </a:lnTo>
                <a:lnTo>
                  <a:pt x="842694" y="470545"/>
                </a:lnTo>
                <a:lnTo>
                  <a:pt x="906876" y="440438"/>
                </a:lnTo>
                <a:lnTo>
                  <a:pt x="954067" y="388317"/>
                </a:lnTo>
                <a:lnTo>
                  <a:pt x="983089" y="318523"/>
                </a:lnTo>
                <a:lnTo>
                  <a:pt x="990344" y="278626"/>
                </a:lnTo>
                <a:lnTo>
                  <a:pt x="992762" y="235395"/>
                </a:lnTo>
                <a:lnTo>
                  <a:pt x="990336" y="192259"/>
                </a:lnTo>
                <a:lnTo>
                  <a:pt x="983057" y="152393"/>
                </a:lnTo>
                <a:lnTo>
                  <a:pt x="970926" y="115799"/>
                </a:lnTo>
                <a:lnTo>
                  <a:pt x="932432" y="53554"/>
                </a:lnTo>
                <a:lnTo>
                  <a:pt x="876808" y="12317"/>
                </a:lnTo>
                <a:lnTo>
                  <a:pt x="842694" y="0"/>
                </a:lnTo>
                <a:close/>
              </a:path>
              <a:path w="993140" h="471169">
                <a:moveTo>
                  <a:pt x="150068" y="0"/>
                </a:moveTo>
                <a:lnTo>
                  <a:pt x="86041" y="30168"/>
                </a:lnTo>
                <a:lnTo>
                  <a:pt x="38818" y="82475"/>
                </a:lnTo>
                <a:lnTo>
                  <a:pt x="9704" y="152393"/>
                </a:lnTo>
                <a:lnTo>
                  <a:pt x="2426" y="192259"/>
                </a:lnTo>
                <a:lnTo>
                  <a:pt x="0" y="235395"/>
                </a:lnTo>
                <a:lnTo>
                  <a:pt x="2418" y="278626"/>
                </a:lnTo>
                <a:lnTo>
                  <a:pt x="9673" y="318523"/>
                </a:lnTo>
                <a:lnTo>
                  <a:pt x="21766" y="355087"/>
                </a:lnTo>
                <a:lnTo>
                  <a:pt x="60166" y="417129"/>
                </a:lnTo>
                <a:lnTo>
                  <a:pt x="115853" y="458243"/>
                </a:lnTo>
                <a:lnTo>
                  <a:pt x="150068" y="470545"/>
                </a:lnTo>
                <a:lnTo>
                  <a:pt x="156020" y="451445"/>
                </a:lnTo>
                <a:lnTo>
                  <a:pt x="129208" y="439570"/>
                </a:lnTo>
                <a:lnTo>
                  <a:pt x="106070" y="423044"/>
                </a:lnTo>
                <a:lnTo>
                  <a:pt x="70817" y="376039"/>
                </a:lnTo>
                <a:lnTo>
                  <a:pt x="49888" y="312104"/>
                </a:lnTo>
                <a:lnTo>
                  <a:pt x="42912" y="232915"/>
                </a:lnTo>
                <a:lnTo>
                  <a:pt x="44656" y="192770"/>
                </a:lnTo>
                <a:lnTo>
                  <a:pt x="58608" y="123131"/>
                </a:lnTo>
                <a:lnTo>
                  <a:pt x="86653" y="68189"/>
                </a:lnTo>
                <a:lnTo>
                  <a:pt x="129627" y="30920"/>
                </a:lnTo>
                <a:lnTo>
                  <a:pt x="156764" y="19099"/>
                </a:lnTo>
                <a:lnTo>
                  <a:pt x="150068"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3">
            <a:extLst>
              <a:ext uri="{FF2B5EF4-FFF2-40B4-BE49-F238E27FC236}">
                <a16:creationId xmlns:a16="http://schemas.microsoft.com/office/drawing/2014/main" id="{206033CF-AFEF-77C9-45AC-00D8599D5E00}"/>
              </a:ext>
            </a:extLst>
          </p:cNvPr>
          <p:cNvSpPr txBox="1">
            <a:spLocks/>
          </p:cNvSpPr>
          <p:nvPr/>
        </p:nvSpPr>
        <p:spPr>
          <a:xfrm>
            <a:off x="707390" y="524763"/>
            <a:ext cx="74453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tab pos="6334760" algn="l"/>
                <a:tab pos="7205980" algn="l"/>
              </a:tabLst>
              <a:defRPr/>
            </a:pPr>
            <a:r>
              <a:rPr kumimoji="0" lang="en-US" sz="4000" b="1" i="0" u="none" strike="noStrike" kern="0" cap="none" spc="0" normalizeH="0" baseline="0" noProof="0" dirty="0">
                <a:ln>
                  <a:noFill/>
                </a:ln>
                <a:solidFill>
                  <a:sysClr val="windowText" lastClr="000000"/>
                </a:solidFill>
                <a:effectLst/>
                <a:uLnTx/>
                <a:uFillTx/>
                <a:ea typeface="+mj-ea"/>
              </a:rPr>
              <a:t>W</a:t>
            </a:r>
            <a:r>
              <a:rPr kumimoji="0" lang="en-US" sz="4000" b="1" i="0" u="none" strike="noStrike" kern="0" cap="none" spc="-10" normalizeH="0" baseline="0" noProof="0" dirty="0">
                <a:ln>
                  <a:noFill/>
                </a:ln>
                <a:solidFill>
                  <a:sysClr val="windowText" lastClr="000000"/>
                </a:solidFill>
                <a:effectLst/>
                <a:uLnTx/>
                <a:uFillTx/>
                <a:ea typeface="+mj-ea"/>
              </a:rPr>
              <a:t>h</a:t>
            </a:r>
            <a:r>
              <a:rPr kumimoji="0" lang="en-US" sz="4000" b="1" i="0" u="none" strike="noStrike" kern="0" cap="none" spc="0" normalizeH="0" baseline="0" noProof="0" dirty="0">
                <a:ln>
                  <a:noFill/>
                </a:ln>
                <a:solidFill>
                  <a:sysClr val="windowText" lastClr="000000"/>
                </a:solidFill>
                <a:effectLst/>
                <a:uLnTx/>
                <a:uFillTx/>
                <a:ea typeface="+mj-ea"/>
              </a:rPr>
              <a:t>y </a:t>
            </a:r>
            <a:r>
              <a:rPr kumimoji="0" lang="en-US" sz="4000" b="0" i="0" u="none" strike="noStrike" kern="0" cap="none" spc="0" normalizeH="0" baseline="0" noProof="0" dirty="0">
                <a:ln>
                  <a:noFill/>
                </a:ln>
                <a:solidFill>
                  <a:sysClr val="windowText" lastClr="000000"/>
                </a:solidFill>
                <a:effectLst/>
                <a:uLnTx/>
                <a:uFillTx/>
                <a:latin typeface="Cambria Math"/>
                <a:ea typeface="+mj-ea"/>
                <a:cs typeface="Cambria Math"/>
              </a:rPr>
              <a:t>𝒃</a:t>
            </a:r>
            <a:r>
              <a:rPr kumimoji="0" lang="en-US" sz="4000" b="0" i="0" u="none" strike="noStrike" kern="0" cap="none" spc="114" normalizeH="0" baseline="0" noProof="0" dirty="0">
                <a:ln>
                  <a:noFill/>
                </a:ln>
                <a:solidFill>
                  <a:sysClr val="windowText" lastClr="000000"/>
                </a:solidFill>
                <a:effectLst/>
                <a:uLnTx/>
                <a:uFillTx/>
                <a:latin typeface="Cambria Math"/>
                <a:ea typeface="+mj-ea"/>
                <a:cs typeface="Cambria Math"/>
              </a:rPr>
              <a:t> </a:t>
            </a:r>
            <a:r>
              <a:rPr kumimoji="0" lang="en-US" sz="4000" b="1" i="0" u="none" strike="noStrike" kern="0" cap="none" spc="-5" normalizeH="0" baseline="0" noProof="0" dirty="0">
                <a:ln>
                  <a:noFill/>
                </a:ln>
                <a:solidFill>
                  <a:sysClr val="windowText" lastClr="000000"/>
                </a:solidFill>
                <a:effectLst/>
                <a:uLnTx/>
                <a:uFillTx/>
                <a:ea typeface="+mj-ea"/>
              </a:rPr>
              <a:t>s</a:t>
            </a:r>
            <a:r>
              <a:rPr kumimoji="0" lang="en-US" sz="4000" b="1" i="0" u="none" strike="noStrike" kern="0" cap="none" spc="-10" normalizeH="0" baseline="0" noProof="0" dirty="0">
                <a:ln>
                  <a:noFill/>
                </a:ln>
                <a:solidFill>
                  <a:sysClr val="windowText" lastClr="000000"/>
                </a:solidFill>
                <a:effectLst/>
                <a:uLnTx/>
                <a:uFillTx/>
                <a:ea typeface="+mj-ea"/>
              </a:rPr>
              <a:t>h</a:t>
            </a:r>
            <a:r>
              <a:rPr kumimoji="0" lang="en-US" sz="4000" b="1" i="0" u="none" strike="noStrike" kern="0" cap="none" spc="0" normalizeH="0" baseline="0" noProof="0" dirty="0">
                <a:ln>
                  <a:noFill/>
                </a:ln>
                <a:solidFill>
                  <a:sysClr val="windowText" lastClr="000000"/>
                </a:solidFill>
                <a:effectLst/>
                <a:uLnTx/>
                <a:uFillTx/>
                <a:ea typeface="+mj-ea"/>
              </a:rPr>
              <a:t>o</a:t>
            </a:r>
            <a:r>
              <a:rPr kumimoji="0" lang="en-US" sz="4000" b="1" i="0" u="none" strike="noStrike" kern="0" cap="none" spc="-10" normalizeH="0" baseline="0" noProof="0" dirty="0">
                <a:ln>
                  <a:noFill/>
                </a:ln>
                <a:solidFill>
                  <a:sysClr val="windowText" lastClr="000000"/>
                </a:solidFill>
                <a:effectLst/>
                <a:uLnTx/>
                <a:uFillTx/>
                <a:ea typeface="+mj-ea"/>
              </a:rPr>
              <a:t>u</a:t>
            </a:r>
            <a:r>
              <a:rPr kumimoji="0" lang="en-US" sz="4000" b="1" i="0" u="none" strike="noStrike" kern="0" cap="none" spc="5" normalizeH="0" baseline="0" noProof="0" dirty="0">
                <a:ln>
                  <a:noFill/>
                </a:ln>
                <a:solidFill>
                  <a:sysClr val="windowText" lastClr="000000"/>
                </a:solidFill>
                <a:effectLst/>
                <a:uLnTx/>
                <a:uFillTx/>
                <a:ea typeface="+mj-ea"/>
              </a:rPr>
              <a:t>l</a:t>
            </a:r>
            <a:r>
              <a:rPr kumimoji="0" lang="en-US" sz="4000" b="1" i="0" u="none" strike="noStrike" kern="0" cap="none" spc="0" normalizeH="0" baseline="0" noProof="0" dirty="0">
                <a:ln>
                  <a:noFill/>
                </a:ln>
                <a:solidFill>
                  <a:sysClr val="windowText" lastClr="000000"/>
                </a:solidFill>
                <a:effectLst/>
                <a:uLnTx/>
                <a:uFillTx/>
                <a:ea typeface="+mj-ea"/>
              </a:rPr>
              <a:t>d</a:t>
            </a:r>
            <a:r>
              <a:rPr kumimoji="0" lang="en-US" sz="4000" b="1" i="0" u="none" strike="noStrike" kern="0" cap="none" spc="-10" normalizeH="0" baseline="0" noProof="0" dirty="0">
                <a:ln>
                  <a:noFill/>
                </a:ln>
                <a:solidFill>
                  <a:sysClr val="windowText" lastClr="000000"/>
                </a:solidFill>
                <a:effectLst/>
                <a:uLnTx/>
                <a:uFillTx/>
                <a:ea typeface="+mj-ea"/>
              </a:rPr>
              <a:t> b</a:t>
            </a:r>
            <a:r>
              <a:rPr kumimoji="0" lang="en-US" sz="4000" b="1" i="0" u="none" strike="noStrike" kern="0" cap="none" spc="0" normalizeH="0" baseline="0" noProof="0" dirty="0">
                <a:ln>
                  <a:noFill/>
                </a:ln>
                <a:solidFill>
                  <a:sysClr val="windowText" lastClr="000000"/>
                </a:solidFill>
                <a:effectLst/>
                <a:uLnTx/>
                <a:uFillTx/>
                <a:ea typeface="+mj-ea"/>
              </a:rPr>
              <a:t>e </a:t>
            </a:r>
            <a:r>
              <a:rPr kumimoji="0" lang="en-US" sz="4000" b="1" i="0" u="none" strike="noStrike" kern="0" cap="none" spc="5" normalizeH="0" baseline="0" noProof="0" dirty="0">
                <a:ln>
                  <a:noFill/>
                </a:ln>
                <a:solidFill>
                  <a:sysClr val="windowText" lastClr="000000"/>
                </a:solidFill>
                <a:effectLst/>
                <a:uLnTx/>
                <a:uFillTx/>
                <a:ea typeface="+mj-ea"/>
              </a:rPr>
              <a:t>i</a:t>
            </a:r>
            <a:r>
              <a:rPr kumimoji="0" lang="en-US" sz="4000" b="1" i="0" u="none" strike="noStrike" kern="0" cap="none" spc="0" normalizeH="0" baseline="0" noProof="0" dirty="0">
                <a:ln>
                  <a:noFill/>
                </a:ln>
                <a:solidFill>
                  <a:sysClr val="windowText" lastClr="000000"/>
                </a:solidFill>
                <a:effectLst/>
                <a:uLnTx/>
                <a:uFillTx/>
                <a:ea typeface="+mj-ea"/>
              </a:rPr>
              <a:t>n</a:t>
            </a:r>
            <a:r>
              <a:rPr kumimoji="0" lang="en-US" sz="4000" b="1" i="0" u="none" strike="noStrike" kern="0" cap="none" spc="-10" normalizeH="0" baseline="0" noProof="0" dirty="0">
                <a:ln>
                  <a:noFill/>
                </a:ln>
                <a:solidFill>
                  <a:sysClr val="windowText" lastClr="000000"/>
                </a:solidFill>
                <a:effectLst/>
                <a:uLnTx/>
                <a:uFillTx/>
                <a:ea typeface="+mj-ea"/>
              </a:rPr>
              <a:t> </a:t>
            </a:r>
            <a:r>
              <a:rPr kumimoji="0" lang="en-US" sz="4000" b="0" i="0" u="none" strike="noStrike" kern="0" cap="none" spc="-5" normalizeH="0" baseline="0" noProof="0" dirty="0">
                <a:ln>
                  <a:noFill/>
                </a:ln>
                <a:solidFill>
                  <a:sysClr val="windowText" lastClr="000000"/>
                </a:solidFill>
                <a:effectLst/>
                <a:uLnTx/>
                <a:uFillTx/>
                <a:latin typeface="Cambria Math"/>
                <a:ea typeface="+mj-ea"/>
                <a:cs typeface="Cambria Math"/>
              </a:rPr>
              <a:t>𝐅</a:t>
            </a:r>
            <a:r>
              <a:rPr kumimoji="0" lang="en-US" sz="4000" b="0" i="0" u="none" strike="noStrike" kern="0" cap="none" spc="5" normalizeH="0" baseline="0" noProof="0" dirty="0">
                <a:ln>
                  <a:noFill/>
                </a:ln>
                <a:solidFill>
                  <a:sysClr val="windowText" lastClr="000000"/>
                </a:solidFill>
                <a:effectLst/>
                <a:uLnTx/>
                <a:uFillTx/>
                <a:latin typeface="Cambria Math"/>
                <a:ea typeface="+mj-ea"/>
                <a:cs typeface="Cambria Math"/>
              </a:rPr>
              <a:t>𝐈</a:t>
            </a:r>
            <a:r>
              <a:rPr kumimoji="0" lang="en-US" sz="4000" b="0" i="0" u="none" strike="noStrike" kern="0" cap="none" spc="0" normalizeH="0" baseline="0" noProof="0" dirty="0">
                <a:ln>
                  <a:noFill/>
                </a:ln>
                <a:solidFill>
                  <a:sysClr val="windowText" lastClr="000000"/>
                </a:solidFill>
                <a:effectLst/>
                <a:uLnTx/>
                <a:uFillTx/>
                <a:latin typeface="Cambria Math"/>
                <a:ea typeface="+mj-ea"/>
                <a:cs typeface="Cambria Math"/>
              </a:rPr>
              <a:t>𝐑𝐒𝐓	</a:t>
            </a:r>
            <a:r>
              <a:rPr kumimoji="0" lang="en-US" sz="4000" i="0" u="none" strike="noStrike" kern="0" cap="none" spc="75" normalizeH="0" baseline="0" noProof="0" dirty="0">
                <a:ln>
                  <a:noFill/>
                </a:ln>
                <a:solidFill>
                  <a:sysClr val="windowText" lastClr="000000"/>
                </a:solidFill>
                <a:effectLst/>
                <a:uLnTx/>
                <a:uFillTx/>
                <a:latin typeface="Cambria Math"/>
                <a:ea typeface="+mj-ea"/>
                <a:cs typeface="Cambria Math"/>
              </a:rPr>
              <a:t>𝛽</a:t>
            </a:r>
            <a:r>
              <a:rPr kumimoji="0" lang="en-US" sz="4000" b="0" i="0" u="none" strike="noStrike" kern="0" cap="none" spc="75" normalizeH="0" baseline="0" noProof="0" dirty="0">
                <a:ln>
                  <a:noFill/>
                </a:ln>
                <a:solidFill>
                  <a:sysClr val="windowText" lastClr="000000"/>
                </a:solidFill>
                <a:effectLst/>
                <a:uLnTx/>
                <a:uFillTx/>
                <a:latin typeface="Cambria Math"/>
                <a:ea typeface="+mj-ea"/>
                <a:cs typeface="Cambria Math"/>
              </a:rPr>
              <a:t>𝒂</a:t>
            </a:r>
            <a:r>
              <a:rPr kumimoji="0" lang="en-US" sz="4000" b="0" i="0" u="none" strike="noStrike" kern="0" cap="none" spc="0" normalizeH="0" baseline="0" noProof="0" dirty="0">
                <a:ln>
                  <a:noFill/>
                </a:ln>
                <a:solidFill>
                  <a:sysClr val="windowText" lastClr="000000"/>
                </a:solidFill>
                <a:effectLst/>
                <a:uLnTx/>
                <a:uFillTx/>
                <a:latin typeface="Cambria Math"/>
                <a:ea typeface="+mj-ea"/>
                <a:cs typeface="Cambria Math"/>
              </a:rPr>
              <a:t>	</a:t>
            </a:r>
            <a:r>
              <a:rPr kumimoji="0" lang="en-US" sz="4000" b="1" i="0" u="none" strike="noStrike" kern="0" cap="none" spc="0" normalizeH="0" baseline="0" noProof="0" dirty="0">
                <a:ln>
                  <a:noFill/>
                </a:ln>
                <a:solidFill>
                  <a:sysClr val="windowText" lastClr="000000"/>
                </a:solidFill>
                <a:effectLst/>
                <a:uLnTx/>
                <a:uFillTx/>
                <a:ea typeface="+mj-ea"/>
              </a:rPr>
              <a:t>?</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Tree>
    <p:extLst>
      <p:ext uri="{BB962C8B-B14F-4D97-AF65-F5344CB8AC3E}">
        <p14:creationId xmlns:p14="http://schemas.microsoft.com/office/powerpoint/2010/main" val="392365322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137</a:t>
            </a:fld>
            <a:endParaRPr lang="en-US"/>
          </a:p>
        </p:txBody>
      </p:sp>
      <p:sp>
        <p:nvSpPr>
          <p:cNvPr id="15" name="object 2">
            <a:extLst>
              <a:ext uri="{FF2B5EF4-FFF2-40B4-BE49-F238E27FC236}">
                <a16:creationId xmlns:a16="http://schemas.microsoft.com/office/drawing/2014/main" id="{6B124A00-0BBB-36F8-C1C8-68391B06FD96}"/>
              </a:ext>
            </a:extLst>
          </p:cNvPr>
          <p:cNvSpPr txBox="1">
            <a:spLocks/>
          </p:cNvSpPr>
          <p:nvPr/>
        </p:nvSpPr>
        <p:spPr>
          <a:xfrm>
            <a:off x="707390" y="524763"/>
            <a:ext cx="74434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Constructing LR(1)</a:t>
            </a:r>
            <a:r>
              <a:rPr kumimoji="0" lang="en-US" sz="4000" b="1" i="0" u="none" strike="noStrike" kern="0" cap="none" spc="0" normalizeH="0" baseline="0" noProof="0">
                <a:ln>
                  <a:noFill/>
                </a:ln>
                <a:solidFill>
                  <a:sysClr val="windowText" lastClr="000000"/>
                </a:solidFill>
                <a:effectLst/>
                <a:uLnTx/>
                <a:uFillTx/>
                <a:latin typeface="Palatino Linotype"/>
                <a:ea typeface="+mj-ea"/>
              </a:rPr>
              <a:t> Item </a:t>
            </a:r>
            <a:r>
              <a:rPr kumimoji="0" lang="en-US" sz="4000" b="1" i="0" u="none" strike="noStrike" kern="0" cap="none" spc="-5" normalizeH="0" baseline="0" noProof="0">
                <a:ln>
                  <a:noFill/>
                </a:ln>
                <a:solidFill>
                  <a:sysClr val="windowText" lastClr="000000"/>
                </a:solidFill>
                <a:effectLst/>
                <a:uLnTx/>
                <a:uFillTx/>
                <a:latin typeface="Palatino Linotype"/>
                <a:ea typeface="+mj-ea"/>
              </a:rPr>
              <a:t>Sets </a:t>
            </a:r>
            <a:r>
              <a:rPr kumimoji="0" lang="en-US" sz="4000" b="1" i="0" u="none" strike="noStrike" kern="0" cap="none" spc="0" normalizeH="0" baseline="0" noProof="0">
                <a:ln>
                  <a:noFill/>
                </a:ln>
                <a:solidFill>
                  <a:sysClr val="windowText" lastClr="000000"/>
                </a:solidFill>
                <a:effectLst/>
                <a:uLnTx/>
                <a:uFillTx/>
                <a:latin typeface="Palatino Linotype"/>
                <a:ea typeface="+mj-ea"/>
              </a:rPr>
              <a:t>(2)</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6" name="object 3">
            <a:extLst>
              <a:ext uri="{FF2B5EF4-FFF2-40B4-BE49-F238E27FC236}">
                <a16:creationId xmlns:a16="http://schemas.microsoft.com/office/drawing/2014/main" id="{2CC54B26-D71E-7EC0-F0B3-7793F8DE440B}"/>
              </a:ext>
            </a:extLst>
          </p:cNvPr>
          <p:cNvSpPr txBox="1"/>
          <p:nvPr/>
        </p:nvSpPr>
        <p:spPr>
          <a:xfrm>
            <a:off x="707390" y="1449323"/>
            <a:ext cx="7366634" cy="1101725"/>
          </a:xfrm>
          <a:prstGeom prst="rect">
            <a:avLst/>
          </a:prstGeom>
        </p:spPr>
        <p:txBody>
          <a:bodyPr vert="horz" wrap="square" lIns="0" tIns="5080" rIns="0" bIns="0" rtlCol="0">
            <a:spAutoFit/>
          </a:bodyPr>
          <a:lstStyle/>
          <a:p>
            <a:pPr marL="242570" marR="5080" indent="-230504" rtl="0">
              <a:lnSpc>
                <a:spcPct val="118500"/>
              </a:lnSpc>
              <a:spcBef>
                <a:spcPts val="40"/>
              </a:spcBef>
              <a:buFont typeface="Arial MT"/>
              <a:buChar char="•"/>
              <a:tabLst>
                <a:tab pos="242570" algn="l"/>
                <a:tab pos="243204" algn="l"/>
              </a:tabLst>
            </a:pPr>
            <a:r>
              <a:rPr sz="2000" kern="1200" spc="-5" dirty="0">
                <a:solidFill>
                  <a:prstClr val="black"/>
                </a:solidFill>
                <a:latin typeface="Palatino Linotype"/>
                <a:cs typeface="Palatino Linotype"/>
              </a:rPr>
              <a:t>Constructing</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collection of LR(1) </a:t>
            </a:r>
            <a:r>
              <a:rPr sz="2000" kern="1200" dirty="0">
                <a:solidFill>
                  <a:prstClr val="black"/>
                </a:solidFill>
                <a:latin typeface="Palatino Linotype"/>
                <a:cs typeface="Palatino Linotype"/>
              </a:rPr>
              <a:t>item </a:t>
            </a:r>
            <a:r>
              <a:rPr sz="2000" kern="1200" spc="-5" dirty="0">
                <a:solidFill>
                  <a:prstClr val="black"/>
                </a:solidFill>
                <a:latin typeface="Palatino Linotype"/>
                <a:cs typeface="Palatino Linotype"/>
              </a:rPr>
              <a:t>sets</a:t>
            </a:r>
            <a:r>
              <a:rPr sz="2000" kern="1200" dirty="0">
                <a:solidFill>
                  <a:prstClr val="black"/>
                </a:solidFill>
                <a:latin typeface="Palatino Linotype"/>
                <a:cs typeface="Palatino Linotype"/>
              </a:rPr>
              <a:t> is essentially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same</a:t>
            </a:r>
            <a:r>
              <a:rPr sz="2000" kern="1200" dirty="0">
                <a:solidFill>
                  <a:prstClr val="black"/>
                </a:solidFill>
                <a:latin typeface="Palatino Linotype"/>
                <a:cs typeface="Palatino Linotype"/>
              </a:rPr>
              <a:t> as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constructing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canonical</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collection</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LR(0)</a:t>
            </a:r>
            <a:r>
              <a:rPr sz="2000" kern="1200" dirty="0">
                <a:solidFill>
                  <a:prstClr val="black"/>
                </a:solidFill>
                <a:latin typeface="Palatino Linotype"/>
                <a:cs typeface="Palatino Linotype"/>
              </a:rPr>
              <a:t> item </a:t>
            </a:r>
            <a:r>
              <a:rPr sz="2000" kern="1200" spc="-5" dirty="0">
                <a:solidFill>
                  <a:prstClr val="black"/>
                </a:solidFill>
                <a:latin typeface="Palatino Linotype"/>
                <a:cs typeface="Palatino Linotype"/>
              </a:rPr>
              <a:t>sets.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only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differences</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lie in</a:t>
            </a:r>
            <a:r>
              <a:rPr sz="2000" kern="1200" spc="-5" dirty="0">
                <a:solidFill>
                  <a:prstClr val="black"/>
                </a:solidFill>
                <a:latin typeface="Palatino Linotype"/>
                <a:cs typeface="Palatino Linotype"/>
              </a:rPr>
              <a:t> 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CLOSURE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spc="5" dirty="0">
                <a:solidFill>
                  <a:prstClr val="black"/>
                </a:solidFill>
                <a:latin typeface="Palatino Linotype"/>
                <a:cs typeface="Palatino Linotype"/>
              </a:rPr>
              <a:t> </a:t>
            </a:r>
            <a:r>
              <a:rPr sz="2000" kern="1200" spc="-5" dirty="0">
                <a:solidFill>
                  <a:srgbClr val="FF0000"/>
                </a:solidFill>
                <a:latin typeface="Palatino Linotype"/>
                <a:cs typeface="Palatino Linotype"/>
              </a:rPr>
              <a:t>GOTO</a:t>
            </a:r>
            <a:r>
              <a:rPr sz="2000" kern="1200" dirty="0">
                <a:solidFill>
                  <a:srgbClr val="FF0000"/>
                </a:solidFill>
                <a:latin typeface="Palatino Linotype"/>
                <a:cs typeface="Palatino Linotype"/>
              </a:rPr>
              <a:t> </a:t>
            </a:r>
            <a:r>
              <a:rPr sz="2000" kern="1200" spc="-5" dirty="0">
                <a:solidFill>
                  <a:prstClr val="black"/>
                </a:solidFill>
                <a:latin typeface="Palatino Linotype"/>
                <a:cs typeface="Palatino Linotype"/>
              </a:rPr>
              <a:t>functions.</a:t>
            </a:r>
            <a:endParaRPr sz="2000" kern="1200" dirty="0">
              <a:solidFill>
                <a:prstClr val="black"/>
              </a:solidFill>
              <a:latin typeface="Palatino Linotype"/>
              <a:cs typeface="Palatino Linotype"/>
            </a:endParaRPr>
          </a:p>
        </p:txBody>
      </p:sp>
      <p:sp>
        <p:nvSpPr>
          <p:cNvPr id="17" name="object 4">
            <a:extLst>
              <a:ext uri="{FF2B5EF4-FFF2-40B4-BE49-F238E27FC236}">
                <a16:creationId xmlns:a16="http://schemas.microsoft.com/office/drawing/2014/main" id="{5FAEE245-F6CE-B3F2-0E32-9C56B8018A78}"/>
              </a:ext>
            </a:extLst>
          </p:cNvPr>
          <p:cNvSpPr txBox="1"/>
          <p:nvPr/>
        </p:nvSpPr>
        <p:spPr>
          <a:xfrm>
            <a:off x="963448" y="4969486"/>
            <a:ext cx="7217409" cy="368935"/>
          </a:xfrm>
          <a:prstGeom prst="rect">
            <a:avLst/>
          </a:prstGeom>
          <a:solidFill>
            <a:srgbClr val="FFF2CC"/>
          </a:solidFill>
          <a:ln w="9525">
            <a:solidFill>
              <a:srgbClr val="000000"/>
            </a:solidFill>
          </a:ln>
        </p:spPr>
        <p:txBody>
          <a:bodyPr vert="horz" wrap="square" lIns="0" tIns="57785" rIns="0" bIns="0" rtlCol="0">
            <a:spAutoFit/>
          </a:bodyPr>
          <a:lstStyle/>
          <a:p>
            <a:pPr marL="554990" rtl="0">
              <a:spcBef>
                <a:spcPts val="455"/>
              </a:spcBef>
            </a:pPr>
            <a:r>
              <a:rPr sz="1600" kern="1200" spc="-5" dirty="0">
                <a:solidFill>
                  <a:prstClr val="black"/>
                </a:solidFill>
                <a:latin typeface="Palatino Linotype"/>
                <a:cs typeface="Palatino Linotype"/>
              </a:rPr>
              <a:t>The lookahead</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symbols</a:t>
            </a:r>
            <a:r>
              <a:rPr sz="1600" kern="1200" dirty="0">
                <a:solidFill>
                  <a:prstClr val="black"/>
                </a:solidFill>
                <a:latin typeface="Palatino Linotype"/>
                <a:cs typeface="Palatino Linotype"/>
              </a:rPr>
              <a:t> are</a:t>
            </a:r>
            <a:r>
              <a:rPr sz="1600" kern="1200" spc="-5" dirty="0">
                <a:solidFill>
                  <a:prstClr val="black"/>
                </a:solidFill>
                <a:latin typeface="Palatino Linotype"/>
                <a:cs typeface="Palatino Linotype"/>
              </a:rPr>
              <a:t> passed</a:t>
            </a:r>
            <a:r>
              <a:rPr sz="1600" kern="1200" dirty="0">
                <a:solidFill>
                  <a:prstClr val="black"/>
                </a:solidFill>
                <a:latin typeface="Palatino Linotype"/>
                <a:cs typeface="Palatino Linotype"/>
              </a:rPr>
              <a:t> to</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new </a:t>
            </a:r>
            <a:r>
              <a:rPr sz="1600" kern="1200" spc="-5" dirty="0">
                <a:solidFill>
                  <a:prstClr val="black"/>
                </a:solidFill>
                <a:latin typeface="Palatino Linotype"/>
                <a:cs typeface="Palatino Linotype"/>
              </a:rPr>
              <a:t>items</a:t>
            </a:r>
            <a:r>
              <a:rPr sz="1600" kern="1200" dirty="0">
                <a:solidFill>
                  <a:prstClr val="black"/>
                </a:solidFill>
                <a:latin typeface="Palatino Linotype"/>
                <a:cs typeface="Palatino Linotype"/>
              </a:rPr>
              <a:t> from</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existing</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items</a:t>
            </a:r>
            <a:endParaRPr sz="1600" kern="1200" dirty="0">
              <a:solidFill>
                <a:prstClr val="black"/>
              </a:solidFill>
              <a:latin typeface="Palatino Linotype"/>
              <a:cs typeface="Palatino Linotype"/>
            </a:endParaRPr>
          </a:p>
        </p:txBody>
      </p:sp>
      <p:sp>
        <p:nvSpPr>
          <p:cNvPr id="18" name="object 5">
            <a:extLst>
              <a:ext uri="{FF2B5EF4-FFF2-40B4-BE49-F238E27FC236}">
                <a16:creationId xmlns:a16="http://schemas.microsoft.com/office/drawing/2014/main" id="{5BD13039-EB14-FEA6-DFD5-44652DEF15DC}"/>
              </a:ext>
            </a:extLst>
          </p:cNvPr>
          <p:cNvSpPr/>
          <p:nvPr/>
        </p:nvSpPr>
        <p:spPr>
          <a:xfrm>
            <a:off x="5932056" y="3808729"/>
            <a:ext cx="44450" cy="189230"/>
          </a:xfrm>
          <a:custGeom>
            <a:avLst/>
            <a:gdLst/>
            <a:ahLst/>
            <a:cxnLst/>
            <a:rect l="l" t="t" r="r" b="b"/>
            <a:pathLst>
              <a:path w="44450" h="189229">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6">
            <a:extLst>
              <a:ext uri="{FF2B5EF4-FFF2-40B4-BE49-F238E27FC236}">
                <a16:creationId xmlns:a16="http://schemas.microsoft.com/office/drawing/2014/main" id="{85E1EED5-92FE-D8F0-26F1-BFDAFDEE2661}"/>
              </a:ext>
            </a:extLst>
          </p:cNvPr>
          <p:cNvSpPr/>
          <p:nvPr/>
        </p:nvSpPr>
        <p:spPr>
          <a:xfrm>
            <a:off x="4929594" y="3808729"/>
            <a:ext cx="44450" cy="189230"/>
          </a:xfrm>
          <a:custGeom>
            <a:avLst/>
            <a:gdLst/>
            <a:ahLst/>
            <a:cxnLst/>
            <a:rect l="l" t="t" r="r" b="b"/>
            <a:pathLst>
              <a:path w="44450" h="189229">
                <a:moveTo>
                  <a:pt x="44246" y="0"/>
                </a:moveTo>
                <a:lnTo>
                  <a:pt x="0" y="0"/>
                </a:lnTo>
                <a:lnTo>
                  <a:pt x="0" y="7620"/>
                </a:lnTo>
                <a:lnTo>
                  <a:pt x="0" y="181610"/>
                </a:lnTo>
                <a:lnTo>
                  <a:pt x="0" y="189230"/>
                </a:lnTo>
                <a:lnTo>
                  <a:pt x="44246" y="189230"/>
                </a:lnTo>
                <a:lnTo>
                  <a:pt x="44246" y="181610"/>
                </a:lnTo>
                <a:lnTo>
                  <a:pt x="16471" y="181610"/>
                </a:lnTo>
                <a:lnTo>
                  <a:pt x="16471" y="7620"/>
                </a:lnTo>
                <a:lnTo>
                  <a:pt x="44246" y="7620"/>
                </a:lnTo>
                <a:lnTo>
                  <a:pt x="4424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0" name="object 7">
            <a:extLst>
              <a:ext uri="{FF2B5EF4-FFF2-40B4-BE49-F238E27FC236}">
                <a16:creationId xmlns:a16="http://schemas.microsoft.com/office/drawing/2014/main" id="{9F8BE818-DF21-ED01-71ED-C22C5FE86CEB}"/>
              </a:ext>
            </a:extLst>
          </p:cNvPr>
          <p:cNvSpPr txBox="1"/>
          <p:nvPr/>
        </p:nvSpPr>
        <p:spPr>
          <a:xfrm>
            <a:off x="4815533" y="3039573"/>
            <a:ext cx="3365500" cy="1274067"/>
          </a:xfrm>
          <a:prstGeom prst="rect">
            <a:avLst/>
          </a:prstGeom>
          <a:ln w="9525">
            <a:solidFill>
              <a:srgbClr val="000000"/>
            </a:solidFill>
          </a:ln>
        </p:spPr>
        <p:txBody>
          <a:bodyPr vert="horz" wrap="square" lIns="0" tIns="57785" rIns="0" bIns="0" rtlCol="0">
            <a:spAutoFit/>
          </a:bodyPr>
          <a:lstStyle/>
          <a:p>
            <a:pPr marL="90805" rtl="0">
              <a:spcBef>
                <a:spcPts val="455"/>
              </a:spcBef>
            </a:pPr>
            <a:r>
              <a:rPr sz="1600" kern="1200" dirty="0">
                <a:solidFill>
                  <a:prstClr val="black"/>
                </a:solidFill>
                <a:latin typeface="Cambria Math"/>
                <a:cs typeface="Cambria Math"/>
              </a:rPr>
              <a:t>𝐆𝐎𝐓𝐎</a:t>
            </a:r>
            <a:r>
              <a:rPr sz="1600" kern="1200" spc="-5" dirty="0">
                <a:solidFill>
                  <a:prstClr val="black"/>
                </a:solidFill>
                <a:latin typeface="Cambria Math"/>
                <a:cs typeface="Cambria Math"/>
              </a:rPr>
              <a:t>(</a:t>
            </a:r>
            <a:r>
              <a:rPr sz="1600" kern="1200" dirty="0">
                <a:solidFill>
                  <a:prstClr val="black"/>
                </a:solidFill>
                <a:latin typeface="Cambria Math"/>
                <a:cs typeface="Cambria Math"/>
              </a:rPr>
              <a:t>𝑰,</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𝑿)</a:t>
            </a:r>
            <a:r>
              <a:rPr sz="1600" kern="1200" spc="45" dirty="0">
                <a:solidFill>
                  <a:prstClr val="black"/>
                </a:solidFill>
                <a:latin typeface="Cambria Math"/>
                <a:cs typeface="Cambria Math"/>
              </a:rPr>
              <a:t> </a:t>
            </a:r>
            <a:r>
              <a:rPr sz="1600" b="1" kern="1200" dirty="0">
                <a:solidFill>
                  <a:prstClr val="black"/>
                </a:solidFill>
                <a:latin typeface="Palatino Linotype"/>
                <a:cs typeface="Palatino Linotype"/>
              </a:rPr>
              <a:t>in</a:t>
            </a:r>
            <a:r>
              <a:rPr sz="1600" b="1" kern="1200" spc="-5" dirty="0">
                <a:solidFill>
                  <a:prstClr val="black"/>
                </a:solidFill>
                <a:latin typeface="Palatino Linotype"/>
                <a:cs typeface="Palatino Linotype"/>
              </a:rPr>
              <a:t> </a:t>
            </a:r>
            <a:r>
              <a:rPr sz="1600" b="1" kern="1200" spc="5" dirty="0">
                <a:solidFill>
                  <a:prstClr val="black"/>
                </a:solidFill>
                <a:latin typeface="Palatino Linotype"/>
                <a:cs typeface="Palatino Linotype"/>
              </a:rPr>
              <a:t>L</a:t>
            </a:r>
            <a:r>
              <a:rPr sz="1600" b="1" kern="1200" spc="-5" dirty="0">
                <a:solidFill>
                  <a:prstClr val="black"/>
                </a:solidFill>
                <a:latin typeface="Palatino Linotype"/>
                <a:cs typeface="Palatino Linotype"/>
              </a:rPr>
              <a:t>R</a:t>
            </a:r>
            <a:r>
              <a:rPr sz="1600" b="1" kern="1200" dirty="0">
                <a:solidFill>
                  <a:prstClr val="black"/>
                </a:solidFill>
                <a:latin typeface="Palatino Linotype"/>
                <a:cs typeface="Palatino Linotype"/>
              </a:rPr>
              <a:t>(0) item sets:</a:t>
            </a:r>
            <a:endParaRPr sz="1600" kern="1200" dirty="0">
              <a:solidFill>
                <a:prstClr val="black"/>
              </a:solidFill>
              <a:latin typeface="Palatino Linotype"/>
              <a:cs typeface="Palatino Linotype"/>
            </a:endParaRPr>
          </a:p>
          <a:p>
            <a:pPr marL="90805" rtl="0">
              <a:spcBef>
                <a:spcPts val="985"/>
              </a:spcBef>
            </a:pPr>
            <a:r>
              <a:rPr sz="1600" kern="1200" spc="-5" dirty="0">
                <a:solidFill>
                  <a:prstClr val="black"/>
                </a:solidFill>
                <a:latin typeface="Palatino Linotype"/>
                <a:cs typeface="Palatino Linotype"/>
              </a:rPr>
              <a:t>The</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closure</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of</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set </a:t>
            </a:r>
            <a:r>
              <a:rPr sz="1600" kern="1200" dirty="0">
                <a:solidFill>
                  <a:prstClr val="black"/>
                </a:solidFill>
                <a:latin typeface="Palatino Linotype"/>
                <a:cs typeface="Palatino Linotype"/>
              </a:rPr>
              <a:t>of</a:t>
            </a:r>
            <a:r>
              <a:rPr sz="1600" kern="1200" spc="-5" dirty="0">
                <a:solidFill>
                  <a:prstClr val="black"/>
                </a:solidFill>
                <a:latin typeface="Palatino Linotype"/>
                <a:cs typeface="Palatino Linotype"/>
              </a:rPr>
              <a:t> all</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items</a:t>
            </a:r>
            <a:endParaRPr sz="1600" kern="1200" dirty="0">
              <a:solidFill>
                <a:prstClr val="black"/>
              </a:solidFill>
              <a:latin typeface="Palatino Linotype"/>
              <a:cs typeface="Palatino Linotype"/>
            </a:endParaRPr>
          </a:p>
          <a:p>
            <a:pPr marL="162560" rtl="0">
              <a:spcBef>
                <a:spcPts val="385"/>
              </a:spcBef>
              <a:tabLst>
                <a:tab pos="1233805" algn="l"/>
              </a:tabLst>
            </a:pPr>
            <a:r>
              <a:rPr sz="1600" kern="1200" dirty="0">
                <a:solidFill>
                  <a:prstClr val="black"/>
                </a:solidFill>
                <a:latin typeface="Cambria Math"/>
                <a:cs typeface="Cambria Math"/>
              </a:rPr>
              <a:t>𝐴</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𝛼𝑋</a:t>
            </a:r>
            <a:r>
              <a:rPr lang="en-US" altLang="zh-CN" sz="1600" kern="1200" spc="45" dirty="0">
                <a:solidFill>
                  <a:prstClr val="black"/>
                </a:solidFill>
                <a:latin typeface="Cambria Math"/>
                <a:cs typeface="Cambria Math"/>
              </a:rPr>
              <a:t>·</a:t>
            </a:r>
            <a:r>
              <a:rPr sz="1600" kern="1200" dirty="0">
                <a:solidFill>
                  <a:prstClr val="black"/>
                </a:solidFill>
                <a:latin typeface="Cambria Math"/>
                <a:cs typeface="Cambria Math"/>
              </a:rPr>
              <a:t>𝛽	</a:t>
            </a:r>
            <a:r>
              <a:rPr sz="1600" kern="1200" spc="-5" dirty="0">
                <a:solidFill>
                  <a:prstClr val="black"/>
                </a:solidFill>
                <a:latin typeface="Palatino Linotype"/>
                <a:cs typeface="Palatino Linotype"/>
              </a:rPr>
              <a:t>su</a:t>
            </a:r>
            <a:r>
              <a:rPr sz="1600" kern="1200" dirty="0">
                <a:solidFill>
                  <a:prstClr val="black"/>
                </a:solidFill>
                <a:latin typeface="Palatino Linotype"/>
                <a:cs typeface="Palatino Linotype"/>
              </a:rPr>
              <a:t>ch</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a:t>
            </a:r>
            <a:r>
              <a:rPr sz="1600" kern="1200" spc="5" dirty="0">
                <a:solidFill>
                  <a:prstClr val="black"/>
                </a:solidFill>
                <a:latin typeface="Palatino Linotype"/>
                <a:cs typeface="Palatino Linotype"/>
              </a:rPr>
              <a:t>h</a:t>
            </a:r>
            <a:r>
              <a:rPr sz="1600" kern="1200" dirty="0">
                <a:solidFill>
                  <a:prstClr val="black"/>
                </a:solidFill>
                <a:latin typeface="Palatino Linotype"/>
                <a:cs typeface="Palatino Linotype"/>
              </a:rPr>
              <a:t>at </a:t>
            </a:r>
            <a:r>
              <a:rPr sz="1600" kern="1200" dirty="0">
                <a:solidFill>
                  <a:prstClr val="black"/>
                </a:solidFill>
                <a:latin typeface="Cambria Math"/>
                <a:cs typeface="Cambria Math"/>
              </a:rPr>
              <a:t>[𝐴</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𝛼</a:t>
            </a:r>
            <a:r>
              <a:rPr sz="1600" kern="1200" spc="50" dirty="0">
                <a:solidFill>
                  <a:prstClr val="black"/>
                </a:solidFill>
                <a:latin typeface="Cambria Math"/>
                <a:cs typeface="Cambria Math"/>
              </a:rPr>
              <a:t> </a:t>
            </a:r>
            <a:r>
              <a:rPr lang="en-US" altLang="zh-CN" sz="1600" kern="1200" spc="45" dirty="0">
                <a:solidFill>
                  <a:prstClr val="black"/>
                </a:solidFill>
                <a:latin typeface="Cambria Math"/>
                <a:cs typeface="Cambria Math"/>
              </a:rPr>
              <a:t>·</a:t>
            </a:r>
            <a:r>
              <a:rPr sz="1600" kern="1200" dirty="0">
                <a:solidFill>
                  <a:prstClr val="black"/>
                </a:solidFill>
                <a:latin typeface="Cambria Math"/>
                <a:cs typeface="Cambria Math"/>
              </a:rPr>
              <a:t> </a:t>
            </a:r>
            <a:r>
              <a:rPr sz="1600" kern="1200" spc="5" dirty="0">
                <a:solidFill>
                  <a:prstClr val="black"/>
                </a:solidFill>
                <a:latin typeface="Cambria Math"/>
                <a:cs typeface="Cambria Math"/>
              </a:rPr>
              <a:t>𝑋</a:t>
            </a:r>
            <a:r>
              <a:rPr sz="1600" kern="1200" spc="50" dirty="0">
                <a:solidFill>
                  <a:prstClr val="black"/>
                </a:solidFill>
                <a:latin typeface="Cambria Math"/>
                <a:cs typeface="Cambria Math"/>
              </a:rPr>
              <a:t>𝛽</a:t>
            </a:r>
            <a:r>
              <a:rPr sz="1600" kern="1200" dirty="0">
                <a:solidFill>
                  <a:prstClr val="black"/>
                </a:solidFill>
                <a:latin typeface="Cambria Math"/>
                <a:cs typeface="Cambria Math"/>
              </a:rPr>
              <a:t>]</a:t>
            </a:r>
          </a:p>
          <a:p>
            <a:pPr marL="90805" rtl="0">
              <a:spcBef>
                <a:spcPts val="385"/>
              </a:spcBef>
            </a:pPr>
            <a:r>
              <a:rPr sz="1600" kern="1200" spc="-5" dirty="0">
                <a:solidFill>
                  <a:prstClr val="black"/>
                </a:solidFill>
                <a:latin typeface="Palatino Linotype"/>
                <a:cs typeface="Palatino Linotype"/>
              </a:rPr>
              <a:t>is</a:t>
            </a:r>
            <a:r>
              <a:rPr sz="1600" kern="1200" spc="-35" dirty="0">
                <a:solidFill>
                  <a:prstClr val="black"/>
                </a:solidFill>
                <a:latin typeface="Palatino Linotype"/>
                <a:cs typeface="Palatino Linotype"/>
              </a:rPr>
              <a:t> </a:t>
            </a:r>
            <a:r>
              <a:rPr sz="1600" kern="1200" spc="-5" dirty="0">
                <a:solidFill>
                  <a:prstClr val="black"/>
                </a:solidFill>
                <a:latin typeface="Palatino Linotype"/>
                <a:cs typeface="Palatino Linotype"/>
              </a:rPr>
              <a:t>in</a:t>
            </a:r>
            <a:r>
              <a:rPr sz="1600" kern="1200" spc="-20" dirty="0">
                <a:solidFill>
                  <a:prstClr val="black"/>
                </a:solidFill>
                <a:latin typeface="Palatino Linotype"/>
                <a:cs typeface="Palatino Linotype"/>
              </a:rPr>
              <a:t> </a:t>
            </a:r>
            <a:r>
              <a:rPr sz="1600" kern="1200" spc="25" dirty="0">
                <a:solidFill>
                  <a:prstClr val="black"/>
                </a:solidFill>
                <a:latin typeface="Cambria Math"/>
                <a:cs typeface="Cambria Math"/>
              </a:rPr>
              <a:t>𝐼</a:t>
            </a:r>
            <a:r>
              <a:rPr sz="1600" kern="1200" spc="25" dirty="0">
                <a:solidFill>
                  <a:prstClr val="black"/>
                </a:solidFill>
                <a:latin typeface="Palatino Linotype"/>
                <a:cs typeface="Palatino Linotype"/>
              </a:rPr>
              <a:t>.</a:t>
            </a:r>
            <a:endParaRPr sz="1600" kern="1200" dirty="0">
              <a:solidFill>
                <a:prstClr val="black"/>
              </a:solidFill>
              <a:latin typeface="Palatino Linotype"/>
              <a:cs typeface="Palatino Linotype"/>
            </a:endParaRPr>
          </a:p>
        </p:txBody>
      </p:sp>
      <p:grpSp>
        <p:nvGrpSpPr>
          <p:cNvPr id="21" name="object 8">
            <a:extLst>
              <a:ext uri="{FF2B5EF4-FFF2-40B4-BE49-F238E27FC236}">
                <a16:creationId xmlns:a16="http://schemas.microsoft.com/office/drawing/2014/main" id="{1BD3A131-58C0-E08D-DE60-E8D47441C3A5}"/>
              </a:ext>
            </a:extLst>
          </p:cNvPr>
          <p:cNvGrpSpPr/>
          <p:nvPr/>
        </p:nvGrpSpPr>
        <p:grpSpPr>
          <a:xfrm>
            <a:off x="953924" y="3030048"/>
            <a:ext cx="3771900" cy="1372870"/>
            <a:chOff x="953924" y="3030048"/>
            <a:chExt cx="3771900" cy="1372870"/>
          </a:xfrm>
        </p:grpSpPr>
        <p:pic>
          <p:nvPicPr>
            <p:cNvPr id="22" name="object 9">
              <a:extLst>
                <a:ext uri="{FF2B5EF4-FFF2-40B4-BE49-F238E27FC236}">
                  <a16:creationId xmlns:a16="http://schemas.microsoft.com/office/drawing/2014/main" id="{C37AD77A-52F1-A61F-8750-194B18CC66AB}"/>
                </a:ext>
              </a:extLst>
            </p:cNvPr>
            <p:cNvPicPr/>
            <p:nvPr/>
          </p:nvPicPr>
          <p:blipFill>
            <a:blip r:embed="rId3" cstate="print"/>
            <a:stretch>
              <a:fillRect/>
            </a:stretch>
          </p:blipFill>
          <p:spPr>
            <a:xfrm>
              <a:off x="1030675" y="3085410"/>
              <a:ext cx="3593588" cy="1255922"/>
            </a:xfrm>
            <a:prstGeom prst="rect">
              <a:avLst/>
            </a:prstGeom>
          </p:spPr>
        </p:pic>
        <p:sp>
          <p:nvSpPr>
            <p:cNvPr id="23" name="object 10">
              <a:extLst>
                <a:ext uri="{FF2B5EF4-FFF2-40B4-BE49-F238E27FC236}">
                  <a16:creationId xmlns:a16="http://schemas.microsoft.com/office/drawing/2014/main" id="{207A6516-2DC5-644B-8088-5B268BDE6A90}"/>
                </a:ext>
              </a:extLst>
            </p:cNvPr>
            <p:cNvSpPr/>
            <p:nvPr/>
          </p:nvSpPr>
          <p:spPr>
            <a:xfrm>
              <a:off x="958686" y="3034811"/>
              <a:ext cx="3762375" cy="1363345"/>
            </a:xfrm>
            <a:custGeom>
              <a:avLst/>
              <a:gdLst/>
              <a:ahLst/>
              <a:cxnLst/>
              <a:rect l="l" t="t" r="r" b="b"/>
              <a:pathLst>
                <a:path w="3762375" h="1363345">
                  <a:moveTo>
                    <a:pt x="0" y="0"/>
                  </a:moveTo>
                  <a:lnTo>
                    <a:pt x="3762014" y="0"/>
                  </a:lnTo>
                  <a:lnTo>
                    <a:pt x="3762014" y="1363232"/>
                  </a:lnTo>
                  <a:lnTo>
                    <a:pt x="0" y="1363232"/>
                  </a:lnTo>
                  <a:lnTo>
                    <a:pt x="0" y="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11">
              <a:extLst>
                <a:ext uri="{FF2B5EF4-FFF2-40B4-BE49-F238E27FC236}">
                  <a16:creationId xmlns:a16="http://schemas.microsoft.com/office/drawing/2014/main" id="{C2B64AA0-BB53-5DC3-09F1-D916B5F8BA17}"/>
                </a:ext>
              </a:extLst>
            </p:cNvPr>
            <p:cNvSpPr/>
            <p:nvPr/>
          </p:nvSpPr>
          <p:spPr>
            <a:xfrm>
              <a:off x="1394861" y="3486438"/>
              <a:ext cx="3288029" cy="433070"/>
            </a:xfrm>
            <a:custGeom>
              <a:avLst/>
              <a:gdLst/>
              <a:ahLst/>
              <a:cxnLst/>
              <a:rect l="l" t="t" r="r" b="b"/>
              <a:pathLst>
                <a:path w="3288029" h="433070">
                  <a:moveTo>
                    <a:pt x="0" y="0"/>
                  </a:moveTo>
                  <a:lnTo>
                    <a:pt x="3287417" y="0"/>
                  </a:lnTo>
                  <a:lnTo>
                    <a:pt x="3287417" y="433076"/>
                  </a:lnTo>
                  <a:lnTo>
                    <a:pt x="0" y="433076"/>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429287327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138</a:t>
            </a:fld>
            <a:endParaRPr lang="en-US"/>
          </a:p>
        </p:txBody>
      </p:sp>
      <p:sp>
        <p:nvSpPr>
          <p:cNvPr id="19" name="object 2">
            <a:extLst>
              <a:ext uri="{FF2B5EF4-FFF2-40B4-BE49-F238E27FC236}">
                <a16:creationId xmlns:a16="http://schemas.microsoft.com/office/drawing/2014/main" id="{3FB927B3-494B-76A9-DA42-26B293758AD8}"/>
              </a:ext>
            </a:extLst>
          </p:cNvPr>
          <p:cNvSpPr txBox="1">
            <a:spLocks/>
          </p:cNvSpPr>
          <p:nvPr/>
        </p:nvSpPr>
        <p:spPr>
          <a:xfrm>
            <a:off x="707390" y="524763"/>
            <a:ext cx="74434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Constructing LR(1)</a:t>
            </a:r>
            <a:r>
              <a:rPr kumimoji="0" lang="en-US" sz="4000" b="1" i="0" u="none" strike="noStrike" kern="0" cap="none" spc="0" normalizeH="0" baseline="0" noProof="0">
                <a:ln>
                  <a:noFill/>
                </a:ln>
                <a:solidFill>
                  <a:sysClr val="windowText" lastClr="000000"/>
                </a:solidFill>
                <a:effectLst/>
                <a:uLnTx/>
                <a:uFillTx/>
                <a:latin typeface="Palatino Linotype"/>
                <a:ea typeface="+mj-ea"/>
              </a:rPr>
              <a:t> Item </a:t>
            </a:r>
            <a:r>
              <a:rPr kumimoji="0" lang="en-US" sz="4000" b="1" i="0" u="none" strike="noStrike" kern="0" cap="none" spc="-5" normalizeH="0" baseline="0" noProof="0">
                <a:ln>
                  <a:noFill/>
                </a:ln>
                <a:solidFill>
                  <a:sysClr val="windowText" lastClr="000000"/>
                </a:solidFill>
                <a:effectLst/>
                <a:uLnTx/>
                <a:uFillTx/>
                <a:latin typeface="Palatino Linotype"/>
                <a:ea typeface="+mj-ea"/>
              </a:rPr>
              <a:t>Sets </a:t>
            </a:r>
            <a:r>
              <a:rPr kumimoji="0" lang="en-US" sz="4000" b="1" i="0" u="none" strike="noStrike" kern="0" cap="none" spc="0" normalizeH="0" baseline="0" noProof="0">
                <a:ln>
                  <a:noFill/>
                </a:ln>
                <a:solidFill>
                  <a:sysClr val="windowText" lastClr="000000"/>
                </a:solidFill>
                <a:effectLst/>
                <a:uLnTx/>
                <a:uFillTx/>
                <a:latin typeface="Palatino Linotype"/>
                <a:ea typeface="+mj-ea"/>
              </a:rPr>
              <a:t>(3)</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pic>
        <p:nvPicPr>
          <p:cNvPr id="20" name="object 3">
            <a:extLst>
              <a:ext uri="{FF2B5EF4-FFF2-40B4-BE49-F238E27FC236}">
                <a16:creationId xmlns:a16="http://schemas.microsoft.com/office/drawing/2014/main" id="{E663FB90-BF25-FEBB-9621-C3BE5A3181B6}"/>
              </a:ext>
            </a:extLst>
          </p:cNvPr>
          <p:cNvPicPr/>
          <p:nvPr/>
        </p:nvPicPr>
        <p:blipFill>
          <a:blip r:embed="rId2" cstate="print"/>
          <a:stretch>
            <a:fillRect/>
          </a:stretch>
        </p:blipFill>
        <p:spPr>
          <a:xfrm>
            <a:off x="1036115" y="1632931"/>
            <a:ext cx="5202293" cy="1809493"/>
          </a:xfrm>
          <a:prstGeom prst="rect">
            <a:avLst/>
          </a:prstGeom>
        </p:spPr>
      </p:pic>
      <p:sp>
        <p:nvSpPr>
          <p:cNvPr id="21" name="object 4">
            <a:extLst>
              <a:ext uri="{FF2B5EF4-FFF2-40B4-BE49-F238E27FC236}">
                <a16:creationId xmlns:a16="http://schemas.microsoft.com/office/drawing/2014/main" id="{832FCC6B-66D8-3FF6-AE66-8D8594882263}"/>
              </a:ext>
            </a:extLst>
          </p:cNvPr>
          <p:cNvSpPr txBox="1"/>
          <p:nvPr/>
        </p:nvSpPr>
        <p:spPr>
          <a:xfrm>
            <a:off x="863974" y="1564836"/>
            <a:ext cx="5610225" cy="1995805"/>
          </a:xfrm>
          <a:prstGeom prst="rect">
            <a:avLst/>
          </a:prstGeom>
          <a:ln w="9525">
            <a:solidFill>
              <a:srgbClr val="000000"/>
            </a:solidFill>
          </a:ln>
        </p:spPr>
        <p:txBody>
          <a:bodyPr vert="horz" wrap="square" lIns="0" tIns="196850" rIns="0" bIns="0" rtlCol="0">
            <a:spAutoFit/>
          </a:bodyPr>
          <a:lstStyle/>
          <a:p>
            <a:pPr marL="949325" rtl="0">
              <a:spcBef>
                <a:spcPts val="1550"/>
              </a:spcBef>
              <a:tabLst>
                <a:tab pos="2682240" algn="l"/>
              </a:tabLst>
            </a:pPr>
            <a:r>
              <a:rPr u="heavy" kern="1200" dirty="0">
                <a:solidFill>
                  <a:prstClr val="black"/>
                </a:solidFill>
                <a:uFill>
                  <a:solidFill>
                    <a:srgbClr val="0432FF"/>
                  </a:solidFill>
                </a:uFill>
                <a:latin typeface="Cambria Math"/>
                <a:cs typeface="Cambria Math"/>
              </a:rPr>
              <a:t>{	</a:t>
            </a:r>
            <a:endParaRPr kern="1200">
              <a:solidFill>
                <a:prstClr val="black"/>
              </a:solidFill>
              <a:latin typeface="Cambria Math"/>
              <a:cs typeface="Cambria Math"/>
            </a:endParaRPr>
          </a:p>
        </p:txBody>
      </p:sp>
      <p:pic>
        <p:nvPicPr>
          <p:cNvPr id="23" name="object 6">
            <a:extLst>
              <a:ext uri="{FF2B5EF4-FFF2-40B4-BE49-F238E27FC236}">
                <a16:creationId xmlns:a16="http://schemas.microsoft.com/office/drawing/2014/main" id="{7585293E-6DB6-F4B1-1CB9-B70D302F5DB4}"/>
              </a:ext>
            </a:extLst>
          </p:cNvPr>
          <p:cNvPicPr/>
          <p:nvPr/>
        </p:nvPicPr>
        <p:blipFill>
          <a:blip r:embed="rId3" cstate="print"/>
          <a:stretch>
            <a:fillRect/>
          </a:stretch>
        </p:blipFill>
        <p:spPr>
          <a:xfrm>
            <a:off x="967621" y="3888236"/>
            <a:ext cx="5405611" cy="1854807"/>
          </a:xfrm>
          <a:prstGeom prst="rect">
            <a:avLst/>
          </a:prstGeom>
        </p:spPr>
      </p:pic>
      <p:sp>
        <p:nvSpPr>
          <p:cNvPr id="24" name="object 7">
            <a:extLst>
              <a:ext uri="{FF2B5EF4-FFF2-40B4-BE49-F238E27FC236}">
                <a16:creationId xmlns:a16="http://schemas.microsoft.com/office/drawing/2014/main" id="{3BA5DDB7-7E7D-2CEC-B54E-23C2877F5237}"/>
              </a:ext>
            </a:extLst>
          </p:cNvPr>
          <p:cNvSpPr txBox="1"/>
          <p:nvPr/>
        </p:nvSpPr>
        <p:spPr>
          <a:xfrm>
            <a:off x="863975" y="3871488"/>
            <a:ext cx="5610225" cy="1969770"/>
          </a:xfrm>
          <a:prstGeom prst="rect">
            <a:avLst/>
          </a:prstGeom>
          <a:ln w="9525">
            <a:solidFill>
              <a:srgbClr val="000000"/>
            </a:solidFill>
          </a:ln>
        </p:spPr>
        <p:txBody>
          <a:bodyPr vert="horz" wrap="square" lIns="0" tIns="151765" rIns="0" bIns="0" rtlCol="0">
            <a:spAutoFit/>
          </a:bodyPr>
          <a:lstStyle/>
          <a:p>
            <a:pPr marL="1666875" rtl="0">
              <a:spcBef>
                <a:spcPts val="1195"/>
              </a:spcBef>
            </a:pPr>
            <a:r>
              <a:rPr kern="1200" dirty="0">
                <a:solidFill>
                  <a:prstClr val="black"/>
                </a:solidFill>
                <a:latin typeface="Cambria Math"/>
                <a:cs typeface="Cambria Math"/>
              </a:rPr>
              <a:t>{</a:t>
            </a:r>
            <a:endParaRPr kern="1200">
              <a:solidFill>
                <a:prstClr val="black"/>
              </a:solidFill>
              <a:latin typeface="Cambria Math"/>
              <a:cs typeface="Cambria Math"/>
            </a:endParaRPr>
          </a:p>
        </p:txBody>
      </p:sp>
      <p:sp>
        <p:nvSpPr>
          <p:cNvPr id="25" name="object 8">
            <a:extLst>
              <a:ext uri="{FF2B5EF4-FFF2-40B4-BE49-F238E27FC236}">
                <a16:creationId xmlns:a16="http://schemas.microsoft.com/office/drawing/2014/main" id="{CF9509D2-4ECF-F733-5BA7-859B79BB6CA1}"/>
              </a:ext>
            </a:extLst>
          </p:cNvPr>
          <p:cNvSpPr txBox="1"/>
          <p:nvPr/>
        </p:nvSpPr>
        <p:spPr>
          <a:xfrm>
            <a:off x="4456733" y="4050803"/>
            <a:ext cx="203835" cy="277495"/>
          </a:xfrm>
          <a:prstGeom prst="rect">
            <a:avLst/>
          </a:prstGeom>
          <a:solidFill>
            <a:srgbClr val="FFFFFF"/>
          </a:solidFill>
        </p:spPr>
        <p:txBody>
          <a:bodyPr vert="horz" wrap="square" lIns="0" tIns="0" rIns="0" bIns="0" rtlCol="0">
            <a:spAutoFit/>
          </a:bodyPr>
          <a:lstStyle/>
          <a:p>
            <a:pPr marL="26670" rtl="0">
              <a:lnSpc>
                <a:spcPts val="2065"/>
              </a:lnSpc>
            </a:pPr>
            <a:r>
              <a:rPr kern="1200" dirty="0">
                <a:solidFill>
                  <a:prstClr val="black"/>
                </a:solidFill>
                <a:latin typeface="Cambria Math"/>
                <a:cs typeface="Cambria Math"/>
              </a:rPr>
              <a:t>};</a:t>
            </a:r>
            <a:endParaRPr kern="1200">
              <a:solidFill>
                <a:prstClr val="black"/>
              </a:solidFill>
              <a:latin typeface="Cambria Math"/>
              <a:cs typeface="Cambria Math"/>
            </a:endParaRPr>
          </a:p>
        </p:txBody>
      </p:sp>
      <p:sp>
        <p:nvSpPr>
          <p:cNvPr id="26" name="object 9">
            <a:extLst>
              <a:ext uri="{FF2B5EF4-FFF2-40B4-BE49-F238E27FC236}">
                <a16:creationId xmlns:a16="http://schemas.microsoft.com/office/drawing/2014/main" id="{D8316C78-A3FC-E21F-8D33-B749E48A5C97}"/>
              </a:ext>
            </a:extLst>
          </p:cNvPr>
          <p:cNvSpPr/>
          <p:nvPr/>
        </p:nvSpPr>
        <p:spPr>
          <a:xfrm>
            <a:off x="2595880" y="4328298"/>
            <a:ext cx="1976120" cy="0"/>
          </a:xfrm>
          <a:custGeom>
            <a:avLst/>
            <a:gdLst/>
            <a:ahLst/>
            <a:cxnLst/>
            <a:rect l="l" t="t" r="r" b="b"/>
            <a:pathLst>
              <a:path w="1976120">
                <a:moveTo>
                  <a:pt x="0" y="0"/>
                </a:moveTo>
                <a:lnTo>
                  <a:pt x="1975839" y="1"/>
                </a:lnTo>
              </a:path>
            </a:pathLst>
          </a:custGeom>
          <a:ln w="1905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endParaRPr>
          </a:p>
        </p:txBody>
      </p:sp>
      <p:grpSp>
        <p:nvGrpSpPr>
          <p:cNvPr id="27" name="object 10">
            <a:extLst>
              <a:ext uri="{FF2B5EF4-FFF2-40B4-BE49-F238E27FC236}">
                <a16:creationId xmlns:a16="http://schemas.microsoft.com/office/drawing/2014/main" id="{B287B443-E0A3-91EF-5128-D1B1010F799D}"/>
              </a:ext>
            </a:extLst>
          </p:cNvPr>
          <p:cNvGrpSpPr/>
          <p:nvPr/>
        </p:nvGrpSpPr>
        <p:grpSpPr>
          <a:xfrm>
            <a:off x="6840163" y="2594405"/>
            <a:ext cx="977900" cy="2279650"/>
            <a:chOff x="6840163" y="2594405"/>
            <a:chExt cx="977900" cy="2279650"/>
          </a:xfrm>
        </p:grpSpPr>
        <p:sp>
          <p:nvSpPr>
            <p:cNvPr id="28" name="object 11">
              <a:extLst>
                <a:ext uri="{FF2B5EF4-FFF2-40B4-BE49-F238E27FC236}">
                  <a16:creationId xmlns:a16="http://schemas.microsoft.com/office/drawing/2014/main" id="{F3C195FE-5532-7BBB-7B34-E0911C409650}"/>
                </a:ext>
              </a:extLst>
            </p:cNvPr>
            <p:cNvSpPr/>
            <p:nvPr/>
          </p:nvSpPr>
          <p:spPr>
            <a:xfrm>
              <a:off x="6846513" y="3689191"/>
              <a:ext cx="965200" cy="1178560"/>
            </a:xfrm>
            <a:custGeom>
              <a:avLst/>
              <a:gdLst/>
              <a:ahLst/>
              <a:cxnLst/>
              <a:rect l="l" t="t" r="r" b="b"/>
              <a:pathLst>
                <a:path w="965200" h="1178560">
                  <a:moveTo>
                    <a:pt x="957421" y="0"/>
                  </a:moveTo>
                  <a:lnTo>
                    <a:pt x="950046" y="48832"/>
                  </a:lnTo>
                  <a:lnTo>
                    <a:pt x="940287" y="96867"/>
                  </a:lnTo>
                  <a:lnTo>
                    <a:pt x="928202" y="144039"/>
                  </a:lnTo>
                  <a:lnTo>
                    <a:pt x="913850" y="190280"/>
                  </a:lnTo>
                  <a:lnTo>
                    <a:pt x="897290" y="235523"/>
                  </a:lnTo>
                  <a:lnTo>
                    <a:pt x="878580" y="279702"/>
                  </a:lnTo>
                  <a:lnTo>
                    <a:pt x="857779" y="322748"/>
                  </a:lnTo>
                  <a:lnTo>
                    <a:pt x="834947" y="364596"/>
                  </a:lnTo>
                  <a:lnTo>
                    <a:pt x="810141" y="405179"/>
                  </a:lnTo>
                  <a:lnTo>
                    <a:pt x="783421" y="444428"/>
                  </a:lnTo>
                  <a:lnTo>
                    <a:pt x="754845" y="482278"/>
                  </a:lnTo>
                  <a:lnTo>
                    <a:pt x="724473" y="518661"/>
                  </a:lnTo>
                  <a:lnTo>
                    <a:pt x="692362" y="553511"/>
                  </a:lnTo>
                  <a:lnTo>
                    <a:pt x="658572" y="586759"/>
                  </a:lnTo>
                  <a:lnTo>
                    <a:pt x="623161" y="618340"/>
                  </a:lnTo>
                  <a:lnTo>
                    <a:pt x="586188" y="648187"/>
                  </a:lnTo>
                  <a:lnTo>
                    <a:pt x="547713" y="676231"/>
                  </a:lnTo>
                  <a:lnTo>
                    <a:pt x="507793" y="702407"/>
                  </a:lnTo>
                  <a:lnTo>
                    <a:pt x="466488" y="726647"/>
                  </a:lnTo>
                  <a:lnTo>
                    <a:pt x="423856" y="748884"/>
                  </a:lnTo>
                  <a:lnTo>
                    <a:pt x="379956" y="769052"/>
                  </a:lnTo>
                  <a:lnTo>
                    <a:pt x="334847" y="787082"/>
                  </a:lnTo>
                  <a:lnTo>
                    <a:pt x="288587" y="802910"/>
                  </a:lnTo>
                  <a:lnTo>
                    <a:pt x="241236" y="816466"/>
                  </a:lnTo>
                  <a:lnTo>
                    <a:pt x="241236" y="695848"/>
                  </a:lnTo>
                  <a:lnTo>
                    <a:pt x="0" y="967814"/>
                  </a:lnTo>
                  <a:lnTo>
                    <a:pt x="241236" y="1178319"/>
                  </a:lnTo>
                  <a:lnTo>
                    <a:pt x="241236" y="1057701"/>
                  </a:lnTo>
                  <a:lnTo>
                    <a:pt x="287683" y="1044437"/>
                  </a:lnTo>
                  <a:lnTo>
                    <a:pt x="332997" y="1029032"/>
                  </a:lnTo>
                  <a:lnTo>
                    <a:pt x="377130" y="1011552"/>
                  </a:lnTo>
                  <a:lnTo>
                    <a:pt x="420040" y="992065"/>
                  </a:lnTo>
                  <a:lnTo>
                    <a:pt x="461679" y="970637"/>
                  </a:lnTo>
                  <a:lnTo>
                    <a:pt x="502003" y="947336"/>
                  </a:lnTo>
                  <a:lnTo>
                    <a:pt x="540967" y="922228"/>
                  </a:lnTo>
                  <a:lnTo>
                    <a:pt x="578525" y="895380"/>
                  </a:lnTo>
                  <a:lnTo>
                    <a:pt x="614632" y="866860"/>
                  </a:lnTo>
                  <a:lnTo>
                    <a:pt x="649242" y="836733"/>
                  </a:lnTo>
                  <a:lnTo>
                    <a:pt x="682310" y="805068"/>
                  </a:lnTo>
                  <a:lnTo>
                    <a:pt x="713792" y="771930"/>
                  </a:lnTo>
                  <a:lnTo>
                    <a:pt x="743641" y="737387"/>
                  </a:lnTo>
                  <a:lnTo>
                    <a:pt x="771812" y="701506"/>
                  </a:lnTo>
                  <a:lnTo>
                    <a:pt x="798261" y="664353"/>
                  </a:lnTo>
                  <a:lnTo>
                    <a:pt x="822941" y="625996"/>
                  </a:lnTo>
                  <a:lnTo>
                    <a:pt x="845808" y="586502"/>
                  </a:lnTo>
                  <a:lnTo>
                    <a:pt x="866815" y="545937"/>
                  </a:lnTo>
                  <a:lnTo>
                    <a:pt x="885919" y="504368"/>
                  </a:lnTo>
                  <a:lnTo>
                    <a:pt x="903073" y="461862"/>
                  </a:lnTo>
                  <a:lnTo>
                    <a:pt x="918232" y="418486"/>
                  </a:lnTo>
                  <a:lnTo>
                    <a:pt x="931351" y="374307"/>
                  </a:lnTo>
                  <a:lnTo>
                    <a:pt x="942384" y="329393"/>
                  </a:lnTo>
                  <a:lnTo>
                    <a:pt x="951287" y="283809"/>
                  </a:lnTo>
                  <a:lnTo>
                    <a:pt x="958014" y="237622"/>
                  </a:lnTo>
                  <a:lnTo>
                    <a:pt x="962519" y="190901"/>
                  </a:lnTo>
                  <a:lnTo>
                    <a:pt x="964758" y="143711"/>
                  </a:lnTo>
                  <a:lnTo>
                    <a:pt x="964684" y="96119"/>
                  </a:lnTo>
                  <a:lnTo>
                    <a:pt x="962254" y="48193"/>
                  </a:lnTo>
                  <a:lnTo>
                    <a:pt x="957421" y="0"/>
                  </a:lnTo>
                  <a:close/>
                </a:path>
              </a:pathLst>
            </a:custGeom>
            <a:solidFill>
              <a:srgbClr val="4472C4"/>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9" name="object 12">
              <a:extLst>
                <a:ext uri="{FF2B5EF4-FFF2-40B4-BE49-F238E27FC236}">
                  <a16:creationId xmlns:a16="http://schemas.microsoft.com/office/drawing/2014/main" id="{08E4F14C-7391-9349-AD94-3B50F1981A1E}"/>
                </a:ext>
              </a:extLst>
            </p:cNvPr>
            <p:cNvSpPr/>
            <p:nvPr/>
          </p:nvSpPr>
          <p:spPr>
            <a:xfrm>
              <a:off x="6846513" y="2600755"/>
              <a:ext cx="965200" cy="1209675"/>
            </a:xfrm>
            <a:custGeom>
              <a:avLst/>
              <a:gdLst/>
              <a:ahLst/>
              <a:cxnLst/>
              <a:rect l="l" t="t" r="r" b="b"/>
              <a:pathLst>
                <a:path w="965200" h="1209675">
                  <a:moveTo>
                    <a:pt x="0" y="0"/>
                  </a:moveTo>
                  <a:lnTo>
                    <a:pt x="0" y="241236"/>
                  </a:lnTo>
                  <a:lnTo>
                    <a:pt x="48160" y="242420"/>
                  </a:lnTo>
                  <a:lnTo>
                    <a:pt x="95709" y="245937"/>
                  </a:lnTo>
                  <a:lnTo>
                    <a:pt x="142592" y="251730"/>
                  </a:lnTo>
                  <a:lnTo>
                    <a:pt x="188753" y="259743"/>
                  </a:lnTo>
                  <a:lnTo>
                    <a:pt x="234137" y="269923"/>
                  </a:lnTo>
                  <a:lnTo>
                    <a:pt x="278688" y="282212"/>
                  </a:lnTo>
                  <a:lnTo>
                    <a:pt x="322352" y="296557"/>
                  </a:lnTo>
                  <a:lnTo>
                    <a:pt x="365073" y="312900"/>
                  </a:lnTo>
                  <a:lnTo>
                    <a:pt x="406796" y="331187"/>
                  </a:lnTo>
                  <a:lnTo>
                    <a:pt x="447465" y="351363"/>
                  </a:lnTo>
                  <a:lnTo>
                    <a:pt x="487025" y="373371"/>
                  </a:lnTo>
                  <a:lnTo>
                    <a:pt x="525422" y="397157"/>
                  </a:lnTo>
                  <a:lnTo>
                    <a:pt x="562599" y="422665"/>
                  </a:lnTo>
                  <a:lnTo>
                    <a:pt x="598501" y="449840"/>
                  </a:lnTo>
                  <a:lnTo>
                    <a:pt x="633074" y="478625"/>
                  </a:lnTo>
                  <a:lnTo>
                    <a:pt x="666261" y="508966"/>
                  </a:lnTo>
                  <a:lnTo>
                    <a:pt x="698008" y="540808"/>
                  </a:lnTo>
                  <a:lnTo>
                    <a:pt x="728259" y="574094"/>
                  </a:lnTo>
                  <a:lnTo>
                    <a:pt x="756960" y="608769"/>
                  </a:lnTo>
                  <a:lnTo>
                    <a:pt x="784053" y="644778"/>
                  </a:lnTo>
                  <a:lnTo>
                    <a:pt x="809486" y="682066"/>
                  </a:lnTo>
                  <a:lnTo>
                    <a:pt x="833201" y="720577"/>
                  </a:lnTo>
                  <a:lnTo>
                    <a:pt x="855144" y="760255"/>
                  </a:lnTo>
                  <a:lnTo>
                    <a:pt x="875260" y="801045"/>
                  </a:lnTo>
                  <a:lnTo>
                    <a:pt x="893493" y="842892"/>
                  </a:lnTo>
                  <a:lnTo>
                    <a:pt x="909788" y="885740"/>
                  </a:lnTo>
                  <a:lnTo>
                    <a:pt x="924089" y="929534"/>
                  </a:lnTo>
                  <a:lnTo>
                    <a:pt x="936342" y="974218"/>
                  </a:lnTo>
                  <a:lnTo>
                    <a:pt x="946492" y="1019737"/>
                  </a:lnTo>
                  <a:lnTo>
                    <a:pt x="954482" y="1066035"/>
                  </a:lnTo>
                  <a:lnTo>
                    <a:pt x="960257" y="1113058"/>
                  </a:lnTo>
                  <a:lnTo>
                    <a:pt x="963763" y="1160748"/>
                  </a:lnTo>
                  <a:lnTo>
                    <a:pt x="964944" y="1209052"/>
                  </a:lnTo>
                  <a:lnTo>
                    <a:pt x="964944" y="967816"/>
                  </a:lnTo>
                  <a:lnTo>
                    <a:pt x="963763" y="919512"/>
                  </a:lnTo>
                  <a:lnTo>
                    <a:pt x="960257" y="871821"/>
                  </a:lnTo>
                  <a:lnTo>
                    <a:pt x="954482" y="824799"/>
                  </a:lnTo>
                  <a:lnTo>
                    <a:pt x="946492" y="778501"/>
                  </a:lnTo>
                  <a:lnTo>
                    <a:pt x="936342" y="732982"/>
                  </a:lnTo>
                  <a:lnTo>
                    <a:pt x="924089" y="688298"/>
                  </a:lnTo>
                  <a:lnTo>
                    <a:pt x="909788" y="644504"/>
                  </a:lnTo>
                  <a:lnTo>
                    <a:pt x="893493" y="601656"/>
                  </a:lnTo>
                  <a:lnTo>
                    <a:pt x="875260" y="559809"/>
                  </a:lnTo>
                  <a:lnTo>
                    <a:pt x="855144" y="519019"/>
                  </a:lnTo>
                  <a:lnTo>
                    <a:pt x="833201" y="479340"/>
                  </a:lnTo>
                  <a:lnTo>
                    <a:pt x="809486" y="440830"/>
                  </a:lnTo>
                  <a:lnTo>
                    <a:pt x="784053" y="403542"/>
                  </a:lnTo>
                  <a:lnTo>
                    <a:pt x="756960" y="367533"/>
                  </a:lnTo>
                  <a:lnTo>
                    <a:pt x="728259" y="332857"/>
                  </a:lnTo>
                  <a:lnTo>
                    <a:pt x="698008" y="299571"/>
                  </a:lnTo>
                  <a:lnTo>
                    <a:pt x="666261" y="267730"/>
                  </a:lnTo>
                  <a:lnTo>
                    <a:pt x="633074" y="237389"/>
                  </a:lnTo>
                  <a:lnTo>
                    <a:pt x="598501" y="208603"/>
                  </a:lnTo>
                  <a:lnTo>
                    <a:pt x="562599" y="181429"/>
                  </a:lnTo>
                  <a:lnTo>
                    <a:pt x="525422" y="155921"/>
                  </a:lnTo>
                  <a:lnTo>
                    <a:pt x="487025" y="132135"/>
                  </a:lnTo>
                  <a:lnTo>
                    <a:pt x="447465" y="110126"/>
                  </a:lnTo>
                  <a:lnTo>
                    <a:pt x="406796" y="89951"/>
                  </a:lnTo>
                  <a:lnTo>
                    <a:pt x="365073" y="71664"/>
                  </a:lnTo>
                  <a:lnTo>
                    <a:pt x="322352" y="55320"/>
                  </a:lnTo>
                  <a:lnTo>
                    <a:pt x="278688" y="40976"/>
                  </a:lnTo>
                  <a:lnTo>
                    <a:pt x="234137" y="28686"/>
                  </a:lnTo>
                  <a:lnTo>
                    <a:pt x="188753" y="18507"/>
                  </a:lnTo>
                  <a:lnTo>
                    <a:pt x="142592" y="10493"/>
                  </a:lnTo>
                  <a:lnTo>
                    <a:pt x="95709" y="4700"/>
                  </a:lnTo>
                  <a:lnTo>
                    <a:pt x="48160" y="1184"/>
                  </a:lnTo>
                  <a:lnTo>
                    <a:pt x="0" y="0"/>
                  </a:lnTo>
                  <a:close/>
                </a:path>
              </a:pathLst>
            </a:custGeom>
            <a:solidFill>
              <a:srgbClr val="375C9E"/>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13">
              <a:extLst>
                <a:ext uri="{FF2B5EF4-FFF2-40B4-BE49-F238E27FC236}">
                  <a16:creationId xmlns:a16="http://schemas.microsoft.com/office/drawing/2014/main" id="{22EF7308-518A-C9A1-FAD6-C2F476B06AD8}"/>
                </a:ext>
              </a:extLst>
            </p:cNvPr>
            <p:cNvSpPr/>
            <p:nvPr/>
          </p:nvSpPr>
          <p:spPr>
            <a:xfrm>
              <a:off x="6846513" y="2600755"/>
              <a:ext cx="965200" cy="2266950"/>
            </a:xfrm>
            <a:custGeom>
              <a:avLst/>
              <a:gdLst/>
              <a:ahLst/>
              <a:cxnLst/>
              <a:rect l="l" t="t" r="r" b="b"/>
              <a:pathLst>
                <a:path w="965200" h="2266950">
                  <a:moveTo>
                    <a:pt x="964945" y="1209053"/>
                  </a:moveTo>
                  <a:lnTo>
                    <a:pt x="963764" y="1160749"/>
                  </a:lnTo>
                  <a:lnTo>
                    <a:pt x="960258" y="1113058"/>
                  </a:lnTo>
                  <a:lnTo>
                    <a:pt x="954482" y="1066036"/>
                  </a:lnTo>
                  <a:lnTo>
                    <a:pt x="946492" y="1019737"/>
                  </a:lnTo>
                  <a:lnTo>
                    <a:pt x="936343" y="974218"/>
                  </a:lnTo>
                  <a:lnTo>
                    <a:pt x="924090" y="929534"/>
                  </a:lnTo>
                  <a:lnTo>
                    <a:pt x="909788" y="885740"/>
                  </a:lnTo>
                  <a:lnTo>
                    <a:pt x="893493" y="842892"/>
                  </a:lnTo>
                  <a:lnTo>
                    <a:pt x="875260" y="801045"/>
                  </a:lnTo>
                  <a:lnTo>
                    <a:pt x="855144" y="760255"/>
                  </a:lnTo>
                  <a:lnTo>
                    <a:pt x="833201" y="720577"/>
                  </a:lnTo>
                  <a:lnTo>
                    <a:pt x="809486" y="682066"/>
                  </a:lnTo>
                  <a:lnTo>
                    <a:pt x="784054" y="644778"/>
                  </a:lnTo>
                  <a:lnTo>
                    <a:pt x="756960" y="608769"/>
                  </a:lnTo>
                  <a:lnTo>
                    <a:pt x="728260" y="574093"/>
                  </a:lnTo>
                  <a:lnTo>
                    <a:pt x="698009" y="540807"/>
                  </a:lnTo>
                  <a:lnTo>
                    <a:pt x="666262" y="508966"/>
                  </a:lnTo>
                  <a:lnTo>
                    <a:pt x="633074" y="478625"/>
                  </a:lnTo>
                  <a:lnTo>
                    <a:pt x="598502" y="449839"/>
                  </a:lnTo>
                  <a:lnTo>
                    <a:pt x="562599" y="422665"/>
                  </a:lnTo>
                  <a:lnTo>
                    <a:pt x="525422" y="397157"/>
                  </a:lnTo>
                  <a:lnTo>
                    <a:pt x="487026" y="373371"/>
                  </a:lnTo>
                  <a:lnTo>
                    <a:pt x="447465" y="351362"/>
                  </a:lnTo>
                  <a:lnTo>
                    <a:pt x="406796" y="331187"/>
                  </a:lnTo>
                  <a:lnTo>
                    <a:pt x="365073" y="312900"/>
                  </a:lnTo>
                  <a:lnTo>
                    <a:pt x="322352" y="296556"/>
                  </a:lnTo>
                  <a:lnTo>
                    <a:pt x="278688" y="282212"/>
                  </a:lnTo>
                  <a:lnTo>
                    <a:pt x="234137" y="269922"/>
                  </a:lnTo>
                  <a:lnTo>
                    <a:pt x="188753" y="259743"/>
                  </a:lnTo>
                  <a:lnTo>
                    <a:pt x="142592" y="251729"/>
                  </a:lnTo>
                  <a:lnTo>
                    <a:pt x="95709" y="245936"/>
                  </a:lnTo>
                  <a:lnTo>
                    <a:pt x="48160" y="242420"/>
                  </a:lnTo>
                  <a:lnTo>
                    <a:pt x="0" y="241236"/>
                  </a:lnTo>
                  <a:lnTo>
                    <a:pt x="0" y="0"/>
                  </a:lnTo>
                  <a:lnTo>
                    <a:pt x="48160" y="1184"/>
                  </a:lnTo>
                  <a:lnTo>
                    <a:pt x="95709" y="4700"/>
                  </a:lnTo>
                  <a:lnTo>
                    <a:pt x="142592" y="10493"/>
                  </a:lnTo>
                  <a:lnTo>
                    <a:pt x="188753" y="18507"/>
                  </a:lnTo>
                  <a:lnTo>
                    <a:pt x="234137" y="28686"/>
                  </a:lnTo>
                  <a:lnTo>
                    <a:pt x="278688" y="40976"/>
                  </a:lnTo>
                  <a:lnTo>
                    <a:pt x="322352" y="55320"/>
                  </a:lnTo>
                  <a:lnTo>
                    <a:pt x="365073" y="71664"/>
                  </a:lnTo>
                  <a:lnTo>
                    <a:pt x="406796" y="89951"/>
                  </a:lnTo>
                  <a:lnTo>
                    <a:pt x="447465" y="110126"/>
                  </a:lnTo>
                  <a:lnTo>
                    <a:pt x="487026" y="132135"/>
                  </a:lnTo>
                  <a:lnTo>
                    <a:pt x="525422" y="155921"/>
                  </a:lnTo>
                  <a:lnTo>
                    <a:pt x="562599" y="181429"/>
                  </a:lnTo>
                  <a:lnTo>
                    <a:pt x="598502" y="208603"/>
                  </a:lnTo>
                  <a:lnTo>
                    <a:pt x="633074" y="237389"/>
                  </a:lnTo>
                  <a:lnTo>
                    <a:pt x="666262" y="267730"/>
                  </a:lnTo>
                  <a:lnTo>
                    <a:pt x="698009" y="299571"/>
                  </a:lnTo>
                  <a:lnTo>
                    <a:pt x="728260" y="332857"/>
                  </a:lnTo>
                  <a:lnTo>
                    <a:pt x="756960" y="367533"/>
                  </a:lnTo>
                  <a:lnTo>
                    <a:pt x="784054" y="403542"/>
                  </a:lnTo>
                  <a:lnTo>
                    <a:pt x="809486" y="440830"/>
                  </a:lnTo>
                  <a:lnTo>
                    <a:pt x="833201" y="479340"/>
                  </a:lnTo>
                  <a:lnTo>
                    <a:pt x="855144" y="519019"/>
                  </a:lnTo>
                  <a:lnTo>
                    <a:pt x="875260" y="559809"/>
                  </a:lnTo>
                  <a:lnTo>
                    <a:pt x="893493" y="601656"/>
                  </a:lnTo>
                  <a:lnTo>
                    <a:pt x="909788" y="644504"/>
                  </a:lnTo>
                  <a:lnTo>
                    <a:pt x="924090" y="688298"/>
                  </a:lnTo>
                  <a:lnTo>
                    <a:pt x="936343" y="732982"/>
                  </a:lnTo>
                  <a:lnTo>
                    <a:pt x="946492" y="778501"/>
                  </a:lnTo>
                  <a:lnTo>
                    <a:pt x="954482" y="824799"/>
                  </a:lnTo>
                  <a:lnTo>
                    <a:pt x="960258" y="871821"/>
                  </a:lnTo>
                  <a:lnTo>
                    <a:pt x="963764" y="919512"/>
                  </a:lnTo>
                  <a:lnTo>
                    <a:pt x="964945" y="967816"/>
                  </a:lnTo>
                  <a:lnTo>
                    <a:pt x="964945" y="1209053"/>
                  </a:lnTo>
                  <a:lnTo>
                    <a:pt x="963728" y="1257847"/>
                  </a:lnTo>
                  <a:lnTo>
                    <a:pt x="960113" y="1306115"/>
                  </a:lnTo>
                  <a:lnTo>
                    <a:pt x="954152" y="1353789"/>
                  </a:lnTo>
                  <a:lnTo>
                    <a:pt x="945895" y="1400803"/>
                  </a:lnTo>
                  <a:lnTo>
                    <a:pt x="935395" y="1447089"/>
                  </a:lnTo>
                  <a:lnTo>
                    <a:pt x="922703" y="1492581"/>
                  </a:lnTo>
                  <a:lnTo>
                    <a:pt x="907871" y="1537213"/>
                  </a:lnTo>
                  <a:lnTo>
                    <a:pt x="890950" y="1580916"/>
                  </a:lnTo>
                  <a:lnTo>
                    <a:pt x="871992" y="1623625"/>
                  </a:lnTo>
                  <a:lnTo>
                    <a:pt x="851049" y="1665273"/>
                  </a:lnTo>
                  <a:lnTo>
                    <a:pt x="828171" y="1705792"/>
                  </a:lnTo>
                  <a:lnTo>
                    <a:pt x="803411" y="1745117"/>
                  </a:lnTo>
                  <a:lnTo>
                    <a:pt x="776821" y="1783179"/>
                  </a:lnTo>
                  <a:lnTo>
                    <a:pt x="748452" y="1819913"/>
                  </a:lnTo>
                  <a:lnTo>
                    <a:pt x="718355" y="1855251"/>
                  </a:lnTo>
                  <a:lnTo>
                    <a:pt x="686582" y="1889127"/>
                  </a:lnTo>
                  <a:lnTo>
                    <a:pt x="653185" y="1921474"/>
                  </a:lnTo>
                  <a:lnTo>
                    <a:pt x="618216" y="1952224"/>
                  </a:lnTo>
                  <a:lnTo>
                    <a:pt x="581725" y="1981312"/>
                  </a:lnTo>
                  <a:lnTo>
                    <a:pt x="543765" y="2008671"/>
                  </a:lnTo>
                  <a:lnTo>
                    <a:pt x="504387" y="2034233"/>
                  </a:lnTo>
                  <a:lnTo>
                    <a:pt x="463643" y="2057931"/>
                  </a:lnTo>
                  <a:lnTo>
                    <a:pt x="421584" y="2079700"/>
                  </a:lnTo>
                  <a:lnTo>
                    <a:pt x="378263" y="2099471"/>
                  </a:lnTo>
                  <a:lnTo>
                    <a:pt x="333730" y="2117179"/>
                  </a:lnTo>
                  <a:lnTo>
                    <a:pt x="288037" y="2132757"/>
                  </a:lnTo>
                  <a:lnTo>
                    <a:pt x="241236" y="2146137"/>
                  </a:lnTo>
                  <a:lnTo>
                    <a:pt x="241236" y="2266756"/>
                  </a:lnTo>
                  <a:lnTo>
                    <a:pt x="0" y="2056251"/>
                  </a:lnTo>
                  <a:lnTo>
                    <a:pt x="241236" y="1784284"/>
                  </a:lnTo>
                  <a:lnTo>
                    <a:pt x="241236" y="1904902"/>
                  </a:lnTo>
                  <a:lnTo>
                    <a:pt x="288587" y="1891345"/>
                  </a:lnTo>
                  <a:lnTo>
                    <a:pt x="334847" y="1875518"/>
                  </a:lnTo>
                  <a:lnTo>
                    <a:pt x="379956" y="1857487"/>
                  </a:lnTo>
                  <a:lnTo>
                    <a:pt x="423856" y="1837319"/>
                  </a:lnTo>
                  <a:lnTo>
                    <a:pt x="466488" y="1815082"/>
                  </a:lnTo>
                  <a:lnTo>
                    <a:pt x="507793" y="1790842"/>
                  </a:lnTo>
                  <a:lnTo>
                    <a:pt x="547713" y="1764666"/>
                  </a:lnTo>
                  <a:lnTo>
                    <a:pt x="586189" y="1736622"/>
                  </a:lnTo>
                  <a:lnTo>
                    <a:pt x="623161" y="1706775"/>
                  </a:lnTo>
                  <a:lnTo>
                    <a:pt x="658572" y="1675194"/>
                  </a:lnTo>
                  <a:lnTo>
                    <a:pt x="692362" y="1641946"/>
                  </a:lnTo>
                  <a:lnTo>
                    <a:pt x="724473" y="1607096"/>
                  </a:lnTo>
                  <a:lnTo>
                    <a:pt x="754846" y="1570713"/>
                  </a:lnTo>
                  <a:lnTo>
                    <a:pt x="783422" y="1532863"/>
                  </a:lnTo>
                  <a:lnTo>
                    <a:pt x="810142" y="1493613"/>
                  </a:lnTo>
                  <a:lnTo>
                    <a:pt x="834948" y="1453031"/>
                  </a:lnTo>
                  <a:lnTo>
                    <a:pt x="857780" y="1411183"/>
                  </a:lnTo>
                  <a:lnTo>
                    <a:pt x="878581" y="1368136"/>
                  </a:lnTo>
                  <a:lnTo>
                    <a:pt x="897290" y="1323958"/>
                  </a:lnTo>
                  <a:lnTo>
                    <a:pt x="913851" y="1278715"/>
                  </a:lnTo>
                  <a:lnTo>
                    <a:pt x="928203" y="1232474"/>
                  </a:lnTo>
                  <a:lnTo>
                    <a:pt x="940288" y="1185302"/>
                  </a:lnTo>
                  <a:lnTo>
                    <a:pt x="950047" y="1137267"/>
                  </a:lnTo>
                  <a:lnTo>
                    <a:pt x="957421" y="1088435"/>
                  </a:lnTo>
                </a:path>
              </a:pathLst>
            </a:custGeom>
            <a:ln w="12700">
              <a:solidFill>
                <a:srgbClr val="2F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1" name="object 14">
            <a:extLst>
              <a:ext uri="{FF2B5EF4-FFF2-40B4-BE49-F238E27FC236}">
                <a16:creationId xmlns:a16="http://schemas.microsoft.com/office/drawing/2014/main" id="{5FAA656B-F8C0-61D2-2CC8-B6EA209488A5}"/>
              </a:ext>
            </a:extLst>
          </p:cNvPr>
          <p:cNvSpPr txBox="1"/>
          <p:nvPr/>
        </p:nvSpPr>
        <p:spPr>
          <a:xfrm>
            <a:off x="6759845" y="1441195"/>
            <a:ext cx="1871980" cy="1016000"/>
          </a:xfrm>
          <a:prstGeom prst="rect">
            <a:avLst/>
          </a:prstGeom>
        </p:spPr>
        <p:txBody>
          <a:bodyPr vert="horz" wrap="square" lIns="0" tIns="10795" rIns="0" bIns="0" rtlCol="0">
            <a:spAutoFit/>
          </a:bodyPr>
          <a:lstStyle/>
          <a:p>
            <a:pPr marL="12700" marR="5080" rtl="0">
              <a:lnSpc>
                <a:spcPct val="120600"/>
              </a:lnSpc>
              <a:spcBef>
                <a:spcPts val="85"/>
              </a:spcBef>
            </a:pPr>
            <a:r>
              <a:rPr kern="1200" spc="-5" dirty="0">
                <a:solidFill>
                  <a:prstClr val="black"/>
                </a:solidFill>
                <a:latin typeface="Palatino Linotype"/>
                <a:cs typeface="Palatino Linotype"/>
              </a:rPr>
              <a:t>Constructing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collection</a:t>
            </a:r>
            <a:r>
              <a:rPr kern="1200" spc="-40"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40" dirty="0">
                <a:solidFill>
                  <a:prstClr val="black"/>
                </a:solidFill>
                <a:latin typeface="Palatino Linotype"/>
                <a:cs typeface="Palatino Linotype"/>
              </a:rPr>
              <a:t> </a:t>
            </a:r>
            <a:r>
              <a:rPr kern="1200" spc="-5" dirty="0">
                <a:solidFill>
                  <a:srgbClr val="0432FF"/>
                </a:solidFill>
                <a:latin typeface="Palatino Linotype"/>
                <a:cs typeface="Palatino Linotype"/>
              </a:rPr>
              <a:t>LR(0) </a:t>
            </a:r>
            <a:r>
              <a:rPr kern="1200" spc="-434" dirty="0">
                <a:solidFill>
                  <a:srgbClr val="0432FF"/>
                </a:solidFill>
                <a:latin typeface="Palatino Linotype"/>
                <a:cs typeface="Palatino Linotype"/>
              </a:rPr>
              <a:t> </a:t>
            </a:r>
            <a:r>
              <a:rPr kern="1200" dirty="0">
                <a:solidFill>
                  <a:prstClr val="black"/>
                </a:solidFill>
                <a:latin typeface="Palatino Linotype"/>
                <a:cs typeface="Palatino Linotype"/>
              </a:rPr>
              <a:t>item</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sets</a:t>
            </a:r>
            <a:endParaRPr kern="1200">
              <a:solidFill>
                <a:prstClr val="black"/>
              </a:solidFill>
              <a:latin typeface="Palatino Linotype"/>
              <a:cs typeface="Palatino Linotype"/>
            </a:endParaRPr>
          </a:p>
        </p:txBody>
      </p:sp>
      <p:sp>
        <p:nvSpPr>
          <p:cNvPr id="32" name="object 15">
            <a:extLst>
              <a:ext uri="{FF2B5EF4-FFF2-40B4-BE49-F238E27FC236}">
                <a16:creationId xmlns:a16="http://schemas.microsoft.com/office/drawing/2014/main" id="{D9FF252C-F67A-68A0-217A-81947C135DAC}"/>
              </a:ext>
            </a:extLst>
          </p:cNvPr>
          <p:cNvSpPr txBox="1"/>
          <p:nvPr/>
        </p:nvSpPr>
        <p:spPr>
          <a:xfrm>
            <a:off x="6759845" y="4867147"/>
            <a:ext cx="1871980" cy="1013460"/>
          </a:xfrm>
          <a:prstGeom prst="rect">
            <a:avLst/>
          </a:prstGeom>
        </p:spPr>
        <p:txBody>
          <a:bodyPr vert="horz" wrap="square" lIns="0" tIns="12700" rIns="0" bIns="0" rtlCol="0">
            <a:spAutoFit/>
          </a:bodyPr>
          <a:lstStyle/>
          <a:p>
            <a:pPr marL="12700" marR="5080" rtl="0">
              <a:lnSpc>
                <a:spcPct val="120000"/>
              </a:lnSpc>
              <a:spcBef>
                <a:spcPts val="100"/>
              </a:spcBef>
            </a:pPr>
            <a:r>
              <a:rPr kern="1200" spc="-5" dirty="0">
                <a:solidFill>
                  <a:prstClr val="black"/>
                </a:solidFill>
                <a:latin typeface="Palatino Linotype"/>
                <a:cs typeface="Palatino Linotype"/>
              </a:rPr>
              <a:t>Constructing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collection</a:t>
            </a:r>
            <a:r>
              <a:rPr kern="1200" spc="-40"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40" dirty="0">
                <a:solidFill>
                  <a:prstClr val="black"/>
                </a:solidFill>
                <a:latin typeface="Palatino Linotype"/>
                <a:cs typeface="Palatino Linotype"/>
              </a:rPr>
              <a:t> </a:t>
            </a:r>
            <a:r>
              <a:rPr kern="1200" spc="-5" dirty="0">
                <a:solidFill>
                  <a:srgbClr val="FF0000"/>
                </a:solidFill>
                <a:latin typeface="Palatino Linotype"/>
                <a:cs typeface="Palatino Linotype"/>
              </a:rPr>
              <a:t>LR(1) </a:t>
            </a:r>
            <a:r>
              <a:rPr kern="1200" spc="-434" dirty="0">
                <a:solidFill>
                  <a:srgbClr val="FF0000"/>
                </a:solidFill>
                <a:latin typeface="Palatino Linotype"/>
                <a:cs typeface="Palatino Linotype"/>
              </a:rPr>
              <a:t> </a:t>
            </a:r>
            <a:r>
              <a:rPr kern="1200" dirty="0">
                <a:solidFill>
                  <a:prstClr val="black"/>
                </a:solidFill>
                <a:latin typeface="Palatino Linotype"/>
                <a:cs typeface="Palatino Linotype"/>
              </a:rPr>
              <a:t>item</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sets</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27591987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139</a:t>
            </a:fld>
            <a:endParaRPr lang="en-US"/>
          </a:p>
        </p:txBody>
      </p:sp>
      <p:sp>
        <p:nvSpPr>
          <p:cNvPr id="24" name="object 2">
            <a:extLst>
              <a:ext uri="{FF2B5EF4-FFF2-40B4-BE49-F238E27FC236}">
                <a16:creationId xmlns:a16="http://schemas.microsoft.com/office/drawing/2014/main" id="{A7780056-3E32-DAA4-6D1B-67E84DD29112}"/>
              </a:ext>
            </a:extLst>
          </p:cNvPr>
          <p:cNvSpPr txBox="1">
            <a:spLocks/>
          </p:cNvSpPr>
          <p:nvPr/>
        </p:nvSpPr>
        <p:spPr>
          <a:xfrm>
            <a:off x="707390" y="524763"/>
            <a:ext cx="570611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LR(1)</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Item</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Sets</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5" name="object 3">
            <a:extLst>
              <a:ext uri="{FF2B5EF4-FFF2-40B4-BE49-F238E27FC236}">
                <a16:creationId xmlns:a16="http://schemas.microsoft.com/office/drawing/2014/main" id="{E6EC8E16-33EE-D498-7978-A7E9288493FF}"/>
              </a:ext>
            </a:extLst>
          </p:cNvPr>
          <p:cNvSpPr txBox="1"/>
          <p:nvPr/>
        </p:nvSpPr>
        <p:spPr>
          <a:xfrm>
            <a:off x="694690" y="1500885"/>
            <a:ext cx="5328920" cy="1363980"/>
          </a:xfrm>
          <a:prstGeom prst="rect">
            <a:avLst/>
          </a:prstGeom>
        </p:spPr>
        <p:txBody>
          <a:bodyPr vert="horz" wrap="square" lIns="0" tIns="171450" rIns="0" bIns="0" rtlCol="0">
            <a:spAutoFit/>
          </a:bodyPr>
          <a:lstStyle/>
          <a:p>
            <a:pPr marL="255904" indent="-230504" rtl="0">
              <a:spcBef>
                <a:spcPts val="1350"/>
              </a:spcBef>
              <a:buClr>
                <a:srgbClr val="000000"/>
              </a:buClr>
              <a:buFont typeface="Arial MT"/>
              <a:buChar char="•"/>
              <a:tabLst>
                <a:tab pos="255270" algn="l"/>
                <a:tab pos="255904" algn="l"/>
              </a:tabLst>
            </a:pPr>
            <a:r>
              <a:rPr sz="2000" kern="1200" spc="-5" dirty="0">
                <a:solidFill>
                  <a:srgbClr val="0432FF"/>
                </a:solidFill>
                <a:latin typeface="Palatino Linotype"/>
                <a:cs typeface="Palatino Linotype"/>
              </a:rPr>
              <a:t>Augmented</a:t>
            </a:r>
            <a:r>
              <a:rPr sz="2000" kern="1200" spc="-30" dirty="0">
                <a:solidFill>
                  <a:srgbClr val="0432FF"/>
                </a:solidFill>
                <a:latin typeface="Palatino Linotype"/>
                <a:cs typeface="Palatino Linotype"/>
              </a:rPr>
              <a:t> </a:t>
            </a:r>
            <a:r>
              <a:rPr sz="2000" kern="1200" spc="-5" dirty="0">
                <a:solidFill>
                  <a:srgbClr val="0432FF"/>
                </a:solidFill>
                <a:latin typeface="Palatino Linotype"/>
                <a:cs typeface="Palatino Linotype"/>
              </a:rPr>
              <a:t>grammar:</a:t>
            </a:r>
            <a:endParaRPr sz="2000" kern="1200">
              <a:solidFill>
                <a:prstClr val="black"/>
              </a:solidFill>
              <a:latin typeface="Palatino Linotype"/>
              <a:cs typeface="Palatino Linotype"/>
            </a:endParaRPr>
          </a:p>
          <a:p>
            <a:pPr marL="711200" lvl="1" indent="-228600" rtl="0">
              <a:spcBef>
                <a:spcPts val="1000"/>
              </a:spcBef>
              <a:buFont typeface="Wingdings"/>
              <a:buChar char=""/>
              <a:tabLst>
                <a:tab pos="710565" algn="l"/>
                <a:tab pos="711200" algn="l"/>
                <a:tab pos="1664335" algn="l"/>
                <a:tab pos="2715895" algn="l"/>
              </a:tabLst>
            </a:pPr>
            <a:r>
              <a:rPr sz="1600" kern="1200" dirty="0">
                <a:solidFill>
                  <a:prstClr val="black"/>
                </a:solidFill>
                <a:latin typeface="Cambria Math"/>
                <a:cs typeface="Cambria Math"/>
              </a:rPr>
              <a:t>𝑆’</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𝑆	𝑆</a:t>
            </a:r>
            <a:r>
              <a:rPr sz="1600" kern="1200" spc="12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spc="-5" dirty="0">
                <a:solidFill>
                  <a:prstClr val="black"/>
                </a:solidFill>
                <a:latin typeface="Cambria Math"/>
                <a:cs typeface="Cambria Math"/>
              </a:rPr>
              <a:t>𝐶𝐶	</a:t>
            </a:r>
            <a:r>
              <a:rPr sz="1600" kern="1200" dirty="0">
                <a:solidFill>
                  <a:prstClr val="black"/>
                </a:solidFill>
                <a:latin typeface="Cambria Math"/>
                <a:cs typeface="Cambria Math"/>
              </a:rPr>
              <a:t>𝐶</a:t>
            </a:r>
            <a:r>
              <a:rPr sz="1600" kern="1200" spc="13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70" dirty="0">
                <a:solidFill>
                  <a:prstClr val="black"/>
                </a:solidFill>
                <a:latin typeface="Cambria Math"/>
                <a:cs typeface="Cambria Math"/>
              </a:rPr>
              <a:t> </a:t>
            </a:r>
            <a:r>
              <a:rPr sz="1600" kern="1200" dirty="0">
                <a:solidFill>
                  <a:prstClr val="black"/>
                </a:solidFill>
                <a:latin typeface="Cambria Math"/>
                <a:cs typeface="Cambria Math"/>
              </a:rPr>
              <a:t>𝑐𝐶</a:t>
            </a:r>
            <a:r>
              <a:rPr sz="1600" kern="1200" spc="4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15" dirty="0">
                <a:solidFill>
                  <a:prstClr val="black"/>
                </a:solidFill>
                <a:latin typeface="Cambria Math"/>
                <a:cs typeface="Cambria Math"/>
              </a:rPr>
              <a:t> </a:t>
            </a:r>
            <a:r>
              <a:rPr sz="1600" kern="1200" dirty="0">
                <a:solidFill>
                  <a:prstClr val="black"/>
                </a:solidFill>
                <a:latin typeface="Cambria Math"/>
                <a:cs typeface="Cambria Math"/>
              </a:rPr>
              <a:t>𝑑</a:t>
            </a:r>
            <a:endParaRPr sz="1600" kern="1200">
              <a:solidFill>
                <a:prstClr val="black"/>
              </a:solidFill>
              <a:latin typeface="Cambria Math"/>
              <a:cs typeface="Cambria Math"/>
            </a:endParaRPr>
          </a:p>
          <a:p>
            <a:pPr marL="255904" indent="-230504" rtl="0">
              <a:spcBef>
                <a:spcPts val="1565"/>
              </a:spcBef>
              <a:buFont typeface="Arial MT"/>
              <a:buChar char="•"/>
              <a:tabLst>
                <a:tab pos="255270" algn="l"/>
                <a:tab pos="255904" algn="l"/>
              </a:tabLst>
            </a:pPr>
            <a:r>
              <a:rPr sz="2000" kern="1200" spc="-5" dirty="0">
                <a:solidFill>
                  <a:prstClr val="black"/>
                </a:solidFill>
                <a:latin typeface="Palatino Linotype"/>
                <a:cs typeface="Palatino Linotype"/>
              </a:rPr>
              <a:t>Constructing</a:t>
            </a:r>
            <a:r>
              <a:rPr sz="2000" kern="1200" spc="-15" dirty="0">
                <a:solidFill>
                  <a:prstClr val="black"/>
                </a:solidFill>
                <a:latin typeface="Palatino Linotype"/>
                <a:cs typeface="Palatino Linotype"/>
              </a:rPr>
              <a:t> </a:t>
            </a:r>
            <a:r>
              <a:rPr sz="2000" kern="1200" spc="-40" dirty="0">
                <a:solidFill>
                  <a:prstClr val="black"/>
                </a:solidFill>
                <a:latin typeface="Cambria Math"/>
                <a:cs typeface="Cambria Math"/>
              </a:rPr>
              <a:t>𝐼</a:t>
            </a:r>
            <a:r>
              <a:rPr sz="2250" kern="1200" spc="-60" baseline="-14814" dirty="0">
                <a:solidFill>
                  <a:prstClr val="black"/>
                </a:solidFill>
                <a:latin typeface="Cambria Math"/>
                <a:cs typeface="Cambria Math"/>
              </a:rPr>
              <a:t>1</a:t>
            </a:r>
            <a:r>
              <a:rPr sz="2250" kern="1200" spc="330" baseline="-14814" dirty="0">
                <a:solidFill>
                  <a:prstClr val="black"/>
                </a:solidFill>
                <a:latin typeface="Cambria Math"/>
                <a:cs typeface="Cambria Math"/>
              </a:rPr>
              <a:t> </a:t>
            </a:r>
            <a:r>
              <a:rPr sz="2000" kern="1200" dirty="0">
                <a:solidFill>
                  <a:prstClr val="black"/>
                </a:solidFill>
                <a:latin typeface="Palatino Linotype"/>
                <a:cs typeface="Palatino Linotype"/>
              </a:rPr>
              <a:t>item</a:t>
            </a:r>
            <a:r>
              <a:rPr sz="2000" kern="1200" spc="-15" dirty="0">
                <a:solidFill>
                  <a:prstClr val="black"/>
                </a:solidFill>
                <a:latin typeface="Palatino Linotype"/>
                <a:cs typeface="Palatino Linotype"/>
              </a:rPr>
              <a:t> </a:t>
            </a:r>
            <a:r>
              <a:rPr sz="2000" kern="1200" dirty="0">
                <a:solidFill>
                  <a:prstClr val="black"/>
                </a:solidFill>
                <a:latin typeface="Palatino Linotype"/>
                <a:cs typeface="Palatino Linotype"/>
              </a:rPr>
              <a:t>set</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GOTO</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function:</a:t>
            </a:r>
            <a:endParaRPr sz="2000" kern="1200">
              <a:solidFill>
                <a:prstClr val="black"/>
              </a:solidFill>
              <a:latin typeface="Palatino Linotype"/>
              <a:cs typeface="Palatino Linotype"/>
            </a:endParaRPr>
          </a:p>
        </p:txBody>
      </p:sp>
      <p:sp>
        <p:nvSpPr>
          <p:cNvPr id="26" name="object 4">
            <a:extLst>
              <a:ext uri="{FF2B5EF4-FFF2-40B4-BE49-F238E27FC236}">
                <a16:creationId xmlns:a16="http://schemas.microsoft.com/office/drawing/2014/main" id="{430E94D2-774B-10C3-E959-0C041992A152}"/>
              </a:ext>
            </a:extLst>
          </p:cNvPr>
          <p:cNvSpPr/>
          <p:nvPr/>
        </p:nvSpPr>
        <p:spPr>
          <a:xfrm>
            <a:off x="2682570" y="3042919"/>
            <a:ext cx="1073785" cy="189230"/>
          </a:xfrm>
          <a:custGeom>
            <a:avLst/>
            <a:gdLst/>
            <a:ahLst/>
            <a:cxnLst/>
            <a:rect l="l" t="t" r="r" b="b"/>
            <a:pathLst>
              <a:path w="1073785" h="189230">
                <a:moveTo>
                  <a:pt x="62699" y="7912"/>
                </a:moveTo>
                <a:lnTo>
                  <a:pt x="60020" y="266"/>
                </a:lnTo>
                <a:lnTo>
                  <a:pt x="46380" y="5194"/>
                </a:lnTo>
                <a:lnTo>
                  <a:pt x="34417" y="12344"/>
                </a:lnTo>
                <a:lnTo>
                  <a:pt x="8724" y="46596"/>
                </a:lnTo>
                <a:lnTo>
                  <a:pt x="0" y="94424"/>
                </a:lnTo>
                <a:lnTo>
                  <a:pt x="965" y="111721"/>
                </a:lnTo>
                <a:lnTo>
                  <a:pt x="15481" y="155600"/>
                </a:lnTo>
                <a:lnTo>
                  <a:pt x="46342" y="183565"/>
                </a:lnTo>
                <a:lnTo>
                  <a:pt x="60020" y="188493"/>
                </a:lnTo>
                <a:lnTo>
                  <a:pt x="62407" y="180848"/>
                </a:lnTo>
                <a:lnTo>
                  <a:pt x="51676" y="176098"/>
                </a:lnTo>
                <a:lnTo>
                  <a:pt x="42430" y="169494"/>
                </a:lnTo>
                <a:lnTo>
                  <a:pt x="19951" y="125120"/>
                </a:lnTo>
                <a:lnTo>
                  <a:pt x="17157" y="93433"/>
                </a:lnTo>
                <a:lnTo>
                  <a:pt x="17856" y="77381"/>
                </a:lnTo>
                <a:lnTo>
                  <a:pt x="28321" y="37731"/>
                </a:lnTo>
                <a:lnTo>
                  <a:pt x="51841" y="12636"/>
                </a:lnTo>
                <a:lnTo>
                  <a:pt x="62699" y="7912"/>
                </a:lnTo>
                <a:close/>
              </a:path>
              <a:path w="1073785" h="189230">
                <a:moveTo>
                  <a:pt x="133337" y="0"/>
                </a:moveTo>
                <a:lnTo>
                  <a:pt x="89090" y="0"/>
                </a:lnTo>
                <a:lnTo>
                  <a:pt x="89090" y="7620"/>
                </a:lnTo>
                <a:lnTo>
                  <a:pt x="89090" y="181610"/>
                </a:lnTo>
                <a:lnTo>
                  <a:pt x="89090" y="189230"/>
                </a:lnTo>
                <a:lnTo>
                  <a:pt x="133337" y="189230"/>
                </a:lnTo>
                <a:lnTo>
                  <a:pt x="133337" y="181610"/>
                </a:lnTo>
                <a:lnTo>
                  <a:pt x="105562" y="181610"/>
                </a:lnTo>
                <a:lnTo>
                  <a:pt x="105562" y="7620"/>
                </a:lnTo>
                <a:lnTo>
                  <a:pt x="133337" y="7620"/>
                </a:lnTo>
                <a:lnTo>
                  <a:pt x="133337" y="0"/>
                </a:lnTo>
                <a:close/>
              </a:path>
              <a:path w="1073785" h="189230">
                <a:moveTo>
                  <a:pt x="984237" y="0"/>
                </a:moveTo>
                <a:lnTo>
                  <a:pt x="939977" y="0"/>
                </a:lnTo>
                <a:lnTo>
                  <a:pt x="939977" y="7620"/>
                </a:lnTo>
                <a:lnTo>
                  <a:pt x="967765" y="7620"/>
                </a:lnTo>
                <a:lnTo>
                  <a:pt x="967765" y="181610"/>
                </a:lnTo>
                <a:lnTo>
                  <a:pt x="939977" y="181610"/>
                </a:lnTo>
                <a:lnTo>
                  <a:pt x="939977" y="189230"/>
                </a:lnTo>
                <a:lnTo>
                  <a:pt x="984237" y="189230"/>
                </a:lnTo>
                <a:lnTo>
                  <a:pt x="984237" y="181610"/>
                </a:lnTo>
                <a:lnTo>
                  <a:pt x="984237" y="7620"/>
                </a:lnTo>
                <a:lnTo>
                  <a:pt x="984237" y="0"/>
                </a:lnTo>
                <a:close/>
              </a:path>
              <a:path w="1073785" h="189230">
                <a:moveTo>
                  <a:pt x="1073315" y="94424"/>
                </a:moveTo>
                <a:lnTo>
                  <a:pt x="1064577" y="46596"/>
                </a:lnTo>
                <a:lnTo>
                  <a:pt x="1038898" y="12344"/>
                </a:lnTo>
                <a:lnTo>
                  <a:pt x="1013282" y="266"/>
                </a:lnTo>
                <a:lnTo>
                  <a:pt x="1010602" y="7912"/>
                </a:lnTo>
                <a:lnTo>
                  <a:pt x="1021499" y="12636"/>
                </a:lnTo>
                <a:lnTo>
                  <a:pt x="1030871" y="19189"/>
                </a:lnTo>
                <a:lnTo>
                  <a:pt x="1053376" y="62738"/>
                </a:lnTo>
                <a:lnTo>
                  <a:pt x="1056144" y="93433"/>
                </a:lnTo>
                <a:lnTo>
                  <a:pt x="1055446" y="110045"/>
                </a:lnTo>
                <a:lnTo>
                  <a:pt x="1044981" y="150685"/>
                </a:lnTo>
                <a:lnTo>
                  <a:pt x="1010907" y="180848"/>
                </a:lnTo>
                <a:lnTo>
                  <a:pt x="1013282" y="188493"/>
                </a:lnTo>
                <a:lnTo>
                  <a:pt x="1049248" y="167119"/>
                </a:lnTo>
                <a:lnTo>
                  <a:pt x="1069441" y="127685"/>
                </a:lnTo>
                <a:lnTo>
                  <a:pt x="1072349" y="111721"/>
                </a:lnTo>
                <a:lnTo>
                  <a:pt x="1073315" y="94424"/>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5">
            <a:extLst>
              <a:ext uri="{FF2B5EF4-FFF2-40B4-BE49-F238E27FC236}">
                <a16:creationId xmlns:a16="http://schemas.microsoft.com/office/drawing/2014/main" id="{E48B6DCC-5EAC-9CE1-DC8E-E5B3587B4483}"/>
              </a:ext>
            </a:extLst>
          </p:cNvPr>
          <p:cNvSpPr txBox="1"/>
          <p:nvPr/>
        </p:nvSpPr>
        <p:spPr>
          <a:xfrm>
            <a:off x="1102178" y="2939143"/>
            <a:ext cx="4457700" cy="611705"/>
          </a:xfrm>
          <a:prstGeom prst="rect">
            <a:avLst/>
          </a:prstGeom>
          <a:ln w="12700">
            <a:solidFill>
              <a:srgbClr val="FF0000"/>
            </a:solidFill>
          </a:ln>
        </p:spPr>
        <p:txBody>
          <a:bodyPr vert="horz" wrap="square" lIns="0" tIns="52069" rIns="0" bIns="0" rtlCol="0">
            <a:spAutoFit/>
          </a:bodyPr>
          <a:lstStyle/>
          <a:p>
            <a:pPr marL="303530" indent="-229235" rtl="0">
              <a:spcBef>
                <a:spcPts val="409"/>
              </a:spcBef>
              <a:buFont typeface="Wingdings"/>
              <a:buChar char=""/>
              <a:tabLst>
                <a:tab pos="303530" algn="l"/>
                <a:tab pos="304165" algn="l"/>
                <a:tab pos="1717675" algn="l"/>
                <a:tab pos="2727325" algn="l"/>
              </a:tabLst>
            </a:pPr>
            <a:r>
              <a:rPr sz="1600" kern="1200" spc="-114">
                <a:solidFill>
                  <a:prstClr val="black"/>
                </a:solidFill>
                <a:latin typeface="Cambria Math"/>
                <a:cs typeface="Cambria Math"/>
              </a:rPr>
              <a:t>𝐼</a:t>
            </a:r>
            <a:r>
              <a:rPr lang="en-US" altLang="zh-CN" kern="1200" spc="-172" baseline="-16203">
                <a:solidFill>
                  <a:prstClr val="black"/>
                </a:solidFill>
                <a:latin typeface="Cambria Math"/>
                <a:cs typeface="Cambria Math"/>
              </a:rPr>
              <a:t>0</a:t>
            </a:r>
            <a:r>
              <a:rPr kern="1200" spc="352" baseline="-16203">
                <a:solidFill>
                  <a:prstClr val="black"/>
                </a:solidFill>
                <a:latin typeface="Cambria Math"/>
                <a:cs typeface="Cambria Math"/>
              </a:rPr>
              <a:t> </a:t>
            </a:r>
            <a:r>
              <a:rPr sz="1600" kern="1200" dirty="0">
                <a:solidFill>
                  <a:prstClr val="black"/>
                </a:solidFill>
                <a:latin typeface="Cambria Math"/>
                <a:cs typeface="Cambria Math"/>
              </a:rPr>
              <a:t>=</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CLOSURE	</a:t>
            </a:r>
            <a:r>
              <a:rPr sz="1600" kern="1200" spc="-195" dirty="0">
                <a:solidFill>
                  <a:prstClr val="black"/>
                </a:solidFill>
                <a:latin typeface="Cambria Math"/>
                <a:cs typeface="Cambria Math"/>
              </a:rPr>
              <a:t>𝑆</a:t>
            </a:r>
            <a:r>
              <a:rPr lang="en-US" sz="1600" kern="1200" spc="-195" dirty="0">
                <a:solidFill>
                  <a:prstClr val="black"/>
                </a:solidFill>
                <a:latin typeface="Cambria Math"/>
                <a:cs typeface="Cambria Math"/>
              </a:rPr>
              <a:t> </a:t>
            </a:r>
            <a:r>
              <a:rPr lang="en-US" altLang="zh-CN" sz="1600" kern="1200" spc="-5" dirty="0">
                <a:solidFill>
                  <a:prstClr val="black"/>
                </a:solidFill>
                <a:latin typeface="Cambria Math"/>
                <a:cs typeface="Cambria Math"/>
              </a:rPr>
              <a:t>′ </a:t>
            </a:r>
            <a:r>
              <a:rPr sz="1600" kern="1200" spc="-325" dirty="0">
                <a:solidFill>
                  <a:prstClr val="black"/>
                </a:solidFill>
                <a:latin typeface="Cambria Math"/>
                <a:cs typeface="Cambria Math"/>
              </a:rPr>
              <a:t>→</a:t>
            </a:r>
            <a:r>
              <a:rPr lang="en-US" sz="1600" kern="1200" spc="-325" dirty="0">
                <a:solidFill>
                  <a:prstClr val="black"/>
                </a:solidFill>
                <a:latin typeface="Cambria Math"/>
                <a:cs typeface="Cambria Math"/>
              </a:rPr>
              <a:t>            </a:t>
            </a:r>
            <a:r>
              <a:rPr lang="en-US" altLang="zh-CN" sz="1600" kern="1200" spc="-325" dirty="0">
                <a:solidFill>
                  <a:prstClr val="black"/>
                </a:solidFill>
                <a:latin typeface="Cambria Math"/>
                <a:cs typeface="Cambria Math"/>
              </a:rPr>
              <a:t>·       </a:t>
            </a:r>
            <a:r>
              <a:rPr sz="1600" kern="1200" dirty="0">
                <a:solidFill>
                  <a:prstClr val="black"/>
                </a:solidFill>
                <a:latin typeface="Cambria Math"/>
                <a:cs typeface="Cambria Math"/>
              </a:rPr>
              <a:t> </a:t>
            </a:r>
            <a:r>
              <a:rPr sz="1600" kern="1200" spc="15" dirty="0">
                <a:solidFill>
                  <a:prstClr val="black"/>
                </a:solidFill>
                <a:latin typeface="Cambria Math"/>
                <a:cs typeface="Cambria Math"/>
              </a:rPr>
              <a:t>𝑆,</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	=</a:t>
            </a:r>
          </a:p>
          <a:p>
            <a:pPr marL="532130" rtl="0">
              <a:spcBef>
                <a:spcPts val="975"/>
              </a:spcBef>
            </a:pPr>
            <a:r>
              <a:rPr sz="1200" kern="1200" dirty="0">
                <a:solidFill>
                  <a:prstClr val="black"/>
                </a:solidFill>
                <a:latin typeface="Courier New"/>
                <a:cs typeface="Courier New"/>
              </a:rPr>
              <a:t>o</a:t>
            </a:r>
            <a:r>
              <a:rPr sz="1200" kern="1200" spc="355" dirty="0">
                <a:solidFill>
                  <a:prstClr val="black"/>
                </a:solidFill>
                <a:latin typeface="Courier New"/>
                <a:cs typeface="Courier New"/>
              </a:rPr>
              <a:t> </a:t>
            </a:r>
            <a:r>
              <a:rPr sz="1200" kern="1200" spc="-5" dirty="0">
                <a:solidFill>
                  <a:prstClr val="black"/>
                </a:solidFill>
                <a:latin typeface="Cambria Math"/>
                <a:cs typeface="Cambria Math"/>
              </a:rPr>
              <a:t>{[𝑆′</a:t>
            </a:r>
            <a:r>
              <a:rPr sz="1200" kern="1200" spc="70" dirty="0">
                <a:solidFill>
                  <a:prstClr val="black"/>
                </a:solidFill>
                <a:latin typeface="Cambria Math"/>
                <a:cs typeface="Cambria Math"/>
              </a:rPr>
              <a:t> </a:t>
            </a:r>
            <a:r>
              <a:rPr sz="1200" kern="1200" spc="-170" dirty="0">
                <a:solidFill>
                  <a:prstClr val="black"/>
                </a:solidFill>
                <a:latin typeface="Cambria Math"/>
                <a:cs typeface="Cambria Math"/>
              </a:rPr>
              <a:t>→</a:t>
            </a:r>
            <a:r>
              <a:rPr lang="en-US" sz="1200" kern="1200" spc="-170" dirty="0">
                <a:solidFill>
                  <a:prstClr val="black"/>
                </a:solidFill>
                <a:latin typeface="Cambria Math"/>
                <a:cs typeface="Cambria Math"/>
              </a:rPr>
              <a:t>  </a:t>
            </a:r>
            <a:r>
              <a:rPr lang="en-US" altLang="zh-CN" sz="1200" kern="1200" spc="-170" dirty="0">
                <a:solidFill>
                  <a:prstClr val="black"/>
                </a:solidFill>
                <a:latin typeface="Cambria Math"/>
                <a:cs typeface="Cambria Math"/>
              </a:rPr>
              <a:t>·</a:t>
            </a:r>
            <a:r>
              <a:rPr sz="1200" kern="1200" spc="-90" dirty="0">
                <a:solidFill>
                  <a:prstClr val="black"/>
                </a:solidFill>
                <a:latin typeface="Cambria Math"/>
                <a:cs typeface="Cambria Math"/>
              </a:rPr>
              <a:t> </a:t>
            </a:r>
            <a:r>
              <a:rPr sz="1200" kern="1200" spc="10" dirty="0">
                <a:solidFill>
                  <a:prstClr val="black"/>
                </a:solidFill>
                <a:latin typeface="Cambria Math"/>
                <a:cs typeface="Cambria Math"/>
              </a:rPr>
              <a:t>𝑆,</a:t>
            </a:r>
            <a:r>
              <a:rPr sz="1200" kern="1200" spc="-65" dirty="0">
                <a:solidFill>
                  <a:prstClr val="black"/>
                </a:solidFill>
                <a:latin typeface="Cambria Math"/>
                <a:cs typeface="Cambria Math"/>
              </a:rPr>
              <a:t> </a:t>
            </a:r>
            <a:r>
              <a:rPr sz="1200" kern="1200" dirty="0">
                <a:solidFill>
                  <a:prstClr val="black"/>
                </a:solidFill>
                <a:latin typeface="Cambria Math"/>
                <a:cs typeface="Cambria Math"/>
              </a:rPr>
              <a:t>$],</a:t>
            </a:r>
            <a:r>
              <a:rPr sz="1200" kern="1200" spc="-65" dirty="0">
                <a:solidFill>
                  <a:prstClr val="black"/>
                </a:solidFill>
                <a:latin typeface="Cambria Math"/>
                <a:cs typeface="Cambria Math"/>
              </a:rPr>
              <a:t> </a:t>
            </a:r>
            <a:r>
              <a:rPr sz="1200" kern="1200" dirty="0">
                <a:solidFill>
                  <a:prstClr val="black"/>
                </a:solidFill>
                <a:latin typeface="Cambria Math"/>
                <a:cs typeface="Cambria Math"/>
              </a:rPr>
              <a:t>[𝑆</a:t>
            </a:r>
            <a:r>
              <a:rPr sz="1200" kern="1200" spc="95" dirty="0">
                <a:solidFill>
                  <a:prstClr val="black"/>
                </a:solidFill>
                <a:latin typeface="Cambria Math"/>
                <a:cs typeface="Cambria Math"/>
              </a:rPr>
              <a:t> </a:t>
            </a:r>
            <a:r>
              <a:rPr sz="1200" kern="1200" spc="-170" dirty="0">
                <a:solidFill>
                  <a:prstClr val="black"/>
                </a:solidFill>
                <a:latin typeface="Cambria Math"/>
                <a:cs typeface="Cambria Math"/>
              </a:rPr>
              <a:t>→</a:t>
            </a:r>
            <a:r>
              <a:rPr lang="en-US" sz="1200" kern="1200" spc="-170" dirty="0">
                <a:solidFill>
                  <a:prstClr val="black"/>
                </a:solidFill>
                <a:latin typeface="Cambria Math"/>
                <a:cs typeface="Cambria Math"/>
              </a:rPr>
              <a:t>  </a:t>
            </a:r>
            <a:r>
              <a:rPr lang="en-US" altLang="zh-CN" sz="1200" kern="1200" spc="-170" dirty="0">
                <a:solidFill>
                  <a:prstClr val="black"/>
                </a:solidFill>
                <a:latin typeface="Cambria Math"/>
                <a:cs typeface="Cambria Math"/>
              </a:rPr>
              <a:t>·</a:t>
            </a:r>
            <a:r>
              <a:rPr sz="1200" kern="1200" spc="-90" dirty="0">
                <a:solidFill>
                  <a:prstClr val="black"/>
                </a:solidFill>
                <a:latin typeface="Cambria Math"/>
                <a:cs typeface="Cambria Math"/>
              </a:rPr>
              <a:t> </a:t>
            </a:r>
            <a:r>
              <a:rPr sz="1200" kern="1200" spc="10" dirty="0">
                <a:solidFill>
                  <a:prstClr val="black"/>
                </a:solidFill>
                <a:latin typeface="Cambria Math"/>
                <a:cs typeface="Cambria Math"/>
              </a:rPr>
              <a:t>𝐶𝐶,</a:t>
            </a:r>
            <a:r>
              <a:rPr sz="1200" kern="1200" spc="-65" dirty="0">
                <a:solidFill>
                  <a:prstClr val="black"/>
                </a:solidFill>
                <a:latin typeface="Cambria Math"/>
                <a:cs typeface="Cambria Math"/>
              </a:rPr>
              <a:t> </a:t>
            </a:r>
            <a:r>
              <a:rPr sz="1200" kern="1200" dirty="0">
                <a:solidFill>
                  <a:prstClr val="black"/>
                </a:solidFill>
                <a:latin typeface="Cambria Math"/>
                <a:cs typeface="Cambria Math"/>
              </a:rPr>
              <a:t>$],</a:t>
            </a:r>
            <a:r>
              <a:rPr sz="1200" kern="1200" spc="-65" dirty="0">
                <a:solidFill>
                  <a:prstClr val="black"/>
                </a:solidFill>
                <a:latin typeface="Cambria Math"/>
                <a:cs typeface="Cambria Math"/>
              </a:rPr>
              <a:t> </a:t>
            </a:r>
            <a:r>
              <a:rPr sz="1200" kern="1200" dirty="0">
                <a:solidFill>
                  <a:prstClr val="black"/>
                </a:solidFill>
                <a:latin typeface="Cambria Math"/>
                <a:cs typeface="Cambria Math"/>
              </a:rPr>
              <a:t>[𝐶</a:t>
            </a:r>
            <a:r>
              <a:rPr sz="1200" kern="1200" spc="114" dirty="0">
                <a:solidFill>
                  <a:prstClr val="black"/>
                </a:solidFill>
                <a:latin typeface="Cambria Math"/>
                <a:cs typeface="Cambria Math"/>
              </a:rPr>
              <a:t> </a:t>
            </a:r>
            <a:r>
              <a:rPr sz="1200" kern="1200" spc="-170" dirty="0">
                <a:solidFill>
                  <a:prstClr val="black"/>
                </a:solidFill>
                <a:latin typeface="Cambria Math"/>
                <a:cs typeface="Cambria Math"/>
              </a:rPr>
              <a:t>→</a:t>
            </a:r>
            <a:r>
              <a:rPr lang="en-US" sz="1200" kern="1200" spc="-170" dirty="0">
                <a:solidFill>
                  <a:prstClr val="black"/>
                </a:solidFill>
                <a:latin typeface="Cambria Math"/>
                <a:cs typeface="Cambria Math"/>
              </a:rPr>
              <a:t>   </a:t>
            </a:r>
            <a:r>
              <a:rPr lang="en-US" altLang="zh-CN" sz="1200" kern="1200" spc="-170" dirty="0">
                <a:solidFill>
                  <a:prstClr val="black"/>
                </a:solidFill>
                <a:latin typeface="Cambria Math"/>
                <a:cs typeface="Cambria Math"/>
              </a:rPr>
              <a:t>· </a:t>
            </a:r>
            <a:r>
              <a:rPr sz="1200" kern="1200" spc="10" dirty="0">
                <a:solidFill>
                  <a:prstClr val="black"/>
                </a:solidFill>
                <a:latin typeface="Cambria Math"/>
                <a:cs typeface="Cambria Math"/>
              </a:rPr>
              <a:t>𝑐𝐶,</a:t>
            </a:r>
            <a:r>
              <a:rPr sz="1200" kern="1200" spc="-65" dirty="0">
                <a:solidFill>
                  <a:prstClr val="black"/>
                </a:solidFill>
                <a:latin typeface="Cambria Math"/>
                <a:cs typeface="Cambria Math"/>
              </a:rPr>
              <a:t> </a:t>
            </a:r>
            <a:r>
              <a:rPr sz="1200" kern="1200" spc="10" dirty="0">
                <a:solidFill>
                  <a:srgbClr val="FF0000"/>
                </a:solidFill>
                <a:latin typeface="Cambria Math"/>
                <a:cs typeface="Cambria Math"/>
              </a:rPr>
              <a:t>𝑐/𝑑</a:t>
            </a:r>
            <a:r>
              <a:rPr sz="1200" kern="1200" spc="10" dirty="0">
                <a:latin typeface="Cambria Math"/>
                <a:cs typeface="Cambria Math"/>
              </a:rPr>
              <a:t>],</a:t>
            </a:r>
            <a:r>
              <a:rPr sz="1200" kern="1200" spc="-65" dirty="0">
                <a:latin typeface="Cambria Math"/>
                <a:cs typeface="Cambria Math"/>
              </a:rPr>
              <a:t> </a:t>
            </a:r>
            <a:r>
              <a:rPr sz="1200" kern="1200" dirty="0">
                <a:latin typeface="Cambria Math"/>
                <a:cs typeface="Cambria Math"/>
              </a:rPr>
              <a:t>[</a:t>
            </a:r>
            <a:r>
              <a:rPr sz="1200" kern="1200" dirty="0">
                <a:solidFill>
                  <a:prstClr val="black"/>
                </a:solidFill>
                <a:latin typeface="Cambria Math"/>
                <a:cs typeface="Cambria Math"/>
              </a:rPr>
              <a:t>𝐶</a:t>
            </a:r>
            <a:r>
              <a:rPr sz="1200" kern="1200" spc="114" dirty="0">
                <a:solidFill>
                  <a:prstClr val="black"/>
                </a:solidFill>
                <a:latin typeface="Cambria Math"/>
                <a:cs typeface="Cambria Math"/>
              </a:rPr>
              <a:t> </a:t>
            </a:r>
            <a:r>
              <a:rPr sz="1200" kern="1200" spc="-170" dirty="0">
                <a:solidFill>
                  <a:prstClr val="black"/>
                </a:solidFill>
                <a:latin typeface="Cambria Math"/>
                <a:cs typeface="Cambria Math"/>
              </a:rPr>
              <a:t>→</a:t>
            </a:r>
            <a:r>
              <a:rPr lang="en-US" sz="1200" kern="1200" spc="-170" dirty="0">
                <a:solidFill>
                  <a:prstClr val="black"/>
                </a:solidFill>
                <a:latin typeface="Cambria Math"/>
                <a:cs typeface="Cambria Math"/>
              </a:rPr>
              <a:t>   </a:t>
            </a:r>
            <a:r>
              <a:rPr lang="en-US" altLang="zh-CN" sz="1200" kern="1200" spc="-170" dirty="0">
                <a:solidFill>
                  <a:prstClr val="black"/>
                </a:solidFill>
                <a:latin typeface="Cambria Math"/>
                <a:cs typeface="Cambria Math"/>
              </a:rPr>
              <a:t>·</a:t>
            </a:r>
            <a:r>
              <a:rPr sz="1200" kern="1200" spc="5" dirty="0">
                <a:solidFill>
                  <a:prstClr val="black"/>
                </a:solidFill>
                <a:latin typeface="Cambria Math"/>
                <a:cs typeface="Cambria Math"/>
              </a:rPr>
              <a:t> </a:t>
            </a:r>
            <a:r>
              <a:rPr sz="1200" kern="1200" spc="20" dirty="0">
                <a:solidFill>
                  <a:prstClr val="black"/>
                </a:solidFill>
                <a:latin typeface="Cambria Math"/>
                <a:cs typeface="Cambria Math"/>
              </a:rPr>
              <a:t>𝑑,</a:t>
            </a:r>
            <a:r>
              <a:rPr sz="1200" kern="1200" spc="-65" dirty="0">
                <a:solidFill>
                  <a:prstClr val="black"/>
                </a:solidFill>
                <a:latin typeface="Cambria Math"/>
                <a:cs typeface="Cambria Math"/>
              </a:rPr>
              <a:t> </a:t>
            </a:r>
            <a:r>
              <a:rPr sz="1200" kern="1200" spc="10" dirty="0">
                <a:solidFill>
                  <a:srgbClr val="FF0000"/>
                </a:solidFill>
                <a:latin typeface="Cambria Math"/>
                <a:cs typeface="Cambria Math"/>
              </a:rPr>
              <a:t>𝑐/𝑑</a:t>
            </a:r>
            <a:r>
              <a:rPr sz="1200" kern="1200" spc="10" dirty="0">
                <a:solidFill>
                  <a:prstClr val="black"/>
                </a:solidFill>
                <a:latin typeface="Cambria Math"/>
                <a:cs typeface="Cambria Math"/>
              </a:rPr>
              <a:t>]}</a:t>
            </a:r>
            <a:endParaRPr sz="1200" kern="1200" dirty="0">
              <a:solidFill>
                <a:prstClr val="black"/>
              </a:solidFill>
              <a:latin typeface="Cambria Math"/>
              <a:cs typeface="Cambria Math"/>
            </a:endParaRPr>
          </a:p>
        </p:txBody>
      </p:sp>
      <p:sp>
        <p:nvSpPr>
          <p:cNvPr id="28" name="object 6">
            <a:extLst>
              <a:ext uri="{FF2B5EF4-FFF2-40B4-BE49-F238E27FC236}">
                <a16:creationId xmlns:a16="http://schemas.microsoft.com/office/drawing/2014/main" id="{7E7F3E62-05EF-C741-2C0B-F6D901C2543E}"/>
              </a:ext>
            </a:extLst>
          </p:cNvPr>
          <p:cNvSpPr/>
          <p:nvPr/>
        </p:nvSpPr>
        <p:spPr>
          <a:xfrm>
            <a:off x="1928573" y="3817885"/>
            <a:ext cx="480695" cy="188595"/>
          </a:xfrm>
          <a:custGeom>
            <a:avLst/>
            <a:gdLst/>
            <a:ahLst/>
            <a:cxnLst/>
            <a:rect l="l" t="t" r="r" b="b"/>
            <a:pathLst>
              <a:path w="480694" h="188595">
                <a:moveTo>
                  <a:pt x="420072" y="0"/>
                </a:moveTo>
                <a:lnTo>
                  <a:pt x="417394" y="7640"/>
                </a:lnTo>
                <a:lnTo>
                  <a:pt x="428289" y="12368"/>
                </a:lnTo>
                <a:lnTo>
                  <a:pt x="437659" y="18913"/>
                </a:lnTo>
                <a:lnTo>
                  <a:pt x="460157" y="62470"/>
                </a:lnTo>
                <a:lnTo>
                  <a:pt x="462935" y="93167"/>
                </a:lnTo>
                <a:lnTo>
                  <a:pt x="462237" y="109767"/>
                </a:lnTo>
                <a:lnTo>
                  <a:pt x="451773" y="150416"/>
                </a:lnTo>
                <a:lnTo>
                  <a:pt x="417691" y="180578"/>
                </a:lnTo>
                <a:lnTo>
                  <a:pt x="420072" y="188217"/>
                </a:lnTo>
                <a:lnTo>
                  <a:pt x="456033" y="166852"/>
                </a:lnTo>
                <a:lnTo>
                  <a:pt x="476230" y="127409"/>
                </a:lnTo>
                <a:lnTo>
                  <a:pt x="480100" y="94159"/>
                </a:lnTo>
                <a:lnTo>
                  <a:pt x="479130" y="76904"/>
                </a:lnTo>
                <a:lnTo>
                  <a:pt x="464572" y="32990"/>
                </a:lnTo>
                <a:lnTo>
                  <a:pt x="433718" y="4927"/>
                </a:lnTo>
                <a:lnTo>
                  <a:pt x="420072" y="0"/>
                </a:lnTo>
                <a:close/>
              </a:path>
              <a:path w="480694" h="188595">
                <a:moveTo>
                  <a:pt x="60027" y="0"/>
                </a:moveTo>
                <a:lnTo>
                  <a:pt x="24132" y="21422"/>
                </a:lnTo>
                <a:lnTo>
                  <a:pt x="3882" y="60957"/>
                </a:lnTo>
                <a:lnTo>
                  <a:pt x="0" y="94159"/>
                </a:lnTo>
                <a:lnTo>
                  <a:pt x="967" y="111450"/>
                </a:lnTo>
                <a:lnTo>
                  <a:pt x="15478" y="155327"/>
                </a:lnTo>
                <a:lnTo>
                  <a:pt x="46342" y="183297"/>
                </a:lnTo>
                <a:lnTo>
                  <a:pt x="60027" y="188217"/>
                </a:lnTo>
                <a:lnTo>
                  <a:pt x="62409" y="180578"/>
                </a:lnTo>
                <a:lnTo>
                  <a:pt x="51684" y="175828"/>
                </a:lnTo>
                <a:lnTo>
                  <a:pt x="42428" y="169217"/>
                </a:lnTo>
                <a:lnTo>
                  <a:pt x="19955" y="124842"/>
                </a:lnTo>
                <a:lnTo>
                  <a:pt x="17165" y="93167"/>
                </a:lnTo>
                <a:lnTo>
                  <a:pt x="17863" y="77108"/>
                </a:lnTo>
                <a:lnTo>
                  <a:pt x="28327" y="37454"/>
                </a:lnTo>
                <a:lnTo>
                  <a:pt x="62706" y="7640"/>
                </a:lnTo>
                <a:lnTo>
                  <a:pt x="60027"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9" name="object 7">
            <a:extLst>
              <a:ext uri="{FF2B5EF4-FFF2-40B4-BE49-F238E27FC236}">
                <a16:creationId xmlns:a16="http://schemas.microsoft.com/office/drawing/2014/main" id="{CE255B80-AE1B-D752-B629-BE819C7612C9}"/>
              </a:ext>
            </a:extLst>
          </p:cNvPr>
          <p:cNvSpPr/>
          <p:nvPr/>
        </p:nvSpPr>
        <p:spPr>
          <a:xfrm>
            <a:off x="3543122" y="3817365"/>
            <a:ext cx="1287145" cy="189865"/>
          </a:xfrm>
          <a:custGeom>
            <a:avLst/>
            <a:gdLst/>
            <a:ahLst/>
            <a:cxnLst/>
            <a:rect l="l" t="t" r="r" b="b"/>
            <a:pathLst>
              <a:path w="1287145" h="189864">
                <a:moveTo>
                  <a:pt x="62699" y="8166"/>
                </a:moveTo>
                <a:lnTo>
                  <a:pt x="60020" y="520"/>
                </a:lnTo>
                <a:lnTo>
                  <a:pt x="46380" y="5448"/>
                </a:lnTo>
                <a:lnTo>
                  <a:pt x="34417" y="12598"/>
                </a:lnTo>
                <a:lnTo>
                  <a:pt x="8724" y="46850"/>
                </a:lnTo>
                <a:lnTo>
                  <a:pt x="0" y="94678"/>
                </a:lnTo>
                <a:lnTo>
                  <a:pt x="965" y="111975"/>
                </a:lnTo>
                <a:lnTo>
                  <a:pt x="15481" y="155854"/>
                </a:lnTo>
                <a:lnTo>
                  <a:pt x="46342" y="183819"/>
                </a:lnTo>
                <a:lnTo>
                  <a:pt x="60020" y="188747"/>
                </a:lnTo>
                <a:lnTo>
                  <a:pt x="62407" y="181102"/>
                </a:lnTo>
                <a:lnTo>
                  <a:pt x="51676" y="176352"/>
                </a:lnTo>
                <a:lnTo>
                  <a:pt x="42430" y="169748"/>
                </a:lnTo>
                <a:lnTo>
                  <a:pt x="19951" y="125374"/>
                </a:lnTo>
                <a:lnTo>
                  <a:pt x="17157" y="93687"/>
                </a:lnTo>
                <a:lnTo>
                  <a:pt x="17856" y="77635"/>
                </a:lnTo>
                <a:lnTo>
                  <a:pt x="28321" y="37985"/>
                </a:lnTo>
                <a:lnTo>
                  <a:pt x="51841" y="12890"/>
                </a:lnTo>
                <a:lnTo>
                  <a:pt x="62699" y="8166"/>
                </a:lnTo>
                <a:close/>
              </a:path>
              <a:path w="1287145" h="189864">
                <a:moveTo>
                  <a:pt x="139192" y="0"/>
                </a:moveTo>
                <a:lnTo>
                  <a:pt x="136613" y="0"/>
                </a:lnTo>
                <a:lnTo>
                  <a:pt x="125691" y="812"/>
                </a:lnTo>
                <a:lnTo>
                  <a:pt x="93065" y="23507"/>
                </a:lnTo>
                <a:lnTo>
                  <a:pt x="90182" y="41478"/>
                </a:lnTo>
                <a:lnTo>
                  <a:pt x="90182" y="46964"/>
                </a:lnTo>
                <a:lnTo>
                  <a:pt x="90957" y="53213"/>
                </a:lnTo>
                <a:lnTo>
                  <a:pt x="94068" y="67233"/>
                </a:lnTo>
                <a:lnTo>
                  <a:pt x="94843" y="71932"/>
                </a:lnTo>
                <a:lnTo>
                  <a:pt x="94843" y="78879"/>
                </a:lnTo>
                <a:lnTo>
                  <a:pt x="93268" y="82600"/>
                </a:lnTo>
                <a:lnTo>
                  <a:pt x="86982" y="88353"/>
                </a:lnTo>
                <a:lnTo>
                  <a:pt x="82245" y="89890"/>
                </a:lnTo>
                <a:lnTo>
                  <a:pt x="75895" y="90093"/>
                </a:lnTo>
                <a:lnTo>
                  <a:pt x="75895" y="98221"/>
                </a:lnTo>
                <a:lnTo>
                  <a:pt x="82245" y="98425"/>
                </a:lnTo>
                <a:lnTo>
                  <a:pt x="86982" y="99961"/>
                </a:lnTo>
                <a:lnTo>
                  <a:pt x="93268" y="105714"/>
                </a:lnTo>
                <a:lnTo>
                  <a:pt x="94843" y="109435"/>
                </a:lnTo>
                <a:lnTo>
                  <a:pt x="94843" y="116382"/>
                </a:lnTo>
                <a:lnTo>
                  <a:pt x="94068" y="121081"/>
                </a:lnTo>
                <a:lnTo>
                  <a:pt x="90957" y="135102"/>
                </a:lnTo>
                <a:lnTo>
                  <a:pt x="90182" y="141351"/>
                </a:lnTo>
                <a:lnTo>
                  <a:pt x="90182" y="146850"/>
                </a:lnTo>
                <a:lnTo>
                  <a:pt x="90906" y="156870"/>
                </a:lnTo>
                <a:lnTo>
                  <a:pt x="116230" y="186347"/>
                </a:lnTo>
                <a:lnTo>
                  <a:pt x="136613" y="189217"/>
                </a:lnTo>
                <a:lnTo>
                  <a:pt x="139192" y="189217"/>
                </a:lnTo>
                <a:lnTo>
                  <a:pt x="139192" y="181673"/>
                </a:lnTo>
                <a:lnTo>
                  <a:pt x="128117" y="181673"/>
                </a:lnTo>
                <a:lnTo>
                  <a:pt x="120611" y="179171"/>
                </a:lnTo>
                <a:lnTo>
                  <a:pt x="107048" y="148628"/>
                </a:lnTo>
                <a:lnTo>
                  <a:pt x="107048" y="144005"/>
                </a:lnTo>
                <a:lnTo>
                  <a:pt x="107708" y="138277"/>
                </a:lnTo>
                <a:lnTo>
                  <a:pt x="110350" y="124650"/>
                </a:lnTo>
                <a:lnTo>
                  <a:pt x="111010" y="119786"/>
                </a:lnTo>
                <a:lnTo>
                  <a:pt x="111010" y="111264"/>
                </a:lnTo>
                <a:lnTo>
                  <a:pt x="109359" y="106641"/>
                </a:lnTo>
                <a:lnTo>
                  <a:pt x="102743" y="99441"/>
                </a:lnTo>
                <a:lnTo>
                  <a:pt x="98806" y="96774"/>
                </a:lnTo>
                <a:lnTo>
                  <a:pt x="94246" y="95046"/>
                </a:lnTo>
                <a:lnTo>
                  <a:pt x="94246" y="93268"/>
                </a:lnTo>
                <a:lnTo>
                  <a:pt x="98806" y="91541"/>
                </a:lnTo>
                <a:lnTo>
                  <a:pt x="102743" y="88887"/>
                </a:lnTo>
                <a:lnTo>
                  <a:pt x="109359" y="81673"/>
                </a:lnTo>
                <a:lnTo>
                  <a:pt x="111010" y="77063"/>
                </a:lnTo>
                <a:lnTo>
                  <a:pt x="111010" y="68529"/>
                </a:lnTo>
                <a:lnTo>
                  <a:pt x="110350" y="63665"/>
                </a:lnTo>
                <a:lnTo>
                  <a:pt x="107708" y="50038"/>
                </a:lnTo>
                <a:lnTo>
                  <a:pt x="107048" y="44323"/>
                </a:lnTo>
                <a:lnTo>
                  <a:pt x="107048" y="39687"/>
                </a:lnTo>
                <a:lnTo>
                  <a:pt x="107556" y="31711"/>
                </a:lnTo>
                <a:lnTo>
                  <a:pt x="128117" y="7543"/>
                </a:lnTo>
                <a:lnTo>
                  <a:pt x="139192" y="7543"/>
                </a:lnTo>
                <a:lnTo>
                  <a:pt x="139192" y="0"/>
                </a:lnTo>
                <a:close/>
              </a:path>
              <a:path w="1287145" h="189864">
                <a:moveTo>
                  <a:pt x="212013" y="254"/>
                </a:moveTo>
                <a:lnTo>
                  <a:pt x="167767" y="254"/>
                </a:lnTo>
                <a:lnTo>
                  <a:pt x="167767" y="7874"/>
                </a:lnTo>
                <a:lnTo>
                  <a:pt x="167767" y="181864"/>
                </a:lnTo>
                <a:lnTo>
                  <a:pt x="167767" y="189484"/>
                </a:lnTo>
                <a:lnTo>
                  <a:pt x="212013" y="189484"/>
                </a:lnTo>
                <a:lnTo>
                  <a:pt x="212013" y="181864"/>
                </a:lnTo>
                <a:lnTo>
                  <a:pt x="184238" y="181864"/>
                </a:lnTo>
                <a:lnTo>
                  <a:pt x="184238" y="7874"/>
                </a:lnTo>
                <a:lnTo>
                  <a:pt x="212013" y="7874"/>
                </a:lnTo>
                <a:lnTo>
                  <a:pt x="212013" y="254"/>
                </a:lnTo>
                <a:close/>
              </a:path>
              <a:path w="1287145" h="189864">
                <a:moveTo>
                  <a:pt x="1119365" y="254"/>
                </a:moveTo>
                <a:lnTo>
                  <a:pt x="1075105" y="254"/>
                </a:lnTo>
                <a:lnTo>
                  <a:pt x="1075105" y="7874"/>
                </a:lnTo>
                <a:lnTo>
                  <a:pt x="1102893" y="7874"/>
                </a:lnTo>
                <a:lnTo>
                  <a:pt x="1102893" y="181864"/>
                </a:lnTo>
                <a:lnTo>
                  <a:pt x="1075105" y="181864"/>
                </a:lnTo>
                <a:lnTo>
                  <a:pt x="1075105" y="189484"/>
                </a:lnTo>
                <a:lnTo>
                  <a:pt x="1119365" y="189484"/>
                </a:lnTo>
                <a:lnTo>
                  <a:pt x="1119365" y="181864"/>
                </a:lnTo>
                <a:lnTo>
                  <a:pt x="1119365" y="7874"/>
                </a:lnTo>
                <a:lnTo>
                  <a:pt x="1119365" y="254"/>
                </a:lnTo>
                <a:close/>
              </a:path>
              <a:path w="1287145" h="189864">
                <a:moveTo>
                  <a:pt x="1211224" y="90195"/>
                </a:moveTo>
                <a:lnTo>
                  <a:pt x="1204874" y="89992"/>
                </a:lnTo>
                <a:lnTo>
                  <a:pt x="1200124" y="88455"/>
                </a:lnTo>
                <a:lnTo>
                  <a:pt x="1193838" y="82702"/>
                </a:lnTo>
                <a:lnTo>
                  <a:pt x="1192263" y="78981"/>
                </a:lnTo>
                <a:lnTo>
                  <a:pt x="1192263" y="72034"/>
                </a:lnTo>
                <a:lnTo>
                  <a:pt x="1193050" y="67335"/>
                </a:lnTo>
                <a:lnTo>
                  <a:pt x="1196149" y="53314"/>
                </a:lnTo>
                <a:lnTo>
                  <a:pt x="1196936" y="47066"/>
                </a:lnTo>
                <a:lnTo>
                  <a:pt x="1196936" y="41579"/>
                </a:lnTo>
                <a:lnTo>
                  <a:pt x="1196213" y="31902"/>
                </a:lnTo>
                <a:lnTo>
                  <a:pt x="1170876" y="2870"/>
                </a:lnTo>
                <a:lnTo>
                  <a:pt x="1150493" y="0"/>
                </a:lnTo>
                <a:lnTo>
                  <a:pt x="1147914" y="0"/>
                </a:lnTo>
                <a:lnTo>
                  <a:pt x="1147914" y="7543"/>
                </a:lnTo>
                <a:lnTo>
                  <a:pt x="1159002" y="7543"/>
                </a:lnTo>
                <a:lnTo>
                  <a:pt x="1166507" y="10033"/>
                </a:lnTo>
                <a:lnTo>
                  <a:pt x="1180071" y="39789"/>
                </a:lnTo>
                <a:lnTo>
                  <a:pt x="1180071" y="44424"/>
                </a:lnTo>
                <a:lnTo>
                  <a:pt x="1179398" y="50139"/>
                </a:lnTo>
                <a:lnTo>
                  <a:pt x="1176756" y="63766"/>
                </a:lnTo>
                <a:lnTo>
                  <a:pt x="1176096" y="68630"/>
                </a:lnTo>
                <a:lnTo>
                  <a:pt x="1176096" y="77165"/>
                </a:lnTo>
                <a:lnTo>
                  <a:pt x="1177747" y="81775"/>
                </a:lnTo>
                <a:lnTo>
                  <a:pt x="1184363" y="88988"/>
                </a:lnTo>
                <a:lnTo>
                  <a:pt x="1188300" y="91643"/>
                </a:lnTo>
                <a:lnTo>
                  <a:pt x="1192860" y="93370"/>
                </a:lnTo>
                <a:lnTo>
                  <a:pt x="1192860" y="95148"/>
                </a:lnTo>
                <a:lnTo>
                  <a:pt x="1188300" y="96875"/>
                </a:lnTo>
                <a:lnTo>
                  <a:pt x="1184363" y="99529"/>
                </a:lnTo>
                <a:lnTo>
                  <a:pt x="1177747" y="106743"/>
                </a:lnTo>
                <a:lnTo>
                  <a:pt x="1176096" y="111353"/>
                </a:lnTo>
                <a:lnTo>
                  <a:pt x="1176096" y="119888"/>
                </a:lnTo>
                <a:lnTo>
                  <a:pt x="1176756" y="124752"/>
                </a:lnTo>
                <a:lnTo>
                  <a:pt x="1179398" y="138379"/>
                </a:lnTo>
                <a:lnTo>
                  <a:pt x="1180071" y="144094"/>
                </a:lnTo>
                <a:lnTo>
                  <a:pt x="1180071" y="148729"/>
                </a:lnTo>
                <a:lnTo>
                  <a:pt x="1179550" y="157060"/>
                </a:lnTo>
                <a:lnTo>
                  <a:pt x="1159002" y="181673"/>
                </a:lnTo>
                <a:lnTo>
                  <a:pt x="1147914" y="181673"/>
                </a:lnTo>
                <a:lnTo>
                  <a:pt x="1147914" y="189217"/>
                </a:lnTo>
                <a:lnTo>
                  <a:pt x="1150493" y="189217"/>
                </a:lnTo>
                <a:lnTo>
                  <a:pt x="1161415" y="188391"/>
                </a:lnTo>
                <a:lnTo>
                  <a:pt x="1194041" y="165506"/>
                </a:lnTo>
                <a:lnTo>
                  <a:pt x="1196936" y="146939"/>
                </a:lnTo>
                <a:lnTo>
                  <a:pt x="1196936" y="141452"/>
                </a:lnTo>
                <a:lnTo>
                  <a:pt x="1196149" y="135204"/>
                </a:lnTo>
                <a:lnTo>
                  <a:pt x="1193050" y="121183"/>
                </a:lnTo>
                <a:lnTo>
                  <a:pt x="1192263" y="116484"/>
                </a:lnTo>
                <a:lnTo>
                  <a:pt x="1192263" y="109537"/>
                </a:lnTo>
                <a:lnTo>
                  <a:pt x="1193838" y="105816"/>
                </a:lnTo>
                <a:lnTo>
                  <a:pt x="1200124" y="100063"/>
                </a:lnTo>
                <a:lnTo>
                  <a:pt x="1204874" y="98526"/>
                </a:lnTo>
                <a:lnTo>
                  <a:pt x="1211224" y="98323"/>
                </a:lnTo>
                <a:lnTo>
                  <a:pt x="1211224" y="90195"/>
                </a:lnTo>
                <a:close/>
              </a:path>
              <a:path w="1287145" h="189864">
                <a:moveTo>
                  <a:pt x="1287119" y="94678"/>
                </a:moveTo>
                <a:lnTo>
                  <a:pt x="1278382" y="46850"/>
                </a:lnTo>
                <a:lnTo>
                  <a:pt x="1252702" y="12598"/>
                </a:lnTo>
                <a:lnTo>
                  <a:pt x="1227086" y="520"/>
                </a:lnTo>
                <a:lnTo>
                  <a:pt x="1224407" y="8166"/>
                </a:lnTo>
                <a:lnTo>
                  <a:pt x="1235303" y="12890"/>
                </a:lnTo>
                <a:lnTo>
                  <a:pt x="1244676" y="19443"/>
                </a:lnTo>
                <a:lnTo>
                  <a:pt x="1267180" y="62992"/>
                </a:lnTo>
                <a:lnTo>
                  <a:pt x="1269949" y="93687"/>
                </a:lnTo>
                <a:lnTo>
                  <a:pt x="1269250" y="110299"/>
                </a:lnTo>
                <a:lnTo>
                  <a:pt x="1258785" y="150939"/>
                </a:lnTo>
                <a:lnTo>
                  <a:pt x="1224711" y="181102"/>
                </a:lnTo>
                <a:lnTo>
                  <a:pt x="1227086" y="188747"/>
                </a:lnTo>
                <a:lnTo>
                  <a:pt x="1263053" y="167373"/>
                </a:lnTo>
                <a:lnTo>
                  <a:pt x="1283246" y="127939"/>
                </a:lnTo>
                <a:lnTo>
                  <a:pt x="1286154" y="111975"/>
                </a:lnTo>
                <a:lnTo>
                  <a:pt x="1287119" y="9467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8">
            <a:extLst>
              <a:ext uri="{FF2B5EF4-FFF2-40B4-BE49-F238E27FC236}">
                <a16:creationId xmlns:a16="http://schemas.microsoft.com/office/drawing/2014/main" id="{FDF4F02E-4E74-0ABF-683A-3C428CB580BB}"/>
              </a:ext>
            </a:extLst>
          </p:cNvPr>
          <p:cNvSpPr/>
          <p:nvPr/>
        </p:nvSpPr>
        <p:spPr>
          <a:xfrm>
            <a:off x="5122824" y="3817365"/>
            <a:ext cx="1135380" cy="189865"/>
          </a:xfrm>
          <a:custGeom>
            <a:avLst/>
            <a:gdLst/>
            <a:ahLst/>
            <a:cxnLst/>
            <a:rect l="l" t="t" r="r" b="b"/>
            <a:pathLst>
              <a:path w="1135379" h="189864">
                <a:moveTo>
                  <a:pt x="63296" y="0"/>
                </a:moveTo>
                <a:lnTo>
                  <a:pt x="60718" y="0"/>
                </a:lnTo>
                <a:lnTo>
                  <a:pt x="49796" y="812"/>
                </a:lnTo>
                <a:lnTo>
                  <a:pt x="17170" y="23507"/>
                </a:lnTo>
                <a:lnTo>
                  <a:pt x="14287" y="41478"/>
                </a:lnTo>
                <a:lnTo>
                  <a:pt x="14287" y="46964"/>
                </a:lnTo>
                <a:lnTo>
                  <a:pt x="15062" y="53213"/>
                </a:lnTo>
                <a:lnTo>
                  <a:pt x="18173" y="67233"/>
                </a:lnTo>
                <a:lnTo>
                  <a:pt x="18948" y="71932"/>
                </a:lnTo>
                <a:lnTo>
                  <a:pt x="18948" y="78879"/>
                </a:lnTo>
                <a:lnTo>
                  <a:pt x="17373" y="82600"/>
                </a:lnTo>
                <a:lnTo>
                  <a:pt x="11087" y="88353"/>
                </a:lnTo>
                <a:lnTo>
                  <a:pt x="6350" y="89890"/>
                </a:lnTo>
                <a:lnTo>
                  <a:pt x="0" y="90093"/>
                </a:lnTo>
                <a:lnTo>
                  <a:pt x="0" y="98221"/>
                </a:lnTo>
                <a:lnTo>
                  <a:pt x="6350" y="98425"/>
                </a:lnTo>
                <a:lnTo>
                  <a:pt x="11087" y="99961"/>
                </a:lnTo>
                <a:lnTo>
                  <a:pt x="17373" y="105714"/>
                </a:lnTo>
                <a:lnTo>
                  <a:pt x="18948" y="109435"/>
                </a:lnTo>
                <a:lnTo>
                  <a:pt x="18948" y="116382"/>
                </a:lnTo>
                <a:lnTo>
                  <a:pt x="18173" y="121081"/>
                </a:lnTo>
                <a:lnTo>
                  <a:pt x="15062" y="135102"/>
                </a:lnTo>
                <a:lnTo>
                  <a:pt x="14287" y="141351"/>
                </a:lnTo>
                <a:lnTo>
                  <a:pt x="14287" y="146850"/>
                </a:lnTo>
                <a:lnTo>
                  <a:pt x="15011" y="156870"/>
                </a:lnTo>
                <a:lnTo>
                  <a:pt x="40335" y="186347"/>
                </a:lnTo>
                <a:lnTo>
                  <a:pt x="60718" y="189217"/>
                </a:lnTo>
                <a:lnTo>
                  <a:pt x="63296" y="189217"/>
                </a:lnTo>
                <a:lnTo>
                  <a:pt x="63296" y="181673"/>
                </a:lnTo>
                <a:lnTo>
                  <a:pt x="52222" y="181673"/>
                </a:lnTo>
                <a:lnTo>
                  <a:pt x="44716" y="179171"/>
                </a:lnTo>
                <a:lnTo>
                  <a:pt x="31153" y="148628"/>
                </a:lnTo>
                <a:lnTo>
                  <a:pt x="31153" y="144005"/>
                </a:lnTo>
                <a:lnTo>
                  <a:pt x="31813" y="138277"/>
                </a:lnTo>
                <a:lnTo>
                  <a:pt x="34455" y="124650"/>
                </a:lnTo>
                <a:lnTo>
                  <a:pt x="35115" y="119786"/>
                </a:lnTo>
                <a:lnTo>
                  <a:pt x="35115" y="111264"/>
                </a:lnTo>
                <a:lnTo>
                  <a:pt x="33464" y="106641"/>
                </a:lnTo>
                <a:lnTo>
                  <a:pt x="26847" y="99441"/>
                </a:lnTo>
                <a:lnTo>
                  <a:pt x="22910" y="96774"/>
                </a:lnTo>
                <a:lnTo>
                  <a:pt x="18351" y="95046"/>
                </a:lnTo>
                <a:lnTo>
                  <a:pt x="18351" y="93268"/>
                </a:lnTo>
                <a:lnTo>
                  <a:pt x="22910" y="91541"/>
                </a:lnTo>
                <a:lnTo>
                  <a:pt x="26847" y="88887"/>
                </a:lnTo>
                <a:lnTo>
                  <a:pt x="33464" y="81673"/>
                </a:lnTo>
                <a:lnTo>
                  <a:pt x="35115" y="77063"/>
                </a:lnTo>
                <a:lnTo>
                  <a:pt x="35115" y="68529"/>
                </a:lnTo>
                <a:lnTo>
                  <a:pt x="34455" y="63665"/>
                </a:lnTo>
                <a:lnTo>
                  <a:pt x="31813" y="50038"/>
                </a:lnTo>
                <a:lnTo>
                  <a:pt x="31153" y="44323"/>
                </a:lnTo>
                <a:lnTo>
                  <a:pt x="31153" y="39687"/>
                </a:lnTo>
                <a:lnTo>
                  <a:pt x="31661" y="31711"/>
                </a:lnTo>
                <a:lnTo>
                  <a:pt x="52222" y="7543"/>
                </a:lnTo>
                <a:lnTo>
                  <a:pt x="63296" y="7543"/>
                </a:lnTo>
                <a:lnTo>
                  <a:pt x="63296" y="0"/>
                </a:lnTo>
                <a:close/>
              </a:path>
              <a:path w="1135379" h="189864">
                <a:moveTo>
                  <a:pt x="136118" y="254"/>
                </a:moveTo>
                <a:lnTo>
                  <a:pt x="91871" y="254"/>
                </a:lnTo>
                <a:lnTo>
                  <a:pt x="91871" y="7874"/>
                </a:lnTo>
                <a:lnTo>
                  <a:pt x="91871" y="181864"/>
                </a:lnTo>
                <a:lnTo>
                  <a:pt x="91871" y="189484"/>
                </a:lnTo>
                <a:lnTo>
                  <a:pt x="136118" y="189484"/>
                </a:lnTo>
                <a:lnTo>
                  <a:pt x="136118" y="181864"/>
                </a:lnTo>
                <a:lnTo>
                  <a:pt x="108343" y="181864"/>
                </a:lnTo>
                <a:lnTo>
                  <a:pt x="108343" y="7874"/>
                </a:lnTo>
                <a:lnTo>
                  <a:pt x="136118" y="7874"/>
                </a:lnTo>
                <a:lnTo>
                  <a:pt x="136118" y="254"/>
                </a:lnTo>
                <a:close/>
              </a:path>
              <a:path w="1135379" h="189864">
                <a:moveTo>
                  <a:pt x="1043470" y="254"/>
                </a:moveTo>
                <a:lnTo>
                  <a:pt x="999210" y="254"/>
                </a:lnTo>
                <a:lnTo>
                  <a:pt x="999210" y="7874"/>
                </a:lnTo>
                <a:lnTo>
                  <a:pt x="1026998" y="7874"/>
                </a:lnTo>
                <a:lnTo>
                  <a:pt x="1026998" y="181864"/>
                </a:lnTo>
                <a:lnTo>
                  <a:pt x="999210" y="181864"/>
                </a:lnTo>
                <a:lnTo>
                  <a:pt x="999210" y="189484"/>
                </a:lnTo>
                <a:lnTo>
                  <a:pt x="1043470" y="189484"/>
                </a:lnTo>
                <a:lnTo>
                  <a:pt x="1043470" y="181864"/>
                </a:lnTo>
                <a:lnTo>
                  <a:pt x="1043470" y="7874"/>
                </a:lnTo>
                <a:lnTo>
                  <a:pt x="1043470" y="254"/>
                </a:lnTo>
                <a:close/>
              </a:path>
              <a:path w="1135379" h="189864">
                <a:moveTo>
                  <a:pt x="1135329" y="90195"/>
                </a:moveTo>
                <a:lnTo>
                  <a:pt x="1128979" y="89992"/>
                </a:lnTo>
                <a:lnTo>
                  <a:pt x="1124229" y="88455"/>
                </a:lnTo>
                <a:lnTo>
                  <a:pt x="1117942" y="82702"/>
                </a:lnTo>
                <a:lnTo>
                  <a:pt x="1116368" y="78981"/>
                </a:lnTo>
                <a:lnTo>
                  <a:pt x="1116368" y="72034"/>
                </a:lnTo>
                <a:lnTo>
                  <a:pt x="1117155" y="67335"/>
                </a:lnTo>
                <a:lnTo>
                  <a:pt x="1120254" y="53314"/>
                </a:lnTo>
                <a:lnTo>
                  <a:pt x="1121041" y="47066"/>
                </a:lnTo>
                <a:lnTo>
                  <a:pt x="1121041" y="41579"/>
                </a:lnTo>
                <a:lnTo>
                  <a:pt x="1120317" y="31902"/>
                </a:lnTo>
                <a:lnTo>
                  <a:pt x="1094981" y="2870"/>
                </a:lnTo>
                <a:lnTo>
                  <a:pt x="1074597" y="0"/>
                </a:lnTo>
                <a:lnTo>
                  <a:pt x="1072019" y="0"/>
                </a:lnTo>
                <a:lnTo>
                  <a:pt x="1072019" y="7543"/>
                </a:lnTo>
                <a:lnTo>
                  <a:pt x="1083106" y="7543"/>
                </a:lnTo>
                <a:lnTo>
                  <a:pt x="1090612" y="10033"/>
                </a:lnTo>
                <a:lnTo>
                  <a:pt x="1104176" y="39789"/>
                </a:lnTo>
                <a:lnTo>
                  <a:pt x="1104176" y="44424"/>
                </a:lnTo>
                <a:lnTo>
                  <a:pt x="1103503" y="50139"/>
                </a:lnTo>
                <a:lnTo>
                  <a:pt x="1100861" y="63766"/>
                </a:lnTo>
                <a:lnTo>
                  <a:pt x="1100201" y="68630"/>
                </a:lnTo>
                <a:lnTo>
                  <a:pt x="1100201" y="77165"/>
                </a:lnTo>
                <a:lnTo>
                  <a:pt x="1101852" y="81775"/>
                </a:lnTo>
                <a:lnTo>
                  <a:pt x="1108468" y="88988"/>
                </a:lnTo>
                <a:lnTo>
                  <a:pt x="1112405" y="91643"/>
                </a:lnTo>
                <a:lnTo>
                  <a:pt x="1116965" y="93370"/>
                </a:lnTo>
                <a:lnTo>
                  <a:pt x="1116965" y="95148"/>
                </a:lnTo>
                <a:lnTo>
                  <a:pt x="1112405" y="96875"/>
                </a:lnTo>
                <a:lnTo>
                  <a:pt x="1108468" y="99529"/>
                </a:lnTo>
                <a:lnTo>
                  <a:pt x="1101852" y="106743"/>
                </a:lnTo>
                <a:lnTo>
                  <a:pt x="1100201" y="111353"/>
                </a:lnTo>
                <a:lnTo>
                  <a:pt x="1100201" y="119888"/>
                </a:lnTo>
                <a:lnTo>
                  <a:pt x="1100861" y="124752"/>
                </a:lnTo>
                <a:lnTo>
                  <a:pt x="1103503" y="138379"/>
                </a:lnTo>
                <a:lnTo>
                  <a:pt x="1104176" y="144094"/>
                </a:lnTo>
                <a:lnTo>
                  <a:pt x="1104176" y="148729"/>
                </a:lnTo>
                <a:lnTo>
                  <a:pt x="1103655" y="157060"/>
                </a:lnTo>
                <a:lnTo>
                  <a:pt x="1083106" y="181673"/>
                </a:lnTo>
                <a:lnTo>
                  <a:pt x="1072019" y="181673"/>
                </a:lnTo>
                <a:lnTo>
                  <a:pt x="1072019" y="189217"/>
                </a:lnTo>
                <a:lnTo>
                  <a:pt x="1074597" y="189217"/>
                </a:lnTo>
                <a:lnTo>
                  <a:pt x="1085519" y="188391"/>
                </a:lnTo>
                <a:lnTo>
                  <a:pt x="1118146" y="165506"/>
                </a:lnTo>
                <a:lnTo>
                  <a:pt x="1121041" y="146939"/>
                </a:lnTo>
                <a:lnTo>
                  <a:pt x="1121041" y="141452"/>
                </a:lnTo>
                <a:lnTo>
                  <a:pt x="1120254" y="135204"/>
                </a:lnTo>
                <a:lnTo>
                  <a:pt x="1117155" y="121183"/>
                </a:lnTo>
                <a:lnTo>
                  <a:pt x="1116368" y="116484"/>
                </a:lnTo>
                <a:lnTo>
                  <a:pt x="1116368" y="109537"/>
                </a:lnTo>
                <a:lnTo>
                  <a:pt x="1117942" y="105816"/>
                </a:lnTo>
                <a:lnTo>
                  <a:pt x="1124229" y="100063"/>
                </a:lnTo>
                <a:lnTo>
                  <a:pt x="1128979" y="98526"/>
                </a:lnTo>
                <a:lnTo>
                  <a:pt x="1135329" y="98323"/>
                </a:lnTo>
                <a:lnTo>
                  <a:pt x="1135329" y="90195"/>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9">
            <a:extLst>
              <a:ext uri="{FF2B5EF4-FFF2-40B4-BE49-F238E27FC236}">
                <a16:creationId xmlns:a16="http://schemas.microsoft.com/office/drawing/2014/main" id="{23DB6B2C-1A9C-B12D-4CF0-647635AAD1BE}"/>
              </a:ext>
            </a:extLst>
          </p:cNvPr>
          <p:cNvSpPr/>
          <p:nvPr/>
        </p:nvSpPr>
        <p:spPr>
          <a:xfrm>
            <a:off x="1928571" y="4299965"/>
            <a:ext cx="3044825" cy="483234"/>
          </a:xfrm>
          <a:custGeom>
            <a:avLst/>
            <a:gdLst/>
            <a:ahLst/>
            <a:cxnLst/>
            <a:rect l="l" t="t" r="r" b="b"/>
            <a:pathLst>
              <a:path w="3044825" h="483235">
                <a:moveTo>
                  <a:pt x="34467" y="352044"/>
                </a:moveTo>
                <a:lnTo>
                  <a:pt x="4038" y="352044"/>
                </a:lnTo>
                <a:lnTo>
                  <a:pt x="4038" y="358394"/>
                </a:lnTo>
                <a:lnTo>
                  <a:pt x="4038" y="477774"/>
                </a:lnTo>
                <a:lnTo>
                  <a:pt x="4038" y="482854"/>
                </a:lnTo>
                <a:lnTo>
                  <a:pt x="34467" y="482854"/>
                </a:lnTo>
                <a:lnTo>
                  <a:pt x="34467" y="477774"/>
                </a:lnTo>
                <a:lnTo>
                  <a:pt x="15367" y="477774"/>
                </a:lnTo>
                <a:lnTo>
                  <a:pt x="15367" y="358394"/>
                </a:lnTo>
                <a:lnTo>
                  <a:pt x="34467" y="358394"/>
                </a:lnTo>
                <a:lnTo>
                  <a:pt x="34467" y="352044"/>
                </a:lnTo>
                <a:close/>
              </a:path>
              <a:path w="3044825" h="483235">
                <a:moveTo>
                  <a:pt x="62699" y="8166"/>
                </a:moveTo>
                <a:lnTo>
                  <a:pt x="60020" y="520"/>
                </a:lnTo>
                <a:lnTo>
                  <a:pt x="46380" y="5448"/>
                </a:lnTo>
                <a:lnTo>
                  <a:pt x="34417" y="12598"/>
                </a:lnTo>
                <a:lnTo>
                  <a:pt x="8724" y="46850"/>
                </a:lnTo>
                <a:lnTo>
                  <a:pt x="0" y="94678"/>
                </a:lnTo>
                <a:lnTo>
                  <a:pt x="965" y="111975"/>
                </a:lnTo>
                <a:lnTo>
                  <a:pt x="15481" y="155854"/>
                </a:lnTo>
                <a:lnTo>
                  <a:pt x="46342" y="183819"/>
                </a:lnTo>
                <a:lnTo>
                  <a:pt x="60020" y="188747"/>
                </a:lnTo>
                <a:lnTo>
                  <a:pt x="62407" y="181102"/>
                </a:lnTo>
                <a:lnTo>
                  <a:pt x="51676" y="176352"/>
                </a:lnTo>
                <a:lnTo>
                  <a:pt x="42430" y="169748"/>
                </a:lnTo>
                <a:lnTo>
                  <a:pt x="19951" y="125374"/>
                </a:lnTo>
                <a:lnTo>
                  <a:pt x="17157" y="93687"/>
                </a:lnTo>
                <a:lnTo>
                  <a:pt x="17856" y="77635"/>
                </a:lnTo>
                <a:lnTo>
                  <a:pt x="28321" y="37985"/>
                </a:lnTo>
                <a:lnTo>
                  <a:pt x="51841" y="12890"/>
                </a:lnTo>
                <a:lnTo>
                  <a:pt x="62699" y="8166"/>
                </a:lnTo>
                <a:close/>
              </a:path>
              <a:path w="3044825" h="483235">
                <a:moveTo>
                  <a:pt x="497751" y="94678"/>
                </a:moveTo>
                <a:lnTo>
                  <a:pt x="489013" y="46850"/>
                </a:lnTo>
                <a:lnTo>
                  <a:pt x="463334" y="12598"/>
                </a:lnTo>
                <a:lnTo>
                  <a:pt x="437718" y="520"/>
                </a:lnTo>
                <a:lnTo>
                  <a:pt x="435038" y="8166"/>
                </a:lnTo>
                <a:lnTo>
                  <a:pt x="445935" y="12890"/>
                </a:lnTo>
                <a:lnTo>
                  <a:pt x="455307" y="19443"/>
                </a:lnTo>
                <a:lnTo>
                  <a:pt x="477812" y="62992"/>
                </a:lnTo>
                <a:lnTo>
                  <a:pt x="480580" y="93687"/>
                </a:lnTo>
                <a:lnTo>
                  <a:pt x="479882" y="110299"/>
                </a:lnTo>
                <a:lnTo>
                  <a:pt x="469417" y="150939"/>
                </a:lnTo>
                <a:lnTo>
                  <a:pt x="435343" y="181102"/>
                </a:lnTo>
                <a:lnTo>
                  <a:pt x="437718" y="188747"/>
                </a:lnTo>
                <a:lnTo>
                  <a:pt x="473684" y="167373"/>
                </a:lnTo>
                <a:lnTo>
                  <a:pt x="493877" y="127939"/>
                </a:lnTo>
                <a:lnTo>
                  <a:pt x="496785" y="111975"/>
                </a:lnTo>
                <a:lnTo>
                  <a:pt x="497751" y="94678"/>
                </a:lnTo>
                <a:close/>
              </a:path>
              <a:path w="3044825" h="483235">
                <a:moveTo>
                  <a:pt x="748855" y="352044"/>
                </a:moveTo>
                <a:lnTo>
                  <a:pt x="718426" y="352044"/>
                </a:lnTo>
                <a:lnTo>
                  <a:pt x="718426" y="358394"/>
                </a:lnTo>
                <a:lnTo>
                  <a:pt x="737527" y="358394"/>
                </a:lnTo>
                <a:lnTo>
                  <a:pt x="737527" y="477774"/>
                </a:lnTo>
                <a:lnTo>
                  <a:pt x="718426" y="477774"/>
                </a:lnTo>
                <a:lnTo>
                  <a:pt x="718426" y="482854"/>
                </a:lnTo>
                <a:lnTo>
                  <a:pt x="748855" y="482854"/>
                </a:lnTo>
                <a:lnTo>
                  <a:pt x="748855" y="477774"/>
                </a:lnTo>
                <a:lnTo>
                  <a:pt x="748855" y="358394"/>
                </a:lnTo>
                <a:lnTo>
                  <a:pt x="748855" y="352044"/>
                </a:lnTo>
                <a:close/>
              </a:path>
              <a:path w="3044825" h="483235">
                <a:moveTo>
                  <a:pt x="862253" y="352044"/>
                </a:moveTo>
                <a:lnTo>
                  <a:pt x="831824" y="352044"/>
                </a:lnTo>
                <a:lnTo>
                  <a:pt x="831824" y="358394"/>
                </a:lnTo>
                <a:lnTo>
                  <a:pt x="831824" y="477774"/>
                </a:lnTo>
                <a:lnTo>
                  <a:pt x="831824" y="482854"/>
                </a:lnTo>
                <a:lnTo>
                  <a:pt x="862253" y="482854"/>
                </a:lnTo>
                <a:lnTo>
                  <a:pt x="862253" y="477774"/>
                </a:lnTo>
                <a:lnTo>
                  <a:pt x="843153" y="477774"/>
                </a:lnTo>
                <a:lnTo>
                  <a:pt x="843153" y="358394"/>
                </a:lnTo>
                <a:lnTo>
                  <a:pt x="862253" y="358394"/>
                </a:lnTo>
                <a:lnTo>
                  <a:pt x="862253" y="352044"/>
                </a:lnTo>
                <a:close/>
              </a:path>
              <a:path w="3044825" h="483235">
                <a:moveTo>
                  <a:pt x="1492948" y="352044"/>
                </a:moveTo>
                <a:lnTo>
                  <a:pt x="1462519" y="352044"/>
                </a:lnTo>
                <a:lnTo>
                  <a:pt x="1462519" y="358394"/>
                </a:lnTo>
                <a:lnTo>
                  <a:pt x="1481620" y="358394"/>
                </a:lnTo>
                <a:lnTo>
                  <a:pt x="1481620" y="477774"/>
                </a:lnTo>
                <a:lnTo>
                  <a:pt x="1462519" y="477774"/>
                </a:lnTo>
                <a:lnTo>
                  <a:pt x="1462519" y="482854"/>
                </a:lnTo>
                <a:lnTo>
                  <a:pt x="1492948" y="482854"/>
                </a:lnTo>
                <a:lnTo>
                  <a:pt x="1492948" y="477774"/>
                </a:lnTo>
                <a:lnTo>
                  <a:pt x="1492948" y="358394"/>
                </a:lnTo>
                <a:lnTo>
                  <a:pt x="1492948" y="352044"/>
                </a:lnTo>
                <a:close/>
              </a:path>
              <a:path w="3044825" h="483235">
                <a:moveTo>
                  <a:pt x="1694903" y="8166"/>
                </a:moveTo>
                <a:lnTo>
                  <a:pt x="1692224" y="520"/>
                </a:lnTo>
                <a:lnTo>
                  <a:pt x="1678584" y="5448"/>
                </a:lnTo>
                <a:lnTo>
                  <a:pt x="1666621" y="12598"/>
                </a:lnTo>
                <a:lnTo>
                  <a:pt x="1640928" y="46850"/>
                </a:lnTo>
                <a:lnTo>
                  <a:pt x="1632204" y="94678"/>
                </a:lnTo>
                <a:lnTo>
                  <a:pt x="1633169" y="111975"/>
                </a:lnTo>
                <a:lnTo>
                  <a:pt x="1647685" y="155854"/>
                </a:lnTo>
                <a:lnTo>
                  <a:pt x="1678546" y="183819"/>
                </a:lnTo>
                <a:lnTo>
                  <a:pt x="1692224" y="188747"/>
                </a:lnTo>
                <a:lnTo>
                  <a:pt x="1694611" y="181102"/>
                </a:lnTo>
                <a:lnTo>
                  <a:pt x="1683880" y="176352"/>
                </a:lnTo>
                <a:lnTo>
                  <a:pt x="1674634" y="169748"/>
                </a:lnTo>
                <a:lnTo>
                  <a:pt x="1652155" y="125374"/>
                </a:lnTo>
                <a:lnTo>
                  <a:pt x="1649361" y="93687"/>
                </a:lnTo>
                <a:lnTo>
                  <a:pt x="1650060" y="77635"/>
                </a:lnTo>
                <a:lnTo>
                  <a:pt x="1660525" y="37985"/>
                </a:lnTo>
                <a:lnTo>
                  <a:pt x="1684045" y="12890"/>
                </a:lnTo>
                <a:lnTo>
                  <a:pt x="1694903" y="8166"/>
                </a:lnTo>
                <a:close/>
              </a:path>
              <a:path w="3044825" h="483235">
                <a:moveTo>
                  <a:pt x="1771396" y="0"/>
                </a:moveTo>
                <a:lnTo>
                  <a:pt x="1768817" y="0"/>
                </a:lnTo>
                <a:lnTo>
                  <a:pt x="1757895" y="812"/>
                </a:lnTo>
                <a:lnTo>
                  <a:pt x="1725269" y="23507"/>
                </a:lnTo>
                <a:lnTo>
                  <a:pt x="1722386" y="41478"/>
                </a:lnTo>
                <a:lnTo>
                  <a:pt x="1722386" y="46964"/>
                </a:lnTo>
                <a:lnTo>
                  <a:pt x="1723161" y="53213"/>
                </a:lnTo>
                <a:lnTo>
                  <a:pt x="1726272" y="67233"/>
                </a:lnTo>
                <a:lnTo>
                  <a:pt x="1727047" y="71932"/>
                </a:lnTo>
                <a:lnTo>
                  <a:pt x="1727047" y="78879"/>
                </a:lnTo>
                <a:lnTo>
                  <a:pt x="1725472" y="82600"/>
                </a:lnTo>
                <a:lnTo>
                  <a:pt x="1719186" y="88353"/>
                </a:lnTo>
                <a:lnTo>
                  <a:pt x="1714449" y="89890"/>
                </a:lnTo>
                <a:lnTo>
                  <a:pt x="1708099" y="90093"/>
                </a:lnTo>
                <a:lnTo>
                  <a:pt x="1708099" y="98234"/>
                </a:lnTo>
                <a:lnTo>
                  <a:pt x="1714449" y="98425"/>
                </a:lnTo>
                <a:lnTo>
                  <a:pt x="1719186" y="99961"/>
                </a:lnTo>
                <a:lnTo>
                  <a:pt x="1725472" y="105714"/>
                </a:lnTo>
                <a:lnTo>
                  <a:pt x="1727047" y="109435"/>
                </a:lnTo>
                <a:lnTo>
                  <a:pt x="1727047" y="116382"/>
                </a:lnTo>
                <a:lnTo>
                  <a:pt x="1726272" y="121081"/>
                </a:lnTo>
                <a:lnTo>
                  <a:pt x="1723161" y="135102"/>
                </a:lnTo>
                <a:lnTo>
                  <a:pt x="1722386" y="141351"/>
                </a:lnTo>
                <a:lnTo>
                  <a:pt x="1722386" y="146850"/>
                </a:lnTo>
                <a:lnTo>
                  <a:pt x="1723110" y="156870"/>
                </a:lnTo>
                <a:lnTo>
                  <a:pt x="1748434" y="186347"/>
                </a:lnTo>
                <a:lnTo>
                  <a:pt x="1768817" y="189217"/>
                </a:lnTo>
                <a:lnTo>
                  <a:pt x="1771396" y="189217"/>
                </a:lnTo>
                <a:lnTo>
                  <a:pt x="1771396" y="181673"/>
                </a:lnTo>
                <a:lnTo>
                  <a:pt x="1760321" y="181673"/>
                </a:lnTo>
                <a:lnTo>
                  <a:pt x="1752815" y="179171"/>
                </a:lnTo>
                <a:lnTo>
                  <a:pt x="1739252" y="148628"/>
                </a:lnTo>
                <a:lnTo>
                  <a:pt x="1739252" y="144005"/>
                </a:lnTo>
                <a:lnTo>
                  <a:pt x="1739912" y="138277"/>
                </a:lnTo>
                <a:lnTo>
                  <a:pt x="1742554" y="124650"/>
                </a:lnTo>
                <a:lnTo>
                  <a:pt x="1743214" y="119786"/>
                </a:lnTo>
                <a:lnTo>
                  <a:pt x="1743214" y="111264"/>
                </a:lnTo>
                <a:lnTo>
                  <a:pt x="1741563" y="106641"/>
                </a:lnTo>
                <a:lnTo>
                  <a:pt x="1734947" y="99441"/>
                </a:lnTo>
                <a:lnTo>
                  <a:pt x="1731010" y="96774"/>
                </a:lnTo>
                <a:lnTo>
                  <a:pt x="1726450" y="95059"/>
                </a:lnTo>
                <a:lnTo>
                  <a:pt x="1726450" y="93268"/>
                </a:lnTo>
                <a:lnTo>
                  <a:pt x="1731010" y="91541"/>
                </a:lnTo>
                <a:lnTo>
                  <a:pt x="1734947" y="88887"/>
                </a:lnTo>
                <a:lnTo>
                  <a:pt x="1741563" y="81673"/>
                </a:lnTo>
                <a:lnTo>
                  <a:pt x="1743214" y="77063"/>
                </a:lnTo>
                <a:lnTo>
                  <a:pt x="1743214" y="68529"/>
                </a:lnTo>
                <a:lnTo>
                  <a:pt x="1742554" y="63665"/>
                </a:lnTo>
                <a:lnTo>
                  <a:pt x="1739912" y="50038"/>
                </a:lnTo>
                <a:lnTo>
                  <a:pt x="1739252" y="44323"/>
                </a:lnTo>
                <a:lnTo>
                  <a:pt x="1739252" y="39687"/>
                </a:lnTo>
                <a:lnTo>
                  <a:pt x="1739760" y="31711"/>
                </a:lnTo>
                <a:lnTo>
                  <a:pt x="1760321" y="7543"/>
                </a:lnTo>
                <a:lnTo>
                  <a:pt x="1771396" y="7543"/>
                </a:lnTo>
                <a:lnTo>
                  <a:pt x="1771396" y="0"/>
                </a:lnTo>
                <a:close/>
              </a:path>
              <a:path w="3044825" h="483235">
                <a:moveTo>
                  <a:pt x="1844217" y="254"/>
                </a:moveTo>
                <a:lnTo>
                  <a:pt x="1799971" y="254"/>
                </a:lnTo>
                <a:lnTo>
                  <a:pt x="1799971" y="7874"/>
                </a:lnTo>
                <a:lnTo>
                  <a:pt x="1799971" y="181864"/>
                </a:lnTo>
                <a:lnTo>
                  <a:pt x="1799971" y="189484"/>
                </a:lnTo>
                <a:lnTo>
                  <a:pt x="1844217" y="189484"/>
                </a:lnTo>
                <a:lnTo>
                  <a:pt x="1844217" y="181864"/>
                </a:lnTo>
                <a:lnTo>
                  <a:pt x="1816442" y="181864"/>
                </a:lnTo>
                <a:lnTo>
                  <a:pt x="1816442" y="7874"/>
                </a:lnTo>
                <a:lnTo>
                  <a:pt x="1844217" y="7874"/>
                </a:lnTo>
                <a:lnTo>
                  <a:pt x="1844217" y="254"/>
                </a:lnTo>
                <a:close/>
              </a:path>
              <a:path w="3044825" h="483235">
                <a:moveTo>
                  <a:pt x="2876664" y="254"/>
                </a:moveTo>
                <a:lnTo>
                  <a:pt x="2832404" y="254"/>
                </a:lnTo>
                <a:lnTo>
                  <a:pt x="2832404" y="7874"/>
                </a:lnTo>
                <a:lnTo>
                  <a:pt x="2860192" y="7874"/>
                </a:lnTo>
                <a:lnTo>
                  <a:pt x="2860192" y="181864"/>
                </a:lnTo>
                <a:lnTo>
                  <a:pt x="2832404" y="181864"/>
                </a:lnTo>
                <a:lnTo>
                  <a:pt x="2832404" y="189484"/>
                </a:lnTo>
                <a:lnTo>
                  <a:pt x="2876664" y="189484"/>
                </a:lnTo>
                <a:lnTo>
                  <a:pt x="2876664" y="181864"/>
                </a:lnTo>
                <a:lnTo>
                  <a:pt x="2876664" y="7874"/>
                </a:lnTo>
                <a:lnTo>
                  <a:pt x="2876664" y="254"/>
                </a:lnTo>
                <a:close/>
              </a:path>
              <a:path w="3044825" h="483235">
                <a:moveTo>
                  <a:pt x="2968523" y="90195"/>
                </a:moveTo>
                <a:lnTo>
                  <a:pt x="2962173" y="89992"/>
                </a:lnTo>
                <a:lnTo>
                  <a:pt x="2957423" y="88455"/>
                </a:lnTo>
                <a:lnTo>
                  <a:pt x="2951137" y="82702"/>
                </a:lnTo>
                <a:lnTo>
                  <a:pt x="2949562" y="78981"/>
                </a:lnTo>
                <a:lnTo>
                  <a:pt x="2949562" y="72034"/>
                </a:lnTo>
                <a:lnTo>
                  <a:pt x="2950349" y="67335"/>
                </a:lnTo>
                <a:lnTo>
                  <a:pt x="2953448" y="53314"/>
                </a:lnTo>
                <a:lnTo>
                  <a:pt x="2954236" y="47066"/>
                </a:lnTo>
                <a:lnTo>
                  <a:pt x="2954236" y="41579"/>
                </a:lnTo>
                <a:lnTo>
                  <a:pt x="2953512" y="31902"/>
                </a:lnTo>
                <a:lnTo>
                  <a:pt x="2928175" y="2870"/>
                </a:lnTo>
                <a:lnTo>
                  <a:pt x="2907792" y="0"/>
                </a:lnTo>
                <a:lnTo>
                  <a:pt x="2905214" y="0"/>
                </a:lnTo>
                <a:lnTo>
                  <a:pt x="2905214" y="7543"/>
                </a:lnTo>
                <a:lnTo>
                  <a:pt x="2916301" y="7543"/>
                </a:lnTo>
                <a:lnTo>
                  <a:pt x="2923806" y="10033"/>
                </a:lnTo>
                <a:lnTo>
                  <a:pt x="2937370" y="39789"/>
                </a:lnTo>
                <a:lnTo>
                  <a:pt x="2937370" y="44424"/>
                </a:lnTo>
                <a:lnTo>
                  <a:pt x="2936697" y="50139"/>
                </a:lnTo>
                <a:lnTo>
                  <a:pt x="2934055" y="63766"/>
                </a:lnTo>
                <a:lnTo>
                  <a:pt x="2933395" y="68630"/>
                </a:lnTo>
                <a:lnTo>
                  <a:pt x="2933395" y="77165"/>
                </a:lnTo>
                <a:lnTo>
                  <a:pt x="2935046" y="81775"/>
                </a:lnTo>
                <a:lnTo>
                  <a:pt x="2941663" y="88988"/>
                </a:lnTo>
                <a:lnTo>
                  <a:pt x="2945600" y="91643"/>
                </a:lnTo>
                <a:lnTo>
                  <a:pt x="2950159" y="93370"/>
                </a:lnTo>
                <a:lnTo>
                  <a:pt x="2950159" y="95148"/>
                </a:lnTo>
                <a:lnTo>
                  <a:pt x="2945600" y="96875"/>
                </a:lnTo>
                <a:lnTo>
                  <a:pt x="2941663" y="99529"/>
                </a:lnTo>
                <a:lnTo>
                  <a:pt x="2935046" y="106743"/>
                </a:lnTo>
                <a:lnTo>
                  <a:pt x="2933395" y="111353"/>
                </a:lnTo>
                <a:lnTo>
                  <a:pt x="2933395" y="119888"/>
                </a:lnTo>
                <a:lnTo>
                  <a:pt x="2934055" y="124752"/>
                </a:lnTo>
                <a:lnTo>
                  <a:pt x="2936697" y="138379"/>
                </a:lnTo>
                <a:lnTo>
                  <a:pt x="2937370" y="144094"/>
                </a:lnTo>
                <a:lnTo>
                  <a:pt x="2937370" y="148729"/>
                </a:lnTo>
                <a:lnTo>
                  <a:pt x="2936849" y="157060"/>
                </a:lnTo>
                <a:lnTo>
                  <a:pt x="2916301" y="181673"/>
                </a:lnTo>
                <a:lnTo>
                  <a:pt x="2905214" y="181673"/>
                </a:lnTo>
                <a:lnTo>
                  <a:pt x="2905214" y="189217"/>
                </a:lnTo>
                <a:lnTo>
                  <a:pt x="2907792" y="189217"/>
                </a:lnTo>
                <a:lnTo>
                  <a:pt x="2918714" y="188391"/>
                </a:lnTo>
                <a:lnTo>
                  <a:pt x="2951340" y="165506"/>
                </a:lnTo>
                <a:lnTo>
                  <a:pt x="2954236" y="146939"/>
                </a:lnTo>
                <a:lnTo>
                  <a:pt x="2954236" y="141452"/>
                </a:lnTo>
                <a:lnTo>
                  <a:pt x="2953448" y="135204"/>
                </a:lnTo>
                <a:lnTo>
                  <a:pt x="2950349" y="121183"/>
                </a:lnTo>
                <a:lnTo>
                  <a:pt x="2949562" y="116484"/>
                </a:lnTo>
                <a:lnTo>
                  <a:pt x="2949562" y="109537"/>
                </a:lnTo>
                <a:lnTo>
                  <a:pt x="2951137" y="105816"/>
                </a:lnTo>
                <a:lnTo>
                  <a:pt x="2957423" y="100063"/>
                </a:lnTo>
                <a:lnTo>
                  <a:pt x="2962173" y="98526"/>
                </a:lnTo>
                <a:lnTo>
                  <a:pt x="2968523" y="98323"/>
                </a:lnTo>
                <a:lnTo>
                  <a:pt x="2968523" y="90195"/>
                </a:lnTo>
                <a:close/>
              </a:path>
              <a:path w="3044825" h="483235">
                <a:moveTo>
                  <a:pt x="3044418" y="94678"/>
                </a:moveTo>
                <a:lnTo>
                  <a:pt x="3035681" y="46850"/>
                </a:lnTo>
                <a:lnTo>
                  <a:pt x="3010001" y="12598"/>
                </a:lnTo>
                <a:lnTo>
                  <a:pt x="2984385" y="520"/>
                </a:lnTo>
                <a:lnTo>
                  <a:pt x="2981706" y="8166"/>
                </a:lnTo>
                <a:lnTo>
                  <a:pt x="2992602" y="12890"/>
                </a:lnTo>
                <a:lnTo>
                  <a:pt x="3001975" y="19443"/>
                </a:lnTo>
                <a:lnTo>
                  <a:pt x="3024479" y="62992"/>
                </a:lnTo>
                <a:lnTo>
                  <a:pt x="3027248" y="93687"/>
                </a:lnTo>
                <a:lnTo>
                  <a:pt x="3026549" y="110299"/>
                </a:lnTo>
                <a:lnTo>
                  <a:pt x="3016085" y="150939"/>
                </a:lnTo>
                <a:lnTo>
                  <a:pt x="2982010" y="181102"/>
                </a:lnTo>
                <a:lnTo>
                  <a:pt x="2984385" y="188747"/>
                </a:lnTo>
                <a:lnTo>
                  <a:pt x="3020352" y="167373"/>
                </a:lnTo>
                <a:lnTo>
                  <a:pt x="3040545" y="127939"/>
                </a:lnTo>
                <a:lnTo>
                  <a:pt x="3043453" y="111975"/>
                </a:lnTo>
                <a:lnTo>
                  <a:pt x="3044418" y="9467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10">
            <a:extLst>
              <a:ext uri="{FF2B5EF4-FFF2-40B4-BE49-F238E27FC236}">
                <a16:creationId xmlns:a16="http://schemas.microsoft.com/office/drawing/2014/main" id="{004C4C3A-93D2-F25F-A06B-05C96DA083F9}"/>
              </a:ext>
            </a:extLst>
          </p:cNvPr>
          <p:cNvSpPr/>
          <p:nvPr/>
        </p:nvSpPr>
        <p:spPr>
          <a:xfrm>
            <a:off x="1928573" y="5062485"/>
            <a:ext cx="468630" cy="188595"/>
          </a:xfrm>
          <a:custGeom>
            <a:avLst/>
            <a:gdLst/>
            <a:ahLst/>
            <a:cxnLst/>
            <a:rect l="l" t="t" r="r" b="b"/>
            <a:pathLst>
              <a:path w="468630" h="188595">
                <a:moveTo>
                  <a:pt x="408261" y="0"/>
                </a:moveTo>
                <a:lnTo>
                  <a:pt x="405583" y="7640"/>
                </a:lnTo>
                <a:lnTo>
                  <a:pt x="416478" y="12368"/>
                </a:lnTo>
                <a:lnTo>
                  <a:pt x="425848" y="18913"/>
                </a:lnTo>
                <a:lnTo>
                  <a:pt x="448346" y="62470"/>
                </a:lnTo>
                <a:lnTo>
                  <a:pt x="451124" y="93167"/>
                </a:lnTo>
                <a:lnTo>
                  <a:pt x="450426" y="109767"/>
                </a:lnTo>
                <a:lnTo>
                  <a:pt x="439962" y="150416"/>
                </a:lnTo>
                <a:lnTo>
                  <a:pt x="405880" y="180578"/>
                </a:lnTo>
                <a:lnTo>
                  <a:pt x="408261" y="188217"/>
                </a:lnTo>
                <a:lnTo>
                  <a:pt x="444222" y="166852"/>
                </a:lnTo>
                <a:lnTo>
                  <a:pt x="464419" y="127409"/>
                </a:lnTo>
                <a:lnTo>
                  <a:pt x="468289" y="94159"/>
                </a:lnTo>
                <a:lnTo>
                  <a:pt x="467319" y="76904"/>
                </a:lnTo>
                <a:lnTo>
                  <a:pt x="452761" y="32990"/>
                </a:lnTo>
                <a:lnTo>
                  <a:pt x="421907" y="4927"/>
                </a:lnTo>
                <a:lnTo>
                  <a:pt x="408261" y="0"/>
                </a:lnTo>
                <a:close/>
              </a:path>
              <a:path w="468630" h="188595">
                <a:moveTo>
                  <a:pt x="60027" y="0"/>
                </a:moveTo>
                <a:lnTo>
                  <a:pt x="24132" y="21422"/>
                </a:lnTo>
                <a:lnTo>
                  <a:pt x="3882" y="60957"/>
                </a:lnTo>
                <a:lnTo>
                  <a:pt x="0" y="94159"/>
                </a:lnTo>
                <a:lnTo>
                  <a:pt x="967" y="111450"/>
                </a:lnTo>
                <a:lnTo>
                  <a:pt x="15478" y="155327"/>
                </a:lnTo>
                <a:lnTo>
                  <a:pt x="46342" y="183297"/>
                </a:lnTo>
                <a:lnTo>
                  <a:pt x="60027" y="188217"/>
                </a:lnTo>
                <a:lnTo>
                  <a:pt x="62409" y="180578"/>
                </a:lnTo>
                <a:lnTo>
                  <a:pt x="51684" y="175828"/>
                </a:lnTo>
                <a:lnTo>
                  <a:pt x="42428" y="169217"/>
                </a:lnTo>
                <a:lnTo>
                  <a:pt x="19955" y="124842"/>
                </a:lnTo>
                <a:lnTo>
                  <a:pt x="17165" y="93167"/>
                </a:lnTo>
                <a:lnTo>
                  <a:pt x="17863" y="77108"/>
                </a:lnTo>
                <a:lnTo>
                  <a:pt x="28327" y="37454"/>
                </a:lnTo>
                <a:lnTo>
                  <a:pt x="62706" y="7640"/>
                </a:lnTo>
                <a:lnTo>
                  <a:pt x="60027"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3" name="object 11">
            <a:extLst>
              <a:ext uri="{FF2B5EF4-FFF2-40B4-BE49-F238E27FC236}">
                <a16:creationId xmlns:a16="http://schemas.microsoft.com/office/drawing/2014/main" id="{326EEC62-A94F-E51C-A4E5-7F7EAF941233}"/>
              </a:ext>
            </a:extLst>
          </p:cNvPr>
          <p:cNvSpPr/>
          <p:nvPr/>
        </p:nvSpPr>
        <p:spPr>
          <a:xfrm>
            <a:off x="3531311" y="5061965"/>
            <a:ext cx="1666239" cy="189865"/>
          </a:xfrm>
          <a:custGeom>
            <a:avLst/>
            <a:gdLst/>
            <a:ahLst/>
            <a:cxnLst/>
            <a:rect l="l" t="t" r="r" b="b"/>
            <a:pathLst>
              <a:path w="1666239" h="189864">
                <a:moveTo>
                  <a:pt x="62699" y="8166"/>
                </a:moveTo>
                <a:lnTo>
                  <a:pt x="60020" y="520"/>
                </a:lnTo>
                <a:lnTo>
                  <a:pt x="46380" y="5448"/>
                </a:lnTo>
                <a:lnTo>
                  <a:pt x="34417" y="12598"/>
                </a:lnTo>
                <a:lnTo>
                  <a:pt x="8724" y="46850"/>
                </a:lnTo>
                <a:lnTo>
                  <a:pt x="0" y="94678"/>
                </a:lnTo>
                <a:lnTo>
                  <a:pt x="965" y="111975"/>
                </a:lnTo>
                <a:lnTo>
                  <a:pt x="15481" y="155854"/>
                </a:lnTo>
                <a:lnTo>
                  <a:pt x="46342" y="183819"/>
                </a:lnTo>
                <a:lnTo>
                  <a:pt x="60020" y="188747"/>
                </a:lnTo>
                <a:lnTo>
                  <a:pt x="62407" y="181102"/>
                </a:lnTo>
                <a:lnTo>
                  <a:pt x="51676" y="176352"/>
                </a:lnTo>
                <a:lnTo>
                  <a:pt x="42430" y="169748"/>
                </a:lnTo>
                <a:lnTo>
                  <a:pt x="19951" y="125374"/>
                </a:lnTo>
                <a:lnTo>
                  <a:pt x="17157" y="93687"/>
                </a:lnTo>
                <a:lnTo>
                  <a:pt x="17856" y="77635"/>
                </a:lnTo>
                <a:lnTo>
                  <a:pt x="28321" y="37985"/>
                </a:lnTo>
                <a:lnTo>
                  <a:pt x="51841" y="12890"/>
                </a:lnTo>
                <a:lnTo>
                  <a:pt x="62699" y="8166"/>
                </a:lnTo>
                <a:close/>
              </a:path>
              <a:path w="1666239" h="189864">
                <a:moveTo>
                  <a:pt x="139192" y="0"/>
                </a:moveTo>
                <a:lnTo>
                  <a:pt x="136613" y="0"/>
                </a:lnTo>
                <a:lnTo>
                  <a:pt x="125691" y="812"/>
                </a:lnTo>
                <a:lnTo>
                  <a:pt x="93065" y="23507"/>
                </a:lnTo>
                <a:lnTo>
                  <a:pt x="90182" y="41478"/>
                </a:lnTo>
                <a:lnTo>
                  <a:pt x="90182" y="46964"/>
                </a:lnTo>
                <a:lnTo>
                  <a:pt x="90957" y="53213"/>
                </a:lnTo>
                <a:lnTo>
                  <a:pt x="94068" y="67233"/>
                </a:lnTo>
                <a:lnTo>
                  <a:pt x="94843" y="71932"/>
                </a:lnTo>
                <a:lnTo>
                  <a:pt x="94843" y="78879"/>
                </a:lnTo>
                <a:lnTo>
                  <a:pt x="93268" y="82600"/>
                </a:lnTo>
                <a:lnTo>
                  <a:pt x="86982" y="88353"/>
                </a:lnTo>
                <a:lnTo>
                  <a:pt x="82245" y="89890"/>
                </a:lnTo>
                <a:lnTo>
                  <a:pt x="75895" y="90093"/>
                </a:lnTo>
                <a:lnTo>
                  <a:pt x="75895" y="98234"/>
                </a:lnTo>
                <a:lnTo>
                  <a:pt x="82245" y="98425"/>
                </a:lnTo>
                <a:lnTo>
                  <a:pt x="86982" y="99961"/>
                </a:lnTo>
                <a:lnTo>
                  <a:pt x="93268" y="105714"/>
                </a:lnTo>
                <a:lnTo>
                  <a:pt x="94843" y="109435"/>
                </a:lnTo>
                <a:lnTo>
                  <a:pt x="94843" y="116382"/>
                </a:lnTo>
                <a:lnTo>
                  <a:pt x="94068" y="121081"/>
                </a:lnTo>
                <a:lnTo>
                  <a:pt x="90957" y="135102"/>
                </a:lnTo>
                <a:lnTo>
                  <a:pt x="90182" y="141351"/>
                </a:lnTo>
                <a:lnTo>
                  <a:pt x="90182" y="146850"/>
                </a:lnTo>
                <a:lnTo>
                  <a:pt x="90906" y="156870"/>
                </a:lnTo>
                <a:lnTo>
                  <a:pt x="116230" y="186347"/>
                </a:lnTo>
                <a:lnTo>
                  <a:pt x="136613" y="189217"/>
                </a:lnTo>
                <a:lnTo>
                  <a:pt x="139192" y="189217"/>
                </a:lnTo>
                <a:lnTo>
                  <a:pt x="139192" y="181673"/>
                </a:lnTo>
                <a:lnTo>
                  <a:pt x="128117" y="181673"/>
                </a:lnTo>
                <a:lnTo>
                  <a:pt x="120611" y="179171"/>
                </a:lnTo>
                <a:lnTo>
                  <a:pt x="107048" y="148628"/>
                </a:lnTo>
                <a:lnTo>
                  <a:pt x="107048" y="144005"/>
                </a:lnTo>
                <a:lnTo>
                  <a:pt x="107708" y="138277"/>
                </a:lnTo>
                <a:lnTo>
                  <a:pt x="110350" y="124650"/>
                </a:lnTo>
                <a:lnTo>
                  <a:pt x="111010" y="119786"/>
                </a:lnTo>
                <a:lnTo>
                  <a:pt x="111010" y="111264"/>
                </a:lnTo>
                <a:lnTo>
                  <a:pt x="109359" y="106641"/>
                </a:lnTo>
                <a:lnTo>
                  <a:pt x="102743" y="99441"/>
                </a:lnTo>
                <a:lnTo>
                  <a:pt x="98806" y="96774"/>
                </a:lnTo>
                <a:lnTo>
                  <a:pt x="94246" y="95059"/>
                </a:lnTo>
                <a:lnTo>
                  <a:pt x="94246" y="93268"/>
                </a:lnTo>
                <a:lnTo>
                  <a:pt x="98806" y="91541"/>
                </a:lnTo>
                <a:lnTo>
                  <a:pt x="102743" y="88887"/>
                </a:lnTo>
                <a:lnTo>
                  <a:pt x="109359" y="81673"/>
                </a:lnTo>
                <a:lnTo>
                  <a:pt x="111010" y="77063"/>
                </a:lnTo>
                <a:lnTo>
                  <a:pt x="111010" y="68529"/>
                </a:lnTo>
                <a:lnTo>
                  <a:pt x="110350" y="63665"/>
                </a:lnTo>
                <a:lnTo>
                  <a:pt x="107708" y="50038"/>
                </a:lnTo>
                <a:lnTo>
                  <a:pt x="107048" y="44323"/>
                </a:lnTo>
                <a:lnTo>
                  <a:pt x="107048" y="39687"/>
                </a:lnTo>
                <a:lnTo>
                  <a:pt x="107556" y="31711"/>
                </a:lnTo>
                <a:lnTo>
                  <a:pt x="128117" y="7543"/>
                </a:lnTo>
                <a:lnTo>
                  <a:pt x="139192" y="7543"/>
                </a:lnTo>
                <a:lnTo>
                  <a:pt x="139192" y="0"/>
                </a:lnTo>
                <a:close/>
              </a:path>
              <a:path w="1666239" h="189864">
                <a:moveTo>
                  <a:pt x="212013" y="254"/>
                </a:moveTo>
                <a:lnTo>
                  <a:pt x="167767" y="254"/>
                </a:lnTo>
                <a:lnTo>
                  <a:pt x="167767" y="7874"/>
                </a:lnTo>
                <a:lnTo>
                  <a:pt x="167767" y="181864"/>
                </a:lnTo>
                <a:lnTo>
                  <a:pt x="167767" y="189484"/>
                </a:lnTo>
                <a:lnTo>
                  <a:pt x="212013" y="189484"/>
                </a:lnTo>
                <a:lnTo>
                  <a:pt x="212013" y="181864"/>
                </a:lnTo>
                <a:lnTo>
                  <a:pt x="184238" y="181864"/>
                </a:lnTo>
                <a:lnTo>
                  <a:pt x="184238" y="7874"/>
                </a:lnTo>
                <a:lnTo>
                  <a:pt x="212013" y="7874"/>
                </a:lnTo>
                <a:lnTo>
                  <a:pt x="212013" y="254"/>
                </a:lnTo>
                <a:close/>
              </a:path>
              <a:path w="1666239" h="189864">
                <a:moveTo>
                  <a:pt x="1498015" y="254"/>
                </a:moveTo>
                <a:lnTo>
                  <a:pt x="1453756" y="254"/>
                </a:lnTo>
                <a:lnTo>
                  <a:pt x="1453756" y="7874"/>
                </a:lnTo>
                <a:lnTo>
                  <a:pt x="1481543" y="7874"/>
                </a:lnTo>
                <a:lnTo>
                  <a:pt x="1481543" y="181864"/>
                </a:lnTo>
                <a:lnTo>
                  <a:pt x="1453756" y="181864"/>
                </a:lnTo>
                <a:lnTo>
                  <a:pt x="1453756" y="189484"/>
                </a:lnTo>
                <a:lnTo>
                  <a:pt x="1498015" y="189484"/>
                </a:lnTo>
                <a:lnTo>
                  <a:pt x="1498015" y="181864"/>
                </a:lnTo>
                <a:lnTo>
                  <a:pt x="1498015" y="7874"/>
                </a:lnTo>
                <a:lnTo>
                  <a:pt x="1498015" y="254"/>
                </a:lnTo>
                <a:close/>
              </a:path>
              <a:path w="1666239" h="189864">
                <a:moveTo>
                  <a:pt x="1589874" y="90195"/>
                </a:moveTo>
                <a:lnTo>
                  <a:pt x="1583524" y="89992"/>
                </a:lnTo>
                <a:lnTo>
                  <a:pt x="1578775" y="88455"/>
                </a:lnTo>
                <a:lnTo>
                  <a:pt x="1572488" y="82702"/>
                </a:lnTo>
                <a:lnTo>
                  <a:pt x="1570913" y="78981"/>
                </a:lnTo>
                <a:lnTo>
                  <a:pt x="1570913" y="72034"/>
                </a:lnTo>
                <a:lnTo>
                  <a:pt x="1571701" y="67335"/>
                </a:lnTo>
                <a:lnTo>
                  <a:pt x="1574800" y="53314"/>
                </a:lnTo>
                <a:lnTo>
                  <a:pt x="1575587" y="47066"/>
                </a:lnTo>
                <a:lnTo>
                  <a:pt x="1575587" y="41579"/>
                </a:lnTo>
                <a:lnTo>
                  <a:pt x="1574863" y="31902"/>
                </a:lnTo>
                <a:lnTo>
                  <a:pt x="1549527" y="2870"/>
                </a:lnTo>
                <a:lnTo>
                  <a:pt x="1529143" y="0"/>
                </a:lnTo>
                <a:lnTo>
                  <a:pt x="1526565" y="0"/>
                </a:lnTo>
                <a:lnTo>
                  <a:pt x="1526565" y="7543"/>
                </a:lnTo>
                <a:lnTo>
                  <a:pt x="1537652" y="7543"/>
                </a:lnTo>
                <a:lnTo>
                  <a:pt x="1545158" y="10033"/>
                </a:lnTo>
                <a:lnTo>
                  <a:pt x="1558721" y="39789"/>
                </a:lnTo>
                <a:lnTo>
                  <a:pt x="1558721" y="44424"/>
                </a:lnTo>
                <a:lnTo>
                  <a:pt x="1558048" y="50139"/>
                </a:lnTo>
                <a:lnTo>
                  <a:pt x="1555407" y="63766"/>
                </a:lnTo>
                <a:lnTo>
                  <a:pt x="1554746" y="68630"/>
                </a:lnTo>
                <a:lnTo>
                  <a:pt x="1554746" y="77165"/>
                </a:lnTo>
                <a:lnTo>
                  <a:pt x="1556397" y="81775"/>
                </a:lnTo>
                <a:lnTo>
                  <a:pt x="1563014" y="88988"/>
                </a:lnTo>
                <a:lnTo>
                  <a:pt x="1566951" y="91643"/>
                </a:lnTo>
                <a:lnTo>
                  <a:pt x="1571510" y="93370"/>
                </a:lnTo>
                <a:lnTo>
                  <a:pt x="1571510" y="95148"/>
                </a:lnTo>
                <a:lnTo>
                  <a:pt x="1566951" y="96875"/>
                </a:lnTo>
                <a:lnTo>
                  <a:pt x="1563014" y="99529"/>
                </a:lnTo>
                <a:lnTo>
                  <a:pt x="1556397" y="106743"/>
                </a:lnTo>
                <a:lnTo>
                  <a:pt x="1554746" y="111353"/>
                </a:lnTo>
                <a:lnTo>
                  <a:pt x="1554746" y="119888"/>
                </a:lnTo>
                <a:lnTo>
                  <a:pt x="1555407" y="124752"/>
                </a:lnTo>
                <a:lnTo>
                  <a:pt x="1558048" y="138379"/>
                </a:lnTo>
                <a:lnTo>
                  <a:pt x="1558721" y="144094"/>
                </a:lnTo>
                <a:lnTo>
                  <a:pt x="1558721" y="148729"/>
                </a:lnTo>
                <a:lnTo>
                  <a:pt x="1558201" y="157060"/>
                </a:lnTo>
                <a:lnTo>
                  <a:pt x="1537652" y="181673"/>
                </a:lnTo>
                <a:lnTo>
                  <a:pt x="1526565" y="181673"/>
                </a:lnTo>
                <a:lnTo>
                  <a:pt x="1526565" y="189217"/>
                </a:lnTo>
                <a:lnTo>
                  <a:pt x="1529143" y="189217"/>
                </a:lnTo>
                <a:lnTo>
                  <a:pt x="1540065" y="188391"/>
                </a:lnTo>
                <a:lnTo>
                  <a:pt x="1572691" y="165506"/>
                </a:lnTo>
                <a:lnTo>
                  <a:pt x="1575587" y="146939"/>
                </a:lnTo>
                <a:lnTo>
                  <a:pt x="1575587" y="141452"/>
                </a:lnTo>
                <a:lnTo>
                  <a:pt x="1574800" y="135204"/>
                </a:lnTo>
                <a:lnTo>
                  <a:pt x="1571701" y="121183"/>
                </a:lnTo>
                <a:lnTo>
                  <a:pt x="1570913" y="116484"/>
                </a:lnTo>
                <a:lnTo>
                  <a:pt x="1570913" y="109537"/>
                </a:lnTo>
                <a:lnTo>
                  <a:pt x="1572488" y="105816"/>
                </a:lnTo>
                <a:lnTo>
                  <a:pt x="1578775" y="100063"/>
                </a:lnTo>
                <a:lnTo>
                  <a:pt x="1583524" y="98526"/>
                </a:lnTo>
                <a:lnTo>
                  <a:pt x="1589874" y="98323"/>
                </a:lnTo>
                <a:lnTo>
                  <a:pt x="1589874" y="90195"/>
                </a:lnTo>
                <a:close/>
              </a:path>
              <a:path w="1666239" h="189864">
                <a:moveTo>
                  <a:pt x="1665770" y="94678"/>
                </a:moveTo>
                <a:lnTo>
                  <a:pt x="1657032" y="46850"/>
                </a:lnTo>
                <a:lnTo>
                  <a:pt x="1631353" y="12598"/>
                </a:lnTo>
                <a:lnTo>
                  <a:pt x="1605737" y="520"/>
                </a:lnTo>
                <a:lnTo>
                  <a:pt x="1603057" y="8166"/>
                </a:lnTo>
                <a:lnTo>
                  <a:pt x="1613954" y="12890"/>
                </a:lnTo>
                <a:lnTo>
                  <a:pt x="1623326" y="19443"/>
                </a:lnTo>
                <a:lnTo>
                  <a:pt x="1645831" y="62992"/>
                </a:lnTo>
                <a:lnTo>
                  <a:pt x="1648599" y="93687"/>
                </a:lnTo>
                <a:lnTo>
                  <a:pt x="1647901" y="110299"/>
                </a:lnTo>
                <a:lnTo>
                  <a:pt x="1637436" y="150939"/>
                </a:lnTo>
                <a:lnTo>
                  <a:pt x="1603362" y="181102"/>
                </a:lnTo>
                <a:lnTo>
                  <a:pt x="1605737" y="188747"/>
                </a:lnTo>
                <a:lnTo>
                  <a:pt x="1641703" y="167373"/>
                </a:lnTo>
                <a:lnTo>
                  <a:pt x="1661896" y="127939"/>
                </a:lnTo>
                <a:lnTo>
                  <a:pt x="1664804" y="111975"/>
                </a:lnTo>
                <a:lnTo>
                  <a:pt x="1665770" y="9467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12">
            <a:extLst>
              <a:ext uri="{FF2B5EF4-FFF2-40B4-BE49-F238E27FC236}">
                <a16:creationId xmlns:a16="http://schemas.microsoft.com/office/drawing/2014/main" id="{41B62D9A-9FCA-B91D-352B-3841401D2136}"/>
              </a:ext>
            </a:extLst>
          </p:cNvPr>
          <p:cNvSpPr txBox="1"/>
          <p:nvPr/>
        </p:nvSpPr>
        <p:spPr>
          <a:xfrm>
            <a:off x="1077042" y="3733123"/>
            <a:ext cx="5118100" cy="1851789"/>
          </a:xfrm>
          <a:prstGeom prst="rect">
            <a:avLst/>
          </a:prstGeom>
        </p:spPr>
        <p:txBody>
          <a:bodyPr vert="horz" wrap="square" lIns="0" tIns="12700" rIns="0" bIns="0" rtlCol="0">
            <a:spAutoFit/>
          </a:bodyPr>
          <a:lstStyle/>
          <a:p>
            <a:pPr marL="330200" indent="-228600" rtl="0">
              <a:spcBef>
                <a:spcPts val="100"/>
              </a:spcBef>
              <a:buFont typeface="Wingdings"/>
              <a:buChar char=""/>
              <a:tabLst>
                <a:tab pos="329565" algn="l"/>
                <a:tab pos="330200" algn="l"/>
                <a:tab pos="1407160" algn="l"/>
                <a:tab pos="2683510" algn="l"/>
                <a:tab pos="3828415" algn="l"/>
                <a:tab pos="4187190" algn="l"/>
              </a:tabLst>
            </a:pPr>
            <a:r>
              <a:rPr sz="1600" kern="1200" spc="-5" dirty="0">
                <a:solidFill>
                  <a:prstClr val="black"/>
                </a:solidFill>
                <a:latin typeface="Cambria Math"/>
                <a:cs typeface="Cambria Math"/>
              </a:rPr>
              <a:t>G</a:t>
            </a:r>
            <a:r>
              <a:rPr sz="1600" kern="1200" spc="-20" dirty="0">
                <a:solidFill>
                  <a:prstClr val="black"/>
                </a:solidFill>
                <a:latin typeface="Cambria Math"/>
                <a:cs typeface="Cambria Math"/>
              </a:rPr>
              <a:t>O</a:t>
            </a:r>
            <a:r>
              <a:rPr sz="1600" kern="1200" spc="-25" dirty="0">
                <a:solidFill>
                  <a:prstClr val="black"/>
                </a:solidFill>
                <a:latin typeface="Cambria Math"/>
                <a:cs typeface="Cambria Math"/>
              </a:rPr>
              <a:t>T</a:t>
            </a:r>
            <a:r>
              <a:rPr sz="1600" kern="1200" dirty="0">
                <a:solidFill>
                  <a:prstClr val="black"/>
                </a:solidFill>
                <a:latin typeface="Cambria Math"/>
                <a:cs typeface="Cambria Math"/>
              </a:rPr>
              <a:t>O </a:t>
            </a:r>
            <a:r>
              <a:rPr sz="1600" kern="1200" spc="-40" dirty="0">
                <a:solidFill>
                  <a:prstClr val="black"/>
                </a:solidFill>
                <a:latin typeface="Cambria Math"/>
                <a:cs typeface="Cambria Math"/>
              </a:rPr>
              <a:t> </a:t>
            </a:r>
            <a:r>
              <a:rPr sz="1600" kern="1200" spc="-90" dirty="0">
                <a:solidFill>
                  <a:prstClr val="black"/>
                </a:solidFill>
                <a:latin typeface="Cambria Math"/>
                <a:cs typeface="Cambria Math"/>
              </a:rPr>
              <a:t>𝐼</a:t>
            </a:r>
            <a:r>
              <a:rPr lang="en-US" altLang="zh-CN" kern="1200" spc="-135" baseline="-16203" dirty="0">
                <a:solidFill>
                  <a:prstClr val="black"/>
                </a:solidFill>
                <a:latin typeface="Cambria Math"/>
                <a:cs typeface="Cambria Math"/>
              </a:rPr>
              <a:t>0</a:t>
            </a:r>
            <a:r>
              <a:rPr sz="1600" kern="120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𝑆	=</a:t>
            </a:r>
            <a:r>
              <a:rPr sz="1600" kern="1200" spc="95" dirty="0">
                <a:solidFill>
                  <a:prstClr val="black"/>
                </a:solidFill>
                <a:latin typeface="Cambria Math"/>
                <a:cs typeface="Cambria Math"/>
              </a:rPr>
              <a:t> </a:t>
            </a:r>
            <a:r>
              <a:rPr sz="1600" kern="1200" dirty="0">
                <a:solidFill>
                  <a:prstClr val="black"/>
                </a:solidFill>
                <a:latin typeface="Cambria Math"/>
                <a:cs typeface="Cambria Math"/>
              </a:rPr>
              <a:t>C</a:t>
            </a:r>
            <a:r>
              <a:rPr sz="1600" kern="1200" spc="-10" dirty="0">
                <a:solidFill>
                  <a:prstClr val="black"/>
                </a:solidFill>
                <a:latin typeface="Cambria Math"/>
                <a:cs typeface="Cambria Math"/>
              </a:rPr>
              <a:t>L</a:t>
            </a:r>
            <a:r>
              <a:rPr sz="1600" kern="1200" spc="5" dirty="0">
                <a:solidFill>
                  <a:prstClr val="black"/>
                </a:solidFill>
                <a:latin typeface="Cambria Math"/>
                <a:cs typeface="Cambria Math"/>
              </a:rPr>
              <a:t>OS</a:t>
            </a:r>
            <a:r>
              <a:rPr sz="1600" kern="1200" dirty="0">
                <a:solidFill>
                  <a:prstClr val="black"/>
                </a:solidFill>
                <a:latin typeface="Cambria Math"/>
                <a:cs typeface="Cambria Math"/>
              </a:rPr>
              <a:t>U</a:t>
            </a:r>
            <a:r>
              <a:rPr sz="1600" kern="1200" spc="5" dirty="0">
                <a:solidFill>
                  <a:prstClr val="black"/>
                </a:solidFill>
                <a:latin typeface="Cambria Math"/>
                <a:cs typeface="Cambria Math"/>
              </a:rPr>
              <a:t>R</a:t>
            </a:r>
            <a:r>
              <a:rPr sz="1600" kern="1200" dirty="0">
                <a:solidFill>
                  <a:prstClr val="black"/>
                </a:solidFill>
                <a:latin typeface="Cambria Math"/>
                <a:cs typeface="Cambria Math"/>
              </a:rPr>
              <a:t>E	</a:t>
            </a:r>
            <a:r>
              <a:rPr sz="1600" kern="1200" spc="85" dirty="0">
                <a:solidFill>
                  <a:prstClr val="black"/>
                </a:solidFill>
                <a:latin typeface="Cambria Math"/>
                <a:cs typeface="Cambria Math"/>
              </a:rPr>
              <a:t>𝑆</a:t>
            </a:r>
            <a:r>
              <a:rPr lang="en-US" altLang="zh-CN" sz="1800" kern="1200" spc="-5" dirty="0">
                <a:solidFill>
                  <a:prstClr val="black"/>
                </a:solidFill>
                <a:latin typeface="Cambria Math"/>
                <a:cs typeface="Cambria Math"/>
              </a:rPr>
              <a:t>′</a:t>
            </a:r>
            <a:r>
              <a:rPr kern="1200" spc="-52" baseline="27777"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𝑆</a:t>
            </a:r>
            <a:r>
              <a:rPr sz="1600" kern="1200" spc="35" dirty="0">
                <a:solidFill>
                  <a:prstClr val="black"/>
                </a:solidFill>
                <a:latin typeface="Cambria Math"/>
                <a:cs typeface="Cambria Math"/>
              </a:rPr>
              <a:t> </a:t>
            </a:r>
            <a:r>
              <a:rPr lang="en-US" altLang="zh-CN" sz="1600" kern="1200" spc="35" dirty="0">
                <a:solidFill>
                  <a:srgbClr val="FF0000"/>
                </a:solidFill>
                <a:latin typeface="Cambria Math"/>
                <a:cs typeface="Cambria Math"/>
              </a:rPr>
              <a:t>·</a:t>
            </a:r>
            <a:r>
              <a:rPr lang="en-US" altLang="zh-CN" sz="1600" kern="1200" spc="35" dirty="0">
                <a:solidFill>
                  <a:prstClr val="black"/>
                </a:solidFill>
                <a:latin typeface="Cambria Math"/>
                <a:cs typeface="Cambria Math"/>
              </a:rPr>
              <a:t>,</a:t>
            </a:r>
            <a:r>
              <a:rPr lang="zh-CN" altLang="en-US" sz="1600" kern="1200" spc="35" dirty="0">
                <a:solidFill>
                  <a:prstClr val="black"/>
                </a:solidFill>
                <a:latin typeface="Cambria Math"/>
                <a:cs typeface="Cambria Math"/>
              </a:rPr>
              <a:t> </a:t>
            </a:r>
            <a:r>
              <a:rPr sz="1600" kern="1200" dirty="0">
                <a:solidFill>
                  <a:srgbClr val="FF0000"/>
                </a:solidFill>
                <a:latin typeface="Cambria Math"/>
                <a:cs typeface="Cambria Math"/>
              </a:rPr>
              <a:t>$	</a:t>
            </a:r>
            <a:r>
              <a:rPr sz="1600" kern="1200" dirty="0">
                <a:solidFill>
                  <a:prstClr val="black"/>
                </a:solidFill>
                <a:latin typeface="Cambria Math"/>
                <a:cs typeface="Cambria Math"/>
              </a:rPr>
              <a:t>=	</a:t>
            </a:r>
            <a:r>
              <a:rPr sz="1600" kern="1200" spc="85" dirty="0">
                <a:solidFill>
                  <a:prstClr val="black"/>
                </a:solidFill>
                <a:latin typeface="Cambria Math"/>
                <a:cs typeface="Cambria Math"/>
              </a:rPr>
              <a:t>𝑆</a:t>
            </a:r>
            <a:r>
              <a:rPr lang="en-US" altLang="zh-CN" sz="1800" kern="1200" spc="-5" dirty="0">
                <a:solidFill>
                  <a:prstClr val="black"/>
                </a:solidFill>
                <a:latin typeface="Cambria Math"/>
                <a:cs typeface="Cambria Math"/>
              </a:rPr>
              <a:t>′</a:t>
            </a:r>
            <a:r>
              <a:rPr kern="1200" spc="-52" baseline="27777"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𝑆</a:t>
            </a:r>
            <a:r>
              <a:rPr lang="en-US" altLang="zh-CN" sz="1600" kern="1200" spc="35" dirty="0">
                <a:solidFill>
                  <a:prstClr val="black"/>
                </a:solidFill>
                <a:latin typeface="Cambria Math"/>
                <a:cs typeface="Cambria Math"/>
              </a:rPr>
              <a:t>·,</a:t>
            </a:r>
            <a:r>
              <a:rPr lang="zh-CN" altLang="en-US" sz="1600" kern="1200" spc="35" dirty="0">
                <a:solidFill>
                  <a:prstClr val="black"/>
                </a:solidFill>
                <a:latin typeface="Cambria Math"/>
                <a:cs typeface="Cambria Math"/>
              </a:rPr>
              <a:t> </a:t>
            </a:r>
            <a:r>
              <a:rPr sz="1600" kern="1200" dirty="0">
                <a:solidFill>
                  <a:prstClr val="black"/>
                </a:solidFill>
                <a:latin typeface="Cambria Math"/>
                <a:cs typeface="Cambria Math"/>
              </a:rPr>
              <a:t>$</a:t>
            </a:r>
          </a:p>
          <a:p>
            <a:pPr marL="330200" indent="-228600" rtl="0">
              <a:spcBef>
                <a:spcPts val="1895"/>
              </a:spcBef>
              <a:buFont typeface="Wingdings"/>
              <a:buChar char=""/>
              <a:tabLst>
                <a:tab pos="329565" algn="l"/>
                <a:tab pos="330200" algn="l"/>
                <a:tab pos="1424305" algn="l"/>
                <a:tab pos="2701290" algn="l"/>
                <a:tab pos="3971290" algn="l"/>
              </a:tabLst>
            </a:pPr>
            <a:r>
              <a:rPr sz="1600" kern="1200" spc="-15" dirty="0">
                <a:solidFill>
                  <a:prstClr val="black"/>
                </a:solidFill>
                <a:latin typeface="Cambria Math"/>
                <a:cs typeface="Cambria Math"/>
              </a:rPr>
              <a:t>GOTO</a:t>
            </a:r>
            <a:r>
              <a:rPr sz="1600" kern="1200" spc="315" dirty="0">
                <a:solidFill>
                  <a:prstClr val="black"/>
                </a:solidFill>
                <a:latin typeface="Cambria Math"/>
                <a:cs typeface="Cambria Math"/>
              </a:rPr>
              <a:t> </a:t>
            </a:r>
            <a:r>
              <a:rPr sz="1600" kern="1200" spc="-60" dirty="0">
                <a:solidFill>
                  <a:prstClr val="black"/>
                </a:solidFill>
                <a:latin typeface="Cambria Math"/>
                <a:cs typeface="Cambria Math"/>
              </a:rPr>
              <a:t>𝐼</a:t>
            </a:r>
            <a:r>
              <a:rPr lang="en-US" altLang="zh-CN" kern="1200" spc="-89" baseline="-13888" dirty="0">
                <a:solidFill>
                  <a:prstClr val="black"/>
                </a:solidFill>
                <a:latin typeface="Cambria Math"/>
                <a:cs typeface="Cambria Math"/>
              </a:rPr>
              <a:t>0</a:t>
            </a:r>
            <a:r>
              <a:rPr sz="1600" kern="1200" spc="-6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𝐶	=</a:t>
            </a:r>
            <a:r>
              <a:rPr sz="1600" kern="1200" spc="100" dirty="0">
                <a:solidFill>
                  <a:prstClr val="black"/>
                </a:solidFill>
                <a:latin typeface="Cambria Math"/>
                <a:cs typeface="Cambria Math"/>
              </a:rPr>
              <a:t> </a:t>
            </a:r>
            <a:r>
              <a:rPr sz="1600" kern="1200" dirty="0">
                <a:solidFill>
                  <a:prstClr val="black"/>
                </a:solidFill>
                <a:latin typeface="Cambria Math"/>
                <a:cs typeface="Cambria Math"/>
              </a:rPr>
              <a:t>CLOSURE	</a:t>
            </a:r>
            <a:r>
              <a:rPr lang="zh-CN" altLang="en-US" sz="1600" kern="1200" dirty="0">
                <a:solidFill>
                  <a:prstClr val="black"/>
                </a:solidFill>
                <a:latin typeface="Cambria Math"/>
                <a:cs typeface="Cambria Math"/>
              </a:rPr>
              <a:t>𝑆</a:t>
            </a:r>
            <a:r>
              <a:rPr lang="zh-CN" altLang="en-US" sz="1600" kern="1200" spc="90" dirty="0">
                <a:solidFill>
                  <a:prstClr val="black"/>
                </a:solidFill>
                <a:latin typeface="Cambria Math"/>
                <a:cs typeface="Cambria Math"/>
              </a:rPr>
              <a:t> </a:t>
            </a:r>
            <a:r>
              <a:rPr lang="zh-CN" altLang="en-US" sz="1600" kern="1200" dirty="0">
                <a:solidFill>
                  <a:prstClr val="black"/>
                </a:solidFill>
                <a:latin typeface="Cambria Math"/>
                <a:cs typeface="Cambria Math"/>
              </a:rPr>
              <a:t>→</a:t>
            </a:r>
            <a:r>
              <a:rPr lang="zh-CN" altLang="en-US" sz="1600" kern="1200" spc="65" dirty="0">
                <a:solidFill>
                  <a:prstClr val="black"/>
                </a:solidFill>
                <a:latin typeface="Cambria Math"/>
                <a:cs typeface="Cambria Math"/>
              </a:rPr>
              <a:t> </a:t>
            </a:r>
            <a:r>
              <a:rPr lang="zh-CN" altLang="en-US" sz="1600" kern="1200" dirty="0">
                <a:solidFill>
                  <a:prstClr val="black"/>
                </a:solidFill>
                <a:latin typeface="Cambria Math"/>
                <a:cs typeface="Cambria Math"/>
              </a:rPr>
              <a:t>𝐶 </a:t>
            </a:r>
            <a:r>
              <a:rPr lang="en-US" altLang="zh-CN" sz="1600" kern="1200" spc="55" dirty="0">
                <a:solidFill>
                  <a:srgbClr val="FF0000"/>
                </a:solidFill>
                <a:latin typeface="Cambria Math"/>
                <a:cs typeface="Cambria Math"/>
              </a:rPr>
              <a:t>·</a:t>
            </a:r>
            <a:r>
              <a:rPr lang="en-US" altLang="zh-CN" sz="1600" kern="1200" spc="55" dirty="0">
                <a:solidFill>
                  <a:prstClr val="black"/>
                </a:solidFill>
                <a:latin typeface="Cambria Math"/>
                <a:cs typeface="Cambria Math"/>
              </a:rPr>
              <a:t> </a:t>
            </a:r>
            <a:r>
              <a:rPr lang="zh-CN" altLang="en-US" sz="1600" kern="1200" spc="50" dirty="0">
                <a:solidFill>
                  <a:prstClr val="black"/>
                </a:solidFill>
                <a:latin typeface="Cambria Math"/>
                <a:cs typeface="Cambria Math"/>
              </a:rPr>
              <a:t>𝐶</a:t>
            </a:r>
            <a:r>
              <a:rPr sz="1600" kern="1200" spc="3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srgbClr val="FF0000"/>
                </a:solidFill>
                <a:latin typeface="Cambria Math"/>
                <a:cs typeface="Cambria Math"/>
              </a:rPr>
              <a:t>$	</a:t>
            </a:r>
            <a:r>
              <a:rPr sz="1600" kern="1200" dirty="0">
                <a:solidFill>
                  <a:prstClr val="black"/>
                </a:solidFill>
                <a:latin typeface="Cambria Math"/>
                <a:cs typeface="Cambria Math"/>
              </a:rPr>
              <a:t>=</a:t>
            </a:r>
          </a:p>
          <a:p>
            <a:pPr marL="558165" rtl="0">
              <a:spcBef>
                <a:spcPts val="980"/>
              </a:spcBef>
              <a:tabLst>
                <a:tab pos="786765" algn="l"/>
              </a:tabLst>
            </a:pPr>
            <a:r>
              <a:rPr sz="1100" kern="1200" dirty="0">
                <a:solidFill>
                  <a:prstClr val="black"/>
                </a:solidFill>
                <a:latin typeface="Courier New"/>
                <a:cs typeface="Courier New"/>
              </a:rPr>
              <a:t>o	</a:t>
            </a:r>
            <a:r>
              <a:rPr sz="1100" kern="1200" dirty="0">
                <a:solidFill>
                  <a:prstClr val="black"/>
                </a:solidFill>
                <a:latin typeface="Cambria Math"/>
                <a:cs typeface="Cambria Math"/>
              </a:rPr>
              <a:t>{ </a:t>
            </a:r>
            <a:r>
              <a:rPr sz="1100" kern="1200" spc="-105" dirty="0">
                <a:solidFill>
                  <a:prstClr val="black"/>
                </a:solidFill>
                <a:latin typeface="Cambria Math"/>
                <a:cs typeface="Cambria Math"/>
              </a:rPr>
              <a:t> </a:t>
            </a:r>
            <a:r>
              <a:rPr sz="1100" kern="1200" dirty="0">
                <a:solidFill>
                  <a:prstClr val="black"/>
                </a:solidFill>
                <a:latin typeface="Cambria Math"/>
                <a:cs typeface="Cambria Math"/>
              </a:rPr>
              <a:t>𝑆</a:t>
            </a:r>
            <a:r>
              <a:rPr sz="1100" kern="1200" spc="90" dirty="0">
                <a:solidFill>
                  <a:prstClr val="black"/>
                </a:solidFill>
                <a:latin typeface="Cambria Math"/>
                <a:cs typeface="Cambria Math"/>
              </a:rPr>
              <a:t> </a:t>
            </a:r>
            <a:r>
              <a:rPr sz="1100" kern="1200" dirty="0">
                <a:solidFill>
                  <a:prstClr val="black"/>
                </a:solidFill>
                <a:latin typeface="Cambria Math"/>
                <a:cs typeface="Cambria Math"/>
              </a:rPr>
              <a:t>→</a:t>
            </a:r>
            <a:r>
              <a:rPr sz="1100" kern="1200" spc="65" dirty="0">
                <a:solidFill>
                  <a:prstClr val="black"/>
                </a:solidFill>
                <a:latin typeface="Cambria Math"/>
                <a:cs typeface="Cambria Math"/>
              </a:rPr>
              <a:t> </a:t>
            </a:r>
            <a:r>
              <a:rPr sz="1100" kern="1200" dirty="0">
                <a:solidFill>
                  <a:prstClr val="black"/>
                </a:solidFill>
                <a:latin typeface="Cambria Math"/>
                <a:cs typeface="Cambria Math"/>
              </a:rPr>
              <a:t>𝐶</a:t>
            </a:r>
            <a:r>
              <a:rPr lang="en-US" sz="1100" kern="1200" dirty="0">
                <a:solidFill>
                  <a:prstClr val="black"/>
                </a:solidFill>
                <a:latin typeface="Cambria Math"/>
                <a:cs typeface="Cambria Math"/>
              </a:rPr>
              <a:t> </a:t>
            </a:r>
            <a:r>
              <a:rPr lang="en-US" altLang="zh-CN" sz="1100" kern="1200" spc="55" dirty="0">
                <a:solidFill>
                  <a:prstClr val="black"/>
                </a:solidFill>
                <a:latin typeface="Cambria Math"/>
                <a:cs typeface="Cambria Math"/>
              </a:rPr>
              <a:t>· </a:t>
            </a:r>
            <a:r>
              <a:rPr sz="1100" kern="1200" spc="50" dirty="0">
                <a:solidFill>
                  <a:prstClr val="black"/>
                </a:solidFill>
                <a:latin typeface="Cambria Math"/>
                <a:cs typeface="Cambria Math"/>
              </a:rPr>
              <a:t>𝐶</a:t>
            </a:r>
            <a:r>
              <a:rPr sz="1100" kern="1200" dirty="0">
                <a:solidFill>
                  <a:prstClr val="black"/>
                </a:solidFill>
                <a:latin typeface="Cambria Math"/>
                <a:cs typeface="Cambria Math"/>
              </a:rPr>
              <a:t>,</a:t>
            </a:r>
            <a:r>
              <a:rPr sz="1100" kern="1200" spc="-60" dirty="0">
                <a:solidFill>
                  <a:prstClr val="black"/>
                </a:solidFill>
                <a:latin typeface="Cambria Math"/>
                <a:cs typeface="Cambria Math"/>
              </a:rPr>
              <a:t> </a:t>
            </a:r>
            <a:r>
              <a:rPr sz="1100" kern="1200" dirty="0">
                <a:solidFill>
                  <a:prstClr val="black"/>
                </a:solidFill>
                <a:latin typeface="Cambria Math"/>
                <a:cs typeface="Cambria Math"/>
              </a:rPr>
              <a:t>$ </a:t>
            </a:r>
            <a:r>
              <a:rPr sz="1100" kern="1200" spc="-95" dirty="0">
                <a:solidFill>
                  <a:prstClr val="black"/>
                </a:solidFill>
                <a:latin typeface="Cambria Math"/>
                <a:cs typeface="Cambria Math"/>
              </a:rPr>
              <a:t> </a:t>
            </a:r>
            <a:r>
              <a:rPr sz="1100" kern="1200" dirty="0">
                <a:solidFill>
                  <a:prstClr val="black"/>
                </a:solidFill>
                <a:latin typeface="Cambria Math"/>
                <a:cs typeface="Cambria Math"/>
              </a:rPr>
              <a:t>, </a:t>
            </a:r>
            <a:r>
              <a:rPr sz="1100" kern="1200" spc="80" dirty="0">
                <a:solidFill>
                  <a:prstClr val="black"/>
                </a:solidFill>
                <a:latin typeface="Cambria Math"/>
                <a:cs typeface="Cambria Math"/>
              </a:rPr>
              <a:t> </a:t>
            </a:r>
            <a:r>
              <a:rPr sz="1100" kern="1200" dirty="0">
                <a:solidFill>
                  <a:prstClr val="black"/>
                </a:solidFill>
                <a:latin typeface="Cambria Math"/>
                <a:cs typeface="Cambria Math"/>
              </a:rPr>
              <a:t>𝐶</a:t>
            </a:r>
            <a:r>
              <a:rPr lang="zh-CN" altLang="en-US" sz="1100" kern="1200" spc="114" dirty="0">
                <a:solidFill>
                  <a:prstClr val="black"/>
                </a:solidFill>
                <a:latin typeface="Cambria Math"/>
                <a:cs typeface="Cambria Math"/>
              </a:rPr>
              <a:t> </a:t>
            </a:r>
            <a:r>
              <a:rPr lang="zh-CN" altLang="en-US" sz="1100" kern="1200" dirty="0">
                <a:solidFill>
                  <a:prstClr val="black"/>
                </a:solidFill>
                <a:latin typeface="Cambria Math"/>
                <a:cs typeface="Cambria Math"/>
              </a:rPr>
              <a:t>→</a:t>
            </a:r>
            <a:r>
              <a:rPr lang="en-US" altLang="zh-CN" sz="1100" kern="1200" dirty="0">
                <a:solidFill>
                  <a:prstClr val="black"/>
                </a:solidFill>
                <a:latin typeface="Cambria Math"/>
                <a:cs typeface="Cambria Math"/>
              </a:rPr>
              <a:t>·c</a:t>
            </a:r>
            <a:r>
              <a:rPr lang="zh-CN" altLang="en-US" sz="1100" kern="1200" dirty="0">
                <a:solidFill>
                  <a:prstClr val="black"/>
                </a:solidFill>
                <a:latin typeface="Cambria Math"/>
                <a:cs typeface="Cambria Math"/>
              </a:rPr>
              <a:t>𝐶</a:t>
            </a:r>
            <a:r>
              <a:rPr sz="1100" kern="1200" dirty="0">
                <a:solidFill>
                  <a:prstClr val="black"/>
                </a:solidFill>
                <a:latin typeface="Cambria Math"/>
                <a:cs typeface="Cambria Math"/>
              </a:rPr>
              <a:t>,</a:t>
            </a:r>
            <a:r>
              <a:rPr sz="1100" kern="1200" spc="-60" dirty="0">
                <a:solidFill>
                  <a:prstClr val="black"/>
                </a:solidFill>
                <a:latin typeface="Cambria Math"/>
                <a:cs typeface="Cambria Math"/>
              </a:rPr>
              <a:t> </a:t>
            </a:r>
            <a:r>
              <a:rPr sz="1100" kern="1200" dirty="0">
                <a:solidFill>
                  <a:prstClr val="black"/>
                </a:solidFill>
                <a:latin typeface="Cambria Math"/>
                <a:cs typeface="Cambria Math"/>
              </a:rPr>
              <a:t>$ </a:t>
            </a:r>
            <a:r>
              <a:rPr sz="1100" kern="1200" spc="-95" dirty="0">
                <a:solidFill>
                  <a:prstClr val="black"/>
                </a:solidFill>
                <a:latin typeface="Cambria Math"/>
                <a:cs typeface="Cambria Math"/>
              </a:rPr>
              <a:t> </a:t>
            </a:r>
            <a:r>
              <a:rPr sz="1100" kern="1200" dirty="0">
                <a:solidFill>
                  <a:prstClr val="black"/>
                </a:solidFill>
                <a:latin typeface="Cambria Math"/>
                <a:cs typeface="Cambria Math"/>
              </a:rPr>
              <a:t>,</a:t>
            </a:r>
            <a:r>
              <a:rPr sz="1100" kern="1200" spc="-60" dirty="0">
                <a:solidFill>
                  <a:prstClr val="black"/>
                </a:solidFill>
                <a:latin typeface="Cambria Math"/>
                <a:cs typeface="Cambria Math"/>
              </a:rPr>
              <a:t> </a:t>
            </a:r>
            <a:r>
              <a:rPr sz="1100" kern="1200" dirty="0">
                <a:solidFill>
                  <a:prstClr val="black"/>
                </a:solidFill>
                <a:latin typeface="Cambria Math"/>
                <a:cs typeface="Cambria Math"/>
              </a:rPr>
              <a:t>[𝐶</a:t>
            </a:r>
            <a:r>
              <a:rPr sz="1100" kern="1200" spc="114" dirty="0">
                <a:solidFill>
                  <a:prstClr val="black"/>
                </a:solidFill>
                <a:latin typeface="Cambria Math"/>
                <a:cs typeface="Cambria Math"/>
              </a:rPr>
              <a:t> </a:t>
            </a:r>
            <a:r>
              <a:rPr lang="zh-CN" altLang="en-US" sz="1100" kern="1200" dirty="0">
                <a:solidFill>
                  <a:prstClr val="black"/>
                </a:solidFill>
                <a:latin typeface="Cambria Math"/>
                <a:cs typeface="Cambria Math"/>
              </a:rPr>
              <a:t>→ </a:t>
            </a:r>
            <a:r>
              <a:rPr lang="en-US" altLang="zh-CN" sz="1100" kern="1200" dirty="0">
                <a:solidFill>
                  <a:prstClr val="black"/>
                </a:solidFill>
                <a:latin typeface="Cambria Math"/>
                <a:cs typeface="Cambria Math"/>
              </a:rPr>
              <a:t>·</a:t>
            </a:r>
            <a:r>
              <a:rPr lang="zh-CN" altLang="en-US" sz="1100" kern="1200" spc="35" dirty="0">
                <a:solidFill>
                  <a:prstClr val="black"/>
                </a:solidFill>
                <a:latin typeface="Cambria Math"/>
                <a:cs typeface="Cambria Math"/>
              </a:rPr>
              <a:t>𝑑</a:t>
            </a:r>
            <a:r>
              <a:rPr sz="1100" kern="1200" dirty="0">
                <a:solidFill>
                  <a:prstClr val="black"/>
                </a:solidFill>
                <a:latin typeface="Cambria Math"/>
                <a:cs typeface="Cambria Math"/>
              </a:rPr>
              <a:t>,</a:t>
            </a:r>
            <a:r>
              <a:rPr sz="1100" kern="1200" spc="-60" dirty="0">
                <a:solidFill>
                  <a:prstClr val="black"/>
                </a:solidFill>
                <a:latin typeface="Cambria Math"/>
                <a:cs typeface="Cambria Math"/>
              </a:rPr>
              <a:t> </a:t>
            </a:r>
            <a:r>
              <a:rPr sz="1100" kern="1200" spc="5" dirty="0">
                <a:solidFill>
                  <a:prstClr val="black"/>
                </a:solidFill>
                <a:latin typeface="Cambria Math"/>
                <a:cs typeface="Cambria Math"/>
              </a:rPr>
              <a:t>$</a:t>
            </a:r>
            <a:r>
              <a:rPr sz="1100" kern="1200" dirty="0">
                <a:solidFill>
                  <a:prstClr val="black"/>
                </a:solidFill>
                <a:latin typeface="Cambria Math"/>
                <a:cs typeface="Cambria Math"/>
              </a:rPr>
              <a:t>]}</a:t>
            </a:r>
          </a:p>
          <a:p>
            <a:pPr rtl="0">
              <a:spcBef>
                <a:spcPts val="20"/>
              </a:spcBef>
            </a:pPr>
            <a:endParaRPr sz="1500" kern="1200" dirty="0">
              <a:solidFill>
                <a:prstClr val="black"/>
              </a:solidFill>
              <a:latin typeface="Cambria Math"/>
              <a:cs typeface="Cambria Math"/>
            </a:endParaRPr>
          </a:p>
          <a:p>
            <a:pPr marL="330200" indent="-228600" rtl="0">
              <a:buFont typeface="Wingdings"/>
              <a:buChar char=""/>
              <a:tabLst>
                <a:tab pos="329565" algn="l"/>
                <a:tab pos="330200" algn="l"/>
                <a:tab pos="1395095" algn="l"/>
                <a:tab pos="2671445" algn="l"/>
                <a:tab pos="4195445" algn="l"/>
              </a:tabLst>
            </a:pPr>
            <a:r>
              <a:rPr sz="1600" kern="1200" spc="-15" dirty="0">
                <a:solidFill>
                  <a:prstClr val="black"/>
                </a:solidFill>
                <a:latin typeface="Cambria Math"/>
                <a:cs typeface="Cambria Math"/>
              </a:rPr>
              <a:t>GOTO</a:t>
            </a:r>
            <a:r>
              <a:rPr sz="1600" kern="1200" spc="315" dirty="0">
                <a:solidFill>
                  <a:prstClr val="black"/>
                </a:solidFill>
                <a:latin typeface="Cambria Math"/>
                <a:cs typeface="Cambria Math"/>
              </a:rPr>
              <a:t> </a:t>
            </a:r>
            <a:r>
              <a:rPr sz="1600" kern="1200" spc="-60" dirty="0">
                <a:solidFill>
                  <a:prstClr val="black"/>
                </a:solidFill>
                <a:latin typeface="Cambria Math"/>
                <a:cs typeface="Cambria Math"/>
              </a:rPr>
              <a:t>𝐼</a:t>
            </a:r>
            <a:r>
              <a:rPr lang="en-US" altLang="zh-CN" kern="1200" spc="-89" baseline="-13888" dirty="0">
                <a:solidFill>
                  <a:prstClr val="black"/>
                </a:solidFill>
                <a:latin typeface="Cambria Math"/>
                <a:cs typeface="Cambria Math"/>
              </a:rPr>
              <a:t>0</a:t>
            </a:r>
            <a:r>
              <a:rPr sz="1600" kern="1200" spc="-6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𝑐	=</a:t>
            </a:r>
            <a:r>
              <a:rPr sz="1600" kern="1200" spc="100" dirty="0">
                <a:solidFill>
                  <a:prstClr val="black"/>
                </a:solidFill>
                <a:latin typeface="Cambria Math"/>
                <a:cs typeface="Cambria Math"/>
              </a:rPr>
              <a:t> </a:t>
            </a:r>
            <a:r>
              <a:rPr sz="1600" kern="1200" dirty="0">
                <a:solidFill>
                  <a:prstClr val="black"/>
                </a:solidFill>
                <a:latin typeface="Cambria Math"/>
                <a:cs typeface="Cambria Math"/>
              </a:rPr>
              <a:t>CLOSURE	</a:t>
            </a:r>
            <a:r>
              <a:rPr lang="zh-CN" altLang="en-US" sz="1600" kern="1200" dirty="0">
                <a:solidFill>
                  <a:prstClr val="black"/>
                </a:solidFill>
                <a:latin typeface="Cambria Math"/>
                <a:cs typeface="Cambria Math"/>
              </a:rPr>
              <a:t>𝐶</a:t>
            </a:r>
            <a:r>
              <a:rPr lang="en-US" altLang="zh-CN" sz="1600" kern="1200" spc="114" dirty="0">
                <a:solidFill>
                  <a:prstClr val="black"/>
                </a:solidFill>
                <a:latin typeface="Cambria Math"/>
                <a:cs typeface="Cambria Math"/>
              </a:rPr>
              <a:t> </a:t>
            </a:r>
            <a:r>
              <a:rPr lang="en-US" altLang="zh-CN" sz="1600" kern="1200" dirty="0">
                <a:solidFill>
                  <a:prstClr val="black"/>
                </a:solidFill>
                <a:latin typeface="Cambria Math"/>
                <a:cs typeface="Cambria Math"/>
              </a:rPr>
              <a:t>→ c </a:t>
            </a:r>
            <a:r>
              <a:rPr lang="en-US" altLang="zh-CN" sz="1600" kern="1200" dirty="0">
                <a:solidFill>
                  <a:srgbClr val="FF0000"/>
                </a:solidFill>
                <a:latin typeface="Cambria Math"/>
                <a:cs typeface="Cambria Math"/>
              </a:rPr>
              <a:t>·</a:t>
            </a:r>
            <a:r>
              <a:rPr lang="zh-CN" altLang="en-US" sz="1600" kern="1200" dirty="0">
                <a:solidFill>
                  <a:prstClr val="black"/>
                </a:solidFill>
                <a:latin typeface="Cambria Math"/>
                <a:cs typeface="Cambria Math"/>
              </a:rPr>
              <a:t>𝐶</a:t>
            </a:r>
            <a:r>
              <a:rPr sz="1600" kern="1200" spc="3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15" dirty="0">
                <a:solidFill>
                  <a:srgbClr val="FF0000"/>
                </a:solidFill>
                <a:latin typeface="Cambria Math"/>
                <a:cs typeface="Cambria Math"/>
              </a:rPr>
              <a:t>𝑐/𝑑	</a:t>
            </a:r>
            <a:r>
              <a:rPr sz="1600" kern="1200" dirty="0">
                <a:solidFill>
                  <a:prstClr val="black"/>
                </a:solidFill>
                <a:latin typeface="Cambria Math"/>
                <a:cs typeface="Cambria Math"/>
              </a:rPr>
              <a:t>=</a:t>
            </a:r>
          </a:p>
          <a:p>
            <a:pPr marL="558165" rtl="0">
              <a:spcBef>
                <a:spcPts val="980"/>
              </a:spcBef>
              <a:tabLst>
                <a:tab pos="786765" algn="l"/>
              </a:tabLst>
            </a:pPr>
            <a:r>
              <a:rPr sz="1100" kern="1200" dirty="0">
                <a:solidFill>
                  <a:prstClr val="black"/>
                </a:solidFill>
                <a:latin typeface="Courier New"/>
                <a:cs typeface="Courier New"/>
              </a:rPr>
              <a:t>o	</a:t>
            </a:r>
            <a:r>
              <a:rPr sz="1100" kern="1200" spc="-5" dirty="0">
                <a:solidFill>
                  <a:prstClr val="black"/>
                </a:solidFill>
                <a:latin typeface="Palatino Linotype"/>
                <a:cs typeface="Palatino Linotype"/>
              </a:rPr>
              <a:t>{</a:t>
            </a:r>
            <a:r>
              <a:rPr sz="1100" kern="1200" dirty="0">
                <a:solidFill>
                  <a:prstClr val="black"/>
                </a:solidFill>
                <a:latin typeface="Cambria Math"/>
                <a:cs typeface="Cambria Math"/>
              </a:rPr>
              <a:t>[</a:t>
            </a:r>
            <a:r>
              <a:rPr lang="zh-CN" altLang="en-US" sz="1100" kern="1200" dirty="0">
                <a:solidFill>
                  <a:prstClr val="black"/>
                </a:solidFill>
                <a:latin typeface="Cambria Math"/>
                <a:cs typeface="Cambria Math"/>
              </a:rPr>
              <a:t>𝐶</a:t>
            </a:r>
            <a:r>
              <a:rPr lang="en-US" altLang="zh-CN" sz="1100" kern="1200" spc="114" dirty="0">
                <a:solidFill>
                  <a:prstClr val="black"/>
                </a:solidFill>
                <a:latin typeface="Cambria Math"/>
                <a:cs typeface="Cambria Math"/>
              </a:rPr>
              <a:t> </a:t>
            </a:r>
            <a:r>
              <a:rPr lang="en-US" altLang="zh-CN" sz="1100" kern="1200" dirty="0">
                <a:solidFill>
                  <a:prstClr val="black"/>
                </a:solidFill>
                <a:latin typeface="Cambria Math"/>
                <a:cs typeface="Cambria Math"/>
              </a:rPr>
              <a:t>→ c ·</a:t>
            </a:r>
            <a:r>
              <a:rPr lang="zh-CN" altLang="en-US" sz="1100" kern="1200" dirty="0">
                <a:solidFill>
                  <a:prstClr val="black"/>
                </a:solidFill>
                <a:latin typeface="Cambria Math"/>
                <a:cs typeface="Cambria Math"/>
              </a:rPr>
              <a:t>𝐶</a:t>
            </a:r>
            <a:r>
              <a:rPr sz="1100" kern="1200" dirty="0">
                <a:solidFill>
                  <a:prstClr val="black"/>
                </a:solidFill>
                <a:latin typeface="Cambria Math"/>
                <a:cs typeface="Cambria Math"/>
              </a:rPr>
              <a:t>,</a:t>
            </a:r>
            <a:r>
              <a:rPr sz="1100" kern="1200" spc="-60" dirty="0">
                <a:solidFill>
                  <a:prstClr val="black"/>
                </a:solidFill>
                <a:latin typeface="Cambria Math"/>
                <a:cs typeface="Cambria Math"/>
              </a:rPr>
              <a:t> </a:t>
            </a:r>
            <a:r>
              <a:rPr sz="1100" kern="1200" spc="25" dirty="0">
                <a:solidFill>
                  <a:prstClr val="black"/>
                </a:solidFill>
                <a:latin typeface="Cambria Math"/>
                <a:cs typeface="Cambria Math"/>
              </a:rPr>
              <a:t>𝑐</a:t>
            </a:r>
            <a:r>
              <a:rPr sz="1100" kern="1200" spc="-5" dirty="0">
                <a:solidFill>
                  <a:prstClr val="black"/>
                </a:solidFill>
                <a:latin typeface="Cambria Math"/>
                <a:cs typeface="Cambria Math"/>
              </a:rPr>
              <a:t>/</a:t>
            </a:r>
            <a:r>
              <a:rPr sz="1100" kern="1200" dirty="0">
                <a:solidFill>
                  <a:prstClr val="black"/>
                </a:solidFill>
                <a:latin typeface="Cambria Math"/>
                <a:cs typeface="Cambria Math"/>
              </a:rPr>
              <a:t>𝑑</a:t>
            </a:r>
            <a:r>
              <a:rPr sz="1100" kern="1200" spc="30" dirty="0">
                <a:solidFill>
                  <a:prstClr val="black"/>
                </a:solidFill>
                <a:latin typeface="Cambria Math"/>
                <a:cs typeface="Cambria Math"/>
              </a:rPr>
              <a:t> </a:t>
            </a:r>
            <a:r>
              <a:rPr sz="1100" kern="1200" dirty="0">
                <a:solidFill>
                  <a:prstClr val="black"/>
                </a:solidFill>
                <a:latin typeface="Cambria Math"/>
                <a:cs typeface="Cambria Math"/>
              </a:rPr>
              <a:t>],</a:t>
            </a:r>
            <a:r>
              <a:rPr sz="1100" kern="1200" spc="-60" dirty="0">
                <a:solidFill>
                  <a:prstClr val="black"/>
                </a:solidFill>
                <a:latin typeface="Cambria Math"/>
                <a:cs typeface="Cambria Math"/>
              </a:rPr>
              <a:t> </a:t>
            </a:r>
            <a:r>
              <a:rPr sz="1100" kern="1200" dirty="0">
                <a:solidFill>
                  <a:prstClr val="black"/>
                </a:solidFill>
                <a:latin typeface="Cambria Math"/>
                <a:cs typeface="Cambria Math"/>
              </a:rPr>
              <a:t>[</a:t>
            </a:r>
            <a:r>
              <a:rPr lang="zh-CN" altLang="en-US" sz="1100" kern="1200" dirty="0">
                <a:solidFill>
                  <a:prstClr val="black"/>
                </a:solidFill>
                <a:latin typeface="Cambria Math"/>
                <a:cs typeface="Cambria Math"/>
              </a:rPr>
              <a:t>𝐶</a:t>
            </a:r>
            <a:r>
              <a:rPr lang="en-US" altLang="zh-CN" sz="1100" kern="1200" spc="114" dirty="0">
                <a:solidFill>
                  <a:prstClr val="black"/>
                </a:solidFill>
                <a:latin typeface="Cambria Math"/>
                <a:cs typeface="Cambria Math"/>
              </a:rPr>
              <a:t> </a:t>
            </a:r>
            <a:r>
              <a:rPr lang="en-US" altLang="zh-CN" sz="1100" kern="1200" dirty="0">
                <a:solidFill>
                  <a:prstClr val="black"/>
                </a:solidFill>
                <a:latin typeface="Cambria Math"/>
                <a:cs typeface="Cambria Math"/>
              </a:rPr>
              <a:t>→·c</a:t>
            </a:r>
            <a:r>
              <a:rPr lang="zh-CN" altLang="en-US" sz="1100" kern="1200" dirty="0">
                <a:solidFill>
                  <a:prstClr val="black"/>
                </a:solidFill>
                <a:latin typeface="Cambria Math"/>
                <a:cs typeface="Cambria Math"/>
              </a:rPr>
              <a:t>𝐶</a:t>
            </a:r>
            <a:r>
              <a:rPr sz="1100" kern="1200" dirty="0">
                <a:solidFill>
                  <a:prstClr val="black"/>
                </a:solidFill>
                <a:latin typeface="Cambria Math"/>
                <a:cs typeface="Cambria Math"/>
              </a:rPr>
              <a:t>,</a:t>
            </a:r>
            <a:r>
              <a:rPr sz="1100" kern="1200" spc="-60" dirty="0">
                <a:solidFill>
                  <a:prstClr val="black"/>
                </a:solidFill>
                <a:latin typeface="Cambria Math"/>
                <a:cs typeface="Cambria Math"/>
              </a:rPr>
              <a:t> </a:t>
            </a:r>
            <a:r>
              <a:rPr sz="1100" kern="1200" spc="25" dirty="0">
                <a:solidFill>
                  <a:prstClr val="black"/>
                </a:solidFill>
                <a:latin typeface="Cambria Math"/>
                <a:cs typeface="Cambria Math"/>
              </a:rPr>
              <a:t>𝑐</a:t>
            </a:r>
            <a:r>
              <a:rPr sz="1100" kern="1200" spc="-5" dirty="0">
                <a:solidFill>
                  <a:prstClr val="black"/>
                </a:solidFill>
                <a:latin typeface="Cambria Math"/>
                <a:cs typeface="Cambria Math"/>
              </a:rPr>
              <a:t>/</a:t>
            </a:r>
            <a:r>
              <a:rPr sz="1100" kern="1200" spc="35" dirty="0">
                <a:solidFill>
                  <a:prstClr val="black"/>
                </a:solidFill>
                <a:latin typeface="Cambria Math"/>
                <a:cs typeface="Cambria Math"/>
              </a:rPr>
              <a:t>𝑑</a:t>
            </a:r>
            <a:r>
              <a:rPr sz="1100" kern="1200" dirty="0">
                <a:solidFill>
                  <a:prstClr val="black"/>
                </a:solidFill>
                <a:latin typeface="Cambria Math"/>
                <a:cs typeface="Cambria Math"/>
              </a:rPr>
              <a:t>],</a:t>
            </a:r>
            <a:r>
              <a:rPr sz="1100" kern="1200" spc="-60" dirty="0">
                <a:solidFill>
                  <a:prstClr val="black"/>
                </a:solidFill>
                <a:latin typeface="Cambria Math"/>
                <a:cs typeface="Cambria Math"/>
              </a:rPr>
              <a:t> </a:t>
            </a:r>
            <a:r>
              <a:rPr sz="1100" kern="1200" dirty="0">
                <a:solidFill>
                  <a:prstClr val="black"/>
                </a:solidFill>
                <a:latin typeface="Cambria Math"/>
                <a:cs typeface="Cambria Math"/>
              </a:rPr>
              <a:t>[</a:t>
            </a:r>
            <a:r>
              <a:rPr lang="zh-CN" altLang="en-US" sz="1100" kern="1200" dirty="0">
                <a:solidFill>
                  <a:prstClr val="black"/>
                </a:solidFill>
                <a:latin typeface="Cambria Math"/>
                <a:cs typeface="Cambria Math"/>
              </a:rPr>
              <a:t>𝐶</a:t>
            </a:r>
            <a:r>
              <a:rPr lang="zh-CN" altLang="en-US" sz="1100" kern="1200" spc="114" dirty="0">
                <a:solidFill>
                  <a:prstClr val="black"/>
                </a:solidFill>
                <a:latin typeface="Cambria Math"/>
                <a:cs typeface="Cambria Math"/>
              </a:rPr>
              <a:t> </a:t>
            </a:r>
            <a:r>
              <a:rPr lang="zh-CN" altLang="en-US" sz="1100" kern="1200" dirty="0">
                <a:solidFill>
                  <a:prstClr val="black"/>
                </a:solidFill>
                <a:latin typeface="Cambria Math"/>
                <a:cs typeface="Cambria Math"/>
              </a:rPr>
              <a:t>→ </a:t>
            </a:r>
            <a:r>
              <a:rPr lang="en-US" altLang="zh-CN" sz="1100" kern="1200" dirty="0">
                <a:solidFill>
                  <a:prstClr val="black"/>
                </a:solidFill>
                <a:latin typeface="Cambria Math"/>
                <a:cs typeface="Cambria Math"/>
              </a:rPr>
              <a:t>·</a:t>
            </a:r>
            <a:r>
              <a:rPr lang="zh-CN" altLang="en-US" sz="1100" kern="1200" spc="35" dirty="0">
                <a:solidFill>
                  <a:prstClr val="black"/>
                </a:solidFill>
                <a:latin typeface="Cambria Math"/>
                <a:cs typeface="Cambria Math"/>
              </a:rPr>
              <a:t>𝑑</a:t>
            </a:r>
            <a:r>
              <a:rPr sz="1100" kern="1200" dirty="0">
                <a:solidFill>
                  <a:prstClr val="black"/>
                </a:solidFill>
                <a:latin typeface="Cambria Math"/>
                <a:cs typeface="Cambria Math"/>
              </a:rPr>
              <a:t>,</a:t>
            </a:r>
            <a:r>
              <a:rPr sz="1100" kern="1200" spc="-60" dirty="0">
                <a:solidFill>
                  <a:prstClr val="black"/>
                </a:solidFill>
                <a:latin typeface="Cambria Math"/>
                <a:cs typeface="Cambria Math"/>
              </a:rPr>
              <a:t> </a:t>
            </a:r>
            <a:r>
              <a:rPr sz="1100" kern="1200" spc="25" dirty="0">
                <a:solidFill>
                  <a:prstClr val="black"/>
                </a:solidFill>
                <a:latin typeface="Cambria Math"/>
                <a:cs typeface="Cambria Math"/>
              </a:rPr>
              <a:t>𝑐</a:t>
            </a:r>
            <a:r>
              <a:rPr sz="1100" kern="1200" spc="-5" dirty="0">
                <a:solidFill>
                  <a:prstClr val="black"/>
                </a:solidFill>
                <a:latin typeface="Cambria Math"/>
                <a:cs typeface="Cambria Math"/>
              </a:rPr>
              <a:t>/</a:t>
            </a:r>
            <a:r>
              <a:rPr sz="1100" kern="1200" spc="35" dirty="0">
                <a:solidFill>
                  <a:prstClr val="black"/>
                </a:solidFill>
                <a:latin typeface="Cambria Math"/>
                <a:cs typeface="Cambria Math"/>
              </a:rPr>
              <a:t>𝑑</a:t>
            </a:r>
            <a:r>
              <a:rPr sz="1100" kern="1200" dirty="0">
                <a:solidFill>
                  <a:prstClr val="black"/>
                </a:solidFill>
                <a:latin typeface="Cambria Math"/>
                <a:cs typeface="Cambria Math"/>
              </a:rPr>
              <a:t>]</a:t>
            </a:r>
            <a:r>
              <a:rPr sz="1100" kern="1200" dirty="0">
                <a:solidFill>
                  <a:prstClr val="black"/>
                </a:solidFill>
                <a:latin typeface="Palatino Linotype"/>
                <a:cs typeface="Palatino Linotype"/>
              </a:rPr>
              <a:t>}</a:t>
            </a:r>
          </a:p>
        </p:txBody>
      </p:sp>
      <p:sp>
        <p:nvSpPr>
          <p:cNvPr id="35" name="object 13">
            <a:extLst>
              <a:ext uri="{FF2B5EF4-FFF2-40B4-BE49-F238E27FC236}">
                <a16:creationId xmlns:a16="http://schemas.microsoft.com/office/drawing/2014/main" id="{DCC14369-B6C7-4977-DEE8-07FAD7BA8575}"/>
              </a:ext>
            </a:extLst>
          </p:cNvPr>
          <p:cNvSpPr/>
          <p:nvPr/>
        </p:nvSpPr>
        <p:spPr>
          <a:xfrm>
            <a:off x="1928573" y="5824485"/>
            <a:ext cx="492125" cy="188595"/>
          </a:xfrm>
          <a:custGeom>
            <a:avLst/>
            <a:gdLst/>
            <a:ahLst/>
            <a:cxnLst/>
            <a:rect l="l" t="t" r="r" b="b"/>
            <a:pathLst>
              <a:path w="492125" h="188595">
                <a:moveTo>
                  <a:pt x="432074" y="0"/>
                </a:moveTo>
                <a:lnTo>
                  <a:pt x="429395" y="7639"/>
                </a:lnTo>
                <a:lnTo>
                  <a:pt x="440291" y="12368"/>
                </a:lnTo>
                <a:lnTo>
                  <a:pt x="449660" y="18913"/>
                </a:lnTo>
                <a:lnTo>
                  <a:pt x="472158" y="62470"/>
                </a:lnTo>
                <a:lnTo>
                  <a:pt x="474936" y="93166"/>
                </a:lnTo>
                <a:lnTo>
                  <a:pt x="474239" y="109766"/>
                </a:lnTo>
                <a:lnTo>
                  <a:pt x="463774" y="150415"/>
                </a:lnTo>
                <a:lnTo>
                  <a:pt x="429693" y="180578"/>
                </a:lnTo>
                <a:lnTo>
                  <a:pt x="432074" y="188217"/>
                </a:lnTo>
                <a:lnTo>
                  <a:pt x="468034" y="166851"/>
                </a:lnTo>
                <a:lnTo>
                  <a:pt x="488232" y="127409"/>
                </a:lnTo>
                <a:lnTo>
                  <a:pt x="492102" y="94158"/>
                </a:lnTo>
                <a:lnTo>
                  <a:pt x="491131" y="76903"/>
                </a:lnTo>
                <a:lnTo>
                  <a:pt x="476573" y="32990"/>
                </a:lnTo>
                <a:lnTo>
                  <a:pt x="445719" y="4926"/>
                </a:lnTo>
                <a:lnTo>
                  <a:pt x="432074" y="0"/>
                </a:lnTo>
                <a:close/>
              </a:path>
              <a:path w="492125" h="188595">
                <a:moveTo>
                  <a:pt x="60027" y="0"/>
                </a:moveTo>
                <a:lnTo>
                  <a:pt x="24132" y="21421"/>
                </a:lnTo>
                <a:lnTo>
                  <a:pt x="3882" y="60957"/>
                </a:lnTo>
                <a:lnTo>
                  <a:pt x="0" y="94158"/>
                </a:lnTo>
                <a:lnTo>
                  <a:pt x="967" y="111450"/>
                </a:lnTo>
                <a:lnTo>
                  <a:pt x="15478" y="155326"/>
                </a:lnTo>
                <a:lnTo>
                  <a:pt x="46342" y="183297"/>
                </a:lnTo>
                <a:lnTo>
                  <a:pt x="60027" y="188217"/>
                </a:lnTo>
                <a:lnTo>
                  <a:pt x="62409" y="180578"/>
                </a:lnTo>
                <a:lnTo>
                  <a:pt x="51684" y="175827"/>
                </a:lnTo>
                <a:lnTo>
                  <a:pt x="42428" y="169217"/>
                </a:lnTo>
                <a:lnTo>
                  <a:pt x="19955" y="124841"/>
                </a:lnTo>
                <a:lnTo>
                  <a:pt x="17165" y="93166"/>
                </a:lnTo>
                <a:lnTo>
                  <a:pt x="17863" y="77108"/>
                </a:lnTo>
                <a:lnTo>
                  <a:pt x="28327" y="37455"/>
                </a:lnTo>
                <a:lnTo>
                  <a:pt x="62706" y="7639"/>
                </a:lnTo>
                <a:lnTo>
                  <a:pt x="60027"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6" name="object 14">
            <a:extLst>
              <a:ext uri="{FF2B5EF4-FFF2-40B4-BE49-F238E27FC236}">
                <a16:creationId xmlns:a16="http://schemas.microsoft.com/office/drawing/2014/main" id="{5BEF560C-A532-A9CB-5D39-4515B2CF84B3}"/>
              </a:ext>
            </a:extLst>
          </p:cNvPr>
          <p:cNvSpPr/>
          <p:nvPr/>
        </p:nvSpPr>
        <p:spPr>
          <a:xfrm>
            <a:off x="3555123" y="5823965"/>
            <a:ext cx="1515110" cy="189865"/>
          </a:xfrm>
          <a:custGeom>
            <a:avLst/>
            <a:gdLst/>
            <a:ahLst/>
            <a:cxnLst/>
            <a:rect l="l" t="t" r="r" b="b"/>
            <a:pathLst>
              <a:path w="1515110" h="189864">
                <a:moveTo>
                  <a:pt x="62699" y="8166"/>
                </a:moveTo>
                <a:lnTo>
                  <a:pt x="60020" y="520"/>
                </a:lnTo>
                <a:lnTo>
                  <a:pt x="46380" y="5448"/>
                </a:lnTo>
                <a:lnTo>
                  <a:pt x="34417" y="12598"/>
                </a:lnTo>
                <a:lnTo>
                  <a:pt x="8724" y="46850"/>
                </a:lnTo>
                <a:lnTo>
                  <a:pt x="0" y="94678"/>
                </a:lnTo>
                <a:lnTo>
                  <a:pt x="965" y="111975"/>
                </a:lnTo>
                <a:lnTo>
                  <a:pt x="15481" y="155854"/>
                </a:lnTo>
                <a:lnTo>
                  <a:pt x="46342" y="183819"/>
                </a:lnTo>
                <a:lnTo>
                  <a:pt x="60020" y="188747"/>
                </a:lnTo>
                <a:lnTo>
                  <a:pt x="62407" y="181102"/>
                </a:lnTo>
                <a:lnTo>
                  <a:pt x="51676" y="176352"/>
                </a:lnTo>
                <a:lnTo>
                  <a:pt x="42430" y="169748"/>
                </a:lnTo>
                <a:lnTo>
                  <a:pt x="19951" y="125374"/>
                </a:lnTo>
                <a:lnTo>
                  <a:pt x="17157" y="93687"/>
                </a:lnTo>
                <a:lnTo>
                  <a:pt x="17856" y="77635"/>
                </a:lnTo>
                <a:lnTo>
                  <a:pt x="28321" y="37985"/>
                </a:lnTo>
                <a:lnTo>
                  <a:pt x="51841" y="12890"/>
                </a:lnTo>
                <a:lnTo>
                  <a:pt x="62699" y="8166"/>
                </a:lnTo>
                <a:close/>
              </a:path>
              <a:path w="1515110" h="189864">
                <a:moveTo>
                  <a:pt x="139192" y="0"/>
                </a:moveTo>
                <a:lnTo>
                  <a:pt x="136613" y="0"/>
                </a:lnTo>
                <a:lnTo>
                  <a:pt x="125691" y="812"/>
                </a:lnTo>
                <a:lnTo>
                  <a:pt x="93065" y="23507"/>
                </a:lnTo>
                <a:lnTo>
                  <a:pt x="90182" y="41478"/>
                </a:lnTo>
                <a:lnTo>
                  <a:pt x="90182" y="46964"/>
                </a:lnTo>
                <a:lnTo>
                  <a:pt x="90957" y="53213"/>
                </a:lnTo>
                <a:lnTo>
                  <a:pt x="94068" y="67233"/>
                </a:lnTo>
                <a:lnTo>
                  <a:pt x="94843" y="71932"/>
                </a:lnTo>
                <a:lnTo>
                  <a:pt x="94843" y="78879"/>
                </a:lnTo>
                <a:lnTo>
                  <a:pt x="93268" y="82600"/>
                </a:lnTo>
                <a:lnTo>
                  <a:pt x="86982" y="88353"/>
                </a:lnTo>
                <a:lnTo>
                  <a:pt x="82245" y="89890"/>
                </a:lnTo>
                <a:lnTo>
                  <a:pt x="75895" y="90093"/>
                </a:lnTo>
                <a:lnTo>
                  <a:pt x="75895" y="98234"/>
                </a:lnTo>
                <a:lnTo>
                  <a:pt x="82245" y="98425"/>
                </a:lnTo>
                <a:lnTo>
                  <a:pt x="86982" y="99961"/>
                </a:lnTo>
                <a:lnTo>
                  <a:pt x="93268" y="105714"/>
                </a:lnTo>
                <a:lnTo>
                  <a:pt x="94843" y="109435"/>
                </a:lnTo>
                <a:lnTo>
                  <a:pt x="94843" y="116382"/>
                </a:lnTo>
                <a:lnTo>
                  <a:pt x="94068" y="121081"/>
                </a:lnTo>
                <a:lnTo>
                  <a:pt x="90957" y="135102"/>
                </a:lnTo>
                <a:lnTo>
                  <a:pt x="90182" y="141351"/>
                </a:lnTo>
                <a:lnTo>
                  <a:pt x="90182" y="146850"/>
                </a:lnTo>
                <a:lnTo>
                  <a:pt x="90906" y="156857"/>
                </a:lnTo>
                <a:lnTo>
                  <a:pt x="116230" y="186347"/>
                </a:lnTo>
                <a:lnTo>
                  <a:pt x="136613" y="189217"/>
                </a:lnTo>
                <a:lnTo>
                  <a:pt x="139192" y="189217"/>
                </a:lnTo>
                <a:lnTo>
                  <a:pt x="139192" y="181673"/>
                </a:lnTo>
                <a:lnTo>
                  <a:pt x="128117" y="181673"/>
                </a:lnTo>
                <a:lnTo>
                  <a:pt x="120611" y="179171"/>
                </a:lnTo>
                <a:lnTo>
                  <a:pt x="107048" y="148628"/>
                </a:lnTo>
                <a:lnTo>
                  <a:pt x="107048" y="144005"/>
                </a:lnTo>
                <a:lnTo>
                  <a:pt x="107708" y="138277"/>
                </a:lnTo>
                <a:lnTo>
                  <a:pt x="110350" y="124650"/>
                </a:lnTo>
                <a:lnTo>
                  <a:pt x="111010" y="119786"/>
                </a:lnTo>
                <a:lnTo>
                  <a:pt x="111010" y="111264"/>
                </a:lnTo>
                <a:lnTo>
                  <a:pt x="109359" y="106641"/>
                </a:lnTo>
                <a:lnTo>
                  <a:pt x="102743" y="99441"/>
                </a:lnTo>
                <a:lnTo>
                  <a:pt x="98806" y="96774"/>
                </a:lnTo>
                <a:lnTo>
                  <a:pt x="94246" y="95059"/>
                </a:lnTo>
                <a:lnTo>
                  <a:pt x="94246" y="93268"/>
                </a:lnTo>
                <a:lnTo>
                  <a:pt x="98806" y="91554"/>
                </a:lnTo>
                <a:lnTo>
                  <a:pt x="102743" y="88887"/>
                </a:lnTo>
                <a:lnTo>
                  <a:pt x="109359" y="81673"/>
                </a:lnTo>
                <a:lnTo>
                  <a:pt x="111010" y="77063"/>
                </a:lnTo>
                <a:lnTo>
                  <a:pt x="111010" y="68529"/>
                </a:lnTo>
                <a:lnTo>
                  <a:pt x="110350" y="63665"/>
                </a:lnTo>
                <a:lnTo>
                  <a:pt x="107708" y="50038"/>
                </a:lnTo>
                <a:lnTo>
                  <a:pt x="107048" y="44323"/>
                </a:lnTo>
                <a:lnTo>
                  <a:pt x="107048" y="39687"/>
                </a:lnTo>
                <a:lnTo>
                  <a:pt x="107556" y="31711"/>
                </a:lnTo>
                <a:lnTo>
                  <a:pt x="128117" y="7543"/>
                </a:lnTo>
                <a:lnTo>
                  <a:pt x="139192" y="7543"/>
                </a:lnTo>
                <a:lnTo>
                  <a:pt x="139192" y="0"/>
                </a:lnTo>
                <a:close/>
              </a:path>
              <a:path w="1515110" h="189864">
                <a:moveTo>
                  <a:pt x="212013" y="254"/>
                </a:moveTo>
                <a:lnTo>
                  <a:pt x="167767" y="254"/>
                </a:lnTo>
                <a:lnTo>
                  <a:pt x="167767" y="7874"/>
                </a:lnTo>
                <a:lnTo>
                  <a:pt x="167767" y="181864"/>
                </a:lnTo>
                <a:lnTo>
                  <a:pt x="167767" y="189484"/>
                </a:lnTo>
                <a:lnTo>
                  <a:pt x="212013" y="189484"/>
                </a:lnTo>
                <a:lnTo>
                  <a:pt x="212013" y="181864"/>
                </a:lnTo>
                <a:lnTo>
                  <a:pt x="184238" y="181864"/>
                </a:lnTo>
                <a:lnTo>
                  <a:pt x="184238" y="7874"/>
                </a:lnTo>
                <a:lnTo>
                  <a:pt x="212013" y="7874"/>
                </a:lnTo>
                <a:lnTo>
                  <a:pt x="212013" y="254"/>
                </a:lnTo>
                <a:close/>
              </a:path>
              <a:path w="1515110" h="189864">
                <a:moveTo>
                  <a:pt x="1347076" y="254"/>
                </a:moveTo>
                <a:lnTo>
                  <a:pt x="1302816" y="254"/>
                </a:lnTo>
                <a:lnTo>
                  <a:pt x="1302816" y="7874"/>
                </a:lnTo>
                <a:lnTo>
                  <a:pt x="1330604" y="7874"/>
                </a:lnTo>
                <a:lnTo>
                  <a:pt x="1330604" y="181864"/>
                </a:lnTo>
                <a:lnTo>
                  <a:pt x="1302816" y="181864"/>
                </a:lnTo>
                <a:lnTo>
                  <a:pt x="1302816" y="189484"/>
                </a:lnTo>
                <a:lnTo>
                  <a:pt x="1347076" y="189484"/>
                </a:lnTo>
                <a:lnTo>
                  <a:pt x="1347076" y="181864"/>
                </a:lnTo>
                <a:lnTo>
                  <a:pt x="1347076" y="7874"/>
                </a:lnTo>
                <a:lnTo>
                  <a:pt x="1347076" y="254"/>
                </a:lnTo>
                <a:close/>
              </a:path>
              <a:path w="1515110" h="189864">
                <a:moveTo>
                  <a:pt x="1438935" y="90195"/>
                </a:moveTo>
                <a:lnTo>
                  <a:pt x="1432585" y="89992"/>
                </a:lnTo>
                <a:lnTo>
                  <a:pt x="1427835" y="88455"/>
                </a:lnTo>
                <a:lnTo>
                  <a:pt x="1421549" y="82702"/>
                </a:lnTo>
                <a:lnTo>
                  <a:pt x="1419974" y="78981"/>
                </a:lnTo>
                <a:lnTo>
                  <a:pt x="1419974" y="72034"/>
                </a:lnTo>
                <a:lnTo>
                  <a:pt x="1420761" y="67335"/>
                </a:lnTo>
                <a:lnTo>
                  <a:pt x="1423860" y="53314"/>
                </a:lnTo>
                <a:lnTo>
                  <a:pt x="1424647" y="47066"/>
                </a:lnTo>
                <a:lnTo>
                  <a:pt x="1424647" y="41579"/>
                </a:lnTo>
                <a:lnTo>
                  <a:pt x="1423924" y="31902"/>
                </a:lnTo>
                <a:lnTo>
                  <a:pt x="1398587" y="2870"/>
                </a:lnTo>
                <a:lnTo>
                  <a:pt x="1378204" y="0"/>
                </a:lnTo>
                <a:lnTo>
                  <a:pt x="1375625" y="0"/>
                </a:lnTo>
                <a:lnTo>
                  <a:pt x="1375625" y="7543"/>
                </a:lnTo>
                <a:lnTo>
                  <a:pt x="1386713" y="7543"/>
                </a:lnTo>
                <a:lnTo>
                  <a:pt x="1394218" y="10045"/>
                </a:lnTo>
                <a:lnTo>
                  <a:pt x="1407782" y="39789"/>
                </a:lnTo>
                <a:lnTo>
                  <a:pt x="1407782" y="44424"/>
                </a:lnTo>
                <a:lnTo>
                  <a:pt x="1407109" y="50139"/>
                </a:lnTo>
                <a:lnTo>
                  <a:pt x="1404467" y="63766"/>
                </a:lnTo>
                <a:lnTo>
                  <a:pt x="1403807" y="68630"/>
                </a:lnTo>
                <a:lnTo>
                  <a:pt x="1403807" y="77165"/>
                </a:lnTo>
                <a:lnTo>
                  <a:pt x="1405458" y="81775"/>
                </a:lnTo>
                <a:lnTo>
                  <a:pt x="1412074" y="88988"/>
                </a:lnTo>
                <a:lnTo>
                  <a:pt x="1416011" y="91643"/>
                </a:lnTo>
                <a:lnTo>
                  <a:pt x="1420571" y="93370"/>
                </a:lnTo>
                <a:lnTo>
                  <a:pt x="1420571" y="95148"/>
                </a:lnTo>
                <a:lnTo>
                  <a:pt x="1416011" y="96875"/>
                </a:lnTo>
                <a:lnTo>
                  <a:pt x="1412074" y="99529"/>
                </a:lnTo>
                <a:lnTo>
                  <a:pt x="1405458" y="106743"/>
                </a:lnTo>
                <a:lnTo>
                  <a:pt x="1403807" y="111353"/>
                </a:lnTo>
                <a:lnTo>
                  <a:pt x="1403807" y="119888"/>
                </a:lnTo>
                <a:lnTo>
                  <a:pt x="1404467" y="124752"/>
                </a:lnTo>
                <a:lnTo>
                  <a:pt x="1407109" y="138379"/>
                </a:lnTo>
                <a:lnTo>
                  <a:pt x="1407782" y="144106"/>
                </a:lnTo>
                <a:lnTo>
                  <a:pt x="1407782" y="148729"/>
                </a:lnTo>
                <a:lnTo>
                  <a:pt x="1407261" y="157060"/>
                </a:lnTo>
                <a:lnTo>
                  <a:pt x="1386713" y="181673"/>
                </a:lnTo>
                <a:lnTo>
                  <a:pt x="1375625" y="181673"/>
                </a:lnTo>
                <a:lnTo>
                  <a:pt x="1375625" y="189217"/>
                </a:lnTo>
                <a:lnTo>
                  <a:pt x="1378204" y="189217"/>
                </a:lnTo>
                <a:lnTo>
                  <a:pt x="1389126" y="188391"/>
                </a:lnTo>
                <a:lnTo>
                  <a:pt x="1421752" y="165506"/>
                </a:lnTo>
                <a:lnTo>
                  <a:pt x="1424647" y="146939"/>
                </a:lnTo>
                <a:lnTo>
                  <a:pt x="1424647" y="141452"/>
                </a:lnTo>
                <a:lnTo>
                  <a:pt x="1423860" y="135204"/>
                </a:lnTo>
                <a:lnTo>
                  <a:pt x="1420761" y="121183"/>
                </a:lnTo>
                <a:lnTo>
                  <a:pt x="1419974" y="116484"/>
                </a:lnTo>
                <a:lnTo>
                  <a:pt x="1419974" y="109537"/>
                </a:lnTo>
                <a:lnTo>
                  <a:pt x="1421549" y="105816"/>
                </a:lnTo>
                <a:lnTo>
                  <a:pt x="1427835" y="100063"/>
                </a:lnTo>
                <a:lnTo>
                  <a:pt x="1432585" y="98526"/>
                </a:lnTo>
                <a:lnTo>
                  <a:pt x="1438935" y="98323"/>
                </a:lnTo>
                <a:lnTo>
                  <a:pt x="1438935" y="90195"/>
                </a:lnTo>
                <a:close/>
              </a:path>
              <a:path w="1515110" h="189864">
                <a:moveTo>
                  <a:pt x="1514830" y="94678"/>
                </a:moveTo>
                <a:lnTo>
                  <a:pt x="1506093" y="46850"/>
                </a:lnTo>
                <a:lnTo>
                  <a:pt x="1480413" y="12598"/>
                </a:lnTo>
                <a:lnTo>
                  <a:pt x="1454797" y="520"/>
                </a:lnTo>
                <a:lnTo>
                  <a:pt x="1452118" y="8166"/>
                </a:lnTo>
                <a:lnTo>
                  <a:pt x="1463014" y="12890"/>
                </a:lnTo>
                <a:lnTo>
                  <a:pt x="1472387" y="19443"/>
                </a:lnTo>
                <a:lnTo>
                  <a:pt x="1494891" y="62992"/>
                </a:lnTo>
                <a:lnTo>
                  <a:pt x="1497660" y="93687"/>
                </a:lnTo>
                <a:lnTo>
                  <a:pt x="1496961" y="110286"/>
                </a:lnTo>
                <a:lnTo>
                  <a:pt x="1486496" y="150939"/>
                </a:lnTo>
                <a:lnTo>
                  <a:pt x="1452422" y="181102"/>
                </a:lnTo>
                <a:lnTo>
                  <a:pt x="1454797" y="188747"/>
                </a:lnTo>
                <a:lnTo>
                  <a:pt x="1490764" y="167373"/>
                </a:lnTo>
                <a:lnTo>
                  <a:pt x="1510957" y="127939"/>
                </a:lnTo>
                <a:lnTo>
                  <a:pt x="1513865" y="111975"/>
                </a:lnTo>
                <a:lnTo>
                  <a:pt x="1514830" y="9467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7" name="object 15">
            <a:extLst>
              <a:ext uri="{FF2B5EF4-FFF2-40B4-BE49-F238E27FC236}">
                <a16:creationId xmlns:a16="http://schemas.microsoft.com/office/drawing/2014/main" id="{32656DD3-476D-A75C-6B75-AFFA1C8EFA17}"/>
              </a:ext>
            </a:extLst>
          </p:cNvPr>
          <p:cNvSpPr txBox="1"/>
          <p:nvPr/>
        </p:nvSpPr>
        <p:spPr>
          <a:xfrm>
            <a:off x="1113789" y="5761228"/>
            <a:ext cx="4220845" cy="269240"/>
          </a:xfrm>
          <a:prstGeom prst="rect">
            <a:avLst/>
          </a:prstGeom>
        </p:spPr>
        <p:txBody>
          <a:bodyPr vert="horz" wrap="square" lIns="0" tIns="12700" rIns="0" bIns="0" rtlCol="0">
            <a:spAutoFit/>
          </a:bodyPr>
          <a:lstStyle/>
          <a:p>
            <a:pPr marL="292100" indent="-228600" rtl="0">
              <a:spcBef>
                <a:spcPts val="100"/>
              </a:spcBef>
              <a:buFont typeface="Wingdings"/>
              <a:buChar char=""/>
              <a:tabLst>
                <a:tab pos="291465" algn="l"/>
                <a:tab pos="292100" algn="l"/>
                <a:tab pos="1381125" algn="l"/>
                <a:tab pos="2657475" algn="l"/>
                <a:tab pos="4030345" algn="l"/>
              </a:tabLst>
            </a:pPr>
            <a:r>
              <a:rPr sz="1600" kern="1200" spc="-15" dirty="0">
                <a:solidFill>
                  <a:prstClr val="black"/>
                </a:solidFill>
                <a:latin typeface="Cambria Math"/>
                <a:cs typeface="Cambria Math"/>
              </a:rPr>
              <a:t>GOTO</a:t>
            </a:r>
            <a:r>
              <a:rPr sz="1600" kern="1200" spc="315" dirty="0">
                <a:solidFill>
                  <a:prstClr val="black"/>
                </a:solidFill>
                <a:latin typeface="Cambria Math"/>
                <a:cs typeface="Cambria Math"/>
              </a:rPr>
              <a:t> </a:t>
            </a:r>
            <a:r>
              <a:rPr sz="1600" kern="1200" spc="-60" dirty="0">
                <a:solidFill>
                  <a:prstClr val="black"/>
                </a:solidFill>
                <a:latin typeface="Cambria Math"/>
                <a:cs typeface="Cambria Math"/>
              </a:rPr>
              <a:t>𝐼</a:t>
            </a:r>
            <a:r>
              <a:rPr lang="en-US" altLang="zh-CN" kern="1200" spc="-89" baseline="-13888" dirty="0">
                <a:solidFill>
                  <a:prstClr val="black"/>
                </a:solidFill>
                <a:latin typeface="Cambria Math"/>
                <a:cs typeface="Cambria Math"/>
              </a:rPr>
              <a:t>0</a:t>
            </a:r>
            <a:r>
              <a:rPr sz="1600" kern="1200" spc="-6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𝑑	=</a:t>
            </a:r>
            <a:r>
              <a:rPr sz="1600" kern="1200" spc="100" dirty="0">
                <a:solidFill>
                  <a:prstClr val="black"/>
                </a:solidFill>
                <a:latin typeface="Cambria Math"/>
                <a:cs typeface="Cambria Math"/>
              </a:rPr>
              <a:t> </a:t>
            </a:r>
            <a:r>
              <a:rPr sz="1600" kern="1200" dirty="0">
                <a:solidFill>
                  <a:prstClr val="black"/>
                </a:solidFill>
                <a:latin typeface="Cambria Math"/>
                <a:cs typeface="Cambria Math"/>
              </a:rPr>
              <a:t>CLOSURE	</a:t>
            </a:r>
            <a:r>
              <a:rPr lang="zh-CN" altLang="en-US" sz="1600" kern="1200" dirty="0">
                <a:solidFill>
                  <a:prstClr val="black"/>
                </a:solidFill>
                <a:latin typeface="Cambria Math"/>
                <a:cs typeface="Cambria Math"/>
              </a:rPr>
              <a:t>𝐶</a:t>
            </a:r>
            <a:r>
              <a:rPr lang="zh-CN" altLang="en-US" sz="1600" kern="1200" spc="114" dirty="0">
                <a:solidFill>
                  <a:prstClr val="black"/>
                </a:solidFill>
                <a:latin typeface="Cambria Math"/>
                <a:cs typeface="Cambria Math"/>
              </a:rPr>
              <a:t> </a:t>
            </a:r>
            <a:r>
              <a:rPr lang="zh-CN" altLang="en-US" sz="1600" kern="1200" dirty="0">
                <a:solidFill>
                  <a:prstClr val="black"/>
                </a:solidFill>
                <a:latin typeface="Cambria Math"/>
                <a:cs typeface="Cambria Math"/>
              </a:rPr>
              <a:t>→ </a:t>
            </a:r>
            <a:r>
              <a:rPr lang="zh-CN" altLang="en-US" sz="1600" kern="1200" spc="35" dirty="0">
                <a:solidFill>
                  <a:prstClr val="black"/>
                </a:solidFill>
                <a:latin typeface="Cambria Math"/>
                <a:cs typeface="Cambria Math"/>
              </a:rPr>
              <a:t>𝑑</a:t>
            </a:r>
            <a:r>
              <a:rPr lang="en-US" altLang="zh-CN" sz="1600" kern="1200" dirty="0">
                <a:solidFill>
                  <a:prstClr val="black"/>
                </a:solidFill>
                <a:latin typeface="Cambria Math"/>
                <a:cs typeface="Cambria Math"/>
              </a:rPr>
              <a:t>· </a:t>
            </a:r>
            <a:r>
              <a:rPr lang="en-US" altLang="zh-CN" sz="1600" kern="1200" spc="-325" dirty="0">
                <a:latin typeface="Cambria Math"/>
                <a:cs typeface="Cambria Math"/>
              </a:rPr>
              <a:t>,</a:t>
            </a:r>
            <a:r>
              <a:rPr lang="zh-CN" altLang="en-US" sz="1600" kern="1200" spc="-325" dirty="0">
                <a:latin typeface="Cambria Math"/>
                <a:cs typeface="Cambria Math"/>
              </a:rPr>
              <a:t>                </a:t>
            </a:r>
            <a:r>
              <a:rPr lang="zh-CN" altLang="en-US" sz="1600" kern="1200" spc="-325" dirty="0">
                <a:solidFill>
                  <a:srgbClr val="FF0000"/>
                </a:solidFill>
                <a:latin typeface="Cambria Math"/>
                <a:cs typeface="Cambria Math"/>
              </a:rPr>
              <a:t>  </a:t>
            </a:r>
            <a:r>
              <a:rPr lang="en-US" altLang="zh-CN" sz="1600" kern="1200" spc="-325" dirty="0">
                <a:solidFill>
                  <a:srgbClr val="FF0000"/>
                </a:solidFill>
                <a:latin typeface="Cambria Math"/>
                <a:cs typeface="Cambria Math"/>
              </a:rPr>
              <a:t>c</a:t>
            </a:r>
            <a:r>
              <a:rPr lang="zh-CN" altLang="en-US" sz="1600" kern="1200" spc="-325" dirty="0">
                <a:solidFill>
                  <a:srgbClr val="FF0000"/>
                </a:solidFill>
                <a:latin typeface="Cambria Math"/>
                <a:cs typeface="Cambria Math"/>
              </a:rPr>
              <a:t>             </a:t>
            </a:r>
            <a:r>
              <a:rPr sz="1600" kern="1200" spc="15" dirty="0">
                <a:solidFill>
                  <a:srgbClr val="FF0000"/>
                </a:solidFill>
                <a:latin typeface="Cambria Math"/>
                <a:cs typeface="Cambria Math"/>
              </a:rPr>
              <a:t>/𝑑	</a:t>
            </a:r>
            <a:r>
              <a:rPr sz="1600" kern="1200" dirty="0">
                <a:solidFill>
                  <a:prstClr val="black"/>
                </a:solidFill>
                <a:latin typeface="Cambria Math"/>
                <a:cs typeface="Cambria Math"/>
              </a:rPr>
              <a:t>=</a:t>
            </a:r>
          </a:p>
        </p:txBody>
      </p:sp>
      <p:sp>
        <p:nvSpPr>
          <p:cNvPr id="38" name="object 16">
            <a:extLst>
              <a:ext uri="{FF2B5EF4-FFF2-40B4-BE49-F238E27FC236}">
                <a16:creationId xmlns:a16="http://schemas.microsoft.com/office/drawing/2014/main" id="{01E91EAD-A3CD-404E-D9CE-38AED2F7ACDE}"/>
              </a:ext>
            </a:extLst>
          </p:cNvPr>
          <p:cNvSpPr/>
          <p:nvPr/>
        </p:nvSpPr>
        <p:spPr>
          <a:xfrm>
            <a:off x="5361356" y="5835650"/>
            <a:ext cx="1201420" cy="166370"/>
          </a:xfrm>
          <a:custGeom>
            <a:avLst/>
            <a:gdLst/>
            <a:ahLst/>
            <a:cxnLst/>
            <a:rect l="l" t="t" r="r" b="b"/>
            <a:pathLst>
              <a:path w="1201420" h="166370">
                <a:moveTo>
                  <a:pt x="55384" y="190"/>
                </a:moveTo>
                <a:lnTo>
                  <a:pt x="53136" y="190"/>
                </a:lnTo>
                <a:lnTo>
                  <a:pt x="43573" y="901"/>
                </a:lnTo>
                <a:lnTo>
                  <a:pt x="13131" y="28054"/>
                </a:lnTo>
                <a:lnTo>
                  <a:pt x="12496" y="36487"/>
                </a:lnTo>
                <a:lnTo>
                  <a:pt x="12496" y="41287"/>
                </a:lnTo>
                <a:lnTo>
                  <a:pt x="13182" y="46761"/>
                </a:lnTo>
                <a:lnTo>
                  <a:pt x="15900" y="59029"/>
                </a:lnTo>
                <a:lnTo>
                  <a:pt x="16586" y="63131"/>
                </a:lnTo>
                <a:lnTo>
                  <a:pt x="16586" y="69215"/>
                </a:lnTo>
                <a:lnTo>
                  <a:pt x="15201" y="72466"/>
                </a:lnTo>
                <a:lnTo>
                  <a:pt x="9702" y="77508"/>
                </a:lnTo>
                <a:lnTo>
                  <a:pt x="5549" y="78854"/>
                </a:lnTo>
                <a:lnTo>
                  <a:pt x="0" y="79019"/>
                </a:lnTo>
                <a:lnTo>
                  <a:pt x="0" y="86144"/>
                </a:lnTo>
                <a:lnTo>
                  <a:pt x="5549" y="86309"/>
                </a:lnTo>
                <a:lnTo>
                  <a:pt x="9702" y="87655"/>
                </a:lnTo>
                <a:lnTo>
                  <a:pt x="15201" y="92697"/>
                </a:lnTo>
                <a:lnTo>
                  <a:pt x="16586" y="95948"/>
                </a:lnTo>
                <a:lnTo>
                  <a:pt x="16586" y="102031"/>
                </a:lnTo>
                <a:lnTo>
                  <a:pt x="15900" y="106133"/>
                </a:lnTo>
                <a:lnTo>
                  <a:pt x="13182" y="118402"/>
                </a:lnTo>
                <a:lnTo>
                  <a:pt x="12496" y="123875"/>
                </a:lnTo>
                <a:lnTo>
                  <a:pt x="12496" y="128676"/>
                </a:lnTo>
                <a:lnTo>
                  <a:pt x="13131" y="137452"/>
                </a:lnTo>
                <a:lnTo>
                  <a:pt x="43573" y="165036"/>
                </a:lnTo>
                <a:lnTo>
                  <a:pt x="53136" y="165747"/>
                </a:lnTo>
                <a:lnTo>
                  <a:pt x="55384" y="165747"/>
                </a:lnTo>
                <a:lnTo>
                  <a:pt x="55384" y="159156"/>
                </a:lnTo>
                <a:lnTo>
                  <a:pt x="45694" y="159156"/>
                </a:lnTo>
                <a:lnTo>
                  <a:pt x="39128" y="156972"/>
                </a:lnTo>
                <a:lnTo>
                  <a:pt x="29629" y="148234"/>
                </a:lnTo>
                <a:lnTo>
                  <a:pt x="27254" y="140779"/>
                </a:lnTo>
                <a:lnTo>
                  <a:pt x="27254" y="126187"/>
                </a:lnTo>
                <a:lnTo>
                  <a:pt x="27838" y="121183"/>
                </a:lnTo>
                <a:lnTo>
                  <a:pt x="30149" y="109258"/>
                </a:lnTo>
                <a:lnTo>
                  <a:pt x="30734" y="105003"/>
                </a:lnTo>
                <a:lnTo>
                  <a:pt x="30734" y="97548"/>
                </a:lnTo>
                <a:lnTo>
                  <a:pt x="29286" y="93510"/>
                </a:lnTo>
                <a:lnTo>
                  <a:pt x="23495" y="87198"/>
                </a:lnTo>
                <a:lnTo>
                  <a:pt x="20053" y="84874"/>
                </a:lnTo>
                <a:lnTo>
                  <a:pt x="16065" y="83362"/>
                </a:lnTo>
                <a:lnTo>
                  <a:pt x="16065" y="81800"/>
                </a:lnTo>
                <a:lnTo>
                  <a:pt x="20053" y="80302"/>
                </a:lnTo>
                <a:lnTo>
                  <a:pt x="23495" y="77965"/>
                </a:lnTo>
                <a:lnTo>
                  <a:pt x="29286" y="71653"/>
                </a:lnTo>
                <a:lnTo>
                  <a:pt x="30734" y="67614"/>
                </a:lnTo>
                <a:lnTo>
                  <a:pt x="30734" y="60159"/>
                </a:lnTo>
                <a:lnTo>
                  <a:pt x="30149" y="55905"/>
                </a:lnTo>
                <a:lnTo>
                  <a:pt x="27838" y="43980"/>
                </a:lnTo>
                <a:lnTo>
                  <a:pt x="27254" y="38976"/>
                </a:lnTo>
                <a:lnTo>
                  <a:pt x="27254" y="24904"/>
                </a:lnTo>
                <a:lnTo>
                  <a:pt x="29629" y="17716"/>
                </a:lnTo>
                <a:lnTo>
                  <a:pt x="39128" y="8978"/>
                </a:lnTo>
                <a:lnTo>
                  <a:pt x="45694" y="6794"/>
                </a:lnTo>
                <a:lnTo>
                  <a:pt x="55384" y="6794"/>
                </a:lnTo>
                <a:lnTo>
                  <a:pt x="55384" y="190"/>
                </a:lnTo>
                <a:close/>
              </a:path>
              <a:path w="1201420" h="166370">
                <a:moveTo>
                  <a:pt x="119100" y="0"/>
                </a:moveTo>
                <a:lnTo>
                  <a:pt x="80378" y="0"/>
                </a:lnTo>
                <a:lnTo>
                  <a:pt x="80378" y="6350"/>
                </a:lnTo>
                <a:lnTo>
                  <a:pt x="80378" y="158750"/>
                </a:lnTo>
                <a:lnTo>
                  <a:pt x="80378" y="166370"/>
                </a:lnTo>
                <a:lnTo>
                  <a:pt x="119100" y="166370"/>
                </a:lnTo>
                <a:lnTo>
                  <a:pt x="119100" y="158750"/>
                </a:lnTo>
                <a:lnTo>
                  <a:pt x="94792" y="158750"/>
                </a:lnTo>
                <a:lnTo>
                  <a:pt x="94792" y="6350"/>
                </a:lnTo>
                <a:lnTo>
                  <a:pt x="119100" y="6350"/>
                </a:lnTo>
                <a:lnTo>
                  <a:pt x="119100" y="0"/>
                </a:lnTo>
                <a:close/>
              </a:path>
              <a:path w="1201420" h="166370">
                <a:moveTo>
                  <a:pt x="1120432" y="0"/>
                </a:moveTo>
                <a:lnTo>
                  <a:pt x="1081709" y="0"/>
                </a:lnTo>
                <a:lnTo>
                  <a:pt x="1081709" y="6350"/>
                </a:lnTo>
                <a:lnTo>
                  <a:pt x="1106030" y="6350"/>
                </a:lnTo>
                <a:lnTo>
                  <a:pt x="1106030" y="158750"/>
                </a:lnTo>
                <a:lnTo>
                  <a:pt x="1081709" y="158750"/>
                </a:lnTo>
                <a:lnTo>
                  <a:pt x="1081709" y="166370"/>
                </a:lnTo>
                <a:lnTo>
                  <a:pt x="1120432" y="166370"/>
                </a:lnTo>
                <a:lnTo>
                  <a:pt x="1120432" y="158750"/>
                </a:lnTo>
                <a:lnTo>
                  <a:pt x="1120432" y="6350"/>
                </a:lnTo>
                <a:lnTo>
                  <a:pt x="1120432" y="0"/>
                </a:lnTo>
                <a:close/>
              </a:path>
              <a:path w="1201420" h="166370">
                <a:moveTo>
                  <a:pt x="1200810" y="79108"/>
                </a:moveTo>
                <a:lnTo>
                  <a:pt x="1195247" y="78930"/>
                </a:lnTo>
                <a:lnTo>
                  <a:pt x="1191094" y="77584"/>
                </a:lnTo>
                <a:lnTo>
                  <a:pt x="1185608" y="72555"/>
                </a:lnTo>
                <a:lnTo>
                  <a:pt x="1184224" y="69303"/>
                </a:lnTo>
                <a:lnTo>
                  <a:pt x="1184224" y="63220"/>
                </a:lnTo>
                <a:lnTo>
                  <a:pt x="1184910" y="59118"/>
                </a:lnTo>
                <a:lnTo>
                  <a:pt x="1187627" y="46837"/>
                </a:lnTo>
                <a:lnTo>
                  <a:pt x="1188313" y="41376"/>
                </a:lnTo>
                <a:lnTo>
                  <a:pt x="1188313" y="36563"/>
                </a:lnTo>
                <a:lnTo>
                  <a:pt x="1187678" y="28105"/>
                </a:lnTo>
                <a:lnTo>
                  <a:pt x="1157236" y="901"/>
                </a:lnTo>
                <a:lnTo>
                  <a:pt x="1147673" y="190"/>
                </a:lnTo>
                <a:lnTo>
                  <a:pt x="1145425" y="190"/>
                </a:lnTo>
                <a:lnTo>
                  <a:pt x="1145425" y="6794"/>
                </a:lnTo>
                <a:lnTo>
                  <a:pt x="1155115" y="6794"/>
                </a:lnTo>
                <a:lnTo>
                  <a:pt x="1161681" y="8978"/>
                </a:lnTo>
                <a:lnTo>
                  <a:pt x="1171181" y="17716"/>
                </a:lnTo>
                <a:lnTo>
                  <a:pt x="1173543" y="24930"/>
                </a:lnTo>
                <a:lnTo>
                  <a:pt x="1173543" y="39052"/>
                </a:lnTo>
                <a:lnTo>
                  <a:pt x="1172972" y="44069"/>
                </a:lnTo>
                <a:lnTo>
                  <a:pt x="1170660" y="55981"/>
                </a:lnTo>
                <a:lnTo>
                  <a:pt x="1170076" y="60236"/>
                </a:lnTo>
                <a:lnTo>
                  <a:pt x="1170076" y="67703"/>
                </a:lnTo>
                <a:lnTo>
                  <a:pt x="1171524" y="71742"/>
                </a:lnTo>
                <a:lnTo>
                  <a:pt x="1177315" y="78054"/>
                </a:lnTo>
                <a:lnTo>
                  <a:pt x="1180757" y="80378"/>
                </a:lnTo>
                <a:lnTo>
                  <a:pt x="1184744" y="81889"/>
                </a:lnTo>
                <a:lnTo>
                  <a:pt x="1184744" y="83451"/>
                </a:lnTo>
                <a:lnTo>
                  <a:pt x="1180757" y="84950"/>
                </a:lnTo>
                <a:lnTo>
                  <a:pt x="1177315" y="87287"/>
                </a:lnTo>
                <a:lnTo>
                  <a:pt x="1171524" y="93599"/>
                </a:lnTo>
                <a:lnTo>
                  <a:pt x="1170076" y="97624"/>
                </a:lnTo>
                <a:lnTo>
                  <a:pt x="1170076" y="105092"/>
                </a:lnTo>
                <a:lnTo>
                  <a:pt x="1170660" y="109347"/>
                </a:lnTo>
                <a:lnTo>
                  <a:pt x="1172972" y="121272"/>
                </a:lnTo>
                <a:lnTo>
                  <a:pt x="1173543" y="126276"/>
                </a:lnTo>
                <a:lnTo>
                  <a:pt x="1173543" y="140804"/>
                </a:lnTo>
                <a:lnTo>
                  <a:pt x="1171181" y="148234"/>
                </a:lnTo>
                <a:lnTo>
                  <a:pt x="1161681" y="156972"/>
                </a:lnTo>
                <a:lnTo>
                  <a:pt x="1155115" y="159156"/>
                </a:lnTo>
                <a:lnTo>
                  <a:pt x="1145425" y="159156"/>
                </a:lnTo>
                <a:lnTo>
                  <a:pt x="1145425" y="165747"/>
                </a:lnTo>
                <a:lnTo>
                  <a:pt x="1147673" y="165747"/>
                </a:lnTo>
                <a:lnTo>
                  <a:pt x="1157236" y="165036"/>
                </a:lnTo>
                <a:lnTo>
                  <a:pt x="1187678" y="137490"/>
                </a:lnTo>
                <a:lnTo>
                  <a:pt x="1188313" y="128765"/>
                </a:lnTo>
                <a:lnTo>
                  <a:pt x="1188313" y="123964"/>
                </a:lnTo>
                <a:lnTo>
                  <a:pt x="1187627" y="118491"/>
                </a:lnTo>
                <a:lnTo>
                  <a:pt x="1184910" y="106222"/>
                </a:lnTo>
                <a:lnTo>
                  <a:pt x="1184224" y="102120"/>
                </a:lnTo>
                <a:lnTo>
                  <a:pt x="1184224" y="96037"/>
                </a:lnTo>
                <a:lnTo>
                  <a:pt x="1185608" y="92786"/>
                </a:lnTo>
                <a:lnTo>
                  <a:pt x="1191094" y="87744"/>
                </a:lnTo>
                <a:lnTo>
                  <a:pt x="1195247" y="86398"/>
                </a:lnTo>
                <a:lnTo>
                  <a:pt x="1200810" y="86233"/>
                </a:lnTo>
                <a:lnTo>
                  <a:pt x="1200810" y="7910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9" name="object 17">
            <a:extLst>
              <a:ext uri="{FF2B5EF4-FFF2-40B4-BE49-F238E27FC236}">
                <a16:creationId xmlns:a16="http://schemas.microsoft.com/office/drawing/2014/main" id="{D2AFD01C-0A83-CF4E-9CB0-D92160A66533}"/>
              </a:ext>
            </a:extLst>
          </p:cNvPr>
          <p:cNvSpPr txBox="1"/>
          <p:nvPr/>
        </p:nvSpPr>
        <p:spPr>
          <a:xfrm>
            <a:off x="5471477" y="5786628"/>
            <a:ext cx="934719" cy="228268"/>
          </a:xfrm>
          <a:prstGeom prst="rect">
            <a:avLst/>
          </a:prstGeom>
        </p:spPr>
        <p:txBody>
          <a:bodyPr vert="horz" wrap="square" lIns="0" tIns="12700" rIns="0" bIns="0" rtlCol="0">
            <a:spAutoFit/>
          </a:bodyPr>
          <a:lstStyle/>
          <a:p>
            <a:pPr marL="12700" rtl="0">
              <a:spcBef>
                <a:spcPts val="100"/>
              </a:spcBef>
            </a:pPr>
            <a:r>
              <a:rPr lang="zh-CN" altLang="en-US" sz="1400" kern="1200" dirty="0">
                <a:solidFill>
                  <a:prstClr val="black"/>
                </a:solidFill>
                <a:latin typeface="Cambria Math"/>
                <a:cs typeface="Cambria Math"/>
              </a:rPr>
              <a:t>𝐶</a:t>
            </a:r>
            <a:r>
              <a:rPr lang="zh-CN" altLang="en-US" sz="1400" kern="1200" spc="114" dirty="0">
                <a:solidFill>
                  <a:prstClr val="black"/>
                </a:solidFill>
                <a:latin typeface="Cambria Math"/>
                <a:cs typeface="Cambria Math"/>
              </a:rPr>
              <a:t> </a:t>
            </a:r>
            <a:r>
              <a:rPr lang="zh-CN" altLang="en-US" sz="1400" kern="1200" dirty="0">
                <a:solidFill>
                  <a:prstClr val="black"/>
                </a:solidFill>
                <a:latin typeface="Cambria Math"/>
                <a:cs typeface="Cambria Math"/>
              </a:rPr>
              <a:t>→ </a:t>
            </a:r>
            <a:r>
              <a:rPr lang="zh-CN" altLang="en-US" sz="1400" kern="1200" spc="35" dirty="0">
                <a:solidFill>
                  <a:prstClr val="black"/>
                </a:solidFill>
                <a:latin typeface="Cambria Math"/>
                <a:cs typeface="Cambria Math"/>
              </a:rPr>
              <a:t>𝑑</a:t>
            </a:r>
            <a:r>
              <a:rPr lang="en-US" altLang="zh-CN" sz="1400" kern="1200" dirty="0">
                <a:solidFill>
                  <a:prstClr val="black"/>
                </a:solidFill>
                <a:latin typeface="Cambria Math"/>
                <a:cs typeface="Cambria Math"/>
              </a:rPr>
              <a:t>·, </a:t>
            </a:r>
            <a:r>
              <a:rPr sz="1400" kern="1200" spc="55" dirty="0">
                <a:solidFill>
                  <a:prstClr val="black"/>
                </a:solidFill>
                <a:latin typeface="Cambria Math"/>
                <a:cs typeface="Cambria Math"/>
              </a:rPr>
              <a:t>𝑐</a:t>
            </a:r>
            <a:r>
              <a:rPr sz="1400" kern="1200" dirty="0">
                <a:solidFill>
                  <a:prstClr val="black"/>
                </a:solidFill>
                <a:latin typeface="Cambria Math"/>
                <a:cs typeface="Cambria Math"/>
              </a:rPr>
              <a:t>/𝑑</a:t>
            </a:r>
          </a:p>
        </p:txBody>
      </p:sp>
      <p:sp>
        <p:nvSpPr>
          <p:cNvPr id="40" name="object 18">
            <a:extLst>
              <a:ext uri="{FF2B5EF4-FFF2-40B4-BE49-F238E27FC236}">
                <a16:creationId xmlns:a16="http://schemas.microsoft.com/office/drawing/2014/main" id="{8F702C0F-C90F-863E-57A6-F4856DAF1ED3}"/>
              </a:ext>
            </a:extLst>
          </p:cNvPr>
          <p:cNvSpPr txBox="1"/>
          <p:nvPr/>
        </p:nvSpPr>
        <p:spPr>
          <a:xfrm>
            <a:off x="6156761" y="2864865"/>
            <a:ext cx="1610995" cy="665480"/>
          </a:xfrm>
          <a:prstGeom prst="rect">
            <a:avLst/>
          </a:prstGeom>
        </p:spPr>
        <p:txBody>
          <a:bodyPr vert="horz" wrap="square" lIns="0" tIns="88900" rIns="0" bIns="0" rtlCol="0">
            <a:spAutoFit/>
          </a:bodyPr>
          <a:lstStyle/>
          <a:p>
            <a:pPr marL="12700" rtl="0">
              <a:spcBef>
                <a:spcPts val="700"/>
              </a:spcBef>
            </a:pPr>
            <a:r>
              <a:rPr sz="1600" kern="1200" spc="-5" dirty="0">
                <a:solidFill>
                  <a:srgbClr val="FF0000"/>
                </a:solidFill>
                <a:latin typeface="Palatino Linotype"/>
                <a:cs typeface="Palatino Linotype"/>
              </a:rPr>
              <a:t>FIRST($)</a:t>
            </a:r>
            <a:r>
              <a:rPr sz="1600" kern="1200" spc="-25" dirty="0">
                <a:solidFill>
                  <a:srgbClr val="FF0000"/>
                </a:solidFill>
                <a:latin typeface="Palatino Linotype"/>
                <a:cs typeface="Palatino Linotype"/>
              </a:rPr>
              <a:t> </a:t>
            </a:r>
            <a:r>
              <a:rPr sz="1600" kern="1200" dirty="0">
                <a:solidFill>
                  <a:srgbClr val="FF0000"/>
                </a:solidFill>
                <a:latin typeface="Palatino Linotype"/>
                <a:cs typeface="Palatino Linotype"/>
              </a:rPr>
              <a:t>=</a:t>
            </a:r>
            <a:r>
              <a:rPr sz="1600" kern="1200" spc="-25" dirty="0">
                <a:solidFill>
                  <a:srgbClr val="FF0000"/>
                </a:solidFill>
                <a:latin typeface="Palatino Linotype"/>
                <a:cs typeface="Palatino Linotype"/>
              </a:rPr>
              <a:t> </a:t>
            </a:r>
            <a:r>
              <a:rPr sz="1600" kern="1200" dirty="0">
                <a:solidFill>
                  <a:srgbClr val="FF0000"/>
                </a:solidFill>
                <a:latin typeface="Palatino Linotype"/>
                <a:cs typeface="Palatino Linotype"/>
              </a:rPr>
              <a:t>{$}</a:t>
            </a:r>
            <a:endParaRPr sz="1600" kern="1200" dirty="0">
              <a:solidFill>
                <a:prstClr val="black"/>
              </a:solidFill>
              <a:latin typeface="Palatino Linotype"/>
              <a:cs typeface="Palatino Linotype"/>
            </a:endParaRPr>
          </a:p>
          <a:p>
            <a:pPr marL="12700" rtl="0">
              <a:spcBef>
                <a:spcPts val="600"/>
              </a:spcBef>
            </a:pPr>
            <a:r>
              <a:rPr sz="1600" kern="1200" spc="-5" dirty="0">
                <a:solidFill>
                  <a:srgbClr val="FF0000"/>
                </a:solidFill>
                <a:latin typeface="Palatino Linotype"/>
                <a:cs typeface="Palatino Linotype"/>
              </a:rPr>
              <a:t>FIRST(C$)</a:t>
            </a:r>
            <a:r>
              <a:rPr sz="1600" kern="1200" spc="-25" dirty="0">
                <a:solidFill>
                  <a:srgbClr val="FF0000"/>
                </a:solidFill>
                <a:latin typeface="Palatino Linotype"/>
                <a:cs typeface="Palatino Linotype"/>
              </a:rPr>
              <a:t> </a:t>
            </a:r>
            <a:r>
              <a:rPr lang="en-US" altLang="zh-CN" sz="1600" kern="1200" dirty="0">
                <a:solidFill>
                  <a:srgbClr val="FF0000"/>
                </a:solidFill>
                <a:latin typeface="Palatino Linotype"/>
                <a:cs typeface="Palatino Linotype"/>
              </a:rPr>
              <a:t>=</a:t>
            </a:r>
            <a:r>
              <a:rPr sz="1600" kern="1200" spc="-20" dirty="0">
                <a:solidFill>
                  <a:srgbClr val="FF0000"/>
                </a:solidFill>
                <a:latin typeface="Palatino Linotype"/>
                <a:cs typeface="Palatino Linotype"/>
              </a:rPr>
              <a:t> </a:t>
            </a:r>
            <a:r>
              <a:rPr sz="1600" kern="1200" dirty="0">
                <a:solidFill>
                  <a:srgbClr val="FF0000"/>
                </a:solidFill>
                <a:latin typeface="Palatino Linotype"/>
                <a:cs typeface="Palatino Linotype"/>
              </a:rPr>
              <a:t>{c,</a:t>
            </a:r>
            <a:r>
              <a:rPr sz="1600" kern="1200" spc="-20" dirty="0">
                <a:solidFill>
                  <a:srgbClr val="FF0000"/>
                </a:solidFill>
                <a:latin typeface="Palatino Linotype"/>
                <a:cs typeface="Palatino Linotype"/>
              </a:rPr>
              <a:t> </a:t>
            </a:r>
            <a:r>
              <a:rPr sz="1600" kern="1200" spc="-5" dirty="0">
                <a:solidFill>
                  <a:srgbClr val="FF0000"/>
                </a:solidFill>
                <a:latin typeface="Palatino Linotype"/>
                <a:cs typeface="Palatino Linotype"/>
              </a:rPr>
              <a:t>d}</a:t>
            </a:r>
            <a:endParaRPr sz="1600" kern="1200" dirty="0">
              <a:solidFill>
                <a:prstClr val="black"/>
              </a:solidFill>
              <a:latin typeface="Palatino Linotype"/>
              <a:cs typeface="Palatino Linotype"/>
            </a:endParaRPr>
          </a:p>
        </p:txBody>
      </p:sp>
      <p:sp>
        <p:nvSpPr>
          <p:cNvPr id="41" name="object 19">
            <a:extLst>
              <a:ext uri="{FF2B5EF4-FFF2-40B4-BE49-F238E27FC236}">
                <a16:creationId xmlns:a16="http://schemas.microsoft.com/office/drawing/2014/main" id="{DF8C54C3-EDA9-4D1B-607B-5B400C322AEF}"/>
              </a:ext>
            </a:extLst>
          </p:cNvPr>
          <p:cNvSpPr/>
          <p:nvPr/>
        </p:nvSpPr>
        <p:spPr>
          <a:xfrm>
            <a:off x="1102178" y="4190660"/>
            <a:ext cx="4457700" cy="702310"/>
          </a:xfrm>
          <a:custGeom>
            <a:avLst/>
            <a:gdLst/>
            <a:ahLst/>
            <a:cxnLst/>
            <a:rect l="l" t="t" r="r" b="b"/>
            <a:pathLst>
              <a:path w="4457700" h="702310">
                <a:moveTo>
                  <a:pt x="0" y="0"/>
                </a:moveTo>
                <a:lnTo>
                  <a:pt x="4457700" y="0"/>
                </a:lnTo>
                <a:lnTo>
                  <a:pt x="4457700" y="702128"/>
                </a:lnTo>
                <a:lnTo>
                  <a:pt x="0" y="702128"/>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2" name="object 20">
            <a:extLst>
              <a:ext uri="{FF2B5EF4-FFF2-40B4-BE49-F238E27FC236}">
                <a16:creationId xmlns:a16="http://schemas.microsoft.com/office/drawing/2014/main" id="{A67AE17E-352C-8112-40CA-D092E1A7BC5E}"/>
              </a:ext>
            </a:extLst>
          </p:cNvPr>
          <p:cNvSpPr txBox="1"/>
          <p:nvPr/>
        </p:nvSpPr>
        <p:spPr>
          <a:xfrm>
            <a:off x="6112148" y="4392676"/>
            <a:ext cx="1252220" cy="269240"/>
          </a:xfrm>
          <a:prstGeom prst="rect">
            <a:avLst/>
          </a:prstGeom>
        </p:spPr>
        <p:txBody>
          <a:bodyPr vert="horz" wrap="square" lIns="0" tIns="12700" rIns="0" bIns="0" rtlCol="0">
            <a:spAutoFit/>
          </a:bodyPr>
          <a:lstStyle/>
          <a:p>
            <a:pPr marL="12700" rtl="0">
              <a:spcBef>
                <a:spcPts val="100"/>
              </a:spcBef>
            </a:pPr>
            <a:r>
              <a:rPr sz="1600" kern="1200" spc="-5" dirty="0">
                <a:solidFill>
                  <a:srgbClr val="FF0000"/>
                </a:solidFill>
                <a:latin typeface="Palatino Linotype"/>
                <a:cs typeface="Palatino Linotype"/>
              </a:rPr>
              <a:t>FIRST($)</a:t>
            </a:r>
            <a:r>
              <a:rPr sz="1600" kern="1200" spc="-35" dirty="0">
                <a:solidFill>
                  <a:srgbClr val="FF0000"/>
                </a:solidFill>
                <a:latin typeface="Palatino Linotype"/>
                <a:cs typeface="Palatino Linotype"/>
              </a:rPr>
              <a:t> </a:t>
            </a:r>
            <a:r>
              <a:rPr sz="1600" kern="1200" dirty="0">
                <a:solidFill>
                  <a:srgbClr val="FF0000"/>
                </a:solidFill>
                <a:latin typeface="Palatino Linotype"/>
                <a:cs typeface="Palatino Linotype"/>
              </a:rPr>
              <a:t>=</a:t>
            </a:r>
            <a:r>
              <a:rPr sz="1600" kern="1200" spc="-35" dirty="0">
                <a:solidFill>
                  <a:srgbClr val="FF0000"/>
                </a:solidFill>
                <a:latin typeface="Palatino Linotype"/>
                <a:cs typeface="Palatino Linotype"/>
              </a:rPr>
              <a:t> </a:t>
            </a:r>
            <a:r>
              <a:rPr sz="1600" kern="1200" dirty="0">
                <a:solidFill>
                  <a:srgbClr val="FF0000"/>
                </a:solidFill>
                <a:latin typeface="Palatino Linotype"/>
                <a:cs typeface="Palatino Linotype"/>
              </a:rPr>
              <a:t>{$}</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27054250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140</a:t>
            </a:fld>
            <a:endParaRPr lang="en-US"/>
          </a:p>
        </p:txBody>
      </p:sp>
      <p:grpSp>
        <p:nvGrpSpPr>
          <p:cNvPr id="12" name="object 2">
            <a:extLst>
              <a:ext uri="{FF2B5EF4-FFF2-40B4-BE49-F238E27FC236}">
                <a16:creationId xmlns:a16="http://schemas.microsoft.com/office/drawing/2014/main" id="{F6DFC34C-4502-5EB8-761A-1AB1FE4E2ACF}"/>
              </a:ext>
            </a:extLst>
          </p:cNvPr>
          <p:cNvGrpSpPr/>
          <p:nvPr/>
        </p:nvGrpSpPr>
        <p:grpSpPr>
          <a:xfrm>
            <a:off x="3827345" y="1722688"/>
            <a:ext cx="4868545" cy="4097654"/>
            <a:chOff x="3827345" y="1722688"/>
            <a:chExt cx="4868545" cy="4097654"/>
          </a:xfrm>
        </p:grpSpPr>
        <p:pic>
          <p:nvPicPr>
            <p:cNvPr id="13" name="object 3">
              <a:extLst>
                <a:ext uri="{FF2B5EF4-FFF2-40B4-BE49-F238E27FC236}">
                  <a16:creationId xmlns:a16="http://schemas.microsoft.com/office/drawing/2014/main" id="{A5EADD65-72E6-6F67-4440-43830CC48B13}"/>
                </a:ext>
              </a:extLst>
            </p:cNvPr>
            <p:cNvPicPr/>
            <p:nvPr/>
          </p:nvPicPr>
          <p:blipFill>
            <a:blip r:embed="rId2" cstate="print"/>
            <a:stretch>
              <a:fillRect/>
            </a:stretch>
          </p:blipFill>
          <p:spPr>
            <a:xfrm>
              <a:off x="3827345" y="1722688"/>
              <a:ext cx="4868218" cy="4097544"/>
            </a:xfrm>
            <a:prstGeom prst="rect">
              <a:avLst/>
            </a:prstGeom>
          </p:spPr>
        </p:pic>
        <p:sp>
          <p:nvSpPr>
            <p:cNvPr id="14" name="object 4">
              <a:extLst>
                <a:ext uri="{FF2B5EF4-FFF2-40B4-BE49-F238E27FC236}">
                  <a16:creationId xmlns:a16="http://schemas.microsoft.com/office/drawing/2014/main" id="{C9E25910-FF31-EF8F-EFEF-59947F83747F}"/>
                </a:ext>
              </a:extLst>
            </p:cNvPr>
            <p:cNvSpPr/>
            <p:nvPr/>
          </p:nvSpPr>
          <p:spPr>
            <a:xfrm>
              <a:off x="5068525" y="3358836"/>
              <a:ext cx="1369060" cy="1113790"/>
            </a:xfrm>
            <a:custGeom>
              <a:avLst/>
              <a:gdLst/>
              <a:ahLst/>
              <a:cxnLst/>
              <a:rect l="l" t="t" r="r" b="b"/>
              <a:pathLst>
                <a:path w="1369060" h="1113789">
                  <a:moveTo>
                    <a:pt x="1368488" y="0"/>
                  </a:moveTo>
                  <a:lnTo>
                    <a:pt x="1306102" y="12370"/>
                  </a:lnTo>
                  <a:lnTo>
                    <a:pt x="1243828" y="24760"/>
                  </a:lnTo>
                  <a:lnTo>
                    <a:pt x="1181776" y="37189"/>
                  </a:lnTo>
                  <a:lnTo>
                    <a:pt x="1120058" y="49675"/>
                  </a:lnTo>
                  <a:lnTo>
                    <a:pt x="1058786" y="62237"/>
                  </a:lnTo>
                  <a:lnTo>
                    <a:pt x="998071" y="74896"/>
                  </a:lnTo>
                  <a:lnTo>
                    <a:pt x="938024" y="87669"/>
                  </a:lnTo>
                  <a:lnTo>
                    <a:pt x="878756" y="100577"/>
                  </a:lnTo>
                  <a:lnTo>
                    <a:pt x="820379" y="113638"/>
                  </a:lnTo>
                  <a:lnTo>
                    <a:pt x="763004" y="126872"/>
                  </a:lnTo>
                  <a:lnTo>
                    <a:pt x="706743" y="140298"/>
                  </a:lnTo>
                  <a:lnTo>
                    <a:pt x="651706" y="153934"/>
                  </a:lnTo>
                  <a:lnTo>
                    <a:pt x="598006" y="167801"/>
                  </a:lnTo>
                  <a:lnTo>
                    <a:pt x="545754" y="181917"/>
                  </a:lnTo>
                  <a:lnTo>
                    <a:pt x="495060" y="196302"/>
                  </a:lnTo>
                  <a:lnTo>
                    <a:pt x="446037" y="210974"/>
                  </a:lnTo>
                  <a:lnTo>
                    <a:pt x="398796" y="225953"/>
                  </a:lnTo>
                  <a:lnTo>
                    <a:pt x="353447" y="241258"/>
                  </a:lnTo>
                  <a:lnTo>
                    <a:pt x="310103" y="256908"/>
                  </a:lnTo>
                  <a:lnTo>
                    <a:pt x="268874" y="272923"/>
                  </a:lnTo>
                  <a:lnTo>
                    <a:pt x="229873" y="289321"/>
                  </a:lnTo>
                  <a:lnTo>
                    <a:pt x="193210" y="306122"/>
                  </a:lnTo>
                  <a:lnTo>
                    <a:pt x="158997" y="323345"/>
                  </a:lnTo>
                  <a:lnTo>
                    <a:pt x="98365" y="359133"/>
                  </a:lnTo>
                  <a:lnTo>
                    <a:pt x="48869" y="396839"/>
                  </a:lnTo>
                  <a:lnTo>
                    <a:pt x="0" y="603681"/>
                  </a:lnTo>
                  <a:lnTo>
                    <a:pt x="107792" y="834616"/>
                  </a:lnTo>
                  <a:lnTo>
                    <a:pt x="248404" y="1030750"/>
                  </a:lnTo>
                  <a:lnTo>
                    <a:pt x="318286" y="1113576"/>
                  </a:lnTo>
                </a:path>
              </a:pathLst>
            </a:custGeom>
            <a:ln w="9525"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5">
              <a:extLst>
                <a:ext uri="{FF2B5EF4-FFF2-40B4-BE49-F238E27FC236}">
                  <a16:creationId xmlns:a16="http://schemas.microsoft.com/office/drawing/2014/main" id="{8F4D4B2B-D168-F883-2C72-7EC5B79BB220}"/>
                </a:ext>
              </a:extLst>
            </p:cNvPr>
            <p:cNvSpPr/>
            <p:nvPr/>
          </p:nvSpPr>
          <p:spPr>
            <a:xfrm>
              <a:off x="6083928" y="4046899"/>
              <a:ext cx="2390140" cy="1602740"/>
            </a:xfrm>
            <a:custGeom>
              <a:avLst/>
              <a:gdLst/>
              <a:ahLst/>
              <a:cxnLst/>
              <a:rect l="l" t="t" r="r" b="b"/>
              <a:pathLst>
                <a:path w="2390140" h="1602739">
                  <a:moveTo>
                    <a:pt x="0" y="1602463"/>
                  </a:moveTo>
                  <a:lnTo>
                    <a:pt x="62715" y="1582485"/>
                  </a:lnTo>
                  <a:lnTo>
                    <a:pt x="125393" y="1562510"/>
                  </a:lnTo>
                  <a:lnTo>
                    <a:pt x="187996" y="1542542"/>
                  </a:lnTo>
                  <a:lnTo>
                    <a:pt x="250488" y="1522584"/>
                  </a:lnTo>
                  <a:lnTo>
                    <a:pt x="312832" y="1502640"/>
                  </a:lnTo>
                  <a:lnTo>
                    <a:pt x="374989" y="1482713"/>
                  </a:lnTo>
                  <a:lnTo>
                    <a:pt x="436923" y="1462806"/>
                  </a:lnTo>
                  <a:lnTo>
                    <a:pt x="498597" y="1442923"/>
                  </a:lnTo>
                  <a:lnTo>
                    <a:pt x="559974" y="1423066"/>
                  </a:lnTo>
                  <a:lnTo>
                    <a:pt x="621016" y="1403240"/>
                  </a:lnTo>
                  <a:lnTo>
                    <a:pt x="681686" y="1383448"/>
                  </a:lnTo>
                  <a:lnTo>
                    <a:pt x="741947" y="1363693"/>
                  </a:lnTo>
                  <a:lnTo>
                    <a:pt x="801762" y="1343979"/>
                  </a:lnTo>
                  <a:lnTo>
                    <a:pt x="861093" y="1324309"/>
                  </a:lnTo>
                  <a:lnTo>
                    <a:pt x="919904" y="1304686"/>
                  </a:lnTo>
                  <a:lnTo>
                    <a:pt x="978157" y="1285113"/>
                  </a:lnTo>
                  <a:lnTo>
                    <a:pt x="1035815" y="1265595"/>
                  </a:lnTo>
                  <a:lnTo>
                    <a:pt x="1092841" y="1246134"/>
                  </a:lnTo>
                  <a:lnTo>
                    <a:pt x="1149198" y="1226734"/>
                  </a:lnTo>
                  <a:lnTo>
                    <a:pt x="1204848" y="1207399"/>
                  </a:lnTo>
                  <a:lnTo>
                    <a:pt x="1259755" y="1188130"/>
                  </a:lnTo>
                  <a:lnTo>
                    <a:pt x="1313880" y="1168933"/>
                  </a:lnTo>
                  <a:lnTo>
                    <a:pt x="1367188" y="1149811"/>
                  </a:lnTo>
                  <a:lnTo>
                    <a:pt x="1419640" y="1130766"/>
                  </a:lnTo>
                  <a:lnTo>
                    <a:pt x="1471200" y="1111802"/>
                  </a:lnTo>
                  <a:lnTo>
                    <a:pt x="1521831" y="1092922"/>
                  </a:lnTo>
                  <a:lnTo>
                    <a:pt x="1571494" y="1074131"/>
                  </a:lnTo>
                  <a:lnTo>
                    <a:pt x="1620154" y="1055431"/>
                  </a:lnTo>
                  <a:lnTo>
                    <a:pt x="1667772" y="1036825"/>
                  </a:lnTo>
                  <a:lnTo>
                    <a:pt x="1714312" y="1018317"/>
                  </a:lnTo>
                  <a:lnTo>
                    <a:pt x="1759737" y="999911"/>
                  </a:lnTo>
                  <a:lnTo>
                    <a:pt x="1804009" y="981610"/>
                  </a:lnTo>
                  <a:lnTo>
                    <a:pt x="1847091" y="963417"/>
                  </a:lnTo>
                  <a:lnTo>
                    <a:pt x="1888946" y="945335"/>
                  </a:lnTo>
                  <a:lnTo>
                    <a:pt x="1929536" y="927369"/>
                  </a:lnTo>
                  <a:lnTo>
                    <a:pt x="1968826" y="909520"/>
                  </a:lnTo>
                  <a:lnTo>
                    <a:pt x="2006776" y="891794"/>
                  </a:lnTo>
                  <a:lnTo>
                    <a:pt x="2043351" y="874192"/>
                  </a:lnTo>
                  <a:lnTo>
                    <a:pt x="2078513" y="856719"/>
                  </a:lnTo>
                  <a:lnTo>
                    <a:pt x="2144449" y="822171"/>
                  </a:lnTo>
                  <a:lnTo>
                    <a:pt x="2204286" y="788178"/>
                  </a:lnTo>
                  <a:lnTo>
                    <a:pt x="2257728" y="754767"/>
                  </a:lnTo>
                  <a:lnTo>
                    <a:pt x="2304477" y="721964"/>
                  </a:lnTo>
                  <a:lnTo>
                    <a:pt x="2344235" y="689796"/>
                  </a:lnTo>
                  <a:lnTo>
                    <a:pt x="2376705" y="658291"/>
                  </a:lnTo>
                  <a:lnTo>
                    <a:pt x="2390115" y="642796"/>
                  </a:lnTo>
                  <a:lnTo>
                    <a:pt x="2309977" y="429686"/>
                  </a:lnTo>
                  <a:lnTo>
                    <a:pt x="1923295" y="221244"/>
                  </a:lnTo>
                  <a:lnTo>
                    <a:pt x="1496155" y="62879"/>
                  </a:lnTo>
                  <a:lnTo>
                    <a:pt x="1294645" y="0"/>
                  </a:lnTo>
                </a:path>
              </a:pathLst>
            </a:custGeom>
            <a:ln w="9525"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6">
              <a:extLst>
                <a:ext uri="{FF2B5EF4-FFF2-40B4-BE49-F238E27FC236}">
                  <a16:creationId xmlns:a16="http://schemas.microsoft.com/office/drawing/2014/main" id="{351424A1-0EB8-9A33-87FF-D11C598E41C1}"/>
                </a:ext>
              </a:extLst>
            </p:cNvPr>
            <p:cNvSpPr/>
            <p:nvPr/>
          </p:nvSpPr>
          <p:spPr>
            <a:xfrm>
              <a:off x="7369520" y="3277353"/>
              <a:ext cx="1186180" cy="1403350"/>
            </a:xfrm>
            <a:custGeom>
              <a:avLst/>
              <a:gdLst/>
              <a:ahLst/>
              <a:cxnLst/>
              <a:rect l="l" t="t" r="r" b="b"/>
              <a:pathLst>
                <a:path w="1186179" h="1403350">
                  <a:moveTo>
                    <a:pt x="0" y="1403288"/>
                  </a:moveTo>
                  <a:lnTo>
                    <a:pt x="48742" y="1376597"/>
                  </a:lnTo>
                  <a:lnTo>
                    <a:pt x="97401" y="1349898"/>
                  </a:lnTo>
                  <a:lnTo>
                    <a:pt x="145894" y="1323181"/>
                  </a:lnTo>
                  <a:lnTo>
                    <a:pt x="194135" y="1296438"/>
                  </a:lnTo>
                  <a:lnTo>
                    <a:pt x="242043" y="1269659"/>
                  </a:lnTo>
                  <a:lnTo>
                    <a:pt x="289533" y="1242836"/>
                  </a:lnTo>
                  <a:lnTo>
                    <a:pt x="336523" y="1215960"/>
                  </a:lnTo>
                  <a:lnTo>
                    <a:pt x="382927" y="1189022"/>
                  </a:lnTo>
                  <a:lnTo>
                    <a:pt x="428664" y="1162013"/>
                  </a:lnTo>
                  <a:lnTo>
                    <a:pt x="473649" y="1134925"/>
                  </a:lnTo>
                  <a:lnTo>
                    <a:pt x="517800" y="1107749"/>
                  </a:lnTo>
                  <a:lnTo>
                    <a:pt x="561031" y="1080475"/>
                  </a:lnTo>
                  <a:lnTo>
                    <a:pt x="603261" y="1053095"/>
                  </a:lnTo>
                  <a:lnTo>
                    <a:pt x="644405" y="1025600"/>
                  </a:lnTo>
                  <a:lnTo>
                    <a:pt x="684380" y="997981"/>
                  </a:lnTo>
                  <a:lnTo>
                    <a:pt x="723103" y="970230"/>
                  </a:lnTo>
                  <a:lnTo>
                    <a:pt x="760490" y="942337"/>
                  </a:lnTo>
                  <a:lnTo>
                    <a:pt x="796457" y="914294"/>
                  </a:lnTo>
                  <a:lnTo>
                    <a:pt x="830921" y="886092"/>
                  </a:lnTo>
                  <a:lnTo>
                    <a:pt x="863798" y="857722"/>
                  </a:lnTo>
                  <a:lnTo>
                    <a:pt x="895006" y="829175"/>
                  </a:lnTo>
                  <a:lnTo>
                    <a:pt x="924460" y="800442"/>
                  </a:lnTo>
                  <a:lnTo>
                    <a:pt x="952077" y="771515"/>
                  </a:lnTo>
                  <a:lnTo>
                    <a:pt x="977774" y="742385"/>
                  </a:lnTo>
                  <a:lnTo>
                    <a:pt x="1012629" y="698298"/>
                  </a:lnTo>
                  <a:lnTo>
                    <a:pt x="1043256" y="653764"/>
                  </a:lnTo>
                  <a:lnTo>
                    <a:pt x="1069939" y="608812"/>
                  </a:lnTo>
                  <a:lnTo>
                    <a:pt x="1092957" y="563472"/>
                  </a:lnTo>
                  <a:lnTo>
                    <a:pt x="1112594" y="517775"/>
                  </a:lnTo>
                  <a:lnTo>
                    <a:pt x="1129131" y="471749"/>
                  </a:lnTo>
                  <a:lnTo>
                    <a:pt x="1142850" y="425424"/>
                  </a:lnTo>
                  <a:lnTo>
                    <a:pt x="1154033" y="378831"/>
                  </a:lnTo>
                  <a:lnTo>
                    <a:pt x="1162961" y="331999"/>
                  </a:lnTo>
                  <a:lnTo>
                    <a:pt x="1169916" y="284959"/>
                  </a:lnTo>
                  <a:lnTo>
                    <a:pt x="1175181" y="237739"/>
                  </a:lnTo>
                  <a:lnTo>
                    <a:pt x="1179036" y="190370"/>
                  </a:lnTo>
                  <a:lnTo>
                    <a:pt x="1181764" y="142882"/>
                  </a:lnTo>
                  <a:lnTo>
                    <a:pt x="1183647" y="95304"/>
                  </a:lnTo>
                  <a:lnTo>
                    <a:pt x="1184966" y="47667"/>
                  </a:lnTo>
                  <a:lnTo>
                    <a:pt x="1186004" y="0"/>
                  </a:lnTo>
                </a:path>
              </a:pathLst>
            </a:custGeom>
            <a:ln w="9525"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7" name="object 7">
            <a:extLst>
              <a:ext uri="{FF2B5EF4-FFF2-40B4-BE49-F238E27FC236}">
                <a16:creationId xmlns:a16="http://schemas.microsoft.com/office/drawing/2014/main" id="{084BBC3A-652E-81B5-C862-868BE7817593}"/>
              </a:ext>
            </a:extLst>
          </p:cNvPr>
          <p:cNvSpPr txBox="1">
            <a:spLocks/>
          </p:cNvSpPr>
          <p:nvPr/>
        </p:nvSpPr>
        <p:spPr>
          <a:xfrm>
            <a:off x="707390" y="524763"/>
            <a:ext cx="641540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The</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GOTO</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Graph</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8" name="object 8">
            <a:extLst>
              <a:ext uri="{FF2B5EF4-FFF2-40B4-BE49-F238E27FC236}">
                <a16:creationId xmlns:a16="http://schemas.microsoft.com/office/drawing/2014/main" id="{CCA84B2D-D982-F688-D8AD-7A81356959DA}"/>
              </a:ext>
            </a:extLst>
          </p:cNvPr>
          <p:cNvSpPr txBox="1"/>
          <p:nvPr/>
        </p:nvSpPr>
        <p:spPr>
          <a:xfrm>
            <a:off x="578068" y="2259723"/>
            <a:ext cx="2980055" cy="3061970"/>
          </a:xfrm>
          <a:prstGeom prst="rect">
            <a:avLst/>
          </a:prstGeom>
          <a:solidFill>
            <a:srgbClr val="FFF2CC"/>
          </a:solidFill>
          <a:ln w="9525">
            <a:solidFill>
              <a:srgbClr val="000000"/>
            </a:solidFill>
          </a:ln>
        </p:spPr>
        <p:txBody>
          <a:bodyPr vert="horz" wrap="square" lIns="0" tIns="59690" rIns="0" bIns="0" rtlCol="0">
            <a:spAutoFit/>
          </a:bodyPr>
          <a:lstStyle/>
          <a:p>
            <a:pPr marL="90805" rtl="0">
              <a:spcBef>
                <a:spcPts val="470"/>
              </a:spcBef>
            </a:pPr>
            <a:r>
              <a:rPr b="1" kern="1200" dirty="0">
                <a:solidFill>
                  <a:srgbClr val="FF0000"/>
                </a:solidFill>
                <a:latin typeface="Palatino Linotype"/>
                <a:cs typeface="Palatino Linotype"/>
              </a:rPr>
              <a:t>10</a:t>
            </a:r>
            <a:r>
              <a:rPr b="1" kern="1200" spc="-20" dirty="0">
                <a:solidFill>
                  <a:srgbClr val="FF0000"/>
                </a:solidFill>
                <a:latin typeface="Palatino Linotype"/>
                <a:cs typeface="Palatino Linotype"/>
              </a:rPr>
              <a:t> </a:t>
            </a:r>
            <a:r>
              <a:rPr b="1" kern="1200" dirty="0">
                <a:solidFill>
                  <a:srgbClr val="FF0000"/>
                </a:solidFill>
                <a:latin typeface="Palatino Linotype"/>
                <a:cs typeface="Palatino Linotype"/>
              </a:rPr>
              <a:t>states</a:t>
            </a:r>
            <a:r>
              <a:rPr b="1" kern="1200" spc="-20" dirty="0">
                <a:solidFill>
                  <a:srgbClr val="FF0000"/>
                </a:solidFill>
                <a:latin typeface="Palatino Linotype"/>
                <a:cs typeface="Palatino Linotype"/>
              </a:rPr>
              <a:t> </a:t>
            </a:r>
            <a:r>
              <a:rPr b="1" kern="1200" dirty="0">
                <a:solidFill>
                  <a:srgbClr val="FF0000"/>
                </a:solidFill>
                <a:latin typeface="Palatino Linotype"/>
                <a:cs typeface="Palatino Linotype"/>
              </a:rPr>
              <a:t>in</a:t>
            </a:r>
            <a:r>
              <a:rPr b="1" kern="1200" spc="-20" dirty="0">
                <a:solidFill>
                  <a:srgbClr val="FF0000"/>
                </a:solidFill>
                <a:latin typeface="Palatino Linotype"/>
                <a:cs typeface="Palatino Linotype"/>
              </a:rPr>
              <a:t> </a:t>
            </a:r>
            <a:r>
              <a:rPr b="1" kern="1200" spc="-5" dirty="0">
                <a:solidFill>
                  <a:srgbClr val="FF0000"/>
                </a:solidFill>
                <a:latin typeface="Palatino Linotype"/>
                <a:cs typeface="Palatino Linotype"/>
              </a:rPr>
              <a:t>total</a:t>
            </a:r>
            <a:endParaRPr kern="1200" dirty="0">
              <a:solidFill>
                <a:prstClr val="black"/>
              </a:solidFill>
              <a:latin typeface="Palatino Linotype"/>
              <a:cs typeface="Palatino Linotype"/>
            </a:endParaRPr>
          </a:p>
          <a:p>
            <a:pPr rtl="0">
              <a:spcBef>
                <a:spcPts val="20"/>
              </a:spcBef>
            </a:pPr>
            <a:endParaRPr sz="1900" kern="1200" dirty="0">
              <a:solidFill>
                <a:prstClr val="black"/>
              </a:solidFill>
              <a:latin typeface="Palatino Linotype"/>
              <a:cs typeface="Palatino Linotype"/>
            </a:endParaRPr>
          </a:p>
          <a:p>
            <a:pPr marL="90805" marR="160655" rtl="0">
              <a:lnSpc>
                <a:spcPct val="120400"/>
              </a:lnSpc>
            </a:pPr>
            <a:r>
              <a:rPr kern="1200" spc="-5" dirty="0">
                <a:solidFill>
                  <a:prstClr val="black"/>
                </a:solidFill>
                <a:latin typeface="Palatino Linotype"/>
                <a:cs typeface="Palatino Linotype"/>
              </a:rPr>
              <a:t>These states </a:t>
            </a:r>
            <a:r>
              <a:rPr kern="1200" dirty="0">
                <a:solidFill>
                  <a:prstClr val="black"/>
                </a:solidFill>
                <a:latin typeface="Palatino Linotype"/>
                <a:cs typeface="Palatino Linotype"/>
              </a:rPr>
              <a:t>are </a:t>
            </a:r>
            <a:r>
              <a:rPr kern="1200" spc="-10" dirty="0">
                <a:solidFill>
                  <a:prstClr val="black"/>
                </a:solidFill>
                <a:latin typeface="Palatino Linotype"/>
                <a:cs typeface="Palatino Linotype"/>
              </a:rPr>
              <a:t>equivalent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if </a:t>
            </a:r>
            <a:r>
              <a:rPr kern="1200" spc="-20" dirty="0">
                <a:solidFill>
                  <a:prstClr val="black"/>
                </a:solidFill>
                <a:latin typeface="Palatino Linotype"/>
                <a:cs typeface="Palatino Linotype"/>
              </a:rPr>
              <a:t>we </a:t>
            </a:r>
            <a:r>
              <a:rPr kern="1200" spc="-5" dirty="0">
                <a:solidFill>
                  <a:prstClr val="black"/>
                </a:solidFill>
                <a:latin typeface="Palatino Linotype"/>
                <a:cs typeface="Palatino Linotype"/>
              </a:rPr>
              <a:t>ignore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lookahead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symbols </a:t>
            </a:r>
            <a:r>
              <a:rPr kern="1200" dirty="0">
                <a:solidFill>
                  <a:prstClr val="black"/>
                </a:solidFill>
                <a:latin typeface="Palatino Linotype"/>
                <a:cs typeface="Palatino Linotype"/>
              </a:rPr>
              <a:t>(</a:t>
            </a:r>
            <a:r>
              <a:rPr kern="1200" dirty="0">
                <a:solidFill>
                  <a:srgbClr val="FF0000"/>
                </a:solidFill>
                <a:latin typeface="Palatino Linotype"/>
                <a:cs typeface="Palatino Linotype"/>
              </a:rPr>
              <a:t>SLR </a:t>
            </a:r>
            <a:r>
              <a:rPr kern="1200" spc="-5" dirty="0">
                <a:solidFill>
                  <a:srgbClr val="FF0000"/>
                </a:solidFill>
                <a:latin typeface="Palatino Linotype"/>
                <a:cs typeface="Palatino Linotype"/>
              </a:rPr>
              <a:t>makes </a:t>
            </a:r>
            <a:r>
              <a:rPr kern="1200" dirty="0">
                <a:solidFill>
                  <a:srgbClr val="FF0000"/>
                </a:solidFill>
                <a:latin typeface="Palatino Linotype"/>
                <a:cs typeface="Palatino Linotype"/>
              </a:rPr>
              <a:t>no </a:t>
            </a:r>
            <a:r>
              <a:rPr kern="1200" spc="5" dirty="0">
                <a:solidFill>
                  <a:srgbClr val="FF0000"/>
                </a:solidFill>
                <a:latin typeface="Palatino Linotype"/>
                <a:cs typeface="Palatino Linotype"/>
              </a:rPr>
              <a:t> </a:t>
            </a:r>
            <a:r>
              <a:rPr kern="1200" spc="-5" dirty="0">
                <a:solidFill>
                  <a:srgbClr val="FF0000"/>
                </a:solidFill>
                <a:latin typeface="Palatino Linotype"/>
                <a:cs typeface="Palatino Linotype"/>
              </a:rPr>
              <a:t>such</a:t>
            </a:r>
            <a:r>
              <a:rPr kern="1200" dirty="0">
                <a:solidFill>
                  <a:srgbClr val="FF0000"/>
                </a:solidFill>
                <a:latin typeface="Palatino Linotype"/>
                <a:cs typeface="Palatino Linotype"/>
              </a:rPr>
              <a:t> </a:t>
            </a:r>
            <a:r>
              <a:rPr kern="1200" spc="-5" dirty="0">
                <a:solidFill>
                  <a:srgbClr val="FF0000"/>
                </a:solidFill>
                <a:latin typeface="Palatino Linotype"/>
                <a:cs typeface="Palatino Linotype"/>
              </a:rPr>
              <a:t>distinctions </a:t>
            </a:r>
            <a:r>
              <a:rPr kern="1200" dirty="0">
                <a:solidFill>
                  <a:srgbClr val="FF0000"/>
                </a:solidFill>
                <a:latin typeface="Palatino Linotype"/>
                <a:cs typeface="Palatino Linotype"/>
              </a:rPr>
              <a:t>of </a:t>
            </a:r>
            <a:r>
              <a:rPr kern="1200" spc="-5" dirty="0">
                <a:solidFill>
                  <a:srgbClr val="FF0000"/>
                </a:solidFill>
                <a:latin typeface="Palatino Linotype"/>
                <a:cs typeface="Palatino Linotype"/>
              </a:rPr>
              <a:t>states</a:t>
            </a:r>
            <a:r>
              <a:rPr kern="1200" spc="-5" dirty="0">
                <a:solidFill>
                  <a:prstClr val="black"/>
                </a:solidFill>
                <a:latin typeface="Palatino Linotype"/>
                <a:cs typeface="Palatino Linotype"/>
              </a:rPr>
              <a:t>):</a:t>
            </a:r>
            <a:endParaRPr kern="1200" dirty="0">
              <a:solidFill>
                <a:prstClr val="black"/>
              </a:solidFill>
              <a:latin typeface="Palatino Linotype"/>
              <a:cs typeface="Palatino Linotype"/>
            </a:endParaRPr>
          </a:p>
          <a:p>
            <a:pPr marL="377190" indent="-286385" rtl="0">
              <a:spcBef>
                <a:spcPts val="455"/>
              </a:spcBef>
              <a:buFont typeface="Arial MT"/>
              <a:buChar char="•"/>
              <a:tabLst>
                <a:tab pos="376555" algn="l"/>
                <a:tab pos="377190" algn="l"/>
              </a:tabLst>
            </a:pPr>
            <a:r>
              <a:rPr kern="1200" spc="5" dirty="0">
                <a:solidFill>
                  <a:prstClr val="black"/>
                </a:solidFill>
                <a:latin typeface="Cambria Math"/>
                <a:cs typeface="Cambria Math"/>
              </a:rPr>
              <a:t>𝐼</a:t>
            </a:r>
            <a:r>
              <a:rPr lang="en-US" sz="1950" kern="1200" spc="7" baseline="-14957" dirty="0">
                <a:solidFill>
                  <a:prstClr val="black"/>
                </a:solidFill>
                <a:latin typeface="Cambria Math"/>
                <a:cs typeface="Cambria Math"/>
              </a:rPr>
              <a:t>3</a:t>
            </a:r>
            <a:r>
              <a:rPr sz="1950" kern="1200" spc="292" baseline="-14957" dirty="0">
                <a:solidFill>
                  <a:prstClr val="black"/>
                </a:solidFill>
                <a:latin typeface="Cambria Math"/>
                <a:cs typeface="Cambria Math"/>
              </a:rPr>
              <a:t> </a:t>
            </a:r>
            <a:r>
              <a:rPr kern="1200" dirty="0">
                <a:solidFill>
                  <a:prstClr val="black"/>
                </a:solidFill>
                <a:latin typeface="Palatino Linotype"/>
                <a:cs typeface="Palatino Linotype"/>
              </a:rPr>
              <a:t>and</a:t>
            </a:r>
            <a:r>
              <a:rPr kern="1200" spc="-45" dirty="0">
                <a:solidFill>
                  <a:prstClr val="black"/>
                </a:solidFill>
                <a:latin typeface="Palatino Linotype"/>
                <a:cs typeface="Palatino Linotype"/>
              </a:rPr>
              <a:t> </a:t>
            </a:r>
            <a:r>
              <a:rPr kern="1200" spc="-35" dirty="0">
                <a:solidFill>
                  <a:prstClr val="black"/>
                </a:solidFill>
                <a:latin typeface="Cambria Math"/>
                <a:cs typeface="Cambria Math"/>
              </a:rPr>
              <a:t>𝐼</a:t>
            </a:r>
            <a:r>
              <a:rPr lang="en-US" sz="1950" kern="1200" spc="-52" baseline="-14957" dirty="0">
                <a:solidFill>
                  <a:prstClr val="black"/>
                </a:solidFill>
                <a:latin typeface="Cambria Math"/>
                <a:cs typeface="Cambria Math"/>
              </a:rPr>
              <a:t>6</a:t>
            </a:r>
            <a:endParaRPr sz="1950" kern="1200" baseline="-14957" dirty="0">
              <a:solidFill>
                <a:prstClr val="black"/>
              </a:solidFill>
              <a:latin typeface="Cambria Math"/>
              <a:cs typeface="Cambria Math"/>
            </a:endParaRPr>
          </a:p>
          <a:p>
            <a:pPr marL="377190" indent="-286385" rtl="0">
              <a:spcBef>
                <a:spcPts val="430"/>
              </a:spcBef>
              <a:buFont typeface="Arial MT"/>
              <a:buChar char="•"/>
              <a:tabLst>
                <a:tab pos="376555" algn="l"/>
                <a:tab pos="377190" algn="l"/>
              </a:tabLst>
            </a:pPr>
            <a:r>
              <a:rPr kern="1200" spc="-35" dirty="0">
                <a:solidFill>
                  <a:prstClr val="black"/>
                </a:solidFill>
                <a:latin typeface="Cambria Math"/>
                <a:cs typeface="Cambria Math"/>
              </a:rPr>
              <a:t>𝐼</a:t>
            </a:r>
            <a:r>
              <a:rPr lang="en-US" sz="1950" kern="1200" spc="-52" baseline="-14957" dirty="0">
                <a:solidFill>
                  <a:prstClr val="black"/>
                </a:solidFill>
                <a:latin typeface="Cambria Math"/>
                <a:cs typeface="Cambria Math"/>
              </a:rPr>
              <a:t>4</a:t>
            </a:r>
            <a:r>
              <a:rPr sz="1950" kern="1200" spc="284" baseline="-14957" dirty="0">
                <a:solidFill>
                  <a:prstClr val="black"/>
                </a:solidFill>
                <a:latin typeface="Cambria Math"/>
                <a:cs typeface="Cambria Math"/>
              </a:rPr>
              <a:t> </a:t>
            </a:r>
            <a:r>
              <a:rPr kern="1200" dirty="0">
                <a:solidFill>
                  <a:prstClr val="black"/>
                </a:solidFill>
                <a:latin typeface="Palatino Linotype"/>
                <a:cs typeface="Palatino Linotype"/>
              </a:rPr>
              <a:t>and</a:t>
            </a:r>
            <a:r>
              <a:rPr kern="1200" spc="-40" dirty="0">
                <a:solidFill>
                  <a:prstClr val="black"/>
                </a:solidFill>
                <a:latin typeface="Palatino Linotype"/>
                <a:cs typeface="Palatino Linotype"/>
              </a:rPr>
              <a:t> </a:t>
            </a:r>
            <a:r>
              <a:rPr kern="1200" spc="-35" dirty="0">
                <a:solidFill>
                  <a:prstClr val="black"/>
                </a:solidFill>
                <a:latin typeface="Cambria Math"/>
                <a:cs typeface="Cambria Math"/>
              </a:rPr>
              <a:t>𝐼</a:t>
            </a:r>
            <a:r>
              <a:rPr lang="en-US" sz="1950" kern="1200" spc="-52" baseline="-14957" dirty="0">
                <a:solidFill>
                  <a:prstClr val="black"/>
                </a:solidFill>
                <a:latin typeface="Cambria Math"/>
                <a:cs typeface="Cambria Math"/>
              </a:rPr>
              <a:t>7</a:t>
            </a:r>
            <a:endParaRPr sz="1950" kern="1200" baseline="-14957" dirty="0">
              <a:solidFill>
                <a:prstClr val="black"/>
              </a:solidFill>
              <a:latin typeface="Cambria Math"/>
              <a:cs typeface="Cambria Math"/>
            </a:endParaRPr>
          </a:p>
          <a:p>
            <a:pPr marL="377190" indent="-286385" rtl="0">
              <a:spcBef>
                <a:spcPts val="434"/>
              </a:spcBef>
              <a:buFont typeface="Arial MT"/>
              <a:buChar char="•"/>
              <a:tabLst>
                <a:tab pos="376555" algn="l"/>
                <a:tab pos="377190" algn="l"/>
              </a:tabLst>
            </a:pPr>
            <a:r>
              <a:rPr kern="1200" spc="-35" dirty="0">
                <a:solidFill>
                  <a:prstClr val="black"/>
                </a:solidFill>
                <a:latin typeface="Cambria Math"/>
                <a:cs typeface="Cambria Math"/>
              </a:rPr>
              <a:t>𝐼</a:t>
            </a:r>
            <a:r>
              <a:rPr lang="en-US" sz="1950" kern="1200" spc="-52" baseline="-17094" dirty="0">
                <a:solidFill>
                  <a:prstClr val="black"/>
                </a:solidFill>
                <a:latin typeface="Cambria Math"/>
                <a:cs typeface="Cambria Math"/>
              </a:rPr>
              <a:t>8</a:t>
            </a:r>
            <a:r>
              <a:rPr sz="1950" kern="1200" spc="292" baseline="-17094" dirty="0">
                <a:solidFill>
                  <a:prstClr val="black"/>
                </a:solidFill>
                <a:latin typeface="Cambria Math"/>
                <a:cs typeface="Cambria Math"/>
              </a:rPr>
              <a:t> </a:t>
            </a:r>
            <a:r>
              <a:rPr kern="1200" dirty="0">
                <a:solidFill>
                  <a:prstClr val="black"/>
                </a:solidFill>
                <a:latin typeface="Palatino Linotype"/>
                <a:cs typeface="Palatino Linotype"/>
              </a:rPr>
              <a:t>and</a:t>
            </a:r>
            <a:r>
              <a:rPr kern="1200" spc="-40" dirty="0">
                <a:solidFill>
                  <a:prstClr val="black"/>
                </a:solidFill>
                <a:latin typeface="Palatino Linotype"/>
                <a:cs typeface="Palatino Linotype"/>
              </a:rPr>
              <a:t> </a:t>
            </a:r>
            <a:r>
              <a:rPr kern="1200" spc="-55" dirty="0">
                <a:solidFill>
                  <a:prstClr val="black"/>
                </a:solidFill>
                <a:latin typeface="Cambria Math"/>
                <a:cs typeface="Cambria Math"/>
              </a:rPr>
              <a:t>𝐼</a:t>
            </a:r>
            <a:r>
              <a:rPr lang="en-US" sz="1950" kern="1200" spc="-82" baseline="-17094" dirty="0">
                <a:solidFill>
                  <a:prstClr val="black"/>
                </a:solidFill>
                <a:latin typeface="Cambria Math"/>
                <a:cs typeface="Cambria Math"/>
              </a:rPr>
              <a:t>9</a:t>
            </a:r>
            <a:endParaRPr sz="1950" kern="1200" baseline="-17094" dirty="0">
              <a:solidFill>
                <a:prstClr val="black"/>
              </a:solidFill>
              <a:latin typeface="Cambria Math"/>
              <a:cs typeface="Cambria Math"/>
            </a:endParaRPr>
          </a:p>
        </p:txBody>
      </p:sp>
    </p:spTree>
    <p:extLst>
      <p:ext uri="{BB962C8B-B14F-4D97-AF65-F5344CB8AC3E}">
        <p14:creationId xmlns:p14="http://schemas.microsoft.com/office/powerpoint/2010/main" val="29539613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141</a:t>
            </a:fld>
            <a:endParaRPr lang="en-US"/>
          </a:p>
        </p:txBody>
      </p:sp>
      <p:sp>
        <p:nvSpPr>
          <p:cNvPr id="23" name="object 2">
            <a:extLst>
              <a:ext uri="{FF2B5EF4-FFF2-40B4-BE49-F238E27FC236}">
                <a16:creationId xmlns:a16="http://schemas.microsoft.com/office/drawing/2014/main" id="{BCFBC5B6-A241-0575-69FA-6890CAF91C3B}"/>
              </a:ext>
            </a:extLst>
          </p:cNvPr>
          <p:cNvSpPr txBox="1">
            <a:spLocks/>
          </p:cNvSpPr>
          <p:nvPr/>
        </p:nvSpPr>
        <p:spPr>
          <a:xfrm>
            <a:off x="777716" y="184403"/>
            <a:ext cx="7588567" cy="1293495"/>
          </a:xfrm>
          <a:prstGeom prst="rect">
            <a:avLst/>
          </a:prstGeom>
        </p:spPr>
        <p:txBody>
          <a:bodyPr vert="horz" wrap="square" lIns="0" tIns="93980" rIns="0" bIns="0" rtlCol="0">
            <a:spAutoFit/>
          </a:bodyPr>
          <a:lstStyle>
            <a:lvl1pPr>
              <a:defRPr sz="4000" b="1" i="0">
                <a:solidFill>
                  <a:schemeClr val="tx1"/>
                </a:solidFill>
                <a:latin typeface="Palatino Linotype"/>
                <a:ea typeface="+mj-ea"/>
                <a:cs typeface="Palatino Linotype"/>
              </a:defRPr>
            </a:lvl1pPr>
          </a:lstStyle>
          <a:p>
            <a:pPr marL="1538605" marR="5080" lvl="0" indent="-1525905" defTabSz="914400" eaLnBrk="1" fontAlgn="auto" latinLnBrk="0" hangingPunct="1">
              <a:lnSpc>
                <a:spcPts val="4700"/>
              </a:lnSpc>
              <a:spcBef>
                <a:spcPts val="740"/>
              </a:spcBef>
              <a:spcAft>
                <a:spcPts val="0"/>
              </a:spcAft>
              <a:buClrTx/>
              <a:buSzTx/>
              <a:buFontTx/>
              <a:buNone/>
              <a:tabLst/>
              <a:defRPr/>
            </a:pPr>
            <a:r>
              <a:rPr kumimoji="0" lang="en-US" sz="4400" b="1" i="0" u="none" strike="noStrike" kern="0" cap="none" spc="-5" normalizeH="0" baseline="0" noProof="0" dirty="0">
                <a:ln>
                  <a:noFill/>
                </a:ln>
                <a:solidFill>
                  <a:sysClr val="windowText" lastClr="000000"/>
                </a:solidFill>
                <a:effectLst/>
                <a:uLnTx/>
                <a:uFillTx/>
                <a:latin typeface="Palatino Linotype"/>
                <a:ea typeface="+mj-ea"/>
              </a:rPr>
              <a:t>Constructing Canonical LR(1) </a:t>
            </a:r>
            <a:r>
              <a:rPr kumimoji="0" lang="en-US" sz="4400" b="1" i="0" u="none" strike="noStrike" kern="0" cap="none" spc="-1085" normalizeH="0" baseline="0" noProof="0" dirty="0">
                <a:ln>
                  <a:noFill/>
                </a:ln>
                <a:solidFill>
                  <a:sysClr val="windowText" lastClr="000000"/>
                </a:solidFill>
                <a:effectLst/>
                <a:uLnTx/>
                <a:uFillTx/>
                <a:latin typeface="Palatino Linotype"/>
                <a:ea typeface="+mj-ea"/>
              </a:rPr>
              <a:t> </a:t>
            </a:r>
            <a:r>
              <a:rPr kumimoji="0" lang="en-US" sz="4400" b="1" i="0" u="none" strike="noStrike" kern="0" cap="none" spc="-5" normalizeH="0" baseline="0" noProof="0" dirty="0">
                <a:ln>
                  <a:noFill/>
                </a:ln>
                <a:solidFill>
                  <a:sysClr val="windowText" lastClr="000000"/>
                </a:solidFill>
                <a:effectLst/>
                <a:uLnTx/>
                <a:uFillTx/>
                <a:latin typeface="Palatino Linotype"/>
                <a:ea typeface="+mj-ea"/>
              </a:rPr>
              <a:t>Parsing</a:t>
            </a:r>
            <a:r>
              <a:rPr kumimoji="0" lang="en-US" sz="4400" b="1" i="0" u="none" strike="noStrike" kern="0" cap="none" spc="0" normalizeH="0" baseline="0" noProof="0" dirty="0">
                <a:ln>
                  <a:noFill/>
                </a:ln>
                <a:solidFill>
                  <a:sysClr val="windowText" lastClr="000000"/>
                </a:solidFill>
                <a:effectLst/>
                <a:uLnTx/>
                <a:uFillTx/>
                <a:latin typeface="Palatino Linotype"/>
                <a:ea typeface="+mj-ea"/>
              </a:rPr>
              <a:t> </a:t>
            </a:r>
            <a:r>
              <a:rPr kumimoji="0" lang="en-US" sz="4400" b="1" i="0" u="none" strike="noStrike" kern="0" cap="none" spc="-70" normalizeH="0" baseline="0" noProof="0" dirty="0">
                <a:ln>
                  <a:noFill/>
                </a:ln>
                <a:solidFill>
                  <a:sysClr val="windowText" lastClr="000000"/>
                </a:solidFill>
                <a:effectLst/>
                <a:uLnTx/>
                <a:uFillTx/>
                <a:latin typeface="Palatino Linotype"/>
                <a:ea typeface="+mj-ea"/>
              </a:rPr>
              <a:t>Tables</a:t>
            </a:r>
            <a:r>
              <a:rPr kumimoji="0" lang="en-US" sz="4400" b="1" i="0" u="none" strike="noStrike" kern="0" cap="none" spc="-10" normalizeH="0" baseline="0" noProof="0" dirty="0">
                <a:ln>
                  <a:noFill/>
                </a:ln>
                <a:solidFill>
                  <a:sysClr val="windowText" lastClr="000000"/>
                </a:solidFill>
                <a:effectLst/>
                <a:uLnTx/>
                <a:uFillTx/>
                <a:latin typeface="Palatino Linotype"/>
                <a:ea typeface="+mj-ea"/>
              </a:rPr>
              <a:t> </a:t>
            </a:r>
            <a:r>
              <a:rPr kumimoji="0" lang="en-US" sz="4400" b="1" i="0" u="none" strike="noStrike" kern="0" cap="none" spc="-5" normalizeH="0" baseline="0" noProof="0" dirty="0">
                <a:ln>
                  <a:noFill/>
                </a:ln>
                <a:solidFill>
                  <a:sysClr val="windowText" lastClr="000000"/>
                </a:solidFill>
                <a:effectLst/>
                <a:uLnTx/>
                <a:uFillTx/>
                <a:latin typeface="Palatino Linotype"/>
                <a:ea typeface="+mj-ea"/>
              </a:rPr>
              <a:t>(1)</a:t>
            </a:r>
            <a:endParaRPr kumimoji="0" lang="en-US" sz="44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24" name="object 3">
            <a:extLst>
              <a:ext uri="{FF2B5EF4-FFF2-40B4-BE49-F238E27FC236}">
                <a16:creationId xmlns:a16="http://schemas.microsoft.com/office/drawing/2014/main" id="{636BE081-5649-D26C-F244-BBBD511B5534}"/>
              </a:ext>
            </a:extLst>
          </p:cNvPr>
          <p:cNvSpPr/>
          <p:nvPr/>
        </p:nvSpPr>
        <p:spPr>
          <a:xfrm>
            <a:off x="2930432" y="1931567"/>
            <a:ext cx="1301750" cy="236854"/>
          </a:xfrm>
          <a:custGeom>
            <a:avLst/>
            <a:gdLst/>
            <a:ahLst/>
            <a:cxnLst/>
            <a:rect l="l" t="t" r="r" b="b"/>
            <a:pathLst>
              <a:path w="1301750" h="236855">
                <a:moveTo>
                  <a:pt x="1225703" y="0"/>
                </a:moveTo>
                <a:lnTo>
                  <a:pt x="1222479" y="0"/>
                </a:lnTo>
                <a:lnTo>
                  <a:pt x="1222479" y="9424"/>
                </a:lnTo>
                <a:lnTo>
                  <a:pt x="1224339" y="9424"/>
                </a:lnTo>
                <a:lnTo>
                  <a:pt x="1232843" y="10009"/>
                </a:lnTo>
                <a:lnTo>
                  <a:pt x="1262027" y="39706"/>
                </a:lnTo>
                <a:lnTo>
                  <a:pt x="1262663" y="49733"/>
                </a:lnTo>
                <a:lnTo>
                  <a:pt x="1262663" y="55520"/>
                </a:lnTo>
                <a:lnTo>
                  <a:pt x="1261836" y="62673"/>
                </a:lnTo>
                <a:lnTo>
                  <a:pt x="1258528" y="79705"/>
                </a:lnTo>
                <a:lnTo>
                  <a:pt x="1257702" y="85782"/>
                </a:lnTo>
                <a:lnTo>
                  <a:pt x="1257702" y="96448"/>
                </a:lnTo>
                <a:lnTo>
                  <a:pt x="1259768" y="102215"/>
                </a:lnTo>
                <a:lnTo>
                  <a:pt x="1268037" y="111227"/>
                </a:lnTo>
                <a:lnTo>
                  <a:pt x="1272956" y="114555"/>
                </a:lnTo>
                <a:lnTo>
                  <a:pt x="1278661" y="116705"/>
                </a:lnTo>
                <a:lnTo>
                  <a:pt x="1278661" y="118938"/>
                </a:lnTo>
                <a:lnTo>
                  <a:pt x="1272956" y="121088"/>
                </a:lnTo>
                <a:lnTo>
                  <a:pt x="1268037" y="124415"/>
                </a:lnTo>
                <a:lnTo>
                  <a:pt x="1259768" y="133427"/>
                </a:lnTo>
                <a:lnTo>
                  <a:pt x="1257702" y="139194"/>
                </a:lnTo>
                <a:lnTo>
                  <a:pt x="1257702" y="149861"/>
                </a:lnTo>
                <a:lnTo>
                  <a:pt x="1258528" y="155938"/>
                </a:lnTo>
                <a:lnTo>
                  <a:pt x="1261836" y="172970"/>
                </a:lnTo>
                <a:lnTo>
                  <a:pt x="1262663" y="180122"/>
                </a:lnTo>
                <a:lnTo>
                  <a:pt x="1262663" y="185910"/>
                </a:lnTo>
                <a:lnTo>
                  <a:pt x="1262027" y="196316"/>
                </a:lnTo>
                <a:lnTo>
                  <a:pt x="1232843" y="226500"/>
                </a:lnTo>
                <a:lnTo>
                  <a:pt x="1224339" y="227086"/>
                </a:lnTo>
                <a:lnTo>
                  <a:pt x="1222479" y="227086"/>
                </a:lnTo>
                <a:lnTo>
                  <a:pt x="1222479" y="236512"/>
                </a:lnTo>
                <a:lnTo>
                  <a:pt x="1225703" y="236512"/>
                </a:lnTo>
                <a:lnTo>
                  <a:pt x="1239358" y="235492"/>
                </a:lnTo>
                <a:lnTo>
                  <a:pt x="1275619" y="215897"/>
                </a:lnTo>
                <a:lnTo>
                  <a:pt x="1283746" y="183677"/>
                </a:lnTo>
                <a:lnTo>
                  <a:pt x="1283746" y="176815"/>
                </a:lnTo>
                <a:lnTo>
                  <a:pt x="1282774" y="169001"/>
                </a:lnTo>
                <a:lnTo>
                  <a:pt x="1278889" y="151472"/>
                </a:lnTo>
                <a:lnTo>
                  <a:pt x="1277918" y="145602"/>
                </a:lnTo>
                <a:lnTo>
                  <a:pt x="1277918" y="136921"/>
                </a:lnTo>
                <a:lnTo>
                  <a:pt x="1279881" y="132270"/>
                </a:lnTo>
                <a:lnTo>
                  <a:pt x="1287736" y="125077"/>
                </a:lnTo>
                <a:lnTo>
                  <a:pt x="1293668" y="123154"/>
                </a:lnTo>
                <a:lnTo>
                  <a:pt x="1301606" y="122906"/>
                </a:lnTo>
                <a:lnTo>
                  <a:pt x="1301606" y="112736"/>
                </a:lnTo>
                <a:lnTo>
                  <a:pt x="1293668" y="112488"/>
                </a:lnTo>
                <a:lnTo>
                  <a:pt x="1287736" y="110566"/>
                </a:lnTo>
                <a:lnTo>
                  <a:pt x="1279881" y="103372"/>
                </a:lnTo>
                <a:lnTo>
                  <a:pt x="1277918" y="98722"/>
                </a:lnTo>
                <a:lnTo>
                  <a:pt x="1277918" y="90040"/>
                </a:lnTo>
                <a:lnTo>
                  <a:pt x="1278889" y="84170"/>
                </a:lnTo>
                <a:lnTo>
                  <a:pt x="1282774" y="66641"/>
                </a:lnTo>
                <a:lnTo>
                  <a:pt x="1283746" y="58827"/>
                </a:lnTo>
                <a:lnTo>
                  <a:pt x="1283746" y="51965"/>
                </a:lnTo>
                <a:lnTo>
                  <a:pt x="1282843" y="39877"/>
                </a:lnTo>
                <a:lnTo>
                  <a:pt x="1261155" y="7685"/>
                </a:lnTo>
                <a:lnTo>
                  <a:pt x="1239358" y="1018"/>
                </a:lnTo>
                <a:lnTo>
                  <a:pt x="1225703" y="0"/>
                </a:lnTo>
                <a:close/>
              </a:path>
              <a:path w="1301750" h="236855">
                <a:moveTo>
                  <a:pt x="79127" y="0"/>
                </a:moveTo>
                <a:lnTo>
                  <a:pt x="75902" y="0"/>
                </a:lnTo>
                <a:lnTo>
                  <a:pt x="62248" y="1018"/>
                </a:lnTo>
                <a:lnTo>
                  <a:pt x="25987" y="20552"/>
                </a:lnTo>
                <a:lnTo>
                  <a:pt x="17860" y="51841"/>
                </a:lnTo>
                <a:lnTo>
                  <a:pt x="17860" y="58704"/>
                </a:lnTo>
                <a:lnTo>
                  <a:pt x="18831" y="66517"/>
                </a:lnTo>
                <a:lnTo>
                  <a:pt x="22717" y="84046"/>
                </a:lnTo>
                <a:lnTo>
                  <a:pt x="23688" y="89915"/>
                </a:lnTo>
                <a:lnTo>
                  <a:pt x="23688" y="98597"/>
                </a:lnTo>
                <a:lnTo>
                  <a:pt x="21724" y="103248"/>
                </a:lnTo>
                <a:lnTo>
                  <a:pt x="13869" y="110441"/>
                </a:lnTo>
                <a:lnTo>
                  <a:pt x="7937" y="112364"/>
                </a:lnTo>
                <a:lnTo>
                  <a:pt x="0" y="112612"/>
                </a:lnTo>
                <a:lnTo>
                  <a:pt x="0" y="122782"/>
                </a:lnTo>
                <a:lnTo>
                  <a:pt x="7937" y="123031"/>
                </a:lnTo>
                <a:lnTo>
                  <a:pt x="13869" y="124952"/>
                </a:lnTo>
                <a:lnTo>
                  <a:pt x="21724" y="132146"/>
                </a:lnTo>
                <a:lnTo>
                  <a:pt x="23688" y="136796"/>
                </a:lnTo>
                <a:lnTo>
                  <a:pt x="23688" y="145478"/>
                </a:lnTo>
                <a:lnTo>
                  <a:pt x="22717" y="151349"/>
                </a:lnTo>
                <a:lnTo>
                  <a:pt x="18831" y="168878"/>
                </a:lnTo>
                <a:lnTo>
                  <a:pt x="17860" y="176691"/>
                </a:lnTo>
                <a:lnTo>
                  <a:pt x="17860" y="183554"/>
                </a:lnTo>
                <a:lnTo>
                  <a:pt x="18762" y="196076"/>
                </a:lnTo>
                <a:lnTo>
                  <a:pt x="40451" y="228826"/>
                </a:lnTo>
                <a:lnTo>
                  <a:pt x="75902" y="236512"/>
                </a:lnTo>
                <a:lnTo>
                  <a:pt x="79127" y="236512"/>
                </a:lnTo>
                <a:lnTo>
                  <a:pt x="79127" y="227086"/>
                </a:lnTo>
                <a:lnTo>
                  <a:pt x="77266" y="227086"/>
                </a:lnTo>
                <a:lnTo>
                  <a:pt x="68763" y="226500"/>
                </a:lnTo>
                <a:lnTo>
                  <a:pt x="39579" y="196247"/>
                </a:lnTo>
                <a:lnTo>
                  <a:pt x="38943" y="185787"/>
                </a:lnTo>
                <a:lnTo>
                  <a:pt x="38943" y="179998"/>
                </a:lnTo>
                <a:lnTo>
                  <a:pt x="39770" y="172847"/>
                </a:lnTo>
                <a:lnTo>
                  <a:pt x="43077" y="155813"/>
                </a:lnTo>
                <a:lnTo>
                  <a:pt x="43903" y="149736"/>
                </a:lnTo>
                <a:lnTo>
                  <a:pt x="43903" y="139071"/>
                </a:lnTo>
                <a:lnTo>
                  <a:pt x="41837" y="133304"/>
                </a:lnTo>
                <a:lnTo>
                  <a:pt x="33568" y="124291"/>
                </a:lnTo>
                <a:lnTo>
                  <a:pt x="28649" y="120963"/>
                </a:lnTo>
                <a:lnTo>
                  <a:pt x="22945" y="118813"/>
                </a:lnTo>
                <a:lnTo>
                  <a:pt x="22945" y="116580"/>
                </a:lnTo>
                <a:lnTo>
                  <a:pt x="28649" y="114432"/>
                </a:lnTo>
                <a:lnTo>
                  <a:pt x="33568" y="111103"/>
                </a:lnTo>
                <a:lnTo>
                  <a:pt x="41837" y="102091"/>
                </a:lnTo>
                <a:lnTo>
                  <a:pt x="43903" y="96324"/>
                </a:lnTo>
                <a:lnTo>
                  <a:pt x="43903" y="85657"/>
                </a:lnTo>
                <a:lnTo>
                  <a:pt x="43077" y="79580"/>
                </a:lnTo>
                <a:lnTo>
                  <a:pt x="39770" y="62548"/>
                </a:lnTo>
                <a:lnTo>
                  <a:pt x="38943" y="55396"/>
                </a:lnTo>
                <a:lnTo>
                  <a:pt x="38943" y="49608"/>
                </a:lnTo>
                <a:lnTo>
                  <a:pt x="39579" y="39636"/>
                </a:lnTo>
                <a:lnTo>
                  <a:pt x="68763" y="10009"/>
                </a:lnTo>
                <a:lnTo>
                  <a:pt x="77266" y="9424"/>
                </a:lnTo>
                <a:lnTo>
                  <a:pt x="79127" y="9424"/>
                </a:lnTo>
                <a:lnTo>
                  <a:pt x="79127"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4">
            <a:extLst>
              <a:ext uri="{FF2B5EF4-FFF2-40B4-BE49-F238E27FC236}">
                <a16:creationId xmlns:a16="http://schemas.microsoft.com/office/drawing/2014/main" id="{6B5EB28D-0367-5C77-3AEE-6C441C69F4FF}"/>
              </a:ext>
            </a:extLst>
          </p:cNvPr>
          <p:cNvSpPr/>
          <p:nvPr/>
        </p:nvSpPr>
        <p:spPr>
          <a:xfrm>
            <a:off x="2789555" y="3696969"/>
            <a:ext cx="44450" cy="189230"/>
          </a:xfrm>
          <a:custGeom>
            <a:avLst/>
            <a:gdLst/>
            <a:ahLst/>
            <a:cxnLst/>
            <a:rect l="l" t="t" r="r" b="b"/>
            <a:pathLst>
              <a:path w="44450" h="189229">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5">
            <a:extLst>
              <a:ext uri="{FF2B5EF4-FFF2-40B4-BE49-F238E27FC236}">
                <a16:creationId xmlns:a16="http://schemas.microsoft.com/office/drawing/2014/main" id="{75CD0014-931C-A22A-0AEE-B99EBDF79475}"/>
              </a:ext>
            </a:extLst>
          </p:cNvPr>
          <p:cNvSpPr/>
          <p:nvPr/>
        </p:nvSpPr>
        <p:spPr>
          <a:xfrm>
            <a:off x="1615833" y="3696969"/>
            <a:ext cx="44450" cy="189230"/>
          </a:xfrm>
          <a:custGeom>
            <a:avLst/>
            <a:gdLst/>
            <a:ahLst/>
            <a:cxnLst/>
            <a:rect l="l" t="t" r="r" b="b"/>
            <a:pathLst>
              <a:path w="44450" h="189229">
                <a:moveTo>
                  <a:pt x="44246" y="0"/>
                </a:moveTo>
                <a:lnTo>
                  <a:pt x="0" y="0"/>
                </a:lnTo>
                <a:lnTo>
                  <a:pt x="0" y="7620"/>
                </a:lnTo>
                <a:lnTo>
                  <a:pt x="0" y="181610"/>
                </a:lnTo>
                <a:lnTo>
                  <a:pt x="0" y="189230"/>
                </a:lnTo>
                <a:lnTo>
                  <a:pt x="44246" y="189230"/>
                </a:lnTo>
                <a:lnTo>
                  <a:pt x="44246" y="181610"/>
                </a:lnTo>
                <a:lnTo>
                  <a:pt x="16471" y="181610"/>
                </a:lnTo>
                <a:lnTo>
                  <a:pt x="16471" y="7620"/>
                </a:lnTo>
                <a:lnTo>
                  <a:pt x="44246" y="7620"/>
                </a:lnTo>
                <a:lnTo>
                  <a:pt x="4424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6">
            <a:extLst>
              <a:ext uri="{FF2B5EF4-FFF2-40B4-BE49-F238E27FC236}">
                <a16:creationId xmlns:a16="http://schemas.microsoft.com/office/drawing/2014/main" id="{F9C0749D-CA8C-17F1-864A-AE861584E99D}"/>
              </a:ext>
            </a:extLst>
          </p:cNvPr>
          <p:cNvSpPr/>
          <p:nvPr/>
        </p:nvSpPr>
        <p:spPr>
          <a:xfrm>
            <a:off x="4431680" y="3697455"/>
            <a:ext cx="457834" cy="188595"/>
          </a:xfrm>
          <a:custGeom>
            <a:avLst/>
            <a:gdLst/>
            <a:ahLst/>
            <a:cxnLst/>
            <a:rect l="l" t="t" r="r" b="b"/>
            <a:pathLst>
              <a:path w="457835" h="188595">
                <a:moveTo>
                  <a:pt x="397530" y="0"/>
                </a:moveTo>
                <a:lnTo>
                  <a:pt x="394850" y="7639"/>
                </a:lnTo>
                <a:lnTo>
                  <a:pt x="405746" y="12367"/>
                </a:lnTo>
                <a:lnTo>
                  <a:pt x="415116" y="18913"/>
                </a:lnTo>
                <a:lnTo>
                  <a:pt x="437614" y="62470"/>
                </a:lnTo>
                <a:lnTo>
                  <a:pt x="440392" y="93165"/>
                </a:lnTo>
                <a:lnTo>
                  <a:pt x="439695" y="109766"/>
                </a:lnTo>
                <a:lnTo>
                  <a:pt x="429230" y="150414"/>
                </a:lnTo>
                <a:lnTo>
                  <a:pt x="395149" y="180577"/>
                </a:lnTo>
                <a:lnTo>
                  <a:pt x="397530" y="188217"/>
                </a:lnTo>
                <a:lnTo>
                  <a:pt x="433490" y="166852"/>
                </a:lnTo>
                <a:lnTo>
                  <a:pt x="453687" y="127409"/>
                </a:lnTo>
                <a:lnTo>
                  <a:pt x="457556" y="94157"/>
                </a:lnTo>
                <a:lnTo>
                  <a:pt x="456586" y="76903"/>
                </a:lnTo>
                <a:lnTo>
                  <a:pt x="442029" y="32989"/>
                </a:lnTo>
                <a:lnTo>
                  <a:pt x="411175" y="4926"/>
                </a:lnTo>
                <a:lnTo>
                  <a:pt x="397530" y="0"/>
                </a:lnTo>
                <a:close/>
              </a:path>
              <a:path w="457835" h="188595">
                <a:moveTo>
                  <a:pt x="60027" y="0"/>
                </a:moveTo>
                <a:lnTo>
                  <a:pt x="24132" y="21421"/>
                </a:lnTo>
                <a:lnTo>
                  <a:pt x="3882" y="60957"/>
                </a:lnTo>
                <a:lnTo>
                  <a:pt x="0" y="94157"/>
                </a:lnTo>
                <a:lnTo>
                  <a:pt x="967" y="111450"/>
                </a:lnTo>
                <a:lnTo>
                  <a:pt x="15478" y="155327"/>
                </a:lnTo>
                <a:lnTo>
                  <a:pt x="46341" y="183297"/>
                </a:lnTo>
                <a:lnTo>
                  <a:pt x="60027" y="188217"/>
                </a:lnTo>
                <a:lnTo>
                  <a:pt x="62409" y="180577"/>
                </a:lnTo>
                <a:lnTo>
                  <a:pt x="51684" y="175827"/>
                </a:lnTo>
                <a:lnTo>
                  <a:pt x="42428" y="169217"/>
                </a:lnTo>
                <a:lnTo>
                  <a:pt x="19955" y="124841"/>
                </a:lnTo>
                <a:lnTo>
                  <a:pt x="17165" y="93165"/>
                </a:lnTo>
                <a:lnTo>
                  <a:pt x="17863" y="77108"/>
                </a:lnTo>
                <a:lnTo>
                  <a:pt x="28327" y="37454"/>
                </a:lnTo>
                <a:lnTo>
                  <a:pt x="62706" y="7639"/>
                </a:lnTo>
                <a:lnTo>
                  <a:pt x="60027"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7">
            <a:extLst>
              <a:ext uri="{FF2B5EF4-FFF2-40B4-BE49-F238E27FC236}">
                <a16:creationId xmlns:a16="http://schemas.microsoft.com/office/drawing/2014/main" id="{4E8F164D-94F5-7041-BEC1-63ECFDB8849E}"/>
              </a:ext>
            </a:extLst>
          </p:cNvPr>
          <p:cNvSpPr/>
          <p:nvPr/>
        </p:nvSpPr>
        <p:spPr>
          <a:xfrm>
            <a:off x="2505392" y="4433570"/>
            <a:ext cx="44450" cy="189230"/>
          </a:xfrm>
          <a:custGeom>
            <a:avLst/>
            <a:gdLst/>
            <a:ahLst/>
            <a:cxnLst/>
            <a:rect l="l" t="t" r="r" b="b"/>
            <a:pathLst>
              <a:path w="44450" h="189229">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9" name="object 8">
            <a:extLst>
              <a:ext uri="{FF2B5EF4-FFF2-40B4-BE49-F238E27FC236}">
                <a16:creationId xmlns:a16="http://schemas.microsoft.com/office/drawing/2014/main" id="{BAC3911C-2B42-B5E8-929C-BEAF0ABA1088}"/>
              </a:ext>
            </a:extLst>
          </p:cNvPr>
          <p:cNvSpPr/>
          <p:nvPr/>
        </p:nvSpPr>
        <p:spPr>
          <a:xfrm>
            <a:off x="1615833" y="4433570"/>
            <a:ext cx="44450" cy="189230"/>
          </a:xfrm>
          <a:custGeom>
            <a:avLst/>
            <a:gdLst/>
            <a:ahLst/>
            <a:cxnLst/>
            <a:rect l="l" t="t" r="r" b="b"/>
            <a:pathLst>
              <a:path w="44450" h="189229">
                <a:moveTo>
                  <a:pt x="44246" y="0"/>
                </a:moveTo>
                <a:lnTo>
                  <a:pt x="0" y="0"/>
                </a:lnTo>
                <a:lnTo>
                  <a:pt x="0" y="7620"/>
                </a:lnTo>
                <a:lnTo>
                  <a:pt x="0" y="181610"/>
                </a:lnTo>
                <a:lnTo>
                  <a:pt x="0" y="189230"/>
                </a:lnTo>
                <a:lnTo>
                  <a:pt x="44246" y="189230"/>
                </a:lnTo>
                <a:lnTo>
                  <a:pt x="44246" y="181610"/>
                </a:lnTo>
                <a:lnTo>
                  <a:pt x="16471" y="181610"/>
                </a:lnTo>
                <a:lnTo>
                  <a:pt x="16471" y="7620"/>
                </a:lnTo>
                <a:lnTo>
                  <a:pt x="44246" y="7620"/>
                </a:lnTo>
                <a:lnTo>
                  <a:pt x="4424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9">
            <a:extLst>
              <a:ext uri="{FF2B5EF4-FFF2-40B4-BE49-F238E27FC236}">
                <a16:creationId xmlns:a16="http://schemas.microsoft.com/office/drawing/2014/main" id="{D42A4ACF-B954-CCC1-688F-0E75A29BE2A2}"/>
              </a:ext>
            </a:extLst>
          </p:cNvPr>
          <p:cNvSpPr/>
          <p:nvPr/>
        </p:nvSpPr>
        <p:spPr>
          <a:xfrm>
            <a:off x="2504249" y="4878070"/>
            <a:ext cx="44450" cy="189230"/>
          </a:xfrm>
          <a:custGeom>
            <a:avLst/>
            <a:gdLst/>
            <a:ahLst/>
            <a:cxnLst/>
            <a:rect l="l" t="t" r="r" b="b"/>
            <a:pathLst>
              <a:path w="44450" h="189229">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10">
            <a:extLst>
              <a:ext uri="{FF2B5EF4-FFF2-40B4-BE49-F238E27FC236}">
                <a16:creationId xmlns:a16="http://schemas.microsoft.com/office/drawing/2014/main" id="{692C031B-357A-74BD-8F60-26315DA35436}"/>
              </a:ext>
            </a:extLst>
          </p:cNvPr>
          <p:cNvSpPr/>
          <p:nvPr/>
        </p:nvSpPr>
        <p:spPr>
          <a:xfrm>
            <a:off x="1615833" y="4878070"/>
            <a:ext cx="44450" cy="189230"/>
          </a:xfrm>
          <a:custGeom>
            <a:avLst/>
            <a:gdLst/>
            <a:ahLst/>
            <a:cxnLst/>
            <a:rect l="l" t="t" r="r" b="b"/>
            <a:pathLst>
              <a:path w="44450" h="189229">
                <a:moveTo>
                  <a:pt x="44246" y="0"/>
                </a:moveTo>
                <a:lnTo>
                  <a:pt x="0" y="0"/>
                </a:lnTo>
                <a:lnTo>
                  <a:pt x="0" y="7620"/>
                </a:lnTo>
                <a:lnTo>
                  <a:pt x="0" y="181610"/>
                </a:lnTo>
                <a:lnTo>
                  <a:pt x="0" y="189230"/>
                </a:lnTo>
                <a:lnTo>
                  <a:pt x="44246" y="189230"/>
                </a:lnTo>
                <a:lnTo>
                  <a:pt x="44246" y="181610"/>
                </a:lnTo>
                <a:lnTo>
                  <a:pt x="16471" y="181610"/>
                </a:lnTo>
                <a:lnTo>
                  <a:pt x="16471" y="7620"/>
                </a:lnTo>
                <a:lnTo>
                  <a:pt x="44246" y="7620"/>
                </a:lnTo>
                <a:lnTo>
                  <a:pt x="44246"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11">
            <a:extLst>
              <a:ext uri="{FF2B5EF4-FFF2-40B4-BE49-F238E27FC236}">
                <a16:creationId xmlns:a16="http://schemas.microsoft.com/office/drawing/2014/main" id="{520A158B-C957-FE8A-A7B0-01F95BE9F299}"/>
              </a:ext>
            </a:extLst>
          </p:cNvPr>
          <p:cNvSpPr txBox="1"/>
          <p:nvPr/>
        </p:nvSpPr>
        <p:spPr>
          <a:xfrm>
            <a:off x="699928" y="1828561"/>
            <a:ext cx="7666355" cy="3279775"/>
          </a:xfrm>
          <a:prstGeom prst="rect">
            <a:avLst/>
          </a:prstGeom>
        </p:spPr>
        <p:txBody>
          <a:bodyPr vert="horz" wrap="square" lIns="0" tIns="12700" rIns="0" bIns="0" rtlCol="0">
            <a:spAutoFit/>
          </a:bodyPr>
          <a:lstStyle/>
          <a:p>
            <a:pPr marL="508000" marR="55880" indent="-457200" rtl="0">
              <a:lnSpc>
                <a:spcPct val="117000"/>
              </a:lnSpc>
              <a:spcBef>
                <a:spcPts val="100"/>
              </a:spcBef>
              <a:buFontTx/>
              <a:buAutoNum type="arabicPeriod"/>
              <a:tabLst>
                <a:tab pos="507365" algn="l"/>
                <a:tab pos="508000" algn="l"/>
                <a:tab pos="2347595" algn="l"/>
              </a:tabLst>
            </a:pPr>
            <a:r>
              <a:rPr sz="2000" kern="1200" spc="-5" dirty="0">
                <a:solidFill>
                  <a:prstClr val="black"/>
                </a:solidFill>
                <a:latin typeface="Palatino Linotype"/>
                <a:cs typeface="Palatino Linotype"/>
              </a:rPr>
              <a:t>Construct</a:t>
            </a:r>
            <a:r>
              <a:rPr sz="2000" kern="1200" spc="-10" dirty="0">
                <a:solidFill>
                  <a:prstClr val="black"/>
                </a:solidFill>
                <a:latin typeface="Palatino Linotype"/>
                <a:cs typeface="Palatino Linotype"/>
              </a:rPr>
              <a:t> </a:t>
            </a:r>
            <a:r>
              <a:rPr sz="2000" kern="1200" spc="140" dirty="0">
                <a:solidFill>
                  <a:prstClr val="black"/>
                </a:solidFill>
                <a:latin typeface="Cambria Math"/>
                <a:cs typeface="Cambria Math"/>
              </a:rPr>
              <a:t>𝐶</a:t>
            </a:r>
            <a:r>
              <a:rPr sz="2250" kern="1200" spc="209" baseline="25925" dirty="0">
                <a:solidFill>
                  <a:prstClr val="black"/>
                </a:solidFill>
                <a:latin typeface="Cambria Math"/>
                <a:cs typeface="Cambria Math"/>
              </a:rPr>
              <a:t>'</a:t>
            </a:r>
            <a:r>
              <a:rPr sz="2250" kern="1200" spc="442" baseline="25925" dirty="0">
                <a:solidFill>
                  <a:prstClr val="black"/>
                </a:solidFill>
                <a:latin typeface="Cambria Math"/>
                <a:cs typeface="Cambria Math"/>
              </a:rPr>
              <a:t> </a:t>
            </a:r>
            <a:r>
              <a:rPr sz="2000" kern="1200" dirty="0">
                <a:solidFill>
                  <a:prstClr val="black"/>
                </a:solidFill>
                <a:latin typeface="Cambria Math"/>
                <a:cs typeface="Cambria Math"/>
              </a:rPr>
              <a:t>=	</a:t>
            </a:r>
            <a:r>
              <a:rPr sz="2000" kern="1200" spc="-5" dirty="0">
                <a:solidFill>
                  <a:prstClr val="black"/>
                </a:solidFill>
                <a:latin typeface="Cambria Math"/>
                <a:cs typeface="Cambria Math"/>
              </a:rPr>
              <a:t>𝐼</a:t>
            </a:r>
            <a:r>
              <a:rPr lang="en-US" sz="2250" kern="1200" spc="-7" baseline="-14814" dirty="0">
                <a:solidFill>
                  <a:prstClr val="black"/>
                </a:solidFill>
                <a:latin typeface="Cambria Math"/>
                <a:cs typeface="Cambria Math"/>
              </a:rPr>
              <a:t>0</a:t>
            </a:r>
            <a:r>
              <a:rPr sz="2000" kern="1200" spc="-5"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20" dirty="0">
                <a:solidFill>
                  <a:prstClr val="black"/>
                </a:solidFill>
                <a:latin typeface="Cambria Math"/>
                <a:cs typeface="Cambria Math"/>
              </a:rPr>
              <a:t>𝐼</a:t>
            </a:r>
            <a:r>
              <a:rPr sz="2250" kern="1200" spc="-30" baseline="-14814" dirty="0">
                <a:solidFill>
                  <a:prstClr val="black"/>
                </a:solidFill>
                <a:latin typeface="Cambria Math"/>
                <a:cs typeface="Cambria Math"/>
              </a:rPr>
              <a:t>1</a:t>
            </a:r>
            <a:r>
              <a:rPr sz="2000" kern="1200" spc="-2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spc="-5" dirty="0">
                <a:solidFill>
                  <a:prstClr val="black"/>
                </a:solidFill>
                <a:latin typeface="Cambria Math"/>
                <a:cs typeface="Cambria Math"/>
              </a:rPr>
              <a:t>𝐼</a:t>
            </a:r>
            <a:r>
              <a:rPr sz="2250" kern="1200" spc="-7" baseline="-14814" dirty="0">
                <a:solidFill>
                  <a:prstClr val="black"/>
                </a:solidFill>
                <a:latin typeface="Cambria Math"/>
                <a:cs typeface="Cambria Math"/>
              </a:rPr>
              <a:t>𝑛</a:t>
            </a:r>
            <a:r>
              <a:rPr sz="2250" kern="1200" spc="307" baseline="-14814" dirty="0">
                <a:solidFill>
                  <a:prstClr val="black"/>
                </a:solidFill>
                <a:latin typeface="Cambria Math"/>
                <a:cs typeface="Cambria Math"/>
              </a:rPr>
              <a:t>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collection of LR(1) </a:t>
            </a:r>
            <a:r>
              <a:rPr sz="2000" kern="1200" dirty="0">
                <a:solidFill>
                  <a:prstClr val="black"/>
                </a:solidFill>
                <a:latin typeface="Palatino Linotype"/>
                <a:cs typeface="Palatino Linotype"/>
              </a:rPr>
              <a:t>item</a:t>
            </a:r>
            <a:r>
              <a:rPr sz="2000" kern="1200" spc="-5" dirty="0">
                <a:solidFill>
                  <a:prstClr val="black"/>
                </a:solidFill>
                <a:latin typeface="Palatino Linotype"/>
                <a:cs typeface="Palatino Linotype"/>
              </a:rPr>
              <a:t> sets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for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the augmented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grammar </a:t>
            </a:r>
            <a:r>
              <a:rPr sz="2000" kern="1200" dirty="0">
                <a:solidFill>
                  <a:prstClr val="black"/>
                </a:solidFill>
                <a:latin typeface="Cambria Math"/>
                <a:cs typeface="Cambria Math"/>
              </a:rPr>
              <a:t>𝐺’</a:t>
            </a:r>
          </a:p>
          <a:p>
            <a:pPr marL="508000" marR="204470" indent="-457200" rtl="0">
              <a:lnSpc>
                <a:spcPct val="121000"/>
              </a:lnSpc>
              <a:spcBef>
                <a:spcPts val="1800"/>
              </a:spcBef>
              <a:buFontTx/>
              <a:buAutoNum type="arabicPeriod"/>
              <a:tabLst>
                <a:tab pos="507365" algn="l"/>
                <a:tab pos="508000" algn="l"/>
              </a:tabLst>
            </a:pPr>
            <a:r>
              <a:rPr sz="2000" kern="1200" spc="-5" dirty="0">
                <a:solidFill>
                  <a:prstClr val="black"/>
                </a:solidFill>
                <a:latin typeface="Palatino Linotype"/>
                <a:cs typeface="Palatino Linotype"/>
              </a:rPr>
              <a:t>State</a:t>
            </a:r>
            <a:r>
              <a:rPr sz="2000" kern="1200" dirty="0">
                <a:solidFill>
                  <a:prstClr val="black"/>
                </a:solidFill>
                <a:latin typeface="Palatino Linotype"/>
                <a:cs typeface="Palatino Linotype"/>
              </a:rPr>
              <a:t> </a:t>
            </a:r>
            <a:r>
              <a:rPr sz="2000" kern="1200" dirty="0">
                <a:solidFill>
                  <a:prstClr val="black"/>
                </a:solidFill>
                <a:latin typeface="Cambria Math"/>
                <a:cs typeface="Cambria Math"/>
              </a:rPr>
              <a:t>𝑖</a:t>
            </a:r>
            <a:r>
              <a:rPr sz="2000" kern="1200" spc="130" dirty="0">
                <a:solidFill>
                  <a:prstClr val="black"/>
                </a:solidFill>
                <a:latin typeface="Cambria Math"/>
                <a:cs typeface="Cambria Math"/>
              </a:rPr>
              <a:t> </a:t>
            </a:r>
            <a:r>
              <a:rPr sz="2000" kern="1200" spc="-5" dirty="0">
                <a:solidFill>
                  <a:prstClr val="black"/>
                </a:solidFill>
                <a:latin typeface="Palatino Linotype"/>
                <a:cs typeface="Palatino Linotype"/>
              </a:rPr>
              <a:t>of the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parser </a:t>
            </a:r>
            <a:r>
              <a:rPr sz="2000" kern="1200" dirty="0">
                <a:solidFill>
                  <a:prstClr val="black"/>
                </a:solidFill>
                <a:latin typeface="Palatino Linotype"/>
                <a:cs typeface="Palatino Linotype"/>
              </a:rPr>
              <a:t>is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constructed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from </a:t>
            </a:r>
            <a:r>
              <a:rPr sz="2000" kern="1200" spc="-200" dirty="0">
                <a:solidFill>
                  <a:prstClr val="black"/>
                </a:solidFill>
                <a:latin typeface="Cambria Math"/>
                <a:cs typeface="Cambria Math"/>
              </a:rPr>
              <a:t>𝐼</a:t>
            </a:r>
            <a:r>
              <a:rPr lang="en-US" sz="2250" kern="1200" spc="-300" baseline="-14814" dirty="0">
                <a:solidFill>
                  <a:prstClr val="black"/>
                </a:solidFill>
                <a:latin typeface="Cambria Math"/>
                <a:cs typeface="Cambria Math"/>
              </a:rPr>
              <a:t>𝑖      </a:t>
            </a:r>
            <a:r>
              <a:rPr lang="en-US" sz="2000" kern="1200" spc="-5" dirty="0">
                <a:solidFill>
                  <a:prstClr val="black"/>
                </a:solidFill>
                <a:latin typeface="Palatino Linotype"/>
                <a:cs typeface="Palatino Linotype"/>
              </a:rPr>
              <a:t>.I</a:t>
            </a:r>
            <a:r>
              <a:rPr sz="2000" kern="1200" spc="-5" dirty="0">
                <a:solidFill>
                  <a:prstClr val="black"/>
                </a:solidFill>
                <a:latin typeface="Palatino Linotype"/>
                <a:cs typeface="Palatino Linotype"/>
              </a:rPr>
              <a:t>ts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parsing</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action </a:t>
            </a:r>
            <a:r>
              <a:rPr sz="2000" kern="1200" dirty="0">
                <a:solidFill>
                  <a:prstClr val="black"/>
                </a:solidFill>
                <a:latin typeface="Palatino Linotype"/>
                <a:cs typeface="Palatino Linotype"/>
              </a:rPr>
              <a:t>is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determined </a:t>
            </a:r>
            <a:r>
              <a:rPr sz="2000" kern="1200" dirty="0">
                <a:solidFill>
                  <a:prstClr val="black"/>
                </a:solidFill>
                <a:latin typeface="Palatino Linotype"/>
                <a:cs typeface="Palatino Linotype"/>
              </a:rPr>
              <a:t>as </a:t>
            </a:r>
            <a:r>
              <a:rPr sz="2000" kern="1200" spc="-5" dirty="0">
                <a:solidFill>
                  <a:prstClr val="black"/>
                </a:solidFill>
                <a:latin typeface="Palatino Linotype"/>
                <a:cs typeface="Palatino Linotype"/>
              </a:rPr>
              <a:t>follows:</a:t>
            </a:r>
            <a:endParaRPr sz="2000" kern="1200" dirty="0">
              <a:solidFill>
                <a:prstClr val="black"/>
              </a:solidFill>
              <a:latin typeface="Palatino Linotype"/>
              <a:cs typeface="Palatino Linotype"/>
            </a:endParaRPr>
          </a:p>
          <a:p>
            <a:pPr marL="736600" marR="60325" lvl="1" indent="-228600" rtl="0">
              <a:lnSpc>
                <a:spcPct val="120000"/>
              </a:lnSpc>
              <a:spcBef>
                <a:spcPts val="805"/>
              </a:spcBef>
              <a:buFont typeface="Wingdings"/>
              <a:buChar char=""/>
              <a:tabLst>
                <a:tab pos="735965" algn="l"/>
                <a:tab pos="736600" algn="l"/>
                <a:tab pos="4293870" algn="l"/>
              </a:tabLst>
            </a:pP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f </a:t>
            </a:r>
            <a:r>
              <a:rPr sz="1600" kern="1200" dirty="0">
                <a:solidFill>
                  <a:prstClr val="black"/>
                </a:solidFill>
                <a:latin typeface="Cambria Math"/>
                <a:cs typeface="Cambria Math"/>
              </a:rPr>
              <a:t>𝐴</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𝛼</a:t>
            </a:r>
            <a:r>
              <a:rPr lang="en-US" altLang="zh-CN" sz="1600" kern="1200" spc="50" dirty="0">
                <a:solidFill>
                  <a:prstClr val="black"/>
                </a:solidFill>
                <a:latin typeface="Cambria Math"/>
                <a:cs typeface="Cambria Math"/>
              </a:rPr>
              <a:t>· </a:t>
            </a:r>
            <a:r>
              <a:rPr sz="1600" kern="1200" spc="-5" dirty="0">
                <a:solidFill>
                  <a:prstClr val="black"/>
                </a:solidFill>
                <a:latin typeface="Cambria Math"/>
                <a:cs typeface="Cambria Math"/>
              </a:rPr>
              <a:t>𝑎</a:t>
            </a:r>
            <a:r>
              <a:rPr sz="1600" kern="1200" spc="50" dirty="0">
                <a:solidFill>
                  <a:prstClr val="black"/>
                </a:solidFill>
                <a:latin typeface="Cambria Math"/>
                <a:cs typeface="Cambria Math"/>
              </a:rPr>
              <a:t>𝛽</a:t>
            </a:r>
            <a:r>
              <a:rPr sz="1600" kern="120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𝑏  </a:t>
            </a:r>
            <a:r>
              <a:rPr lang="en-US" sz="1600" kern="1200" spc="-65" dirty="0">
                <a:solidFill>
                  <a:prstClr val="black"/>
                </a:solidFill>
                <a:latin typeface="Cambria Math"/>
                <a:cs typeface="Cambria Math"/>
              </a:rPr>
              <a:t>    </a:t>
            </a: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s</a:t>
            </a:r>
            <a:r>
              <a:rPr sz="1600" kern="1200" spc="-5" dirty="0">
                <a:solidFill>
                  <a:prstClr val="black"/>
                </a:solidFill>
                <a:latin typeface="Palatino Linotype"/>
                <a:cs typeface="Palatino Linotype"/>
              </a:rPr>
              <a:t> i</a:t>
            </a:r>
            <a:r>
              <a:rPr sz="1600" kern="1200" dirty="0">
                <a:solidFill>
                  <a:prstClr val="black"/>
                </a:solidFill>
                <a:latin typeface="Palatino Linotype"/>
                <a:cs typeface="Palatino Linotype"/>
              </a:rPr>
              <a:t>n</a:t>
            </a:r>
            <a:r>
              <a:rPr sz="1600" kern="1200" spc="5" dirty="0">
                <a:solidFill>
                  <a:prstClr val="black"/>
                </a:solidFill>
                <a:latin typeface="Palatino Linotype"/>
                <a:cs typeface="Palatino Linotype"/>
              </a:rPr>
              <a:t> </a:t>
            </a:r>
            <a:r>
              <a:rPr sz="1600" kern="1200" spc="-90" dirty="0">
                <a:solidFill>
                  <a:prstClr val="black"/>
                </a:solidFill>
                <a:latin typeface="Cambria Math"/>
                <a:cs typeface="Cambria Math"/>
              </a:rPr>
              <a:t>𝐼</a:t>
            </a:r>
            <a:r>
              <a:rPr kern="1200" spc="127" baseline="-16203" dirty="0">
                <a:solidFill>
                  <a:prstClr val="black"/>
                </a:solidFill>
                <a:latin typeface="Cambria Math"/>
                <a:cs typeface="Cambria Math"/>
              </a:rPr>
              <a:t>i</a:t>
            </a:r>
            <a:r>
              <a:rPr kern="1200" baseline="-16203" dirty="0">
                <a:solidFill>
                  <a:prstClr val="black"/>
                </a:solidFill>
                <a:latin typeface="Cambria Math"/>
                <a:cs typeface="Cambria Math"/>
              </a:rPr>
              <a:t> </a:t>
            </a:r>
            <a:r>
              <a:rPr kern="1200" spc="-52" baseline="-16203" dirty="0">
                <a:solidFill>
                  <a:prstClr val="black"/>
                </a:solidFill>
                <a:latin typeface="Cambria Math"/>
                <a:cs typeface="Cambria Math"/>
              </a:rPr>
              <a:t> </a:t>
            </a:r>
            <a:r>
              <a:rPr sz="1600" kern="1200" dirty="0">
                <a:solidFill>
                  <a:prstClr val="black"/>
                </a:solidFill>
                <a:latin typeface="Palatino Linotype"/>
                <a:cs typeface="Palatino Linotype"/>
              </a:rPr>
              <a:t>a</a:t>
            </a:r>
            <a:r>
              <a:rPr sz="1600" kern="1200" spc="5" dirty="0">
                <a:solidFill>
                  <a:prstClr val="black"/>
                </a:solidFill>
                <a:latin typeface="Palatino Linotype"/>
                <a:cs typeface="Palatino Linotype"/>
              </a:rPr>
              <a:t>n</a:t>
            </a:r>
            <a:r>
              <a:rPr sz="1600" kern="1200" dirty="0">
                <a:solidFill>
                  <a:prstClr val="black"/>
                </a:solidFill>
                <a:latin typeface="Palatino Linotype"/>
                <a:cs typeface="Palatino Linotype"/>
              </a:rPr>
              <a:t>d</a:t>
            </a:r>
            <a:r>
              <a:rPr sz="1600" kern="1200" spc="-5" dirty="0">
                <a:solidFill>
                  <a:prstClr val="black"/>
                </a:solidFill>
                <a:latin typeface="Palatino Linotype"/>
                <a:cs typeface="Palatino Linotype"/>
              </a:rPr>
              <a:t> </a:t>
            </a:r>
            <a:r>
              <a:rPr sz="1600" kern="1200" spc="-5" dirty="0">
                <a:solidFill>
                  <a:prstClr val="black"/>
                </a:solidFill>
                <a:latin typeface="Cambria Math"/>
                <a:cs typeface="Cambria Math"/>
              </a:rPr>
              <a:t>G</a:t>
            </a:r>
            <a:r>
              <a:rPr sz="1600" kern="1200" spc="-20" dirty="0">
                <a:solidFill>
                  <a:prstClr val="black"/>
                </a:solidFill>
                <a:latin typeface="Cambria Math"/>
                <a:cs typeface="Cambria Math"/>
              </a:rPr>
              <a:t>O</a:t>
            </a:r>
            <a:r>
              <a:rPr sz="1600" kern="1200" spc="-25" dirty="0">
                <a:solidFill>
                  <a:prstClr val="black"/>
                </a:solidFill>
                <a:latin typeface="Cambria Math"/>
                <a:cs typeface="Cambria Math"/>
              </a:rPr>
              <a:t>T</a:t>
            </a:r>
            <a:r>
              <a:rPr sz="1600" kern="1200" dirty="0">
                <a:solidFill>
                  <a:prstClr val="black"/>
                </a:solidFill>
                <a:latin typeface="Cambria Math"/>
                <a:cs typeface="Cambria Math"/>
              </a:rPr>
              <a:t>O </a:t>
            </a:r>
            <a:r>
              <a:rPr sz="1600" kern="1200" spc="-40" dirty="0">
                <a:solidFill>
                  <a:prstClr val="black"/>
                </a:solidFill>
                <a:latin typeface="Cambria Math"/>
                <a:cs typeface="Cambria Math"/>
              </a:rPr>
              <a:t> </a:t>
            </a:r>
            <a:r>
              <a:rPr sz="1600" kern="1200" spc="-90" dirty="0">
                <a:solidFill>
                  <a:prstClr val="black"/>
                </a:solidFill>
                <a:latin typeface="Cambria Math"/>
                <a:cs typeface="Cambria Math"/>
              </a:rPr>
              <a:t>𝐼</a:t>
            </a:r>
            <a:r>
              <a:rPr kern="1200" spc="270" baseline="-16203" dirty="0">
                <a:solidFill>
                  <a:prstClr val="black"/>
                </a:solidFill>
                <a:latin typeface="Cambria Math"/>
                <a:cs typeface="Cambria Math"/>
              </a:rPr>
              <a:t>i</a:t>
            </a:r>
            <a:r>
              <a:rPr sz="1600" kern="120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𝑎	=</a:t>
            </a:r>
            <a:r>
              <a:rPr sz="1600" kern="1200" spc="95" dirty="0">
                <a:solidFill>
                  <a:prstClr val="black"/>
                </a:solidFill>
                <a:latin typeface="Cambria Math"/>
                <a:cs typeface="Cambria Math"/>
              </a:rPr>
              <a:t> </a:t>
            </a:r>
            <a:r>
              <a:rPr sz="1600" kern="1200" spc="-229" dirty="0">
                <a:solidFill>
                  <a:prstClr val="black"/>
                </a:solidFill>
                <a:latin typeface="Cambria Math"/>
                <a:cs typeface="Cambria Math"/>
              </a:rPr>
              <a:t>𝐼</a:t>
            </a:r>
            <a:r>
              <a:rPr lang="en-US" sz="1600" kern="1200" spc="209" baseline="-16203" dirty="0">
                <a:solidFill>
                  <a:prstClr val="black"/>
                </a:solidFill>
                <a:latin typeface="Cambria Math"/>
                <a:cs typeface="Cambria Math"/>
              </a:rPr>
              <a:t>j</a:t>
            </a:r>
            <a:r>
              <a:rPr sz="1600" kern="1200" dirty="0">
                <a:solidFill>
                  <a:prstClr val="black"/>
                </a:solidFill>
                <a:latin typeface="Palatino Linotype"/>
                <a:cs typeface="Palatino Linotype"/>
              </a:rPr>
              <a:t>, t</a:t>
            </a:r>
            <a:r>
              <a:rPr sz="1600" kern="1200" spc="5" dirty="0">
                <a:solidFill>
                  <a:prstClr val="black"/>
                </a:solidFill>
                <a:latin typeface="Palatino Linotype"/>
                <a:cs typeface="Palatino Linotype"/>
              </a:rPr>
              <a:t>h</a:t>
            </a:r>
            <a:r>
              <a:rPr sz="1600" kern="1200" spc="-5" dirty="0">
                <a:solidFill>
                  <a:prstClr val="black"/>
                </a:solidFill>
                <a:latin typeface="Palatino Linotype"/>
                <a:cs typeface="Palatino Linotype"/>
              </a:rPr>
              <a:t>e</a:t>
            </a:r>
            <a:r>
              <a:rPr sz="1600" kern="1200" dirty="0">
                <a:solidFill>
                  <a:prstClr val="black"/>
                </a:solidFill>
                <a:latin typeface="Palatino Linotype"/>
                <a:cs typeface="Palatino Linotype"/>
              </a:rPr>
              <a:t>n</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se</a:t>
            </a:r>
            <a:r>
              <a:rPr sz="1600" kern="1200" dirty="0">
                <a:solidFill>
                  <a:prstClr val="black"/>
                </a:solidFill>
                <a:latin typeface="Palatino Linotype"/>
                <a:cs typeface="Palatino Linotype"/>
              </a:rPr>
              <a:t>t </a:t>
            </a:r>
            <a:r>
              <a:rPr sz="1600" kern="1200" spc="-25" dirty="0">
                <a:solidFill>
                  <a:prstClr val="black"/>
                </a:solidFill>
                <a:latin typeface="Cambria Math"/>
                <a:cs typeface="Cambria Math"/>
              </a:rPr>
              <a:t>A</a:t>
            </a:r>
            <a:r>
              <a:rPr sz="1600" kern="1200" spc="-5" dirty="0">
                <a:solidFill>
                  <a:prstClr val="black"/>
                </a:solidFill>
                <a:latin typeface="Cambria Math"/>
                <a:cs typeface="Cambria Math"/>
              </a:rPr>
              <a:t>C</a:t>
            </a:r>
            <a:r>
              <a:rPr sz="1600" kern="1200" dirty="0">
                <a:solidFill>
                  <a:prstClr val="black"/>
                </a:solidFill>
                <a:latin typeface="Cambria Math"/>
                <a:cs typeface="Cambria Math"/>
              </a:rPr>
              <a:t>T</a:t>
            </a:r>
            <a:r>
              <a:rPr sz="1600" kern="1200" spc="5" dirty="0">
                <a:solidFill>
                  <a:prstClr val="black"/>
                </a:solidFill>
                <a:latin typeface="Cambria Math"/>
                <a:cs typeface="Cambria Math"/>
              </a:rPr>
              <a:t>I</a:t>
            </a:r>
            <a:r>
              <a:rPr sz="1600" kern="1200" dirty="0">
                <a:solidFill>
                  <a:prstClr val="black"/>
                </a:solidFill>
                <a:latin typeface="Cambria Math"/>
                <a:cs typeface="Cambria Math"/>
              </a:rPr>
              <a:t>O</a:t>
            </a:r>
            <a:r>
              <a:rPr sz="1600" kern="1200" spc="-5" dirty="0">
                <a:solidFill>
                  <a:prstClr val="black"/>
                </a:solidFill>
                <a:latin typeface="Cambria Math"/>
                <a:cs typeface="Cambria Math"/>
              </a:rPr>
              <a:t>N</a:t>
            </a:r>
            <a:r>
              <a:rPr sz="1600" kern="1200" dirty="0">
                <a:solidFill>
                  <a:prstClr val="black"/>
                </a:solidFill>
                <a:latin typeface="Cambria Math"/>
                <a:cs typeface="Cambria Math"/>
              </a:rPr>
              <a:t>[</a:t>
            </a:r>
            <a:r>
              <a:rPr sz="1600" kern="1200" spc="55" dirty="0">
                <a:solidFill>
                  <a:prstClr val="black"/>
                </a:solidFill>
                <a:latin typeface="Cambria Math"/>
                <a:cs typeface="Cambria Math"/>
              </a:rPr>
              <a:t>𝑖</a:t>
            </a:r>
            <a:r>
              <a:rPr sz="1600" kern="120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35" dirty="0">
                <a:solidFill>
                  <a:prstClr val="black"/>
                </a:solidFill>
                <a:latin typeface="Cambria Math"/>
                <a:cs typeface="Cambria Math"/>
              </a:rPr>
              <a:t>𝑎</a:t>
            </a:r>
            <a:r>
              <a:rPr sz="1600" kern="1200" dirty="0">
                <a:solidFill>
                  <a:prstClr val="black"/>
                </a:solidFill>
                <a:latin typeface="Cambria Math"/>
                <a:cs typeface="Cambria Math"/>
              </a:rPr>
              <a:t>]</a:t>
            </a:r>
            <a:r>
              <a:rPr sz="1600" kern="1200" spc="50" dirty="0">
                <a:solidFill>
                  <a:prstClr val="black"/>
                </a:solidFill>
                <a:latin typeface="Cambria Math"/>
                <a:cs typeface="Cambria Math"/>
              </a:rPr>
              <a:t> </a:t>
            </a:r>
            <a:r>
              <a:rPr sz="1600" kern="1200" dirty="0">
                <a:solidFill>
                  <a:prstClr val="black"/>
                </a:solidFill>
                <a:latin typeface="Palatino Linotype"/>
                <a:cs typeface="Palatino Linotype"/>
              </a:rPr>
              <a:t>to “</a:t>
            </a:r>
            <a:r>
              <a:rPr sz="1600" i="1" kern="1200" dirty="0">
                <a:solidFill>
                  <a:srgbClr val="FF0000"/>
                </a:solidFill>
                <a:latin typeface="Palatino Linotype"/>
                <a:cs typeface="Palatino Linotype"/>
              </a:rPr>
              <a:t>sh</a:t>
            </a:r>
            <a:r>
              <a:rPr sz="1600" i="1" kern="1200" spc="5" dirty="0">
                <a:solidFill>
                  <a:srgbClr val="FF0000"/>
                </a:solidFill>
                <a:latin typeface="Palatino Linotype"/>
                <a:cs typeface="Palatino Linotype"/>
              </a:rPr>
              <a:t>if</a:t>
            </a:r>
            <a:r>
              <a:rPr sz="1600" i="1" kern="1200" dirty="0">
                <a:solidFill>
                  <a:srgbClr val="FF0000"/>
                </a:solidFill>
                <a:latin typeface="Palatino Linotype"/>
                <a:cs typeface="Palatino Linotype"/>
              </a:rPr>
              <a:t>t </a:t>
            </a:r>
            <a:r>
              <a:rPr sz="1600" i="1" kern="1200" spc="5" dirty="0">
                <a:solidFill>
                  <a:srgbClr val="FF0000"/>
                </a:solidFill>
                <a:latin typeface="Palatino Linotype"/>
                <a:cs typeface="Palatino Linotype"/>
              </a:rPr>
              <a:t>j</a:t>
            </a:r>
            <a:r>
              <a:rPr sz="1600" i="1" kern="1200" dirty="0">
                <a:solidFill>
                  <a:prstClr val="black"/>
                </a:solidFill>
                <a:latin typeface="Palatino Linotype"/>
                <a:cs typeface="Palatino Linotype"/>
              </a:rPr>
              <a:t>.</a:t>
            </a:r>
            <a:r>
              <a:rPr sz="1600" kern="1200" dirty="0">
                <a:solidFill>
                  <a:prstClr val="black"/>
                </a:solidFill>
                <a:latin typeface="Palatino Linotype"/>
                <a:cs typeface="Palatino Linotype"/>
              </a:rPr>
              <a:t>”  Here,</a:t>
            </a:r>
            <a:r>
              <a:rPr sz="1600" kern="1200" spc="-5" dirty="0">
                <a:solidFill>
                  <a:prstClr val="black"/>
                </a:solidFill>
                <a:latin typeface="Palatino Linotype"/>
                <a:cs typeface="Palatino Linotype"/>
              </a:rPr>
              <a:t> </a:t>
            </a:r>
            <a:r>
              <a:rPr sz="1600" kern="1200" dirty="0">
                <a:solidFill>
                  <a:prstClr val="black"/>
                </a:solidFill>
                <a:latin typeface="Cambria Math"/>
                <a:cs typeface="Cambria Math"/>
              </a:rPr>
              <a:t>𝑎</a:t>
            </a:r>
            <a:r>
              <a:rPr sz="1600" kern="1200" spc="80" dirty="0">
                <a:solidFill>
                  <a:prstClr val="black"/>
                </a:solidFill>
                <a:latin typeface="Cambria Math"/>
                <a:cs typeface="Cambria Math"/>
              </a:rPr>
              <a:t> </a:t>
            </a:r>
            <a:r>
              <a:rPr sz="1600" kern="1200" spc="-5" dirty="0">
                <a:solidFill>
                  <a:prstClr val="black"/>
                </a:solidFill>
                <a:latin typeface="Palatino Linotype"/>
                <a:cs typeface="Palatino Linotype"/>
              </a:rPr>
              <a:t>must</a:t>
            </a:r>
            <a:r>
              <a:rPr sz="1600" kern="1200" dirty="0">
                <a:solidFill>
                  <a:prstClr val="black"/>
                </a:solidFill>
                <a:latin typeface="Palatino Linotype"/>
                <a:cs typeface="Palatino Linotype"/>
              </a:rPr>
              <a:t> be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a </a:t>
            </a:r>
            <a:r>
              <a:rPr sz="1600" kern="1200" spc="-5" dirty="0">
                <a:solidFill>
                  <a:prstClr val="black"/>
                </a:solidFill>
                <a:latin typeface="Palatino Linotype"/>
                <a:cs typeface="Palatino Linotype"/>
              </a:rPr>
              <a:t>terminal.</a:t>
            </a:r>
            <a:endParaRPr sz="1600" kern="1200" dirty="0">
              <a:solidFill>
                <a:prstClr val="black"/>
              </a:solidFill>
              <a:latin typeface="Palatino Linotype"/>
              <a:cs typeface="Palatino Linotype"/>
            </a:endParaRPr>
          </a:p>
          <a:p>
            <a:pPr marL="736600" lvl="1" indent="-228600" rtl="0">
              <a:spcBef>
                <a:spcPts val="1585"/>
              </a:spcBef>
              <a:buFont typeface="Wingdings"/>
              <a:buChar char=""/>
              <a:tabLst>
                <a:tab pos="735965" algn="l"/>
                <a:tab pos="736600" algn="l"/>
              </a:tabLst>
            </a:pP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f </a:t>
            </a:r>
            <a:r>
              <a:rPr sz="1600" kern="1200" spc="160" dirty="0">
                <a:solidFill>
                  <a:prstClr val="black"/>
                </a:solidFill>
                <a:latin typeface="Palatino Linotype"/>
                <a:cs typeface="Palatino Linotype"/>
              </a:rPr>
              <a:t> </a:t>
            </a:r>
            <a:r>
              <a:rPr sz="1600" kern="1200" dirty="0">
                <a:solidFill>
                  <a:prstClr val="black"/>
                </a:solidFill>
                <a:latin typeface="Cambria Math"/>
                <a:cs typeface="Cambria Math"/>
              </a:rPr>
              <a:t>𝐴</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𝛼</a:t>
            </a:r>
            <a:r>
              <a:rPr lang="en-US" altLang="zh-CN" sz="1600" kern="1200" spc="50" dirty="0">
                <a:solidFill>
                  <a:prstClr val="black"/>
                </a:solidFill>
                <a:latin typeface="Cambria Math"/>
                <a:cs typeface="Cambria Math"/>
              </a:rPr>
              <a:t>·, </a:t>
            </a:r>
            <a:r>
              <a:rPr sz="1600" kern="1200" dirty="0">
                <a:solidFill>
                  <a:prstClr val="black"/>
                </a:solidFill>
                <a:latin typeface="Cambria Math"/>
                <a:cs typeface="Cambria Math"/>
              </a:rPr>
              <a:t>𝑎  </a:t>
            </a:r>
            <a:r>
              <a:rPr sz="1600" kern="1200" spc="-65" dirty="0">
                <a:solidFill>
                  <a:prstClr val="black"/>
                </a:solidFill>
                <a:latin typeface="Cambria Math"/>
                <a:cs typeface="Cambria Math"/>
              </a:rPr>
              <a:t> </a:t>
            </a: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s</a:t>
            </a:r>
            <a:r>
              <a:rPr sz="1600" kern="1200" spc="-5" dirty="0">
                <a:solidFill>
                  <a:prstClr val="black"/>
                </a:solidFill>
                <a:latin typeface="Palatino Linotype"/>
                <a:cs typeface="Palatino Linotype"/>
              </a:rPr>
              <a:t> i</a:t>
            </a:r>
            <a:r>
              <a:rPr sz="1600" kern="1200" dirty="0">
                <a:solidFill>
                  <a:prstClr val="black"/>
                </a:solidFill>
                <a:latin typeface="Palatino Linotype"/>
                <a:cs typeface="Palatino Linotype"/>
              </a:rPr>
              <a:t>n</a:t>
            </a:r>
            <a:r>
              <a:rPr sz="1600" kern="1200" spc="5" dirty="0">
                <a:solidFill>
                  <a:prstClr val="black"/>
                </a:solidFill>
                <a:latin typeface="Palatino Linotype"/>
                <a:cs typeface="Palatino Linotype"/>
              </a:rPr>
              <a:t> </a:t>
            </a:r>
            <a:r>
              <a:rPr sz="1600" kern="1200" spc="-90" dirty="0">
                <a:solidFill>
                  <a:prstClr val="black"/>
                </a:solidFill>
                <a:latin typeface="Cambria Math"/>
                <a:cs typeface="Cambria Math"/>
              </a:rPr>
              <a:t>𝐼</a:t>
            </a:r>
            <a:r>
              <a:rPr kern="1200" spc="270" baseline="-13888" dirty="0">
                <a:solidFill>
                  <a:prstClr val="black"/>
                </a:solidFill>
                <a:latin typeface="Cambria Math"/>
                <a:cs typeface="Cambria Math"/>
              </a:rPr>
              <a:t>i</a:t>
            </a:r>
            <a:r>
              <a:rPr sz="1600" kern="1200" dirty="0">
                <a:solidFill>
                  <a:prstClr val="black"/>
                </a:solidFill>
                <a:latin typeface="Palatino Linotype"/>
                <a:cs typeface="Palatino Linotype"/>
              </a:rPr>
              <a:t>, </a:t>
            </a:r>
            <a:r>
              <a:rPr sz="1600" kern="1200" dirty="0">
                <a:solidFill>
                  <a:prstClr val="black"/>
                </a:solidFill>
                <a:latin typeface="Cambria Math"/>
                <a:cs typeface="Cambria Math"/>
              </a:rPr>
              <a:t>𝐴</a:t>
            </a:r>
            <a:r>
              <a:rPr sz="1600" kern="1200" spc="105" dirty="0">
                <a:solidFill>
                  <a:prstClr val="black"/>
                </a:solidFill>
                <a:latin typeface="Cambria Math"/>
                <a:cs typeface="Cambria Math"/>
              </a:rPr>
              <a:t> </a:t>
            </a:r>
            <a:r>
              <a:rPr sz="1600" kern="1200" dirty="0">
                <a:solidFill>
                  <a:prstClr val="black"/>
                </a:solidFill>
                <a:latin typeface="Cambria Math"/>
                <a:cs typeface="Cambria Math"/>
              </a:rPr>
              <a:t>≠</a:t>
            </a:r>
            <a:r>
              <a:rPr sz="1600" kern="1200" spc="95" dirty="0">
                <a:solidFill>
                  <a:prstClr val="black"/>
                </a:solidFill>
                <a:latin typeface="Cambria Math"/>
                <a:cs typeface="Cambria Math"/>
              </a:rPr>
              <a:t> </a:t>
            </a:r>
            <a:r>
              <a:rPr sz="1600" kern="1200" dirty="0">
                <a:solidFill>
                  <a:prstClr val="black"/>
                </a:solidFill>
                <a:latin typeface="Cambria Math"/>
                <a:cs typeface="Cambria Math"/>
              </a:rPr>
              <a:t>𝑆</a:t>
            </a:r>
            <a:r>
              <a:rPr sz="1600" kern="1200" spc="-5" dirty="0">
                <a:solidFill>
                  <a:prstClr val="black"/>
                </a:solidFill>
                <a:latin typeface="Cambria Math"/>
                <a:cs typeface="Cambria Math"/>
              </a:rPr>
              <a:t>′</a:t>
            </a:r>
            <a:r>
              <a:rPr sz="1600" kern="1200" dirty="0">
                <a:solidFill>
                  <a:prstClr val="black"/>
                </a:solidFill>
                <a:latin typeface="Palatino Linotype"/>
                <a:cs typeface="Palatino Linotype"/>
              </a:rPr>
              <a:t>, t</a:t>
            </a:r>
            <a:r>
              <a:rPr sz="1600" kern="1200" spc="5" dirty="0">
                <a:solidFill>
                  <a:prstClr val="black"/>
                </a:solidFill>
                <a:latin typeface="Palatino Linotype"/>
                <a:cs typeface="Palatino Linotype"/>
              </a:rPr>
              <a:t>h</a:t>
            </a:r>
            <a:r>
              <a:rPr sz="1600" kern="1200" spc="-5" dirty="0">
                <a:solidFill>
                  <a:prstClr val="black"/>
                </a:solidFill>
                <a:latin typeface="Palatino Linotype"/>
                <a:cs typeface="Palatino Linotype"/>
              </a:rPr>
              <a:t>e</a:t>
            </a:r>
            <a:r>
              <a:rPr sz="1600" kern="1200" dirty="0">
                <a:solidFill>
                  <a:prstClr val="black"/>
                </a:solidFill>
                <a:latin typeface="Palatino Linotype"/>
                <a:cs typeface="Palatino Linotype"/>
              </a:rPr>
              <a:t>n</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se</a:t>
            </a:r>
            <a:r>
              <a:rPr sz="1600" kern="1200" dirty="0">
                <a:solidFill>
                  <a:prstClr val="black"/>
                </a:solidFill>
                <a:latin typeface="Palatino Linotype"/>
                <a:cs typeface="Palatino Linotype"/>
              </a:rPr>
              <a:t>t </a:t>
            </a:r>
            <a:r>
              <a:rPr sz="1600" kern="1200" spc="-25" dirty="0">
                <a:solidFill>
                  <a:prstClr val="black"/>
                </a:solidFill>
                <a:latin typeface="Cambria Math"/>
                <a:cs typeface="Cambria Math"/>
              </a:rPr>
              <a:t>A</a:t>
            </a:r>
            <a:r>
              <a:rPr sz="1600" kern="1200" spc="-5" dirty="0">
                <a:solidFill>
                  <a:prstClr val="black"/>
                </a:solidFill>
                <a:latin typeface="Cambria Math"/>
                <a:cs typeface="Cambria Math"/>
              </a:rPr>
              <a:t>C</a:t>
            </a:r>
            <a:r>
              <a:rPr sz="1600" kern="1200" dirty="0">
                <a:solidFill>
                  <a:prstClr val="black"/>
                </a:solidFill>
                <a:latin typeface="Cambria Math"/>
                <a:cs typeface="Cambria Math"/>
              </a:rPr>
              <a:t>T</a:t>
            </a:r>
            <a:r>
              <a:rPr sz="1600" kern="1200" spc="5" dirty="0">
                <a:solidFill>
                  <a:prstClr val="black"/>
                </a:solidFill>
                <a:latin typeface="Cambria Math"/>
                <a:cs typeface="Cambria Math"/>
              </a:rPr>
              <a:t>I</a:t>
            </a:r>
            <a:r>
              <a:rPr sz="1600" kern="1200" dirty="0">
                <a:solidFill>
                  <a:prstClr val="black"/>
                </a:solidFill>
                <a:latin typeface="Cambria Math"/>
                <a:cs typeface="Cambria Math"/>
              </a:rPr>
              <a:t>O</a:t>
            </a:r>
            <a:r>
              <a:rPr sz="1600" kern="1200" spc="-5" dirty="0">
                <a:solidFill>
                  <a:prstClr val="black"/>
                </a:solidFill>
                <a:latin typeface="Cambria Math"/>
                <a:cs typeface="Cambria Math"/>
              </a:rPr>
              <a:t>N</a:t>
            </a:r>
            <a:r>
              <a:rPr sz="1600" kern="1200" dirty="0">
                <a:solidFill>
                  <a:prstClr val="black"/>
                </a:solidFill>
                <a:latin typeface="Cambria Math"/>
                <a:cs typeface="Cambria Math"/>
              </a:rPr>
              <a:t>[</a:t>
            </a:r>
            <a:r>
              <a:rPr sz="1600" kern="1200" spc="55" dirty="0">
                <a:solidFill>
                  <a:prstClr val="black"/>
                </a:solidFill>
                <a:latin typeface="Cambria Math"/>
                <a:cs typeface="Cambria Math"/>
              </a:rPr>
              <a:t>𝑖</a:t>
            </a:r>
            <a:r>
              <a:rPr sz="1600" kern="120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35" dirty="0">
                <a:solidFill>
                  <a:prstClr val="black"/>
                </a:solidFill>
                <a:latin typeface="Cambria Math"/>
                <a:cs typeface="Cambria Math"/>
              </a:rPr>
              <a:t>𝑎</a:t>
            </a:r>
            <a:r>
              <a:rPr sz="1600" kern="1200" dirty="0">
                <a:solidFill>
                  <a:prstClr val="black"/>
                </a:solidFill>
                <a:latin typeface="Cambria Math"/>
                <a:cs typeface="Cambria Math"/>
              </a:rPr>
              <a:t>]</a:t>
            </a:r>
            <a:r>
              <a:rPr sz="1600" kern="1200" spc="50" dirty="0">
                <a:solidFill>
                  <a:prstClr val="black"/>
                </a:solidFill>
                <a:latin typeface="Cambria Math"/>
                <a:cs typeface="Cambria Math"/>
              </a:rPr>
              <a:t> </a:t>
            </a:r>
            <a:r>
              <a:rPr sz="1600" kern="1200" dirty="0">
                <a:solidFill>
                  <a:prstClr val="black"/>
                </a:solidFill>
                <a:latin typeface="Palatino Linotype"/>
                <a:cs typeface="Palatino Linotype"/>
              </a:rPr>
              <a:t>to “</a:t>
            </a:r>
            <a:r>
              <a:rPr sz="1600" i="1" kern="1200" spc="-30" dirty="0">
                <a:solidFill>
                  <a:srgbClr val="FF0000"/>
                </a:solidFill>
                <a:latin typeface="Palatino Linotype"/>
                <a:cs typeface="Palatino Linotype"/>
              </a:rPr>
              <a:t>r</a:t>
            </a:r>
            <a:r>
              <a:rPr sz="1600" i="1" kern="1200" dirty="0">
                <a:solidFill>
                  <a:srgbClr val="FF0000"/>
                </a:solidFill>
                <a:latin typeface="Palatino Linotype"/>
                <a:cs typeface="Palatino Linotype"/>
              </a:rPr>
              <a:t>ed</a:t>
            </a:r>
            <a:r>
              <a:rPr sz="1600" i="1" kern="1200" spc="-5" dirty="0">
                <a:solidFill>
                  <a:srgbClr val="FF0000"/>
                </a:solidFill>
                <a:latin typeface="Palatino Linotype"/>
                <a:cs typeface="Palatino Linotype"/>
              </a:rPr>
              <a:t>uc</a:t>
            </a:r>
            <a:r>
              <a:rPr sz="1600" i="1" kern="1200" dirty="0">
                <a:solidFill>
                  <a:srgbClr val="FF0000"/>
                </a:solidFill>
                <a:latin typeface="Palatino Linotype"/>
                <a:cs typeface="Palatino Linotype"/>
              </a:rPr>
              <a:t>e </a:t>
            </a:r>
            <a:r>
              <a:rPr sz="1600" kern="1200" dirty="0">
                <a:solidFill>
                  <a:srgbClr val="FF0000"/>
                </a:solidFill>
                <a:latin typeface="Cambria Math"/>
                <a:cs typeface="Cambria Math"/>
              </a:rPr>
              <a:t>𝐴</a:t>
            </a:r>
            <a:r>
              <a:rPr sz="1600" kern="1200" spc="105" dirty="0">
                <a:solidFill>
                  <a:srgbClr val="FF0000"/>
                </a:solidFill>
                <a:latin typeface="Cambria Math"/>
                <a:cs typeface="Cambria Math"/>
              </a:rPr>
              <a:t> </a:t>
            </a:r>
            <a:r>
              <a:rPr sz="1600" kern="1200" dirty="0">
                <a:solidFill>
                  <a:srgbClr val="FF0000"/>
                </a:solidFill>
                <a:latin typeface="Cambria Math"/>
                <a:cs typeface="Cambria Math"/>
              </a:rPr>
              <a:t>→</a:t>
            </a:r>
            <a:r>
              <a:rPr sz="1600" kern="1200" spc="85" dirty="0">
                <a:solidFill>
                  <a:srgbClr val="FF0000"/>
                </a:solidFill>
                <a:latin typeface="Cambria Math"/>
                <a:cs typeface="Cambria Math"/>
              </a:rPr>
              <a:t> </a:t>
            </a:r>
            <a:r>
              <a:rPr sz="1600" kern="1200" spc="50" dirty="0">
                <a:solidFill>
                  <a:srgbClr val="FF0000"/>
                </a:solidFill>
                <a:latin typeface="Cambria Math"/>
                <a:cs typeface="Cambria Math"/>
              </a:rPr>
              <a:t>𝛼</a:t>
            </a:r>
            <a:r>
              <a:rPr sz="1600" kern="1200" dirty="0">
                <a:solidFill>
                  <a:prstClr val="black"/>
                </a:solidFill>
                <a:latin typeface="Palatino Linotype"/>
                <a:cs typeface="Palatino Linotype"/>
              </a:rPr>
              <a:t>”</a:t>
            </a:r>
          </a:p>
          <a:p>
            <a:pPr marL="736600" lvl="1" indent="-228600" rtl="0">
              <a:spcBef>
                <a:spcPts val="1560"/>
              </a:spcBef>
              <a:buFont typeface="Wingdings"/>
              <a:buChar char=""/>
              <a:tabLst>
                <a:tab pos="735965" algn="l"/>
                <a:tab pos="736600" algn="l"/>
              </a:tabLst>
            </a:pP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f </a:t>
            </a:r>
            <a:r>
              <a:rPr sz="1600" kern="1200" spc="160" dirty="0">
                <a:solidFill>
                  <a:prstClr val="black"/>
                </a:solidFill>
                <a:latin typeface="Palatino Linotype"/>
                <a:cs typeface="Palatino Linotype"/>
              </a:rPr>
              <a:t> </a:t>
            </a:r>
            <a:r>
              <a:rPr sz="1600" kern="1200" dirty="0">
                <a:solidFill>
                  <a:prstClr val="black"/>
                </a:solidFill>
                <a:latin typeface="Cambria Math"/>
                <a:cs typeface="Cambria Math"/>
              </a:rPr>
              <a:t>𝑆′</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dirty="0">
                <a:solidFill>
                  <a:prstClr val="black"/>
                </a:solidFill>
                <a:latin typeface="Cambria Math"/>
                <a:cs typeface="Cambria Math"/>
              </a:rPr>
              <a:t>𝑆</a:t>
            </a:r>
            <a:r>
              <a:rPr lang="en-US" altLang="zh-CN" sz="1600" kern="1200" spc="35" dirty="0">
                <a:solidFill>
                  <a:prstClr val="black"/>
                </a:solidFill>
                <a:latin typeface="Cambria Math"/>
                <a:cs typeface="Cambria Math"/>
              </a:rPr>
              <a:t>·, </a:t>
            </a:r>
            <a:r>
              <a:rPr sz="1600" kern="1200" dirty="0">
                <a:solidFill>
                  <a:prstClr val="black"/>
                </a:solidFill>
                <a:latin typeface="Cambria Math"/>
                <a:cs typeface="Cambria Math"/>
              </a:rPr>
              <a:t>$  </a:t>
            </a:r>
            <a:r>
              <a:rPr sz="1600" kern="1200" spc="-95" dirty="0">
                <a:solidFill>
                  <a:prstClr val="black"/>
                </a:solidFill>
                <a:latin typeface="Cambria Math"/>
                <a:cs typeface="Cambria Math"/>
              </a:rPr>
              <a:t> </a:t>
            </a: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s</a:t>
            </a:r>
            <a:r>
              <a:rPr sz="1600" kern="1200" spc="-5" dirty="0">
                <a:solidFill>
                  <a:prstClr val="black"/>
                </a:solidFill>
                <a:latin typeface="Palatino Linotype"/>
                <a:cs typeface="Palatino Linotype"/>
              </a:rPr>
              <a:t> i</a:t>
            </a:r>
            <a:r>
              <a:rPr sz="1600" kern="1200" dirty="0">
                <a:solidFill>
                  <a:prstClr val="black"/>
                </a:solidFill>
                <a:latin typeface="Palatino Linotype"/>
                <a:cs typeface="Palatino Linotype"/>
              </a:rPr>
              <a:t>n</a:t>
            </a:r>
            <a:r>
              <a:rPr sz="1600" kern="1200" spc="5" dirty="0">
                <a:solidFill>
                  <a:prstClr val="black"/>
                </a:solidFill>
                <a:latin typeface="Palatino Linotype"/>
                <a:cs typeface="Palatino Linotype"/>
              </a:rPr>
              <a:t> </a:t>
            </a:r>
            <a:r>
              <a:rPr sz="1600" kern="1200" spc="-90" dirty="0">
                <a:solidFill>
                  <a:prstClr val="black"/>
                </a:solidFill>
                <a:latin typeface="Cambria Math"/>
                <a:cs typeface="Cambria Math"/>
              </a:rPr>
              <a:t>𝐼</a:t>
            </a:r>
            <a:r>
              <a:rPr kern="1200" spc="270" baseline="-16203" dirty="0">
                <a:solidFill>
                  <a:prstClr val="black"/>
                </a:solidFill>
                <a:latin typeface="Cambria Math"/>
                <a:cs typeface="Cambria Math"/>
              </a:rPr>
              <a:t>i</a:t>
            </a:r>
            <a:r>
              <a:rPr sz="1600" kern="1200" dirty="0">
                <a:solidFill>
                  <a:prstClr val="black"/>
                </a:solidFill>
                <a:latin typeface="Palatino Linotype"/>
                <a:cs typeface="Palatino Linotype"/>
              </a:rPr>
              <a:t>, t</a:t>
            </a:r>
            <a:r>
              <a:rPr sz="1600" kern="1200" spc="5" dirty="0">
                <a:solidFill>
                  <a:prstClr val="black"/>
                </a:solidFill>
                <a:latin typeface="Palatino Linotype"/>
                <a:cs typeface="Palatino Linotype"/>
              </a:rPr>
              <a:t>h</a:t>
            </a:r>
            <a:r>
              <a:rPr sz="1600" kern="1200" spc="-5" dirty="0">
                <a:solidFill>
                  <a:prstClr val="black"/>
                </a:solidFill>
                <a:latin typeface="Palatino Linotype"/>
                <a:cs typeface="Palatino Linotype"/>
              </a:rPr>
              <a:t>e</a:t>
            </a:r>
            <a:r>
              <a:rPr sz="1600" kern="1200" dirty="0">
                <a:solidFill>
                  <a:prstClr val="black"/>
                </a:solidFill>
                <a:latin typeface="Palatino Linotype"/>
                <a:cs typeface="Palatino Linotype"/>
              </a:rPr>
              <a:t>n</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se</a:t>
            </a:r>
            <a:r>
              <a:rPr sz="1600" kern="1200" dirty="0">
                <a:solidFill>
                  <a:prstClr val="black"/>
                </a:solidFill>
                <a:latin typeface="Palatino Linotype"/>
                <a:cs typeface="Palatino Linotype"/>
              </a:rPr>
              <a:t>t </a:t>
            </a:r>
            <a:r>
              <a:rPr sz="1600" kern="1200" spc="-25" dirty="0">
                <a:solidFill>
                  <a:prstClr val="black"/>
                </a:solidFill>
                <a:latin typeface="Cambria Math"/>
                <a:cs typeface="Cambria Math"/>
              </a:rPr>
              <a:t>A</a:t>
            </a:r>
            <a:r>
              <a:rPr sz="1600" kern="1200" spc="-5" dirty="0">
                <a:solidFill>
                  <a:prstClr val="black"/>
                </a:solidFill>
                <a:latin typeface="Cambria Math"/>
                <a:cs typeface="Cambria Math"/>
              </a:rPr>
              <a:t>C</a:t>
            </a:r>
            <a:r>
              <a:rPr sz="1600" kern="1200" dirty="0">
                <a:solidFill>
                  <a:prstClr val="black"/>
                </a:solidFill>
                <a:latin typeface="Cambria Math"/>
                <a:cs typeface="Cambria Math"/>
              </a:rPr>
              <a:t>T</a:t>
            </a:r>
            <a:r>
              <a:rPr sz="1600" kern="1200" spc="5" dirty="0">
                <a:solidFill>
                  <a:prstClr val="black"/>
                </a:solidFill>
                <a:latin typeface="Cambria Math"/>
                <a:cs typeface="Cambria Math"/>
              </a:rPr>
              <a:t>I</a:t>
            </a:r>
            <a:r>
              <a:rPr sz="1600" kern="1200" dirty="0">
                <a:solidFill>
                  <a:prstClr val="black"/>
                </a:solidFill>
                <a:latin typeface="Cambria Math"/>
                <a:cs typeface="Cambria Math"/>
              </a:rPr>
              <a:t>O</a:t>
            </a:r>
            <a:r>
              <a:rPr sz="1600" kern="1200" spc="-5" dirty="0">
                <a:solidFill>
                  <a:prstClr val="black"/>
                </a:solidFill>
                <a:latin typeface="Cambria Math"/>
                <a:cs typeface="Cambria Math"/>
              </a:rPr>
              <a:t>N</a:t>
            </a:r>
            <a:r>
              <a:rPr sz="1600" kern="1200" dirty="0">
                <a:solidFill>
                  <a:prstClr val="black"/>
                </a:solidFill>
                <a:latin typeface="Cambria Math"/>
                <a:cs typeface="Cambria Math"/>
              </a:rPr>
              <a:t>[</a:t>
            </a:r>
            <a:r>
              <a:rPr sz="1600" kern="1200" spc="55" dirty="0">
                <a:solidFill>
                  <a:prstClr val="black"/>
                </a:solidFill>
                <a:latin typeface="Cambria Math"/>
                <a:cs typeface="Cambria Math"/>
              </a:rPr>
              <a:t>𝑖</a:t>
            </a:r>
            <a:r>
              <a:rPr sz="1600" kern="1200"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0" dirty="0">
                <a:solidFill>
                  <a:prstClr val="black"/>
                </a:solidFill>
                <a:latin typeface="Cambria Math"/>
                <a:cs typeface="Cambria Math"/>
              </a:rPr>
              <a:t> </a:t>
            </a:r>
            <a:r>
              <a:rPr sz="1600" kern="1200" dirty="0">
                <a:solidFill>
                  <a:prstClr val="black"/>
                </a:solidFill>
                <a:latin typeface="Palatino Linotype"/>
                <a:cs typeface="Palatino Linotype"/>
              </a:rPr>
              <a:t>to “</a:t>
            </a:r>
            <a:r>
              <a:rPr sz="1600" i="1" kern="1200" dirty="0">
                <a:solidFill>
                  <a:srgbClr val="FF0000"/>
                </a:solidFill>
                <a:latin typeface="Palatino Linotype"/>
                <a:cs typeface="Palatino Linotype"/>
              </a:rPr>
              <a:t>a</a:t>
            </a:r>
            <a:r>
              <a:rPr sz="1600" i="1" kern="1200" spc="-5" dirty="0">
                <a:solidFill>
                  <a:srgbClr val="FF0000"/>
                </a:solidFill>
                <a:latin typeface="Palatino Linotype"/>
                <a:cs typeface="Palatino Linotype"/>
              </a:rPr>
              <a:t>cc</a:t>
            </a:r>
            <a:r>
              <a:rPr sz="1600" i="1" kern="1200" dirty="0">
                <a:solidFill>
                  <a:srgbClr val="FF0000"/>
                </a:solidFill>
                <a:latin typeface="Palatino Linotype"/>
                <a:cs typeface="Palatino Linotype"/>
              </a:rPr>
              <a:t>ept</a:t>
            </a:r>
            <a:r>
              <a:rPr sz="1600" kern="1200" dirty="0">
                <a:solidFill>
                  <a:prstClr val="black"/>
                </a:solidFill>
                <a:latin typeface="Palatino Linotype"/>
                <a:cs typeface="Palatino Linotype"/>
              </a:rPr>
              <a:t>”</a:t>
            </a:r>
          </a:p>
        </p:txBody>
      </p:sp>
      <p:sp>
        <p:nvSpPr>
          <p:cNvPr id="33" name="object 12">
            <a:extLst>
              <a:ext uri="{FF2B5EF4-FFF2-40B4-BE49-F238E27FC236}">
                <a16:creationId xmlns:a16="http://schemas.microsoft.com/office/drawing/2014/main" id="{A3F5FB55-E138-7D55-46FB-658B76481270}"/>
              </a:ext>
            </a:extLst>
          </p:cNvPr>
          <p:cNvSpPr txBox="1"/>
          <p:nvPr/>
        </p:nvSpPr>
        <p:spPr>
          <a:xfrm>
            <a:off x="628650" y="5547876"/>
            <a:ext cx="7886700" cy="368935"/>
          </a:xfrm>
          <a:prstGeom prst="rect">
            <a:avLst/>
          </a:prstGeom>
          <a:solidFill>
            <a:srgbClr val="FFF2CC"/>
          </a:solidFill>
          <a:ln w="9525">
            <a:solidFill>
              <a:srgbClr val="000000"/>
            </a:solidFill>
          </a:ln>
        </p:spPr>
        <p:txBody>
          <a:bodyPr vert="horz" wrap="square" lIns="0" tIns="58419" rIns="0" bIns="0" rtlCol="0">
            <a:spAutoFit/>
          </a:bodyPr>
          <a:lstStyle/>
          <a:p>
            <a:pPr marL="91440" rtl="0">
              <a:spcBef>
                <a:spcPts val="459"/>
              </a:spcBef>
            </a:pPr>
            <a:r>
              <a:rPr sz="1600" kern="1200" spc="-5" dirty="0">
                <a:solidFill>
                  <a:prstClr val="black"/>
                </a:solidFill>
                <a:latin typeface="Palatino Linotype"/>
                <a:cs typeface="Palatino Linotype"/>
              </a:rPr>
              <a:t>If</a:t>
            </a:r>
            <a:r>
              <a:rPr sz="1600" kern="1200" dirty="0">
                <a:solidFill>
                  <a:prstClr val="black"/>
                </a:solidFill>
                <a:latin typeface="Palatino Linotype"/>
                <a:cs typeface="Palatino Linotype"/>
              </a:rPr>
              <a:t> any </a:t>
            </a:r>
            <a:r>
              <a:rPr sz="1600" kern="1200" spc="-5" dirty="0">
                <a:solidFill>
                  <a:srgbClr val="FF0000"/>
                </a:solidFill>
                <a:latin typeface="Palatino Linotype"/>
                <a:cs typeface="Palatino Linotype"/>
              </a:rPr>
              <a:t>conflicting</a:t>
            </a:r>
            <a:r>
              <a:rPr sz="1600" kern="1200" dirty="0">
                <a:solidFill>
                  <a:srgbClr val="FF0000"/>
                </a:solidFill>
                <a:latin typeface="Palatino Linotype"/>
                <a:cs typeface="Palatino Linotype"/>
              </a:rPr>
              <a:t> actions </a:t>
            </a:r>
            <a:r>
              <a:rPr sz="1600" kern="1200" spc="-5" dirty="0">
                <a:solidFill>
                  <a:prstClr val="black"/>
                </a:solidFill>
                <a:latin typeface="Palatino Linotype"/>
                <a:cs typeface="Palatino Linotype"/>
              </a:rPr>
              <a:t>result</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from</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 </a:t>
            </a:r>
            <a:r>
              <a:rPr sz="1600" kern="1200" spc="-10" dirty="0">
                <a:solidFill>
                  <a:prstClr val="black"/>
                </a:solidFill>
                <a:latin typeface="Palatino Linotype"/>
                <a:cs typeface="Palatino Linotype"/>
              </a:rPr>
              <a:t>above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rules,</a:t>
            </a:r>
            <a:r>
              <a:rPr sz="1600" kern="1200" spc="5" dirty="0">
                <a:solidFill>
                  <a:prstClr val="black"/>
                </a:solidFill>
                <a:latin typeface="Palatino Linotype"/>
                <a:cs typeface="Palatino Linotype"/>
              </a:rPr>
              <a:t> </a:t>
            </a:r>
            <a:r>
              <a:rPr sz="1600" kern="1200" spc="-15" dirty="0">
                <a:solidFill>
                  <a:prstClr val="black"/>
                </a:solidFill>
                <a:latin typeface="Palatino Linotype"/>
                <a:cs typeface="Palatino Linotype"/>
              </a:rPr>
              <a:t>we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say</a:t>
            </a:r>
            <a:r>
              <a:rPr sz="1600" kern="1200" dirty="0">
                <a:solidFill>
                  <a:prstClr val="black"/>
                </a:solidFill>
                <a:latin typeface="Palatino Linotype"/>
                <a:cs typeface="Palatino Linotype"/>
              </a:rPr>
              <a:t> the </a:t>
            </a:r>
            <a:r>
              <a:rPr sz="1600" kern="1200" spc="-5" dirty="0">
                <a:solidFill>
                  <a:prstClr val="black"/>
                </a:solidFill>
                <a:latin typeface="Palatino Linotype"/>
                <a:cs typeface="Palatino Linotype"/>
              </a:rPr>
              <a:t>grammar</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is</a:t>
            </a:r>
            <a:r>
              <a:rPr sz="1600" kern="1200" dirty="0">
                <a:solidFill>
                  <a:prstClr val="black"/>
                </a:solidFill>
                <a:latin typeface="Palatino Linotype"/>
                <a:cs typeface="Palatino Linotype"/>
              </a:rPr>
              <a:t> </a:t>
            </a:r>
            <a:r>
              <a:rPr sz="1600" kern="1200" dirty="0">
                <a:solidFill>
                  <a:srgbClr val="FF0000"/>
                </a:solidFill>
                <a:latin typeface="Palatino Linotype"/>
                <a:cs typeface="Palatino Linotype"/>
              </a:rPr>
              <a:t>not</a:t>
            </a:r>
            <a:r>
              <a:rPr sz="1600" kern="1200" spc="5" dirty="0">
                <a:solidFill>
                  <a:srgbClr val="FF0000"/>
                </a:solidFill>
                <a:latin typeface="Palatino Linotype"/>
                <a:cs typeface="Palatino Linotype"/>
              </a:rPr>
              <a:t> </a:t>
            </a:r>
            <a:r>
              <a:rPr sz="1600" kern="1200" dirty="0">
                <a:solidFill>
                  <a:srgbClr val="FF0000"/>
                </a:solidFill>
                <a:latin typeface="Palatino Linotype"/>
                <a:cs typeface="Palatino Linotype"/>
              </a:rPr>
              <a:t>LR(1)</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42673610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142</a:t>
            </a:fld>
            <a:endParaRPr lang="en-US"/>
          </a:p>
        </p:txBody>
      </p:sp>
      <p:sp>
        <p:nvSpPr>
          <p:cNvPr id="9" name="object 2">
            <a:extLst>
              <a:ext uri="{FF2B5EF4-FFF2-40B4-BE49-F238E27FC236}">
                <a16:creationId xmlns:a16="http://schemas.microsoft.com/office/drawing/2014/main" id="{F03371D0-67A6-1F43-F1C0-DA51615DEF4F}"/>
              </a:ext>
            </a:extLst>
          </p:cNvPr>
          <p:cNvSpPr txBox="1">
            <a:spLocks/>
          </p:cNvSpPr>
          <p:nvPr/>
        </p:nvSpPr>
        <p:spPr>
          <a:xfrm>
            <a:off x="777716" y="184403"/>
            <a:ext cx="7588567" cy="1293495"/>
          </a:xfrm>
          <a:prstGeom prst="rect">
            <a:avLst/>
          </a:prstGeom>
        </p:spPr>
        <p:txBody>
          <a:bodyPr vert="horz" wrap="square" lIns="0" tIns="93980" rIns="0" bIns="0" rtlCol="0">
            <a:spAutoFit/>
          </a:bodyPr>
          <a:lstStyle>
            <a:lvl1pPr>
              <a:defRPr sz="4000" b="1" i="0">
                <a:solidFill>
                  <a:schemeClr val="tx1"/>
                </a:solidFill>
                <a:latin typeface="Palatino Linotype"/>
                <a:ea typeface="+mj-ea"/>
                <a:cs typeface="Palatino Linotype"/>
              </a:defRPr>
            </a:lvl1pPr>
          </a:lstStyle>
          <a:p>
            <a:pPr marL="1538605" marR="5080" lvl="0" indent="-1525905" defTabSz="914400" eaLnBrk="1" fontAlgn="auto" latinLnBrk="0" hangingPunct="1">
              <a:lnSpc>
                <a:spcPts val="4700"/>
              </a:lnSpc>
              <a:spcBef>
                <a:spcPts val="740"/>
              </a:spcBef>
              <a:spcAft>
                <a:spcPts val="0"/>
              </a:spcAft>
              <a:buClrTx/>
              <a:buSzTx/>
              <a:buFontTx/>
              <a:buNone/>
              <a:tabLst/>
              <a:defRPr/>
            </a:pPr>
            <a:r>
              <a:rPr kumimoji="0" lang="en-US" sz="4400" b="1" i="0" u="none" strike="noStrike" kern="0" cap="none" spc="-5" normalizeH="0" baseline="0" noProof="0">
                <a:ln>
                  <a:noFill/>
                </a:ln>
                <a:solidFill>
                  <a:sysClr val="windowText" lastClr="000000"/>
                </a:solidFill>
                <a:effectLst/>
                <a:uLnTx/>
                <a:uFillTx/>
                <a:latin typeface="Palatino Linotype"/>
                <a:ea typeface="+mj-ea"/>
              </a:rPr>
              <a:t>Constructing Canonical LR(1) </a:t>
            </a:r>
            <a:r>
              <a:rPr kumimoji="0" lang="en-US" sz="4400" b="1" i="0" u="none" strike="noStrike" kern="0" cap="none" spc="-1085" normalizeH="0" baseline="0" noProof="0">
                <a:ln>
                  <a:noFill/>
                </a:ln>
                <a:solidFill>
                  <a:sysClr val="windowText" lastClr="000000"/>
                </a:solidFill>
                <a:effectLst/>
                <a:uLnTx/>
                <a:uFillTx/>
                <a:latin typeface="Palatino Linotype"/>
                <a:ea typeface="+mj-ea"/>
              </a:rPr>
              <a:t> </a:t>
            </a:r>
            <a:r>
              <a:rPr kumimoji="0" lang="en-US" sz="44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400" b="1" i="0" u="none" strike="noStrike" kern="0" cap="none" spc="0" normalizeH="0" baseline="0" noProof="0">
                <a:ln>
                  <a:noFill/>
                </a:ln>
                <a:solidFill>
                  <a:sysClr val="windowText" lastClr="000000"/>
                </a:solidFill>
                <a:effectLst/>
                <a:uLnTx/>
                <a:uFillTx/>
                <a:latin typeface="Palatino Linotype"/>
                <a:ea typeface="+mj-ea"/>
              </a:rPr>
              <a:t> </a:t>
            </a:r>
            <a:r>
              <a:rPr kumimoji="0" lang="en-US" sz="4400" b="1" i="0" u="none" strike="noStrike" kern="0" cap="none" spc="-70" normalizeH="0" baseline="0" noProof="0">
                <a:ln>
                  <a:noFill/>
                </a:ln>
                <a:solidFill>
                  <a:sysClr val="windowText" lastClr="000000"/>
                </a:solidFill>
                <a:effectLst/>
                <a:uLnTx/>
                <a:uFillTx/>
                <a:latin typeface="Palatino Linotype"/>
                <a:ea typeface="+mj-ea"/>
              </a:rPr>
              <a:t>Tables</a:t>
            </a:r>
            <a:r>
              <a:rPr kumimoji="0" lang="en-US" sz="4400" b="1" i="0" u="none" strike="noStrike" kern="0" cap="none" spc="-10" normalizeH="0" baseline="0" noProof="0">
                <a:ln>
                  <a:noFill/>
                </a:ln>
                <a:solidFill>
                  <a:sysClr val="windowText" lastClr="000000"/>
                </a:solidFill>
                <a:effectLst/>
                <a:uLnTx/>
                <a:uFillTx/>
                <a:latin typeface="Palatino Linotype"/>
                <a:ea typeface="+mj-ea"/>
              </a:rPr>
              <a:t> </a:t>
            </a:r>
            <a:r>
              <a:rPr kumimoji="0" lang="en-US" sz="4400" b="1" i="0" u="none" strike="noStrike" kern="0" cap="none" spc="-5" normalizeH="0" baseline="0" noProof="0">
                <a:ln>
                  <a:noFill/>
                </a:ln>
                <a:solidFill>
                  <a:sysClr val="windowText" lastClr="000000"/>
                </a:solidFill>
                <a:effectLst/>
                <a:uLnTx/>
                <a:uFillTx/>
                <a:latin typeface="Palatino Linotype"/>
                <a:ea typeface="+mj-ea"/>
              </a:rPr>
              <a:t>(2)</a:t>
            </a:r>
            <a:endParaRPr kumimoji="0" lang="en-US" sz="44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0" name="object 3">
            <a:extLst>
              <a:ext uri="{FF2B5EF4-FFF2-40B4-BE49-F238E27FC236}">
                <a16:creationId xmlns:a16="http://schemas.microsoft.com/office/drawing/2014/main" id="{CD896704-C45F-2A73-BD56-2DD9FBAD6BE8}"/>
              </a:ext>
            </a:extLst>
          </p:cNvPr>
          <p:cNvSpPr/>
          <p:nvPr/>
        </p:nvSpPr>
        <p:spPr>
          <a:xfrm>
            <a:off x="5528028" y="2459019"/>
            <a:ext cx="588010" cy="235585"/>
          </a:xfrm>
          <a:custGeom>
            <a:avLst/>
            <a:gdLst/>
            <a:ahLst/>
            <a:cxnLst/>
            <a:rect l="l" t="t" r="r" b="b"/>
            <a:pathLst>
              <a:path w="588010" h="235585">
                <a:moveTo>
                  <a:pt x="512659" y="0"/>
                </a:moveTo>
                <a:lnTo>
                  <a:pt x="509311" y="9549"/>
                </a:lnTo>
                <a:lnTo>
                  <a:pt x="522930" y="15459"/>
                </a:lnTo>
                <a:lnTo>
                  <a:pt x="534642" y="23641"/>
                </a:lnTo>
                <a:lnTo>
                  <a:pt x="558424" y="61565"/>
                </a:lnTo>
                <a:lnTo>
                  <a:pt x="566238" y="116457"/>
                </a:lnTo>
                <a:lnTo>
                  <a:pt x="565366" y="137208"/>
                </a:lnTo>
                <a:lnTo>
                  <a:pt x="552286" y="188019"/>
                </a:lnTo>
                <a:lnTo>
                  <a:pt x="523090" y="219784"/>
                </a:lnTo>
                <a:lnTo>
                  <a:pt x="509684" y="225722"/>
                </a:lnTo>
                <a:lnTo>
                  <a:pt x="512659" y="235272"/>
                </a:lnTo>
                <a:lnTo>
                  <a:pt x="557610" y="208564"/>
                </a:lnTo>
                <a:lnTo>
                  <a:pt x="582856" y="159261"/>
                </a:lnTo>
                <a:lnTo>
                  <a:pt x="587693" y="117698"/>
                </a:lnTo>
                <a:lnTo>
                  <a:pt x="586480" y="96129"/>
                </a:lnTo>
                <a:lnTo>
                  <a:pt x="576776" y="57899"/>
                </a:lnTo>
                <a:lnTo>
                  <a:pt x="544673" y="15084"/>
                </a:lnTo>
                <a:lnTo>
                  <a:pt x="529717" y="6158"/>
                </a:lnTo>
                <a:lnTo>
                  <a:pt x="512659" y="0"/>
                </a:lnTo>
                <a:close/>
              </a:path>
              <a:path w="588010" h="235585">
                <a:moveTo>
                  <a:pt x="75034" y="0"/>
                </a:moveTo>
                <a:lnTo>
                  <a:pt x="30164" y="26777"/>
                </a:lnTo>
                <a:lnTo>
                  <a:pt x="4852" y="76196"/>
                </a:lnTo>
                <a:lnTo>
                  <a:pt x="0" y="117698"/>
                </a:lnTo>
                <a:lnTo>
                  <a:pt x="1209" y="139313"/>
                </a:lnTo>
                <a:lnTo>
                  <a:pt x="10882" y="177543"/>
                </a:lnTo>
                <a:lnTo>
                  <a:pt x="42942" y="220219"/>
                </a:lnTo>
                <a:lnTo>
                  <a:pt x="75034" y="235272"/>
                </a:lnTo>
                <a:lnTo>
                  <a:pt x="78009" y="225722"/>
                </a:lnTo>
                <a:lnTo>
                  <a:pt x="64603" y="219784"/>
                </a:lnTo>
                <a:lnTo>
                  <a:pt x="53035" y="211521"/>
                </a:lnTo>
                <a:lnTo>
                  <a:pt x="29304" y="172989"/>
                </a:lnTo>
                <a:lnTo>
                  <a:pt x="21455" y="116457"/>
                </a:lnTo>
                <a:lnTo>
                  <a:pt x="22327" y="96385"/>
                </a:lnTo>
                <a:lnTo>
                  <a:pt x="35408" y="46818"/>
                </a:lnTo>
                <a:lnTo>
                  <a:pt x="64813" y="15459"/>
                </a:lnTo>
                <a:lnTo>
                  <a:pt x="78381"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1" name="object 4">
            <a:extLst>
              <a:ext uri="{FF2B5EF4-FFF2-40B4-BE49-F238E27FC236}">
                <a16:creationId xmlns:a16="http://schemas.microsoft.com/office/drawing/2014/main" id="{49F4D539-F153-2BE6-1F20-9BDC46B7F34F}"/>
              </a:ext>
            </a:extLst>
          </p:cNvPr>
          <p:cNvSpPr/>
          <p:nvPr/>
        </p:nvSpPr>
        <p:spPr>
          <a:xfrm>
            <a:off x="1831438" y="2840019"/>
            <a:ext cx="513080" cy="235585"/>
          </a:xfrm>
          <a:custGeom>
            <a:avLst/>
            <a:gdLst/>
            <a:ahLst/>
            <a:cxnLst/>
            <a:rect l="l" t="t" r="r" b="b"/>
            <a:pathLst>
              <a:path w="513080" h="235585">
                <a:moveTo>
                  <a:pt x="437730" y="0"/>
                </a:moveTo>
                <a:lnTo>
                  <a:pt x="434381" y="9549"/>
                </a:lnTo>
                <a:lnTo>
                  <a:pt x="448000" y="15459"/>
                </a:lnTo>
                <a:lnTo>
                  <a:pt x="459713" y="23641"/>
                </a:lnTo>
                <a:lnTo>
                  <a:pt x="483495" y="61565"/>
                </a:lnTo>
                <a:lnTo>
                  <a:pt x="491308" y="116457"/>
                </a:lnTo>
                <a:lnTo>
                  <a:pt x="490436" y="137208"/>
                </a:lnTo>
                <a:lnTo>
                  <a:pt x="477356" y="188019"/>
                </a:lnTo>
                <a:lnTo>
                  <a:pt x="448160" y="219784"/>
                </a:lnTo>
                <a:lnTo>
                  <a:pt x="434754" y="225722"/>
                </a:lnTo>
                <a:lnTo>
                  <a:pt x="437730" y="235272"/>
                </a:lnTo>
                <a:lnTo>
                  <a:pt x="482680" y="208564"/>
                </a:lnTo>
                <a:lnTo>
                  <a:pt x="507927" y="159261"/>
                </a:lnTo>
                <a:lnTo>
                  <a:pt x="512765" y="117698"/>
                </a:lnTo>
                <a:lnTo>
                  <a:pt x="511551" y="96129"/>
                </a:lnTo>
                <a:lnTo>
                  <a:pt x="501846" y="57899"/>
                </a:lnTo>
                <a:lnTo>
                  <a:pt x="469744" y="15084"/>
                </a:lnTo>
                <a:lnTo>
                  <a:pt x="454787" y="6158"/>
                </a:lnTo>
                <a:lnTo>
                  <a:pt x="437730" y="0"/>
                </a:lnTo>
                <a:close/>
              </a:path>
              <a:path w="513080" h="235585">
                <a:moveTo>
                  <a:pt x="75034" y="0"/>
                </a:moveTo>
                <a:lnTo>
                  <a:pt x="30164" y="26777"/>
                </a:lnTo>
                <a:lnTo>
                  <a:pt x="4852" y="76196"/>
                </a:lnTo>
                <a:lnTo>
                  <a:pt x="0" y="117698"/>
                </a:lnTo>
                <a:lnTo>
                  <a:pt x="1209" y="139313"/>
                </a:lnTo>
                <a:lnTo>
                  <a:pt x="10882" y="177543"/>
                </a:lnTo>
                <a:lnTo>
                  <a:pt x="42943" y="220219"/>
                </a:lnTo>
                <a:lnTo>
                  <a:pt x="75034" y="235272"/>
                </a:lnTo>
                <a:lnTo>
                  <a:pt x="78011" y="225722"/>
                </a:lnTo>
                <a:lnTo>
                  <a:pt x="64604" y="219784"/>
                </a:lnTo>
                <a:lnTo>
                  <a:pt x="53035" y="211521"/>
                </a:lnTo>
                <a:lnTo>
                  <a:pt x="29304" y="172989"/>
                </a:lnTo>
                <a:lnTo>
                  <a:pt x="21456" y="116457"/>
                </a:lnTo>
                <a:lnTo>
                  <a:pt x="22328" y="96385"/>
                </a:lnTo>
                <a:lnTo>
                  <a:pt x="35408" y="46818"/>
                </a:lnTo>
                <a:lnTo>
                  <a:pt x="64813" y="15459"/>
                </a:lnTo>
                <a:lnTo>
                  <a:pt x="78383" y="9549"/>
                </a:lnTo>
                <a:lnTo>
                  <a:pt x="7503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2" name="object 5">
            <a:extLst>
              <a:ext uri="{FF2B5EF4-FFF2-40B4-BE49-F238E27FC236}">
                <a16:creationId xmlns:a16="http://schemas.microsoft.com/office/drawing/2014/main" id="{0CA737A6-E0CE-2D42-53C5-B6E4C9EF0EED}"/>
              </a:ext>
            </a:extLst>
          </p:cNvPr>
          <p:cNvSpPr txBox="1"/>
          <p:nvPr/>
        </p:nvSpPr>
        <p:spPr>
          <a:xfrm>
            <a:off x="663099" y="1998812"/>
            <a:ext cx="7703184" cy="2717165"/>
          </a:xfrm>
          <a:prstGeom prst="rect">
            <a:avLst/>
          </a:prstGeom>
        </p:spPr>
        <p:txBody>
          <a:bodyPr vert="horz" wrap="square" lIns="0" tIns="12700" rIns="0" bIns="0" rtlCol="0">
            <a:spAutoFit/>
          </a:bodyPr>
          <a:lstStyle/>
          <a:p>
            <a:pPr marL="508000" marR="1099820" indent="-457200" algn="just" rtl="0">
              <a:lnSpc>
                <a:spcPct val="125000"/>
              </a:lnSpc>
              <a:spcBef>
                <a:spcPts val="100"/>
              </a:spcBef>
              <a:buFontTx/>
              <a:buAutoNum type="arabicPeriod" startAt="3"/>
              <a:tabLst>
                <a:tab pos="508000" algn="l"/>
              </a:tabLst>
            </a:pPr>
            <a:r>
              <a:rPr sz="2000" kern="1200" spc="-5" dirty="0">
                <a:solidFill>
                  <a:prstClr val="black"/>
                </a:solidFill>
                <a:latin typeface="Palatino Linotype"/>
                <a:cs typeface="Palatino Linotype"/>
              </a:rPr>
              <a:t>The goto transitions for state </a:t>
            </a:r>
            <a:r>
              <a:rPr sz="2000" i="1" kern="1200" dirty="0">
                <a:solidFill>
                  <a:prstClr val="black"/>
                </a:solidFill>
                <a:latin typeface="Palatino Linotype"/>
                <a:cs typeface="Palatino Linotype"/>
              </a:rPr>
              <a:t>i </a:t>
            </a:r>
            <a:r>
              <a:rPr sz="2000" kern="1200" spc="-5" dirty="0">
                <a:solidFill>
                  <a:prstClr val="black"/>
                </a:solidFill>
                <a:latin typeface="Palatino Linotype"/>
                <a:cs typeface="Palatino Linotype"/>
              </a:rPr>
              <a:t>are constructed from </a:t>
            </a:r>
            <a:r>
              <a:rPr sz="2000" kern="1200" dirty="0">
                <a:solidFill>
                  <a:prstClr val="black"/>
                </a:solidFill>
                <a:latin typeface="Palatino Linotype"/>
                <a:cs typeface="Palatino Linotype"/>
              </a:rPr>
              <a:t>all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nont</a:t>
            </a:r>
            <a:r>
              <a:rPr sz="2000" kern="1200" dirty="0">
                <a:solidFill>
                  <a:prstClr val="black"/>
                </a:solidFill>
                <a:latin typeface="Palatino Linotype"/>
                <a:cs typeface="Palatino Linotype"/>
              </a:rPr>
              <a:t>e</a:t>
            </a:r>
            <a:r>
              <a:rPr sz="2000" kern="1200" spc="-5" dirty="0">
                <a:solidFill>
                  <a:prstClr val="black"/>
                </a:solidFill>
                <a:latin typeface="Palatino Linotype"/>
                <a:cs typeface="Palatino Linotype"/>
              </a:rPr>
              <a:t>rm</a:t>
            </a:r>
            <a:r>
              <a:rPr sz="2000" kern="1200" spc="5" dirty="0">
                <a:solidFill>
                  <a:prstClr val="black"/>
                </a:solidFill>
                <a:latin typeface="Palatino Linotype"/>
                <a:cs typeface="Palatino Linotype"/>
              </a:rPr>
              <a:t>i</a:t>
            </a:r>
            <a:r>
              <a:rPr sz="2000" kern="1200" spc="-5" dirty="0">
                <a:solidFill>
                  <a:prstClr val="black"/>
                </a:solidFill>
                <a:latin typeface="Palatino Linotype"/>
                <a:cs typeface="Palatino Linotype"/>
              </a:rPr>
              <a:t>n</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l</a:t>
            </a:r>
            <a:r>
              <a:rPr sz="2000" kern="1200" dirty="0">
                <a:solidFill>
                  <a:prstClr val="black"/>
                </a:solidFill>
                <a:latin typeface="Palatino Linotype"/>
                <a:cs typeface="Palatino Linotype"/>
              </a:rPr>
              <a:t>s </a:t>
            </a:r>
            <a:r>
              <a:rPr sz="2000" kern="1200" dirty="0">
                <a:solidFill>
                  <a:prstClr val="black"/>
                </a:solidFill>
                <a:latin typeface="Cambria Math"/>
                <a:cs typeface="Cambria Math"/>
              </a:rPr>
              <a:t>𝐴</a:t>
            </a:r>
            <a:r>
              <a:rPr sz="2000" kern="1200" spc="75" dirty="0">
                <a:solidFill>
                  <a:prstClr val="black"/>
                </a:solidFill>
                <a:latin typeface="Cambria Math"/>
                <a:cs typeface="Cambria Math"/>
              </a:rPr>
              <a:t> </a:t>
            </a:r>
            <a:r>
              <a:rPr sz="2000" kern="1200" spc="-10" dirty="0">
                <a:solidFill>
                  <a:prstClr val="black"/>
                </a:solidFill>
                <a:latin typeface="Palatino Linotype"/>
                <a:cs typeface="Palatino Linotype"/>
              </a:rPr>
              <a:t>u</a:t>
            </a:r>
            <a:r>
              <a:rPr sz="2000" kern="1200" dirty="0">
                <a:solidFill>
                  <a:prstClr val="black"/>
                </a:solidFill>
                <a:latin typeface="Palatino Linotype"/>
                <a:cs typeface="Palatino Linotype"/>
              </a:rPr>
              <a:t>s</a:t>
            </a:r>
            <a:r>
              <a:rPr sz="2000" kern="1200" spc="5" dirty="0">
                <a:solidFill>
                  <a:prstClr val="black"/>
                </a:solidFill>
                <a:latin typeface="Palatino Linotype"/>
                <a:cs typeface="Palatino Linotype"/>
              </a:rPr>
              <a:t>i</a:t>
            </a:r>
            <a:r>
              <a:rPr sz="2000" kern="1200" spc="-5" dirty="0">
                <a:solidFill>
                  <a:prstClr val="black"/>
                </a:solidFill>
                <a:latin typeface="Palatino Linotype"/>
                <a:cs typeface="Palatino Linotype"/>
              </a:rPr>
              <a:t>n</a:t>
            </a:r>
            <a:r>
              <a:rPr sz="2000" kern="1200" dirty="0">
                <a:solidFill>
                  <a:prstClr val="black"/>
                </a:solidFill>
                <a:latin typeface="Palatino Linotype"/>
                <a:cs typeface="Palatino Linotype"/>
              </a:rPr>
              <a:t>g </a:t>
            </a:r>
            <a:r>
              <a:rPr sz="2000" kern="1200" spc="-5" dirty="0">
                <a:solidFill>
                  <a:prstClr val="black"/>
                </a:solidFill>
                <a:latin typeface="Palatino Linotype"/>
                <a:cs typeface="Palatino Linotype"/>
              </a:rPr>
              <a:t>th</a:t>
            </a:r>
            <a:r>
              <a:rPr sz="2000" kern="1200" dirty="0">
                <a:solidFill>
                  <a:prstClr val="black"/>
                </a:solidFill>
                <a:latin typeface="Palatino Linotype"/>
                <a:cs typeface="Palatino Linotype"/>
              </a:rPr>
              <a:t>e </a:t>
            </a:r>
            <a:r>
              <a:rPr sz="2000" kern="1200" spc="-5" dirty="0">
                <a:solidFill>
                  <a:prstClr val="black"/>
                </a:solidFill>
                <a:latin typeface="Palatino Linotype"/>
                <a:cs typeface="Palatino Linotype"/>
              </a:rPr>
              <a:t>r</a:t>
            </a:r>
            <a:r>
              <a:rPr sz="2000" kern="1200" spc="-10" dirty="0">
                <a:solidFill>
                  <a:prstClr val="black"/>
                </a:solidFill>
                <a:latin typeface="Palatino Linotype"/>
                <a:cs typeface="Palatino Linotype"/>
              </a:rPr>
              <a:t>u</a:t>
            </a:r>
            <a:r>
              <a:rPr sz="2000" kern="1200" spc="5" dirty="0">
                <a:solidFill>
                  <a:prstClr val="black"/>
                </a:solidFill>
                <a:latin typeface="Palatino Linotype"/>
                <a:cs typeface="Palatino Linotype"/>
              </a:rPr>
              <a:t>l</a:t>
            </a:r>
            <a:r>
              <a:rPr sz="2000" kern="1200" dirty="0">
                <a:solidFill>
                  <a:prstClr val="black"/>
                </a:solidFill>
                <a:latin typeface="Palatino Linotype"/>
                <a:cs typeface="Palatino Linotype"/>
              </a:rPr>
              <a:t>e: If</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G</a:t>
            </a:r>
            <a:r>
              <a:rPr sz="2000" kern="1200" spc="-35" dirty="0">
                <a:solidFill>
                  <a:prstClr val="black"/>
                </a:solidFill>
                <a:latin typeface="Cambria Math"/>
                <a:cs typeface="Cambria Math"/>
              </a:rPr>
              <a:t>O</a:t>
            </a:r>
            <a:r>
              <a:rPr sz="2000" kern="1200" spc="-25" dirty="0">
                <a:solidFill>
                  <a:prstClr val="black"/>
                </a:solidFill>
                <a:latin typeface="Cambria Math"/>
                <a:cs typeface="Cambria Math"/>
              </a:rPr>
              <a:t>T</a:t>
            </a:r>
            <a:r>
              <a:rPr sz="2000" kern="1200" dirty="0">
                <a:solidFill>
                  <a:prstClr val="black"/>
                </a:solidFill>
                <a:latin typeface="Cambria Math"/>
                <a:cs typeface="Cambria Math"/>
              </a:rPr>
              <a:t>O </a:t>
            </a:r>
            <a:r>
              <a:rPr sz="2000" kern="1200" spc="-50" dirty="0">
                <a:solidFill>
                  <a:prstClr val="black"/>
                </a:solidFill>
                <a:latin typeface="Cambria Math"/>
                <a:cs typeface="Cambria Math"/>
              </a:rPr>
              <a:t> </a:t>
            </a:r>
            <a:r>
              <a:rPr sz="2000" kern="1200" spc="-114" dirty="0">
                <a:solidFill>
                  <a:prstClr val="black"/>
                </a:solidFill>
                <a:latin typeface="Cambria Math"/>
                <a:cs typeface="Cambria Math"/>
              </a:rPr>
              <a:t>𝐼</a:t>
            </a:r>
            <a:r>
              <a:rPr lang="en-US" altLang="zh-CN" sz="2250" kern="1200" spc="-719" baseline="-14814" dirty="0" err="1">
                <a:solidFill>
                  <a:prstClr val="black"/>
                </a:solidFill>
                <a:latin typeface="Cambria Math"/>
                <a:cs typeface="Cambria Math"/>
              </a:rPr>
              <a:t>i</a:t>
            </a:r>
            <a:r>
              <a:rPr sz="2000" kern="1200" dirty="0">
                <a:solidFill>
                  <a:prstClr val="black"/>
                </a:solidFill>
                <a:latin typeface="Cambria Math"/>
                <a:cs typeface="Cambria Math"/>
              </a:rPr>
              <a:t>,</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𝐴  </a:t>
            </a:r>
            <a:r>
              <a:rPr sz="2000" kern="1200" spc="7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spc="-295" dirty="0">
                <a:solidFill>
                  <a:prstClr val="black"/>
                </a:solidFill>
                <a:latin typeface="Cambria Math"/>
                <a:cs typeface="Cambria Math"/>
              </a:rPr>
              <a:t>𝐼</a:t>
            </a:r>
            <a:r>
              <a:rPr lang="zh-CN" altLang="en-US" sz="2250" kern="1200" spc="-22" baseline="-14814" dirty="0">
                <a:solidFill>
                  <a:prstClr val="black"/>
                </a:solidFill>
                <a:latin typeface="Cambria Math"/>
                <a:cs typeface="Cambria Math"/>
              </a:rPr>
              <a:t>𝑗</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a:t>
            </a:r>
            <a:r>
              <a:rPr sz="2000" kern="1200" dirty="0">
                <a:solidFill>
                  <a:prstClr val="black"/>
                </a:solidFill>
                <a:latin typeface="Palatino Linotype"/>
                <a:cs typeface="Palatino Linotype"/>
              </a:rPr>
              <a:t>en  </a:t>
            </a:r>
            <a:r>
              <a:rPr sz="2000" kern="1200" spc="-15" dirty="0">
                <a:solidFill>
                  <a:prstClr val="black"/>
                </a:solidFill>
                <a:latin typeface="Cambria Math"/>
                <a:cs typeface="Cambria Math"/>
              </a:rPr>
              <a:t>GOTO</a:t>
            </a:r>
            <a:r>
              <a:rPr sz="2000" kern="1200" spc="385" dirty="0">
                <a:solidFill>
                  <a:prstClr val="black"/>
                </a:solidFill>
                <a:latin typeface="Cambria Math"/>
                <a:cs typeface="Cambria Math"/>
              </a:rPr>
              <a:t> </a:t>
            </a:r>
            <a:r>
              <a:rPr sz="2000" kern="1200" spc="30" dirty="0">
                <a:solidFill>
                  <a:prstClr val="black"/>
                </a:solidFill>
                <a:latin typeface="Cambria Math"/>
                <a:cs typeface="Cambria Math"/>
              </a:rPr>
              <a:t>𝑖,</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𝐴</a:t>
            </a:r>
            <a:r>
              <a:rPr sz="2000" kern="1200" spc="75" dirty="0">
                <a:solidFill>
                  <a:prstClr val="black"/>
                </a:solidFill>
                <a:latin typeface="Cambria Math"/>
                <a:cs typeface="Cambria Math"/>
              </a:rPr>
              <a:t> </a:t>
            </a:r>
            <a:r>
              <a:rPr lang="en-US" sz="2000" kern="1200" spc="7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𝑗</a:t>
            </a:r>
          </a:p>
          <a:p>
            <a:pPr rtl="0">
              <a:spcBef>
                <a:spcPts val="35"/>
              </a:spcBef>
              <a:buFont typeface="Palatino Linotype"/>
              <a:buAutoNum type="arabicPeriod" startAt="3"/>
            </a:pPr>
            <a:endParaRPr sz="1850" kern="1200" dirty="0">
              <a:solidFill>
                <a:prstClr val="black"/>
              </a:solidFill>
              <a:latin typeface="Cambria Math"/>
              <a:cs typeface="Cambria Math"/>
            </a:endParaRPr>
          </a:p>
          <a:p>
            <a:pPr marL="508000" indent="-457200" rtl="0">
              <a:spcBef>
                <a:spcPts val="5"/>
              </a:spcBef>
              <a:buFontTx/>
              <a:buAutoNum type="arabicPeriod" startAt="3"/>
              <a:tabLst>
                <a:tab pos="507365" algn="l"/>
                <a:tab pos="508000" algn="l"/>
              </a:tabLst>
            </a:pPr>
            <a:r>
              <a:rPr sz="2000" kern="1200" spc="-5" dirty="0">
                <a:solidFill>
                  <a:prstClr val="black"/>
                </a:solidFill>
                <a:latin typeface="Palatino Linotype"/>
                <a:cs typeface="Palatino Linotype"/>
              </a:rPr>
              <a:t>All</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entries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not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defined</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in </a:t>
            </a:r>
            <a:r>
              <a:rPr sz="2000" kern="1200" spc="-5" dirty="0">
                <a:solidFill>
                  <a:prstClr val="black"/>
                </a:solidFill>
                <a:latin typeface="Palatino Linotype"/>
                <a:cs typeface="Palatino Linotype"/>
              </a:rPr>
              <a:t>steps</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(2)</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and</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(3)</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are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made</a:t>
            </a:r>
            <a:r>
              <a:rPr sz="2000" kern="1200" spc="5" dirty="0">
                <a:solidFill>
                  <a:prstClr val="black"/>
                </a:solidFill>
                <a:latin typeface="Palatino Linotype"/>
                <a:cs typeface="Palatino Linotype"/>
              </a:rPr>
              <a:t> </a:t>
            </a:r>
            <a:r>
              <a:rPr sz="2000" kern="1200" spc="10" dirty="0">
                <a:solidFill>
                  <a:prstClr val="black"/>
                </a:solidFill>
                <a:latin typeface="Palatino Linotype"/>
                <a:cs typeface="Palatino Linotype"/>
              </a:rPr>
              <a:t>“</a:t>
            </a:r>
            <a:r>
              <a:rPr sz="2000" kern="1200" spc="10" dirty="0">
                <a:solidFill>
                  <a:srgbClr val="FF0000"/>
                </a:solidFill>
                <a:latin typeface="Palatino Linotype"/>
                <a:cs typeface="Palatino Linotype"/>
              </a:rPr>
              <a:t>error</a:t>
            </a:r>
            <a:r>
              <a:rPr sz="2000" kern="1200" spc="10" dirty="0">
                <a:solidFill>
                  <a:prstClr val="black"/>
                </a:solidFill>
                <a:latin typeface="Palatino Linotype"/>
                <a:cs typeface="Palatino Linotype"/>
              </a:rPr>
              <a:t>”</a:t>
            </a:r>
            <a:endParaRPr sz="2000" kern="1200" dirty="0">
              <a:solidFill>
                <a:prstClr val="black"/>
              </a:solidFill>
              <a:latin typeface="Palatino Linotype"/>
              <a:cs typeface="Palatino Linotype"/>
            </a:endParaRPr>
          </a:p>
          <a:p>
            <a:pPr marL="508000" marR="68580" indent="-457200" rtl="0">
              <a:lnSpc>
                <a:spcPct val="120000"/>
              </a:lnSpc>
              <a:spcBef>
                <a:spcPts val="1820"/>
              </a:spcBef>
              <a:buFontTx/>
              <a:buAutoNum type="arabicPeriod" startAt="3"/>
              <a:tabLst>
                <a:tab pos="507365" algn="l"/>
                <a:tab pos="508000" algn="l"/>
              </a:tabLst>
            </a:pP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initial</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state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parser </a:t>
            </a:r>
            <a:r>
              <a:rPr sz="2000" kern="1200" dirty="0">
                <a:solidFill>
                  <a:prstClr val="black"/>
                </a:solidFill>
                <a:latin typeface="Palatino Linotype"/>
                <a:cs typeface="Palatino Linotype"/>
              </a:rPr>
              <a:t>is</a:t>
            </a:r>
            <a:r>
              <a:rPr sz="2000" kern="1200" spc="-5" dirty="0">
                <a:solidFill>
                  <a:prstClr val="black"/>
                </a:solidFill>
                <a:latin typeface="Palatino Linotype"/>
                <a:cs typeface="Palatino Linotype"/>
              </a:rPr>
              <a:t>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one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constructed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from the</a:t>
            </a:r>
            <a:r>
              <a:rPr sz="2000" kern="1200" dirty="0">
                <a:solidFill>
                  <a:prstClr val="black"/>
                </a:solidFill>
                <a:latin typeface="Palatino Linotype"/>
                <a:cs typeface="Palatino Linotype"/>
              </a:rPr>
              <a:t> set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of</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items</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containing </a:t>
            </a:r>
            <a:r>
              <a:rPr sz="2000" kern="1200" spc="90" dirty="0">
                <a:solidFill>
                  <a:prstClr val="black"/>
                </a:solidFill>
                <a:latin typeface="Cambria Math"/>
                <a:cs typeface="Cambria Math"/>
              </a:rPr>
              <a:t>[𝑆</a:t>
            </a:r>
            <a:r>
              <a:rPr sz="2250" kern="1200" spc="135" baseline="25925" dirty="0">
                <a:solidFill>
                  <a:prstClr val="black"/>
                </a:solidFill>
                <a:latin typeface="Cambria Math"/>
                <a:cs typeface="Cambria Math"/>
              </a:rPr>
              <a:t>'</a:t>
            </a:r>
            <a:r>
              <a:rPr sz="2250" kern="1200" spc="442" baseline="25925" dirty="0">
                <a:solidFill>
                  <a:prstClr val="black"/>
                </a:solidFill>
                <a:latin typeface="Cambria Math"/>
                <a:cs typeface="Cambria Math"/>
              </a:rPr>
              <a:t> </a:t>
            </a:r>
            <a:r>
              <a:rPr sz="2000" kern="1200" spc="-60" dirty="0">
                <a:solidFill>
                  <a:prstClr val="black"/>
                </a:solidFill>
                <a:latin typeface="Cambria Math"/>
                <a:cs typeface="Cambria Math"/>
              </a:rPr>
              <a:t>→</a:t>
            </a:r>
            <a:r>
              <a:rPr lang="en-US" altLang="zh-CN" sz="2000" kern="1200" spc="-60" dirty="0">
                <a:solidFill>
                  <a:prstClr val="black"/>
                </a:solidFill>
                <a:latin typeface="Cambria Math"/>
                <a:cs typeface="Cambria Math"/>
              </a:rPr>
              <a:t>·</a:t>
            </a:r>
            <a:r>
              <a:rPr sz="2000" kern="1200" dirty="0">
                <a:solidFill>
                  <a:prstClr val="black"/>
                </a:solidFill>
                <a:latin typeface="Cambria Math"/>
                <a:cs typeface="Cambria Math"/>
              </a:rPr>
              <a:t> </a:t>
            </a:r>
            <a:r>
              <a:rPr sz="2000" kern="1200" spc="20" dirty="0">
                <a:solidFill>
                  <a:prstClr val="black"/>
                </a:solidFill>
                <a:latin typeface="Cambria Math"/>
                <a:cs typeface="Cambria Math"/>
              </a:rPr>
              <a:t>𝑆,</a:t>
            </a:r>
            <a:r>
              <a:rPr sz="2000" kern="1200" spc="-105" dirty="0">
                <a:solidFill>
                  <a:prstClr val="black"/>
                </a:solidFill>
                <a:latin typeface="Cambria Math"/>
                <a:cs typeface="Cambria Math"/>
              </a:rPr>
              <a:t> </a:t>
            </a:r>
            <a:r>
              <a:rPr sz="2000" kern="1200" dirty="0">
                <a:solidFill>
                  <a:prstClr val="black"/>
                </a:solidFill>
                <a:latin typeface="Cambria Math"/>
                <a:cs typeface="Cambria Math"/>
              </a:rPr>
              <a:t>$]</a:t>
            </a:r>
          </a:p>
        </p:txBody>
      </p:sp>
    </p:spTree>
    <p:extLst>
      <p:ext uri="{BB962C8B-B14F-4D97-AF65-F5344CB8AC3E}">
        <p14:creationId xmlns:p14="http://schemas.microsoft.com/office/powerpoint/2010/main" val="151592970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143</a:t>
            </a:fld>
            <a:endParaRPr lang="en-US"/>
          </a:p>
        </p:txBody>
      </p:sp>
      <p:sp>
        <p:nvSpPr>
          <p:cNvPr id="8" name="object 2">
            <a:extLst>
              <a:ext uri="{FF2B5EF4-FFF2-40B4-BE49-F238E27FC236}">
                <a16:creationId xmlns:a16="http://schemas.microsoft.com/office/drawing/2014/main" id="{00536EFD-AC3F-8423-DCF3-761EC9F0B152}"/>
              </a:ext>
            </a:extLst>
          </p:cNvPr>
          <p:cNvSpPr txBox="1">
            <a:spLocks/>
          </p:cNvSpPr>
          <p:nvPr/>
        </p:nvSpPr>
        <p:spPr>
          <a:xfrm>
            <a:off x="707390" y="524763"/>
            <a:ext cx="670052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LR(1)</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Parsing</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80" normalizeH="0" baseline="0" noProof="0">
                <a:ln>
                  <a:noFill/>
                </a:ln>
                <a:solidFill>
                  <a:sysClr val="windowText" lastClr="000000"/>
                </a:solidFill>
                <a:effectLst/>
                <a:uLnTx/>
                <a:uFillTx/>
                <a:latin typeface="Palatino Linotype"/>
                <a:ea typeface="+mj-ea"/>
              </a:rPr>
              <a:t>Table</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9C55E809-7D78-690B-9C29-5F142829F03A}"/>
              </a:ext>
            </a:extLst>
          </p:cNvPr>
          <p:cNvSpPr txBox="1"/>
          <p:nvPr/>
        </p:nvSpPr>
        <p:spPr>
          <a:xfrm>
            <a:off x="707390" y="1500885"/>
            <a:ext cx="3336290" cy="4032885"/>
          </a:xfrm>
          <a:prstGeom prst="rect">
            <a:avLst/>
          </a:prstGeom>
        </p:spPr>
        <p:txBody>
          <a:bodyPr vert="horz" wrap="square" lIns="0" tIns="171450" rIns="0" bIns="0" rtlCol="0">
            <a:spAutoFit/>
          </a:bodyPr>
          <a:lstStyle/>
          <a:p>
            <a:pPr marL="243204" indent="-230504" rtl="0">
              <a:spcBef>
                <a:spcPts val="1350"/>
              </a:spcBef>
              <a:buFont typeface="Arial MT"/>
              <a:buChar char="•"/>
              <a:tabLst>
                <a:tab pos="242570" algn="l"/>
                <a:tab pos="243204" algn="l"/>
              </a:tabLst>
            </a:pPr>
            <a:r>
              <a:rPr sz="2000" b="1" kern="1200" spc="-5" dirty="0">
                <a:solidFill>
                  <a:prstClr val="black"/>
                </a:solidFill>
                <a:latin typeface="Palatino Linotype"/>
                <a:cs typeface="Palatino Linotype"/>
              </a:rPr>
              <a:t>Grammar:</a:t>
            </a:r>
            <a:endParaRPr sz="2000" kern="1200">
              <a:solidFill>
                <a:prstClr val="black"/>
              </a:solidFill>
              <a:latin typeface="Palatino Linotype"/>
              <a:cs typeface="Palatino Linotype"/>
            </a:endParaRPr>
          </a:p>
          <a:p>
            <a:pPr marL="698500" lvl="1" indent="-228600" rtl="0">
              <a:spcBef>
                <a:spcPts val="1000"/>
              </a:spcBef>
              <a:buFont typeface="Wingdings"/>
              <a:buChar char=""/>
              <a:tabLst>
                <a:tab pos="697865" algn="l"/>
                <a:tab pos="698500" algn="l"/>
              </a:tabLst>
            </a:pPr>
            <a:r>
              <a:rPr sz="1600" kern="1200" dirty="0">
                <a:solidFill>
                  <a:prstClr val="black"/>
                </a:solidFill>
                <a:latin typeface="Cambria Math"/>
                <a:cs typeface="Cambria Math"/>
              </a:rPr>
              <a:t>𝑆’</a:t>
            </a:r>
            <a:r>
              <a:rPr sz="1600" kern="1200" spc="5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5" dirty="0">
                <a:solidFill>
                  <a:prstClr val="black"/>
                </a:solidFill>
                <a:latin typeface="Cambria Math"/>
                <a:cs typeface="Cambria Math"/>
              </a:rPr>
              <a:t> </a:t>
            </a:r>
            <a:r>
              <a:rPr sz="1600" kern="1200" dirty="0">
                <a:solidFill>
                  <a:prstClr val="black"/>
                </a:solidFill>
                <a:latin typeface="Cambria Math"/>
                <a:cs typeface="Cambria Math"/>
              </a:rPr>
              <a:t>𝑆</a:t>
            </a:r>
            <a:endParaRPr sz="1600" kern="1200">
              <a:solidFill>
                <a:prstClr val="black"/>
              </a:solidFill>
              <a:latin typeface="Cambria Math"/>
              <a:cs typeface="Cambria Math"/>
            </a:endParaRPr>
          </a:p>
          <a:p>
            <a:pPr marL="698500" lvl="1" indent="-228600" rtl="0">
              <a:spcBef>
                <a:spcPts val="960"/>
              </a:spcBef>
              <a:buFont typeface="Wingdings"/>
              <a:buChar char=""/>
              <a:tabLst>
                <a:tab pos="697865" algn="l"/>
                <a:tab pos="698500" algn="l"/>
              </a:tabLst>
            </a:pPr>
            <a:r>
              <a:rPr sz="1600" kern="1200" dirty="0">
                <a:solidFill>
                  <a:prstClr val="black"/>
                </a:solidFill>
                <a:latin typeface="Cambria Math"/>
                <a:cs typeface="Cambria Math"/>
              </a:rPr>
              <a:t>𝑆</a:t>
            </a:r>
            <a:r>
              <a:rPr sz="1600" kern="1200" spc="9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55" dirty="0">
                <a:solidFill>
                  <a:prstClr val="black"/>
                </a:solidFill>
                <a:latin typeface="Cambria Math"/>
                <a:cs typeface="Cambria Math"/>
              </a:rPr>
              <a:t> </a:t>
            </a:r>
            <a:r>
              <a:rPr sz="1600" kern="1200" spc="-5" dirty="0">
                <a:solidFill>
                  <a:prstClr val="black"/>
                </a:solidFill>
                <a:latin typeface="Cambria Math"/>
                <a:cs typeface="Cambria Math"/>
              </a:rPr>
              <a:t>𝐶𝐶</a:t>
            </a:r>
            <a:endParaRPr sz="1600" kern="1200">
              <a:solidFill>
                <a:prstClr val="black"/>
              </a:solidFill>
              <a:latin typeface="Cambria Math"/>
              <a:cs typeface="Cambria Math"/>
            </a:endParaRPr>
          </a:p>
          <a:p>
            <a:pPr marL="698500" lvl="1" indent="-228600" rtl="0">
              <a:spcBef>
                <a:spcPts val="980"/>
              </a:spcBef>
              <a:buFont typeface="Wingdings"/>
              <a:buChar char=""/>
              <a:tabLst>
                <a:tab pos="697865" algn="l"/>
                <a:tab pos="698500" algn="l"/>
              </a:tabLst>
            </a:pPr>
            <a:r>
              <a:rPr sz="1600" kern="1200" dirty="0">
                <a:solidFill>
                  <a:prstClr val="black"/>
                </a:solidFill>
                <a:latin typeface="Cambria Math"/>
                <a:cs typeface="Cambria Math"/>
              </a:rPr>
              <a:t>𝐶</a:t>
            </a:r>
            <a:r>
              <a:rPr sz="1600" kern="1200" spc="13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65" dirty="0">
                <a:solidFill>
                  <a:prstClr val="black"/>
                </a:solidFill>
                <a:latin typeface="Cambria Math"/>
                <a:cs typeface="Cambria Math"/>
              </a:rPr>
              <a:t> </a:t>
            </a:r>
            <a:r>
              <a:rPr sz="1600" kern="1200" dirty="0">
                <a:solidFill>
                  <a:prstClr val="black"/>
                </a:solidFill>
                <a:latin typeface="Cambria Math"/>
                <a:cs typeface="Cambria Math"/>
              </a:rPr>
              <a:t>𝑐𝐶</a:t>
            </a:r>
            <a:r>
              <a:rPr sz="1600" kern="1200" spc="40" dirty="0">
                <a:solidFill>
                  <a:prstClr val="black"/>
                </a:solidFill>
                <a:latin typeface="Cambria Math"/>
                <a:cs typeface="Cambria Math"/>
              </a:rPr>
              <a:t> </a:t>
            </a:r>
            <a:r>
              <a:rPr sz="1600" kern="1200" dirty="0">
                <a:solidFill>
                  <a:prstClr val="black"/>
                </a:solidFill>
                <a:latin typeface="Cambria Math"/>
                <a:cs typeface="Cambria Math"/>
              </a:rPr>
              <a:t>|</a:t>
            </a:r>
            <a:r>
              <a:rPr sz="1600" kern="1200" spc="-15" dirty="0">
                <a:solidFill>
                  <a:prstClr val="black"/>
                </a:solidFill>
                <a:latin typeface="Cambria Math"/>
                <a:cs typeface="Cambria Math"/>
              </a:rPr>
              <a:t> </a:t>
            </a:r>
            <a:r>
              <a:rPr sz="1600" kern="1200" dirty="0">
                <a:solidFill>
                  <a:prstClr val="black"/>
                </a:solidFill>
                <a:latin typeface="Cambria Math"/>
                <a:cs typeface="Cambria Math"/>
              </a:rPr>
              <a:t>𝑑</a:t>
            </a:r>
            <a:endParaRPr sz="1600" kern="1200">
              <a:solidFill>
                <a:prstClr val="black"/>
              </a:solidFill>
              <a:latin typeface="Cambria Math"/>
              <a:cs typeface="Cambria Math"/>
            </a:endParaRPr>
          </a:p>
          <a:p>
            <a:pPr lvl="1" rtl="0">
              <a:spcBef>
                <a:spcPts val="30"/>
              </a:spcBef>
              <a:buFont typeface="Wingdings"/>
              <a:buChar char=""/>
            </a:pPr>
            <a:endParaRPr sz="1550" kern="1200">
              <a:solidFill>
                <a:prstClr val="black"/>
              </a:solidFill>
              <a:latin typeface="Cambria Math"/>
              <a:cs typeface="Cambria Math"/>
            </a:endParaRPr>
          </a:p>
          <a:p>
            <a:pPr marL="242570" marR="5080" indent="-230504" algn="just" rtl="0">
              <a:lnSpc>
                <a:spcPct val="118500"/>
              </a:lnSpc>
              <a:buFont typeface="Arial MT"/>
              <a:buChar char="•"/>
              <a:tabLst>
                <a:tab pos="243204" algn="l"/>
              </a:tabLst>
            </a:pPr>
            <a:r>
              <a:rPr sz="2000" kern="1200" spc="-5" dirty="0">
                <a:solidFill>
                  <a:prstClr val="black"/>
                </a:solidFill>
                <a:latin typeface="Palatino Linotype"/>
                <a:cs typeface="Palatino Linotype"/>
              </a:rPr>
              <a:t>These pairs of states can </a:t>
            </a:r>
            <a:r>
              <a:rPr sz="2000" kern="1200" dirty="0">
                <a:solidFill>
                  <a:prstClr val="black"/>
                </a:solidFill>
                <a:latin typeface="Palatino Linotype"/>
                <a:cs typeface="Palatino Linotype"/>
              </a:rPr>
              <a:t>be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seen as being split </a:t>
            </a:r>
            <a:r>
              <a:rPr sz="2000" kern="1200" spc="-5" dirty="0">
                <a:solidFill>
                  <a:prstClr val="black"/>
                </a:solidFill>
                <a:latin typeface="Palatino Linotype"/>
                <a:cs typeface="Palatino Linotype"/>
              </a:rPr>
              <a:t>from the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corresponding</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LR(0)</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states:</a:t>
            </a:r>
            <a:endParaRPr sz="2000" kern="1200">
              <a:solidFill>
                <a:prstClr val="black"/>
              </a:solidFill>
              <a:latin typeface="Palatino Linotype"/>
              <a:cs typeface="Palatino Linotype"/>
            </a:endParaRPr>
          </a:p>
          <a:p>
            <a:pPr marL="698500" lvl="1" indent="-228600" rtl="0">
              <a:spcBef>
                <a:spcPts val="1120"/>
              </a:spcBef>
              <a:buFont typeface="Wingdings"/>
              <a:buChar char=""/>
              <a:tabLst>
                <a:tab pos="697865" algn="l"/>
                <a:tab pos="698500" algn="l"/>
              </a:tabLst>
            </a:pPr>
            <a:r>
              <a:rPr sz="1600" kern="1200" dirty="0">
                <a:solidFill>
                  <a:prstClr val="black"/>
                </a:solidFill>
                <a:latin typeface="Palatino Linotype"/>
                <a:cs typeface="Palatino Linotype"/>
              </a:rPr>
              <a:t>(3,</a:t>
            </a:r>
            <a:r>
              <a:rPr sz="1600" kern="1200" spc="-100" dirty="0">
                <a:solidFill>
                  <a:prstClr val="black"/>
                </a:solidFill>
                <a:latin typeface="Palatino Linotype"/>
                <a:cs typeface="Palatino Linotype"/>
              </a:rPr>
              <a:t> </a:t>
            </a:r>
            <a:r>
              <a:rPr sz="1600" kern="1200" dirty="0">
                <a:solidFill>
                  <a:prstClr val="black"/>
                </a:solidFill>
                <a:latin typeface="Palatino Linotype"/>
                <a:cs typeface="Palatino Linotype"/>
              </a:rPr>
              <a:t>6)</a:t>
            </a:r>
            <a:endParaRPr sz="1600" kern="1200">
              <a:solidFill>
                <a:prstClr val="black"/>
              </a:solidFill>
              <a:latin typeface="Palatino Linotype"/>
              <a:cs typeface="Palatino Linotype"/>
            </a:endParaRPr>
          </a:p>
          <a:p>
            <a:pPr marL="698500" lvl="1" indent="-228600" rtl="0">
              <a:spcBef>
                <a:spcPts val="960"/>
              </a:spcBef>
              <a:buFont typeface="Wingdings"/>
              <a:buChar char=""/>
              <a:tabLst>
                <a:tab pos="697865" algn="l"/>
                <a:tab pos="698500" algn="l"/>
              </a:tabLst>
            </a:pPr>
            <a:r>
              <a:rPr sz="1600" kern="1200" dirty="0">
                <a:solidFill>
                  <a:prstClr val="black"/>
                </a:solidFill>
                <a:latin typeface="Palatino Linotype"/>
                <a:cs typeface="Palatino Linotype"/>
              </a:rPr>
              <a:t>(4,</a:t>
            </a:r>
            <a:r>
              <a:rPr sz="1600" kern="1200" spc="-100" dirty="0">
                <a:solidFill>
                  <a:prstClr val="black"/>
                </a:solidFill>
                <a:latin typeface="Palatino Linotype"/>
                <a:cs typeface="Palatino Linotype"/>
              </a:rPr>
              <a:t> </a:t>
            </a:r>
            <a:r>
              <a:rPr sz="1600" kern="1200" dirty="0">
                <a:solidFill>
                  <a:prstClr val="black"/>
                </a:solidFill>
                <a:latin typeface="Palatino Linotype"/>
                <a:cs typeface="Palatino Linotype"/>
              </a:rPr>
              <a:t>7)</a:t>
            </a:r>
            <a:endParaRPr sz="1600" kern="1200">
              <a:solidFill>
                <a:prstClr val="black"/>
              </a:solidFill>
              <a:latin typeface="Palatino Linotype"/>
              <a:cs typeface="Palatino Linotype"/>
            </a:endParaRPr>
          </a:p>
          <a:p>
            <a:pPr marL="698500" lvl="1" indent="-228600" rtl="0">
              <a:spcBef>
                <a:spcPts val="985"/>
              </a:spcBef>
              <a:buFont typeface="Wingdings"/>
              <a:buChar char=""/>
              <a:tabLst>
                <a:tab pos="697865" algn="l"/>
                <a:tab pos="698500" algn="l"/>
              </a:tabLst>
            </a:pPr>
            <a:r>
              <a:rPr sz="1600" kern="1200" dirty="0">
                <a:solidFill>
                  <a:prstClr val="black"/>
                </a:solidFill>
                <a:latin typeface="Palatino Linotype"/>
                <a:cs typeface="Palatino Linotype"/>
              </a:rPr>
              <a:t>(8,</a:t>
            </a:r>
            <a:r>
              <a:rPr sz="1600" kern="1200" spc="-100" dirty="0">
                <a:solidFill>
                  <a:prstClr val="black"/>
                </a:solidFill>
                <a:latin typeface="Palatino Linotype"/>
                <a:cs typeface="Palatino Linotype"/>
              </a:rPr>
              <a:t> </a:t>
            </a:r>
            <a:r>
              <a:rPr sz="1600" kern="1200" dirty="0">
                <a:solidFill>
                  <a:prstClr val="black"/>
                </a:solidFill>
                <a:latin typeface="Palatino Linotype"/>
                <a:cs typeface="Palatino Linotype"/>
              </a:rPr>
              <a:t>9)</a:t>
            </a:r>
            <a:endParaRPr sz="1600" kern="1200">
              <a:solidFill>
                <a:prstClr val="black"/>
              </a:solidFill>
              <a:latin typeface="Palatino Linotype"/>
              <a:cs typeface="Palatino Linotype"/>
            </a:endParaRPr>
          </a:p>
        </p:txBody>
      </p:sp>
      <p:pic>
        <p:nvPicPr>
          <p:cNvPr id="10" name="object 4">
            <a:extLst>
              <a:ext uri="{FF2B5EF4-FFF2-40B4-BE49-F238E27FC236}">
                <a16:creationId xmlns:a16="http://schemas.microsoft.com/office/drawing/2014/main" id="{50089394-46D1-BBF4-9FBE-25ED861663D8}"/>
              </a:ext>
            </a:extLst>
          </p:cNvPr>
          <p:cNvPicPr/>
          <p:nvPr/>
        </p:nvPicPr>
        <p:blipFill>
          <a:blip r:embed="rId2" cstate="print"/>
          <a:stretch>
            <a:fillRect/>
          </a:stretch>
        </p:blipFill>
        <p:spPr>
          <a:xfrm>
            <a:off x="4950658" y="2222234"/>
            <a:ext cx="2901680" cy="3052673"/>
          </a:xfrm>
          <a:prstGeom prst="rect">
            <a:avLst/>
          </a:prstGeom>
        </p:spPr>
      </p:pic>
    </p:spTree>
    <p:extLst>
      <p:ext uri="{BB962C8B-B14F-4D97-AF65-F5344CB8AC3E}">
        <p14:creationId xmlns:p14="http://schemas.microsoft.com/office/powerpoint/2010/main" val="278831996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144</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
        <p:nvSpPr>
          <p:cNvPr id="2" name="object 9">
            <a:extLst>
              <a:ext uri="{FF2B5EF4-FFF2-40B4-BE49-F238E27FC236}">
                <a16:creationId xmlns:a16="http://schemas.microsoft.com/office/drawing/2014/main" id="{1EFC2DBA-E153-5383-F78F-1720981C24C4}"/>
              </a:ext>
            </a:extLst>
          </p:cNvPr>
          <p:cNvSpPr txBox="1"/>
          <p:nvPr/>
        </p:nvSpPr>
        <p:spPr>
          <a:xfrm>
            <a:off x="5687680" y="3421435"/>
            <a:ext cx="3391158" cy="1477969"/>
          </a:xfrm>
          <a:prstGeom prst="rect">
            <a:avLst/>
          </a:prstGeom>
          <a:ln w="12700">
            <a:solidFill>
              <a:srgbClr val="7F7F7F"/>
            </a:solidFill>
          </a:ln>
        </p:spPr>
        <p:txBody>
          <a:bodyPr vert="horz" wrap="square" lIns="0" tIns="122555" rIns="0" bIns="0" rtlCol="0">
            <a:spAutoFit/>
          </a:bodyPr>
          <a:lstStyle/>
          <a:p>
            <a:pPr marL="532765" indent="-286385">
              <a:lnSpc>
                <a:spcPct val="100000"/>
              </a:lnSpc>
              <a:spcBef>
                <a:spcPts val="965"/>
              </a:spcBef>
              <a:buFont typeface="Arial MT"/>
              <a:buChar char="•"/>
              <a:tabLst>
                <a:tab pos="532765" algn="l"/>
                <a:tab pos="533400" algn="l"/>
              </a:tabLst>
            </a:pPr>
            <a:r>
              <a:rPr sz="1800" dirty="0">
                <a:solidFill>
                  <a:schemeClr val="bg2">
                    <a:lumMod val="50000"/>
                  </a:schemeClr>
                </a:solidFill>
                <a:latin typeface="Palatino Linotype"/>
                <a:cs typeface="Palatino Linotype"/>
              </a:rPr>
              <a:t>Simple</a:t>
            </a:r>
            <a:r>
              <a:rPr sz="1800" spc="-30"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LR</a:t>
            </a:r>
            <a:r>
              <a:rPr sz="1800" spc="-7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(SLR)</a:t>
            </a:r>
          </a:p>
          <a:p>
            <a:pPr>
              <a:lnSpc>
                <a:spcPct val="100000"/>
              </a:lnSpc>
              <a:spcBef>
                <a:spcPts val="35"/>
              </a:spcBef>
              <a:buChar char="•"/>
            </a:pPr>
            <a:endParaRPr sz="1700" dirty="0">
              <a:solidFill>
                <a:schemeClr val="bg2">
                  <a:lumMod val="50000"/>
                </a:schemeClr>
              </a:solidFill>
              <a:latin typeface="Palatino Linotype"/>
              <a:cs typeface="Palatino Linotype"/>
            </a:endParaRPr>
          </a:p>
          <a:p>
            <a:pPr marL="532765" indent="-286385">
              <a:lnSpc>
                <a:spcPct val="100000"/>
              </a:lnSpc>
              <a:buFont typeface="Arial MT"/>
              <a:buChar char="•"/>
              <a:tabLst>
                <a:tab pos="532765" algn="l"/>
                <a:tab pos="533400" algn="l"/>
              </a:tabLst>
            </a:pPr>
            <a:r>
              <a:rPr sz="1800" spc="-5" dirty="0">
                <a:solidFill>
                  <a:schemeClr val="bg2">
                    <a:lumMod val="50000"/>
                  </a:schemeClr>
                </a:solidFill>
                <a:latin typeface="Palatino Linotype"/>
                <a:cs typeface="Palatino Linotype"/>
              </a:rPr>
              <a:t>Canonical</a:t>
            </a:r>
            <a:r>
              <a:rPr sz="1800" spc="-15" dirty="0">
                <a:solidFill>
                  <a:schemeClr val="bg2">
                    <a:lumMod val="50000"/>
                  </a:schemeClr>
                </a:solidFill>
                <a:latin typeface="Palatino Linotype"/>
                <a:cs typeface="Palatino Linotype"/>
              </a:rPr>
              <a:t> </a:t>
            </a:r>
            <a:r>
              <a:rPr sz="1800" dirty="0">
                <a:solidFill>
                  <a:schemeClr val="bg2">
                    <a:lumMod val="50000"/>
                  </a:schemeClr>
                </a:solidFill>
                <a:latin typeface="Palatino Linotype"/>
                <a:cs typeface="Palatino Linotype"/>
              </a:rPr>
              <a:t>LR</a:t>
            </a:r>
            <a:r>
              <a:rPr sz="1800" spc="-60" dirty="0">
                <a:solidFill>
                  <a:schemeClr val="bg2">
                    <a:lumMod val="50000"/>
                  </a:schemeClr>
                </a:solidFill>
                <a:latin typeface="Palatino Linotype"/>
                <a:cs typeface="Palatino Linotype"/>
              </a:rPr>
              <a:t> </a:t>
            </a:r>
            <a:r>
              <a:rPr sz="1800" spc="-5" dirty="0">
                <a:solidFill>
                  <a:schemeClr val="bg2">
                    <a:lumMod val="50000"/>
                  </a:schemeClr>
                </a:solidFill>
                <a:latin typeface="Palatino Linotype"/>
                <a:cs typeface="Palatino Linotype"/>
              </a:rPr>
              <a:t>(CLR)</a:t>
            </a:r>
            <a:endParaRPr sz="1800" dirty="0">
              <a:solidFill>
                <a:schemeClr val="bg2">
                  <a:lumMod val="50000"/>
                </a:schemeClr>
              </a:solidFill>
              <a:latin typeface="Palatino Linotype"/>
              <a:cs typeface="Palatino Linotype"/>
            </a:endParaRPr>
          </a:p>
          <a:p>
            <a:pPr>
              <a:lnSpc>
                <a:spcPct val="100000"/>
              </a:lnSpc>
              <a:spcBef>
                <a:spcPts val="35"/>
              </a:spcBef>
            </a:pPr>
            <a:endParaRPr sz="1700" dirty="0">
              <a:latin typeface="Palatino Linotype"/>
              <a:cs typeface="Palatino Linotype"/>
            </a:endParaRPr>
          </a:p>
          <a:p>
            <a:pPr marL="532765" indent="-286385">
              <a:lnSpc>
                <a:spcPct val="100000"/>
              </a:lnSpc>
              <a:buFont typeface="Arial MT"/>
              <a:buChar char="•"/>
              <a:tabLst>
                <a:tab pos="532765" algn="l"/>
                <a:tab pos="533400" algn="l"/>
              </a:tabLst>
            </a:pPr>
            <a:r>
              <a:rPr sz="1800" dirty="0">
                <a:latin typeface="Palatino Linotype"/>
                <a:cs typeface="Palatino Linotype"/>
              </a:rPr>
              <a:t>Error</a:t>
            </a:r>
            <a:r>
              <a:rPr sz="1800" spc="-30" dirty="0">
                <a:latin typeface="Palatino Linotype"/>
                <a:cs typeface="Palatino Linotype"/>
              </a:rPr>
              <a:t> </a:t>
            </a:r>
            <a:r>
              <a:rPr sz="1800" spc="-10" dirty="0">
                <a:latin typeface="Palatino Linotype"/>
                <a:cs typeface="Palatino Linotype"/>
              </a:rPr>
              <a:t>Recovery</a:t>
            </a:r>
            <a:endParaRPr sz="1800" dirty="0">
              <a:latin typeface="Palatino Linotype"/>
              <a:cs typeface="Palatino Linotype"/>
            </a:endParaRPr>
          </a:p>
        </p:txBody>
      </p:sp>
      <p:sp>
        <p:nvSpPr>
          <p:cNvPr id="6" name="object 10">
            <a:extLst>
              <a:ext uri="{FF2B5EF4-FFF2-40B4-BE49-F238E27FC236}">
                <a16:creationId xmlns:a16="http://schemas.microsoft.com/office/drawing/2014/main" id="{14CE4A7B-F005-05A0-3A4D-ABE8DD73077A}"/>
              </a:ext>
            </a:extLst>
          </p:cNvPr>
          <p:cNvSpPr/>
          <p:nvPr/>
        </p:nvSpPr>
        <p:spPr>
          <a:xfrm>
            <a:off x="3711502" y="4221088"/>
            <a:ext cx="1976178" cy="685248"/>
          </a:xfrm>
          <a:custGeom>
            <a:avLst/>
            <a:gdLst/>
            <a:ahLst/>
            <a:cxnLst/>
            <a:rect l="l" t="t" r="r" b="b"/>
            <a:pathLst>
              <a:path w="1804035" h="709295">
                <a:moveTo>
                  <a:pt x="1803481" y="0"/>
                </a:moveTo>
                <a:lnTo>
                  <a:pt x="0" y="708766"/>
                </a:lnTo>
              </a:path>
            </a:pathLst>
          </a:custGeom>
          <a:ln w="12700">
            <a:solidFill>
              <a:srgbClr val="7F7F7F"/>
            </a:solidFill>
          </a:ln>
        </p:spPr>
        <p:txBody>
          <a:bodyPr wrap="square" lIns="0" tIns="0" rIns="0" bIns="0" rtlCol="0"/>
          <a:lstStyle/>
          <a:p>
            <a:endParaRPr/>
          </a:p>
        </p:txBody>
      </p:sp>
    </p:spTree>
    <p:extLst>
      <p:ext uri="{BB962C8B-B14F-4D97-AF65-F5344CB8AC3E}">
        <p14:creationId xmlns:p14="http://schemas.microsoft.com/office/powerpoint/2010/main" val="293373957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145</a:t>
            </a:fld>
            <a:endParaRPr lang="en-US"/>
          </a:p>
        </p:txBody>
      </p:sp>
      <p:sp>
        <p:nvSpPr>
          <p:cNvPr id="7" name="object 2">
            <a:extLst>
              <a:ext uri="{FF2B5EF4-FFF2-40B4-BE49-F238E27FC236}">
                <a16:creationId xmlns:a16="http://schemas.microsoft.com/office/drawing/2014/main" id="{7B3C970F-B5C6-DFCB-92AF-62649FF6CA53}"/>
              </a:ext>
            </a:extLst>
          </p:cNvPr>
          <p:cNvSpPr txBox="1">
            <a:spLocks/>
          </p:cNvSpPr>
          <p:nvPr/>
        </p:nvSpPr>
        <p:spPr>
          <a:xfrm>
            <a:off x="707390" y="524763"/>
            <a:ext cx="675957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dirty="0">
                <a:ln>
                  <a:noFill/>
                </a:ln>
                <a:solidFill>
                  <a:sysClr val="windowText" lastClr="000000"/>
                </a:solidFill>
                <a:effectLst/>
                <a:uLnTx/>
                <a:uFillTx/>
                <a:latin typeface="Palatino Linotype"/>
                <a:ea typeface="+mj-ea"/>
              </a:rPr>
              <a:t>Error</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 Recovery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in</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0" normalizeH="0" baseline="0" noProof="0" dirty="0">
                <a:ln>
                  <a:noFill/>
                </a:ln>
                <a:solidFill>
                  <a:sysClr val="windowText" lastClr="000000"/>
                </a:solidFill>
                <a:effectLst/>
                <a:uLnTx/>
                <a:uFillTx/>
                <a:latin typeface="Palatino Linotype"/>
                <a:ea typeface="+mj-ea"/>
              </a:rPr>
              <a:t>LR</a:t>
            </a:r>
            <a:r>
              <a:rPr kumimoji="0" lang="en-US" sz="4000" b="1" i="0" u="none" strike="noStrike" kern="0" cap="none" spc="-15"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Parsing</a:t>
            </a:r>
          </a:p>
        </p:txBody>
      </p:sp>
      <p:sp>
        <p:nvSpPr>
          <p:cNvPr id="8" name="object 3">
            <a:extLst>
              <a:ext uri="{FF2B5EF4-FFF2-40B4-BE49-F238E27FC236}">
                <a16:creationId xmlns:a16="http://schemas.microsoft.com/office/drawing/2014/main" id="{BCFA9950-4AE1-10B5-3080-65DE986B1B75}"/>
              </a:ext>
            </a:extLst>
          </p:cNvPr>
          <p:cNvSpPr txBox="1"/>
          <p:nvPr/>
        </p:nvSpPr>
        <p:spPr>
          <a:xfrm>
            <a:off x="707390" y="1486915"/>
            <a:ext cx="6631940" cy="3154680"/>
          </a:xfrm>
          <a:prstGeom prst="rect">
            <a:avLst/>
          </a:prstGeom>
        </p:spPr>
        <p:txBody>
          <a:bodyPr vert="horz" wrap="square" lIns="0" tIns="183515" rIns="0" bIns="0" rtlCol="0">
            <a:spAutoFit/>
          </a:bodyPr>
          <a:lstStyle/>
          <a:p>
            <a:pPr marL="243204" indent="-230504" rtl="0">
              <a:spcBef>
                <a:spcPts val="1445"/>
              </a:spcBef>
              <a:buFont typeface="Arial MT"/>
              <a:buChar char="•"/>
              <a:tabLst>
                <a:tab pos="243204" algn="l"/>
              </a:tabLst>
            </a:pPr>
            <a:r>
              <a:rPr sz="2400" kern="1200" spc="-5" dirty="0">
                <a:solidFill>
                  <a:prstClr val="black"/>
                </a:solidFill>
                <a:latin typeface="Palatino Linotype"/>
                <a:cs typeface="Palatino Linotype"/>
              </a:rPr>
              <a:t>An</a:t>
            </a:r>
            <a:r>
              <a:rPr sz="2400" kern="1200" dirty="0">
                <a:solidFill>
                  <a:prstClr val="black"/>
                </a:solidFill>
                <a:latin typeface="Palatino Linotype"/>
                <a:cs typeface="Palatino Linotype"/>
              </a:rPr>
              <a:t> </a:t>
            </a:r>
            <a:r>
              <a:rPr sz="2400" kern="1200" spc="-5" dirty="0">
                <a:solidFill>
                  <a:prstClr val="black"/>
                </a:solidFill>
                <a:latin typeface="Palatino Linotype"/>
                <a:cs typeface="Palatino Linotype"/>
              </a:rPr>
              <a:t>LR</a:t>
            </a:r>
            <a:r>
              <a:rPr sz="2400" kern="1200" spc="-55" dirty="0">
                <a:solidFill>
                  <a:prstClr val="black"/>
                </a:solidFill>
                <a:latin typeface="Palatino Linotype"/>
                <a:cs typeface="Palatino Linotype"/>
              </a:rPr>
              <a:t> </a:t>
            </a:r>
            <a:r>
              <a:rPr sz="2400" kern="1200" spc="-5" dirty="0">
                <a:solidFill>
                  <a:prstClr val="black"/>
                </a:solidFill>
                <a:latin typeface="Palatino Linotype"/>
                <a:cs typeface="Palatino Linotype"/>
              </a:rPr>
              <a:t>parser</a:t>
            </a:r>
            <a:r>
              <a:rPr sz="2400" kern="1200" dirty="0">
                <a:solidFill>
                  <a:prstClr val="black"/>
                </a:solidFill>
                <a:latin typeface="Palatino Linotype"/>
                <a:cs typeface="Palatino Linotype"/>
              </a:rPr>
              <a:t> </a:t>
            </a:r>
            <a:r>
              <a:rPr sz="2400" kern="1200" spc="-5" dirty="0">
                <a:solidFill>
                  <a:prstClr val="black"/>
                </a:solidFill>
                <a:latin typeface="Palatino Linotype"/>
                <a:cs typeface="Palatino Linotype"/>
              </a:rPr>
              <a:t>should</a:t>
            </a:r>
            <a:r>
              <a:rPr sz="2400" kern="1200" dirty="0">
                <a:solidFill>
                  <a:prstClr val="black"/>
                </a:solidFill>
                <a:latin typeface="Palatino Linotype"/>
                <a:cs typeface="Palatino Linotype"/>
              </a:rPr>
              <a:t> </a:t>
            </a:r>
            <a:r>
              <a:rPr sz="2400" kern="1200" spc="-5" dirty="0">
                <a:solidFill>
                  <a:prstClr val="black"/>
                </a:solidFill>
                <a:latin typeface="Palatino Linotype"/>
                <a:cs typeface="Palatino Linotype"/>
              </a:rPr>
              <a:t>be</a:t>
            </a:r>
            <a:r>
              <a:rPr sz="2400" kern="1200" spc="5" dirty="0">
                <a:solidFill>
                  <a:prstClr val="black"/>
                </a:solidFill>
                <a:latin typeface="Palatino Linotype"/>
                <a:cs typeface="Palatino Linotype"/>
              </a:rPr>
              <a:t> </a:t>
            </a:r>
            <a:r>
              <a:rPr sz="2400" kern="1200" spc="-5" dirty="0">
                <a:solidFill>
                  <a:prstClr val="black"/>
                </a:solidFill>
                <a:latin typeface="Palatino Linotype"/>
                <a:cs typeface="Palatino Linotype"/>
              </a:rPr>
              <a:t>able</a:t>
            </a:r>
            <a:r>
              <a:rPr sz="2400" kern="1200" dirty="0">
                <a:solidFill>
                  <a:prstClr val="black"/>
                </a:solidFill>
                <a:latin typeface="Palatino Linotype"/>
                <a:cs typeface="Palatino Linotype"/>
              </a:rPr>
              <a:t> to</a:t>
            </a:r>
            <a:r>
              <a:rPr sz="2400" kern="1200" spc="5" dirty="0">
                <a:solidFill>
                  <a:prstClr val="black"/>
                </a:solidFill>
                <a:latin typeface="Palatino Linotype"/>
                <a:cs typeface="Palatino Linotype"/>
              </a:rPr>
              <a:t> </a:t>
            </a:r>
            <a:r>
              <a:rPr sz="2400" kern="1200" spc="-5" dirty="0">
                <a:solidFill>
                  <a:prstClr val="black"/>
                </a:solidFill>
                <a:latin typeface="Palatino Linotype"/>
                <a:cs typeface="Palatino Linotype"/>
              </a:rPr>
              <a:t>handle</a:t>
            </a:r>
            <a:r>
              <a:rPr sz="2400" kern="1200" spc="5" dirty="0">
                <a:solidFill>
                  <a:prstClr val="black"/>
                </a:solidFill>
                <a:latin typeface="Palatino Linotype"/>
                <a:cs typeface="Palatino Linotype"/>
              </a:rPr>
              <a:t> </a:t>
            </a:r>
            <a:r>
              <a:rPr sz="2400" kern="1200" spc="-5" dirty="0">
                <a:solidFill>
                  <a:prstClr val="black"/>
                </a:solidFill>
                <a:latin typeface="Palatino Linotype"/>
                <a:cs typeface="Palatino Linotype"/>
              </a:rPr>
              <a:t>errors:</a:t>
            </a:r>
            <a:endParaRPr sz="2400" kern="1200" dirty="0">
              <a:solidFill>
                <a:prstClr val="black"/>
              </a:solidFill>
              <a:latin typeface="Palatino Linotype"/>
              <a:cs typeface="Palatino Linotype"/>
            </a:endParaRPr>
          </a:p>
          <a:p>
            <a:pPr marL="698500" lvl="1" indent="-228600" rtl="0">
              <a:spcBef>
                <a:spcPts val="1120"/>
              </a:spcBef>
              <a:buFont typeface="Wingdings"/>
              <a:buChar char=""/>
              <a:tabLst>
                <a:tab pos="698500" algn="l"/>
              </a:tabLst>
            </a:pPr>
            <a:r>
              <a:rPr sz="2000" kern="1200" spc="-5" dirty="0">
                <a:solidFill>
                  <a:prstClr val="black"/>
                </a:solidFill>
                <a:latin typeface="Palatino Linotype"/>
                <a:cs typeface="Palatino Linotype"/>
              </a:rPr>
              <a:t>Report</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precise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location</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of </a:t>
            </a:r>
            <a:r>
              <a:rPr sz="2000" kern="1200" dirty="0">
                <a:solidFill>
                  <a:prstClr val="black"/>
                </a:solidFill>
                <a:latin typeface="Palatino Linotype"/>
                <a:cs typeface="Palatino Linotype"/>
              </a:rPr>
              <a:t>an</a:t>
            </a:r>
            <a:r>
              <a:rPr sz="2000" kern="1200" spc="-5" dirty="0">
                <a:solidFill>
                  <a:prstClr val="black"/>
                </a:solidFill>
                <a:latin typeface="Palatino Linotype"/>
                <a:cs typeface="Palatino Linotype"/>
              </a:rPr>
              <a:t> error</a:t>
            </a:r>
            <a:endParaRPr sz="2000" kern="1200" dirty="0">
              <a:solidFill>
                <a:prstClr val="black"/>
              </a:solidFill>
              <a:latin typeface="Palatino Linotype"/>
              <a:cs typeface="Palatino Linotype"/>
            </a:endParaRPr>
          </a:p>
          <a:p>
            <a:pPr marL="698500" lvl="1" indent="-228600" rtl="0">
              <a:spcBef>
                <a:spcPts val="1100"/>
              </a:spcBef>
              <a:buFont typeface="Wingdings"/>
              <a:buChar char=""/>
              <a:tabLst>
                <a:tab pos="698500" algn="l"/>
              </a:tabLst>
            </a:pPr>
            <a:r>
              <a:rPr sz="2000" kern="1200" spc="-10" dirty="0">
                <a:solidFill>
                  <a:prstClr val="black"/>
                </a:solidFill>
                <a:latin typeface="Palatino Linotype"/>
                <a:cs typeface="Palatino Linotype"/>
              </a:rPr>
              <a:t>Recover </a:t>
            </a:r>
            <a:r>
              <a:rPr sz="2000" kern="1200" spc="-5" dirty="0">
                <a:solidFill>
                  <a:prstClr val="black"/>
                </a:solidFill>
                <a:latin typeface="Palatino Linotype"/>
                <a:cs typeface="Palatino Linotype"/>
              </a:rPr>
              <a:t>from </a:t>
            </a:r>
            <a:r>
              <a:rPr sz="2000" kern="1200" dirty="0">
                <a:solidFill>
                  <a:prstClr val="black"/>
                </a:solidFill>
                <a:latin typeface="Palatino Linotype"/>
                <a:cs typeface="Palatino Linotype"/>
              </a:rPr>
              <a:t>an</a:t>
            </a:r>
            <a:r>
              <a:rPr sz="2000" kern="1200" spc="-5" dirty="0">
                <a:solidFill>
                  <a:prstClr val="black"/>
                </a:solidFill>
                <a:latin typeface="Palatino Linotype"/>
                <a:cs typeface="Palatino Linotype"/>
              </a:rPr>
              <a:t> error and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continue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with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parsing</a:t>
            </a:r>
            <a:endParaRPr sz="2000" kern="1200" dirty="0">
              <a:solidFill>
                <a:prstClr val="black"/>
              </a:solidFill>
              <a:latin typeface="Palatino Linotype"/>
              <a:cs typeface="Palatino Linotype"/>
            </a:endParaRPr>
          </a:p>
          <a:p>
            <a:pPr lvl="1" rtl="0">
              <a:spcBef>
                <a:spcPts val="5"/>
              </a:spcBef>
              <a:buFont typeface="Wingdings"/>
              <a:buChar char=""/>
            </a:pPr>
            <a:endParaRPr sz="2600" kern="1200" dirty="0">
              <a:solidFill>
                <a:prstClr val="black"/>
              </a:solidFill>
              <a:latin typeface="Palatino Linotype"/>
              <a:cs typeface="Palatino Linotype"/>
            </a:endParaRPr>
          </a:p>
          <a:p>
            <a:pPr marL="243204" indent="-230504" rtl="0">
              <a:buFont typeface="Arial MT"/>
              <a:buChar char="•"/>
              <a:tabLst>
                <a:tab pos="243204" algn="l"/>
              </a:tabLst>
            </a:pPr>
            <a:r>
              <a:rPr sz="2400" kern="1200" spc="-70" dirty="0">
                <a:solidFill>
                  <a:prstClr val="black"/>
                </a:solidFill>
                <a:latin typeface="Palatino Linotype"/>
                <a:cs typeface="Palatino Linotype"/>
              </a:rPr>
              <a:t>Two</a:t>
            </a:r>
            <a:r>
              <a:rPr sz="2400" kern="1200" spc="-10" dirty="0">
                <a:solidFill>
                  <a:prstClr val="black"/>
                </a:solidFill>
                <a:latin typeface="Palatino Linotype"/>
                <a:cs typeface="Palatino Linotype"/>
              </a:rPr>
              <a:t> </a:t>
            </a:r>
            <a:r>
              <a:rPr sz="2400" kern="1200" spc="-5" dirty="0">
                <a:solidFill>
                  <a:prstClr val="black"/>
                </a:solidFill>
                <a:latin typeface="Palatino Linotype"/>
                <a:cs typeface="Palatino Linotype"/>
              </a:rPr>
              <a:t>typical </a:t>
            </a:r>
            <a:r>
              <a:rPr sz="2400" kern="1200" dirty="0">
                <a:solidFill>
                  <a:prstClr val="black"/>
                </a:solidFill>
                <a:latin typeface="Palatino Linotype"/>
                <a:cs typeface="Palatino Linotype"/>
              </a:rPr>
              <a:t>error</a:t>
            </a:r>
            <a:r>
              <a:rPr sz="2400" kern="1200" spc="-10" dirty="0">
                <a:solidFill>
                  <a:prstClr val="black"/>
                </a:solidFill>
                <a:latin typeface="Palatino Linotype"/>
                <a:cs typeface="Palatino Linotype"/>
              </a:rPr>
              <a:t> recovery</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strategies</a:t>
            </a:r>
          </a:p>
          <a:p>
            <a:pPr marL="698500" lvl="1" indent="-228600" rtl="0">
              <a:spcBef>
                <a:spcPts val="1120"/>
              </a:spcBef>
              <a:buClr>
                <a:srgbClr val="000000"/>
              </a:buClr>
              <a:buFont typeface="Wingdings"/>
              <a:buChar char=""/>
              <a:tabLst>
                <a:tab pos="698500" algn="l"/>
              </a:tabLst>
            </a:pPr>
            <a:r>
              <a:rPr sz="2000" kern="1200" spc="-10" dirty="0">
                <a:solidFill>
                  <a:srgbClr val="0432FF"/>
                </a:solidFill>
                <a:latin typeface="Palatino Linotype"/>
                <a:cs typeface="Palatino Linotype"/>
              </a:rPr>
              <a:t>Panic-mode</a:t>
            </a:r>
            <a:r>
              <a:rPr sz="2000" kern="1200" spc="-20" dirty="0">
                <a:solidFill>
                  <a:srgbClr val="0432FF"/>
                </a:solidFill>
                <a:latin typeface="Palatino Linotype"/>
                <a:cs typeface="Palatino Linotype"/>
              </a:rPr>
              <a:t> </a:t>
            </a:r>
            <a:r>
              <a:rPr sz="2000" kern="1200" spc="-10" dirty="0">
                <a:solidFill>
                  <a:srgbClr val="0432FF"/>
                </a:solidFill>
                <a:latin typeface="Palatino Linotype"/>
                <a:cs typeface="Palatino Linotype"/>
              </a:rPr>
              <a:t>recovery</a:t>
            </a:r>
            <a:r>
              <a:rPr sz="2000" kern="1200" spc="-20" dirty="0">
                <a:solidFill>
                  <a:srgbClr val="0432FF"/>
                </a:solidFill>
                <a:latin typeface="Palatino Linotype"/>
                <a:cs typeface="Palatino Linotype"/>
              </a:rPr>
              <a:t> </a:t>
            </a:r>
            <a:r>
              <a:rPr sz="2000" kern="1200" spc="-5" dirty="0">
                <a:solidFill>
                  <a:srgbClr val="0432FF"/>
                </a:solidFill>
                <a:latin typeface="Palatino Linotype"/>
                <a:cs typeface="Palatino Linotype"/>
              </a:rPr>
              <a:t>(</a:t>
            </a:r>
            <a:r>
              <a:rPr sz="2000" kern="1200" dirty="0">
                <a:solidFill>
                  <a:srgbClr val="0432FF"/>
                </a:solidFill>
                <a:latin typeface="SimSun"/>
                <a:cs typeface="SimSun"/>
              </a:rPr>
              <a:t>恐慌模式</a:t>
            </a:r>
            <a:r>
              <a:rPr sz="2000" kern="1200" dirty="0">
                <a:solidFill>
                  <a:srgbClr val="0432FF"/>
                </a:solidFill>
                <a:latin typeface="Palatino Linotype"/>
                <a:cs typeface="Palatino Linotype"/>
              </a:rPr>
              <a:t>)</a:t>
            </a:r>
            <a:endParaRPr sz="2000" kern="1200" dirty="0">
              <a:solidFill>
                <a:prstClr val="black"/>
              </a:solidFill>
              <a:latin typeface="Palatino Linotype"/>
              <a:cs typeface="Palatino Linotype"/>
            </a:endParaRPr>
          </a:p>
          <a:p>
            <a:pPr marL="698500" lvl="1" indent="-228600" rtl="0">
              <a:spcBef>
                <a:spcPts val="1080"/>
              </a:spcBef>
              <a:buClr>
                <a:srgbClr val="000000"/>
              </a:buClr>
              <a:buFont typeface="Wingdings"/>
              <a:buChar char=""/>
              <a:tabLst>
                <a:tab pos="698500" algn="l"/>
              </a:tabLst>
            </a:pPr>
            <a:r>
              <a:rPr sz="2000" kern="1200" spc="-5" dirty="0">
                <a:solidFill>
                  <a:srgbClr val="0432FF"/>
                </a:solidFill>
                <a:latin typeface="Palatino Linotype"/>
                <a:cs typeface="Palatino Linotype"/>
              </a:rPr>
              <a:t>Phrase-level</a:t>
            </a:r>
            <a:r>
              <a:rPr sz="2000" kern="1200" spc="-20" dirty="0">
                <a:solidFill>
                  <a:srgbClr val="0432FF"/>
                </a:solidFill>
                <a:latin typeface="Palatino Linotype"/>
                <a:cs typeface="Palatino Linotype"/>
              </a:rPr>
              <a:t> </a:t>
            </a:r>
            <a:r>
              <a:rPr sz="2000" kern="1200" spc="-10" dirty="0">
                <a:solidFill>
                  <a:srgbClr val="0432FF"/>
                </a:solidFill>
                <a:latin typeface="Palatino Linotype"/>
                <a:cs typeface="Palatino Linotype"/>
              </a:rPr>
              <a:t>recovery</a:t>
            </a:r>
            <a:r>
              <a:rPr sz="2000" kern="1200" spc="-20" dirty="0">
                <a:solidFill>
                  <a:srgbClr val="0432FF"/>
                </a:solidFill>
                <a:latin typeface="Palatino Linotype"/>
                <a:cs typeface="Palatino Linotype"/>
              </a:rPr>
              <a:t> </a:t>
            </a:r>
            <a:r>
              <a:rPr sz="2000" kern="1200" spc="-5" dirty="0">
                <a:solidFill>
                  <a:srgbClr val="0432FF"/>
                </a:solidFill>
                <a:latin typeface="Palatino Linotype"/>
                <a:cs typeface="Palatino Linotype"/>
              </a:rPr>
              <a:t>(</a:t>
            </a:r>
            <a:r>
              <a:rPr sz="2000" kern="1200" dirty="0">
                <a:solidFill>
                  <a:srgbClr val="0432FF"/>
                </a:solidFill>
                <a:latin typeface="SimSun"/>
                <a:cs typeface="SimSun"/>
              </a:rPr>
              <a:t>短语层次的恢复</a:t>
            </a:r>
            <a:r>
              <a:rPr sz="2000" kern="1200" dirty="0">
                <a:solidFill>
                  <a:srgbClr val="0432FF"/>
                </a:solidFill>
                <a:latin typeface="Palatino Linotype"/>
                <a:cs typeface="Palatino Linotype"/>
              </a:rPr>
              <a:t>)</a:t>
            </a:r>
            <a:endParaRPr sz="2000" kern="1200" dirty="0">
              <a:solidFill>
                <a:prstClr val="black"/>
              </a:solidFill>
              <a:latin typeface="Palatino Linotype"/>
              <a:cs typeface="Palatino Linotype"/>
            </a:endParaRPr>
          </a:p>
        </p:txBody>
      </p:sp>
    </p:spTree>
    <p:extLst>
      <p:ext uri="{BB962C8B-B14F-4D97-AF65-F5344CB8AC3E}">
        <p14:creationId xmlns:p14="http://schemas.microsoft.com/office/powerpoint/2010/main" val="26213656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146</a:t>
            </a:fld>
            <a:endParaRPr lang="en-US"/>
          </a:p>
        </p:txBody>
      </p:sp>
      <p:sp>
        <p:nvSpPr>
          <p:cNvPr id="7" name="object 2">
            <a:extLst>
              <a:ext uri="{FF2B5EF4-FFF2-40B4-BE49-F238E27FC236}">
                <a16:creationId xmlns:a16="http://schemas.microsoft.com/office/drawing/2014/main" id="{8FA0BFE5-065F-C1AC-0768-7E791D5F827F}"/>
              </a:ext>
            </a:extLst>
          </p:cNvPr>
          <p:cNvSpPr txBox="1">
            <a:spLocks/>
          </p:cNvSpPr>
          <p:nvPr/>
        </p:nvSpPr>
        <p:spPr>
          <a:xfrm>
            <a:off x="707390" y="524763"/>
            <a:ext cx="508635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Panic-Mode</a:t>
            </a:r>
            <a:r>
              <a:rPr kumimoji="0" lang="en-US" sz="4000" b="1" i="0" u="none" strike="noStrike" kern="0" cap="none" spc="-4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Recovery</a:t>
            </a:r>
          </a:p>
        </p:txBody>
      </p:sp>
      <p:sp>
        <p:nvSpPr>
          <p:cNvPr id="8" name="object 3">
            <a:extLst>
              <a:ext uri="{FF2B5EF4-FFF2-40B4-BE49-F238E27FC236}">
                <a16:creationId xmlns:a16="http://schemas.microsoft.com/office/drawing/2014/main" id="{8C397667-704E-754E-490B-4DA31A51DBBE}"/>
              </a:ext>
            </a:extLst>
          </p:cNvPr>
          <p:cNvSpPr txBox="1"/>
          <p:nvPr/>
        </p:nvSpPr>
        <p:spPr>
          <a:xfrm>
            <a:off x="707390" y="1600708"/>
            <a:ext cx="7725409" cy="3980179"/>
          </a:xfrm>
          <a:prstGeom prst="rect">
            <a:avLst/>
          </a:prstGeom>
        </p:spPr>
        <p:txBody>
          <a:bodyPr vert="horz" wrap="square" lIns="0" tIns="12700" rIns="0" bIns="0" rtlCol="0">
            <a:spAutoFit/>
          </a:bodyPr>
          <a:lstStyle/>
          <a:p>
            <a:pPr marL="242570" marR="741680" indent="-230504" rtl="0">
              <a:lnSpc>
                <a:spcPct val="117300"/>
              </a:lnSpc>
              <a:spcBef>
                <a:spcPts val="100"/>
              </a:spcBef>
              <a:buClr>
                <a:srgbClr val="000000"/>
              </a:buClr>
              <a:buFont typeface="Arial MT"/>
              <a:buChar char="•"/>
              <a:tabLst>
                <a:tab pos="242570" algn="l"/>
                <a:tab pos="243204" algn="l"/>
              </a:tabLst>
            </a:pPr>
            <a:r>
              <a:rPr sz="2200" b="1" kern="1200" spc="-5" dirty="0">
                <a:solidFill>
                  <a:srgbClr val="0432FF"/>
                </a:solidFill>
                <a:latin typeface="Palatino Linotype"/>
                <a:cs typeface="Palatino Linotype"/>
              </a:rPr>
              <a:t>Basic</a:t>
            </a:r>
            <a:r>
              <a:rPr sz="2200" b="1" kern="1200" spc="-10" dirty="0">
                <a:solidFill>
                  <a:srgbClr val="0432FF"/>
                </a:solidFill>
                <a:latin typeface="Palatino Linotype"/>
                <a:cs typeface="Palatino Linotype"/>
              </a:rPr>
              <a:t> </a:t>
            </a:r>
            <a:r>
              <a:rPr sz="2200" b="1" kern="1200" dirty="0">
                <a:solidFill>
                  <a:srgbClr val="0432FF"/>
                </a:solidFill>
                <a:latin typeface="Palatino Linotype"/>
                <a:cs typeface="Palatino Linotype"/>
              </a:rPr>
              <a:t>idea: </a:t>
            </a:r>
            <a:r>
              <a:rPr sz="2200" kern="1200" spc="-5" dirty="0">
                <a:solidFill>
                  <a:prstClr val="black"/>
                </a:solidFill>
                <a:latin typeface="Palatino Linotype"/>
                <a:cs typeface="Palatino Linotype"/>
              </a:rPr>
              <a:t>Discard</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zero</a:t>
            </a:r>
            <a:r>
              <a:rPr sz="2200" kern="1200" spc="-5" dirty="0">
                <a:solidFill>
                  <a:prstClr val="black"/>
                </a:solidFill>
                <a:latin typeface="Palatino Linotype"/>
                <a:cs typeface="Palatino Linotype"/>
              </a:rPr>
              <a:t> or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more input symbols</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until </a:t>
            </a:r>
            <a:r>
              <a:rPr sz="2200" kern="1200" dirty="0">
                <a:solidFill>
                  <a:prstClr val="black"/>
                </a:solidFill>
                <a:latin typeface="Palatino Linotype"/>
                <a:cs typeface="Palatino Linotype"/>
              </a:rPr>
              <a:t>a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synchronization</a:t>
            </a:r>
            <a:r>
              <a:rPr sz="2200" kern="1200" spc="-15" dirty="0">
                <a:solidFill>
                  <a:prstClr val="black"/>
                </a:solidFill>
                <a:latin typeface="Palatino Linotype"/>
                <a:cs typeface="Palatino Linotype"/>
              </a:rPr>
              <a:t> </a:t>
            </a:r>
            <a:r>
              <a:rPr sz="2200" kern="1200" spc="-5" dirty="0">
                <a:solidFill>
                  <a:prstClr val="black"/>
                </a:solidFill>
                <a:latin typeface="Palatino Linotype"/>
                <a:cs typeface="Palatino Linotype"/>
              </a:rPr>
              <a:t>token</a:t>
            </a:r>
            <a:r>
              <a:rPr sz="2200" kern="1200" spc="-15" dirty="0">
                <a:solidFill>
                  <a:prstClr val="black"/>
                </a:solidFill>
                <a:latin typeface="Palatino Linotype"/>
                <a:cs typeface="Palatino Linotype"/>
              </a:rPr>
              <a:t> </a:t>
            </a:r>
            <a:r>
              <a:rPr sz="2200" kern="1200" dirty="0">
                <a:solidFill>
                  <a:prstClr val="black"/>
                </a:solidFill>
                <a:latin typeface="Palatino Linotype"/>
                <a:cs typeface="Palatino Linotype"/>
              </a:rPr>
              <a:t>(</a:t>
            </a:r>
            <a:r>
              <a:rPr sz="2200" kern="1200" dirty="0">
                <a:solidFill>
                  <a:prstClr val="black"/>
                </a:solidFill>
                <a:latin typeface="SimSun"/>
                <a:cs typeface="SimSun"/>
              </a:rPr>
              <a:t>同步词法单元</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is</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found</a:t>
            </a:r>
            <a:endParaRPr sz="2200" kern="1200" dirty="0">
              <a:solidFill>
                <a:prstClr val="black"/>
              </a:solidFill>
              <a:latin typeface="Palatino Linotype"/>
              <a:cs typeface="Palatino Linotype"/>
            </a:endParaRPr>
          </a:p>
          <a:p>
            <a:pPr rtl="0">
              <a:spcBef>
                <a:spcPts val="50"/>
              </a:spcBef>
              <a:buFont typeface="Arial MT"/>
              <a:buChar char="•"/>
            </a:pPr>
            <a:endParaRPr sz="2150" kern="1200" dirty="0">
              <a:solidFill>
                <a:prstClr val="black"/>
              </a:solidFill>
              <a:latin typeface="Palatino Linotype"/>
              <a:cs typeface="Palatino Linotype"/>
            </a:endParaRPr>
          </a:p>
          <a:p>
            <a:pPr marL="243204" indent="-230504" rtl="0">
              <a:buClr>
                <a:srgbClr val="000000"/>
              </a:buClr>
              <a:buFont typeface="Arial MT"/>
              <a:buChar char="•"/>
              <a:tabLst>
                <a:tab pos="242570" algn="l"/>
                <a:tab pos="243204" algn="l"/>
              </a:tabLst>
            </a:pPr>
            <a:r>
              <a:rPr sz="2200" b="1" kern="1200" dirty="0">
                <a:solidFill>
                  <a:srgbClr val="FF0000"/>
                </a:solidFill>
                <a:latin typeface="Palatino Linotype"/>
                <a:cs typeface="Palatino Linotype"/>
              </a:rPr>
              <a:t>Rationale:</a:t>
            </a:r>
            <a:endParaRPr sz="2200" kern="1200" dirty="0">
              <a:solidFill>
                <a:prstClr val="black"/>
              </a:solidFill>
              <a:latin typeface="Palatino Linotype"/>
              <a:cs typeface="Palatino Linotype"/>
            </a:endParaRPr>
          </a:p>
          <a:p>
            <a:pPr marL="698500" marR="5080" lvl="1" indent="-228600" rtl="0">
              <a:lnSpc>
                <a:spcPct val="120000"/>
              </a:lnSpc>
              <a:spcBef>
                <a:spcPts val="1240"/>
              </a:spcBef>
              <a:buFont typeface="Wingdings"/>
              <a:buChar char=""/>
              <a:tabLst>
                <a:tab pos="698500" algn="l"/>
              </a:tabLst>
            </a:pPr>
            <a:r>
              <a:rPr kern="1200" spc="-5" dirty="0">
                <a:solidFill>
                  <a:prstClr val="black"/>
                </a:solidFill>
                <a:latin typeface="Palatino Linotype"/>
                <a:cs typeface="Palatino Linotype"/>
              </a:rPr>
              <a:t>The </a:t>
            </a:r>
            <a:r>
              <a:rPr kern="1200" dirty="0">
                <a:solidFill>
                  <a:prstClr val="black"/>
                </a:solidFill>
                <a:latin typeface="Palatino Linotype"/>
                <a:cs typeface="Palatino Linotype"/>
              </a:rPr>
              <a:t>parser </a:t>
            </a:r>
            <a:r>
              <a:rPr kern="1200" spc="-10" dirty="0">
                <a:solidFill>
                  <a:prstClr val="black"/>
                </a:solidFill>
                <a:latin typeface="Palatino Linotype"/>
                <a:cs typeface="Palatino Linotype"/>
              </a:rPr>
              <a:t>always </a:t>
            </a:r>
            <a:r>
              <a:rPr kern="1200" spc="-5" dirty="0">
                <a:solidFill>
                  <a:prstClr val="black"/>
                </a:solidFill>
                <a:latin typeface="Palatino Linotype"/>
                <a:cs typeface="Palatino Linotype"/>
              </a:rPr>
              <a:t>looks </a:t>
            </a:r>
            <a:r>
              <a:rPr kern="1200" dirty="0">
                <a:solidFill>
                  <a:prstClr val="black"/>
                </a:solidFill>
                <a:latin typeface="Palatino Linotype"/>
                <a:cs typeface="Palatino Linotype"/>
              </a:rPr>
              <a:t>for a prefix of the input that can be </a:t>
            </a:r>
            <a:r>
              <a:rPr kern="1200" spc="-10" dirty="0">
                <a:solidFill>
                  <a:prstClr val="black"/>
                </a:solidFill>
                <a:latin typeface="Palatino Linotype"/>
                <a:cs typeface="Palatino Linotype"/>
              </a:rPr>
              <a:t>derivable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from</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 </a:t>
            </a:r>
            <a:r>
              <a:rPr kern="1200" spc="-5" dirty="0">
                <a:solidFill>
                  <a:prstClr val="black"/>
                </a:solidFill>
                <a:latin typeface="Palatino Linotype"/>
                <a:cs typeface="Palatino Linotype"/>
              </a:rPr>
              <a:t>non-terminal</a:t>
            </a:r>
            <a:r>
              <a:rPr kern="1200" dirty="0">
                <a:solidFill>
                  <a:prstClr val="black"/>
                </a:solidFill>
                <a:latin typeface="Palatino Linotype"/>
                <a:cs typeface="Palatino Linotype"/>
              </a:rPr>
              <a:t> </a:t>
            </a:r>
            <a:r>
              <a:rPr kern="1200" dirty="0">
                <a:solidFill>
                  <a:prstClr val="black"/>
                </a:solidFill>
                <a:latin typeface="Cambria Math"/>
                <a:cs typeface="Cambria Math"/>
              </a:rPr>
              <a:t>𝐴</a:t>
            </a:r>
          </a:p>
          <a:p>
            <a:pPr marL="698500" lvl="1" indent="-228600" rtl="0">
              <a:spcBef>
                <a:spcPts val="1655"/>
              </a:spcBef>
              <a:buFont typeface="Wingdings"/>
              <a:buChar char=""/>
              <a:tabLst>
                <a:tab pos="698500" algn="l"/>
              </a:tabLst>
            </a:pPr>
            <a:r>
              <a:rPr kern="1200" dirty="0">
                <a:solidFill>
                  <a:prstClr val="black"/>
                </a:solidFill>
                <a:latin typeface="Palatino Linotype"/>
                <a:cs typeface="Palatino Linotype"/>
              </a:rPr>
              <a:t>When there 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an </a:t>
            </a:r>
            <a:r>
              <a:rPr kern="1200" spc="-15" dirty="0">
                <a:solidFill>
                  <a:prstClr val="black"/>
                </a:solidFill>
                <a:latin typeface="Palatino Linotype"/>
                <a:cs typeface="Palatino Linotype"/>
              </a:rPr>
              <a:t>error,</a:t>
            </a:r>
            <a:r>
              <a:rPr kern="1200" dirty="0">
                <a:solidFill>
                  <a:prstClr val="black"/>
                </a:solidFill>
                <a:latin typeface="Palatino Linotype"/>
                <a:cs typeface="Palatino Linotype"/>
              </a:rPr>
              <a:t> it </a:t>
            </a:r>
            <a:r>
              <a:rPr kern="1200" spc="-5" dirty="0">
                <a:solidFill>
                  <a:prstClr val="black"/>
                </a:solidFill>
                <a:latin typeface="Palatino Linotype"/>
                <a:cs typeface="Palatino Linotype"/>
              </a:rPr>
              <a:t>means </a:t>
            </a:r>
            <a:r>
              <a:rPr kern="1200" dirty="0">
                <a:solidFill>
                  <a:prstClr val="black"/>
                </a:solidFill>
                <a:latin typeface="Palatino Linotype"/>
                <a:cs typeface="Palatino Linotype"/>
              </a:rPr>
              <a:t>it is</a:t>
            </a:r>
            <a:r>
              <a:rPr kern="1200" spc="-5" dirty="0">
                <a:solidFill>
                  <a:prstClr val="black"/>
                </a:solidFill>
                <a:latin typeface="Palatino Linotype"/>
                <a:cs typeface="Palatino Linotype"/>
              </a:rPr>
              <a:t> impossible</a:t>
            </a:r>
            <a:r>
              <a:rPr kern="1200" dirty="0">
                <a:solidFill>
                  <a:prstClr val="black"/>
                </a:solidFill>
                <a:latin typeface="Palatino Linotype"/>
                <a:cs typeface="Palatino Linotype"/>
              </a:rPr>
              <a:t> to find </a:t>
            </a:r>
            <a:r>
              <a:rPr kern="1200" spc="-5" dirty="0">
                <a:solidFill>
                  <a:prstClr val="black"/>
                </a:solidFill>
                <a:latin typeface="Palatino Linotype"/>
                <a:cs typeface="Palatino Linotype"/>
              </a:rPr>
              <a:t>such</a:t>
            </a:r>
            <a:r>
              <a:rPr kern="1200" dirty="0">
                <a:solidFill>
                  <a:prstClr val="black"/>
                </a:solidFill>
                <a:latin typeface="Palatino Linotype"/>
                <a:cs typeface="Palatino Linotype"/>
              </a:rPr>
              <a:t> a prefix</a:t>
            </a:r>
          </a:p>
          <a:p>
            <a:pPr marL="698500" marR="287655" lvl="1" indent="-228600" rtl="0">
              <a:lnSpc>
                <a:spcPct val="120000"/>
              </a:lnSpc>
              <a:spcBef>
                <a:spcPts val="1200"/>
              </a:spcBef>
              <a:buFont typeface="Wingdings"/>
              <a:buChar char=""/>
              <a:tabLst>
                <a:tab pos="698500" algn="l"/>
              </a:tabLst>
            </a:pPr>
            <a:r>
              <a:rPr kern="1200" dirty="0">
                <a:solidFill>
                  <a:prstClr val="black"/>
                </a:solidFill>
                <a:latin typeface="Palatino Linotype"/>
                <a:cs typeface="Palatino Linotype"/>
              </a:rPr>
              <a:t>If errors only occur in the part related to </a:t>
            </a:r>
            <a:r>
              <a:rPr kern="1200" spc="5" dirty="0">
                <a:solidFill>
                  <a:prstClr val="black"/>
                </a:solidFill>
                <a:latin typeface="Cambria Math"/>
                <a:cs typeface="Cambria Math"/>
              </a:rPr>
              <a:t>𝐴</a:t>
            </a:r>
            <a:r>
              <a:rPr kern="1200" spc="5" dirty="0">
                <a:solidFill>
                  <a:prstClr val="black"/>
                </a:solidFill>
                <a:latin typeface="Palatino Linotype"/>
                <a:cs typeface="Palatino Linotype"/>
              </a:rPr>
              <a:t>, </a:t>
            </a:r>
            <a:r>
              <a:rPr kern="1200" spc="-20" dirty="0">
                <a:solidFill>
                  <a:prstClr val="black"/>
                </a:solidFill>
                <a:latin typeface="Palatino Linotype"/>
                <a:cs typeface="Palatino Linotype"/>
              </a:rPr>
              <a:t>we </a:t>
            </a:r>
            <a:r>
              <a:rPr kern="1200" dirty="0">
                <a:solidFill>
                  <a:prstClr val="black"/>
                </a:solidFill>
                <a:latin typeface="Palatino Linotype"/>
                <a:cs typeface="Palatino Linotype"/>
              </a:rPr>
              <a:t>can </a:t>
            </a:r>
            <a:r>
              <a:rPr kern="1200" spc="-5" dirty="0">
                <a:solidFill>
                  <a:prstClr val="black"/>
                </a:solidFill>
                <a:latin typeface="Palatino Linotype"/>
                <a:cs typeface="Palatino Linotype"/>
              </a:rPr>
              <a:t>skip </a:t>
            </a:r>
            <a:r>
              <a:rPr kern="1200" dirty="0">
                <a:solidFill>
                  <a:prstClr val="black"/>
                </a:solidFill>
                <a:latin typeface="Palatino Linotype"/>
                <a:cs typeface="Palatino Linotype"/>
              </a:rPr>
              <a:t>the part by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looking</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for a </a:t>
            </a:r>
            <a:r>
              <a:rPr kern="1200" spc="-5" dirty="0">
                <a:solidFill>
                  <a:prstClr val="black"/>
                </a:solidFill>
                <a:latin typeface="Palatino Linotype"/>
                <a:cs typeface="Palatino Linotype"/>
              </a:rPr>
              <a:t>symbol</a:t>
            </a:r>
            <a:r>
              <a:rPr kern="1200" dirty="0">
                <a:solidFill>
                  <a:prstClr val="black"/>
                </a:solidFill>
                <a:latin typeface="Palatino Linotype"/>
                <a:cs typeface="Palatino Linotype"/>
              </a:rPr>
              <a:t> that can </a:t>
            </a:r>
            <a:r>
              <a:rPr kern="1200" spc="-5" dirty="0">
                <a:solidFill>
                  <a:prstClr val="black"/>
                </a:solidFill>
                <a:latin typeface="Palatino Linotype"/>
                <a:cs typeface="Palatino Linotype"/>
              </a:rPr>
              <a:t>legitimately </a:t>
            </a:r>
            <a:r>
              <a:rPr kern="1200" dirty="0">
                <a:solidFill>
                  <a:prstClr val="black"/>
                </a:solidFill>
                <a:latin typeface="Palatino Linotype"/>
                <a:cs typeface="Palatino Linotype"/>
              </a:rPr>
              <a:t>follow</a:t>
            </a:r>
            <a:r>
              <a:rPr kern="1200" spc="-5" dirty="0">
                <a:solidFill>
                  <a:prstClr val="black"/>
                </a:solidFill>
                <a:latin typeface="Palatino Linotype"/>
                <a:cs typeface="Palatino Linotype"/>
              </a:rPr>
              <a:t> </a:t>
            </a:r>
            <a:r>
              <a:rPr kern="1200" dirty="0">
                <a:solidFill>
                  <a:prstClr val="black"/>
                </a:solidFill>
                <a:latin typeface="Cambria Math"/>
                <a:cs typeface="Cambria Math"/>
              </a:rPr>
              <a:t>𝐴</a:t>
            </a:r>
          </a:p>
          <a:p>
            <a:pPr marL="926465" rtl="0">
              <a:spcBef>
                <a:spcPts val="1050"/>
              </a:spcBef>
            </a:pPr>
            <a:r>
              <a:rPr sz="1400" kern="1200" dirty="0">
                <a:solidFill>
                  <a:prstClr val="black"/>
                </a:solidFill>
                <a:latin typeface="Courier New"/>
                <a:cs typeface="Courier New"/>
              </a:rPr>
              <a:t>o</a:t>
            </a:r>
            <a:r>
              <a:rPr sz="1400" kern="1200" spc="114" dirty="0">
                <a:solidFill>
                  <a:prstClr val="black"/>
                </a:solidFill>
                <a:latin typeface="Courier New"/>
                <a:cs typeface="Courier New"/>
              </a:rPr>
              <a:t> </a:t>
            </a:r>
            <a:r>
              <a:rPr sz="1400" b="1" kern="1200" spc="-5" dirty="0">
                <a:solidFill>
                  <a:srgbClr val="0432FF"/>
                </a:solidFill>
                <a:latin typeface="Palatino Linotype"/>
                <a:cs typeface="Palatino Linotype"/>
              </a:rPr>
              <a:t>Example:</a:t>
            </a:r>
            <a:r>
              <a:rPr sz="1400" b="1" kern="1200" dirty="0">
                <a:solidFill>
                  <a:srgbClr val="0432FF"/>
                </a:solidFill>
                <a:latin typeface="Palatino Linotype"/>
                <a:cs typeface="Palatino Linotype"/>
              </a:rPr>
              <a:t> </a:t>
            </a:r>
            <a:r>
              <a:rPr sz="1400" kern="1200" dirty="0">
                <a:solidFill>
                  <a:prstClr val="black"/>
                </a:solidFill>
                <a:latin typeface="Palatino Linotype"/>
                <a:cs typeface="Palatino Linotype"/>
              </a:rPr>
              <a:t>If</a:t>
            </a:r>
            <a:r>
              <a:rPr sz="1400" kern="1200" spc="-5" dirty="0">
                <a:solidFill>
                  <a:prstClr val="black"/>
                </a:solidFill>
                <a:latin typeface="Palatino Linotype"/>
                <a:cs typeface="Palatino Linotype"/>
              </a:rPr>
              <a:t> </a:t>
            </a:r>
            <a:r>
              <a:rPr sz="1400" kern="1200" dirty="0">
                <a:solidFill>
                  <a:prstClr val="black"/>
                </a:solidFill>
                <a:latin typeface="Cambria Math"/>
                <a:cs typeface="Cambria Math"/>
              </a:rPr>
              <a:t>𝐴</a:t>
            </a:r>
            <a:r>
              <a:rPr sz="1400" kern="1200" spc="55" dirty="0">
                <a:solidFill>
                  <a:prstClr val="black"/>
                </a:solidFill>
                <a:latin typeface="Cambria Math"/>
                <a:cs typeface="Cambria Math"/>
              </a:rPr>
              <a:t> </a:t>
            </a:r>
            <a:r>
              <a:rPr sz="1400" kern="1200" dirty="0">
                <a:solidFill>
                  <a:prstClr val="black"/>
                </a:solidFill>
                <a:latin typeface="Palatino Linotype"/>
                <a:cs typeface="Palatino Linotype"/>
              </a:rPr>
              <a:t>is</a:t>
            </a:r>
            <a:r>
              <a:rPr sz="1400" kern="1200" spc="-5" dirty="0">
                <a:solidFill>
                  <a:prstClr val="black"/>
                </a:solidFill>
                <a:latin typeface="Palatino Linotype"/>
                <a:cs typeface="Palatino Linotype"/>
              </a:rPr>
              <a:t> </a:t>
            </a:r>
            <a:r>
              <a:rPr sz="1400" kern="1200" spc="5" dirty="0">
                <a:solidFill>
                  <a:prstClr val="black"/>
                </a:solidFill>
                <a:latin typeface="Cambria Math"/>
                <a:cs typeface="Cambria Math"/>
              </a:rPr>
              <a:t>𝑠𝑡𝑚𝑡</a:t>
            </a:r>
            <a:r>
              <a:rPr sz="1400" kern="1200" spc="5" dirty="0">
                <a:solidFill>
                  <a:prstClr val="black"/>
                </a:solidFill>
                <a:latin typeface="Palatino Linotype"/>
                <a:cs typeface="Palatino Linotype"/>
              </a:rPr>
              <a:t>,</a:t>
            </a:r>
            <a:r>
              <a:rPr sz="1400" kern="1200" dirty="0">
                <a:solidFill>
                  <a:prstClr val="black"/>
                </a:solidFill>
                <a:latin typeface="Palatino Linotype"/>
                <a:cs typeface="Palatino Linotype"/>
              </a:rPr>
              <a:t> then</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the</a:t>
            </a:r>
            <a:r>
              <a:rPr sz="1400" kern="1200" spc="5" dirty="0">
                <a:solidFill>
                  <a:prstClr val="black"/>
                </a:solidFill>
                <a:latin typeface="Palatino Linotype"/>
                <a:cs typeface="Palatino Linotype"/>
              </a:rPr>
              <a:t> </a:t>
            </a:r>
            <a:r>
              <a:rPr sz="1400" kern="1200" spc="-5" dirty="0">
                <a:solidFill>
                  <a:prstClr val="black"/>
                </a:solidFill>
                <a:latin typeface="Palatino Linotype"/>
                <a:cs typeface="Palatino Linotype"/>
              </a:rPr>
              <a:t>synchronization symbol</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can</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be</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a </a:t>
            </a:r>
            <a:r>
              <a:rPr sz="1400" kern="1200" spc="-5" dirty="0">
                <a:solidFill>
                  <a:prstClr val="black"/>
                </a:solidFill>
                <a:latin typeface="Palatino Linotype"/>
                <a:cs typeface="Palatino Linotype"/>
              </a:rPr>
              <a:t>semicolon</a:t>
            </a:r>
            <a:endParaRPr sz="1400" kern="1200" dirty="0">
              <a:solidFill>
                <a:prstClr val="black"/>
              </a:solidFill>
              <a:latin typeface="Palatino Linotype"/>
              <a:cs typeface="Palatino Linotype"/>
            </a:endParaRPr>
          </a:p>
        </p:txBody>
      </p:sp>
    </p:spTree>
    <p:extLst>
      <p:ext uri="{BB962C8B-B14F-4D97-AF65-F5344CB8AC3E}">
        <p14:creationId xmlns:p14="http://schemas.microsoft.com/office/powerpoint/2010/main" val="51106050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147</a:t>
            </a:fld>
            <a:endParaRPr lang="en-US"/>
          </a:p>
        </p:txBody>
      </p:sp>
      <p:sp>
        <p:nvSpPr>
          <p:cNvPr id="13" name="object 2">
            <a:extLst>
              <a:ext uri="{FF2B5EF4-FFF2-40B4-BE49-F238E27FC236}">
                <a16:creationId xmlns:a16="http://schemas.microsoft.com/office/drawing/2014/main" id="{D2ABF225-6048-6C61-F9BB-D21338DBC78C}"/>
              </a:ext>
            </a:extLst>
          </p:cNvPr>
          <p:cNvSpPr txBox="1">
            <a:spLocks/>
          </p:cNvSpPr>
          <p:nvPr/>
        </p:nvSpPr>
        <p:spPr>
          <a:xfrm>
            <a:off x="707390" y="524763"/>
            <a:ext cx="528320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hlinkClick r:id="rId3" action="ppaction://hlinkpres?slideindex=32&amp;slidetitle=合并同心项集后，虽然不产生冲突，但可能会 推迟错误的发现"/>
              </a:rPr>
              <a:t>Phrase-Level</a:t>
            </a:r>
            <a:r>
              <a:rPr kumimoji="0" lang="en-US" sz="4000" b="1" i="0" u="none" strike="noStrike" kern="0" cap="none" spc="-15" normalizeH="0" baseline="0" noProof="0" dirty="0">
                <a:ln>
                  <a:noFill/>
                </a:ln>
                <a:solidFill>
                  <a:sysClr val="windowText" lastClr="000000"/>
                </a:solidFill>
                <a:effectLst/>
                <a:uLnTx/>
                <a:uFillTx/>
                <a:latin typeface="Palatino Linotype"/>
                <a:ea typeface="+mj-ea"/>
                <a:hlinkClick r:id="rId3" action="ppaction://hlinkpres?slideindex=32&amp;slidetitle=合并同心项集后，虽然不产生冲突，但可能会 推迟错误的发现"/>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hlinkClick r:id="rId3" action="ppaction://hlinkpres?slideindex=32&amp;slidetitle=合并同心项集后，虽然不产生冲突，但可能会 推迟错误的发现"/>
              </a:rPr>
              <a:t>Recovery</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4" name="object 3">
            <a:extLst>
              <a:ext uri="{FF2B5EF4-FFF2-40B4-BE49-F238E27FC236}">
                <a16:creationId xmlns:a16="http://schemas.microsoft.com/office/drawing/2014/main" id="{E222F9C7-8A0F-742F-045F-9DFC6A6A0531}"/>
              </a:ext>
            </a:extLst>
          </p:cNvPr>
          <p:cNvSpPr txBox="1"/>
          <p:nvPr/>
        </p:nvSpPr>
        <p:spPr>
          <a:xfrm>
            <a:off x="707390" y="1496059"/>
            <a:ext cx="7699375" cy="2173605"/>
          </a:xfrm>
          <a:prstGeom prst="rect">
            <a:avLst/>
          </a:prstGeom>
        </p:spPr>
        <p:txBody>
          <a:bodyPr vert="horz" wrap="square" lIns="0" tIns="12700" rIns="0" bIns="0" rtlCol="0">
            <a:spAutoFit/>
          </a:bodyPr>
          <a:lstStyle/>
          <a:p>
            <a:pPr marL="243204" indent="-230504" rtl="0">
              <a:spcBef>
                <a:spcPts val="100"/>
              </a:spcBef>
              <a:buClr>
                <a:srgbClr val="000000"/>
              </a:buClr>
              <a:buFont typeface="Arial MT"/>
              <a:buChar char="•"/>
              <a:tabLst>
                <a:tab pos="243204" algn="l"/>
              </a:tabLst>
            </a:pPr>
            <a:r>
              <a:rPr sz="2400" b="1" kern="1200" spc="-5" dirty="0">
                <a:solidFill>
                  <a:srgbClr val="0432FF"/>
                </a:solidFill>
                <a:latin typeface="Palatino Linotype"/>
                <a:cs typeface="Palatino Linotype"/>
              </a:rPr>
              <a:t>Basic</a:t>
            </a:r>
            <a:r>
              <a:rPr sz="2400" b="1" kern="1200" spc="-65" dirty="0">
                <a:solidFill>
                  <a:srgbClr val="0432FF"/>
                </a:solidFill>
                <a:latin typeface="Palatino Linotype"/>
                <a:cs typeface="Palatino Linotype"/>
              </a:rPr>
              <a:t> </a:t>
            </a:r>
            <a:r>
              <a:rPr sz="2400" b="1" kern="1200" spc="-5" dirty="0">
                <a:solidFill>
                  <a:srgbClr val="0432FF"/>
                </a:solidFill>
                <a:latin typeface="Palatino Linotype"/>
                <a:cs typeface="Palatino Linotype"/>
              </a:rPr>
              <a:t>idea:</a:t>
            </a:r>
            <a:endParaRPr sz="2400" kern="1200" dirty="0">
              <a:solidFill>
                <a:prstClr val="black"/>
              </a:solidFill>
              <a:latin typeface="Palatino Linotype"/>
              <a:cs typeface="Palatino Linotype"/>
            </a:endParaRPr>
          </a:p>
          <a:p>
            <a:pPr marL="698500" marR="5080" lvl="1" indent="-228600" rtl="0">
              <a:lnSpc>
                <a:spcPct val="121000"/>
              </a:lnSpc>
              <a:spcBef>
                <a:spcPts val="1215"/>
              </a:spcBef>
              <a:buFont typeface="Wingdings"/>
              <a:buChar char=""/>
              <a:tabLst>
                <a:tab pos="698500" algn="l"/>
              </a:tabLst>
            </a:pPr>
            <a:r>
              <a:rPr sz="2000" kern="1200" dirty="0">
                <a:solidFill>
                  <a:prstClr val="black"/>
                </a:solidFill>
                <a:latin typeface="Palatino Linotype"/>
                <a:cs typeface="Palatino Linotype"/>
              </a:rPr>
              <a:t>Examine</a:t>
            </a:r>
            <a:r>
              <a:rPr sz="2000" kern="1200" spc="-5" dirty="0">
                <a:solidFill>
                  <a:prstClr val="black"/>
                </a:solidFill>
                <a:latin typeface="Palatino Linotype"/>
                <a:cs typeface="Palatino Linotype"/>
              </a:rPr>
              <a:t> each error entry</a:t>
            </a:r>
            <a:r>
              <a:rPr sz="2000" kern="1200" dirty="0">
                <a:solidFill>
                  <a:prstClr val="black"/>
                </a:solidFill>
                <a:latin typeface="Palatino Linotype"/>
                <a:cs typeface="Palatino Linotype"/>
              </a:rPr>
              <a:t> in</a:t>
            </a:r>
            <a:r>
              <a:rPr sz="2000" kern="1200" spc="-5" dirty="0">
                <a:solidFill>
                  <a:prstClr val="black"/>
                </a:solidFill>
                <a:latin typeface="Palatino Linotype"/>
                <a:cs typeface="Palatino Linotype"/>
              </a:rPr>
              <a:t>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parsing </a:t>
            </a:r>
            <a:r>
              <a:rPr sz="2000" kern="1200" dirty="0">
                <a:solidFill>
                  <a:prstClr val="black"/>
                </a:solidFill>
                <a:latin typeface="Palatino Linotype"/>
                <a:cs typeface="Palatino Linotype"/>
              </a:rPr>
              <a:t>table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decide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most</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likely </a:t>
            </a:r>
            <a:r>
              <a:rPr sz="2000" kern="1200" spc="-5" dirty="0">
                <a:solidFill>
                  <a:prstClr val="black"/>
                </a:solidFill>
                <a:latin typeface="Palatino Linotype"/>
                <a:cs typeface="Palatino Linotype"/>
              </a:rPr>
              <a:t>programmer error that </a:t>
            </a:r>
            <a:r>
              <a:rPr sz="2000" kern="1200" spc="-10" dirty="0">
                <a:solidFill>
                  <a:prstClr val="black"/>
                </a:solidFill>
                <a:latin typeface="Palatino Linotype"/>
                <a:cs typeface="Palatino Linotype"/>
              </a:rPr>
              <a:t>would</a:t>
            </a:r>
            <a:r>
              <a:rPr sz="2000" kern="1200" spc="-5" dirty="0">
                <a:solidFill>
                  <a:prstClr val="black"/>
                </a:solidFill>
                <a:latin typeface="Palatino Linotype"/>
                <a:cs typeface="Palatino Linotype"/>
              </a:rPr>
              <a:t> </a:t>
            </a:r>
            <a:r>
              <a:rPr sz="2000" kern="1200" spc="-10" dirty="0">
                <a:solidFill>
                  <a:prstClr val="black"/>
                </a:solidFill>
                <a:latin typeface="Palatino Linotype"/>
                <a:cs typeface="Palatino Linotype"/>
              </a:rPr>
              <a:t>give</a:t>
            </a:r>
            <a:r>
              <a:rPr sz="2000" kern="1200" dirty="0">
                <a:solidFill>
                  <a:prstClr val="black"/>
                </a:solidFill>
                <a:latin typeface="Palatino Linotype"/>
                <a:cs typeface="Palatino Linotype"/>
              </a:rPr>
              <a:t> rise </a:t>
            </a:r>
            <a:r>
              <a:rPr sz="2000" kern="1200" spc="-5" dirty="0">
                <a:solidFill>
                  <a:prstClr val="black"/>
                </a:solidFill>
                <a:latin typeface="Palatino Linotype"/>
                <a:cs typeface="Palatino Linotype"/>
              </a:rPr>
              <a:t>to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error</a:t>
            </a:r>
            <a:endParaRPr sz="2000" kern="1200" dirty="0">
              <a:solidFill>
                <a:prstClr val="black"/>
              </a:solidFill>
              <a:latin typeface="Palatino Linotype"/>
              <a:cs typeface="Palatino Linotype"/>
            </a:endParaRPr>
          </a:p>
          <a:p>
            <a:pPr marL="698500" marR="361950" lvl="1" indent="-228600" rtl="0">
              <a:lnSpc>
                <a:spcPct val="121000"/>
              </a:lnSpc>
              <a:spcBef>
                <a:spcPts val="1200"/>
              </a:spcBef>
              <a:buFont typeface="Wingdings"/>
              <a:buChar char=""/>
              <a:tabLst>
                <a:tab pos="698500" algn="l"/>
              </a:tabLst>
            </a:pPr>
            <a:r>
              <a:rPr sz="2000" kern="1200" spc="-5" dirty="0">
                <a:solidFill>
                  <a:prstClr val="black"/>
                </a:solidFill>
                <a:latin typeface="Palatino Linotype"/>
                <a:cs typeface="Palatino Linotype"/>
              </a:rPr>
              <a:t>Modify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top</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stack</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or first input</a:t>
            </a:r>
            <a:r>
              <a:rPr sz="2000" kern="1200" dirty="0">
                <a:solidFill>
                  <a:prstClr val="black"/>
                </a:solidFill>
                <a:latin typeface="Palatino Linotype"/>
                <a:cs typeface="Palatino Linotype"/>
              </a:rPr>
              <a:t> symbols </a:t>
            </a:r>
            <a:r>
              <a:rPr sz="2000" kern="1200" spc="-5" dirty="0">
                <a:solidFill>
                  <a:prstClr val="black"/>
                </a:solidFill>
                <a:latin typeface="Palatino Linotype"/>
                <a:cs typeface="Palatino Linotype"/>
              </a:rPr>
              <a:t>and</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issue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messages to programmers</a:t>
            </a:r>
            <a:endParaRPr sz="2000" kern="1200" dirty="0">
              <a:solidFill>
                <a:prstClr val="black"/>
              </a:solidFill>
              <a:latin typeface="Palatino Linotype"/>
              <a:cs typeface="Palatino Linotype"/>
            </a:endParaRPr>
          </a:p>
        </p:txBody>
      </p:sp>
      <p:grpSp>
        <p:nvGrpSpPr>
          <p:cNvPr id="15" name="object 4">
            <a:extLst>
              <a:ext uri="{FF2B5EF4-FFF2-40B4-BE49-F238E27FC236}">
                <a16:creationId xmlns:a16="http://schemas.microsoft.com/office/drawing/2014/main" id="{13E0E81E-FC95-3082-74EC-0964A21F3549}"/>
              </a:ext>
            </a:extLst>
          </p:cNvPr>
          <p:cNvGrpSpPr/>
          <p:nvPr/>
        </p:nvGrpSpPr>
        <p:grpSpPr>
          <a:xfrm>
            <a:off x="1198653" y="3964749"/>
            <a:ext cx="2910840" cy="2169795"/>
            <a:chOff x="1198653" y="3964749"/>
            <a:chExt cx="2910840" cy="2169795"/>
          </a:xfrm>
        </p:grpSpPr>
        <p:pic>
          <p:nvPicPr>
            <p:cNvPr id="16" name="object 5">
              <a:extLst>
                <a:ext uri="{FF2B5EF4-FFF2-40B4-BE49-F238E27FC236}">
                  <a16:creationId xmlns:a16="http://schemas.microsoft.com/office/drawing/2014/main" id="{BE660735-D40D-81B7-4B20-926AEE289275}"/>
                </a:ext>
              </a:extLst>
            </p:cNvPr>
            <p:cNvPicPr/>
            <p:nvPr/>
          </p:nvPicPr>
          <p:blipFill>
            <a:blip r:embed="rId4" cstate="print"/>
            <a:stretch>
              <a:fillRect/>
            </a:stretch>
          </p:blipFill>
          <p:spPr>
            <a:xfrm>
              <a:off x="1198653" y="3964749"/>
              <a:ext cx="2910654" cy="2169210"/>
            </a:xfrm>
            <a:prstGeom prst="rect">
              <a:avLst/>
            </a:prstGeom>
          </p:spPr>
        </p:pic>
        <p:sp>
          <p:nvSpPr>
            <p:cNvPr id="17" name="object 6">
              <a:extLst>
                <a:ext uri="{FF2B5EF4-FFF2-40B4-BE49-F238E27FC236}">
                  <a16:creationId xmlns:a16="http://schemas.microsoft.com/office/drawing/2014/main" id="{277CB211-C27E-E513-20E8-88B661924096}"/>
                </a:ext>
              </a:extLst>
            </p:cNvPr>
            <p:cNvSpPr/>
            <p:nvPr/>
          </p:nvSpPr>
          <p:spPr>
            <a:xfrm>
              <a:off x="3028949" y="5118045"/>
              <a:ext cx="182245" cy="173990"/>
            </a:xfrm>
            <a:custGeom>
              <a:avLst/>
              <a:gdLst/>
              <a:ahLst/>
              <a:cxnLst/>
              <a:rect l="l" t="t" r="r" b="b"/>
              <a:pathLst>
                <a:path w="182244" h="173989">
                  <a:moveTo>
                    <a:pt x="0" y="0"/>
                  </a:moveTo>
                  <a:lnTo>
                    <a:pt x="181960" y="0"/>
                  </a:lnTo>
                  <a:lnTo>
                    <a:pt x="181960" y="173421"/>
                  </a:lnTo>
                  <a:lnTo>
                    <a:pt x="0" y="173421"/>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7">
              <a:extLst>
                <a:ext uri="{FF2B5EF4-FFF2-40B4-BE49-F238E27FC236}">
                  <a16:creationId xmlns:a16="http://schemas.microsoft.com/office/drawing/2014/main" id="{0D9AF978-BA6D-3BC6-973A-BFDCBA2E8B3B}"/>
                </a:ext>
              </a:extLst>
            </p:cNvPr>
            <p:cNvSpPr/>
            <p:nvPr/>
          </p:nvSpPr>
          <p:spPr>
            <a:xfrm>
              <a:off x="3028949" y="5292181"/>
              <a:ext cx="182245" cy="173990"/>
            </a:xfrm>
            <a:custGeom>
              <a:avLst/>
              <a:gdLst/>
              <a:ahLst/>
              <a:cxnLst/>
              <a:rect l="l" t="t" r="r" b="b"/>
              <a:pathLst>
                <a:path w="182244" h="173989">
                  <a:moveTo>
                    <a:pt x="0" y="0"/>
                  </a:moveTo>
                  <a:lnTo>
                    <a:pt x="181960" y="0"/>
                  </a:lnTo>
                  <a:lnTo>
                    <a:pt x="181960" y="173421"/>
                  </a:lnTo>
                  <a:lnTo>
                    <a:pt x="0" y="173421"/>
                  </a:lnTo>
                  <a:lnTo>
                    <a:pt x="0" y="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aphicFrame>
        <p:nvGraphicFramePr>
          <p:cNvPr id="19" name="object 8">
            <a:extLst>
              <a:ext uri="{FF2B5EF4-FFF2-40B4-BE49-F238E27FC236}">
                <a16:creationId xmlns:a16="http://schemas.microsoft.com/office/drawing/2014/main" id="{E73A466F-896E-FB4F-DBF8-D3A923C1E5BC}"/>
              </a:ext>
            </a:extLst>
          </p:cNvPr>
          <p:cNvGraphicFramePr>
            <a:graphicFrameLocks noGrp="1"/>
          </p:cNvGraphicFramePr>
          <p:nvPr/>
        </p:nvGraphicFramePr>
        <p:xfrm>
          <a:off x="3022600" y="4444781"/>
          <a:ext cx="182245" cy="531486"/>
        </p:xfrm>
        <a:graphic>
          <a:graphicData uri="http://schemas.openxmlformats.org/drawingml/2006/table">
            <a:tbl>
              <a:tblPr firstRow="1" bandRow="1"/>
              <a:tblGrid>
                <a:gridCol w="182245">
                  <a:extLst>
                    <a:ext uri="{9D8B030D-6E8A-4147-A177-3AD203B41FA5}">
                      <a16:colId xmlns:a16="http://schemas.microsoft.com/office/drawing/2014/main" val="20000"/>
                    </a:ext>
                  </a:extLst>
                </a:gridCol>
              </a:tblGrid>
              <a:tr h="17604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000">
                        <a:latin typeface="Times New Roman"/>
                        <a:cs typeface="Times New Roman"/>
                      </a:endParaRPr>
                    </a:p>
                  </a:txBody>
                  <a:tcPr marL="0" marR="0" marT="0" marB="0">
                    <a:lnL w="19050">
                      <a:solidFill>
                        <a:srgbClr val="FF0000"/>
                      </a:solidFill>
                      <a:prstDash val="solid"/>
                    </a:lnL>
                    <a:lnR w="19050">
                      <a:solidFill>
                        <a:srgbClr val="FF0000"/>
                      </a:solidFill>
                      <a:prstDash val="solid"/>
                    </a:lnR>
                    <a:lnT w="19050">
                      <a:solidFill>
                        <a:srgbClr val="FF0000"/>
                      </a:solidFill>
                      <a:prstDash val="solid"/>
                    </a:lnT>
                    <a:lnB w="19050">
                      <a:solidFill>
                        <a:srgbClr val="FF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79033">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000">
                        <a:latin typeface="Times New Roman"/>
                        <a:cs typeface="Times New Roman"/>
                      </a:endParaRPr>
                    </a:p>
                  </a:txBody>
                  <a:tcPr marL="0" marR="0" marT="0" marB="0">
                    <a:lnL w="19050">
                      <a:solidFill>
                        <a:srgbClr val="FF0000"/>
                      </a:solidFill>
                      <a:prstDash val="solid"/>
                    </a:lnL>
                    <a:lnR w="19050">
                      <a:solidFill>
                        <a:srgbClr val="FF0000"/>
                      </a:solidFill>
                      <a:prstDash val="solid"/>
                    </a:lnR>
                    <a:lnT w="19050">
                      <a:solidFill>
                        <a:srgbClr val="FF0000"/>
                      </a:solidFill>
                      <a:prstDash val="solid"/>
                    </a:lnT>
                    <a:lnB w="19050">
                      <a:solidFill>
                        <a:srgbClr val="FF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6406">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000">
                        <a:latin typeface="Times New Roman"/>
                        <a:cs typeface="Times New Roman"/>
                      </a:endParaRPr>
                    </a:p>
                  </a:txBody>
                  <a:tcPr marL="0" marR="0" marT="0" marB="0">
                    <a:lnL w="19050">
                      <a:solidFill>
                        <a:srgbClr val="FF0000"/>
                      </a:solidFill>
                      <a:prstDash val="solid"/>
                    </a:lnL>
                    <a:lnR w="19050">
                      <a:solidFill>
                        <a:srgbClr val="FF0000"/>
                      </a:solidFill>
                      <a:prstDash val="solid"/>
                    </a:lnR>
                    <a:lnT w="19050">
                      <a:solidFill>
                        <a:srgbClr val="FF0000"/>
                      </a:solidFill>
                      <a:prstDash val="solid"/>
                    </a:lnT>
                    <a:lnB w="19050">
                      <a:solidFill>
                        <a:srgbClr val="FF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20" name="object 9">
            <a:extLst>
              <a:ext uri="{FF2B5EF4-FFF2-40B4-BE49-F238E27FC236}">
                <a16:creationId xmlns:a16="http://schemas.microsoft.com/office/drawing/2014/main" id="{8896BC32-77AD-0AEC-6F0B-B72D89EC1B6D}"/>
              </a:ext>
            </a:extLst>
          </p:cNvPr>
          <p:cNvSpPr txBox="1"/>
          <p:nvPr/>
        </p:nvSpPr>
        <p:spPr>
          <a:xfrm>
            <a:off x="4526603" y="4299746"/>
            <a:ext cx="4123054" cy="1508125"/>
          </a:xfrm>
          <a:prstGeom prst="rect">
            <a:avLst/>
          </a:prstGeom>
          <a:solidFill>
            <a:srgbClr val="FFF2CC"/>
          </a:solidFill>
          <a:ln w="9525">
            <a:solidFill>
              <a:srgbClr val="000000"/>
            </a:solidFill>
          </a:ln>
        </p:spPr>
        <p:txBody>
          <a:bodyPr vert="horz" wrap="square" lIns="0" tIns="34290" rIns="0" bIns="0" rtlCol="0">
            <a:spAutoFit/>
          </a:bodyPr>
          <a:lstStyle/>
          <a:p>
            <a:pPr marL="90805" rtl="0">
              <a:spcBef>
                <a:spcPts val="270"/>
              </a:spcBef>
            </a:pPr>
            <a:r>
              <a:rPr kern="1200" spc="-5" dirty="0">
                <a:solidFill>
                  <a:srgbClr val="0432FF"/>
                </a:solidFill>
                <a:latin typeface="Palatino Linotype"/>
                <a:cs typeface="Palatino Linotype"/>
              </a:rPr>
              <a:t>Example</a:t>
            </a:r>
            <a:r>
              <a:rPr kern="1200" spc="-15" dirty="0">
                <a:solidFill>
                  <a:srgbClr val="0432FF"/>
                </a:solidFill>
                <a:latin typeface="Palatino Linotype"/>
                <a:cs typeface="Palatino Linotype"/>
              </a:rPr>
              <a:t> </a:t>
            </a:r>
            <a:r>
              <a:rPr kern="1200" spc="-5" dirty="0">
                <a:solidFill>
                  <a:srgbClr val="0432FF"/>
                </a:solidFill>
                <a:latin typeface="Palatino Linotype"/>
                <a:cs typeface="Palatino Linotype"/>
              </a:rPr>
              <a:t>phrase-level</a:t>
            </a:r>
            <a:r>
              <a:rPr kern="1200" spc="-15" dirty="0">
                <a:solidFill>
                  <a:srgbClr val="0432FF"/>
                </a:solidFill>
                <a:latin typeface="Palatino Linotype"/>
                <a:cs typeface="Palatino Linotype"/>
              </a:rPr>
              <a:t> </a:t>
            </a:r>
            <a:r>
              <a:rPr kern="1200" spc="-5" dirty="0">
                <a:solidFill>
                  <a:srgbClr val="0432FF"/>
                </a:solidFill>
                <a:latin typeface="Palatino Linotype"/>
                <a:cs typeface="Palatino Linotype"/>
              </a:rPr>
              <a:t>recovery:</a:t>
            </a:r>
            <a:endParaRPr kern="1200" dirty="0">
              <a:solidFill>
                <a:prstClr val="black"/>
              </a:solidFill>
              <a:latin typeface="Palatino Linotype"/>
              <a:cs typeface="Palatino Linotype"/>
            </a:endParaRPr>
          </a:p>
          <a:p>
            <a:pPr marL="377190" indent="-286385" rtl="0">
              <a:spcBef>
                <a:spcPts val="1130"/>
              </a:spcBef>
              <a:buFont typeface="Arial MT"/>
              <a:buChar char="•"/>
              <a:tabLst>
                <a:tab pos="376555" algn="l"/>
                <a:tab pos="377190" algn="l"/>
              </a:tabLst>
            </a:pPr>
            <a:r>
              <a:rPr kern="1200" spc="-10" dirty="0">
                <a:solidFill>
                  <a:prstClr val="black"/>
                </a:solidFill>
                <a:latin typeface="Palatino Linotype"/>
                <a:cs typeface="Palatino Linotype"/>
              </a:rPr>
              <a:t>Remove </a:t>
            </a:r>
            <a:r>
              <a:rPr kern="1200"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right</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from</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input;</a:t>
            </a:r>
          </a:p>
          <a:p>
            <a:pPr marL="376555" marR="216535" indent="-285750" rtl="0">
              <a:lnSpc>
                <a:spcPct val="101099"/>
              </a:lnSpc>
              <a:spcBef>
                <a:spcPts val="1220"/>
              </a:spcBef>
              <a:buFont typeface="Arial MT"/>
              <a:buChar char="•"/>
              <a:tabLst>
                <a:tab pos="376555" algn="l"/>
                <a:tab pos="377190" algn="l"/>
              </a:tabLst>
            </a:pPr>
            <a:r>
              <a:rPr kern="1200" spc="-5" dirty="0">
                <a:solidFill>
                  <a:prstClr val="black"/>
                </a:solidFill>
                <a:latin typeface="Palatino Linotype"/>
                <a:cs typeface="Palatino Linotype"/>
              </a:rPr>
              <a:t>Issue diagnostic </a:t>
            </a:r>
            <a:r>
              <a:rPr kern="1200" dirty="0">
                <a:solidFill>
                  <a:prstClr val="black"/>
                </a:solidFill>
                <a:latin typeface="Palatino Linotype"/>
                <a:cs typeface="Palatino Linotype"/>
              </a:rPr>
              <a:t>“unbalanced </a:t>
            </a:r>
            <a:r>
              <a:rPr kern="1200" spc="-5" dirty="0">
                <a:solidFill>
                  <a:prstClr val="black"/>
                </a:solidFill>
                <a:latin typeface="Palatino Linotype"/>
                <a:cs typeface="Palatino Linotype"/>
              </a:rPr>
              <a:t>right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parenthesis”.</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269666893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148</a:t>
            </a:fld>
            <a:endParaRPr lang="en-US"/>
          </a:p>
        </p:txBody>
      </p:sp>
      <p:sp>
        <p:nvSpPr>
          <p:cNvPr id="7" name="object 2">
            <a:extLst>
              <a:ext uri="{FF2B5EF4-FFF2-40B4-BE49-F238E27FC236}">
                <a16:creationId xmlns:a16="http://schemas.microsoft.com/office/drawing/2014/main" id="{8BEE246B-E592-DF35-8DAD-82AB1046FF20}"/>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32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dirty="0">
                <a:ln>
                  <a:noFill/>
                </a:ln>
                <a:solidFill>
                  <a:sysClr val="windowText" lastClr="000000"/>
                </a:solidFill>
                <a:effectLst/>
                <a:uLnTx/>
                <a:uFillTx/>
                <a:latin typeface="Palatino Linotype"/>
                <a:ea typeface="+mj-ea"/>
              </a:rPr>
              <a:t>O</a:t>
            </a:r>
            <a:r>
              <a:rPr kumimoji="0" lang="en-US" sz="4000" b="1" i="0" u="none" strike="noStrike" kern="0" cap="none" spc="-20" normalizeH="0" baseline="0" noProof="0" dirty="0">
                <a:ln>
                  <a:noFill/>
                </a:ln>
                <a:solidFill>
                  <a:sysClr val="windowText" lastClr="000000"/>
                </a:solidFill>
                <a:effectLst/>
                <a:uLnTx/>
                <a:uFillTx/>
                <a:latin typeface="Palatino Linotype"/>
                <a:ea typeface="+mj-ea"/>
              </a:rPr>
              <a:t>u</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tline</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686CCE32-5D76-FE14-EFA9-652AC3CC4D59}"/>
              </a:ext>
            </a:extLst>
          </p:cNvPr>
          <p:cNvSpPr txBox="1"/>
          <p:nvPr/>
        </p:nvSpPr>
        <p:spPr>
          <a:xfrm>
            <a:off x="707542" y="1427682"/>
            <a:ext cx="7608874" cy="4955844"/>
          </a:xfrm>
          <a:prstGeom prst="rect">
            <a:avLst/>
          </a:prstGeom>
        </p:spPr>
        <p:txBody>
          <a:bodyPr vert="horz" wrap="square" lIns="0" tIns="13335" rIns="0" bIns="0" rtlCol="0">
            <a:spAutoFit/>
          </a:bodyPr>
          <a:lstStyle/>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Introduction</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Context-Free Grammars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Overview of Parsing Techniques</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Top-Down Parsing</a:t>
            </a:r>
          </a:p>
          <a:p>
            <a:pPr marL="242570" indent="-230504" rtl="0">
              <a:spcBef>
                <a:spcPts val="105"/>
              </a:spcBef>
              <a:buClr>
                <a:srgbClr val="000000"/>
              </a:buClr>
              <a:buFont typeface="Arial"/>
              <a:buChar char="•"/>
              <a:tabLst>
                <a:tab pos="243204" algn="l"/>
              </a:tabLst>
            </a:pPr>
            <a:endParaRPr lang="en-US" altLang="zh-CN" sz="2600" kern="1200" dirty="0">
              <a:solidFill>
                <a:schemeClr val="bg2">
                  <a:lumMod val="50000"/>
                </a:schemeClr>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solidFill>
                  <a:schemeClr val="bg2">
                    <a:lumMod val="50000"/>
                  </a:schemeClr>
                </a:solidFill>
                <a:latin typeface="Palatino Linotype"/>
                <a:cs typeface="Palatino Linotype"/>
              </a:rPr>
              <a:t>Bottom-Up Parsing</a:t>
            </a:r>
          </a:p>
          <a:p>
            <a:pPr marL="242570" indent="-230504" rtl="0">
              <a:spcBef>
                <a:spcPts val="105"/>
              </a:spcBef>
              <a:buClr>
                <a:srgbClr val="000000"/>
              </a:buClr>
              <a:buFont typeface="Arial"/>
              <a:buChar char="•"/>
              <a:tabLst>
                <a:tab pos="243204" algn="l"/>
              </a:tabLst>
            </a:pPr>
            <a:endParaRPr lang="en-US" altLang="zh-CN" sz="2600" kern="1200" dirty="0">
              <a:solidFill>
                <a:schemeClr val="accent3"/>
              </a:solidFill>
              <a:latin typeface="Palatino Linotype"/>
              <a:cs typeface="Palatino Linotype"/>
            </a:endParaRPr>
          </a:p>
          <a:p>
            <a:pPr marL="242570" indent="-230504" rtl="0">
              <a:spcBef>
                <a:spcPts val="105"/>
              </a:spcBef>
              <a:buClr>
                <a:srgbClr val="000000"/>
              </a:buClr>
              <a:buFont typeface="Arial"/>
              <a:buChar char="•"/>
              <a:tabLst>
                <a:tab pos="243204" algn="l"/>
              </a:tabLst>
            </a:pPr>
            <a:r>
              <a:rPr lang="en-US" altLang="zh-CN" sz="2600" kern="1200" dirty="0">
                <a:latin typeface="Palatino Linotype"/>
                <a:cs typeface="Palatino Linotype"/>
              </a:rPr>
              <a:t>Parser Generators (to be discussed in lab sessions)</a:t>
            </a:r>
          </a:p>
          <a:p>
            <a:pPr marL="242570" indent="-230504" rtl="0">
              <a:spcBef>
                <a:spcPts val="105"/>
              </a:spcBef>
              <a:buClr>
                <a:srgbClr val="000000"/>
              </a:buClr>
              <a:buFont typeface="Arial"/>
              <a:buChar char="•"/>
              <a:tabLst>
                <a:tab pos="243204" algn="l"/>
              </a:tabLst>
            </a:pPr>
            <a:endParaRPr lang="en-US" altLang="zh-CN" sz="2600" kern="1200" dirty="0">
              <a:latin typeface="Palatino Linotype"/>
              <a:cs typeface="Palatino Linotype"/>
            </a:endParaRPr>
          </a:p>
        </p:txBody>
      </p:sp>
    </p:spTree>
    <p:extLst>
      <p:ext uri="{BB962C8B-B14F-4D97-AF65-F5344CB8AC3E}">
        <p14:creationId xmlns:p14="http://schemas.microsoft.com/office/powerpoint/2010/main" val="396752542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149</a:t>
            </a:fld>
            <a:endParaRPr lang="en-US"/>
          </a:p>
        </p:txBody>
      </p:sp>
      <p:sp>
        <p:nvSpPr>
          <p:cNvPr id="7" name="object 2">
            <a:extLst>
              <a:ext uri="{FF2B5EF4-FFF2-40B4-BE49-F238E27FC236}">
                <a16:creationId xmlns:a16="http://schemas.microsoft.com/office/drawing/2014/main" id="{7DA4DE46-9F81-34CF-A2C3-F313289F5868}"/>
              </a:ext>
            </a:extLst>
          </p:cNvPr>
          <p:cNvSpPr txBox="1">
            <a:spLocks/>
          </p:cNvSpPr>
          <p:nvPr/>
        </p:nvSpPr>
        <p:spPr>
          <a:xfrm>
            <a:off x="707390" y="554227"/>
            <a:ext cx="7536180" cy="57404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5" normalizeH="0" baseline="0" noProof="0">
                <a:ln>
                  <a:noFill/>
                </a:ln>
                <a:solidFill>
                  <a:sysClr val="windowText" lastClr="000000"/>
                </a:solidFill>
                <a:effectLst/>
                <a:uLnTx/>
                <a:uFillTx/>
                <a:latin typeface="Palatino Linotype"/>
                <a:ea typeface="+mj-ea"/>
              </a:rPr>
              <a:t>The</a:t>
            </a:r>
            <a:r>
              <a:rPr kumimoji="0" lang="en-US" sz="3600" b="1" i="0" u="none" strike="noStrike" kern="0" cap="none" spc="0" normalizeH="0" baseline="0" noProof="0">
                <a:ln>
                  <a:noFill/>
                </a:ln>
                <a:solidFill>
                  <a:sysClr val="windowText" lastClr="000000"/>
                </a:solidFill>
                <a:effectLst/>
                <a:uLnTx/>
                <a:uFillTx/>
                <a:latin typeface="Palatino Linotype"/>
                <a:ea typeface="+mj-ea"/>
              </a:rPr>
              <a:t> </a:t>
            </a:r>
            <a:r>
              <a:rPr kumimoji="0" lang="en-US" sz="3600" b="1" i="0" u="none" strike="noStrike" kern="0" cap="none" spc="-5" normalizeH="0" baseline="0" noProof="0">
                <a:ln>
                  <a:noFill/>
                </a:ln>
                <a:solidFill>
                  <a:sysClr val="windowText" lastClr="000000"/>
                </a:solidFill>
                <a:effectLst/>
                <a:uLnTx/>
                <a:uFillTx/>
                <a:latin typeface="Palatino Linotype"/>
                <a:ea typeface="+mj-ea"/>
              </a:rPr>
              <a:t>Parser Generator </a:t>
            </a:r>
            <a:r>
              <a:rPr kumimoji="0" lang="en-US" sz="3600" b="1" i="0" u="none" strike="noStrike" kern="0" cap="none" spc="-25" normalizeH="0" baseline="0" noProof="0">
                <a:ln>
                  <a:noFill/>
                </a:ln>
                <a:solidFill>
                  <a:sysClr val="windowText" lastClr="000000"/>
                </a:solidFill>
                <a:effectLst/>
                <a:uLnTx/>
                <a:uFillTx/>
                <a:latin typeface="Palatino Linotype"/>
                <a:ea typeface="+mj-ea"/>
              </a:rPr>
              <a:t>YACC/BISON</a:t>
            </a:r>
            <a:endParaRPr kumimoji="0" lang="en-US" sz="3600" b="1" i="0" u="none" strike="noStrike" kern="0" cap="none" spc="0" normalizeH="0" baseline="0" noProof="0">
              <a:ln>
                <a:noFill/>
              </a:ln>
              <a:solidFill>
                <a:sysClr val="windowText" lastClr="000000"/>
              </a:solidFill>
              <a:effectLst/>
              <a:uLnTx/>
              <a:uFillTx/>
              <a:latin typeface="Palatino Linotype"/>
              <a:ea typeface="+mj-ea"/>
            </a:endParaRPr>
          </a:p>
        </p:txBody>
      </p:sp>
      <p:pic>
        <p:nvPicPr>
          <p:cNvPr id="8" name="object 3">
            <a:extLst>
              <a:ext uri="{FF2B5EF4-FFF2-40B4-BE49-F238E27FC236}">
                <a16:creationId xmlns:a16="http://schemas.microsoft.com/office/drawing/2014/main" id="{FB3474F2-9D0A-2D20-5774-B608337C8365}"/>
              </a:ext>
            </a:extLst>
          </p:cNvPr>
          <p:cNvPicPr/>
          <p:nvPr/>
        </p:nvPicPr>
        <p:blipFill>
          <a:blip r:embed="rId3" cstate="print"/>
          <a:stretch>
            <a:fillRect/>
          </a:stretch>
        </p:blipFill>
        <p:spPr>
          <a:xfrm>
            <a:off x="1832534" y="2708920"/>
            <a:ext cx="5285892" cy="2531863"/>
          </a:xfrm>
          <a:prstGeom prst="rect">
            <a:avLst/>
          </a:prstGeom>
        </p:spPr>
      </p:pic>
      <p:sp>
        <p:nvSpPr>
          <p:cNvPr id="6" name="文本框 5">
            <a:extLst>
              <a:ext uri="{FF2B5EF4-FFF2-40B4-BE49-F238E27FC236}">
                <a16:creationId xmlns:a16="http://schemas.microsoft.com/office/drawing/2014/main" id="{76623116-B9C6-E80B-0A12-F8C6E54A9AF6}"/>
              </a:ext>
            </a:extLst>
          </p:cNvPr>
          <p:cNvSpPr txBox="1"/>
          <p:nvPr/>
        </p:nvSpPr>
        <p:spPr>
          <a:xfrm>
            <a:off x="712510" y="1597138"/>
            <a:ext cx="6163746" cy="774571"/>
          </a:xfrm>
          <a:prstGeom prst="rect">
            <a:avLst/>
          </a:prstGeom>
          <a:noFill/>
        </p:spPr>
        <p:txBody>
          <a:bodyPr wrap="square">
            <a:spAutoFit/>
          </a:bodyPr>
          <a:lstStyle/>
          <a:p>
            <a:pPr marL="698500" lvl="1" indent="-228600" rtl="0">
              <a:spcBef>
                <a:spcPts val="995"/>
              </a:spcBef>
              <a:buFont typeface="Wingdings"/>
              <a:buChar char=""/>
              <a:tabLst>
                <a:tab pos="698500" algn="l"/>
              </a:tabLst>
            </a:pPr>
            <a:r>
              <a:rPr lang="en-US" altLang="zh-CN" kern="1200" spc="-5" dirty="0" err="1">
                <a:solidFill>
                  <a:prstClr val="black"/>
                </a:solidFill>
                <a:latin typeface="Palatino Linotype"/>
                <a:cs typeface="Palatino Linotype"/>
              </a:rPr>
              <a:t>Yacc</a:t>
            </a:r>
            <a:r>
              <a:rPr lang="zh-CN" altLang="en-US" kern="1200" spc="-5" dirty="0">
                <a:solidFill>
                  <a:prstClr val="black"/>
                </a:solidFill>
                <a:latin typeface="Palatino Linotype"/>
                <a:cs typeface="Palatino Linotype"/>
              </a:rPr>
              <a:t>：</a:t>
            </a:r>
            <a:r>
              <a:rPr lang="en-US" altLang="zh-CN" kern="1200" spc="-5" dirty="0">
                <a:solidFill>
                  <a:prstClr val="black"/>
                </a:solidFill>
                <a:latin typeface="Palatino Linotype"/>
                <a:cs typeface="Palatino Linotype"/>
              </a:rPr>
              <a:t>yet another compiler-compiler</a:t>
            </a:r>
          </a:p>
          <a:p>
            <a:pPr marL="698500" lvl="1" indent="-228600" rtl="0">
              <a:spcBef>
                <a:spcPts val="995"/>
              </a:spcBef>
              <a:buFont typeface="Wingdings"/>
              <a:buChar char=""/>
              <a:tabLst>
                <a:tab pos="698500" algn="l"/>
              </a:tabLst>
            </a:pPr>
            <a:r>
              <a:rPr lang="en-US" altLang="zh-CN" kern="1200" dirty="0">
                <a:solidFill>
                  <a:prstClr val="black"/>
                </a:solidFill>
                <a:latin typeface="Palatino Linotype"/>
                <a:cs typeface="Palatino Linotype"/>
              </a:rPr>
              <a:t>Bison</a:t>
            </a:r>
            <a:r>
              <a:rPr lang="zh-CN" altLang="en-US" kern="1200" dirty="0">
                <a:solidFill>
                  <a:prstClr val="black"/>
                </a:solidFill>
                <a:latin typeface="Palatino Linotype"/>
                <a:cs typeface="Palatino Linotype"/>
              </a:rPr>
              <a:t>：</a:t>
            </a:r>
            <a:r>
              <a:rPr lang="en-US" altLang="zh-CN" kern="1200" dirty="0">
                <a:solidFill>
                  <a:prstClr val="black"/>
                </a:solidFill>
                <a:latin typeface="Palatino Linotype"/>
                <a:cs typeface="Palatino Linotype"/>
              </a:rPr>
              <a:t>an extension and improvement of </a:t>
            </a:r>
            <a:r>
              <a:rPr lang="en-US" altLang="zh-CN" kern="1200" dirty="0" err="1">
                <a:solidFill>
                  <a:prstClr val="black"/>
                </a:solidFill>
                <a:latin typeface="Palatino Linotype"/>
                <a:cs typeface="Palatino Linotype"/>
              </a:rPr>
              <a:t>Yacc</a:t>
            </a:r>
            <a:endParaRPr lang="en-US" altLang="zh-CN" kern="1200" dirty="0">
              <a:solidFill>
                <a:prstClr val="black"/>
              </a:solidFill>
              <a:latin typeface="Palatino Linotype"/>
              <a:cs typeface="Palatino Linotype"/>
            </a:endParaRPr>
          </a:p>
        </p:txBody>
      </p:sp>
    </p:spTree>
    <p:extLst>
      <p:ext uri="{BB962C8B-B14F-4D97-AF65-F5344CB8AC3E}">
        <p14:creationId xmlns:p14="http://schemas.microsoft.com/office/powerpoint/2010/main" val="97713857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150</a:t>
            </a:fld>
            <a:endParaRPr lang="en-US"/>
          </a:p>
        </p:txBody>
      </p:sp>
      <p:sp>
        <p:nvSpPr>
          <p:cNvPr id="9" name="object 2">
            <a:extLst>
              <a:ext uri="{FF2B5EF4-FFF2-40B4-BE49-F238E27FC236}">
                <a16:creationId xmlns:a16="http://schemas.microsoft.com/office/drawing/2014/main" id="{E687344B-621E-3AE7-2625-56E9AAEC79E3}"/>
              </a:ext>
            </a:extLst>
          </p:cNvPr>
          <p:cNvSpPr txBox="1">
            <a:spLocks/>
          </p:cNvSpPr>
          <p:nvPr/>
        </p:nvSpPr>
        <p:spPr>
          <a:xfrm>
            <a:off x="707390" y="554227"/>
            <a:ext cx="7543800" cy="57404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5" normalizeH="0" baseline="0" noProof="0" dirty="0">
                <a:ln>
                  <a:noFill/>
                </a:ln>
                <a:solidFill>
                  <a:sysClr val="windowText" lastClr="000000"/>
                </a:solidFill>
                <a:effectLst/>
                <a:uLnTx/>
                <a:uFillTx/>
                <a:latin typeface="Palatino Linotype"/>
                <a:ea typeface="+mj-ea"/>
              </a:rPr>
              <a:t>Structure of </a:t>
            </a:r>
            <a:r>
              <a:rPr kumimoji="0" lang="en-US" sz="3600" b="1" i="0" u="none" strike="noStrike" kern="0" cap="none" spc="-55" normalizeH="0" baseline="0" noProof="0" dirty="0">
                <a:ln>
                  <a:noFill/>
                </a:ln>
                <a:solidFill>
                  <a:sysClr val="windowText" lastClr="000000"/>
                </a:solidFill>
                <a:effectLst/>
                <a:uLnTx/>
                <a:uFillTx/>
                <a:latin typeface="Palatino Linotype"/>
                <a:ea typeface="+mj-ea"/>
              </a:rPr>
              <a:t>YACC</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 Source</a:t>
            </a:r>
            <a:r>
              <a:rPr kumimoji="0" lang="en-US" sz="3600" b="1" i="0" u="none" strike="noStrike" kern="0" cap="none" spc="0" normalizeH="0" baseline="0" noProof="0" dirty="0">
                <a:ln>
                  <a:noFill/>
                </a:ln>
                <a:solidFill>
                  <a:sysClr val="windowText" lastClr="000000"/>
                </a:solidFill>
                <a:effectLst/>
                <a:uLnTx/>
                <a:uFillTx/>
                <a:latin typeface="Palatino Linotype"/>
                <a:ea typeface="+mj-ea"/>
              </a:rPr>
              <a:t> </a:t>
            </a:r>
            <a:r>
              <a:rPr kumimoji="0" lang="en-US" sz="3600" b="1" i="0" u="none" strike="noStrike" kern="0" cap="none" spc="-5" normalizeH="0" baseline="0" noProof="0" dirty="0">
                <a:ln>
                  <a:noFill/>
                </a:ln>
                <a:solidFill>
                  <a:sysClr val="windowText" lastClr="000000"/>
                </a:solidFill>
                <a:effectLst/>
                <a:uLnTx/>
                <a:uFillTx/>
                <a:latin typeface="Palatino Linotype"/>
                <a:ea typeface="+mj-ea"/>
              </a:rPr>
              <a:t>Programs</a:t>
            </a:r>
            <a:endParaRPr kumimoji="0" lang="en-US" sz="36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0" name="object 3">
            <a:extLst>
              <a:ext uri="{FF2B5EF4-FFF2-40B4-BE49-F238E27FC236}">
                <a16:creationId xmlns:a16="http://schemas.microsoft.com/office/drawing/2014/main" id="{0AEE4EED-7073-E226-D8D6-4C60B6A87116}"/>
              </a:ext>
            </a:extLst>
          </p:cNvPr>
          <p:cNvSpPr txBox="1"/>
          <p:nvPr/>
        </p:nvSpPr>
        <p:spPr>
          <a:xfrm>
            <a:off x="707390" y="1519653"/>
            <a:ext cx="3472815" cy="1866264"/>
          </a:xfrm>
          <a:prstGeom prst="rect">
            <a:avLst/>
          </a:prstGeom>
        </p:spPr>
        <p:txBody>
          <a:bodyPr vert="horz" wrap="square" lIns="0" tIns="152400" rIns="0" bIns="0" rtlCol="0">
            <a:spAutoFit/>
          </a:bodyPr>
          <a:lstStyle/>
          <a:p>
            <a:pPr marL="243204" indent="-230504" rtl="0">
              <a:spcBef>
                <a:spcPts val="1200"/>
              </a:spcBef>
              <a:buClr>
                <a:srgbClr val="000000"/>
              </a:buClr>
              <a:buFont typeface="Arial MT"/>
              <a:buChar char="•"/>
              <a:tabLst>
                <a:tab pos="242570" algn="l"/>
                <a:tab pos="243204" algn="l"/>
              </a:tabLst>
            </a:pPr>
            <a:r>
              <a:rPr sz="2000" b="1" kern="1200" spc="-5" dirty="0">
                <a:solidFill>
                  <a:srgbClr val="0432FF"/>
                </a:solidFill>
                <a:latin typeface="Palatino Linotype"/>
                <a:cs typeface="Palatino Linotype"/>
              </a:rPr>
              <a:t>Declarations</a:t>
            </a:r>
            <a:r>
              <a:rPr sz="2000" b="1" kern="1200" spc="-35" dirty="0">
                <a:solidFill>
                  <a:srgbClr val="0432FF"/>
                </a:solidFill>
                <a:latin typeface="Palatino Linotype"/>
                <a:cs typeface="Palatino Linotype"/>
              </a:rPr>
              <a:t> </a:t>
            </a:r>
            <a:r>
              <a:rPr sz="2000" b="1" kern="1200" spc="-5" dirty="0">
                <a:solidFill>
                  <a:srgbClr val="0432FF"/>
                </a:solidFill>
                <a:latin typeface="Palatino Linotype"/>
                <a:cs typeface="Palatino Linotype"/>
              </a:rPr>
              <a:t>(</a:t>
            </a:r>
            <a:r>
              <a:rPr sz="2925" kern="1200" spc="89" baseline="1424" dirty="0">
                <a:solidFill>
                  <a:srgbClr val="0432FF"/>
                </a:solidFill>
                <a:latin typeface="SimSun"/>
                <a:cs typeface="SimSun"/>
              </a:rPr>
              <a:t>声明</a:t>
            </a:r>
            <a:r>
              <a:rPr sz="2000" b="1" kern="1200" dirty="0">
                <a:solidFill>
                  <a:srgbClr val="0432FF"/>
                </a:solidFill>
                <a:latin typeface="Palatino Linotype"/>
                <a:cs typeface="Palatino Linotype"/>
              </a:rPr>
              <a:t>)</a:t>
            </a:r>
            <a:endParaRPr sz="2000" kern="1200" dirty="0">
              <a:solidFill>
                <a:prstClr val="black"/>
              </a:solidFill>
              <a:latin typeface="Palatino Linotype"/>
              <a:cs typeface="Palatino Linotype"/>
            </a:endParaRPr>
          </a:p>
          <a:p>
            <a:pPr marL="698500" lvl="1" indent="-228600" rtl="0">
              <a:spcBef>
                <a:spcPts val="995"/>
              </a:spcBef>
              <a:buFont typeface="Wingdings"/>
              <a:buChar char=""/>
              <a:tabLst>
                <a:tab pos="698500" algn="l"/>
              </a:tabLst>
            </a:pPr>
            <a:r>
              <a:rPr kern="1200" spc="-5" dirty="0">
                <a:solidFill>
                  <a:prstClr val="black"/>
                </a:solidFill>
                <a:latin typeface="Palatino Linotype"/>
                <a:cs typeface="Palatino Linotype"/>
              </a:rPr>
              <a:t>Ordinary</a:t>
            </a:r>
            <a:r>
              <a:rPr kern="1200" spc="-25" dirty="0">
                <a:solidFill>
                  <a:prstClr val="black"/>
                </a:solidFill>
                <a:latin typeface="Palatino Linotype"/>
                <a:cs typeface="Palatino Linotype"/>
              </a:rPr>
              <a:t> </a:t>
            </a:r>
            <a:r>
              <a:rPr kern="1200" dirty="0">
                <a:solidFill>
                  <a:prstClr val="black"/>
                </a:solidFill>
                <a:latin typeface="Palatino Linotype"/>
                <a:cs typeface="Palatino Linotype"/>
              </a:rPr>
              <a:t>C</a:t>
            </a:r>
            <a:r>
              <a:rPr kern="1200" spc="-25" dirty="0">
                <a:solidFill>
                  <a:prstClr val="black"/>
                </a:solidFill>
                <a:latin typeface="Palatino Linotype"/>
                <a:cs typeface="Palatino Linotype"/>
              </a:rPr>
              <a:t> </a:t>
            </a:r>
            <a:r>
              <a:rPr kern="1200" dirty="0">
                <a:solidFill>
                  <a:prstClr val="black"/>
                </a:solidFill>
                <a:latin typeface="Palatino Linotype"/>
                <a:cs typeface="Palatino Linotype"/>
              </a:rPr>
              <a:t>declarations</a:t>
            </a:r>
          </a:p>
          <a:p>
            <a:pPr marL="698500" lvl="1" indent="-228600" rtl="0">
              <a:spcBef>
                <a:spcPts val="1030"/>
              </a:spcBef>
              <a:buFont typeface="Wingdings"/>
              <a:buChar char=""/>
              <a:tabLst>
                <a:tab pos="698500" algn="l"/>
              </a:tabLst>
            </a:pPr>
            <a:r>
              <a:rPr kern="1200" spc="-5" dirty="0">
                <a:solidFill>
                  <a:prstClr val="black"/>
                </a:solidFill>
                <a:latin typeface="Palatino Linotype"/>
                <a:cs typeface="Palatino Linotype"/>
              </a:rPr>
              <a:t>Grammar</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tokens</a:t>
            </a:r>
            <a:endParaRPr kern="1200" dirty="0">
              <a:solidFill>
                <a:prstClr val="black"/>
              </a:solidFill>
              <a:latin typeface="Palatino Linotype"/>
              <a:cs typeface="Palatino Linotype"/>
            </a:endParaRPr>
          </a:p>
          <a:p>
            <a:pPr lvl="1" rtl="0">
              <a:spcBef>
                <a:spcPts val="20"/>
              </a:spcBef>
              <a:buFont typeface="Wingdings"/>
              <a:buChar char=""/>
            </a:pPr>
            <a:endParaRPr sz="1650" kern="1200" dirty="0">
              <a:solidFill>
                <a:prstClr val="black"/>
              </a:solidFill>
              <a:latin typeface="Palatino Linotype"/>
              <a:cs typeface="Palatino Linotype"/>
            </a:endParaRPr>
          </a:p>
          <a:p>
            <a:pPr marL="243204" indent="-230504" rtl="0">
              <a:buClr>
                <a:srgbClr val="000000"/>
              </a:buClr>
              <a:buFont typeface="Arial MT"/>
              <a:buChar char="•"/>
              <a:tabLst>
                <a:tab pos="242570" algn="l"/>
                <a:tab pos="243204" algn="l"/>
              </a:tabLst>
            </a:pPr>
            <a:r>
              <a:rPr sz="2000" b="1" kern="1200" spc="-20" dirty="0">
                <a:solidFill>
                  <a:srgbClr val="0432FF"/>
                </a:solidFill>
                <a:latin typeface="Palatino Linotype"/>
                <a:cs typeface="Palatino Linotype"/>
              </a:rPr>
              <a:t>Translation </a:t>
            </a:r>
            <a:r>
              <a:rPr sz="2000" b="1" kern="1200" spc="-5" dirty="0">
                <a:solidFill>
                  <a:srgbClr val="0432FF"/>
                </a:solidFill>
                <a:latin typeface="Palatino Linotype"/>
                <a:cs typeface="Palatino Linotype"/>
              </a:rPr>
              <a:t>rules</a:t>
            </a:r>
            <a:r>
              <a:rPr sz="2000" b="1" kern="1200" spc="-15" dirty="0">
                <a:solidFill>
                  <a:srgbClr val="0432FF"/>
                </a:solidFill>
                <a:latin typeface="Palatino Linotype"/>
                <a:cs typeface="Palatino Linotype"/>
              </a:rPr>
              <a:t> </a:t>
            </a:r>
            <a:r>
              <a:rPr sz="2000" b="1" kern="1200" spc="-5" dirty="0">
                <a:solidFill>
                  <a:srgbClr val="0432FF"/>
                </a:solidFill>
                <a:latin typeface="Palatino Linotype"/>
                <a:cs typeface="Palatino Linotype"/>
              </a:rPr>
              <a:t>(</a:t>
            </a:r>
            <a:r>
              <a:rPr sz="2925" kern="1200" spc="89" baseline="1424" dirty="0">
                <a:solidFill>
                  <a:srgbClr val="0432FF"/>
                </a:solidFill>
                <a:latin typeface="SimSun"/>
                <a:cs typeface="SimSun"/>
              </a:rPr>
              <a:t>翻译规则</a:t>
            </a:r>
            <a:r>
              <a:rPr sz="2000" b="1" kern="1200" dirty="0">
                <a:solidFill>
                  <a:srgbClr val="0432FF"/>
                </a:solidFill>
                <a:latin typeface="Palatino Linotype"/>
                <a:cs typeface="Palatino Linotype"/>
              </a:rPr>
              <a:t>)</a:t>
            </a:r>
            <a:endParaRPr sz="2000" kern="1200" dirty="0">
              <a:solidFill>
                <a:prstClr val="black"/>
              </a:solidFill>
              <a:latin typeface="Palatino Linotype"/>
              <a:cs typeface="Palatino Linotype"/>
            </a:endParaRPr>
          </a:p>
        </p:txBody>
      </p:sp>
      <p:sp>
        <p:nvSpPr>
          <p:cNvPr id="11" name="object 4">
            <a:extLst>
              <a:ext uri="{FF2B5EF4-FFF2-40B4-BE49-F238E27FC236}">
                <a16:creationId xmlns:a16="http://schemas.microsoft.com/office/drawing/2014/main" id="{9CE78094-0EB1-63B6-222C-384A3985412E}"/>
              </a:ext>
            </a:extLst>
          </p:cNvPr>
          <p:cNvSpPr txBox="1"/>
          <p:nvPr/>
        </p:nvSpPr>
        <p:spPr>
          <a:xfrm>
            <a:off x="707390" y="3498595"/>
            <a:ext cx="7472045" cy="2509520"/>
          </a:xfrm>
          <a:prstGeom prst="rect">
            <a:avLst/>
          </a:prstGeom>
        </p:spPr>
        <p:txBody>
          <a:bodyPr vert="horz" wrap="square" lIns="0" tIns="12700" rIns="0" bIns="0" rtlCol="0">
            <a:spAutoFit/>
          </a:bodyPr>
          <a:lstStyle/>
          <a:p>
            <a:pPr marL="698500" indent="-228600" rtl="0">
              <a:spcBef>
                <a:spcPts val="100"/>
              </a:spcBef>
              <a:buFont typeface="Wingdings"/>
              <a:buChar char=""/>
              <a:tabLst>
                <a:tab pos="698500" algn="l"/>
              </a:tabLst>
            </a:pPr>
            <a:r>
              <a:rPr kern="1200" spc="-5" dirty="0">
                <a:solidFill>
                  <a:prstClr val="black"/>
                </a:solidFill>
                <a:latin typeface="Palatino Linotype"/>
                <a:cs typeface="Palatino Linotype"/>
              </a:rPr>
              <a:t>Rule</a:t>
            </a:r>
            <a:r>
              <a:rPr kern="1200" dirty="0">
                <a:solidFill>
                  <a:prstClr val="black"/>
                </a:solidFill>
                <a:latin typeface="Palatino Linotype"/>
                <a:cs typeface="Palatino Linotype"/>
              </a:rPr>
              <a:t> = a </a:t>
            </a:r>
            <a:r>
              <a:rPr kern="1200" spc="-5" dirty="0">
                <a:solidFill>
                  <a:prstClr val="black"/>
                </a:solidFill>
                <a:latin typeface="Palatino Linotype"/>
                <a:cs typeface="Palatino Linotype"/>
              </a:rPr>
              <a:t>grammar</a:t>
            </a:r>
            <a:r>
              <a:rPr kern="1200" dirty="0">
                <a:solidFill>
                  <a:prstClr val="black"/>
                </a:solidFill>
                <a:latin typeface="Palatino Linotype"/>
                <a:cs typeface="Palatino Linotype"/>
              </a:rPr>
              <a:t> production +</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associated</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semantic</a:t>
            </a:r>
            <a:r>
              <a:rPr kern="1200" dirty="0">
                <a:solidFill>
                  <a:prstClr val="black"/>
                </a:solidFill>
                <a:latin typeface="Palatino Linotype"/>
                <a:cs typeface="Palatino Linotype"/>
              </a:rPr>
              <a:t> action</a:t>
            </a:r>
          </a:p>
          <a:p>
            <a:pPr rtl="0">
              <a:spcBef>
                <a:spcPts val="20"/>
              </a:spcBef>
            </a:pPr>
            <a:endParaRPr sz="1650" kern="1200" dirty="0">
              <a:solidFill>
                <a:prstClr val="black"/>
              </a:solidFill>
              <a:latin typeface="Palatino Linotype"/>
              <a:cs typeface="Palatino Linotype"/>
            </a:endParaRPr>
          </a:p>
          <a:p>
            <a:pPr marL="243204" indent="-230504" rtl="0">
              <a:buClr>
                <a:srgbClr val="000000"/>
              </a:buClr>
              <a:buFont typeface="Arial MT"/>
              <a:buChar char="•"/>
              <a:tabLst>
                <a:tab pos="242570" algn="l"/>
                <a:tab pos="243204" algn="l"/>
              </a:tabLst>
            </a:pPr>
            <a:r>
              <a:rPr sz="2000" b="1" kern="1200" spc="-5" dirty="0">
                <a:solidFill>
                  <a:srgbClr val="0432FF"/>
                </a:solidFill>
                <a:latin typeface="Palatino Linotype"/>
                <a:cs typeface="Palatino Linotype"/>
              </a:rPr>
              <a:t>Supporting</a:t>
            </a:r>
            <a:r>
              <a:rPr sz="2000" b="1" kern="1200" spc="-10" dirty="0">
                <a:solidFill>
                  <a:srgbClr val="0432FF"/>
                </a:solidFill>
                <a:latin typeface="Palatino Linotype"/>
                <a:cs typeface="Palatino Linotype"/>
              </a:rPr>
              <a:t> </a:t>
            </a:r>
            <a:r>
              <a:rPr sz="2000" b="1" kern="1200" dirty="0">
                <a:solidFill>
                  <a:srgbClr val="0432FF"/>
                </a:solidFill>
                <a:latin typeface="Palatino Linotype"/>
                <a:cs typeface="Palatino Linotype"/>
              </a:rPr>
              <a:t>C</a:t>
            </a:r>
            <a:r>
              <a:rPr sz="2000" b="1" kern="1200" spc="-5" dirty="0">
                <a:solidFill>
                  <a:srgbClr val="0432FF"/>
                </a:solidFill>
                <a:latin typeface="Palatino Linotype"/>
                <a:cs typeface="Palatino Linotype"/>
              </a:rPr>
              <a:t> routines</a:t>
            </a:r>
            <a:r>
              <a:rPr sz="2000" b="1" kern="1200" spc="-15" dirty="0">
                <a:solidFill>
                  <a:srgbClr val="0432FF"/>
                </a:solidFill>
                <a:latin typeface="Palatino Linotype"/>
                <a:cs typeface="Palatino Linotype"/>
              </a:rPr>
              <a:t> </a:t>
            </a:r>
            <a:r>
              <a:rPr sz="2000" b="1" kern="1200" spc="-5" dirty="0">
                <a:solidFill>
                  <a:srgbClr val="0432FF"/>
                </a:solidFill>
                <a:latin typeface="Palatino Linotype"/>
                <a:cs typeface="Palatino Linotype"/>
              </a:rPr>
              <a:t>(</a:t>
            </a:r>
            <a:r>
              <a:rPr sz="2925" kern="1200" spc="89" baseline="1424" dirty="0">
                <a:solidFill>
                  <a:srgbClr val="0432FF"/>
                </a:solidFill>
                <a:latin typeface="SimSun"/>
                <a:cs typeface="SimSun"/>
              </a:rPr>
              <a:t>辅助性</a:t>
            </a:r>
            <a:r>
              <a:rPr sz="2925" kern="1200" spc="52" baseline="1424" dirty="0">
                <a:solidFill>
                  <a:srgbClr val="0432FF"/>
                </a:solidFill>
                <a:latin typeface="SimSun"/>
                <a:cs typeface="SimSun"/>
              </a:rPr>
              <a:t>C</a:t>
            </a:r>
            <a:r>
              <a:rPr sz="2925" kern="1200" spc="89" baseline="1424" dirty="0">
                <a:solidFill>
                  <a:srgbClr val="0432FF"/>
                </a:solidFill>
                <a:latin typeface="SimSun"/>
                <a:cs typeface="SimSun"/>
              </a:rPr>
              <a:t>语言例程</a:t>
            </a:r>
            <a:r>
              <a:rPr sz="2000" b="1" kern="1200" dirty="0">
                <a:solidFill>
                  <a:srgbClr val="0432FF"/>
                </a:solidFill>
                <a:latin typeface="Palatino Linotype"/>
                <a:cs typeface="Palatino Linotype"/>
              </a:rPr>
              <a:t>)</a:t>
            </a:r>
            <a:endParaRPr sz="2000" kern="1200" dirty="0">
              <a:solidFill>
                <a:prstClr val="black"/>
              </a:solidFill>
              <a:latin typeface="Palatino Linotype"/>
              <a:cs typeface="Palatino Linotype"/>
            </a:endParaRPr>
          </a:p>
          <a:p>
            <a:pPr marL="698500" lvl="1" indent="-228600" rtl="0">
              <a:spcBef>
                <a:spcPts val="1110"/>
              </a:spcBef>
              <a:buFont typeface="Wingdings"/>
              <a:buChar char=""/>
              <a:tabLst>
                <a:tab pos="698500" algn="l"/>
              </a:tabLst>
            </a:pPr>
            <a:r>
              <a:rPr kern="1200" spc="-5" dirty="0">
                <a:solidFill>
                  <a:prstClr val="black"/>
                </a:solidFill>
                <a:latin typeface="Palatino Linotype"/>
                <a:cs typeface="Palatino Linotype"/>
              </a:rPr>
              <a:t>Directly</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copied</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to</a:t>
            </a:r>
            <a:r>
              <a:rPr kern="1200" spc="-15" dirty="0">
                <a:solidFill>
                  <a:prstClr val="black"/>
                </a:solidFill>
                <a:latin typeface="Palatino Linotype"/>
                <a:cs typeface="Palatino Linotype"/>
              </a:rPr>
              <a:t> </a:t>
            </a:r>
            <a:r>
              <a:rPr kern="1200" spc="-5" dirty="0">
                <a:solidFill>
                  <a:prstClr val="black"/>
                </a:solidFill>
                <a:latin typeface="Consolas"/>
                <a:cs typeface="Consolas"/>
              </a:rPr>
              <a:t>y.tab.c</a:t>
            </a:r>
            <a:endParaRPr kern="1200" dirty="0">
              <a:solidFill>
                <a:prstClr val="black"/>
              </a:solidFill>
              <a:latin typeface="Consolas"/>
              <a:cs typeface="Consolas"/>
            </a:endParaRPr>
          </a:p>
          <a:p>
            <a:pPr marL="698500" lvl="1" indent="-228600" rtl="0">
              <a:spcBef>
                <a:spcPts val="1035"/>
              </a:spcBef>
              <a:buFont typeface="Wingdings"/>
              <a:buChar char=""/>
              <a:tabLst>
                <a:tab pos="698500" algn="l"/>
              </a:tabLst>
            </a:pPr>
            <a:r>
              <a:rPr kern="1200" spc="-5" dirty="0">
                <a:solidFill>
                  <a:prstClr val="black"/>
                </a:solidFill>
                <a:latin typeface="Palatino Linotype"/>
                <a:cs typeface="Palatino Linotype"/>
              </a:rPr>
              <a:t>Can </a:t>
            </a:r>
            <a:r>
              <a:rPr kern="1200" dirty="0">
                <a:solidFill>
                  <a:prstClr val="black"/>
                </a:solidFill>
                <a:latin typeface="Palatino Linotype"/>
                <a:cs typeface="Palatino Linotype"/>
              </a:rPr>
              <a:t>be</a:t>
            </a:r>
            <a:r>
              <a:rPr kern="1200" spc="-5" dirty="0">
                <a:solidFill>
                  <a:prstClr val="black"/>
                </a:solidFill>
                <a:latin typeface="Palatino Linotype"/>
                <a:cs typeface="Palatino Linotype"/>
              </a:rPr>
              <a:t> </a:t>
            </a:r>
            <a:r>
              <a:rPr kern="1200" spc="-10" dirty="0">
                <a:solidFill>
                  <a:prstClr val="black"/>
                </a:solidFill>
                <a:latin typeface="Palatino Linotype"/>
                <a:cs typeface="Palatino Linotype"/>
              </a:rPr>
              <a:t>invoked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semantic </a:t>
            </a:r>
            <a:r>
              <a:rPr kern="1200" dirty="0">
                <a:solidFill>
                  <a:prstClr val="black"/>
                </a:solidFill>
                <a:latin typeface="Palatino Linotype"/>
                <a:cs typeface="Palatino Linotype"/>
              </a:rPr>
              <a:t>actions</a:t>
            </a:r>
          </a:p>
          <a:p>
            <a:pPr marL="698500" lvl="1" indent="-228600" rtl="0">
              <a:spcBef>
                <a:spcPts val="935"/>
              </a:spcBef>
              <a:buFont typeface="Wingdings"/>
              <a:buChar char=""/>
              <a:tabLst>
                <a:tab pos="698500" algn="l"/>
              </a:tabLst>
            </a:pPr>
            <a:r>
              <a:rPr kern="1200" spc="-5" dirty="0">
                <a:solidFill>
                  <a:prstClr val="black"/>
                </a:solidFill>
                <a:latin typeface="Consolas"/>
                <a:cs typeface="Consolas"/>
              </a:rPr>
              <a:t>yylex(</a:t>
            </a:r>
            <a:r>
              <a:rPr kern="1200" dirty="0">
                <a:solidFill>
                  <a:prstClr val="black"/>
                </a:solidFill>
                <a:latin typeface="Consolas"/>
                <a:cs typeface="Consolas"/>
              </a:rPr>
              <a:t>)</a:t>
            </a:r>
            <a:r>
              <a:rPr kern="1200" spc="-545" dirty="0">
                <a:solidFill>
                  <a:prstClr val="black"/>
                </a:solidFill>
                <a:latin typeface="Consolas"/>
                <a:cs typeface="Consolas"/>
              </a:rPr>
              <a:t> </a:t>
            </a:r>
            <a:r>
              <a:rPr kern="1200" spc="-5" dirty="0">
                <a:solidFill>
                  <a:prstClr val="black"/>
                </a:solidFill>
                <a:latin typeface="Palatino Linotype"/>
                <a:cs typeface="Palatino Linotype"/>
              </a:rPr>
              <a:t>m</a:t>
            </a:r>
            <a:r>
              <a:rPr kern="1200" dirty="0">
                <a:solidFill>
                  <a:prstClr val="black"/>
                </a:solidFill>
                <a:latin typeface="Palatino Linotype"/>
                <a:cs typeface="Palatino Linotype"/>
              </a:rPr>
              <a:t>u</a:t>
            </a:r>
            <a:r>
              <a:rPr kern="1200" spc="-5" dirty="0">
                <a:solidFill>
                  <a:prstClr val="black"/>
                </a:solidFill>
                <a:latin typeface="Palatino Linotype"/>
                <a:cs typeface="Palatino Linotype"/>
              </a:rPr>
              <a:t>s</a:t>
            </a:r>
            <a:r>
              <a:rPr kern="1200" dirty="0">
                <a:solidFill>
                  <a:prstClr val="black"/>
                </a:solidFill>
                <a:latin typeface="Palatino Linotype"/>
                <a:cs typeface="Palatino Linotype"/>
              </a:rPr>
              <a:t>t be </a:t>
            </a:r>
            <a:r>
              <a:rPr kern="1200" spc="5" dirty="0">
                <a:solidFill>
                  <a:prstClr val="black"/>
                </a:solidFill>
                <a:latin typeface="Palatino Linotype"/>
                <a:cs typeface="Palatino Linotype"/>
              </a:rPr>
              <a:t>p</a:t>
            </a:r>
            <a:r>
              <a:rPr kern="1200" dirty="0">
                <a:solidFill>
                  <a:prstClr val="black"/>
                </a:solidFill>
                <a:latin typeface="Palatino Linotype"/>
                <a:cs typeface="Palatino Linotype"/>
              </a:rPr>
              <a:t>ro</a:t>
            </a:r>
            <a:r>
              <a:rPr kern="1200" spc="-5" dirty="0">
                <a:solidFill>
                  <a:prstClr val="black"/>
                </a:solidFill>
                <a:latin typeface="Palatino Linotype"/>
                <a:cs typeface="Palatino Linotype"/>
              </a:rPr>
              <a:t>v</a:t>
            </a:r>
            <a:r>
              <a:rPr kern="1200" dirty="0">
                <a:solidFill>
                  <a:prstClr val="black"/>
                </a:solidFill>
                <a:latin typeface="Palatino Linotype"/>
                <a:cs typeface="Palatino Linotype"/>
              </a:rPr>
              <a:t>ided, </a:t>
            </a:r>
            <a:r>
              <a:rPr kern="1200" spc="-5" dirty="0">
                <a:solidFill>
                  <a:prstClr val="black"/>
                </a:solidFill>
                <a:latin typeface="Palatino Linotype"/>
                <a:cs typeface="Palatino Linotype"/>
              </a:rPr>
              <a:t>w</a:t>
            </a:r>
            <a:r>
              <a:rPr kern="1200" dirty="0">
                <a:solidFill>
                  <a:prstClr val="black"/>
                </a:solidFill>
                <a:latin typeface="Palatino Linotype"/>
                <a:cs typeface="Palatino Linotype"/>
              </a:rPr>
              <a:t>hich returns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to</a:t>
            </a:r>
            <a:r>
              <a:rPr kern="1200" spc="-5" dirty="0">
                <a:solidFill>
                  <a:prstClr val="black"/>
                </a:solidFill>
                <a:latin typeface="Palatino Linotype"/>
                <a:cs typeface="Palatino Linotype"/>
              </a:rPr>
              <a:t>k</a:t>
            </a:r>
            <a:r>
              <a:rPr kern="1200" dirty="0">
                <a:solidFill>
                  <a:prstClr val="black"/>
                </a:solidFill>
                <a:latin typeface="Palatino Linotype"/>
                <a:cs typeface="Palatino Linotype"/>
              </a:rPr>
              <a:t>ens</a:t>
            </a:r>
          </a:p>
          <a:p>
            <a:pPr marL="698500" lvl="1" indent="-228600" rtl="0">
              <a:spcBef>
                <a:spcPts val="1030"/>
              </a:spcBef>
              <a:buFont typeface="Wingdings"/>
              <a:buChar char=""/>
              <a:tabLst>
                <a:tab pos="698500" algn="l"/>
              </a:tabLst>
            </a:pPr>
            <a:r>
              <a:rPr kern="1200" spc="-5" dirty="0">
                <a:solidFill>
                  <a:prstClr val="black"/>
                </a:solidFill>
                <a:latin typeface="Palatino Linotype"/>
                <a:cs typeface="Palatino Linotype"/>
              </a:rPr>
              <a:t>Other</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procedures</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such </a:t>
            </a:r>
            <a:r>
              <a:rPr kern="1200" dirty="0">
                <a:solidFill>
                  <a:prstClr val="black"/>
                </a:solidFill>
                <a:latin typeface="Palatino Linotype"/>
                <a:cs typeface="Palatino Linotype"/>
              </a:rPr>
              <a:t>as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error</a:t>
            </a:r>
            <a:r>
              <a:rPr kern="1200" spc="-5" dirty="0">
                <a:solidFill>
                  <a:prstClr val="black"/>
                </a:solidFill>
                <a:latin typeface="Palatino Linotype"/>
                <a:cs typeface="Palatino Linotype"/>
              </a:rPr>
              <a:t> recovery</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routines</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may</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be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provided</a:t>
            </a:r>
          </a:p>
        </p:txBody>
      </p:sp>
      <p:sp>
        <p:nvSpPr>
          <p:cNvPr id="12" name="object 5">
            <a:extLst>
              <a:ext uri="{FF2B5EF4-FFF2-40B4-BE49-F238E27FC236}">
                <a16:creationId xmlns:a16="http://schemas.microsoft.com/office/drawing/2014/main" id="{3F8511A9-B8AD-CFA1-4CED-E22DB893D8BF}"/>
              </a:ext>
            </a:extLst>
          </p:cNvPr>
          <p:cNvSpPr txBox="1"/>
          <p:nvPr/>
        </p:nvSpPr>
        <p:spPr>
          <a:xfrm>
            <a:off x="6115050" y="1503994"/>
            <a:ext cx="2466975" cy="1785620"/>
          </a:xfrm>
          <a:prstGeom prst="rect">
            <a:avLst/>
          </a:prstGeom>
          <a:ln w="9525">
            <a:solidFill>
              <a:srgbClr val="000000"/>
            </a:solidFill>
          </a:ln>
        </p:spPr>
        <p:txBody>
          <a:bodyPr vert="horz" wrap="square" lIns="0" tIns="31750" rIns="0" bIns="0" rtlCol="0">
            <a:spAutoFit/>
          </a:bodyPr>
          <a:lstStyle/>
          <a:p>
            <a:pPr marL="90805" rtl="0">
              <a:spcBef>
                <a:spcPts val="250"/>
              </a:spcBef>
            </a:pPr>
            <a:r>
              <a:rPr kern="1200" dirty="0">
                <a:solidFill>
                  <a:prstClr val="black"/>
                </a:solidFill>
                <a:latin typeface="Palatino Linotype"/>
                <a:cs typeface="Palatino Linotype"/>
              </a:rPr>
              <a:t>declarations</a:t>
            </a:r>
            <a:endParaRPr kern="1200">
              <a:solidFill>
                <a:prstClr val="black"/>
              </a:solidFill>
              <a:latin typeface="Palatino Linotype"/>
              <a:cs typeface="Palatino Linotype"/>
            </a:endParaRPr>
          </a:p>
          <a:p>
            <a:pPr marL="90805" rtl="0">
              <a:spcBef>
                <a:spcPts val="555"/>
              </a:spcBef>
            </a:pPr>
            <a:r>
              <a:rPr kern="1200" dirty="0">
                <a:solidFill>
                  <a:prstClr val="black"/>
                </a:solidFill>
                <a:latin typeface="Palatino Linotype"/>
                <a:cs typeface="Palatino Linotype"/>
              </a:rPr>
              <a:t>%%</a:t>
            </a:r>
            <a:endParaRPr kern="1200">
              <a:solidFill>
                <a:prstClr val="black"/>
              </a:solidFill>
              <a:latin typeface="Palatino Linotype"/>
              <a:cs typeface="Palatino Linotype"/>
            </a:endParaRPr>
          </a:p>
          <a:p>
            <a:pPr marL="90805" rtl="0">
              <a:spcBef>
                <a:spcPts val="625"/>
              </a:spcBef>
            </a:pPr>
            <a:r>
              <a:rPr kern="1200" spc="-5" dirty="0">
                <a:solidFill>
                  <a:prstClr val="black"/>
                </a:solidFill>
                <a:latin typeface="Palatino Linotype"/>
                <a:cs typeface="Palatino Linotype"/>
              </a:rPr>
              <a:t>translation</a:t>
            </a:r>
            <a:r>
              <a:rPr kern="1200" spc="-25" dirty="0">
                <a:solidFill>
                  <a:prstClr val="black"/>
                </a:solidFill>
                <a:latin typeface="Palatino Linotype"/>
                <a:cs typeface="Palatino Linotype"/>
              </a:rPr>
              <a:t> </a:t>
            </a:r>
            <a:r>
              <a:rPr kern="1200" dirty="0">
                <a:solidFill>
                  <a:prstClr val="black"/>
                </a:solidFill>
                <a:latin typeface="Palatino Linotype"/>
                <a:cs typeface="Palatino Linotype"/>
              </a:rPr>
              <a:t>rules</a:t>
            </a:r>
            <a:endParaRPr kern="1200">
              <a:solidFill>
                <a:prstClr val="black"/>
              </a:solidFill>
              <a:latin typeface="Palatino Linotype"/>
              <a:cs typeface="Palatino Linotype"/>
            </a:endParaRPr>
          </a:p>
          <a:p>
            <a:pPr marL="90805" rtl="0">
              <a:spcBef>
                <a:spcPts val="645"/>
              </a:spcBef>
            </a:pPr>
            <a:r>
              <a:rPr kern="1200" dirty="0">
                <a:solidFill>
                  <a:prstClr val="black"/>
                </a:solidFill>
                <a:latin typeface="Palatino Linotype"/>
                <a:cs typeface="Palatino Linotype"/>
              </a:rPr>
              <a:t>%%</a:t>
            </a:r>
            <a:endParaRPr kern="1200">
              <a:solidFill>
                <a:prstClr val="black"/>
              </a:solidFill>
              <a:latin typeface="Palatino Linotype"/>
              <a:cs typeface="Palatino Linotype"/>
            </a:endParaRPr>
          </a:p>
          <a:p>
            <a:pPr marL="90805" rtl="0">
              <a:spcBef>
                <a:spcPts val="555"/>
              </a:spcBef>
            </a:pPr>
            <a:r>
              <a:rPr kern="1200" dirty="0">
                <a:solidFill>
                  <a:prstClr val="black"/>
                </a:solidFill>
                <a:latin typeface="Palatino Linotype"/>
                <a:cs typeface="Palatino Linotype"/>
              </a:rPr>
              <a:t>supporting</a:t>
            </a:r>
            <a:r>
              <a:rPr kern="1200" spc="-35" dirty="0">
                <a:solidFill>
                  <a:prstClr val="black"/>
                </a:solidFill>
                <a:latin typeface="Palatino Linotype"/>
                <a:cs typeface="Palatino Linotype"/>
              </a:rPr>
              <a:t> </a:t>
            </a:r>
            <a:r>
              <a:rPr kern="1200" dirty="0">
                <a:solidFill>
                  <a:prstClr val="black"/>
                </a:solidFill>
                <a:latin typeface="Palatino Linotype"/>
                <a:cs typeface="Palatino Linotype"/>
              </a:rPr>
              <a:t>C</a:t>
            </a:r>
            <a:r>
              <a:rPr kern="1200" spc="-35" dirty="0">
                <a:solidFill>
                  <a:prstClr val="black"/>
                </a:solidFill>
                <a:latin typeface="Palatino Linotype"/>
                <a:cs typeface="Palatino Linotype"/>
              </a:rPr>
              <a:t> </a:t>
            </a:r>
            <a:r>
              <a:rPr kern="1200" dirty="0">
                <a:solidFill>
                  <a:prstClr val="black"/>
                </a:solidFill>
                <a:latin typeface="Palatino Linotype"/>
                <a:cs typeface="Palatino Linotype"/>
              </a:rPr>
              <a:t>routines</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218084646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151</a:t>
            </a:fld>
            <a:endParaRPr lang="en-US"/>
          </a:p>
        </p:txBody>
      </p:sp>
      <p:sp>
        <p:nvSpPr>
          <p:cNvPr id="8" name="object 2">
            <a:extLst>
              <a:ext uri="{FF2B5EF4-FFF2-40B4-BE49-F238E27FC236}">
                <a16:creationId xmlns:a16="http://schemas.microsoft.com/office/drawing/2014/main" id="{793DEEAF-883D-F24E-C554-284B48B63DFB}"/>
              </a:ext>
            </a:extLst>
          </p:cNvPr>
          <p:cNvSpPr txBox="1">
            <a:spLocks/>
          </p:cNvSpPr>
          <p:nvPr/>
        </p:nvSpPr>
        <p:spPr>
          <a:xfrm>
            <a:off x="707390" y="524763"/>
            <a:ext cx="411734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30" normalizeH="0" baseline="0" noProof="0">
                <a:ln>
                  <a:noFill/>
                </a:ln>
                <a:solidFill>
                  <a:sysClr val="windowText" lastClr="000000"/>
                </a:solidFill>
                <a:effectLst/>
                <a:uLnTx/>
                <a:uFillTx/>
                <a:latin typeface="Palatino Linotype"/>
                <a:ea typeface="+mj-ea"/>
              </a:rPr>
              <a:t>Translation</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Rules</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7374A2D9-B978-64C2-8A3D-AB53745320FA}"/>
              </a:ext>
            </a:extLst>
          </p:cNvPr>
          <p:cNvSpPr txBox="1"/>
          <p:nvPr/>
        </p:nvSpPr>
        <p:spPr>
          <a:xfrm>
            <a:off x="707390" y="1659635"/>
            <a:ext cx="7649209" cy="3533140"/>
          </a:xfrm>
          <a:prstGeom prst="rect">
            <a:avLst/>
          </a:prstGeom>
        </p:spPr>
        <p:txBody>
          <a:bodyPr vert="horz" wrap="square" lIns="0" tIns="12700" rIns="0" bIns="0" rtlCol="0">
            <a:spAutoFit/>
          </a:bodyPr>
          <a:lstStyle/>
          <a:p>
            <a:pPr marL="243204" indent="-230504" rtl="0">
              <a:spcBef>
                <a:spcPts val="100"/>
              </a:spcBef>
              <a:buFont typeface="Arial MT"/>
              <a:buChar char="•"/>
              <a:tabLst>
                <a:tab pos="242570" algn="l"/>
                <a:tab pos="243204" algn="l"/>
              </a:tabLst>
            </a:pP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first head</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is </a:t>
            </a:r>
            <a:r>
              <a:rPr sz="2000" kern="1200" spc="-5" dirty="0">
                <a:solidFill>
                  <a:prstClr val="black"/>
                </a:solidFill>
                <a:latin typeface="Palatino Linotype"/>
                <a:cs typeface="Palatino Linotype"/>
              </a:rPr>
              <a:t>taken to</a:t>
            </a:r>
            <a:r>
              <a:rPr sz="2000" kern="1200" dirty="0">
                <a:solidFill>
                  <a:prstClr val="black"/>
                </a:solidFill>
                <a:latin typeface="Palatino Linotype"/>
                <a:cs typeface="Palatino Linotype"/>
              </a:rPr>
              <a:t> be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spc="-5" dirty="0">
                <a:solidFill>
                  <a:srgbClr val="FF0000"/>
                </a:solidFill>
                <a:latin typeface="Palatino Linotype"/>
                <a:cs typeface="Palatino Linotype"/>
              </a:rPr>
              <a:t>start symbol</a:t>
            </a:r>
            <a:endParaRPr sz="2000" kern="1200">
              <a:solidFill>
                <a:prstClr val="black"/>
              </a:solidFill>
              <a:latin typeface="Palatino Linotype"/>
              <a:cs typeface="Palatino Linotype"/>
            </a:endParaRPr>
          </a:p>
          <a:p>
            <a:pPr rtl="0">
              <a:spcBef>
                <a:spcPts val="10"/>
              </a:spcBef>
              <a:buFont typeface="Arial MT"/>
              <a:buChar char="•"/>
            </a:pPr>
            <a:endParaRPr sz="2500" kern="1200">
              <a:solidFill>
                <a:prstClr val="black"/>
              </a:solidFill>
              <a:latin typeface="Palatino Linotype"/>
              <a:cs typeface="Palatino Linotype"/>
            </a:endParaRPr>
          </a:p>
          <a:p>
            <a:pPr marL="243204" indent="-230504" rtl="0">
              <a:buFont typeface="Arial MT"/>
              <a:buChar char="•"/>
              <a:tabLst>
                <a:tab pos="242570" algn="l"/>
                <a:tab pos="243204" algn="l"/>
              </a:tabLst>
            </a:pPr>
            <a:r>
              <a:rPr sz="2000" kern="1200" dirty="0">
                <a:solidFill>
                  <a:prstClr val="black"/>
                </a:solidFill>
                <a:latin typeface="Palatino Linotype"/>
                <a:cs typeface="Palatino Linotype"/>
              </a:rPr>
              <a:t>A</a:t>
            </a:r>
            <a:r>
              <a:rPr sz="2000" kern="1200" spc="-120" dirty="0">
                <a:solidFill>
                  <a:prstClr val="black"/>
                </a:solidFill>
                <a:latin typeface="Palatino Linotype"/>
                <a:cs typeface="Palatino Linotype"/>
              </a:rPr>
              <a:t> </a:t>
            </a:r>
            <a:r>
              <a:rPr sz="2000" kern="1200" spc="-5" dirty="0">
                <a:solidFill>
                  <a:prstClr val="black"/>
                </a:solidFill>
                <a:latin typeface="Palatino Linotype"/>
                <a:cs typeface="Palatino Linotype"/>
              </a:rPr>
              <a:t>semantic action </a:t>
            </a:r>
            <a:r>
              <a:rPr sz="2000" kern="1200" dirty="0">
                <a:solidFill>
                  <a:prstClr val="black"/>
                </a:solidFill>
                <a:latin typeface="Palatino Linotype"/>
                <a:cs typeface="Palatino Linotype"/>
              </a:rPr>
              <a:t>is a </a:t>
            </a:r>
            <a:r>
              <a:rPr sz="2000" kern="1200" spc="-5" dirty="0">
                <a:solidFill>
                  <a:prstClr val="black"/>
                </a:solidFill>
                <a:latin typeface="Palatino Linotype"/>
                <a:cs typeface="Palatino Linotype"/>
              </a:rPr>
              <a:t>sequence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of </a:t>
            </a:r>
            <a:r>
              <a:rPr sz="2000" kern="1200" dirty="0">
                <a:solidFill>
                  <a:prstClr val="black"/>
                </a:solidFill>
                <a:latin typeface="Palatino Linotype"/>
                <a:cs typeface="Palatino Linotype"/>
              </a:rPr>
              <a:t>C</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statements</a:t>
            </a:r>
            <a:endParaRPr sz="2000" kern="1200">
              <a:solidFill>
                <a:prstClr val="black"/>
              </a:solidFill>
              <a:latin typeface="Palatino Linotype"/>
              <a:cs typeface="Palatino Linotype"/>
            </a:endParaRPr>
          </a:p>
          <a:p>
            <a:pPr marL="698500" lvl="1" indent="-228600" rtl="0">
              <a:spcBef>
                <a:spcPts val="1695"/>
              </a:spcBef>
              <a:buClr>
                <a:srgbClr val="000000"/>
              </a:buClr>
              <a:buFont typeface="Wingdings"/>
              <a:buChar char=""/>
              <a:tabLst>
                <a:tab pos="697865" algn="l"/>
                <a:tab pos="698500" algn="l"/>
              </a:tabLst>
            </a:pPr>
            <a:r>
              <a:rPr sz="1600" kern="1200" spc="-5" dirty="0">
                <a:solidFill>
                  <a:srgbClr val="0432FF"/>
                </a:solidFill>
                <a:latin typeface="Consolas"/>
                <a:cs typeface="Consolas"/>
              </a:rPr>
              <a:t>$$</a:t>
            </a:r>
            <a:r>
              <a:rPr sz="1600" kern="1200" spc="-484" dirty="0">
                <a:solidFill>
                  <a:srgbClr val="0432FF"/>
                </a:solidFill>
                <a:latin typeface="Consolas"/>
                <a:cs typeface="Consolas"/>
              </a:rPr>
              <a:t> </a:t>
            </a:r>
            <a:r>
              <a:rPr sz="1600" kern="1200" dirty="0">
                <a:solidFill>
                  <a:prstClr val="black"/>
                </a:solidFill>
                <a:latin typeface="Palatino Linotype"/>
                <a:cs typeface="Palatino Linotype"/>
              </a:rPr>
              <a:t>refers to the </a:t>
            </a:r>
            <a:r>
              <a:rPr sz="1600" kern="1200" spc="-5" dirty="0">
                <a:solidFill>
                  <a:prstClr val="black"/>
                </a:solidFill>
                <a:latin typeface="Palatino Linotype"/>
                <a:cs typeface="Palatino Linotype"/>
              </a:rPr>
              <a:t>attribute </a:t>
            </a:r>
            <a:r>
              <a:rPr sz="1600" kern="1200" spc="-15" dirty="0">
                <a:solidFill>
                  <a:prstClr val="black"/>
                </a:solidFill>
                <a:latin typeface="Palatino Linotype"/>
                <a:cs typeface="Palatino Linotype"/>
              </a:rPr>
              <a:t>value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associated with</a:t>
            </a:r>
            <a:r>
              <a:rPr sz="1600" kern="1200" spc="10" dirty="0">
                <a:solidFill>
                  <a:prstClr val="black"/>
                </a:solidFill>
                <a:latin typeface="Palatino Linotype"/>
                <a:cs typeface="Palatino Linotype"/>
              </a:rPr>
              <a:t>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nonterminal of the head</a:t>
            </a:r>
            <a:endParaRPr sz="1600" kern="1200">
              <a:solidFill>
                <a:prstClr val="black"/>
              </a:solidFill>
              <a:latin typeface="Palatino Linotype"/>
              <a:cs typeface="Palatino Linotype"/>
            </a:endParaRPr>
          </a:p>
          <a:p>
            <a:pPr marL="698500" lvl="1" indent="-228600" rtl="0">
              <a:spcBef>
                <a:spcPts val="1585"/>
              </a:spcBef>
              <a:buClr>
                <a:srgbClr val="000000"/>
              </a:buClr>
              <a:buFont typeface="Wingdings"/>
              <a:buChar char=""/>
              <a:tabLst>
                <a:tab pos="697865" algn="l"/>
                <a:tab pos="698500" algn="l"/>
              </a:tabLst>
            </a:pPr>
            <a:r>
              <a:rPr sz="1600" kern="1200" spc="-5" dirty="0">
                <a:solidFill>
                  <a:srgbClr val="0432FF"/>
                </a:solidFill>
                <a:latin typeface="Consolas"/>
                <a:cs typeface="Consolas"/>
              </a:rPr>
              <a:t>$</a:t>
            </a:r>
            <a:r>
              <a:rPr sz="1600" i="1" kern="1200" spc="-5" dirty="0">
                <a:solidFill>
                  <a:srgbClr val="0432FF"/>
                </a:solidFill>
                <a:latin typeface="Consolas"/>
                <a:cs typeface="Consolas"/>
              </a:rPr>
              <a:t>i</a:t>
            </a:r>
            <a:r>
              <a:rPr sz="1600" i="1" kern="1200" spc="-484" dirty="0">
                <a:solidFill>
                  <a:srgbClr val="0432FF"/>
                </a:solidFill>
                <a:latin typeface="Consolas"/>
                <a:cs typeface="Consolas"/>
              </a:rPr>
              <a:t> </a:t>
            </a:r>
            <a:r>
              <a:rPr sz="1600" kern="1200" dirty="0">
                <a:solidFill>
                  <a:prstClr val="black"/>
                </a:solidFill>
                <a:latin typeface="Palatino Linotype"/>
                <a:cs typeface="Palatino Linotype"/>
              </a:rPr>
              <a:t>refers to</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 </a:t>
            </a:r>
            <a:r>
              <a:rPr sz="1600" kern="1200" spc="-15" dirty="0">
                <a:solidFill>
                  <a:prstClr val="black"/>
                </a:solidFill>
                <a:latin typeface="Palatino Linotype"/>
                <a:cs typeface="Palatino Linotype"/>
              </a:rPr>
              <a:t>value</a:t>
            </a:r>
            <a:r>
              <a:rPr sz="1600" kern="1200" spc="-5" dirty="0">
                <a:solidFill>
                  <a:prstClr val="black"/>
                </a:solidFill>
                <a:latin typeface="Palatino Linotype"/>
                <a:cs typeface="Palatino Linotype"/>
              </a:rPr>
              <a:t> associated</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with</a:t>
            </a:r>
            <a:r>
              <a:rPr sz="1600" kern="1200" spc="10" dirty="0">
                <a:solidFill>
                  <a:prstClr val="black"/>
                </a:solidFill>
                <a:latin typeface="Palatino Linotype"/>
                <a:cs typeface="Palatino Linotype"/>
              </a:rPr>
              <a:t> </a:t>
            </a:r>
            <a:r>
              <a:rPr sz="1600" i="1" kern="1200" dirty="0">
                <a:solidFill>
                  <a:prstClr val="black"/>
                </a:solidFill>
                <a:latin typeface="Palatino Linotype"/>
                <a:cs typeface="Palatino Linotype"/>
              </a:rPr>
              <a:t>i</a:t>
            </a:r>
            <a:r>
              <a:rPr sz="1600" kern="1200" dirty="0">
                <a:solidFill>
                  <a:prstClr val="black"/>
                </a:solidFill>
                <a:latin typeface="Palatino Linotype"/>
                <a:cs typeface="Palatino Linotype"/>
              </a:rPr>
              <a:t>th</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grammar</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symbol</a:t>
            </a:r>
            <a:r>
              <a:rPr sz="1600" kern="1200" dirty="0">
                <a:solidFill>
                  <a:prstClr val="black"/>
                </a:solidFill>
                <a:latin typeface="Palatino Linotype"/>
                <a:cs typeface="Palatino Linotype"/>
              </a:rPr>
              <a:t> of</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 </a:t>
            </a:r>
            <a:r>
              <a:rPr sz="1600" kern="1200" spc="-5" dirty="0">
                <a:solidFill>
                  <a:prstClr val="black"/>
                </a:solidFill>
                <a:latin typeface="Palatino Linotype"/>
                <a:cs typeface="Palatino Linotype"/>
              </a:rPr>
              <a:t>body</a:t>
            </a:r>
            <a:endParaRPr sz="1600" kern="1200">
              <a:solidFill>
                <a:prstClr val="black"/>
              </a:solidFill>
              <a:latin typeface="Palatino Linotype"/>
              <a:cs typeface="Palatino Linotype"/>
            </a:endParaRPr>
          </a:p>
          <a:p>
            <a:pPr lvl="1" rtl="0">
              <a:spcBef>
                <a:spcPts val="55"/>
              </a:spcBef>
              <a:buFont typeface="Wingdings"/>
              <a:buChar char=""/>
            </a:pPr>
            <a:endParaRPr sz="2100" kern="1200">
              <a:solidFill>
                <a:prstClr val="black"/>
              </a:solidFill>
              <a:latin typeface="Palatino Linotype"/>
              <a:cs typeface="Palatino Linotype"/>
            </a:endParaRPr>
          </a:p>
          <a:p>
            <a:pPr marL="242570" marR="5080" indent="-230504" rtl="0">
              <a:lnSpc>
                <a:spcPct val="121000"/>
              </a:lnSpc>
              <a:buFont typeface="Arial MT"/>
              <a:buChar char="•"/>
              <a:tabLst>
                <a:tab pos="242570" algn="l"/>
                <a:tab pos="243204" algn="l"/>
              </a:tabLst>
            </a:pP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semantic action </a:t>
            </a:r>
            <a:r>
              <a:rPr sz="2000" kern="1200" dirty="0">
                <a:solidFill>
                  <a:prstClr val="black"/>
                </a:solidFill>
                <a:latin typeface="Palatino Linotype"/>
                <a:cs typeface="Palatino Linotype"/>
              </a:rPr>
              <a:t>is </a:t>
            </a:r>
            <a:r>
              <a:rPr sz="2000" kern="1200" spc="-5" dirty="0">
                <a:solidFill>
                  <a:prstClr val="black"/>
                </a:solidFill>
                <a:latin typeface="Palatino Linotype"/>
                <a:cs typeface="Palatino Linotype"/>
              </a:rPr>
              <a:t>performed when </a:t>
            </a:r>
            <a:r>
              <a:rPr sz="2000" kern="1200" spc="-20" dirty="0">
                <a:solidFill>
                  <a:prstClr val="black"/>
                </a:solidFill>
                <a:latin typeface="Palatino Linotype"/>
                <a:cs typeface="Palatino Linotype"/>
              </a:rPr>
              <a:t>we </a:t>
            </a:r>
            <a:r>
              <a:rPr sz="2000" kern="1200" spc="-5" dirty="0">
                <a:solidFill>
                  <a:prstClr val="black"/>
                </a:solidFill>
                <a:latin typeface="Palatino Linotype"/>
                <a:cs typeface="Palatino Linotype"/>
              </a:rPr>
              <a:t>reduce </a:t>
            </a:r>
            <a:r>
              <a:rPr sz="2000" kern="1200" dirty="0">
                <a:solidFill>
                  <a:prstClr val="black"/>
                </a:solidFill>
                <a:latin typeface="Palatino Linotype"/>
                <a:cs typeface="Palatino Linotype"/>
              </a:rPr>
              <a:t>by </a:t>
            </a:r>
            <a:r>
              <a:rPr sz="2000" kern="1200" spc="-5" dirty="0">
                <a:solidFill>
                  <a:prstClr val="black"/>
                </a:solidFill>
                <a:latin typeface="Palatino Linotype"/>
                <a:cs typeface="Palatino Linotype"/>
              </a:rPr>
              <a:t>the associated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a:t>
            </a:r>
            <a:endParaRPr sz="2000" kern="1200">
              <a:solidFill>
                <a:prstClr val="black"/>
              </a:solidFill>
              <a:latin typeface="Palatino Linotype"/>
              <a:cs typeface="Palatino Linotype"/>
            </a:endParaRPr>
          </a:p>
          <a:p>
            <a:pPr marL="698500" lvl="1" indent="-228600" rtl="0">
              <a:spcBef>
                <a:spcPts val="1695"/>
              </a:spcBef>
              <a:buFont typeface="Wingdings"/>
              <a:buChar char=""/>
              <a:tabLst>
                <a:tab pos="697865" algn="l"/>
                <a:tab pos="698500" algn="l"/>
              </a:tabLst>
            </a:pPr>
            <a:r>
              <a:rPr sz="1600" kern="1200" spc="-110" dirty="0">
                <a:solidFill>
                  <a:prstClr val="black"/>
                </a:solidFill>
                <a:latin typeface="Palatino Linotype"/>
                <a:cs typeface="Palatino Linotype"/>
              </a:rPr>
              <a:t>W</a:t>
            </a:r>
            <a:r>
              <a:rPr sz="1600" kern="1200" dirty="0">
                <a:solidFill>
                  <a:prstClr val="black"/>
                </a:solidFill>
                <a:latin typeface="Palatino Linotype"/>
                <a:cs typeface="Palatino Linotype"/>
              </a:rPr>
              <a:t>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can</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comp</a:t>
            </a:r>
            <a:r>
              <a:rPr sz="1600" kern="1200" spc="-5" dirty="0">
                <a:solidFill>
                  <a:prstClr val="black"/>
                </a:solidFill>
                <a:latin typeface="Palatino Linotype"/>
                <a:cs typeface="Palatino Linotype"/>
              </a:rPr>
              <a:t>u</a:t>
            </a:r>
            <a:r>
              <a:rPr sz="1600" kern="1200" dirty="0">
                <a:solidFill>
                  <a:prstClr val="black"/>
                </a:solidFill>
                <a:latin typeface="Palatino Linotype"/>
                <a:cs typeface="Palatino Linotype"/>
              </a:rPr>
              <a:t>te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a </a:t>
            </a:r>
            <a:r>
              <a:rPr sz="1600" kern="1200" spc="-50" dirty="0">
                <a:solidFill>
                  <a:prstClr val="black"/>
                </a:solidFill>
                <a:latin typeface="Palatino Linotype"/>
                <a:cs typeface="Palatino Linotype"/>
              </a:rPr>
              <a:t>v</a:t>
            </a:r>
            <a:r>
              <a:rPr sz="1600" kern="1200" dirty="0">
                <a:solidFill>
                  <a:prstClr val="black"/>
                </a:solidFill>
                <a:latin typeface="Palatino Linotype"/>
                <a:cs typeface="Palatino Linotype"/>
              </a:rPr>
              <a:t>a</a:t>
            </a:r>
            <a:r>
              <a:rPr sz="1600" kern="1200" spc="-5" dirty="0">
                <a:solidFill>
                  <a:prstClr val="black"/>
                </a:solidFill>
                <a:latin typeface="Palatino Linotype"/>
                <a:cs typeface="Palatino Linotype"/>
              </a:rPr>
              <a:t>lu</a:t>
            </a:r>
            <a:r>
              <a:rPr sz="1600" kern="1200" dirty="0">
                <a:solidFill>
                  <a:prstClr val="black"/>
                </a:solidFill>
                <a:latin typeface="Palatino Linotype"/>
                <a:cs typeface="Palatino Linotype"/>
              </a:rPr>
              <a:t>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for</a:t>
            </a:r>
            <a:r>
              <a:rPr sz="1600" kern="1200" spc="5" dirty="0">
                <a:solidFill>
                  <a:prstClr val="black"/>
                </a:solidFill>
                <a:latin typeface="Palatino Linotype"/>
                <a:cs typeface="Palatino Linotype"/>
              </a:rPr>
              <a:t> </a:t>
            </a:r>
            <a:r>
              <a:rPr sz="1600" kern="1200" spc="-5" dirty="0">
                <a:solidFill>
                  <a:prstClr val="black"/>
                </a:solidFill>
                <a:latin typeface="Consolas"/>
                <a:cs typeface="Consolas"/>
              </a:rPr>
              <a:t>$</a:t>
            </a:r>
            <a:r>
              <a:rPr sz="1600" kern="1200" dirty="0">
                <a:solidFill>
                  <a:prstClr val="black"/>
                </a:solidFill>
                <a:latin typeface="Consolas"/>
                <a:cs typeface="Consolas"/>
              </a:rPr>
              <a:t>$</a:t>
            </a:r>
            <a:r>
              <a:rPr sz="1600" kern="1200" spc="-484" dirty="0">
                <a:solidFill>
                  <a:prstClr val="black"/>
                </a:solidFill>
                <a:latin typeface="Consolas"/>
                <a:cs typeface="Consolas"/>
              </a:rPr>
              <a:t> </a:t>
            </a:r>
            <a:r>
              <a:rPr sz="1600" kern="1200" spc="-5" dirty="0">
                <a:solidFill>
                  <a:prstClr val="black"/>
                </a:solidFill>
                <a:latin typeface="Palatino Linotype"/>
                <a:cs typeface="Palatino Linotype"/>
              </a:rPr>
              <a:t>i</a:t>
            </a:r>
            <a:r>
              <a:rPr sz="1600" kern="1200" dirty="0">
                <a:solidFill>
                  <a:prstClr val="black"/>
                </a:solidFill>
                <a:latin typeface="Palatino Linotype"/>
                <a:cs typeface="Palatino Linotype"/>
              </a:rPr>
              <a:t>n</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a:t>
            </a:r>
            <a:r>
              <a:rPr sz="1600" kern="1200" spc="-5" dirty="0">
                <a:solidFill>
                  <a:prstClr val="black"/>
                </a:solidFill>
                <a:latin typeface="Palatino Linotype"/>
                <a:cs typeface="Palatino Linotype"/>
              </a:rPr>
              <a:t>e</a:t>
            </a:r>
            <a:r>
              <a:rPr sz="1600" kern="1200" spc="5" dirty="0">
                <a:solidFill>
                  <a:prstClr val="black"/>
                </a:solidFill>
                <a:latin typeface="Palatino Linotype"/>
                <a:cs typeface="Palatino Linotype"/>
              </a:rPr>
              <a:t>r</a:t>
            </a:r>
            <a:r>
              <a:rPr sz="1600" kern="1200" dirty="0">
                <a:solidFill>
                  <a:prstClr val="black"/>
                </a:solidFill>
                <a:latin typeface="Palatino Linotype"/>
                <a:cs typeface="Palatino Linotype"/>
              </a:rPr>
              <a:t>ms</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of t</a:t>
            </a:r>
            <a:r>
              <a:rPr sz="1600" kern="1200" spc="5" dirty="0">
                <a:solidFill>
                  <a:prstClr val="black"/>
                </a:solidFill>
                <a:latin typeface="Palatino Linotype"/>
                <a:cs typeface="Palatino Linotype"/>
              </a:rPr>
              <a:t>h</a:t>
            </a:r>
            <a:r>
              <a:rPr sz="1600" kern="1200" dirty="0">
                <a:solidFill>
                  <a:prstClr val="black"/>
                </a:solidFill>
                <a:latin typeface="Palatino Linotype"/>
                <a:cs typeface="Palatino Linotype"/>
              </a:rPr>
              <a:t>e</a:t>
            </a:r>
            <a:r>
              <a:rPr sz="1600" kern="1200" spc="-5" dirty="0">
                <a:solidFill>
                  <a:prstClr val="black"/>
                </a:solidFill>
                <a:latin typeface="Palatino Linotype"/>
                <a:cs typeface="Palatino Linotype"/>
              </a:rPr>
              <a:t> </a:t>
            </a:r>
            <a:r>
              <a:rPr sz="1600" kern="1200" spc="-5" dirty="0">
                <a:solidFill>
                  <a:prstClr val="black"/>
                </a:solidFill>
                <a:latin typeface="Consolas"/>
                <a:cs typeface="Consolas"/>
              </a:rPr>
              <a:t>$</a:t>
            </a:r>
            <a:r>
              <a:rPr sz="1600" i="1" kern="1200" spc="-5" dirty="0">
                <a:solidFill>
                  <a:prstClr val="black"/>
                </a:solidFill>
                <a:latin typeface="Consolas"/>
                <a:cs typeface="Consolas"/>
              </a:rPr>
              <a:t>i</a:t>
            </a:r>
            <a:r>
              <a:rPr sz="1600" kern="1200" spc="-170" dirty="0">
                <a:solidFill>
                  <a:prstClr val="black"/>
                </a:solidFill>
                <a:latin typeface="Palatino Linotype"/>
                <a:cs typeface="Palatino Linotype"/>
              </a:rPr>
              <a:t>’s</a:t>
            </a:r>
            <a:endParaRPr sz="1600" kern="1200">
              <a:solidFill>
                <a:prstClr val="black"/>
              </a:solidFill>
              <a:latin typeface="Palatino Linotype"/>
              <a:cs typeface="Palatino Linotype"/>
            </a:endParaRPr>
          </a:p>
        </p:txBody>
      </p:sp>
      <p:pic>
        <p:nvPicPr>
          <p:cNvPr id="10" name="object 4">
            <a:extLst>
              <a:ext uri="{FF2B5EF4-FFF2-40B4-BE49-F238E27FC236}">
                <a16:creationId xmlns:a16="http://schemas.microsoft.com/office/drawing/2014/main" id="{F5DCE9B4-C4D7-7D6E-4EBF-9608D9C7A9B6}"/>
              </a:ext>
            </a:extLst>
          </p:cNvPr>
          <p:cNvPicPr/>
          <p:nvPr/>
        </p:nvPicPr>
        <p:blipFill>
          <a:blip r:embed="rId3" cstate="print"/>
          <a:stretch>
            <a:fillRect/>
          </a:stretch>
        </p:blipFill>
        <p:spPr>
          <a:xfrm>
            <a:off x="4984534" y="297921"/>
            <a:ext cx="3792547" cy="1193232"/>
          </a:xfrm>
          <a:prstGeom prst="rect">
            <a:avLst/>
          </a:prstGeom>
        </p:spPr>
      </p:pic>
    </p:spTree>
    <p:extLst>
      <p:ext uri="{BB962C8B-B14F-4D97-AF65-F5344CB8AC3E}">
        <p14:creationId xmlns:p14="http://schemas.microsoft.com/office/powerpoint/2010/main" val="346542018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152</a:t>
            </a:fld>
            <a:endParaRPr lang="en-US"/>
          </a:p>
        </p:txBody>
      </p:sp>
      <p:sp>
        <p:nvSpPr>
          <p:cNvPr id="7" name="object 2">
            <a:extLst>
              <a:ext uri="{FF2B5EF4-FFF2-40B4-BE49-F238E27FC236}">
                <a16:creationId xmlns:a16="http://schemas.microsoft.com/office/drawing/2014/main" id="{3DA5807E-C978-275C-A2A7-7FB8605E13F5}"/>
              </a:ext>
            </a:extLst>
          </p:cNvPr>
          <p:cNvSpPr txBox="1"/>
          <p:nvPr/>
        </p:nvSpPr>
        <p:spPr>
          <a:xfrm>
            <a:off x="877257" y="1670811"/>
            <a:ext cx="2027555" cy="2689860"/>
          </a:xfrm>
          <a:prstGeom prst="rect">
            <a:avLst/>
          </a:prstGeom>
        </p:spPr>
        <p:txBody>
          <a:bodyPr vert="horz" wrap="square" lIns="0" tIns="60960" rIns="0" bIns="0" rtlCol="0">
            <a:spAutoFit/>
          </a:bodyPr>
          <a:lstStyle/>
          <a:p>
            <a:pPr algn="ctr" rtl="0">
              <a:spcBef>
                <a:spcPts val="480"/>
              </a:spcBef>
            </a:pPr>
            <a:r>
              <a:rPr sz="4000" b="1" kern="1200" spc="-60" dirty="0">
                <a:solidFill>
                  <a:prstClr val="black"/>
                </a:solidFill>
                <a:latin typeface="Palatino Linotype"/>
                <a:cs typeface="Palatino Linotype"/>
              </a:rPr>
              <a:t>YACC</a:t>
            </a:r>
            <a:endParaRPr sz="4000" kern="1200">
              <a:solidFill>
                <a:prstClr val="black"/>
              </a:solidFill>
              <a:latin typeface="Palatino Linotype"/>
              <a:cs typeface="Palatino Linotype"/>
            </a:endParaRPr>
          </a:p>
          <a:p>
            <a:pPr marL="12065" marR="5080" indent="-635" algn="ctr" rtl="0">
              <a:lnSpc>
                <a:spcPts val="5300"/>
              </a:lnSpc>
            </a:pPr>
            <a:r>
              <a:rPr sz="4000" b="1" kern="1200" spc="-5" dirty="0">
                <a:solidFill>
                  <a:prstClr val="black"/>
                </a:solidFill>
                <a:latin typeface="Palatino Linotype"/>
                <a:cs typeface="Palatino Linotype"/>
              </a:rPr>
              <a:t>Source </a:t>
            </a:r>
            <a:r>
              <a:rPr sz="4000" b="1" kern="1200" dirty="0">
                <a:solidFill>
                  <a:prstClr val="black"/>
                </a:solidFill>
                <a:latin typeface="Palatino Linotype"/>
                <a:cs typeface="Palatino Linotype"/>
              </a:rPr>
              <a:t> Program </a:t>
            </a:r>
            <a:r>
              <a:rPr sz="4000" b="1" kern="1200" spc="-985" dirty="0">
                <a:solidFill>
                  <a:prstClr val="black"/>
                </a:solidFill>
                <a:latin typeface="Palatino Linotype"/>
                <a:cs typeface="Palatino Linotype"/>
              </a:rPr>
              <a:t> </a:t>
            </a:r>
            <a:r>
              <a:rPr sz="4000" b="1" kern="1200" dirty="0">
                <a:solidFill>
                  <a:prstClr val="black"/>
                </a:solidFill>
                <a:latin typeface="Palatino Linotype"/>
                <a:cs typeface="Palatino Linotype"/>
              </a:rPr>
              <a:t>Exa</a:t>
            </a:r>
            <a:r>
              <a:rPr sz="4000" b="1" kern="1200" spc="5" dirty="0">
                <a:solidFill>
                  <a:prstClr val="black"/>
                </a:solidFill>
                <a:latin typeface="Palatino Linotype"/>
                <a:cs typeface="Palatino Linotype"/>
              </a:rPr>
              <a:t>m</a:t>
            </a:r>
            <a:r>
              <a:rPr sz="4000" b="1" kern="1200" spc="-10" dirty="0">
                <a:solidFill>
                  <a:prstClr val="black"/>
                </a:solidFill>
                <a:latin typeface="Palatino Linotype"/>
                <a:cs typeface="Palatino Linotype"/>
              </a:rPr>
              <a:t>p</a:t>
            </a:r>
            <a:r>
              <a:rPr sz="4000" b="1" kern="1200" spc="5" dirty="0">
                <a:solidFill>
                  <a:prstClr val="black"/>
                </a:solidFill>
                <a:latin typeface="Palatino Linotype"/>
                <a:cs typeface="Palatino Linotype"/>
              </a:rPr>
              <a:t>l</a:t>
            </a:r>
            <a:r>
              <a:rPr sz="4000" b="1" kern="1200" dirty="0">
                <a:solidFill>
                  <a:prstClr val="black"/>
                </a:solidFill>
                <a:latin typeface="Palatino Linotype"/>
                <a:cs typeface="Palatino Linotype"/>
              </a:rPr>
              <a:t>e</a:t>
            </a:r>
            <a:endParaRPr sz="4000" kern="1200">
              <a:solidFill>
                <a:prstClr val="black"/>
              </a:solidFill>
              <a:latin typeface="Palatino Linotype"/>
              <a:cs typeface="Palatino Linotype"/>
            </a:endParaRPr>
          </a:p>
        </p:txBody>
      </p:sp>
      <p:pic>
        <p:nvPicPr>
          <p:cNvPr id="8" name="object 3">
            <a:extLst>
              <a:ext uri="{FF2B5EF4-FFF2-40B4-BE49-F238E27FC236}">
                <a16:creationId xmlns:a16="http://schemas.microsoft.com/office/drawing/2014/main" id="{C9476771-A9D8-D9B6-AF8D-9419526D6A40}"/>
              </a:ext>
            </a:extLst>
          </p:cNvPr>
          <p:cNvPicPr/>
          <p:nvPr/>
        </p:nvPicPr>
        <p:blipFill>
          <a:blip r:embed="rId2" cstate="print"/>
          <a:stretch>
            <a:fillRect/>
          </a:stretch>
        </p:blipFill>
        <p:spPr>
          <a:xfrm>
            <a:off x="3893134" y="369575"/>
            <a:ext cx="4640995" cy="5820191"/>
          </a:xfrm>
          <a:prstGeom prst="rect">
            <a:avLst/>
          </a:prstGeom>
        </p:spPr>
      </p:pic>
    </p:spTree>
    <p:extLst>
      <p:ext uri="{BB962C8B-B14F-4D97-AF65-F5344CB8AC3E}">
        <p14:creationId xmlns:p14="http://schemas.microsoft.com/office/powerpoint/2010/main" val="288448456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153</a:t>
            </a:fld>
            <a:endParaRPr lang="en-US"/>
          </a:p>
        </p:txBody>
      </p:sp>
      <p:sp>
        <p:nvSpPr>
          <p:cNvPr id="7" name="object 2">
            <a:extLst>
              <a:ext uri="{FF2B5EF4-FFF2-40B4-BE49-F238E27FC236}">
                <a16:creationId xmlns:a16="http://schemas.microsoft.com/office/drawing/2014/main" id="{8245981E-5568-C214-E55A-741430A80585}"/>
              </a:ext>
            </a:extLst>
          </p:cNvPr>
          <p:cNvSpPr txBox="1">
            <a:spLocks/>
          </p:cNvSpPr>
          <p:nvPr/>
        </p:nvSpPr>
        <p:spPr>
          <a:xfrm>
            <a:off x="707390" y="524763"/>
            <a:ext cx="697801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Conflicts</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Resolution</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in</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60" normalizeH="0" baseline="0" noProof="0">
                <a:ln>
                  <a:noFill/>
                </a:ln>
                <a:solidFill>
                  <a:sysClr val="windowText" lastClr="000000"/>
                </a:solidFill>
                <a:effectLst/>
                <a:uLnTx/>
                <a:uFillTx/>
                <a:latin typeface="Palatino Linotype"/>
                <a:ea typeface="+mj-ea"/>
              </a:rPr>
              <a:t>YACC</a:t>
            </a:r>
            <a:endParaRPr kumimoji="0" lang="en-US" sz="4000" b="1" i="0" u="none" strike="noStrike" kern="0" cap="none" spc="-6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ADEE7749-2C06-F937-6380-BFE4209E6C55}"/>
              </a:ext>
            </a:extLst>
          </p:cNvPr>
          <p:cNvSpPr txBox="1"/>
          <p:nvPr/>
        </p:nvSpPr>
        <p:spPr>
          <a:xfrm>
            <a:off x="707390" y="1495947"/>
            <a:ext cx="7676515" cy="4431030"/>
          </a:xfrm>
          <a:prstGeom prst="rect">
            <a:avLst/>
          </a:prstGeom>
        </p:spPr>
        <p:txBody>
          <a:bodyPr vert="horz" wrap="square" lIns="0" tIns="175260" rIns="0" bIns="0" rtlCol="0">
            <a:spAutoFit/>
          </a:bodyPr>
          <a:lstStyle/>
          <a:p>
            <a:pPr marL="243204" indent="-230504" rtl="0">
              <a:spcBef>
                <a:spcPts val="1380"/>
              </a:spcBef>
              <a:buClr>
                <a:srgbClr val="000000"/>
              </a:buClr>
              <a:buFont typeface="Arial MT"/>
              <a:buChar char="•"/>
              <a:tabLst>
                <a:tab pos="242570" algn="l"/>
                <a:tab pos="243204" algn="l"/>
              </a:tabLst>
            </a:pPr>
            <a:r>
              <a:rPr sz="2200" b="1" kern="1200" spc="-5" dirty="0">
                <a:solidFill>
                  <a:srgbClr val="0432FF"/>
                </a:solidFill>
                <a:latin typeface="Palatino Linotype"/>
                <a:cs typeface="Palatino Linotype"/>
              </a:rPr>
              <a:t>Default</a:t>
            </a:r>
            <a:r>
              <a:rPr sz="2200" b="1" kern="1200" spc="-20" dirty="0">
                <a:solidFill>
                  <a:srgbClr val="0432FF"/>
                </a:solidFill>
                <a:latin typeface="Palatino Linotype"/>
                <a:cs typeface="Palatino Linotype"/>
              </a:rPr>
              <a:t> </a:t>
            </a:r>
            <a:r>
              <a:rPr sz="2200" b="1" kern="1200" spc="-5" dirty="0">
                <a:solidFill>
                  <a:srgbClr val="0432FF"/>
                </a:solidFill>
                <a:latin typeface="Palatino Linotype"/>
                <a:cs typeface="Palatino Linotype"/>
              </a:rPr>
              <a:t>strategy:</a:t>
            </a:r>
            <a:endParaRPr sz="2200" kern="1200" dirty="0">
              <a:solidFill>
                <a:prstClr val="black"/>
              </a:solidFill>
              <a:latin typeface="Palatino Linotype"/>
              <a:cs typeface="Palatino Linotype"/>
            </a:endParaRPr>
          </a:p>
          <a:p>
            <a:pPr marL="698500" lvl="1" indent="-228600" rtl="0">
              <a:spcBef>
                <a:spcPts val="1045"/>
              </a:spcBef>
              <a:buClr>
                <a:srgbClr val="000000"/>
              </a:buClr>
              <a:buFont typeface="Wingdings"/>
              <a:buChar char=""/>
              <a:tabLst>
                <a:tab pos="698500" algn="l"/>
              </a:tabLst>
            </a:pPr>
            <a:r>
              <a:rPr b="1" kern="1200" spc="-5" dirty="0">
                <a:solidFill>
                  <a:srgbClr val="FF0000"/>
                </a:solidFill>
                <a:latin typeface="Palatino Linotype"/>
                <a:cs typeface="Palatino Linotype"/>
              </a:rPr>
              <a:t>Shift/reduce</a:t>
            </a:r>
            <a:r>
              <a:rPr b="1" kern="1200" dirty="0">
                <a:solidFill>
                  <a:srgbClr val="FF0000"/>
                </a:solidFill>
                <a:latin typeface="Palatino Linotype"/>
                <a:cs typeface="Palatino Linotype"/>
              </a:rPr>
              <a:t> </a:t>
            </a:r>
            <a:r>
              <a:rPr b="1" kern="1200" spc="-5" dirty="0">
                <a:solidFill>
                  <a:srgbClr val="FF0000"/>
                </a:solidFill>
                <a:latin typeface="Palatino Linotype"/>
                <a:cs typeface="Palatino Linotype"/>
              </a:rPr>
              <a:t>conflicts:</a:t>
            </a:r>
            <a:r>
              <a:rPr b="1" kern="1200" spc="5" dirty="0">
                <a:solidFill>
                  <a:srgbClr val="FF0000"/>
                </a:solidFill>
                <a:latin typeface="Palatino Linotype"/>
                <a:cs typeface="Palatino Linotype"/>
              </a:rPr>
              <a:t> </a:t>
            </a:r>
            <a:r>
              <a:rPr kern="1200" spc="-10" dirty="0">
                <a:solidFill>
                  <a:prstClr val="black"/>
                </a:solidFill>
                <a:latin typeface="Palatino Linotype"/>
                <a:cs typeface="Palatino Linotype"/>
              </a:rPr>
              <a:t>always</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shift</a:t>
            </a:r>
            <a:endParaRPr kern="1200" dirty="0">
              <a:solidFill>
                <a:prstClr val="black"/>
              </a:solidFill>
              <a:latin typeface="Palatino Linotype"/>
              <a:cs typeface="Palatino Linotype"/>
            </a:endParaRPr>
          </a:p>
          <a:p>
            <a:pPr marL="698500" lvl="1" indent="-228600" rtl="0">
              <a:spcBef>
                <a:spcPts val="1060"/>
              </a:spcBef>
              <a:buClr>
                <a:srgbClr val="000000"/>
              </a:buClr>
              <a:buFont typeface="Wingdings"/>
              <a:buChar char=""/>
              <a:tabLst>
                <a:tab pos="698500" algn="l"/>
              </a:tabLst>
            </a:pPr>
            <a:r>
              <a:rPr b="1" kern="1200" spc="-5" dirty="0">
                <a:solidFill>
                  <a:srgbClr val="FF0000"/>
                </a:solidFill>
                <a:latin typeface="Palatino Linotype"/>
                <a:cs typeface="Palatino Linotype"/>
              </a:rPr>
              <a:t>Reduce/reduce</a:t>
            </a:r>
            <a:r>
              <a:rPr b="1" kern="1200" spc="5" dirty="0">
                <a:solidFill>
                  <a:srgbClr val="FF0000"/>
                </a:solidFill>
                <a:latin typeface="Palatino Linotype"/>
                <a:cs typeface="Palatino Linotype"/>
              </a:rPr>
              <a:t> </a:t>
            </a:r>
            <a:r>
              <a:rPr b="1" kern="1200" spc="-5" dirty="0">
                <a:solidFill>
                  <a:srgbClr val="FF0000"/>
                </a:solidFill>
                <a:latin typeface="Palatino Linotype"/>
                <a:cs typeface="Palatino Linotype"/>
              </a:rPr>
              <a:t>conflicts:</a:t>
            </a:r>
            <a:r>
              <a:rPr b="1" kern="1200" spc="10" dirty="0">
                <a:solidFill>
                  <a:srgbClr val="FF0000"/>
                </a:solidFill>
                <a:latin typeface="Palatino Linotype"/>
                <a:cs typeface="Palatino Linotype"/>
              </a:rPr>
              <a:t> </a:t>
            </a:r>
            <a:r>
              <a:rPr kern="1200" dirty="0">
                <a:solidFill>
                  <a:prstClr val="black"/>
                </a:solidFill>
                <a:latin typeface="Palatino Linotype"/>
                <a:cs typeface="Palatino Linotype"/>
              </a:rPr>
              <a:t>reduce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with</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production</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listed</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first</a:t>
            </a:r>
            <a:endParaRPr kern="1200" dirty="0">
              <a:solidFill>
                <a:prstClr val="black"/>
              </a:solidFill>
              <a:latin typeface="Palatino Linotype"/>
              <a:cs typeface="Palatino Linotype"/>
            </a:endParaRPr>
          </a:p>
          <a:p>
            <a:pPr lvl="1" rtl="0">
              <a:spcBef>
                <a:spcPts val="10"/>
              </a:spcBef>
              <a:buFont typeface="Wingdings"/>
              <a:buChar char=""/>
            </a:pPr>
            <a:endParaRPr sz="1650" kern="1200" dirty="0">
              <a:solidFill>
                <a:prstClr val="black"/>
              </a:solidFill>
              <a:latin typeface="Palatino Linotype"/>
              <a:cs typeface="Palatino Linotype"/>
            </a:endParaRPr>
          </a:p>
          <a:p>
            <a:pPr marL="243204" indent="-230504" rtl="0">
              <a:buClr>
                <a:srgbClr val="000000"/>
              </a:buClr>
              <a:buFont typeface="Arial MT"/>
              <a:buChar char="•"/>
              <a:tabLst>
                <a:tab pos="242570" algn="l"/>
                <a:tab pos="243204" algn="l"/>
              </a:tabLst>
            </a:pPr>
            <a:r>
              <a:rPr sz="2200" b="1" kern="1200" dirty="0">
                <a:solidFill>
                  <a:srgbClr val="0432FF"/>
                </a:solidFill>
                <a:latin typeface="Palatino Linotype"/>
                <a:cs typeface="Palatino Linotype"/>
              </a:rPr>
              <a:t>Specifying the</a:t>
            </a:r>
            <a:r>
              <a:rPr sz="2200" b="1" kern="1200" spc="5" dirty="0">
                <a:solidFill>
                  <a:srgbClr val="0432FF"/>
                </a:solidFill>
                <a:latin typeface="Palatino Linotype"/>
                <a:cs typeface="Palatino Linotype"/>
              </a:rPr>
              <a:t> </a:t>
            </a:r>
            <a:r>
              <a:rPr sz="2200" b="1" kern="1200" spc="-5" dirty="0">
                <a:solidFill>
                  <a:srgbClr val="0432FF"/>
                </a:solidFill>
                <a:latin typeface="Palatino Linotype"/>
                <a:cs typeface="Palatino Linotype"/>
              </a:rPr>
              <a:t>precedence</a:t>
            </a:r>
            <a:r>
              <a:rPr sz="2200" b="1" kern="1200" spc="5" dirty="0">
                <a:solidFill>
                  <a:srgbClr val="0432FF"/>
                </a:solidFill>
                <a:latin typeface="Palatino Linotype"/>
                <a:cs typeface="Palatino Linotype"/>
              </a:rPr>
              <a:t> </a:t>
            </a:r>
            <a:r>
              <a:rPr sz="2200" b="1" kern="1200" dirty="0">
                <a:solidFill>
                  <a:srgbClr val="0432FF"/>
                </a:solidFill>
                <a:latin typeface="Palatino Linotype"/>
                <a:cs typeface="Palatino Linotype"/>
              </a:rPr>
              <a:t>and</a:t>
            </a:r>
            <a:r>
              <a:rPr sz="2200" b="1" kern="1200" spc="10" dirty="0">
                <a:solidFill>
                  <a:srgbClr val="0432FF"/>
                </a:solidFill>
                <a:latin typeface="Palatino Linotype"/>
                <a:cs typeface="Palatino Linotype"/>
              </a:rPr>
              <a:t> </a:t>
            </a:r>
            <a:r>
              <a:rPr sz="2200" b="1" kern="1200" spc="-5" dirty="0">
                <a:solidFill>
                  <a:srgbClr val="0432FF"/>
                </a:solidFill>
                <a:latin typeface="Palatino Linotype"/>
                <a:cs typeface="Palatino Linotype"/>
              </a:rPr>
              <a:t>associativity</a:t>
            </a:r>
            <a:r>
              <a:rPr sz="2200" b="1" kern="1200" spc="5" dirty="0">
                <a:solidFill>
                  <a:srgbClr val="0432FF"/>
                </a:solidFill>
                <a:latin typeface="Palatino Linotype"/>
                <a:cs typeface="Palatino Linotype"/>
              </a:rPr>
              <a:t> </a:t>
            </a:r>
            <a:r>
              <a:rPr sz="2200" b="1" kern="1200" dirty="0">
                <a:solidFill>
                  <a:srgbClr val="0432FF"/>
                </a:solidFill>
                <a:latin typeface="Palatino Linotype"/>
                <a:cs typeface="Palatino Linotype"/>
              </a:rPr>
              <a:t>of</a:t>
            </a:r>
            <a:r>
              <a:rPr sz="2200" b="1" kern="1200" spc="-5" dirty="0">
                <a:solidFill>
                  <a:srgbClr val="0432FF"/>
                </a:solidFill>
                <a:latin typeface="Palatino Linotype"/>
                <a:cs typeface="Palatino Linotype"/>
              </a:rPr>
              <a:t> terminals</a:t>
            </a:r>
            <a:endParaRPr sz="2200" kern="1200" dirty="0">
              <a:solidFill>
                <a:prstClr val="black"/>
              </a:solidFill>
              <a:latin typeface="Palatino Linotype"/>
              <a:cs typeface="Palatino Linotype"/>
            </a:endParaRPr>
          </a:p>
          <a:p>
            <a:pPr marL="698500" lvl="1" indent="-228600" rtl="0">
              <a:spcBef>
                <a:spcPts val="1145"/>
              </a:spcBef>
              <a:buClr>
                <a:srgbClr val="000000"/>
              </a:buClr>
              <a:buFont typeface="Wingdings"/>
              <a:buChar char=""/>
              <a:tabLst>
                <a:tab pos="698500" algn="l"/>
              </a:tabLst>
            </a:pPr>
            <a:r>
              <a:rPr b="1" kern="1200" spc="-5" dirty="0">
                <a:solidFill>
                  <a:srgbClr val="FF0000"/>
                </a:solidFill>
                <a:latin typeface="Palatino Linotype"/>
                <a:cs typeface="Palatino Linotype"/>
              </a:rPr>
              <a:t>Associativity:</a:t>
            </a:r>
            <a:r>
              <a:rPr b="1" kern="1200" spc="-10" dirty="0">
                <a:solidFill>
                  <a:srgbClr val="FF0000"/>
                </a:solidFill>
                <a:latin typeface="Palatino Linotype"/>
                <a:cs typeface="Palatino Linotype"/>
              </a:rPr>
              <a:t> </a:t>
            </a:r>
            <a:r>
              <a:rPr kern="1200" spc="-5" dirty="0">
                <a:solidFill>
                  <a:prstClr val="black"/>
                </a:solidFill>
                <a:latin typeface="Consolas"/>
                <a:cs typeface="Consolas"/>
              </a:rPr>
              <a:t>%left</a:t>
            </a:r>
            <a:r>
              <a:rPr kern="1200" spc="-5" dirty="0">
                <a:solidFill>
                  <a:prstClr val="black"/>
                </a:solidFill>
                <a:latin typeface="Palatino Linotype"/>
                <a:cs typeface="Palatino Linotype"/>
              </a:rPr>
              <a:t>,</a:t>
            </a:r>
            <a:r>
              <a:rPr kern="1200" spc="-10" dirty="0">
                <a:solidFill>
                  <a:prstClr val="black"/>
                </a:solidFill>
                <a:latin typeface="Palatino Linotype"/>
                <a:cs typeface="Palatino Linotype"/>
              </a:rPr>
              <a:t> </a:t>
            </a:r>
            <a:r>
              <a:rPr kern="1200" spc="-5" dirty="0">
                <a:solidFill>
                  <a:prstClr val="black"/>
                </a:solidFill>
                <a:latin typeface="Consolas"/>
                <a:cs typeface="Consolas"/>
              </a:rPr>
              <a:t>%right</a:t>
            </a:r>
            <a:r>
              <a:rPr kern="1200" spc="-5" dirty="0">
                <a:solidFill>
                  <a:prstClr val="black"/>
                </a:solidFill>
                <a:latin typeface="Palatino Linotype"/>
                <a:cs typeface="Palatino Linotype"/>
              </a:rPr>
              <a:t>,</a:t>
            </a:r>
            <a:r>
              <a:rPr kern="1200" spc="-10" dirty="0">
                <a:solidFill>
                  <a:prstClr val="black"/>
                </a:solidFill>
                <a:latin typeface="Palatino Linotype"/>
                <a:cs typeface="Palatino Linotype"/>
              </a:rPr>
              <a:t> </a:t>
            </a:r>
            <a:r>
              <a:rPr kern="1200" spc="-5" dirty="0">
                <a:solidFill>
                  <a:schemeClr val="bg2">
                    <a:lumMod val="50000"/>
                  </a:schemeClr>
                </a:solidFill>
                <a:latin typeface="Consolas"/>
                <a:cs typeface="Consolas"/>
              </a:rPr>
              <a:t>%nonassoc</a:t>
            </a:r>
            <a:endParaRPr kern="1200" dirty="0">
              <a:solidFill>
                <a:schemeClr val="bg2">
                  <a:lumMod val="50000"/>
                </a:schemeClr>
              </a:solidFill>
              <a:latin typeface="Consolas"/>
              <a:cs typeface="Consolas"/>
            </a:endParaRPr>
          </a:p>
          <a:p>
            <a:pPr marL="698500" lvl="1" indent="-228600" rtl="0">
              <a:spcBef>
                <a:spcPts val="1055"/>
              </a:spcBef>
              <a:buClr>
                <a:srgbClr val="000000"/>
              </a:buClr>
              <a:buFont typeface="Wingdings"/>
              <a:buChar char=""/>
              <a:tabLst>
                <a:tab pos="698500" algn="l"/>
              </a:tabLst>
            </a:pPr>
            <a:r>
              <a:rPr b="1" kern="1200" dirty="0">
                <a:solidFill>
                  <a:srgbClr val="FF0000"/>
                </a:solidFill>
                <a:latin typeface="Palatino Linotype"/>
                <a:cs typeface="Palatino Linotype"/>
              </a:rPr>
              <a:t>Shift</a:t>
            </a:r>
            <a:r>
              <a:rPr b="1" kern="1200" spc="-10" dirty="0">
                <a:solidFill>
                  <a:srgbClr val="FF0000"/>
                </a:solidFill>
                <a:latin typeface="Palatino Linotype"/>
                <a:cs typeface="Palatino Linotype"/>
              </a:rPr>
              <a:t> </a:t>
            </a:r>
            <a:r>
              <a:rPr kern="1200" spc="-5" dirty="0">
                <a:solidFill>
                  <a:srgbClr val="FF0000"/>
                </a:solidFill>
                <a:latin typeface="Cambria Math"/>
                <a:cs typeface="Cambria Math"/>
              </a:rPr>
              <a:t>𝒂</a:t>
            </a:r>
            <a:r>
              <a:rPr b="1" kern="1200" spc="-5" dirty="0">
                <a:solidFill>
                  <a:srgbClr val="FF0000"/>
                </a:solidFill>
                <a:latin typeface="Palatino Linotype"/>
                <a:cs typeface="Palatino Linotype"/>
              </a:rPr>
              <a:t>/reduce</a:t>
            </a:r>
            <a:r>
              <a:rPr b="1" kern="1200" dirty="0">
                <a:solidFill>
                  <a:srgbClr val="FF0000"/>
                </a:solidFill>
                <a:latin typeface="Palatino Linotype"/>
                <a:cs typeface="Palatino Linotype"/>
              </a:rPr>
              <a:t> </a:t>
            </a:r>
            <a:r>
              <a:rPr kern="1200" dirty="0">
                <a:solidFill>
                  <a:srgbClr val="FF0000"/>
                </a:solidFill>
                <a:latin typeface="Cambria Math"/>
                <a:cs typeface="Cambria Math"/>
              </a:rPr>
              <a:t>𝑨</a:t>
            </a:r>
            <a:r>
              <a:rPr kern="1200" spc="95" dirty="0">
                <a:solidFill>
                  <a:srgbClr val="FF0000"/>
                </a:solidFill>
                <a:latin typeface="Cambria Math"/>
                <a:cs typeface="Cambria Math"/>
              </a:rPr>
              <a:t> </a:t>
            </a:r>
            <a:r>
              <a:rPr kern="1200" dirty="0">
                <a:solidFill>
                  <a:srgbClr val="FF0000"/>
                </a:solidFill>
                <a:latin typeface="Cambria Math"/>
                <a:cs typeface="Cambria Math"/>
              </a:rPr>
              <a:t>→</a:t>
            </a:r>
            <a:r>
              <a:rPr kern="1200" spc="105" dirty="0">
                <a:solidFill>
                  <a:srgbClr val="FF0000"/>
                </a:solidFill>
                <a:latin typeface="Cambria Math"/>
                <a:cs typeface="Cambria Math"/>
              </a:rPr>
              <a:t> </a:t>
            </a:r>
            <a:r>
              <a:rPr kern="1200" spc="204" dirty="0">
                <a:solidFill>
                  <a:srgbClr val="FF0000"/>
                </a:solidFill>
                <a:latin typeface="Cambria Math"/>
                <a:cs typeface="Cambria Math"/>
              </a:rPr>
              <a:t>𝑎</a:t>
            </a:r>
            <a:r>
              <a:rPr kern="1200" spc="50" dirty="0">
                <a:solidFill>
                  <a:srgbClr val="FF0000"/>
                </a:solidFill>
                <a:latin typeface="Cambria Math"/>
                <a:cs typeface="Cambria Math"/>
              </a:rPr>
              <a:t> </a:t>
            </a:r>
            <a:r>
              <a:rPr b="1" kern="1200" spc="-5" dirty="0">
                <a:solidFill>
                  <a:srgbClr val="FF0000"/>
                </a:solidFill>
                <a:latin typeface="Palatino Linotype"/>
                <a:cs typeface="Palatino Linotype"/>
              </a:rPr>
              <a:t>conflict: </a:t>
            </a:r>
            <a:r>
              <a:rPr kern="1200" dirty="0">
                <a:solidFill>
                  <a:prstClr val="black"/>
                </a:solidFill>
                <a:latin typeface="Palatino Linotype"/>
                <a:cs typeface="Palatino Linotype"/>
              </a:rPr>
              <a:t>compare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precedence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of </a:t>
            </a:r>
            <a:r>
              <a:rPr kern="1200" dirty="0">
                <a:solidFill>
                  <a:prstClr val="black"/>
                </a:solidFill>
                <a:latin typeface="Cambria Math"/>
                <a:cs typeface="Cambria Math"/>
              </a:rPr>
              <a:t>𝑎</a:t>
            </a:r>
            <a:r>
              <a:rPr kern="1200" spc="85" dirty="0">
                <a:solidFill>
                  <a:prstClr val="black"/>
                </a:solidFill>
                <a:latin typeface="Cambria Math"/>
                <a:cs typeface="Cambria Math"/>
              </a:rPr>
              <a:t> </a:t>
            </a:r>
            <a:r>
              <a:rPr kern="1200" dirty="0">
                <a:solidFill>
                  <a:prstClr val="black"/>
                </a:solidFill>
                <a:latin typeface="Palatino Linotype"/>
                <a:cs typeface="Palatino Linotype"/>
              </a:rPr>
              <a:t>and </a:t>
            </a:r>
            <a:r>
              <a:rPr kern="1200" dirty="0">
                <a:solidFill>
                  <a:prstClr val="black"/>
                </a:solidFill>
                <a:latin typeface="Cambria Math"/>
                <a:cs typeface="Cambria Math"/>
              </a:rPr>
              <a:t>𝐴</a:t>
            </a:r>
            <a:r>
              <a:rPr kern="1200" spc="110" dirty="0">
                <a:solidFill>
                  <a:prstClr val="black"/>
                </a:solidFill>
                <a:latin typeface="Cambria Math"/>
                <a:cs typeface="Cambria Math"/>
              </a:rPr>
              <a:t> </a:t>
            </a:r>
            <a:r>
              <a:rPr kern="1200" dirty="0">
                <a:solidFill>
                  <a:prstClr val="black"/>
                </a:solidFill>
                <a:latin typeface="Cambria Math"/>
                <a:cs typeface="Cambria Math"/>
              </a:rPr>
              <a:t>→</a:t>
            </a:r>
          </a:p>
          <a:p>
            <a:pPr marL="698500" rtl="0">
              <a:spcBef>
                <a:spcPts val="340"/>
              </a:spcBef>
            </a:pPr>
            <a:r>
              <a:rPr kern="1200" dirty="0">
                <a:solidFill>
                  <a:prstClr val="black"/>
                </a:solidFill>
                <a:latin typeface="Cambria Math"/>
                <a:cs typeface="Cambria Math"/>
              </a:rPr>
              <a:t>𝛼</a:t>
            </a:r>
            <a:r>
              <a:rPr kern="1200" spc="100" dirty="0">
                <a:solidFill>
                  <a:prstClr val="black"/>
                </a:solidFill>
                <a:latin typeface="Cambria Math"/>
                <a:cs typeface="Cambria Math"/>
              </a:rPr>
              <a:t> </a:t>
            </a:r>
            <a:r>
              <a:rPr kern="1200" spc="-5" dirty="0">
                <a:solidFill>
                  <a:prstClr val="black"/>
                </a:solidFill>
                <a:latin typeface="Palatino Linotype"/>
                <a:cs typeface="Palatino Linotype"/>
              </a:rPr>
              <a:t>(use</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associativity</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when</a:t>
            </a:r>
            <a:r>
              <a:rPr kern="1200" dirty="0">
                <a:solidFill>
                  <a:prstClr val="black"/>
                </a:solidFill>
                <a:latin typeface="Palatino Linotype"/>
                <a:cs typeface="Palatino Linotype"/>
              </a:rPr>
              <a:t> precedence is not </a:t>
            </a:r>
            <a:r>
              <a:rPr kern="1200" spc="-5" dirty="0">
                <a:solidFill>
                  <a:prstClr val="black"/>
                </a:solidFill>
                <a:latin typeface="Palatino Linotype"/>
                <a:cs typeface="Palatino Linotype"/>
              </a:rPr>
              <a:t>enough)</a:t>
            </a:r>
            <a:endParaRPr kern="1200" dirty="0">
              <a:solidFill>
                <a:prstClr val="black"/>
              </a:solidFill>
              <a:latin typeface="Palatino Linotype"/>
              <a:cs typeface="Palatino Linotype"/>
            </a:endParaRPr>
          </a:p>
          <a:p>
            <a:pPr marL="1155700" lvl="2" indent="-229235" rtl="0">
              <a:spcBef>
                <a:spcPts val="1040"/>
              </a:spcBef>
              <a:buFont typeface="Courier New"/>
              <a:buChar char="o"/>
              <a:tabLst>
                <a:tab pos="1155700" algn="l"/>
              </a:tabLst>
            </a:pPr>
            <a:r>
              <a:rPr sz="1600" kern="1200" spc="-5" dirty="0">
                <a:solidFill>
                  <a:prstClr val="black"/>
                </a:solidFill>
                <a:latin typeface="Palatino Linotype"/>
                <a:cs typeface="Palatino Linotype"/>
              </a:rPr>
              <a:t>The</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declaration</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order</a:t>
            </a:r>
            <a:r>
              <a:rPr sz="1600" kern="1200" spc="15" dirty="0">
                <a:solidFill>
                  <a:prstClr val="black"/>
                </a:solidFill>
                <a:latin typeface="Palatino Linotype"/>
                <a:cs typeface="Palatino Linotype"/>
              </a:rPr>
              <a:t> </a:t>
            </a:r>
            <a:r>
              <a:rPr sz="1600" kern="1200" dirty="0">
                <a:solidFill>
                  <a:prstClr val="black"/>
                </a:solidFill>
                <a:latin typeface="Palatino Linotype"/>
                <a:cs typeface="Palatino Linotype"/>
              </a:rPr>
              <a:t>of</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terminals</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determine</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their</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precedence</a:t>
            </a:r>
            <a:endParaRPr sz="1600" kern="1200" dirty="0">
              <a:solidFill>
                <a:prstClr val="black"/>
              </a:solidFill>
              <a:latin typeface="Palatino Linotype"/>
              <a:cs typeface="Palatino Linotype"/>
            </a:endParaRPr>
          </a:p>
          <a:p>
            <a:pPr marL="1155065" marR="5080" lvl="2" indent="-228600" rtl="0">
              <a:lnSpc>
                <a:spcPct val="119400"/>
              </a:lnSpc>
              <a:spcBef>
                <a:spcPts val="610"/>
              </a:spcBef>
              <a:buFont typeface="Courier New"/>
              <a:buChar char="o"/>
              <a:tabLst>
                <a:tab pos="1155700" algn="l"/>
              </a:tabLst>
            </a:pPr>
            <a:r>
              <a:rPr sz="1600" kern="1200" spc="-5" dirty="0">
                <a:solidFill>
                  <a:prstClr val="black"/>
                </a:solidFill>
                <a:latin typeface="Palatino Linotype"/>
                <a:cs typeface="Palatino Linotype"/>
              </a:rPr>
              <a:t>The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precedence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of</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a</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production</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is</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equal</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precedence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its</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rightmost </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terminal.</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It</a:t>
            </a:r>
            <a:r>
              <a:rPr sz="1600" kern="1200" dirty="0">
                <a:solidFill>
                  <a:prstClr val="black"/>
                </a:solidFill>
                <a:latin typeface="Palatino Linotype"/>
                <a:cs typeface="Palatino Linotype"/>
              </a:rPr>
              <a:t> can</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also</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be</a:t>
            </a:r>
            <a:r>
              <a:rPr sz="1600" kern="1200" spc="-5" dirty="0">
                <a:solidFill>
                  <a:prstClr val="black"/>
                </a:solidFill>
                <a:latin typeface="Palatino Linotype"/>
                <a:cs typeface="Palatino Linotype"/>
              </a:rPr>
              <a:t> specified using</a:t>
            </a:r>
            <a:r>
              <a:rPr sz="1600" kern="1200" dirty="0">
                <a:solidFill>
                  <a:prstClr val="black"/>
                </a:solidFill>
                <a:latin typeface="Palatino Linotype"/>
                <a:cs typeface="Palatino Linotype"/>
              </a:rPr>
              <a:t> </a:t>
            </a:r>
            <a:r>
              <a:rPr sz="1600" kern="1200" spc="-5" dirty="0">
                <a:solidFill>
                  <a:prstClr val="black"/>
                </a:solidFill>
                <a:latin typeface="Consolas"/>
                <a:cs typeface="Consolas"/>
              </a:rPr>
              <a:t>%prec&lt;terminal&gt;</a:t>
            </a:r>
            <a:r>
              <a:rPr sz="1600" kern="1200" spc="-5" dirty="0">
                <a:solidFill>
                  <a:prstClr val="black"/>
                </a:solidFill>
                <a:latin typeface="Palatino Linotype"/>
                <a:cs typeface="Palatino Linotype"/>
              </a:rPr>
              <a:t>,</a:t>
            </a:r>
            <a:r>
              <a:rPr sz="1600" kern="1200" dirty="0">
                <a:solidFill>
                  <a:prstClr val="black"/>
                </a:solidFill>
                <a:latin typeface="Palatino Linotype"/>
                <a:cs typeface="Palatino Linotype"/>
              </a:rPr>
              <a:t> which</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defines </a:t>
            </a:r>
            <a:r>
              <a:rPr sz="1600" kern="1200" spc="-385" dirty="0">
                <a:solidFill>
                  <a:prstClr val="black"/>
                </a:solidFill>
                <a:latin typeface="Palatino Linotype"/>
                <a:cs typeface="Palatino Linotype"/>
              </a:rPr>
              <a:t>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precedence </a:t>
            </a:r>
            <a:r>
              <a:rPr sz="1600" kern="1200" dirty="0">
                <a:solidFill>
                  <a:prstClr val="black"/>
                </a:solidFill>
                <a:latin typeface="Palatino Linotype"/>
                <a:cs typeface="Palatino Linotype"/>
              </a:rPr>
              <a:t>of the</a:t>
            </a:r>
            <a:r>
              <a:rPr sz="1600" kern="1200" spc="-5" dirty="0">
                <a:solidFill>
                  <a:prstClr val="black"/>
                </a:solidFill>
                <a:latin typeface="Palatino Linotype"/>
                <a:cs typeface="Palatino Linotype"/>
              </a:rPr>
              <a:t> production</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to be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same </a:t>
            </a:r>
            <a:r>
              <a:rPr sz="1600" kern="1200" dirty="0">
                <a:solidFill>
                  <a:prstClr val="black"/>
                </a:solidFill>
                <a:latin typeface="Palatino Linotype"/>
                <a:cs typeface="Palatino Linotype"/>
              </a:rPr>
              <a:t>as</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the</a:t>
            </a:r>
            <a:r>
              <a:rPr sz="1600" kern="1200" spc="-5" dirty="0">
                <a:solidFill>
                  <a:prstClr val="black"/>
                </a:solidFill>
                <a:latin typeface="Palatino Linotype"/>
                <a:cs typeface="Palatino Linotype"/>
              </a:rPr>
              <a:t> </a:t>
            </a:r>
            <a:r>
              <a:rPr sz="1600" kern="1200" dirty="0">
                <a:solidFill>
                  <a:prstClr val="black"/>
                </a:solidFill>
                <a:latin typeface="Palatino Linotype"/>
                <a:cs typeface="Palatino Linotype"/>
              </a:rPr>
              <a:t>terminal</a:t>
            </a:r>
          </a:p>
        </p:txBody>
      </p:sp>
    </p:spTree>
    <p:extLst>
      <p:ext uri="{BB962C8B-B14F-4D97-AF65-F5344CB8AC3E}">
        <p14:creationId xmlns:p14="http://schemas.microsoft.com/office/powerpoint/2010/main" val="321673465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154</a:t>
            </a:fld>
            <a:endParaRPr lang="en-US"/>
          </a:p>
        </p:txBody>
      </p:sp>
      <p:sp>
        <p:nvSpPr>
          <p:cNvPr id="7" name="object 2">
            <a:extLst>
              <a:ext uri="{FF2B5EF4-FFF2-40B4-BE49-F238E27FC236}">
                <a16:creationId xmlns:a16="http://schemas.microsoft.com/office/drawing/2014/main" id="{70221574-9152-1292-F027-AACEEAB80BD6}"/>
              </a:ext>
            </a:extLst>
          </p:cNvPr>
          <p:cNvSpPr txBox="1">
            <a:spLocks/>
          </p:cNvSpPr>
          <p:nvPr/>
        </p:nvSpPr>
        <p:spPr>
          <a:xfrm>
            <a:off x="707390" y="524763"/>
            <a:ext cx="565277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Error</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Recovery</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in</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60" normalizeH="0" baseline="0" noProof="0">
                <a:ln>
                  <a:noFill/>
                </a:ln>
                <a:solidFill>
                  <a:sysClr val="windowText" lastClr="000000"/>
                </a:solidFill>
                <a:effectLst/>
                <a:uLnTx/>
                <a:uFillTx/>
                <a:latin typeface="Palatino Linotype"/>
                <a:ea typeface="+mj-ea"/>
              </a:rPr>
              <a:t>YACC</a:t>
            </a:r>
            <a:endParaRPr kumimoji="0" lang="en-US" sz="4000" b="1" i="0" u="none" strike="noStrike" kern="0" cap="none" spc="-6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48F2A00E-262B-3417-1655-9639357DD84B}"/>
              </a:ext>
            </a:extLst>
          </p:cNvPr>
          <p:cNvSpPr txBox="1"/>
          <p:nvPr/>
        </p:nvSpPr>
        <p:spPr>
          <a:xfrm>
            <a:off x="707390" y="1495947"/>
            <a:ext cx="7704455" cy="4359910"/>
          </a:xfrm>
          <a:prstGeom prst="rect">
            <a:avLst/>
          </a:prstGeom>
        </p:spPr>
        <p:txBody>
          <a:bodyPr vert="horz" wrap="square" lIns="0" tIns="175260" rIns="0" bIns="0" rtlCol="0">
            <a:spAutoFit/>
          </a:bodyPr>
          <a:lstStyle/>
          <a:p>
            <a:pPr marL="243204" indent="-230504" rtl="0">
              <a:spcBef>
                <a:spcPts val="1380"/>
              </a:spcBef>
              <a:buFont typeface="Arial MT"/>
              <a:buChar char="•"/>
              <a:tabLst>
                <a:tab pos="242570" algn="l"/>
                <a:tab pos="243204" algn="l"/>
              </a:tabLst>
            </a:pPr>
            <a:r>
              <a:rPr sz="2200" kern="1200" spc="-5" dirty="0">
                <a:solidFill>
                  <a:prstClr val="black"/>
                </a:solidFill>
                <a:latin typeface="Palatino Linotype"/>
                <a:cs typeface="Palatino Linotype"/>
              </a:rPr>
              <a:t>In</a:t>
            </a:r>
            <a:r>
              <a:rPr sz="2200" kern="1200" spc="-15" dirty="0">
                <a:solidFill>
                  <a:prstClr val="black"/>
                </a:solidFill>
                <a:latin typeface="Palatino Linotype"/>
                <a:cs typeface="Palatino Linotype"/>
              </a:rPr>
              <a:t> </a:t>
            </a:r>
            <a:r>
              <a:rPr sz="2200" kern="1200" spc="-45" dirty="0">
                <a:solidFill>
                  <a:prstClr val="black"/>
                </a:solidFill>
                <a:latin typeface="Palatino Linotype"/>
                <a:cs typeface="Palatino Linotype"/>
              </a:rPr>
              <a:t>YACC,</a:t>
            </a:r>
            <a:r>
              <a:rPr sz="2200" kern="1200" dirty="0">
                <a:solidFill>
                  <a:prstClr val="black"/>
                </a:solidFill>
                <a:latin typeface="Palatino Linotype"/>
                <a:cs typeface="Palatino Linotype"/>
              </a:rPr>
              <a:t> error</a:t>
            </a:r>
            <a:r>
              <a:rPr sz="2200" kern="1200" spc="5" dirty="0">
                <a:solidFill>
                  <a:prstClr val="black"/>
                </a:solidFill>
                <a:latin typeface="Palatino Linotype"/>
                <a:cs typeface="Palatino Linotype"/>
              </a:rPr>
              <a:t> </a:t>
            </a:r>
            <a:r>
              <a:rPr sz="2200" kern="1200" spc="-10" dirty="0">
                <a:solidFill>
                  <a:prstClr val="black"/>
                </a:solidFill>
                <a:latin typeface="Palatino Linotype"/>
                <a:cs typeface="Palatino Linotype"/>
              </a:rPr>
              <a:t>recovery</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uses</a:t>
            </a:r>
            <a:r>
              <a:rPr sz="2200" kern="1200" spc="5" dirty="0">
                <a:solidFill>
                  <a:prstClr val="black"/>
                </a:solidFill>
                <a:latin typeface="Palatino Linotype"/>
                <a:cs typeface="Palatino Linotype"/>
              </a:rPr>
              <a:t> </a:t>
            </a:r>
            <a:r>
              <a:rPr sz="2200" kern="1200" dirty="0">
                <a:solidFill>
                  <a:prstClr val="black"/>
                </a:solidFill>
                <a:latin typeface="Palatino Linotype"/>
                <a:cs typeface="Palatino Linotype"/>
              </a:rPr>
              <a:t>a form</a:t>
            </a:r>
            <a:r>
              <a:rPr sz="2200" kern="1200" spc="-5" dirty="0">
                <a:solidFill>
                  <a:prstClr val="black"/>
                </a:solidFill>
                <a:latin typeface="Palatino Linotype"/>
                <a:cs typeface="Palatino Linotype"/>
              </a:rPr>
              <a:t> of</a:t>
            </a:r>
            <a:r>
              <a:rPr sz="2200" kern="1200" dirty="0">
                <a:solidFill>
                  <a:prstClr val="black"/>
                </a:solidFill>
                <a:latin typeface="Palatino Linotype"/>
                <a:cs typeface="Palatino Linotype"/>
              </a:rPr>
              <a:t> error</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productions</a:t>
            </a:r>
            <a:endParaRPr sz="2200" kern="1200" dirty="0">
              <a:solidFill>
                <a:prstClr val="black"/>
              </a:solidFill>
              <a:latin typeface="Palatino Linotype"/>
              <a:cs typeface="Palatino Linotype"/>
            </a:endParaRPr>
          </a:p>
          <a:p>
            <a:pPr marL="698500" lvl="1" indent="-228600" rtl="0">
              <a:spcBef>
                <a:spcPts val="1045"/>
              </a:spcBef>
              <a:buClr>
                <a:srgbClr val="000000"/>
              </a:buClr>
              <a:buFont typeface="Wingdings"/>
              <a:buChar char=""/>
              <a:tabLst>
                <a:tab pos="698500" algn="l"/>
              </a:tabLst>
            </a:pPr>
            <a:r>
              <a:rPr kern="1200" dirty="0">
                <a:solidFill>
                  <a:srgbClr val="0432FF"/>
                </a:solidFill>
                <a:latin typeface="Palatino Linotype"/>
                <a:cs typeface="Palatino Linotype"/>
              </a:rPr>
              <a:t>General</a:t>
            </a:r>
            <a:r>
              <a:rPr kern="1200" spc="-15" dirty="0">
                <a:solidFill>
                  <a:srgbClr val="0432FF"/>
                </a:solidFill>
                <a:latin typeface="Palatino Linotype"/>
                <a:cs typeface="Palatino Linotype"/>
              </a:rPr>
              <a:t> </a:t>
            </a:r>
            <a:r>
              <a:rPr kern="1200" spc="-5" dirty="0">
                <a:solidFill>
                  <a:srgbClr val="0432FF"/>
                </a:solidFill>
                <a:latin typeface="Palatino Linotype"/>
                <a:cs typeface="Palatino Linotype"/>
              </a:rPr>
              <a:t>form:</a:t>
            </a:r>
            <a:r>
              <a:rPr kern="1200" spc="-10" dirty="0">
                <a:solidFill>
                  <a:srgbClr val="0432FF"/>
                </a:solidFill>
                <a:latin typeface="Palatino Linotype"/>
                <a:cs typeface="Palatino Linotype"/>
              </a:rPr>
              <a:t> </a:t>
            </a:r>
            <a:r>
              <a:rPr kern="1200" dirty="0">
                <a:solidFill>
                  <a:srgbClr val="FF0000"/>
                </a:solidFill>
                <a:latin typeface="Cambria Math"/>
                <a:cs typeface="Cambria Math"/>
              </a:rPr>
              <a:t>𝐴</a:t>
            </a:r>
            <a:r>
              <a:rPr kern="1200" spc="105" dirty="0">
                <a:solidFill>
                  <a:srgbClr val="FF0000"/>
                </a:solidFill>
                <a:latin typeface="Cambria Math"/>
                <a:cs typeface="Cambria Math"/>
              </a:rPr>
              <a:t> </a:t>
            </a:r>
            <a:r>
              <a:rPr kern="1200" dirty="0">
                <a:solidFill>
                  <a:srgbClr val="FF0000"/>
                </a:solidFill>
                <a:latin typeface="Cambria Math"/>
                <a:cs typeface="Cambria Math"/>
              </a:rPr>
              <a:t>→</a:t>
            </a:r>
            <a:r>
              <a:rPr kern="1200" spc="90" dirty="0">
                <a:solidFill>
                  <a:srgbClr val="FF0000"/>
                </a:solidFill>
                <a:latin typeface="Cambria Math"/>
                <a:cs typeface="Cambria Math"/>
              </a:rPr>
              <a:t> </a:t>
            </a:r>
            <a:r>
              <a:rPr kern="1200" dirty="0">
                <a:solidFill>
                  <a:srgbClr val="FF0000"/>
                </a:solidFill>
                <a:latin typeface="Cambria Math"/>
                <a:cs typeface="Cambria Math"/>
              </a:rPr>
              <a:t>𝐞𝐫𝐫𝐨𝐫</a:t>
            </a:r>
            <a:r>
              <a:rPr kern="1200" spc="-5" dirty="0">
                <a:solidFill>
                  <a:srgbClr val="FF0000"/>
                </a:solidFill>
                <a:latin typeface="Cambria Math"/>
                <a:cs typeface="Cambria Math"/>
              </a:rPr>
              <a:t> </a:t>
            </a:r>
            <a:r>
              <a:rPr kern="1200" dirty="0">
                <a:solidFill>
                  <a:srgbClr val="FF0000"/>
                </a:solidFill>
                <a:latin typeface="Cambria Math"/>
                <a:cs typeface="Cambria Math"/>
              </a:rPr>
              <a:t>𝛼</a:t>
            </a:r>
            <a:endParaRPr kern="1200" dirty="0">
              <a:solidFill>
                <a:prstClr val="black"/>
              </a:solidFill>
              <a:latin typeface="Cambria Math"/>
              <a:cs typeface="Cambria Math"/>
            </a:endParaRPr>
          </a:p>
          <a:p>
            <a:pPr marL="698500" marR="486409" lvl="1" indent="-228600" rtl="0">
              <a:lnSpc>
                <a:spcPct val="120000"/>
              </a:lnSpc>
              <a:spcBef>
                <a:spcPts val="1225"/>
              </a:spcBef>
              <a:buFont typeface="Wingdings"/>
              <a:buChar char=""/>
              <a:tabLst>
                <a:tab pos="698500" algn="l"/>
              </a:tabLst>
            </a:pPr>
            <a:r>
              <a:rPr kern="1200" spc="-5"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users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can</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decide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which</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nonterminals</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(e.g.,</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those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generating </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expressions,</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statements,</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blocks,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etc.)</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will</a:t>
            </a:r>
            <a:r>
              <a:rPr kern="1200" spc="5" dirty="0">
                <a:solidFill>
                  <a:prstClr val="black"/>
                </a:solidFill>
                <a:latin typeface="Palatino Linotype"/>
                <a:cs typeface="Palatino Linotype"/>
              </a:rPr>
              <a:t> </a:t>
            </a:r>
            <a:r>
              <a:rPr kern="1200" spc="-10" dirty="0">
                <a:solidFill>
                  <a:prstClr val="black"/>
                </a:solidFill>
                <a:latin typeface="Palatino Linotype"/>
                <a:cs typeface="Palatino Linotype"/>
              </a:rPr>
              <a:t>have</a:t>
            </a:r>
            <a:r>
              <a:rPr kern="1200" dirty="0">
                <a:solidFill>
                  <a:prstClr val="black"/>
                </a:solidFill>
                <a:latin typeface="Palatino Linotype"/>
                <a:cs typeface="Palatino Linotype"/>
              </a:rPr>
              <a:t> error</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productions</a:t>
            </a:r>
          </a:p>
          <a:p>
            <a:pPr lvl="1" rtl="0">
              <a:buFont typeface="Wingdings"/>
              <a:buChar char=""/>
            </a:pPr>
            <a:endParaRPr sz="2100" kern="1200" dirty="0">
              <a:solidFill>
                <a:prstClr val="black"/>
              </a:solidFill>
              <a:latin typeface="Palatino Linotype"/>
              <a:cs typeface="Palatino Linotype"/>
            </a:endParaRPr>
          </a:p>
          <a:p>
            <a:pPr marL="243204" indent="-230504" rtl="0">
              <a:buClr>
                <a:srgbClr val="000000"/>
              </a:buClr>
              <a:buFont typeface="Arial MT"/>
              <a:buChar char="•"/>
              <a:tabLst>
                <a:tab pos="243204" algn="l"/>
              </a:tabLst>
            </a:pPr>
            <a:r>
              <a:rPr sz="2400" b="1" kern="1200" spc="-5" dirty="0">
                <a:solidFill>
                  <a:srgbClr val="0432FF"/>
                </a:solidFill>
                <a:latin typeface="Palatino Linotype"/>
                <a:cs typeface="Palatino Linotype"/>
              </a:rPr>
              <a:t>Example:</a:t>
            </a:r>
            <a:r>
              <a:rPr sz="2400" b="1" kern="1200" spc="-20" dirty="0">
                <a:solidFill>
                  <a:srgbClr val="0432FF"/>
                </a:solidFill>
                <a:latin typeface="Palatino Linotype"/>
                <a:cs typeface="Palatino Linotype"/>
              </a:rPr>
              <a:t> </a:t>
            </a:r>
            <a:r>
              <a:rPr sz="2400" kern="1200" spc="-5" dirty="0">
                <a:solidFill>
                  <a:prstClr val="black"/>
                </a:solidFill>
                <a:latin typeface="Cambria Math"/>
                <a:cs typeface="Cambria Math"/>
              </a:rPr>
              <a:t>𝒔𝒕𝒎𝒕</a:t>
            </a:r>
            <a:r>
              <a:rPr sz="2400" kern="1200" spc="130" dirty="0">
                <a:solidFill>
                  <a:prstClr val="black"/>
                </a:solidFill>
                <a:latin typeface="Cambria Math"/>
                <a:cs typeface="Cambria Math"/>
              </a:rPr>
              <a:t> </a:t>
            </a:r>
            <a:r>
              <a:rPr sz="2400" kern="1200" dirty="0">
                <a:solidFill>
                  <a:prstClr val="black"/>
                </a:solidFill>
                <a:latin typeface="Cambria Math"/>
                <a:cs typeface="Cambria Math"/>
              </a:rPr>
              <a:t>→</a:t>
            </a:r>
            <a:r>
              <a:rPr sz="2400" kern="1200" spc="125" dirty="0">
                <a:solidFill>
                  <a:prstClr val="black"/>
                </a:solidFill>
                <a:latin typeface="Cambria Math"/>
                <a:cs typeface="Cambria Math"/>
              </a:rPr>
              <a:t> </a:t>
            </a:r>
            <a:r>
              <a:rPr sz="2400" kern="1200" spc="-5" dirty="0">
                <a:solidFill>
                  <a:prstClr val="black"/>
                </a:solidFill>
                <a:latin typeface="Cambria Math"/>
                <a:cs typeface="Cambria Math"/>
              </a:rPr>
              <a:t>𝐞𝐫𝐫𝐨𝐫</a:t>
            </a:r>
            <a:r>
              <a:rPr sz="2400" kern="1200" spc="-20" dirty="0">
                <a:solidFill>
                  <a:prstClr val="black"/>
                </a:solidFill>
                <a:latin typeface="Cambria Math"/>
                <a:cs typeface="Cambria Math"/>
              </a:rPr>
              <a:t> </a:t>
            </a:r>
            <a:r>
              <a:rPr sz="2400" kern="1200" dirty="0">
                <a:solidFill>
                  <a:prstClr val="black"/>
                </a:solidFill>
                <a:latin typeface="Cambria Math"/>
                <a:cs typeface="Cambria Math"/>
              </a:rPr>
              <a:t>;</a:t>
            </a:r>
          </a:p>
          <a:p>
            <a:pPr marL="698500" marR="227329" lvl="1" indent="-228600" rtl="0">
              <a:lnSpc>
                <a:spcPct val="120000"/>
              </a:lnSpc>
              <a:spcBef>
                <a:spcPts val="695"/>
              </a:spcBef>
              <a:buFont typeface="Wingdings"/>
              <a:buChar char=""/>
              <a:tabLst>
                <a:tab pos="698500" algn="l"/>
              </a:tabLst>
            </a:pPr>
            <a:r>
              <a:rPr kern="1200" dirty="0">
                <a:solidFill>
                  <a:prstClr val="black"/>
                </a:solidFill>
                <a:latin typeface="Palatino Linotype"/>
                <a:cs typeface="Palatino Linotype"/>
              </a:rPr>
              <a:t>When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the parser encounters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an </a:t>
            </a:r>
            <a:r>
              <a:rPr kern="1200" spc="-15" dirty="0">
                <a:solidFill>
                  <a:prstClr val="black"/>
                </a:solidFill>
                <a:latin typeface="Palatino Linotype"/>
                <a:cs typeface="Palatino Linotype"/>
              </a:rPr>
              <a:t>error,</a:t>
            </a:r>
            <a:r>
              <a:rPr kern="1200" dirty="0">
                <a:solidFill>
                  <a:prstClr val="black"/>
                </a:solidFill>
                <a:latin typeface="Palatino Linotype"/>
                <a:cs typeface="Palatino Linotype"/>
              </a:rPr>
              <a:t> it </a:t>
            </a:r>
            <a:r>
              <a:rPr kern="1200" spc="-10" dirty="0">
                <a:solidFill>
                  <a:prstClr val="black"/>
                </a:solidFill>
                <a:latin typeface="Palatino Linotype"/>
                <a:cs typeface="Palatino Linotype"/>
              </a:rPr>
              <a:t>would</a:t>
            </a:r>
            <a:r>
              <a:rPr kern="1200" spc="-5" dirty="0">
                <a:solidFill>
                  <a:prstClr val="black"/>
                </a:solidFill>
                <a:latin typeface="Palatino Linotype"/>
                <a:cs typeface="Palatino Linotype"/>
              </a:rPr>
              <a:t> skip</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just</a:t>
            </a:r>
            <a:r>
              <a:rPr kern="1200" dirty="0">
                <a:solidFill>
                  <a:prstClr val="black"/>
                </a:solidFill>
                <a:latin typeface="Palatino Linotype"/>
                <a:cs typeface="Palatino Linotype"/>
              </a:rPr>
              <a:t> </a:t>
            </a:r>
            <a:r>
              <a:rPr kern="1200" spc="-10" dirty="0">
                <a:solidFill>
                  <a:prstClr val="black"/>
                </a:solidFill>
                <a:latin typeface="Palatino Linotype"/>
                <a:cs typeface="Palatino Linotype"/>
              </a:rPr>
              <a:t>beyond</a:t>
            </a:r>
            <a:r>
              <a:rPr kern="1200" dirty="0">
                <a:solidFill>
                  <a:prstClr val="black"/>
                </a:solidFill>
                <a:latin typeface="Palatino Linotype"/>
                <a:cs typeface="Palatino Linotype"/>
              </a:rPr>
              <a:t> the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next</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semicolon</a:t>
            </a:r>
            <a:r>
              <a:rPr kern="1200" dirty="0">
                <a:solidFill>
                  <a:prstClr val="black"/>
                </a:solidFill>
                <a:latin typeface="Palatino Linotype"/>
                <a:cs typeface="Palatino Linotype"/>
              </a:rPr>
              <a:t> and </a:t>
            </a:r>
            <a:r>
              <a:rPr kern="1200" spc="-5" dirty="0">
                <a:solidFill>
                  <a:prstClr val="black"/>
                </a:solidFill>
                <a:latin typeface="Palatino Linotype"/>
                <a:cs typeface="Palatino Linotype"/>
              </a:rPr>
              <a:t>assumes </a:t>
            </a:r>
            <a:r>
              <a:rPr kern="1200" dirty="0">
                <a:solidFill>
                  <a:prstClr val="black"/>
                </a:solidFill>
                <a:latin typeface="Palatino Linotype"/>
                <a:cs typeface="Palatino Linotype"/>
              </a:rPr>
              <a:t>that a </a:t>
            </a:r>
            <a:r>
              <a:rPr kern="1200" spc="-5" dirty="0">
                <a:solidFill>
                  <a:prstClr val="black"/>
                </a:solidFill>
                <a:latin typeface="Palatino Linotype"/>
                <a:cs typeface="Palatino Linotype"/>
              </a:rPr>
              <a:t>statement</a:t>
            </a:r>
            <a:r>
              <a:rPr kern="1200" dirty="0">
                <a:solidFill>
                  <a:prstClr val="black"/>
                </a:solidFill>
                <a:latin typeface="Palatino Linotype"/>
                <a:cs typeface="Palatino Linotype"/>
              </a:rPr>
              <a:t> had been found</a:t>
            </a:r>
          </a:p>
          <a:p>
            <a:pPr marL="698500" marR="5080" lvl="1" indent="-228600" rtl="0">
              <a:lnSpc>
                <a:spcPct val="120000"/>
              </a:lnSpc>
              <a:spcBef>
                <a:spcPts val="1225"/>
              </a:spcBef>
              <a:buFont typeface="Wingdings"/>
              <a:buChar char=""/>
              <a:tabLst>
                <a:tab pos="698500" algn="l"/>
              </a:tabLst>
            </a:pPr>
            <a:r>
              <a:rPr kern="1200" spc="-5" dirty="0">
                <a:solidFill>
                  <a:prstClr val="black"/>
                </a:solidFill>
                <a:latin typeface="Palatino Linotype"/>
                <a:cs typeface="Palatino Linotype"/>
              </a:rPr>
              <a:t>The</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semantic</a:t>
            </a:r>
            <a:r>
              <a:rPr kern="1200" dirty="0">
                <a:solidFill>
                  <a:prstClr val="black"/>
                </a:solidFill>
                <a:latin typeface="Palatino Linotype"/>
                <a:cs typeface="Palatino Linotype"/>
              </a:rPr>
              <a:t> action of the error</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production </a:t>
            </a:r>
            <a:r>
              <a:rPr kern="1200" spc="-5" dirty="0">
                <a:solidFill>
                  <a:prstClr val="black"/>
                </a:solidFill>
                <a:latin typeface="Palatino Linotype"/>
                <a:cs typeface="Palatino Linotype"/>
              </a:rPr>
              <a:t>will</a:t>
            </a:r>
            <a:r>
              <a:rPr kern="1200" dirty="0">
                <a:solidFill>
                  <a:prstClr val="black"/>
                </a:solidFill>
                <a:latin typeface="Palatino Linotype"/>
                <a:cs typeface="Palatino Linotype"/>
              </a:rPr>
              <a:t> be </a:t>
            </a:r>
            <a:r>
              <a:rPr kern="1200" spc="-10" dirty="0">
                <a:solidFill>
                  <a:prstClr val="black"/>
                </a:solidFill>
                <a:latin typeface="Palatino Linotype"/>
                <a:cs typeface="Palatino Linotype"/>
              </a:rPr>
              <a:t>invoked:</a:t>
            </a:r>
            <a:r>
              <a:rPr kern="1200" dirty="0">
                <a:solidFill>
                  <a:prstClr val="black"/>
                </a:solidFill>
                <a:latin typeface="Palatino Linotype"/>
                <a:cs typeface="Palatino Linotype"/>
              </a:rPr>
              <a:t> it </a:t>
            </a:r>
            <a:r>
              <a:rPr kern="1200" spc="-10" dirty="0">
                <a:solidFill>
                  <a:prstClr val="black"/>
                </a:solidFill>
                <a:latin typeface="Palatino Linotype"/>
                <a:cs typeface="Palatino Linotype"/>
              </a:rPr>
              <a:t>would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not need manipulate the input, but could </a:t>
            </a:r>
            <a:r>
              <a:rPr kern="1200" spc="-5" dirty="0">
                <a:solidFill>
                  <a:prstClr val="black"/>
                </a:solidFill>
                <a:latin typeface="Palatino Linotype"/>
                <a:cs typeface="Palatino Linotype"/>
              </a:rPr>
              <a:t>simply generate </a:t>
            </a:r>
            <a:r>
              <a:rPr kern="1200" dirty="0">
                <a:solidFill>
                  <a:prstClr val="black"/>
                </a:solidFill>
                <a:latin typeface="Palatino Linotype"/>
                <a:cs typeface="Palatino Linotype"/>
              </a:rPr>
              <a:t>a </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diagnostic message</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1528844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4773</TotalTime>
  <Words>20469</Words>
  <Application>Microsoft Office PowerPoint</Application>
  <DocSecurity>0</DocSecurity>
  <PresentationFormat>全屏显示(4:3)</PresentationFormat>
  <Paragraphs>2575</Paragraphs>
  <Slides>154</Slides>
  <Notes>137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154</vt:i4>
      </vt:variant>
    </vt:vector>
  </HeadingPairs>
  <TitlesOfParts>
    <vt:vector size="170" baseType="lpstr">
      <vt:lpstr>-apple-system</vt:lpstr>
      <vt:lpstr>Arial MT</vt:lpstr>
      <vt:lpstr>Söhne</vt:lpstr>
      <vt:lpstr>Ubuntu Mono derivative Powerlin</vt:lpstr>
      <vt:lpstr>等线</vt:lpstr>
      <vt:lpstr>黑体</vt:lpstr>
      <vt:lpstr>SimSun</vt:lpstr>
      <vt:lpstr>Arial</vt:lpstr>
      <vt:lpstr>Calibri</vt:lpstr>
      <vt:lpstr>Cambria Math</vt:lpstr>
      <vt:lpstr>Consolas</vt:lpstr>
      <vt:lpstr>Courier New</vt:lpstr>
      <vt:lpstr>Palatino Linotype</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xxx </dc:title>
  <dc:subject/>
  <dc:creator>胡 玉斌</dc:creator>
  <cp:keywords/>
  <dc:description/>
  <cp:lastModifiedBy>羽喆 林</cp:lastModifiedBy>
  <cp:revision>469</cp:revision>
  <dcterms:created xsi:type="dcterms:W3CDTF">2023-06-02T10:23:24Z</dcterms:created>
  <dcterms:modified xsi:type="dcterms:W3CDTF">2024-10-13T05:54:35Z</dcterms:modified>
  <cp:category/>
  <dc:identifier/>
  <cp:contentStatus/>
  <dc:language/>
  <cp:version/>
</cp:coreProperties>
</file>