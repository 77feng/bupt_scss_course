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43B813-CAFB-1614-A972-7CC2EE4A7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23A513-7CE4-E9E0-D4C1-4D67E9C08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9B9E1E-504B-8726-DC5F-47C93808F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52490-38E5-463D-9791-90FB136553E4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5CDB0A-25AA-D58F-229C-E00A09B51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963C62-0E3B-9B2F-22F2-B54BBE231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F6E3-E985-4CD3-9928-C0115CAB18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354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76626-5A94-F5AE-6611-FDFD608E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1190F3-6C97-E231-E40B-FC0CD15D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8F106C-A8E9-D2C0-DCE8-AFBDD4F9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52490-38E5-463D-9791-90FB136553E4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D19DC5-06E3-1FE6-2465-60AA80609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5E893C-F3F1-CEFF-6EFB-7485AA26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F6E3-E985-4CD3-9928-C0115CAB18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848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A0BFA-15AC-45DD-7F2A-A3BDB840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75C815-6D6A-3513-238A-0F2F2E8FB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85952C-F287-9076-C2F6-56276D253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52490-38E5-463D-9791-90FB136553E4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738715-2DB9-83E7-120E-538F9A727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6BD96E-FA79-C080-3BF4-B3BC11AA6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F6E3-E985-4CD3-9928-C0115CAB18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0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A77ED2-BEC1-FD3F-E815-EB22446D5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30993C-30B9-7024-C86A-258AC7334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C483D2-0EF1-3B4E-C847-03922F174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94E7EF-84CE-205D-6CCF-70D45712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52490-38E5-463D-9791-90FB136553E4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DD1931-D8EB-3DE9-25F1-29665FC7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1FDF19-52BB-3FB3-8362-8CB99A81D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F6E3-E985-4CD3-9928-C0115CAB18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37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C6C199-8EFF-279C-5268-9D542D4F2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D59FF3-8C19-1BF7-8BDB-2CF8CB985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711B13-34E4-5E62-2D72-7AAD4BD26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A0CB3F-7279-B50D-A24E-1684FB8E4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3E8A04-E0C8-4622-027D-23182F5CE4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253B5B-C9FE-77D9-2399-478BBFE1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52490-38E5-463D-9791-90FB136553E4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55BFB78-7336-20D8-5D89-64553A5F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BC8E3E6-3C4A-BC03-B987-A50C2838E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F6E3-E985-4CD3-9928-C0115CAB18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893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6F762-470B-6686-C8A6-079C25E51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20989F-EDEF-A929-A337-282FA5136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52490-38E5-463D-9791-90FB136553E4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BFCB1C3-0B4D-B7A9-0E52-345F548C4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7113D9-A902-C80E-C8E2-4B5A71DB1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F6E3-E985-4CD3-9928-C0115CAB18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113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A232D3-F157-DB85-F2E3-A1F7B4EC4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52490-38E5-463D-9791-90FB136553E4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46F7E8-575A-7250-6FF6-323F910E2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D19BE9-76A3-BC50-1635-A1A5FAE56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F6E3-E985-4CD3-9928-C0115CAB18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43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AE212E-4FDF-30BF-E227-582268B97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43A143-B901-A0FD-E0CE-2F9A1CD4D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C952B9-296F-BED7-B1D8-12ED06FFA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6C9070-3E76-4D60-0897-A36783C74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52490-38E5-463D-9791-90FB136553E4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33BB27-4A8A-40A7-7FF0-5F9BA0D8C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82B73E-1B6C-F98F-CBDC-99FBFA75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F6E3-E985-4CD3-9928-C0115CAB18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146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2522B-D783-6826-6CD8-AF1F7CCCB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2F9539-0C35-6A8A-5E43-05ABA3682A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845E0C-DC73-292A-F1A3-F85417A31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4C5CCF-1573-EB18-757B-CBE445874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52490-38E5-463D-9791-90FB136553E4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EEB7EF-9134-3E93-66EB-FCDF9FD8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341F27-A55D-D505-58D0-5640468C4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F6E3-E985-4CD3-9928-C0115CAB18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37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5F4FBB-9B69-4C41-6D1A-AC4E9E3AD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404A48-82E6-F40B-9291-D58986069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E2AD0E-1D04-799A-44F3-14543454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52490-38E5-463D-9791-90FB136553E4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E6D4B6-4125-560F-FAA5-BAFFA8EE9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E449D3-28A8-2B54-0079-32342EB28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F6E3-E985-4CD3-9928-C0115CAB18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248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70C1E5-7414-4041-A5F5-EF6ABA510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387CAA-AC8A-BB20-45CC-E47990043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4D3037-925E-47C8-B1E7-9884E5CAC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52490-38E5-463D-9791-90FB136553E4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3F29B-C38A-C2E1-A39B-E392A1C05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22C81B-CC7D-0E90-18A9-799F196FE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F6E3-E985-4CD3-9928-C0115CAB18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34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A0DC20-AFAB-3980-7A24-FC8CA6814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3AF8C8-4278-0F70-CAC0-03A960616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80DE6C-E240-8D5B-248F-0E9C7CF0CE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52490-38E5-463D-9791-90FB136553E4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EE41FB-10F5-8F0F-2DF8-CDD9EA9D6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85B5AA-CD41-7E30-3025-2AA66D4D1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CF6E3-E985-4CD3-9928-C0115CAB18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108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992E961-B76B-ABE4-0F1D-D85B437695F8}"/>
              </a:ext>
            </a:extLst>
          </p:cNvPr>
          <p:cNvSpPr/>
          <p:nvPr/>
        </p:nvSpPr>
        <p:spPr>
          <a:xfrm>
            <a:off x="315432" y="262270"/>
            <a:ext cx="11561135" cy="300547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12F0BC-BC87-42A7-F432-FDA450CC0646}"/>
              </a:ext>
            </a:extLst>
          </p:cNvPr>
          <p:cNvSpPr/>
          <p:nvPr/>
        </p:nvSpPr>
        <p:spPr>
          <a:xfrm>
            <a:off x="315431" y="3590260"/>
            <a:ext cx="11561135" cy="300547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617F6D2-1694-6ABC-9C0B-1959A4610E30}"/>
              </a:ext>
            </a:extLst>
          </p:cNvPr>
          <p:cNvGrpSpPr/>
          <p:nvPr/>
        </p:nvGrpSpPr>
        <p:grpSpPr>
          <a:xfrm>
            <a:off x="4646418" y="658574"/>
            <a:ext cx="1460206" cy="646331"/>
            <a:chOff x="1998920" y="506174"/>
            <a:chExt cx="1460206" cy="646331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3FE9B97-8DE2-0117-1ABF-5DEEC34B9AC0}"/>
                </a:ext>
              </a:extLst>
            </p:cNvPr>
            <p:cNvSpPr/>
            <p:nvPr/>
          </p:nvSpPr>
          <p:spPr>
            <a:xfrm>
              <a:off x="1998920" y="524540"/>
              <a:ext cx="1382234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4A4A7A9-D2CD-E9BB-80B4-D993C45BAB8D}"/>
                </a:ext>
              </a:extLst>
            </p:cNvPr>
            <p:cNvSpPr txBox="1"/>
            <p:nvPr/>
          </p:nvSpPr>
          <p:spPr>
            <a:xfrm>
              <a:off x="1998920" y="506174"/>
              <a:ext cx="14602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计算图像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Y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U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V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通道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E4DB83B-031A-4179-1974-E5362216EBB1}"/>
              </a:ext>
            </a:extLst>
          </p:cNvPr>
          <p:cNvGrpSpPr/>
          <p:nvPr/>
        </p:nvGrpSpPr>
        <p:grpSpPr>
          <a:xfrm>
            <a:off x="2860153" y="658574"/>
            <a:ext cx="1460206" cy="646331"/>
            <a:chOff x="1998920" y="506174"/>
            <a:chExt cx="1460206" cy="64633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130785E-5C94-FE49-2CE3-F4D7685A140E}"/>
                </a:ext>
              </a:extLst>
            </p:cNvPr>
            <p:cNvSpPr/>
            <p:nvPr/>
          </p:nvSpPr>
          <p:spPr>
            <a:xfrm>
              <a:off x="1998920" y="524540"/>
              <a:ext cx="1382234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924C1E7-D8B7-C57C-4198-E629B4430472}"/>
                </a:ext>
              </a:extLst>
            </p:cNvPr>
            <p:cNvSpPr txBox="1"/>
            <p:nvPr/>
          </p:nvSpPr>
          <p:spPr>
            <a:xfrm>
              <a:off x="1998920" y="506174"/>
              <a:ext cx="14602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提取图像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R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G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分量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26AFA6-5382-9776-7EDC-F626DBDEFFD1}"/>
              </a:ext>
            </a:extLst>
          </p:cNvPr>
          <p:cNvGrpSpPr/>
          <p:nvPr/>
        </p:nvGrpSpPr>
        <p:grpSpPr>
          <a:xfrm>
            <a:off x="6432692" y="662764"/>
            <a:ext cx="1460206" cy="646331"/>
            <a:chOff x="1998920" y="506174"/>
            <a:chExt cx="1460206" cy="646331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0153CA1-E1F3-1083-EB45-EA2BBABF3E43}"/>
                </a:ext>
              </a:extLst>
            </p:cNvPr>
            <p:cNvSpPr/>
            <p:nvPr/>
          </p:nvSpPr>
          <p:spPr>
            <a:xfrm>
              <a:off x="1998920" y="524540"/>
              <a:ext cx="1382234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754658B-15C3-903C-E602-88974E87E5F6}"/>
                </a:ext>
              </a:extLst>
            </p:cNvPr>
            <p:cNvSpPr txBox="1"/>
            <p:nvPr/>
          </p:nvSpPr>
          <p:spPr>
            <a:xfrm>
              <a:off x="1998920" y="506174"/>
              <a:ext cx="14602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对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Y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U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V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通道进行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DWT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2C081DD-FB28-B7A7-F1E8-54FD512B786E}"/>
              </a:ext>
            </a:extLst>
          </p:cNvPr>
          <p:cNvGrpSpPr/>
          <p:nvPr/>
        </p:nvGrpSpPr>
        <p:grpSpPr>
          <a:xfrm>
            <a:off x="8218970" y="662764"/>
            <a:ext cx="1460206" cy="646331"/>
            <a:chOff x="1995376" y="513262"/>
            <a:chExt cx="1460206" cy="646331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A326E0F-E306-9F33-36F0-1B4F570253A2}"/>
                </a:ext>
              </a:extLst>
            </p:cNvPr>
            <p:cNvSpPr/>
            <p:nvPr/>
          </p:nvSpPr>
          <p:spPr>
            <a:xfrm>
              <a:off x="1998920" y="524540"/>
              <a:ext cx="1382234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184827F-C821-DC01-EBC6-E178B21C7219}"/>
                </a:ext>
              </a:extLst>
            </p:cNvPr>
            <p:cNvSpPr txBox="1"/>
            <p:nvPr/>
          </p:nvSpPr>
          <p:spPr>
            <a:xfrm>
              <a:off x="1995376" y="513262"/>
              <a:ext cx="14602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对每个图像块进行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DCT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3C353BC-39CA-3CC7-E19B-B7D7AA261E69}"/>
              </a:ext>
            </a:extLst>
          </p:cNvPr>
          <p:cNvGrpSpPr/>
          <p:nvPr/>
        </p:nvGrpSpPr>
        <p:grpSpPr>
          <a:xfrm>
            <a:off x="6386618" y="2155505"/>
            <a:ext cx="1460206" cy="609600"/>
            <a:chOff x="1959934" y="524540"/>
            <a:chExt cx="1460206" cy="609600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BC159EF-5512-450B-8F6F-1B32FB113847}"/>
                </a:ext>
              </a:extLst>
            </p:cNvPr>
            <p:cNvSpPr/>
            <p:nvPr/>
          </p:nvSpPr>
          <p:spPr>
            <a:xfrm>
              <a:off x="1998920" y="524540"/>
              <a:ext cx="1382234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4CFE728-9E04-192F-C124-28831A5143B9}"/>
                </a:ext>
              </a:extLst>
            </p:cNvPr>
            <p:cNvSpPr txBox="1"/>
            <p:nvPr/>
          </p:nvSpPr>
          <p:spPr>
            <a:xfrm>
              <a:off x="1959934" y="644674"/>
              <a:ext cx="1460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SVD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9094B22-EBA0-EB34-E250-5E906082903F}"/>
              </a:ext>
            </a:extLst>
          </p:cNvPr>
          <p:cNvGrpSpPr/>
          <p:nvPr/>
        </p:nvGrpSpPr>
        <p:grpSpPr>
          <a:xfrm>
            <a:off x="8169343" y="2151960"/>
            <a:ext cx="1460206" cy="609600"/>
            <a:chOff x="1959934" y="524540"/>
            <a:chExt cx="1460206" cy="60960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D0C22E1-AC5D-8CE8-EA4A-E46CD1FB1B46}"/>
                </a:ext>
              </a:extLst>
            </p:cNvPr>
            <p:cNvSpPr/>
            <p:nvPr/>
          </p:nvSpPr>
          <p:spPr>
            <a:xfrm>
              <a:off x="1998920" y="524540"/>
              <a:ext cx="1382234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0C6C871-5863-DDBA-D1AD-4D2B097C1D78}"/>
                </a:ext>
              </a:extLst>
            </p:cNvPr>
            <p:cNvSpPr txBox="1"/>
            <p:nvPr/>
          </p:nvSpPr>
          <p:spPr>
            <a:xfrm>
              <a:off x="1959934" y="644674"/>
              <a:ext cx="1460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水印嵌入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9D2C3AC-F31C-CFBA-CF71-49E09B960F54}"/>
              </a:ext>
            </a:extLst>
          </p:cNvPr>
          <p:cNvGrpSpPr/>
          <p:nvPr/>
        </p:nvGrpSpPr>
        <p:grpSpPr>
          <a:xfrm>
            <a:off x="2856611" y="2151960"/>
            <a:ext cx="1460206" cy="646331"/>
            <a:chOff x="1998920" y="506174"/>
            <a:chExt cx="1460206" cy="646331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7548CC7-81EB-6E4D-3935-8C946227B223}"/>
                </a:ext>
              </a:extLst>
            </p:cNvPr>
            <p:cNvSpPr/>
            <p:nvPr/>
          </p:nvSpPr>
          <p:spPr>
            <a:xfrm>
              <a:off x="1998920" y="524540"/>
              <a:ext cx="1382234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6982F09F-5E9A-3C09-4446-46B0E9EB15C7}"/>
                </a:ext>
              </a:extLst>
            </p:cNvPr>
            <p:cNvSpPr txBox="1"/>
            <p:nvPr/>
          </p:nvSpPr>
          <p:spPr>
            <a:xfrm>
              <a:off x="1998920" y="506174"/>
              <a:ext cx="14602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4*4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分块，生成索引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A3ED3AF-7CC9-EDE1-8E81-D029DC9C32B7}"/>
              </a:ext>
            </a:extLst>
          </p:cNvPr>
          <p:cNvGrpSpPr/>
          <p:nvPr/>
        </p:nvGrpSpPr>
        <p:grpSpPr>
          <a:xfrm>
            <a:off x="4646418" y="2133595"/>
            <a:ext cx="1460206" cy="646331"/>
            <a:chOff x="1998920" y="506174"/>
            <a:chExt cx="1460206" cy="646331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4889E34-5A5B-A7D4-2780-087D4EB919A9}"/>
                </a:ext>
              </a:extLst>
            </p:cNvPr>
            <p:cNvSpPr/>
            <p:nvPr/>
          </p:nvSpPr>
          <p:spPr>
            <a:xfrm>
              <a:off x="1998920" y="524540"/>
              <a:ext cx="1382234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C1B9CEF-041C-D9C0-3AF7-873ED185F04C}"/>
                </a:ext>
              </a:extLst>
            </p:cNvPr>
            <p:cNvSpPr txBox="1"/>
            <p:nvPr/>
          </p:nvSpPr>
          <p:spPr>
            <a:xfrm>
              <a:off x="1998920" y="506174"/>
              <a:ext cx="14602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确定水印嵌入顺序</a:t>
              </a:r>
            </a:p>
          </p:txBody>
        </p:sp>
      </p:grpSp>
      <p:pic>
        <p:nvPicPr>
          <p:cNvPr id="35" name="图片 34">
            <a:extLst>
              <a:ext uri="{FF2B5EF4-FFF2-40B4-BE49-F238E27FC236}">
                <a16:creationId xmlns:a16="http://schemas.microsoft.com/office/drawing/2014/main" id="{A9AA1D1D-7547-E900-B95B-6D26A04C3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21" y="425302"/>
            <a:ext cx="1282995" cy="1282995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256126FA-E5DB-F82B-A255-77AE83C2F3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428" y="2103911"/>
            <a:ext cx="694380" cy="694380"/>
          </a:xfrm>
          <a:prstGeom prst="rect">
            <a:avLst/>
          </a:prstGeom>
        </p:spPr>
      </p:pic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ABE7AE8-BE6A-1F1F-9932-4168AF449603}"/>
              </a:ext>
            </a:extLst>
          </p:cNvPr>
          <p:cNvCxnSpPr>
            <a:cxnSpLocks/>
          </p:cNvCxnSpPr>
          <p:nvPr/>
        </p:nvCxnSpPr>
        <p:spPr>
          <a:xfrm flipV="1">
            <a:off x="2456116" y="996561"/>
            <a:ext cx="40049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51BFAD09-6CCF-3F1F-59A1-89D9FFDB9436}"/>
              </a:ext>
            </a:extLst>
          </p:cNvPr>
          <p:cNvCxnSpPr>
            <a:cxnSpLocks/>
          </p:cNvCxnSpPr>
          <p:nvPr/>
        </p:nvCxnSpPr>
        <p:spPr>
          <a:xfrm flipV="1">
            <a:off x="4244152" y="998977"/>
            <a:ext cx="40049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D98CBC53-8C67-FA52-72BF-E3CBA9BB4320}"/>
              </a:ext>
            </a:extLst>
          </p:cNvPr>
          <p:cNvCxnSpPr>
            <a:cxnSpLocks/>
          </p:cNvCxnSpPr>
          <p:nvPr/>
        </p:nvCxnSpPr>
        <p:spPr>
          <a:xfrm flipV="1">
            <a:off x="6028652" y="996883"/>
            <a:ext cx="40049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0675CA4C-35AF-0DA8-B9B6-630C4054D3CB}"/>
              </a:ext>
            </a:extLst>
          </p:cNvPr>
          <p:cNvCxnSpPr>
            <a:cxnSpLocks/>
          </p:cNvCxnSpPr>
          <p:nvPr/>
        </p:nvCxnSpPr>
        <p:spPr>
          <a:xfrm flipV="1">
            <a:off x="7818470" y="998978"/>
            <a:ext cx="40049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B8FAC16-C7F9-C1FF-8CC5-70E4C5B9ED77}"/>
              </a:ext>
            </a:extLst>
          </p:cNvPr>
          <p:cNvCxnSpPr>
            <a:cxnSpLocks/>
          </p:cNvCxnSpPr>
          <p:nvPr/>
        </p:nvCxnSpPr>
        <p:spPr>
          <a:xfrm flipV="1">
            <a:off x="2452565" y="2451423"/>
            <a:ext cx="40049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023B7F52-1A7F-8B0F-AA9B-F1A78B7EDE00}"/>
              </a:ext>
            </a:extLst>
          </p:cNvPr>
          <p:cNvCxnSpPr>
            <a:cxnSpLocks/>
          </p:cNvCxnSpPr>
          <p:nvPr/>
        </p:nvCxnSpPr>
        <p:spPr>
          <a:xfrm flipV="1">
            <a:off x="4233388" y="2475447"/>
            <a:ext cx="40049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2EAAFD9-61F1-7C05-78C6-8FA2193104A3}"/>
              </a:ext>
            </a:extLst>
          </p:cNvPr>
          <p:cNvCxnSpPr>
            <a:cxnSpLocks/>
          </p:cNvCxnSpPr>
          <p:nvPr/>
        </p:nvCxnSpPr>
        <p:spPr>
          <a:xfrm flipV="1">
            <a:off x="6018002" y="2467714"/>
            <a:ext cx="40049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A3BE5E6-2555-6777-352D-DACA0D92F389}"/>
              </a:ext>
            </a:extLst>
          </p:cNvPr>
          <p:cNvCxnSpPr>
            <a:cxnSpLocks/>
          </p:cNvCxnSpPr>
          <p:nvPr/>
        </p:nvCxnSpPr>
        <p:spPr>
          <a:xfrm flipV="1">
            <a:off x="7804285" y="2477542"/>
            <a:ext cx="40049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A8BD0C35-680D-ACC5-8023-FBE33E3C054C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rot="5400000">
            <a:off x="7609692" y="816124"/>
            <a:ext cx="846410" cy="18323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CE6B4FCF-D4C0-0764-0DD9-892C3FD461A4}"/>
              </a:ext>
            </a:extLst>
          </p:cNvPr>
          <p:cNvGrpSpPr/>
          <p:nvPr/>
        </p:nvGrpSpPr>
        <p:grpSpPr>
          <a:xfrm>
            <a:off x="5723859" y="5576604"/>
            <a:ext cx="1460206" cy="646331"/>
            <a:chOff x="1998920" y="506174"/>
            <a:chExt cx="1460206" cy="646331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5F3930D4-12D2-0BF4-087D-E5E84849AA52}"/>
                </a:ext>
              </a:extLst>
            </p:cNvPr>
            <p:cNvSpPr/>
            <p:nvPr/>
          </p:nvSpPr>
          <p:spPr>
            <a:xfrm>
              <a:off x="1998920" y="524540"/>
              <a:ext cx="1382234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D407C7FF-268A-96CD-DA85-A4175A682127}"/>
                </a:ext>
              </a:extLst>
            </p:cNvPr>
            <p:cNvSpPr txBox="1"/>
            <p:nvPr/>
          </p:nvSpPr>
          <p:spPr>
            <a:xfrm>
              <a:off x="1998920" y="506174"/>
              <a:ext cx="14602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计算图像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Y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U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V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通道</a:t>
              </a: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BE55150B-6E90-4ED8-E663-0F840E80233D}"/>
              </a:ext>
            </a:extLst>
          </p:cNvPr>
          <p:cNvGrpSpPr/>
          <p:nvPr/>
        </p:nvGrpSpPr>
        <p:grpSpPr>
          <a:xfrm>
            <a:off x="7495959" y="5576604"/>
            <a:ext cx="1460206" cy="646331"/>
            <a:chOff x="1998920" y="506174"/>
            <a:chExt cx="1460206" cy="646331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6E7E7130-691A-A7AF-5F4D-CC96C13A47DA}"/>
                </a:ext>
              </a:extLst>
            </p:cNvPr>
            <p:cNvSpPr/>
            <p:nvPr/>
          </p:nvSpPr>
          <p:spPr>
            <a:xfrm>
              <a:off x="1998920" y="524540"/>
              <a:ext cx="1382234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11BEF7EA-1460-EA7E-2EBE-A79ED4E74176}"/>
                </a:ext>
              </a:extLst>
            </p:cNvPr>
            <p:cNvSpPr txBox="1"/>
            <p:nvPr/>
          </p:nvSpPr>
          <p:spPr>
            <a:xfrm>
              <a:off x="1998920" y="506174"/>
              <a:ext cx="14602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提取图像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R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G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分量</a:t>
              </a: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2C910769-8DD7-7CDA-6FBB-E3EC3BBBCF86}"/>
              </a:ext>
            </a:extLst>
          </p:cNvPr>
          <p:cNvGrpSpPr/>
          <p:nvPr/>
        </p:nvGrpSpPr>
        <p:grpSpPr>
          <a:xfrm>
            <a:off x="3937585" y="5576603"/>
            <a:ext cx="1460206" cy="646331"/>
            <a:chOff x="1998920" y="506174"/>
            <a:chExt cx="1460206" cy="646331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B3EA1E00-D0BB-D6AA-0C3C-D4A504986285}"/>
                </a:ext>
              </a:extLst>
            </p:cNvPr>
            <p:cNvSpPr/>
            <p:nvPr/>
          </p:nvSpPr>
          <p:spPr>
            <a:xfrm>
              <a:off x="1998920" y="524540"/>
              <a:ext cx="1382234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6485D891-38FD-C7EE-2E49-97707018B2F1}"/>
                </a:ext>
              </a:extLst>
            </p:cNvPr>
            <p:cNvSpPr txBox="1"/>
            <p:nvPr/>
          </p:nvSpPr>
          <p:spPr>
            <a:xfrm>
              <a:off x="1998920" y="506174"/>
              <a:ext cx="14602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对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Y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U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V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通道进行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DWT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5FE685B8-EA7A-E648-0F23-F06E40A8E136}"/>
              </a:ext>
            </a:extLst>
          </p:cNvPr>
          <p:cNvGrpSpPr/>
          <p:nvPr/>
        </p:nvGrpSpPr>
        <p:grpSpPr>
          <a:xfrm>
            <a:off x="2151320" y="5577570"/>
            <a:ext cx="1460206" cy="646331"/>
            <a:chOff x="1995376" y="513262"/>
            <a:chExt cx="1460206" cy="646331"/>
          </a:xfrm>
        </p:grpSpPr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2F40EADD-9576-5018-A853-1EEEC2826E02}"/>
                </a:ext>
              </a:extLst>
            </p:cNvPr>
            <p:cNvSpPr/>
            <p:nvPr/>
          </p:nvSpPr>
          <p:spPr>
            <a:xfrm>
              <a:off x="1998920" y="524540"/>
              <a:ext cx="1382234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EB45E44E-2A03-A5B4-AFAC-C6907AB25CFD}"/>
                </a:ext>
              </a:extLst>
            </p:cNvPr>
            <p:cNvSpPr txBox="1"/>
            <p:nvPr/>
          </p:nvSpPr>
          <p:spPr>
            <a:xfrm>
              <a:off x="1995376" y="513262"/>
              <a:ext cx="14602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对每个图像块进行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DCT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DEB498C6-6C6F-20D0-F5FA-389A875DEFAE}"/>
              </a:ext>
            </a:extLst>
          </p:cNvPr>
          <p:cNvCxnSpPr>
            <a:cxnSpLocks/>
          </p:cNvCxnSpPr>
          <p:nvPr/>
        </p:nvCxnSpPr>
        <p:spPr>
          <a:xfrm flipH="1">
            <a:off x="7095452" y="5899769"/>
            <a:ext cx="4146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3755BAB1-E7BA-C7C5-8712-DC017BB3D6CB}"/>
              </a:ext>
            </a:extLst>
          </p:cNvPr>
          <p:cNvCxnSpPr>
            <a:cxnSpLocks/>
          </p:cNvCxnSpPr>
          <p:nvPr/>
        </p:nvCxnSpPr>
        <p:spPr>
          <a:xfrm flipH="1">
            <a:off x="5309169" y="5899768"/>
            <a:ext cx="4146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D4C0DEBB-DD41-491C-F2E4-88A053CFEC95}"/>
              </a:ext>
            </a:extLst>
          </p:cNvPr>
          <p:cNvCxnSpPr>
            <a:cxnSpLocks/>
          </p:cNvCxnSpPr>
          <p:nvPr/>
        </p:nvCxnSpPr>
        <p:spPr>
          <a:xfrm flipH="1">
            <a:off x="3524555" y="5893648"/>
            <a:ext cx="400495" cy="70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5961CE03-EF57-6339-A66D-F2070ECFB80B}"/>
              </a:ext>
            </a:extLst>
          </p:cNvPr>
          <p:cNvGrpSpPr/>
          <p:nvPr/>
        </p:nvGrpSpPr>
        <p:grpSpPr>
          <a:xfrm>
            <a:off x="2144227" y="4119985"/>
            <a:ext cx="1460206" cy="609600"/>
            <a:chOff x="1959934" y="524540"/>
            <a:chExt cx="1460206" cy="609600"/>
          </a:xfrm>
        </p:grpSpPr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AA909706-CCF6-BFC2-292A-833AF2635944}"/>
                </a:ext>
              </a:extLst>
            </p:cNvPr>
            <p:cNvSpPr/>
            <p:nvPr/>
          </p:nvSpPr>
          <p:spPr>
            <a:xfrm>
              <a:off x="1998920" y="524540"/>
              <a:ext cx="1382234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99CCA88B-09DD-BA09-D7FD-48D01AC0EA8E}"/>
                </a:ext>
              </a:extLst>
            </p:cNvPr>
            <p:cNvSpPr txBox="1"/>
            <p:nvPr/>
          </p:nvSpPr>
          <p:spPr>
            <a:xfrm>
              <a:off x="1959934" y="644674"/>
              <a:ext cx="1460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SVD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41AB4B76-07F8-B445-6D35-E0918F7E748D}"/>
              </a:ext>
            </a:extLst>
          </p:cNvPr>
          <p:cNvGrpSpPr/>
          <p:nvPr/>
        </p:nvGrpSpPr>
        <p:grpSpPr>
          <a:xfrm>
            <a:off x="3926952" y="4116440"/>
            <a:ext cx="1460206" cy="609600"/>
            <a:chOff x="1959934" y="524540"/>
            <a:chExt cx="1460206" cy="609600"/>
          </a:xfrm>
        </p:grpSpPr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7008C507-CDE4-D8AD-3B93-B8417DA2EF9B}"/>
                </a:ext>
              </a:extLst>
            </p:cNvPr>
            <p:cNvSpPr/>
            <p:nvPr/>
          </p:nvSpPr>
          <p:spPr>
            <a:xfrm>
              <a:off x="1998920" y="524540"/>
              <a:ext cx="1382234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4916E055-6A08-14C8-39E3-891AB9F512DF}"/>
                </a:ext>
              </a:extLst>
            </p:cNvPr>
            <p:cNvSpPr txBox="1"/>
            <p:nvPr/>
          </p:nvSpPr>
          <p:spPr>
            <a:xfrm>
              <a:off x="1959934" y="644674"/>
              <a:ext cx="1460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水印提取</a:t>
              </a:r>
            </a:p>
          </p:txBody>
        </p:sp>
      </p:grp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34B6409D-9CDA-8055-542F-6F43AC61B721}"/>
              </a:ext>
            </a:extLst>
          </p:cNvPr>
          <p:cNvCxnSpPr>
            <a:cxnSpLocks/>
          </p:cNvCxnSpPr>
          <p:nvPr/>
        </p:nvCxnSpPr>
        <p:spPr>
          <a:xfrm flipV="1">
            <a:off x="3561894" y="4442022"/>
            <a:ext cx="40049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2E4DF06B-4BA5-7999-7DFA-455F5F295A8E}"/>
              </a:ext>
            </a:extLst>
          </p:cNvPr>
          <p:cNvGrpSpPr/>
          <p:nvPr/>
        </p:nvGrpSpPr>
        <p:grpSpPr>
          <a:xfrm>
            <a:off x="7456973" y="4122878"/>
            <a:ext cx="1460206" cy="609600"/>
            <a:chOff x="1959934" y="524540"/>
            <a:chExt cx="1460206" cy="609600"/>
          </a:xfrm>
        </p:grpSpPr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93F6B1EF-4C08-A8B4-D5EE-ED86130BEE00}"/>
                </a:ext>
              </a:extLst>
            </p:cNvPr>
            <p:cNvSpPr/>
            <p:nvPr/>
          </p:nvSpPr>
          <p:spPr>
            <a:xfrm>
              <a:off x="1998920" y="524540"/>
              <a:ext cx="1382234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B828D9D9-BF52-B031-ED01-88C8D63156EA}"/>
                </a:ext>
              </a:extLst>
            </p:cNvPr>
            <p:cNvSpPr txBox="1"/>
            <p:nvPr/>
          </p:nvSpPr>
          <p:spPr>
            <a:xfrm>
              <a:off x="1959934" y="644674"/>
              <a:ext cx="1460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分块组合</a:t>
              </a:r>
            </a:p>
          </p:txBody>
        </p:sp>
      </p:grp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D29D3D4B-42B5-5839-31BA-C4C656DA2442}"/>
              </a:ext>
            </a:extLst>
          </p:cNvPr>
          <p:cNvCxnSpPr>
            <a:cxnSpLocks/>
          </p:cNvCxnSpPr>
          <p:nvPr/>
        </p:nvCxnSpPr>
        <p:spPr>
          <a:xfrm flipV="1">
            <a:off x="7106095" y="4442021"/>
            <a:ext cx="40049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F50ED86F-7CE5-7AEA-AB66-FC7E8148CDC7}"/>
              </a:ext>
            </a:extLst>
          </p:cNvPr>
          <p:cNvCxnSpPr>
            <a:cxnSpLocks/>
          </p:cNvCxnSpPr>
          <p:nvPr/>
        </p:nvCxnSpPr>
        <p:spPr>
          <a:xfrm flipV="1">
            <a:off x="5337546" y="4454058"/>
            <a:ext cx="40049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E3A9E39A-08EC-22B0-8692-540E77691251}"/>
              </a:ext>
            </a:extLst>
          </p:cNvPr>
          <p:cNvGrpSpPr/>
          <p:nvPr/>
        </p:nvGrpSpPr>
        <p:grpSpPr>
          <a:xfrm>
            <a:off x="5741573" y="4101614"/>
            <a:ext cx="1460206" cy="646331"/>
            <a:chOff x="1998920" y="506174"/>
            <a:chExt cx="1460206" cy="646331"/>
          </a:xfrm>
        </p:grpSpPr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B9AF6C53-791A-C1E4-CD47-E84DCD84C538}"/>
                </a:ext>
              </a:extLst>
            </p:cNvPr>
            <p:cNvSpPr/>
            <p:nvPr/>
          </p:nvSpPr>
          <p:spPr>
            <a:xfrm>
              <a:off x="1998920" y="524540"/>
              <a:ext cx="1382234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EC59E900-B958-F09A-4C99-5E6BA8C07699}"/>
                </a:ext>
              </a:extLst>
            </p:cNvPr>
            <p:cNvSpPr txBox="1"/>
            <p:nvPr/>
          </p:nvSpPr>
          <p:spPr>
            <a:xfrm>
              <a:off x="1998920" y="506174"/>
              <a:ext cx="14602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确定水印还原顺序</a:t>
              </a:r>
            </a:p>
          </p:txBody>
        </p:sp>
      </p:grp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7F197A0E-2E38-F48B-1A9A-B281DBFC13B7}"/>
              </a:ext>
            </a:extLst>
          </p:cNvPr>
          <p:cNvCxnSpPr>
            <a:stCxn id="91" idx="0"/>
            <a:endCxn id="102" idx="2"/>
          </p:cNvCxnSpPr>
          <p:nvPr/>
        </p:nvCxnSpPr>
        <p:spPr>
          <a:xfrm flipH="1" flipV="1">
            <a:off x="2874330" y="4729585"/>
            <a:ext cx="7093" cy="847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连接符: 肘形 137">
            <a:extLst>
              <a:ext uri="{FF2B5EF4-FFF2-40B4-BE49-F238E27FC236}">
                <a16:creationId xmlns:a16="http://schemas.microsoft.com/office/drawing/2014/main" id="{73BD6683-41C9-DF64-882A-D5C5FE3B3A80}"/>
              </a:ext>
            </a:extLst>
          </p:cNvPr>
          <p:cNvCxnSpPr>
            <a:stCxn id="19" idx="2"/>
            <a:endCxn id="102" idx="0"/>
          </p:cNvCxnSpPr>
          <p:nvPr/>
        </p:nvCxnSpPr>
        <p:spPr>
          <a:xfrm rot="5400000">
            <a:off x="4318086" y="1321350"/>
            <a:ext cx="1354880" cy="424239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0" name="图片 139">
            <a:extLst>
              <a:ext uri="{FF2B5EF4-FFF2-40B4-BE49-F238E27FC236}">
                <a16:creationId xmlns:a16="http://schemas.microsoft.com/office/drawing/2014/main" id="{11AAAA3E-AAD4-9ED4-79C1-BC72DEDE9C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833" y="4094832"/>
            <a:ext cx="694378" cy="694378"/>
          </a:xfrm>
          <a:prstGeom prst="rect">
            <a:avLst/>
          </a:prstGeom>
        </p:spPr>
      </p:pic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2E906AFA-0DB8-6722-A722-124F55CE4C07}"/>
              </a:ext>
            </a:extLst>
          </p:cNvPr>
          <p:cNvCxnSpPr>
            <a:cxnSpLocks/>
          </p:cNvCxnSpPr>
          <p:nvPr/>
        </p:nvCxnSpPr>
        <p:spPr>
          <a:xfrm>
            <a:off x="8878193" y="4421240"/>
            <a:ext cx="64857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4" name="图片 143">
            <a:extLst>
              <a:ext uri="{FF2B5EF4-FFF2-40B4-BE49-F238E27FC236}">
                <a16:creationId xmlns:a16="http://schemas.microsoft.com/office/drawing/2014/main" id="{DD906DDA-1FBE-682E-CF5D-3885A1EDD5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3984" y="5252150"/>
            <a:ext cx="1282996" cy="1282996"/>
          </a:xfrm>
          <a:prstGeom prst="rect">
            <a:avLst/>
          </a:prstGeom>
        </p:spPr>
      </p:pic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F01C91C6-7E26-191A-8181-DF872FCF626F}"/>
              </a:ext>
            </a:extLst>
          </p:cNvPr>
          <p:cNvCxnSpPr>
            <a:cxnSpLocks/>
          </p:cNvCxnSpPr>
          <p:nvPr/>
        </p:nvCxnSpPr>
        <p:spPr>
          <a:xfrm flipH="1">
            <a:off x="8879968" y="5900735"/>
            <a:ext cx="717819" cy="61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本框 147">
            <a:extLst>
              <a:ext uri="{FF2B5EF4-FFF2-40B4-BE49-F238E27FC236}">
                <a16:creationId xmlns:a16="http://schemas.microsoft.com/office/drawing/2014/main" id="{912DBF47-2A62-5F92-2987-251BBC609558}"/>
              </a:ext>
            </a:extLst>
          </p:cNvPr>
          <p:cNvSpPr txBox="1"/>
          <p:nvPr/>
        </p:nvSpPr>
        <p:spPr>
          <a:xfrm>
            <a:off x="747807" y="466634"/>
            <a:ext cx="4253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</a:rPr>
              <a:t>载体图像</a:t>
            </a: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C4BEF788-D62D-74B2-2088-460A15CD5C82}"/>
              </a:ext>
            </a:extLst>
          </p:cNvPr>
          <p:cNvSpPr txBox="1"/>
          <p:nvPr/>
        </p:nvSpPr>
        <p:spPr>
          <a:xfrm>
            <a:off x="1106061" y="1887854"/>
            <a:ext cx="4253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</a:rPr>
              <a:t>原始水印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FB6E93F7-EF5D-4F20-0A28-1158F128222E}"/>
              </a:ext>
            </a:extLst>
          </p:cNvPr>
          <p:cNvSpPr txBox="1"/>
          <p:nvPr/>
        </p:nvSpPr>
        <p:spPr>
          <a:xfrm>
            <a:off x="10490711" y="3855838"/>
            <a:ext cx="4253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</a:rPr>
              <a:t>提取水印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B83AABBC-876B-C7A7-FE7F-CB5CBE23F7F3}"/>
              </a:ext>
            </a:extLst>
          </p:cNvPr>
          <p:cNvSpPr txBox="1"/>
          <p:nvPr/>
        </p:nvSpPr>
        <p:spPr>
          <a:xfrm>
            <a:off x="11004950" y="5431983"/>
            <a:ext cx="643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</a:rPr>
              <a:t>嵌入水印图像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99C51DB1-420D-3B88-C7F5-93B9BAC8BF99}"/>
              </a:ext>
            </a:extLst>
          </p:cNvPr>
          <p:cNvSpPr txBox="1"/>
          <p:nvPr/>
        </p:nvSpPr>
        <p:spPr>
          <a:xfrm>
            <a:off x="11004949" y="610843"/>
            <a:ext cx="6433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水印嵌入</a:t>
            </a: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1E57BE78-FCF4-546F-75C4-90BB859A5B52}"/>
              </a:ext>
            </a:extLst>
          </p:cNvPr>
          <p:cNvSpPr txBox="1"/>
          <p:nvPr/>
        </p:nvSpPr>
        <p:spPr>
          <a:xfrm>
            <a:off x="539120" y="3938833"/>
            <a:ext cx="6433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水印提取</a:t>
            </a:r>
          </a:p>
        </p:txBody>
      </p:sp>
    </p:spTree>
    <p:extLst>
      <p:ext uri="{BB962C8B-B14F-4D97-AF65-F5344CB8AC3E}">
        <p14:creationId xmlns:p14="http://schemas.microsoft.com/office/powerpoint/2010/main" val="1750662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96</Words>
  <Application>Microsoft Office PowerPoint</Application>
  <PresentationFormat>宽屏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华文行楷</vt:lpstr>
      <vt:lpstr>华文中宋</vt:lpstr>
      <vt:lpstr>宋体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枫 项</dc:creator>
  <cp:lastModifiedBy>枫 项</cp:lastModifiedBy>
  <cp:revision>3</cp:revision>
  <dcterms:created xsi:type="dcterms:W3CDTF">2024-11-29T06:37:28Z</dcterms:created>
  <dcterms:modified xsi:type="dcterms:W3CDTF">2024-11-29T07:12:06Z</dcterms:modified>
</cp:coreProperties>
</file>