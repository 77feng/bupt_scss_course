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910" r:id="rId3"/>
    <p:sldId id="837" r:id="rId5"/>
    <p:sldId id="885" r:id="rId6"/>
    <p:sldId id="886" r:id="rId7"/>
    <p:sldId id="883" r:id="rId8"/>
    <p:sldId id="341" r:id="rId9"/>
    <p:sldId id="511" r:id="rId10"/>
    <p:sldId id="731" r:id="rId11"/>
    <p:sldId id="637" r:id="rId12"/>
    <p:sldId id="763" r:id="rId13"/>
    <p:sldId id="638" r:id="rId14"/>
    <p:sldId id="640" r:id="rId15"/>
    <p:sldId id="641" r:id="rId16"/>
    <p:sldId id="642" r:id="rId17"/>
    <p:sldId id="643" r:id="rId18"/>
    <p:sldId id="647" r:id="rId19"/>
    <p:sldId id="648" r:id="rId20"/>
    <p:sldId id="649" r:id="rId21"/>
    <p:sldId id="650" r:id="rId22"/>
    <p:sldId id="644" r:id="rId23"/>
    <p:sldId id="651" r:id="rId24"/>
    <p:sldId id="646" r:id="rId25"/>
    <p:sldId id="884" r:id="rId26"/>
    <p:sldId id="645" r:id="rId27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/>
  <p:cmAuthor id="2" name="Administrator" initials="A" lastIdx="1" clrIdx="1"/>
  <p:cmAuthor id="3" name="1033406563@qq.com" initials="1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6435" autoAdjust="0"/>
  </p:normalViewPr>
  <p:slideViewPr>
    <p:cSldViewPr showGuides="1">
      <p:cViewPr varScale="1">
        <p:scale>
          <a:sx n="98" d="100"/>
          <a:sy n="98" d="100"/>
        </p:scale>
        <p:origin x="1974" y="96"/>
      </p:cViewPr>
      <p:guideLst>
        <p:guide orient="horz" pos="2160"/>
        <p:guide pos="2881"/>
      </p:guideLst>
    </p:cSldViewPr>
  </p:slideViewPr>
  <p:outlineViewPr>
    <p:cViewPr>
      <p:scale>
        <a:sx n="33" d="100"/>
        <a:sy n="33" d="100"/>
      </p:scale>
      <p:origin x="0" y="1032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178"/>
    </p:cViewPr>
  </p:sorterViewPr>
  <p:notesViewPr>
    <p:cSldViewPr>
      <p:cViewPr varScale="1">
        <p:scale>
          <a:sx n="32" d="100"/>
          <a:sy n="32" d="100"/>
        </p:scale>
        <p:origin x="-2154" y="-78"/>
      </p:cViewPr>
      <p:guideLst>
        <p:guide orient="horz" pos="2880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1.xml"/><Relationship Id="rId2" Type="http://schemas.openxmlformats.org/officeDocument/2006/relationships/slide" Target="slides/slide9.xml"/><Relationship Id="rId1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767A98E-CAC2-481F-9F7E-27C6106F88AF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5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5BB9AC-A6E4-472E-8E25-A79546F52AA9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09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AB0E80-F7E6-4985-961A-65419013C566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10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11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510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75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5BB9AC-A6E4-472E-8E25-A79546F52AA9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09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AB0E80-F7E6-4985-961A-65419013C566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10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5111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817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78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439880-97CE-4840-BD6D-E576F652863E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8181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0DED88-0D3C-44BF-9BC1-2672ADDFDE22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8182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8183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79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C722AD-07FA-4DD9-B387-9194DBCAF469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9205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1DF8DF4-2BB4-4442-AA54-8B11A99F5B24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9206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9207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02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0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819B43-CEA1-4065-B116-381C7F9B2348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0229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326FC0-DDE2-411E-82B3-D8B5E1E1085E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0230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0231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1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81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BB7287-4EDF-4ED7-82AC-B1AB5ABCCC72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1253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79C052-49EE-4364-9A1A-7C92664ED50C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1254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1255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2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14F205-08C7-4476-AE73-7DEBE7149C7C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7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7CB75D-68A3-495A-ACAD-090090E4DD23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8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9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2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2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14F205-08C7-4476-AE73-7DEBE7149C7C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7" name="Date Placeholder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77CB75D-68A3-495A-ACAD-090090E4DD23}" type="datetime1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8" name="Footer Placeholder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yangyu@bupt.edu.cn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9" name="Header Placeholder 6"/>
          <p:cNvSpPr>
            <a:spLocks noGrp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Datahiding &amp; Digital Watermark</a:t>
            </a:r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9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CCCAF1-D2CC-4FEF-97B3-E8ECFC045B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7B935-AD41-4C27-B619-6997D5A8AAC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28214-CCBA-4276-854C-264B5377698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42F46-6B2D-4B38-822C-1D2A5A133C2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634BE-8326-496C-BCD4-ADD1569F355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37BA3-8E56-4C61-ADF5-15B7F9761B98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FE65B-C30A-4CBF-ADF2-E5DE19C1D6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E067C-871D-4696-A7F3-B3C938360B64}" type="datetime1">
              <a:rPr lang="zh-CN" altLang="en-US" smtClean="0"/>
            </a:fld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4D82E-1312-44FD-8417-E2DC6EF91BC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BA85F1-DC33-430A-BD38-04314363B47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EC198-C8FB-4F22-AB5D-6DD5F2D264FA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F1D6E-BE99-46E3-8A2C-A9F60844FAB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966B2-F157-4F1C-8DD3-2E07B75CE940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60C817-1BC4-4F1D-9CEF-61A23B92C44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51B69-7A06-47F6-8167-8A1B1E922862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C4928C-60F7-4B96-8381-6AECEADFC04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7313612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0013" y="3960813"/>
            <a:ext cx="7313612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BEE15-4123-4C6A-8322-8A447196102F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24A45-53D8-433E-9D50-E503AC1E1E8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370013" y="1827213"/>
            <a:ext cx="3579812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370013" y="3960813"/>
            <a:ext cx="7313612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E63B8D-4564-4216-BB4B-C86B4E03CE8D}" type="datetime1">
              <a:rPr lang="zh-CN" altLang="en-US" smtClean="0"/>
            </a:fld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AC898-779E-47D1-9A1A-F506716969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14900" y="1981200"/>
            <a:ext cx="36957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14900" y="4114800"/>
            <a:ext cx="3695700" cy="1981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3E5C3-1EC1-4639-B0B0-9BE60AF2B5EF}" type="datetime1">
              <a:rPr lang="zh-CN" altLang="en-US" smtClean="0"/>
            </a:fld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242B1-AC1C-4FD4-8203-B1982B47DB6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D5F84-10B3-472B-805F-5B40D92FC05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Data Hiding &amp; Digital Watermark</a:t>
            </a: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1BA94-FC92-4E3F-BD55-0C9EED709AC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39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56CD1B3-020B-4F39-B36E-A4691E90EACF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>
    <p:dissolve/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华文楷体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华文楷体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华文楷体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华文楷体" panose="0201060004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5" Type="http://schemas.openxmlformats.org/officeDocument/2006/relationships/notesSlide" Target="../notesSlides/notesSlide4.xml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6.wmf"/><Relationship Id="rId17" Type="http://schemas.openxmlformats.org/officeDocument/2006/relationships/notesSlide" Target="../notesSlides/notesSlide6.xml"/><Relationship Id="rId16" Type="http://schemas.openxmlformats.org/officeDocument/2006/relationships/vmlDrawing" Target="../drawings/vmlDrawing2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4294967295"/>
          </p:nvPr>
        </p:nvSpPr>
        <p:spPr>
          <a:xfrm>
            <a:off x="899100" y="914400"/>
            <a:ext cx="7349400" cy="2570400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982" r="14708" b="10728"/>
          <a:stretch>
            <a:fillRect/>
          </a:stretch>
        </p:blipFill>
        <p:spPr>
          <a:xfrm>
            <a:off x="-1188720" y="0"/>
            <a:ext cx="10398760" cy="6858000"/>
          </a:xfrm>
          <a:prstGeom prst="rect">
            <a:avLst/>
          </a:prstGeom>
        </p:spPr>
      </p:pic>
      <p:sp>
        <p:nvSpPr>
          <p:cNvPr id="46" name="平行四边形 45"/>
          <p:cNvSpPr/>
          <p:nvPr/>
        </p:nvSpPr>
        <p:spPr>
          <a:xfrm>
            <a:off x="2124075" y="0"/>
            <a:ext cx="5495925" cy="6858000"/>
          </a:xfrm>
          <a:prstGeom prst="parallelogram">
            <a:avLst>
              <a:gd name="adj" fmla="val 48894"/>
            </a:avLst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grpSp>
        <p:nvGrpSpPr>
          <p:cNvPr id="47" name="组合 46"/>
          <p:cNvGrpSpPr/>
          <p:nvPr/>
        </p:nvGrpSpPr>
        <p:grpSpPr>
          <a:xfrm>
            <a:off x="7004685" y="877570"/>
            <a:ext cx="2198370" cy="2198370"/>
            <a:chOff x="5437761" y="2329774"/>
            <a:chExt cx="2198451" cy="2198451"/>
          </a:xfrm>
        </p:grpSpPr>
        <p:sp>
          <p:nvSpPr>
            <p:cNvPr id="30" name="椭圆 29"/>
            <p:cNvSpPr/>
            <p:nvPr/>
          </p:nvSpPr>
          <p:spPr>
            <a:xfrm>
              <a:off x="5437761" y="2329774"/>
              <a:ext cx="2198451" cy="21984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25307" y="2417320"/>
              <a:ext cx="2023358" cy="2023358"/>
            </a:xfrm>
            <a:prstGeom prst="rect">
              <a:avLst/>
            </a:prstGeom>
          </p:spPr>
        </p:pic>
      </p:grpSp>
      <p:sp>
        <p:nvSpPr>
          <p:cNvPr id="28" name="矩形 27"/>
          <p:cNvSpPr/>
          <p:nvPr/>
        </p:nvSpPr>
        <p:spPr>
          <a:xfrm>
            <a:off x="-324485" y="0"/>
            <a:ext cx="6524625" cy="68580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4294967295"/>
          </p:nvPr>
        </p:nvSpPr>
        <p:spPr>
          <a:xfrm>
            <a:off x="-468690" y="1844630"/>
            <a:ext cx="7349400" cy="147240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sz="2400">
                <a:solidFill>
                  <a:schemeClr val="bg1"/>
                </a:solidFill>
                <a:sym typeface="+mn-ea"/>
              </a:rPr>
              <a:t>图像</a:t>
            </a:r>
            <a:r>
              <a:rPr lang="zh-CN" altLang="en-US" sz="2400">
                <a:solidFill>
                  <a:schemeClr val="bg1"/>
                </a:solidFill>
                <a:sym typeface="+mn-ea"/>
              </a:rPr>
              <a:t>水印算法实验</a:t>
            </a:r>
            <a:endParaRPr lang="zh-CN" altLang="en-US" sz="2400">
              <a:solidFill>
                <a:schemeClr val="bg1"/>
              </a:solidFill>
              <a:sym typeface="+mn-ea"/>
            </a:endParaRPr>
          </a:p>
          <a:p>
            <a:pPr algn="ctr" eaLnBrk="1" hangingPunct="1"/>
            <a:r>
              <a:rPr lang="zh-CN" altLang="en-US" sz="2400">
                <a:solidFill>
                  <a:schemeClr val="bg1"/>
                </a:solidFill>
              </a:rPr>
              <a:t>雷敏</a:t>
            </a:r>
            <a:endParaRPr lang="zh-CN" altLang="en-US" sz="2400">
              <a:solidFill>
                <a:schemeClr val="bg1"/>
              </a:solidFill>
            </a:endParaRPr>
          </a:p>
          <a:p>
            <a:pPr algn="ctr" eaLnBrk="1" hangingPunct="1"/>
            <a:r>
              <a:rPr lang="zh-CN" altLang="en-US" sz="2400">
                <a:solidFill>
                  <a:schemeClr val="bg1"/>
                </a:solidFill>
              </a:rPr>
              <a:t>北京邮电大学 网络空间安全学院</a:t>
            </a:r>
            <a:endParaRPr lang="zh-CN" altLang="en-US" sz="2400">
              <a:solidFill>
                <a:schemeClr val="bg1"/>
              </a:solidFill>
            </a:endParaRPr>
          </a:p>
          <a:p>
            <a:pPr algn="ctr" eaLnBrk="1" hangingPunct="1"/>
            <a:r>
              <a:rPr lang="zh-CN" altLang="en-US" sz="2400">
                <a:solidFill>
                  <a:schemeClr val="bg1"/>
                </a:solidFill>
              </a:rPr>
              <a:t>leimin@bupt.edu.cn</a:t>
            </a:r>
            <a:endParaRPr lang="zh-CN" altLang="en-US" sz="2400">
              <a:solidFill>
                <a:schemeClr val="bg1"/>
              </a:solidFill>
            </a:endParaRPr>
          </a:p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  <a:p>
            <a:pPr algn="ctr" eaLnBrk="1" hangingPunct="1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第二次实验报告的问题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55600" y="1628775"/>
            <a:ext cx="8515985" cy="5076825"/>
          </a:xfrm>
        </p:spPr>
        <p:txBody>
          <a:bodyPr/>
          <a:lstStyle/>
          <a:p>
            <a:pPr eaLnBrk="1" hangingPunct="1"/>
            <a:r>
              <a:rPr lang="zh-CN" altLang="en-US" sz="2200"/>
              <a:t>这一次作业允许不同的峰值信噪比，作业鼓励大家去尝试。也不会扣分。只要大家做出来就可以了。只要是LSB方法隐藏和提取即可。</a:t>
            </a:r>
            <a:endParaRPr lang="zh-CN" altLang="en-US" sz="2200"/>
          </a:p>
          <a:p>
            <a:pPr eaLnBrk="1" hangingPunct="1"/>
            <a:r>
              <a:rPr lang="zh-CN" altLang="en-US" sz="2200"/>
              <a:t>实验报告如果是两个人一组，但是封面每个同学的实验报告封面上的个人信息仅仅是本人，无需填写同组同学信息。</a:t>
            </a:r>
            <a:endParaRPr lang="zh-CN" altLang="en-US" sz="2200"/>
          </a:p>
          <a:p>
            <a:pPr eaLnBrk="1" hangingPunct="1"/>
            <a:r>
              <a:rPr lang="zh-CN" altLang="en-US" sz="2200"/>
              <a:t>第二页表格中同实验者需要姓名和学号都写入，便于查找同组同学信息。</a:t>
            </a:r>
            <a:endParaRPr lang="zh-CN" altLang="en-US" sz="2200"/>
          </a:p>
          <a:p>
            <a:pPr eaLnBrk="1" hangingPunct="1"/>
            <a:r>
              <a:rPr lang="zh-CN" altLang="en-US" sz="2200"/>
              <a:t>部分同学的</a:t>
            </a:r>
            <a:r>
              <a:rPr lang="en-US" altLang="zh-CN" sz="2200"/>
              <a:t>PPT</a:t>
            </a:r>
            <a:r>
              <a:rPr lang="zh-CN" altLang="en-US" sz="2200"/>
              <a:t>直接作为一个文件嵌入，需要把</a:t>
            </a:r>
            <a:r>
              <a:rPr lang="en-US" altLang="zh-CN" sz="2200"/>
              <a:t>PPT</a:t>
            </a:r>
            <a:r>
              <a:rPr lang="zh-CN" altLang="en-US" sz="2200"/>
              <a:t>的页面一页一页的嵌入到</a:t>
            </a:r>
            <a:r>
              <a:rPr lang="en-US" altLang="zh-CN" sz="2200"/>
              <a:t>WORD</a:t>
            </a:r>
            <a:r>
              <a:rPr lang="zh-CN" altLang="en-US" sz="2200"/>
              <a:t>文档中。</a:t>
            </a:r>
            <a:endParaRPr lang="zh-CN" altLang="en-US" sz="2200"/>
          </a:p>
          <a:p>
            <a:pPr eaLnBrk="1" hangingPunct="1"/>
            <a:r>
              <a:rPr lang="zh-CN" altLang="en-US" sz="2200"/>
              <a:t>思考题做的ppt介绍必须和信息隐藏或数字水印相关。也就如何利用信息隐藏或数字水印技术完成新功能，或者和当前研究热点结合。或者如何利用新技术提升信息隐藏或数字水印的性能。</a:t>
            </a:r>
            <a:endParaRPr lang="zh-CN" altLang="en-US" sz="2200"/>
          </a:p>
          <a:p>
            <a:pPr eaLnBrk="1" hangingPunct="1"/>
            <a:r>
              <a:rPr lang="zh-CN" altLang="en-US" sz="2200"/>
              <a:t>PPT是两个人合作完成的。因此PPT的封面中如果要显示作者信息，最好是显示两个学生的信息。</a:t>
            </a:r>
            <a:endParaRPr lang="zh-CN" altLang="en-US" sz="220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59B321-2A71-415F-84E2-1F2C6B6D5AE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01625"/>
            <a:ext cx="7883525" cy="1143000"/>
          </a:xfrm>
        </p:spPr>
        <p:txBody>
          <a:bodyPr/>
          <a:lstStyle/>
          <a:p>
            <a:pPr eaLnBrk="1" hangingPunct="1"/>
            <a:r>
              <a:rPr lang="zh-CN" altLang="en-US"/>
              <a:t>图像水印新用途</a:t>
            </a:r>
            <a:r>
              <a:rPr lang="en-US" altLang="zh-CN"/>
              <a:t>-</a:t>
            </a:r>
            <a:r>
              <a:rPr lang="zh-CN" altLang="en-US"/>
              <a:t>对抗攻击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5270" y="1444625"/>
            <a:ext cx="8684895" cy="4493260"/>
          </a:xfrm>
        </p:spPr>
        <p:txBody>
          <a:bodyPr/>
          <a:lstStyle/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）基于Deepfake等技术的人脸编辑系统（或深度伪造图像转换模型）变得越来越强大且易用，各种“换脸”软件层出不穷。</a:t>
            </a:r>
            <a:endParaRPr lang="zh-CN" altLang="en-US" sz="2400"/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）据 Deeptrace公司2019年的调研发现， 目前互联网上利用Deepfake技术生成的伪造视频高达14678个，其中96%均和色情有关，涉及的人群也都是公众人物。</a:t>
            </a:r>
            <a:endParaRPr lang="zh-CN" altLang="en-US" sz="2400"/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当事人发现网络上已有非法制作并且传播的视频或者图像时，虽然可以进行事后的检测从而判断该视频或者图像是否是伪造的，但是再完善的检测机制也无法阻止“换脸”图像/视频在网络上传播已经造成的不良影响。主动保护应用，在事前，也就是从源头上进行主动保护。首先将用户准备在社交平台分享的照片添加对抗样本（微小扰动）生成对抗图像后再分享。</a:t>
            </a:r>
            <a:endParaRPr lang="zh-CN" altLang="en-US" sz="240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59B321-2A71-415F-84E2-1F2C6B6D5AE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301625"/>
            <a:ext cx="7883525" cy="1143000"/>
          </a:xfrm>
        </p:spPr>
        <p:txBody>
          <a:bodyPr/>
          <a:lstStyle/>
          <a:p>
            <a:pPr eaLnBrk="1" hangingPunct="1"/>
            <a:r>
              <a:rPr lang="zh-CN" altLang="en-US"/>
              <a:t>图像水印新用途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5270" y="1444625"/>
            <a:ext cx="8684895" cy="4493260"/>
          </a:xfrm>
        </p:spPr>
        <p:txBody>
          <a:bodyPr/>
          <a:lstStyle/>
          <a:p>
            <a:pPr eaLnBrk="1" hangingPunct="1"/>
            <a:endParaRPr lang="zh-CN" altLang="en-US" sz="2400"/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）参考文献中的资料都可以参考。</a:t>
            </a:r>
            <a:endParaRPr lang="zh-CN" altLang="en-US" sz="2400"/>
          </a:p>
          <a:p>
            <a:pPr eaLnBrk="1" hangingPunct="1"/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）有同学做的是大模型的安全与隐私保护，但是这个内容中未提及信息隐藏和水印水印，所以</a:t>
            </a:r>
            <a:r>
              <a:rPr lang="en-US" altLang="zh-CN" sz="2400"/>
              <a:t>PPT</a:t>
            </a:r>
            <a:r>
              <a:rPr lang="zh-CN" altLang="en-US" sz="2400"/>
              <a:t>调研不合格，驳回。</a:t>
            </a:r>
            <a:endParaRPr lang="zh-CN" altLang="en-US" sz="2400"/>
          </a:p>
          <a:p>
            <a:pPr eaLnBrk="1" hangingPunct="1"/>
            <a:r>
              <a:rPr lang="zh-CN" altLang="en-US" sz="2400"/>
              <a:t>改进方法：可以是更换调研论文，或者在</a:t>
            </a:r>
            <a:r>
              <a:rPr lang="en-US" altLang="zh-CN" sz="2400"/>
              <a:t>PPT</a:t>
            </a:r>
            <a:r>
              <a:rPr lang="zh-CN" altLang="en-US" sz="2400"/>
              <a:t>后面增加水印如何保护大模型的隐私，总之调研的报告必须和信息隐藏、或者数字水印相关。</a:t>
            </a:r>
            <a:endParaRPr lang="zh-CN" altLang="en-US" sz="2400"/>
          </a:p>
          <a:p>
            <a:pPr eaLnBrk="1" hangingPunct="1"/>
            <a:endParaRPr lang="zh-CN" altLang="en-US" sz="240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59B321-2A71-415F-84E2-1F2C6B6D5AE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授课计划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55600" y="1557020"/>
            <a:ext cx="8515985" cy="5076825"/>
          </a:xfrm>
        </p:spPr>
        <p:txBody>
          <a:bodyPr/>
          <a:lstStyle/>
          <a:p>
            <a:pPr eaLnBrk="1" hangingPunct="1"/>
            <a:r>
              <a:rPr lang="zh-CN" altLang="en-US" sz="2400"/>
              <a:t>后续教学计划：</a:t>
            </a:r>
            <a:endParaRPr lang="zh-CN" altLang="en-US" sz="2400"/>
          </a:p>
          <a:p>
            <a:pPr eaLnBrk="1" hangingPunct="1"/>
            <a:r>
              <a:rPr lang="zh-CN" altLang="en-US" sz="2400"/>
              <a:t>11周：LSB音频信息隐藏</a:t>
            </a:r>
            <a:endParaRPr lang="zh-CN" altLang="en-US" sz="2400"/>
          </a:p>
          <a:p>
            <a:pPr eaLnBrk="1" hangingPunct="1"/>
            <a:r>
              <a:rPr lang="zh-CN" altLang="en-US" sz="2400"/>
              <a:t>12周：LSB图信息隐藏实验</a:t>
            </a:r>
            <a:endParaRPr lang="zh-CN" altLang="en-US" sz="2400"/>
          </a:p>
          <a:p>
            <a:pPr eaLnBrk="1" hangingPunct="1"/>
            <a:r>
              <a:rPr lang="zh-CN" altLang="en-US" sz="2400"/>
              <a:t>13周：图像水印算法实验</a:t>
            </a:r>
            <a:endParaRPr lang="zh-CN" altLang="en-US" sz="2400"/>
          </a:p>
          <a:p>
            <a:pPr eaLnBrk="1" hangingPunct="1"/>
            <a:r>
              <a:rPr lang="zh-CN" altLang="en-US" sz="2400"/>
              <a:t>14周：图像水印算法实验</a:t>
            </a:r>
            <a:endParaRPr lang="zh-CN" altLang="en-US" sz="2400"/>
          </a:p>
          <a:p>
            <a:pPr eaLnBrk="1" hangingPunct="1"/>
            <a:r>
              <a:rPr lang="zh-CN" altLang="en-US" sz="2400"/>
              <a:t>图像水印算法实验4学时（13和14周）。</a:t>
            </a:r>
            <a:endParaRPr lang="zh-CN" altLang="en-US" sz="2400"/>
          </a:p>
          <a:p>
            <a:pPr eaLnBrk="1" hangingPunct="1"/>
            <a:r>
              <a:rPr lang="zh-CN" altLang="en-US" sz="2400"/>
              <a:t>15周：图像隐写分析PPT讲解</a:t>
            </a:r>
            <a:endParaRPr lang="zh-CN" altLang="en-US" sz="2400"/>
          </a:p>
          <a:p>
            <a:pPr eaLnBrk="1" hangingPunct="1"/>
            <a:r>
              <a:rPr lang="zh-CN" altLang="en-US" sz="2400"/>
              <a:t>16周：图像隐写分析及图像水印简单攻击（安排同学们介绍自行设计的水印算法及其攻击的效果）</a:t>
            </a:r>
            <a:endParaRPr lang="zh-CN" altLang="en-US" sz="2400"/>
          </a:p>
          <a:p>
            <a:pPr eaLnBrk="1" hangingPunct="1"/>
            <a:r>
              <a:rPr lang="zh-CN" altLang="en-US" sz="2400"/>
              <a:t>17周：图像隐写分析及图像水印简单攻击（同时会安排期末复习和期末大作业演练）</a:t>
            </a:r>
            <a:endParaRPr lang="zh-CN" altLang="en-US" sz="2400"/>
          </a:p>
          <a:p>
            <a:pPr eaLnBrk="1" hangingPunct="1"/>
            <a:r>
              <a:rPr lang="zh-CN" altLang="en-US" sz="2400"/>
              <a:t>18周：期末随堂大作业</a:t>
            </a:r>
            <a:endParaRPr lang="zh-CN" altLang="en-US" sz="240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59B321-2A71-415F-84E2-1F2C6B6D5AE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图像信息隐藏与水印技术分类</a:t>
            </a:r>
            <a:endParaRPr lang="zh-CN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791210" y="1827530"/>
            <a:ext cx="7892415" cy="4114800"/>
          </a:xfrm>
        </p:spPr>
        <p:txBody>
          <a:bodyPr/>
          <a:lstStyle/>
          <a:p>
            <a:pPr eaLnBrk="1" hangingPunct="1"/>
            <a:r>
              <a:rPr lang="zh-CN" altLang="en-US"/>
              <a:t>图像隐写算法：</a:t>
            </a:r>
            <a:r>
              <a:rPr lang="zh-CN" altLang="en-US">
                <a:latin typeface="宋体" panose="02010600030101010101" pitchFamily="2" charset="-122"/>
              </a:rPr>
              <a:t>隐蔽性，要求透明性比较好</a:t>
            </a:r>
            <a:endParaRPr lang="zh-CN" altLang="en-US"/>
          </a:p>
          <a:p>
            <a:pPr eaLnBrk="1" hangingPunct="1"/>
            <a:r>
              <a:rPr lang="zh-CN" altLang="en-US"/>
              <a:t>图像鲁棒性水印：要求鲁棒性比较好，能够抵御各种信号处理的攻击，比如添加白噪声，比如进行各种信号转换等</a:t>
            </a:r>
            <a:endParaRPr lang="zh-CN" altLang="en-US"/>
          </a:p>
          <a:p>
            <a:pPr eaLnBrk="1" hangingPunct="1"/>
            <a:r>
              <a:rPr lang="zh-CN" altLang="en-US"/>
              <a:t>图像脆弱性水印：进行完整性验证、篡改定位</a:t>
            </a:r>
            <a:endParaRPr lang="zh-CN" altLang="en-US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459B321-2A71-415F-84E2-1F2C6B6D5AE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246505" y="301625"/>
            <a:ext cx="7722870" cy="1143000"/>
          </a:xfrm>
        </p:spPr>
        <p:txBody>
          <a:bodyPr/>
          <a:lstStyle/>
          <a:p>
            <a:pPr eaLnBrk="1" hangingPunct="1"/>
            <a:r>
              <a:rPr lang="en-US" altLang="zh-CN" sz="4000" dirty="0"/>
              <a:t>DCT</a:t>
            </a:r>
            <a:r>
              <a:rPr lang="zh-CN" altLang="en-US" sz="4000" dirty="0"/>
              <a:t>水印</a:t>
            </a:r>
            <a:endParaRPr lang="zh-CN" altLang="en-US" sz="4000" dirty="0"/>
          </a:p>
        </p:txBody>
      </p:sp>
      <p:sp>
        <p:nvSpPr>
          <p:cNvPr id="373763" name="Rectangle 3"/>
          <p:cNvSpPr>
            <a:spLocks noGrp="1" noChangeArrowheads="1"/>
          </p:cNvSpPr>
          <p:nvPr>
            <p:ph idx="1"/>
          </p:nvPr>
        </p:nvSpPr>
        <p:spPr>
          <a:xfrm>
            <a:off x="742315" y="1827530"/>
            <a:ext cx="7941310" cy="4114800"/>
          </a:xfrm>
        </p:spPr>
        <p:txBody>
          <a:bodyPr/>
          <a:lstStyle/>
          <a:p>
            <a:pPr eaLnBrk="1" hangingPunct="1"/>
            <a:r>
              <a:rPr lang="zh-CN" altLang="en-US"/>
              <a:t>之前介绍的算法都是时域算法，</a:t>
            </a:r>
            <a:r>
              <a:rPr lang="en-US" altLang="zh-CN"/>
              <a:t>DCT</a:t>
            </a:r>
            <a:r>
              <a:rPr lang="zh-CN" altLang="en-US"/>
              <a:t>水印算法是频域算法</a:t>
            </a:r>
            <a:endParaRPr lang="zh-CN" altLang="en-US"/>
          </a:p>
          <a:p>
            <a:pPr eaLnBrk="1" hangingPunct="1"/>
            <a:r>
              <a:rPr lang="zh-CN" altLang="en-US"/>
              <a:t>鲁棒性算法中最难的是对抗打印扫描攻击，也就是将载体重新扫描后，很难对抗这种攻击</a:t>
            </a:r>
            <a:endParaRPr lang="zh-CN" altLang="en-US"/>
          </a:p>
          <a:p>
            <a:pPr eaLnBrk="1" hangingPunct="1"/>
            <a:r>
              <a:rPr lang="zh-CN" altLang="en-US"/>
              <a:t>由于图像在打印扫描前后的</a:t>
            </a:r>
            <a:r>
              <a:rPr lang="en-US" altLang="zh-CN"/>
              <a:t>DCT</a:t>
            </a:r>
            <a:r>
              <a:rPr lang="zh-CN" altLang="en-US"/>
              <a:t>系数的相对关系应该是基本一致的</a:t>
            </a:r>
            <a:r>
              <a:rPr lang="en-US" altLang="zh-CN"/>
              <a:t>, </a:t>
            </a:r>
            <a:r>
              <a:rPr lang="zh-CN" altLang="en-US"/>
              <a:t>因而可以通过改变</a:t>
            </a:r>
            <a:r>
              <a:rPr lang="en-US" altLang="zh-CN"/>
              <a:t>DCT</a:t>
            </a:r>
            <a:r>
              <a:rPr lang="zh-CN" altLang="en-US"/>
              <a:t>中频系数的相对关系来嵌入数字水印 </a:t>
            </a:r>
            <a:endParaRPr lang="zh-CN" altLang="en-US"/>
          </a:p>
        </p:txBody>
      </p:sp>
      <p:sp>
        <p:nvSpPr>
          <p:cNvPr id="563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32541D-42A7-417A-8801-94ED7204764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ym typeface="+mn-ea"/>
              </a:rPr>
              <a:t>图像</a:t>
            </a:r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endParaRPr lang="zh-CN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935990" y="1827530"/>
            <a:ext cx="7747635" cy="41148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dirty="0"/>
              <a:t>二维</a:t>
            </a:r>
            <a:r>
              <a:rPr lang="en-US" altLang="zh-CN" sz="2800" dirty="0"/>
              <a:t>DCT</a:t>
            </a:r>
            <a:r>
              <a:rPr lang="zh-CN" altLang="en-US" sz="2800" dirty="0"/>
              <a:t>变换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图像压缩标准（</a:t>
            </a:r>
            <a:r>
              <a:rPr lang="en-US" altLang="zh-CN" sz="2400" dirty="0"/>
              <a:t>JPEG）</a:t>
            </a:r>
            <a:r>
              <a:rPr lang="zh-CN" altLang="en-US" sz="2400" dirty="0">
                <a:latin typeface="宋体" panose="02010600030101010101" pitchFamily="2" charset="-122"/>
              </a:rPr>
              <a:t>的核心</a:t>
            </a:r>
            <a:r>
              <a:rPr lang="en-US" altLang="zh-CN" sz="2400" dirty="0">
                <a:latin typeface="Arial" panose="020B0604020202020204" pitchFamily="34" charset="0"/>
              </a:rPr>
              <a:t>:</a:t>
            </a:r>
            <a:r>
              <a:rPr lang="en-US" altLang="zh-CN" sz="2400" dirty="0"/>
              <a:t> DCT</a:t>
            </a:r>
            <a:r>
              <a:rPr lang="zh-CN" altLang="en-US" sz="2400" dirty="0">
                <a:latin typeface="宋体" panose="02010600030101010101" pitchFamily="2" charset="-122"/>
              </a:rPr>
              <a:t>变换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zh-CN" sz="2400" dirty="0">
                <a:sym typeface="+mn-ea"/>
              </a:rPr>
              <a:t>M</a:t>
            </a:r>
            <a:r>
              <a:rPr lang="en-US" altLang="zh-CN" sz="2400" dirty="0">
                <a:latin typeface="宋体" panose="02010600030101010101" pitchFamily="2" charset="-122"/>
                <a:sym typeface="+mn-ea"/>
              </a:rPr>
              <a:t>×</a:t>
            </a:r>
            <a:r>
              <a:rPr lang="en-US" altLang="zh-CN" sz="2400" dirty="0">
                <a:sym typeface="+mn-ea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维的图像，进行二维</a:t>
            </a:r>
            <a:r>
              <a:rPr lang="en-US" altLang="zh-CN" sz="2400" dirty="0"/>
              <a:t>DCT</a:t>
            </a:r>
            <a:r>
              <a:rPr lang="zh-CN" altLang="en-US" sz="2400" dirty="0">
                <a:latin typeface="宋体" panose="02010600030101010101" pitchFamily="2" charset="-122"/>
              </a:rPr>
              <a:t>变换，得到</a:t>
            </a:r>
            <a:r>
              <a:rPr lang="en-US" altLang="zh-CN" sz="2400" dirty="0"/>
              <a:t>M</a:t>
            </a:r>
            <a:r>
              <a:rPr lang="en-US" altLang="zh-CN" sz="2400" dirty="0">
                <a:latin typeface="宋体" panose="02010600030101010101" pitchFamily="2" charset="-122"/>
              </a:rPr>
              <a:t>×</a:t>
            </a:r>
            <a:r>
              <a:rPr lang="en-US" altLang="zh-CN" sz="2400" dirty="0"/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en-US" altLang="zh-CN" sz="2400" dirty="0"/>
              <a:t>DCT</a:t>
            </a:r>
            <a:r>
              <a:rPr lang="zh-CN" altLang="en-US" sz="2400" dirty="0">
                <a:latin typeface="宋体" panose="02010600030101010101" pitchFamily="2" charset="-122"/>
              </a:rPr>
              <a:t>系数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系数按照</a:t>
            </a:r>
            <a:r>
              <a:rPr lang="en-US" altLang="zh-CN" sz="2400" dirty="0" err="1">
                <a:latin typeface="宋体" panose="02010600030101010101" pitchFamily="2" charset="-122"/>
              </a:rPr>
              <a:t>Zig-Zag</a:t>
            </a:r>
            <a:r>
              <a:rPr lang="zh-CN" altLang="en-US" sz="2400" dirty="0">
                <a:latin typeface="宋体" panose="02010600030101010101" pitchFamily="2" charset="-122"/>
              </a:rPr>
              <a:t>次序排列，左上角为直流系数，其余为交流系数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7E2C37-138C-48D6-AE94-F9CE4B1F6AB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ldLvl="5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ZigZag</a:t>
            </a:r>
            <a:r>
              <a:rPr lang="zh-CN" altLang="en-US" dirty="0"/>
              <a:t>扫描</a:t>
            </a:r>
            <a:endParaRPr lang="zh-CN" altLang="en-US" dirty="0"/>
          </a:p>
        </p:txBody>
      </p:sp>
      <p:sp>
        <p:nvSpPr>
          <p:cNvPr id="20070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8×8分块，</a:t>
            </a:r>
            <a:r>
              <a:rPr lang="en-US" altLang="zh-CN" dirty="0"/>
              <a:t>DCT</a:t>
            </a:r>
            <a:r>
              <a:rPr lang="zh-CN" altLang="en-US" dirty="0"/>
              <a:t>变换，</a:t>
            </a:r>
            <a:r>
              <a:rPr lang="en-US" altLang="zh-CN" dirty="0" err="1"/>
              <a:t>ZigZag</a:t>
            </a:r>
            <a:r>
              <a:rPr lang="en-US" altLang="zh-CN" dirty="0"/>
              <a:t> </a:t>
            </a:r>
            <a:r>
              <a:rPr lang="zh-CN" altLang="en-US" dirty="0"/>
              <a:t>扫描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若用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表示8×8分块第</a:t>
                </a:r>
                <a:r>
                  <a:rPr lang="en-US" altLang="zh-CN" sz="2400" dirty="0" err="1"/>
                  <a:t>i</a:t>
                </a:r>
                <a:r>
                  <a:rPr lang="zh-CN" altLang="en-US" sz="2400" dirty="0"/>
                  <a:t>行第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列像素，则</a:t>
                </a:r>
                <a:r>
                  <a:rPr lang="en-US" altLang="zh-CN" sz="2400" dirty="0" err="1"/>
                  <a:t>ZigZag</a:t>
                </a:r>
                <a:r>
                  <a:rPr lang="zh-CN" altLang="en-US" sz="2400" dirty="0"/>
                  <a:t>扫描后，像素矩阵排列为：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7" name="内容占位符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1"/>
                <a:stretch>
                  <a:fillRect t="-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BE22A0-ED15-4374-AFB9-CCC6C7D2B433}" type="slidenum">
              <a:rPr lang="zh-CN" altLang="en-US" smtClean="0"/>
            </a:fld>
            <a:endParaRPr lang="en-US" altLang="zh-CN"/>
          </a:p>
        </p:txBody>
      </p:sp>
      <p:sp>
        <p:nvSpPr>
          <p:cNvPr id="200738" name="Rectangle 34"/>
          <p:cNvSpPr>
            <a:spLocks noChangeArrowheads="1"/>
          </p:cNvSpPr>
          <p:nvPr/>
        </p:nvSpPr>
        <p:spPr bwMode="auto">
          <a:xfrm>
            <a:off x="965200" y="823913"/>
            <a:ext cx="46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uild="p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DCT</a:t>
            </a:r>
            <a:r>
              <a:rPr lang="zh-CN" altLang="en-US" dirty="0"/>
              <a:t>系数变换</a:t>
            </a:r>
            <a:endParaRPr lang="zh-CN" altLang="en-US" dirty="0"/>
          </a:p>
        </p:txBody>
      </p:sp>
      <p:grpSp>
        <p:nvGrpSpPr>
          <p:cNvPr id="247832" name="Group 24"/>
          <p:cNvGrpSpPr/>
          <p:nvPr/>
        </p:nvGrpSpPr>
        <p:grpSpPr bwMode="auto">
          <a:xfrm>
            <a:off x="914400" y="2209800"/>
            <a:ext cx="8001000" cy="3505200"/>
            <a:chOff x="576" y="1392"/>
            <a:chExt cx="3888" cy="1497"/>
          </a:xfrm>
        </p:grpSpPr>
        <p:grpSp>
          <p:nvGrpSpPr>
            <p:cNvPr id="247812" name="Group 4"/>
            <p:cNvGrpSpPr/>
            <p:nvPr/>
          </p:nvGrpSpPr>
          <p:grpSpPr bwMode="auto">
            <a:xfrm>
              <a:off x="2448" y="1891"/>
              <a:ext cx="792" cy="374"/>
              <a:chOff x="2700" y="9240"/>
              <a:chExt cx="1980" cy="936"/>
            </a:xfrm>
          </p:grpSpPr>
          <p:sp>
            <p:nvSpPr>
              <p:cNvPr id="247813" name="Line 5"/>
              <p:cNvSpPr>
                <a:spLocks noChangeShapeType="1"/>
              </p:cNvSpPr>
              <p:nvPr/>
            </p:nvSpPr>
            <p:spPr bwMode="auto">
              <a:xfrm>
                <a:off x="2700" y="9708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14" name="Text Box 6"/>
              <p:cNvSpPr txBox="1">
                <a:spLocks noChangeArrowheads="1"/>
              </p:cNvSpPr>
              <p:nvPr/>
            </p:nvSpPr>
            <p:spPr bwMode="auto">
              <a:xfrm>
                <a:off x="3240" y="9240"/>
                <a:ext cx="900" cy="9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 algn="just" eaLnBrk="0" hangingPunct="0"/>
                <a:r>
                  <a:rPr kumimoji="0" lang="en-US" altLang="zh-CN" sz="1800"/>
                  <a:t>DCT</a:t>
                </a:r>
                <a:endParaRPr kumimoji="0" lang="en-US" altLang="zh-CN" sz="1800"/>
              </a:p>
              <a:p>
                <a:pPr algn="just" eaLnBrk="0" hangingPunct="0"/>
                <a:r>
                  <a:rPr kumimoji="0" lang="zh-CN" altLang="en-US" sz="1800"/>
                  <a:t>变换</a:t>
                </a:r>
                <a:endParaRPr kumimoji="0" lang="zh-CN" altLang="en-US" sz="1800"/>
              </a:p>
            </p:txBody>
          </p:sp>
          <p:sp>
            <p:nvSpPr>
              <p:cNvPr id="247815" name="Line 7"/>
              <p:cNvSpPr>
                <a:spLocks noChangeShapeType="1"/>
              </p:cNvSpPr>
              <p:nvPr/>
            </p:nvSpPr>
            <p:spPr bwMode="auto">
              <a:xfrm>
                <a:off x="4140" y="9708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7816" name="Group 8"/>
            <p:cNvGrpSpPr/>
            <p:nvPr/>
          </p:nvGrpSpPr>
          <p:grpSpPr bwMode="auto">
            <a:xfrm>
              <a:off x="3168" y="1454"/>
              <a:ext cx="1296" cy="1248"/>
              <a:chOff x="2340" y="1284"/>
              <a:chExt cx="3060" cy="2964"/>
            </a:xfrm>
          </p:grpSpPr>
          <p:sp>
            <p:nvSpPr>
              <p:cNvPr id="247817" name="Rectangle 9"/>
              <p:cNvSpPr>
                <a:spLocks noChangeArrowheads="1"/>
              </p:cNvSpPr>
              <p:nvPr/>
            </p:nvSpPr>
            <p:spPr bwMode="auto">
              <a:xfrm>
                <a:off x="2700" y="1596"/>
                <a:ext cx="2700" cy="265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18" name="Line 10"/>
              <p:cNvSpPr>
                <a:spLocks noChangeShapeType="1"/>
              </p:cNvSpPr>
              <p:nvPr/>
            </p:nvSpPr>
            <p:spPr bwMode="auto">
              <a:xfrm>
                <a:off x="2700" y="1908"/>
                <a:ext cx="2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19" name="Line 11"/>
              <p:cNvSpPr>
                <a:spLocks noChangeShapeType="1"/>
              </p:cNvSpPr>
              <p:nvPr/>
            </p:nvSpPr>
            <p:spPr bwMode="auto">
              <a:xfrm>
                <a:off x="2700" y="2220"/>
                <a:ext cx="2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0" name="Line 12"/>
              <p:cNvSpPr>
                <a:spLocks noChangeShapeType="1"/>
              </p:cNvSpPr>
              <p:nvPr/>
            </p:nvSpPr>
            <p:spPr bwMode="auto">
              <a:xfrm>
                <a:off x="2700" y="2532"/>
                <a:ext cx="2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1" name="Line 13"/>
              <p:cNvSpPr>
                <a:spLocks noChangeShapeType="1"/>
              </p:cNvSpPr>
              <p:nvPr/>
            </p:nvSpPr>
            <p:spPr bwMode="auto">
              <a:xfrm>
                <a:off x="3060" y="1596"/>
                <a:ext cx="0" cy="26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2" name="Line 14"/>
              <p:cNvSpPr>
                <a:spLocks noChangeShapeType="1"/>
              </p:cNvSpPr>
              <p:nvPr/>
            </p:nvSpPr>
            <p:spPr bwMode="auto">
              <a:xfrm>
                <a:off x="3420" y="1596"/>
                <a:ext cx="0" cy="26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3" name="Line 15"/>
              <p:cNvSpPr>
                <a:spLocks noChangeShapeType="1"/>
              </p:cNvSpPr>
              <p:nvPr/>
            </p:nvSpPr>
            <p:spPr bwMode="auto">
              <a:xfrm>
                <a:off x="3780" y="1596"/>
                <a:ext cx="0" cy="26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4" name="Text Box 16"/>
              <p:cNvSpPr txBox="1">
                <a:spLocks noChangeArrowheads="1"/>
              </p:cNvSpPr>
              <p:nvPr/>
            </p:nvSpPr>
            <p:spPr bwMode="auto">
              <a:xfrm>
                <a:off x="2700" y="1284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kumimoji="0" lang="zh-CN" altLang="en-US" sz="1000"/>
                  <a:t>8</a:t>
                </a:r>
                <a:endParaRPr kumimoji="0" lang="zh-CN" altLang="en-US" sz="1000"/>
              </a:p>
            </p:txBody>
          </p:sp>
          <p:sp>
            <p:nvSpPr>
              <p:cNvPr id="247825" name="Text Box 17"/>
              <p:cNvSpPr txBox="1">
                <a:spLocks noChangeArrowheads="1"/>
              </p:cNvSpPr>
              <p:nvPr/>
            </p:nvSpPr>
            <p:spPr bwMode="auto">
              <a:xfrm>
                <a:off x="2340" y="1596"/>
                <a:ext cx="54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/>
                <a:r>
                  <a:rPr kumimoji="0" lang="zh-CN" altLang="en-US" sz="1000"/>
                  <a:t>8</a:t>
                </a:r>
                <a:endParaRPr kumimoji="0" lang="zh-CN" altLang="en-US" sz="1000"/>
              </a:p>
            </p:txBody>
          </p:sp>
        </p:grpSp>
        <p:grpSp>
          <p:nvGrpSpPr>
            <p:cNvPr id="247826" name="Group 18"/>
            <p:cNvGrpSpPr/>
            <p:nvPr/>
          </p:nvGrpSpPr>
          <p:grpSpPr bwMode="auto">
            <a:xfrm>
              <a:off x="576" y="1392"/>
              <a:ext cx="1728" cy="1497"/>
              <a:chOff x="1440" y="8304"/>
              <a:chExt cx="4320" cy="3744"/>
            </a:xfrm>
          </p:grpSpPr>
          <p:pic>
            <p:nvPicPr>
              <p:cNvPr id="247827" name="Picture 19"/>
              <p:cNvPicPr>
                <a:picLocks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26" t="11960" r="46579" b="3987"/>
              <a:stretch>
                <a:fillRect/>
              </a:stretch>
            </p:blipFill>
            <p:spPr bwMode="auto">
              <a:xfrm>
                <a:off x="1440" y="8304"/>
                <a:ext cx="4320" cy="37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7828" name="Line 20"/>
              <p:cNvSpPr>
                <a:spLocks noChangeShapeType="1"/>
              </p:cNvSpPr>
              <p:nvPr/>
            </p:nvSpPr>
            <p:spPr bwMode="auto">
              <a:xfrm>
                <a:off x="2340" y="8772"/>
                <a:ext cx="2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29" name="Line 21"/>
              <p:cNvSpPr>
                <a:spLocks noChangeShapeType="1"/>
              </p:cNvSpPr>
              <p:nvPr/>
            </p:nvSpPr>
            <p:spPr bwMode="auto">
              <a:xfrm>
                <a:off x="2520" y="8616"/>
                <a:ext cx="0" cy="3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30" name="Line 22"/>
              <p:cNvSpPr>
                <a:spLocks noChangeShapeType="1"/>
              </p:cNvSpPr>
              <p:nvPr/>
            </p:nvSpPr>
            <p:spPr bwMode="auto">
              <a:xfrm>
                <a:off x="2340" y="8928"/>
                <a:ext cx="27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831" name="Line 23"/>
              <p:cNvSpPr>
                <a:spLocks noChangeShapeType="1"/>
              </p:cNvSpPr>
              <p:nvPr/>
            </p:nvSpPr>
            <p:spPr bwMode="auto">
              <a:xfrm>
                <a:off x="2700" y="8616"/>
                <a:ext cx="0" cy="3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BE22A0-ED15-4374-AFB9-CCC6C7D2B433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78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7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7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DCT</a:t>
            </a:r>
            <a:r>
              <a:rPr lang="zh-CN" altLang="en-US" dirty="0"/>
              <a:t>系数的特点</a:t>
            </a:r>
            <a:endParaRPr lang="zh-CN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85165" y="1827530"/>
            <a:ext cx="7998460" cy="41148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dirty="0"/>
              <a:t>DCT</a:t>
            </a:r>
            <a:r>
              <a:rPr lang="zh-CN" altLang="en-US" sz="2800" dirty="0"/>
              <a:t>系数特点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左上角部分为直流和低频，右下角部分为高频，中间区域为中频。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直流分量和低频系数值较大，代表了图像的大部分能量，对它们做修改会影响图像的视觉效果。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高频系数值很小，去掉它们基本不引起察觉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最好的水印嵌入区域就是在中频部分？为什么最好的嵌入是中频部分？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  <a:defRPr/>
            </a:pP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7E2C37-138C-48D6-AE94-F9CE4B1F6AB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ldLvl="5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DCT</a:t>
            </a:r>
            <a:r>
              <a:rPr lang="zh-CN" altLang="en-US" dirty="0"/>
              <a:t>水印算法</a:t>
            </a:r>
            <a:br>
              <a:rPr lang="zh-CN" altLang="en-US" dirty="0"/>
            </a:br>
            <a:r>
              <a:rPr lang="en-US" altLang="zh-CN" dirty="0"/>
              <a:t>——</a:t>
            </a:r>
            <a:r>
              <a:rPr lang="zh-CN" altLang="en-US" dirty="0"/>
              <a:t>基于系数比较的方法</a:t>
            </a:r>
            <a:endParaRPr lang="zh-CN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479550" y="1924050"/>
            <a:ext cx="7626350" cy="4648200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原理</a:t>
            </a:r>
            <a:endParaRPr lang="en-US" altLang="zh-CN" sz="28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利用载体中两个特定系数的</a:t>
            </a:r>
            <a:endParaRPr lang="en-US" altLang="zh-CN" sz="2400">
              <a:latin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相对大小来代表隐藏的信息</a:t>
            </a:r>
            <a:r>
              <a:rPr lang="zh-CN" altLang="en-US" sz="2400"/>
              <a:t> </a:t>
            </a:r>
            <a:endParaRPr lang="zh-CN" altLang="en-US" sz="2400"/>
          </a:p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嵌入</a:t>
            </a:r>
            <a:endParaRPr lang="en-US" altLang="zh-CN" sz="28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划分图像为若干</a:t>
            </a:r>
            <a:r>
              <a:rPr lang="zh-CN" altLang="en-US" sz="2400"/>
              <a:t>8</a:t>
            </a:r>
            <a:r>
              <a:rPr lang="zh-CN" altLang="en-US" sz="2400">
                <a:latin typeface="宋体" panose="02010600030101010101" pitchFamily="2" charset="-122"/>
              </a:rPr>
              <a:t>×</a:t>
            </a:r>
            <a:r>
              <a:rPr lang="zh-CN" altLang="en-US" sz="2400"/>
              <a:t>8小</a:t>
            </a:r>
            <a:r>
              <a:rPr lang="zh-CN" altLang="en-US" sz="2400">
                <a:latin typeface="宋体" panose="02010600030101010101" pitchFamily="2" charset="-122"/>
              </a:rPr>
              <a:t>块</a:t>
            </a:r>
            <a:endParaRPr lang="en-US" altLang="zh-CN" sz="24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对各个小块分别做二维</a:t>
            </a:r>
            <a:r>
              <a:rPr lang="en-US" altLang="zh-CN" sz="2400">
                <a:latin typeface="宋体" panose="02010600030101010101" pitchFamily="2" charset="-122"/>
              </a:rPr>
              <a:t>DCT</a:t>
            </a:r>
            <a:r>
              <a:rPr lang="zh-CN" altLang="en-US" sz="2400">
                <a:latin typeface="宋体" panose="02010600030101010101" pitchFamily="2" charset="-122"/>
              </a:rPr>
              <a:t>变换</a:t>
            </a:r>
            <a:endParaRPr lang="en-US" altLang="zh-CN" sz="24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选择其中的两个位置，若用       和         代表所选定的两个系数的坐标</a:t>
            </a:r>
            <a:endParaRPr lang="zh-CN" altLang="en-US" sz="240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隐藏</a:t>
            </a:r>
            <a:r>
              <a:rPr lang="zh-CN" altLang="en-US" sz="2400"/>
              <a:t>1：调整系数使其满足</a:t>
            </a:r>
            <a:endParaRPr lang="zh-CN" altLang="en-US" sz="2400"/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隐藏</a:t>
            </a:r>
            <a:r>
              <a:rPr lang="zh-CN" altLang="en-US" sz="2400"/>
              <a:t>0：调整系数使其满足</a:t>
            </a:r>
            <a:endParaRPr lang="zh-CN" altLang="en-US" sz="2400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6286500" y="4786313"/>
          <a:ext cx="6064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2" name="Equation" r:id="rId1" imgW="457200" imgH="215900" progId="Equation.DSMT4">
                  <p:embed/>
                </p:oleObj>
              </mc:Choice>
              <mc:Fallback>
                <p:oleObj name="Equation" r:id="rId1" imgW="457200" imgH="215900" progId="Equation.DSMT4">
                  <p:embed/>
                  <p:pic>
                    <p:nvPicPr>
                      <p:cNvPr id="0" name="图片 877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4786313"/>
                        <a:ext cx="606425" cy="2905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7643813" y="4754563"/>
          <a:ext cx="7143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3" name="Equation" r:id="rId3" imgW="494665" imgH="215900" progId="Equation.DSMT4">
                  <p:embed/>
                </p:oleObj>
              </mc:Choice>
              <mc:Fallback>
                <p:oleObj name="Equation" r:id="rId3" imgW="494665" imgH="215900" progId="Equation.DSMT4">
                  <p:embed/>
                  <p:pic>
                    <p:nvPicPr>
                      <p:cNvPr id="0" name="图片 877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4754563"/>
                        <a:ext cx="714375" cy="3175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8"/>
          <p:cNvGraphicFramePr>
            <a:graphicFrameLocks noChangeAspect="1"/>
          </p:cNvGraphicFramePr>
          <p:nvPr/>
        </p:nvGraphicFramePr>
        <p:xfrm>
          <a:off x="6072188" y="5583238"/>
          <a:ext cx="20716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4" name="Equation" r:id="rId5" imgW="1358900" imgH="228600" progId="Equation.DSMT4">
                  <p:embed/>
                </p:oleObj>
              </mc:Choice>
              <mc:Fallback>
                <p:oleObj name="Equation" r:id="rId5" imgW="1358900" imgH="228600" progId="Equation.DSMT4">
                  <p:embed/>
                  <p:pic>
                    <p:nvPicPr>
                      <p:cNvPr id="0" name="图片 87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5583238"/>
                        <a:ext cx="2071687" cy="3460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0"/>
          <p:cNvGraphicFramePr>
            <a:graphicFrameLocks noChangeAspect="1"/>
          </p:cNvGraphicFramePr>
          <p:nvPr/>
        </p:nvGraphicFramePr>
        <p:xfrm>
          <a:off x="6072188" y="6000750"/>
          <a:ext cx="21431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735" name="Equation" r:id="rId7" imgW="1358900" imgH="228600" progId="Equation.DSMT4">
                  <p:embed/>
                </p:oleObj>
              </mc:Choice>
              <mc:Fallback>
                <p:oleObj name="Equation" r:id="rId7" imgW="1358900" imgH="228600" progId="Equation.DSMT4">
                  <p:embed/>
                  <p:pic>
                    <p:nvPicPr>
                      <p:cNvPr id="0" name="图片 87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188" y="6000750"/>
                        <a:ext cx="2143125" cy="3603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11"/>
          <p:cNvGrpSpPr/>
          <p:nvPr/>
        </p:nvGrpSpPr>
        <p:grpSpPr bwMode="auto">
          <a:xfrm>
            <a:off x="6429375" y="1571625"/>
            <a:ext cx="1828800" cy="1752600"/>
            <a:chOff x="6781800" y="228600"/>
            <a:chExt cx="1828800" cy="1752600"/>
          </a:xfrm>
        </p:grpSpPr>
        <p:grpSp>
          <p:nvGrpSpPr>
            <p:cNvPr id="60428" name="Group 34"/>
            <p:cNvGrpSpPr/>
            <p:nvPr/>
          </p:nvGrpSpPr>
          <p:grpSpPr bwMode="auto">
            <a:xfrm>
              <a:off x="6781800" y="228600"/>
              <a:ext cx="1828800" cy="1752600"/>
              <a:chOff x="-3" y="-3"/>
              <a:chExt cx="3214" cy="3230"/>
            </a:xfrm>
          </p:grpSpPr>
          <p:grpSp>
            <p:nvGrpSpPr>
              <p:cNvPr id="60435" name="Group 35"/>
              <p:cNvGrpSpPr/>
              <p:nvPr/>
            </p:nvGrpSpPr>
            <p:grpSpPr bwMode="auto">
              <a:xfrm>
                <a:off x="0" y="0"/>
                <a:ext cx="3208" cy="3224"/>
                <a:chOff x="0" y="0"/>
                <a:chExt cx="3208" cy="3224"/>
              </a:xfrm>
            </p:grpSpPr>
            <p:grpSp>
              <p:nvGrpSpPr>
                <p:cNvPr id="60437" name="Group 36"/>
                <p:cNvGrpSpPr/>
                <p:nvPr/>
              </p:nvGrpSpPr>
              <p:grpSpPr bwMode="auto">
                <a:xfrm>
                  <a:off x="0" y="0"/>
                  <a:ext cx="378" cy="403"/>
                  <a:chOff x="0" y="0"/>
                  <a:chExt cx="378" cy="403"/>
                </a:xfrm>
              </p:grpSpPr>
              <p:sp>
                <p:nvSpPr>
                  <p:cNvPr id="60627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0628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38" name="Group 39"/>
                <p:cNvGrpSpPr/>
                <p:nvPr/>
              </p:nvGrpSpPr>
              <p:grpSpPr bwMode="auto">
                <a:xfrm>
                  <a:off x="378" y="0"/>
                  <a:ext cx="394" cy="403"/>
                  <a:chOff x="378" y="0"/>
                  <a:chExt cx="394" cy="403"/>
                </a:xfrm>
              </p:grpSpPr>
              <p:sp>
                <p:nvSpPr>
                  <p:cNvPr id="60625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0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6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0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39" name="Group 42"/>
                <p:cNvGrpSpPr/>
                <p:nvPr/>
              </p:nvGrpSpPr>
              <p:grpSpPr bwMode="auto">
                <a:xfrm>
                  <a:off x="772" y="0"/>
                  <a:ext cx="402" cy="403"/>
                  <a:chOff x="772" y="0"/>
                  <a:chExt cx="402" cy="403"/>
                </a:xfrm>
              </p:grpSpPr>
              <p:sp>
                <p:nvSpPr>
                  <p:cNvPr id="60623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0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4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0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0" name="Group 45"/>
                <p:cNvGrpSpPr/>
                <p:nvPr/>
              </p:nvGrpSpPr>
              <p:grpSpPr bwMode="auto">
                <a:xfrm>
                  <a:off x="1174" y="0"/>
                  <a:ext cx="406" cy="403"/>
                  <a:chOff x="1174" y="0"/>
                  <a:chExt cx="406" cy="403"/>
                </a:xfrm>
              </p:grpSpPr>
              <p:sp>
                <p:nvSpPr>
                  <p:cNvPr id="60621" name="Rectangle 46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0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2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0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1" name="Group 48"/>
                <p:cNvGrpSpPr/>
                <p:nvPr/>
              </p:nvGrpSpPr>
              <p:grpSpPr bwMode="auto">
                <a:xfrm>
                  <a:off x="1580" y="0"/>
                  <a:ext cx="408" cy="403"/>
                  <a:chOff x="1580" y="0"/>
                  <a:chExt cx="408" cy="403"/>
                </a:xfrm>
              </p:grpSpPr>
              <p:sp>
                <p:nvSpPr>
                  <p:cNvPr id="60619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0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20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0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2" name="Group 51"/>
                <p:cNvGrpSpPr/>
                <p:nvPr/>
              </p:nvGrpSpPr>
              <p:grpSpPr bwMode="auto">
                <a:xfrm>
                  <a:off x="1988" y="0"/>
                  <a:ext cx="409" cy="403"/>
                  <a:chOff x="1988" y="0"/>
                  <a:chExt cx="409" cy="403"/>
                </a:xfrm>
              </p:grpSpPr>
              <p:sp>
                <p:nvSpPr>
                  <p:cNvPr id="60617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0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8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0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3" name="Group 54"/>
                <p:cNvGrpSpPr/>
                <p:nvPr/>
              </p:nvGrpSpPr>
              <p:grpSpPr bwMode="auto">
                <a:xfrm>
                  <a:off x="2397" y="0"/>
                  <a:ext cx="410" cy="403"/>
                  <a:chOff x="2397" y="0"/>
                  <a:chExt cx="410" cy="403"/>
                </a:xfrm>
              </p:grpSpPr>
              <p:sp>
                <p:nvSpPr>
                  <p:cNvPr id="60615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0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6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0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4" name="Group 57"/>
                <p:cNvGrpSpPr/>
                <p:nvPr/>
              </p:nvGrpSpPr>
              <p:grpSpPr bwMode="auto">
                <a:xfrm>
                  <a:off x="2807" y="0"/>
                  <a:ext cx="401" cy="403"/>
                  <a:chOff x="2807" y="0"/>
                  <a:chExt cx="401" cy="403"/>
                </a:xfrm>
              </p:grpSpPr>
              <p:sp>
                <p:nvSpPr>
                  <p:cNvPr id="60613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0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4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0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5" name="Group 60"/>
                <p:cNvGrpSpPr/>
                <p:nvPr/>
              </p:nvGrpSpPr>
              <p:grpSpPr bwMode="auto">
                <a:xfrm>
                  <a:off x="0" y="403"/>
                  <a:ext cx="378" cy="403"/>
                  <a:chOff x="0" y="403"/>
                  <a:chExt cx="378" cy="403"/>
                </a:xfrm>
              </p:grpSpPr>
              <p:sp>
                <p:nvSpPr>
                  <p:cNvPr id="60611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403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2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403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6" name="Group 63"/>
                <p:cNvGrpSpPr/>
                <p:nvPr/>
              </p:nvGrpSpPr>
              <p:grpSpPr bwMode="auto">
                <a:xfrm>
                  <a:off x="378" y="403"/>
                  <a:ext cx="394" cy="403"/>
                  <a:chOff x="378" y="403"/>
                  <a:chExt cx="394" cy="403"/>
                </a:xfrm>
              </p:grpSpPr>
              <p:sp>
                <p:nvSpPr>
                  <p:cNvPr id="60609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403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10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403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7" name="Group 66"/>
                <p:cNvGrpSpPr/>
                <p:nvPr/>
              </p:nvGrpSpPr>
              <p:grpSpPr bwMode="auto">
                <a:xfrm>
                  <a:off x="772" y="403"/>
                  <a:ext cx="402" cy="403"/>
                  <a:chOff x="772" y="403"/>
                  <a:chExt cx="402" cy="403"/>
                </a:xfrm>
              </p:grpSpPr>
              <p:sp>
                <p:nvSpPr>
                  <p:cNvPr id="60607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403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8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403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8" name="Group 69"/>
                <p:cNvGrpSpPr/>
                <p:nvPr/>
              </p:nvGrpSpPr>
              <p:grpSpPr bwMode="auto">
                <a:xfrm>
                  <a:off x="1174" y="403"/>
                  <a:ext cx="406" cy="403"/>
                  <a:chOff x="1174" y="403"/>
                  <a:chExt cx="406" cy="403"/>
                </a:xfrm>
              </p:grpSpPr>
              <p:sp>
                <p:nvSpPr>
                  <p:cNvPr id="60605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403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6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403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49" name="Group 72"/>
                <p:cNvGrpSpPr/>
                <p:nvPr/>
              </p:nvGrpSpPr>
              <p:grpSpPr bwMode="auto">
                <a:xfrm>
                  <a:off x="1580" y="403"/>
                  <a:ext cx="408" cy="403"/>
                  <a:chOff x="1580" y="403"/>
                  <a:chExt cx="408" cy="403"/>
                </a:xfrm>
              </p:grpSpPr>
              <p:sp>
                <p:nvSpPr>
                  <p:cNvPr id="60603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403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4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403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0" name="Group 75"/>
                <p:cNvGrpSpPr/>
                <p:nvPr/>
              </p:nvGrpSpPr>
              <p:grpSpPr bwMode="auto">
                <a:xfrm>
                  <a:off x="1988" y="403"/>
                  <a:ext cx="409" cy="403"/>
                  <a:chOff x="1988" y="403"/>
                  <a:chExt cx="409" cy="403"/>
                </a:xfrm>
              </p:grpSpPr>
              <p:sp>
                <p:nvSpPr>
                  <p:cNvPr id="60601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403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2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403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1" name="Group 78"/>
                <p:cNvGrpSpPr/>
                <p:nvPr/>
              </p:nvGrpSpPr>
              <p:grpSpPr bwMode="auto">
                <a:xfrm>
                  <a:off x="2397" y="403"/>
                  <a:ext cx="410" cy="403"/>
                  <a:chOff x="2397" y="403"/>
                  <a:chExt cx="410" cy="403"/>
                </a:xfrm>
              </p:grpSpPr>
              <p:sp>
                <p:nvSpPr>
                  <p:cNvPr id="60599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403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600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403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2" name="Group 81"/>
                <p:cNvGrpSpPr/>
                <p:nvPr/>
              </p:nvGrpSpPr>
              <p:grpSpPr bwMode="auto">
                <a:xfrm>
                  <a:off x="2807" y="403"/>
                  <a:ext cx="401" cy="403"/>
                  <a:chOff x="2807" y="403"/>
                  <a:chExt cx="401" cy="403"/>
                </a:xfrm>
              </p:grpSpPr>
              <p:sp>
                <p:nvSpPr>
                  <p:cNvPr id="60597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403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8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403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3" name="Group 84"/>
                <p:cNvGrpSpPr/>
                <p:nvPr/>
              </p:nvGrpSpPr>
              <p:grpSpPr bwMode="auto">
                <a:xfrm>
                  <a:off x="0" y="806"/>
                  <a:ext cx="378" cy="403"/>
                  <a:chOff x="0" y="806"/>
                  <a:chExt cx="378" cy="403"/>
                </a:xfrm>
              </p:grpSpPr>
              <p:sp>
                <p:nvSpPr>
                  <p:cNvPr id="60595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806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6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806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4" name="Group 87"/>
                <p:cNvGrpSpPr/>
                <p:nvPr/>
              </p:nvGrpSpPr>
              <p:grpSpPr bwMode="auto">
                <a:xfrm>
                  <a:off x="378" y="806"/>
                  <a:ext cx="394" cy="403"/>
                  <a:chOff x="378" y="806"/>
                  <a:chExt cx="394" cy="403"/>
                </a:xfrm>
              </p:grpSpPr>
              <p:sp>
                <p:nvSpPr>
                  <p:cNvPr id="60593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806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4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806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5" name="Group 90"/>
                <p:cNvGrpSpPr/>
                <p:nvPr/>
              </p:nvGrpSpPr>
              <p:grpSpPr bwMode="auto">
                <a:xfrm>
                  <a:off x="772" y="806"/>
                  <a:ext cx="402" cy="403"/>
                  <a:chOff x="772" y="806"/>
                  <a:chExt cx="402" cy="403"/>
                </a:xfrm>
              </p:grpSpPr>
              <p:sp>
                <p:nvSpPr>
                  <p:cNvPr id="60591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806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2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806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6" name="Group 93"/>
                <p:cNvGrpSpPr/>
                <p:nvPr/>
              </p:nvGrpSpPr>
              <p:grpSpPr bwMode="auto">
                <a:xfrm>
                  <a:off x="1174" y="806"/>
                  <a:ext cx="406" cy="403"/>
                  <a:chOff x="1174" y="806"/>
                  <a:chExt cx="406" cy="403"/>
                </a:xfrm>
              </p:grpSpPr>
              <p:sp>
                <p:nvSpPr>
                  <p:cNvPr id="60589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806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90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806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7" name="Group 96"/>
                <p:cNvGrpSpPr/>
                <p:nvPr/>
              </p:nvGrpSpPr>
              <p:grpSpPr bwMode="auto">
                <a:xfrm>
                  <a:off x="1580" y="806"/>
                  <a:ext cx="408" cy="403"/>
                  <a:chOff x="1580" y="806"/>
                  <a:chExt cx="408" cy="403"/>
                </a:xfrm>
              </p:grpSpPr>
              <p:sp>
                <p:nvSpPr>
                  <p:cNvPr id="60587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806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8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806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8" name="Group 99"/>
                <p:cNvGrpSpPr/>
                <p:nvPr/>
              </p:nvGrpSpPr>
              <p:grpSpPr bwMode="auto">
                <a:xfrm>
                  <a:off x="1988" y="806"/>
                  <a:ext cx="409" cy="403"/>
                  <a:chOff x="1988" y="806"/>
                  <a:chExt cx="409" cy="403"/>
                </a:xfrm>
              </p:grpSpPr>
              <p:sp>
                <p:nvSpPr>
                  <p:cNvPr id="60585" name="Rectangle 100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806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6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806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59" name="Group 102"/>
                <p:cNvGrpSpPr/>
                <p:nvPr/>
              </p:nvGrpSpPr>
              <p:grpSpPr bwMode="auto">
                <a:xfrm>
                  <a:off x="2397" y="806"/>
                  <a:ext cx="410" cy="403"/>
                  <a:chOff x="2397" y="806"/>
                  <a:chExt cx="410" cy="403"/>
                </a:xfrm>
              </p:grpSpPr>
              <p:sp>
                <p:nvSpPr>
                  <p:cNvPr id="60583" name="Rectangle 103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806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4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806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0" name="Group 105"/>
                <p:cNvGrpSpPr/>
                <p:nvPr/>
              </p:nvGrpSpPr>
              <p:grpSpPr bwMode="auto">
                <a:xfrm>
                  <a:off x="2807" y="806"/>
                  <a:ext cx="401" cy="403"/>
                  <a:chOff x="2807" y="806"/>
                  <a:chExt cx="401" cy="403"/>
                </a:xfrm>
              </p:grpSpPr>
              <p:sp>
                <p:nvSpPr>
                  <p:cNvPr id="60581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806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2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806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1" name="Group 108"/>
                <p:cNvGrpSpPr/>
                <p:nvPr/>
              </p:nvGrpSpPr>
              <p:grpSpPr bwMode="auto">
                <a:xfrm>
                  <a:off x="0" y="1209"/>
                  <a:ext cx="378" cy="403"/>
                  <a:chOff x="0" y="1209"/>
                  <a:chExt cx="378" cy="403"/>
                </a:xfrm>
              </p:grpSpPr>
              <p:sp>
                <p:nvSpPr>
                  <p:cNvPr id="60579" name="Rectangle 109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209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80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209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2" name="Group 111"/>
                <p:cNvGrpSpPr/>
                <p:nvPr/>
              </p:nvGrpSpPr>
              <p:grpSpPr bwMode="auto">
                <a:xfrm>
                  <a:off x="378" y="1209"/>
                  <a:ext cx="394" cy="403"/>
                  <a:chOff x="378" y="1209"/>
                  <a:chExt cx="394" cy="403"/>
                </a:xfrm>
              </p:grpSpPr>
              <p:sp>
                <p:nvSpPr>
                  <p:cNvPr id="60577" name="Rectangle 112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1209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78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1209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3" name="Group 114"/>
                <p:cNvGrpSpPr/>
                <p:nvPr/>
              </p:nvGrpSpPr>
              <p:grpSpPr bwMode="auto">
                <a:xfrm>
                  <a:off x="772" y="1209"/>
                  <a:ext cx="402" cy="403"/>
                  <a:chOff x="772" y="1209"/>
                  <a:chExt cx="402" cy="403"/>
                </a:xfrm>
              </p:grpSpPr>
              <p:sp>
                <p:nvSpPr>
                  <p:cNvPr id="60575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1209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76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1209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4" name="Group 117"/>
                <p:cNvGrpSpPr/>
                <p:nvPr/>
              </p:nvGrpSpPr>
              <p:grpSpPr bwMode="auto">
                <a:xfrm>
                  <a:off x="1174" y="1209"/>
                  <a:ext cx="406" cy="403"/>
                  <a:chOff x="1174" y="1209"/>
                  <a:chExt cx="406" cy="403"/>
                </a:xfrm>
              </p:grpSpPr>
              <p:sp>
                <p:nvSpPr>
                  <p:cNvPr id="60573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1209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74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1209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5" name="Group 120"/>
                <p:cNvGrpSpPr/>
                <p:nvPr/>
              </p:nvGrpSpPr>
              <p:grpSpPr bwMode="auto">
                <a:xfrm>
                  <a:off x="1580" y="1209"/>
                  <a:ext cx="408" cy="403"/>
                  <a:chOff x="1580" y="1209"/>
                  <a:chExt cx="408" cy="403"/>
                </a:xfrm>
              </p:grpSpPr>
              <p:sp>
                <p:nvSpPr>
                  <p:cNvPr id="60571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1209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72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1209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6" name="Group 123"/>
                <p:cNvGrpSpPr/>
                <p:nvPr/>
              </p:nvGrpSpPr>
              <p:grpSpPr bwMode="auto">
                <a:xfrm>
                  <a:off x="1988" y="1209"/>
                  <a:ext cx="409" cy="403"/>
                  <a:chOff x="1988" y="1209"/>
                  <a:chExt cx="409" cy="403"/>
                </a:xfrm>
              </p:grpSpPr>
              <p:sp>
                <p:nvSpPr>
                  <p:cNvPr id="60569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1209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70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1209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7" name="Group 126"/>
                <p:cNvGrpSpPr/>
                <p:nvPr/>
              </p:nvGrpSpPr>
              <p:grpSpPr bwMode="auto">
                <a:xfrm>
                  <a:off x="2397" y="1209"/>
                  <a:ext cx="410" cy="403"/>
                  <a:chOff x="2397" y="1209"/>
                  <a:chExt cx="410" cy="403"/>
                </a:xfrm>
              </p:grpSpPr>
              <p:sp>
                <p:nvSpPr>
                  <p:cNvPr id="60567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1209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68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1209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8" name="Group 129"/>
                <p:cNvGrpSpPr/>
                <p:nvPr/>
              </p:nvGrpSpPr>
              <p:grpSpPr bwMode="auto">
                <a:xfrm>
                  <a:off x="2807" y="1209"/>
                  <a:ext cx="401" cy="403"/>
                  <a:chOff x="2807" y="1209"/>
                  <a:chExt cx="401" cy="403"/>
                </a:xfrm>
              </p:grpSpPr>
              <p:sp>
                <p:nvSpPr>
                  <p:cNvPr id="60565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1209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66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1209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69" name="Group 132"/>
                <p:cNvGrpSpPr/>
                <p:nvPr/>
              </p:nvGrpSpPr>
              <p:grpSpPr bwMode="auto">
                <a:xfrm>
                  <a:off x="0" y="1612"/>
                  <a:ext cx="378" cy="403"/>
                  <a:chOff x="0" y="1612"/>
                  <a:chExt cx="378" cy="403"/>
                </a:xfrm>
              </p:grpSpPr>
              <p:sp>
                <p:nvSpPr>
                  <p:cNvPr id="60563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612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64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612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0" name="Group 135"/>
                <p:cNvGrpSpPr/>
                <p:nvPr/>
              </p:nvGrpSpPr>
              <p:grpSpPr bwMode="auto">
                <a:xfrm>
                  <a:off x="378" y="1612"/>
                  <a:ext cx="394" cy="403"/>
                  <a:chOff x="378" y="1612"/>
                  <a:chExt cx="394" cy="403"/>
                </a:xfrm>
              </p:grpSpPr>
              <p:sp>
                <p:nvSpPr>
                  <p:cNvPr id="60561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1612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62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1612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1" name="Group 138"/>
                <p:cNvGrpSpPr/>
                <p:nvPr/>
              </p:nvGrpSpPr>
              <p:grpSpPr bwMode="auto">
                <a:xfrm>
                  <a:off x="772" y="1612"/>
                  <a:ext cx="402" cy="403"/>
                  <a:chOff x="772" y="1612"/>
                  <a:chExt cx="402" cy="403"/>
                </a:xfrm>
              </p:grpSpPr>
              <p:sp>
                <p:nvSpPr>
                  <p:cNvPr id="60559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1612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60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1612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2" name="Group 141"/>
                <p:cNvGrpSpPr/>
                <p:nvPr/>
              </p:nvGrpSpPr>
              <p:grpSpPr bwMode="auto">
                <a:xfrm>
                  <a:off x="1174" y="1612"/>
                  <a:ext cx="406" cy="403"/>
                  <a:chOff x="1174" y="1612"/>
                  <a:chExt cx="406" cy="403"/>
                </a:xfrm>
              </p:grpSpPr>
              <p:sp>
                <p:nvSpPr>
                  <p:cNvPr id="60557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1612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58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1612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3" name="Group 144"/>
                <p:cNvGrpSpPr/>
                <p:nvPr/>
              </p:nvGrpSpPr>
              <p:grpSpPr bwMode="auto">
                <a:xfrm>
                  <a:off x="1580" y="1612"/>
                  <a:ext cx="408" cy="403"/>
                  <a:chOff x="1580" y="1612"/>
                  <a:chExt cx="408" cy="403"/>
                </a:xfrm>
              </p:grpSpPr>
              <p:sp>
                <p:nvSpPr>
                  <p:cNvPr id="60555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1612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56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1612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4" name="Group 147"/>
                <p:cNvGrpSpPr/>
                <p:nvPr/>
              </p:nvGrpSpPr>
              <p:grpSpPr bwMode="auto">
                <a:xfrm>
                  <a:off x="1988" y="1612"/>
                  <a:ext cx="409" cy="403"/>
                  <a:chOff x="1988" y="1612"/>
                  <a:chExt cx="409" cy="403"/>
                </a:xfrm>
              </p:grpSpPr>
              <p:sp>
                <p:nvSpPr>
                  <p:cNvPr id="60553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1612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54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1612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5" name="Group 150"/>
                <p:cNvGrpSpPr/>
                <p:nvPr/>
              </p:nvGrpSpPr>
              <p:grpSpPr bwMode="auto">
                <a:xfrm>
                  <a:off x="2397" y="1612"/>
                  <a:ext cx="410" cy="403"/>
                  <a:chOff x="2397" y="1612"/>
                  <a:chExt cx="410" cy="403"/>
                </a:xfrm>
              </p:grpSpPr>
              <p:sp>
                <p:nvSpPr>
                  <p:cNvPr id="60551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1612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52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1612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6" name="Group 153"/>
                <p:cNvGrpSpPr/>
                <p:nvPr/>
              </p:nvGrpSpPr>
              <p:grpSpPr bwMode="auto">
                <a:xfrm>
                  <a:off x="2807" y="1612"/>
                  <a:ext cx="401" cy="403"/>
                  <a:chOff x="2807" y="1612"/>
                  <a:chExt cx="401" cy="403"/>
                </a:xfrm>
              </p:grpSpPr>
              <p:sp>
                <p:nvSpPr>
                  <p:cNvPr id="60549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1612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50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1612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7" name="Group 156"/>
                <p:cNvGrpSpPr/>
                <p:nvPr/>
              </p:nvGrpSpPr>
              <p:grpSpPr bwMode="auto">
                <a:xfrm>
                  <a:off x="0" y="2015"/>
                  <a:ext cx="378" cy="403"/>
                  <a:chOff x="0" y="2015"/>
                  <a:chExt cx="378" cy="403"/>
                </a:xfrm>
              </p:grpSpPr>
              <p:sp>
                <p:nvSpPr>
                  <p:cNvPr id="60547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015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8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015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8" name="Group 159"/>
                <p:cNvGrpSpPr/>
                <p:nvPr/>
              </p:nvGrpSpPr>
              <p:grpSpPr bwMode="auto">
                <a:xfrm>
                  <a:off x="378" y="2015"/>
                  <a:ext cx="394" cy="403"/>
                  <a:chOff x="378" y="2015"/>
                  <a:chExt cx="394" cy="403"/>
                </a:xfrm>
              </p:grpSpPr>
              <p:sp>
                <p:nvSpPr>
                  <p:cNvPr id="60545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2015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6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2015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79" name="Group 162"/>
                <p:cNvGrpSpPr/>
                <p:nvPr/>
              </p:nvGrpSpPr>
              <p:grpSpPr bwMode="auto">
                <a:xfrm>
                  <a:off x="772" y="2015"/>
                  <a:ext cx="402" cy="403"/>
                  <a:chOff x="772" y="2015"/>
                  <a:chExt cx="402" cy="403"/>
                </a:xfrm>
              </p:grpSpPr>
              <p:sp>
                <p:nvSpPr>
                  <p:cNvPr id="60543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2015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4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2015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0" name="Group 165"/>
                <p:cNvGrpSpPr/>
                <p:nvPr/>
              </p:nvGrpSpPr>
              <p:grpSpPr bwMode="auto">
                <a:xfrm>
                  <a:off x="1174" y="2015"/>
                  <a:ext cx="406" cy="403"/>
                  <a:chOff x="1174" y="2015"/>
                  <a:chExt cx="406" cy="403"/>
                </a:xfrm>
              </p:grpSpPr>
              <p:sp>
                <p:nvSpPr>
                  <p:cNvPr id="60541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2015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2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2015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1" name="Group 168"/>
                <p:cNvGrpSpPr/>
                <p:nvPr/>
              </p:nvGrpSpPr>
              <p:grpSpPr bwMode="auto">
                <a:xfrm>
                  <a:off x="1580" y="2015"/>
                  <a:ext cx="408" cy="403"/>
                  <a:chOff x="1580" y="2015"/>
                  <a:chExt cx="408" cy="403"/>
                </a:xfrm>
              </p:grpSpPr>
              <p:sp>
                <p:nvSpPr>
                  <p:cNvPr id="60539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2015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40" name="Rectangle 170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2015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2" name="Group 171"/>
                <p:cNvGrpSpPr/>
                <p:nvPr/>
              </p:nvGrpSpPr>
              <p:grpSpPr bwMode="auto">
                <a:xfrm>
                  <a:off x="1988" y="2015"/>
                  <a:ext cx="409" cy="403"/>
                  <a:chOff x="1988" y="2015"/>
                  <a:chExt cx="409" cy="403"/>
                </a:xfrm>
              </p:grpSpPr>
              <p:sp>
                <p:nvSpPr>
                  <p:cNvPr id="60537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2015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8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2015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3" name="Group 174"/>
                <p:cNvGrpSpPr/>
                <p:nvPr/>
              </p:nvGrpSpPr>
              <p:grpSpPr bwMode="auto">
                <a:xfrm>
                  <a:off x="2397" y="2015"/>
                  <a:ext cx="410" cy="403"/>
                  <a:chOff x="2397" y="2015"/>
                  <a:chExt cx="410" cy="403"/>
                </a:xfrm>
              </p:grpSpPr>
              <p:sp>
                <p:nvSpPr>
                  <p:cNvPr id="60535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2015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6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2015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4" name="Group 177"/>
                <p:cNvGrpSpPr/>
                <p:nvPr/>
              </p:nvGrpSpPr>
              <p:grpSpPr bwMode="auto">
                <a:xfrm>
                  <a:off x="2807" y="2015"/>
                  <a:ext cx="401" cy="403"/>
                  <a:chOff x="2807" y="2015"/>
                  <a:chExt cx="401" cy="403"/>
                </a:xfrm>
              </p:grpSpPr>
              <p:sp>
                <p:nvSpPr>
                  <p:cNvPr id="60533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2015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4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2015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5" name="Group 180"/>
                <p:cNvGrpSpPr/>
                <p:nvPr/>
              </p:nvGrpSpPr>
              <p:grpSpPr bwMode="auto">
                <a:xfrm>
                  <a:off x="0" y="2418"/>
                  <a:ext cx="378" cy="403"/>
                  <a:chOff x="0" y="2418"/>
                  <a:chExt cx="378" cy="403"/>
                </a:xfrm>
              </p:grpSpPr>
              <p:sp>
                <p:nvSpPr>
                  <p:cNvPr id="60531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418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2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418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6" name="Group 183"/>
                <p:cNvGrpSpPr/>
                <p:nvPr/>
              </p:nvGrpSpPr>
              <p:grpSpPr bwMode="auto">
                <a:xfrm>
                  <a:off x="378" y="2418"/>
                  <a:ext cx="394" cy="403"/>
                  <a:chOff x="378" y="2418"/>
                  <a:chExt cx="394" cy="403"/>
                </a:xfrm>
              </p:grpSpPr>
              <p:sp>
                <p:nvSpPr>
                  <p:cNvPr id="60529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2418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30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2418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7" name="Group 186"/>
                <p:cNvGrpSpPr/>
                <p:nvPr/>
              </p:nvGrpSpPr>
              <p:grpSpPr bwMode="auto">
                <a:xfrm>
                  <a:off x="772" y="2418"/>
                  <a:ext cx="402" cy="403"/>
                  <a:chOff x="772" y="2418"/>
                  <a:chExt cx="402" cy="403"/>
                </a:xfrm>
              </p:grpSpPr>
              <p:sp>
                <p:nvSpPr>
                  <p:cNvPr id="60527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2418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8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2418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8" name="Group 189"/>
                <p:cNvGrpSpPr/>
                <p:nvPr/>
              </p:nvGrpSpPr>
              <p:grpSpPr bwMode="auto">
                <a:xfrm>
                  <a:off x="1174" y="2418"/>
                  <a:ext cx="406" cy="403"/>
                  <a:chOff x="1174" y="2418"/>
                  <a:chExt cx="406" cy="403"/>
                </a:xfrm>
              </p:grpSpPr>
              <p:sp>
                <p:nvSpPr>
                  <p:cNvPr id="60525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2418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6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2418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89" name="Group 192"/>
                <p:cNvGrpSpPr/>
                <p:nvPr/>
              </p:nvGrpSpPr>
              <p:grpSpPr bwMode="auto">
                <a:xfrm>
                  <a:off x="1580" y="2418"/>
                  <a:ext cx="408" cy="403"/>
                  <a:chOff x="1580" y="2418"/>
                  <a:chExt cx="408" cy="403"/>
                </a:xfrm>
              </p:grpSpPr>
              <p:sp>
                <p:nvSpPr>
                  <p:cNvPr id="60523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2418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4" name="Rectangle 194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2418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0" name="Group 195"/>
                <p:cNvGrpSpPr/>
                <p:nvPr/>
              </p:nvGrpSpPr>
              <p:grpSpPr bwMode="auto">
                <a:xfrm>
                  <a:off x="1988" y="2418"/>
                  <a:ext cx="409" cy="403"/>
                  <a:chOff x="1988" y="2418"/>
                  <a:chExt cx="409" cy="403"/>
                </a:xfrm>
              </p:grpSpPr>
              <p:sp>
                <p:nvSpPr>
                  <p:cNvPr id="60521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2418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2" name="Rectangle 197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2418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1" name="Group 198"/>
                <p:cNvGrpSpPr/>
                <p:nvPr/>
              </p:nvGrpSpPr>
              <p:grpSpPr bwMode="auto">
                <a:xfrm>
                  <a:off x="2397" y="2418"/>
                  <a:ext cx="410" cy="403"/>
                  <a:chOff x="2397" y="2418"/>
                  <a:chExt cx="410" cy="403"/>
                </a:xfrm>
              </p:grpSpPr>
              <p:sp>
                <p:nvSpPr>
                  <p:cNvPr id="60519" name="Rectangle 199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2418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20" name="Rectangle 200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2418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2" name="Group 201"/>
                <p:cNvGrpSpPr/>
                <p:nvPr/>
              </p:nvGrpSpPr>
              <p:grpSpPr bwMode="auto">
                <a:xfrm>
                  <a:off x="2807" y="2418"/>
                  <a:ext cx="401" cy="403"/>
                  <a:chOff x="2807" y="2418"/>
                  <a:chExt cx="401" cy="403"/>
                </a:xfrm>
              </p:grpSpPr>
              <p:sp>
                <p:nvSpPr>
                  <p:cNvPr id="60517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2418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8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2418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3" name="Group 204"/>
                <p:cNvGrpSpPr/>
                <p:nvPr/>
              </p:nvGrpSpPr>
              <p:grpSpPr bwMode="auto">
                <a:xfrm>
                  <a:off x="0" y="2821"/>
                  <a:ext cx="378" cy="403"/>
                  <a:chOff x="0" y="2821"/>
                  <a:chExt cx="378" cy="403"/>
                </a:xfrm>
              </p:grpSpPr>
              <p:sp>
                <p:nvSpPr>
                  <p:cNvPr id="60515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2821"/>
                    <a:ext cx="29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6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821"/>
                    <a:ext cx="37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4" name="Group 207"/>
                <p:cNvGrpSpPr/>
                <p:nvPr/>
              </p:nvGrpSpPr>
              <p:grpSpPr bwMode="auto">
                <a:xfrm>
                  <a:off x="378" y="2821"/>
                  <a:ext cx="394" cy="403"/>
                  <a:chOff x="378" y="2821"/>
                  <a:chExt cx="394" cy="403"/>
                </a:xfrm>
              </p:grpSpPr>
              <p:sp>
                <p:nvSpPr>
                  <p:cNvPr id="60513" name="Rectangle 208"/>
                  <p:cNvSpPr>
                    <a:spLocks noChangeArrowheads="1"/>
                  </p:cNvSpPr>
                  <p:nvPr/>
                </p:nvSpPr>
                <p:spPr bwMode="auto">
                  <a:xfrm>
                    <a:off x="421" y="2821"/>
                    <a:ext cx="308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4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378" y="2821"/>
                    <a:ext cx="394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5" name="Group 210"/>
                <p:cNvGrpSpPr/>
                <p:nvPr/>
              </p:nvGrpSpPr>
              <p:grpSpPr bwMode="auto">
                <a:xfrm>
                  <a:off x="772" y="2821"/>
                  <a:ext cx="402" cy="403"/>
                  <a:chOff x="772" y="2821"/>
                  <a:chExt cx="402" cy="403"/>
                </a:xfrm>
              </p:grpSpPr>
              <p:sp>
                <p:nvSpPr>
                  <p:cNvPr id="60511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815" y="2821"/>
                    <a:ext cx="316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2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772" y="2821"/>
                    <a:ext cx="402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6" name="Group 213"/>
                <p:cNvGrpSpPr/>
                <p:nvPr/>
              </p:nvGrpSpPr>
              <p:grpSpPr bwMode="auto">
                <a:xfrm>
                  <a:off x="1174" y="2821"/>
                  <a:ext cx="406" cy="403"/>
                  <a:chOff x="1174" y="2821"/>
                  <a:chExt cx="406" cy="403"/>
                </a:xfrm>
              </p:grpSpPr>
              <p:sp>
                <p:nvSpPr>
                  <p:cNvPr id="60509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1217" y="2821"/>
                    <a:ext cx="320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10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1174" y="2821"/>
                    <a:ext cx="406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7" name="Group 216"/>
                <p:cNvGrpSpPr/>
                <p:nvPr/>
              </p:nvGrpSpPr>
              <p:grpSpPr bwMode="auto">
                <a:xfrm>
                  <a:off x="1580" y="2821"/>
                  <a:ext cx="408" cy="403"/>
                  <a:chOff x="1580" y="2821"/>
                  <a:chExt cx="408" cy="403"/>
                </a:xfrm>
              </p:grpSpPr>
              <p:sp>
                <p:nvSpPr>
                  <p:cNvPr id="60507" name="Rectangle 217"/>
                  <p:cNvSpPr>
                    <a:spLocks noChangeArrowheads="1"/>
                  </p:cNvSpPr>
                  <p:nvPr/>
                </p:nvSpPr>
                <p:spPr bwMode="auto">
                  <a:xfrm>
                    <a:off x="1623" y="2821"/>
                    <a:ext cx="32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8" name="Rectangle 218"/>
                  <p:cNvSpPr>
                    <a:spLocks noChangeArrowheads="1"/>
                  </p:cNvSpPr>
                  <p:nvPr/>
                </p:nvSpPr>
                <p:spPr bwMode="auto">
                  <a:xfrm>
                    <a:off x="1580" y="2821"/>
                    <a:ext cx="408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8" name="Group 219"/>
                <p:cNvGrpSpPr/>
                <p:nvPr/>
              </p:nvGrpSpPr>
              <p:grpSpPr bwMode="auto">
                <a:xfrm>
                  <a:off x="1988" y="2821"/>
                  <a:ext cx="409" cy="403"/>
                  <a:chOff x="1988" y="2821"/>
                  <a:chExt cx="409" cy="403"/>
                </a:xfrm>
              </p:grpSpPr>
              <p:sp>
                <p:nvSpPr>
                  <p:cNvPr id="60505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2031" y="2821"/>
                    <a:ext cx="323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6" name="Rectangle 221"/>
                  <p:cNvSpPr>
                    <a:spLocks noChangeArrowheads="1"/>
                  </p:cNvSpPr>
                  <p:nvPr/>
                </p:nvSpPr>
                <p:spPr bwMode="auto">
                  <a:xfrm>
                    <a:off x="1988" y="2821"/>
                    <a:ext cx="409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499" name="Group 222"/>
                <p:cNvGrpSpPr/>
                <p:nvPr/>
              </p:nvGrpSpPr>
              <p:grpSpPr bwMode="auto">
                <a:xfrm>
                  <a:off x="2397" y="2821"/>
                  <a:ext cx="410" cy="403"/>
                  <a:chOff x="2397" y="2821"/>
                  <a:chExt cx="410" cy="403"/>
                </a:xfrm>
              </p:grpSpPr>
              <p:sp>
                <p:nvSpPr>
                  <p:cNvPr id="60503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2440" y="2821"/>
                    <a:ext cx="324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4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2821"/>
                    <a:ext cx="410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500" name="Group 225"/>
                <p:cNvGrpSpPr/>
                <p:nvPr/>
              </p:nvGrpSpPr>
              <p:grpSpPr bwMode="auto">
                <a:xfrm>
                  <a:off x="2807" y="2821"/>
                  <a:ext cx="401" cy="403"/>
                  <a:chOff x="2807" y="2821"/>
                  <a:chExt cx="401" cy="403"/>
                </a:xfrm>
              </p:grpSpPr>
              <p:sp>
                <p:nvSpPr>
                  <p:cNvPr id="60501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2850" y="2821"/>
                    <a:ext cx="31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/>
                  <a:lstStyle/>
                  <a:p>
                    <a:pPr algn="just"/>
                    <a:r>
                      <a:rPr kumimoji="1" lang="zh-CN" altLang="en-US" sz="1200">
                        <a:latin typeface="Times New Roman" panose="02020603050405020304" pitchFamily="18" charset="0"/>
                      </a:rPr>
                      <a:t> </a:t>
                    </a:r>
                    <a:endParaRPr kumimoji="1" lang="zh-CN" altLang="en-US" sz="1200">
                      <a:latin typeface="Arial" panose="020B0604020202020204" pitchFamily="34" charset="0"/>
                    </a:endParaRPr>
                  </a:p>
                  <a:p>
                    <a:pPr algn="just" eaLnBrk="0" hangingPunct="0"/>
                    <a:endParaRPr kumimoji="1" lang="zh-CN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502" name="Rectangle 227"/>
                  <p:cNvSpPr>
                    <a:spLocks noChangeArrowheads="1"/>
                  </p:cNvSpPr>
                  <p:nvPr/>
                </p:nvSpPr>
                <p:spPr bwMode="auto">
                  <a:xfrm>
                    <a:off x="2807" y="2821"/>
                    <a:ext cx="401" cy="403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60436" name="Rectangle 228"/>
              <p:cNvSpPr>
                <a:spLocks noChangeArrowheads="1"/>
              </p:cNvSpPr>
              <p:nvPr/>
            </p:nvSpPr>
            <p:spPr bwMode="auto">
              <a:xfrm>
                <a:off x="-3" y="-3"/>
                <a:ext cx="3214" cy="3230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60429" name="Oval 229"/>
            <p:cNvSpPr>
              <a:spLocks noChangeArrowheads="1"/>
            </p:cNvSpPr>
            <p:nvPr/>
          </p:nvSpPr>
          <p:spPr bwMode="auto">
            <a:xfrm>
              <a:off x="708660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Oval 230"/>
            <p:cNvSpPr>
              <a:spLocks noChangeArrowheads="1"/>
            </p:cNvSpPr>
            <p:nvPr/>
          </p:nvSpPr>
          <p:spPr bwMode="auto">
            <a:xfrm>
              <a:off x="7543800" y="914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0431" name="Object 231"/>
            <p:cNvGraphicFramePr>
              <a:graphicFrameLocks noChangeAspect="1"/>
            </p:cNvGraphicFramePr>
            <p:nvPr/>
          </p:nvGraphicFramePr>
          <p:xfrm>
            <a:off x="7010400" y="1219200"/>
            <a:ext cx="754063" cy="293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736" name="Equation" r:id="rId9" imgW="584200" imgH="228600" progId="Equation.DSMT4">
                    <p:embed/>
                  </p:oleObj>
                </mc:Choice>
                <mc:Fallback>
                  <p:oleObj name="Equation" r:id="rId9" imgW="584200" imgH="228600" progId="Equation.DSMT4">
                    <p:embed/>
                    <p:pic>
                      <p:nvPicPr>
                        <p:cNvPr id="0" name="图片 877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0400" y="1219200"/>
                          <a:ext cx="754063" cy="293688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32" name="Object 232"/>
            <p:cNvGraphicFramePr>
              <a:graphicFrameLocks noChangeAspect="1"/>
            </p:cNvGraphicFramePr>
            <p:nvPr/>
          </p:nvGraphicFramePr>
          <p:xfrm>
            <a:off x="7239000" y="609600"/>
            <a:ext cx="741363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737" name="Equation" r:id="rId11" imgW="609600" imgH="228600" progId="Equation.DSMT4">
                    <p:embed/>
                  </p:oleObj>
                </mc:Choice>
                <mc:Fallback>
                  <p:oleObj name="Equation" r:id="rId11" imgW="609600" imgH="228600" progId="Equation.DSMT4">
                    <p:embed/>
                    <p:pic>
                      <p:nvPicPr>
                        <p:cNvPr id="0" name="图片 877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9000" y="609600"/>
                          <a:ext cx="741363" cy="27622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33" name="Oval 233"/>
            <p:cNvSpPr>
              <a:spLocks noChangeArrowheads="1"/>
            </p:cNvSpPr>
            <p:nvPr/>
          </p:nvSpPr>
          <p:spPr bwMode="auto">
            <a:xfrm>
              <a:off x="8229600" y="304800"/>
              <a:ext cx="76200" cy="76200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4" name="Oval 234"/>
            <p:cNvSpPr>
              <a:spLocks noChangeArrowheads="1"/>
            </p:cNvSpPr>
            <p:nvPr/>
          </p:nvSpPr>
          <p:spPr bwMode="auto">
            <a:xfrm>
              <a:off x="8458200" y="533400"/>
              <a:ext cx="76200" cy="76200"/>
            </a:xfrm>
            <a:prstGeom prst="ellipse">
              <a:avLst/>
            </a:prstGeom>
            <a:solidFill>
              <a:srgbClr val="008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0426" name="Slide Number Placeholder 209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ECFFA5-9AC5-48FA-860C-EDCF12B56C5A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479550" y="1981200"/>
            <a:ext cx="7626350" cy="4419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en-US" sz="2800" dirty="0"/>
              <a:t>提取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划分图像为若干</a:t>
            </a:r>
            <a:r>
              <a:rPr lang="zh-CN" altLang="en-US" sz="2400" dirty="0"/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×</a:t>
            </a:r>
            <a:r>
              <a:rPr lang="zh-CN" altLang="en-US" sz="2400" dirty="0"/>
              <a:t>8小</a:t>
            </a:r>
            <a:r>
              <a:rPr lang="zh-CN" altLang="en-US" sz="2400" dirty="0">
                <a:latin typeface="宋体" panose="02010600030101010101" pitchFamily="2" charset="-122"/>
              </a:rPr>
              <a:t>块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对各个小块分别做二维</a:t>
            </a:r>
            <a:r>
              <a:rPr lang="en-US" altLang="zh-CN" sz="2400" dirty="0">
                <a:latin typeface="宋体" panose="02010600030101010101" pitchFamily="2" charset="-122"/>
              </a:rPr>
              <a:t>DCT</a:t>
            </a:r>
            <a:r>
              <a:rPr lang="zh-CN" altLang="en-US" sz="2400" dirty="0">
                <a:latin typeface="宋体" panose="02010600030101010101" pitchFamily="2" charset="-122"/>
              </a:rPr>
              <a:t>变换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比较每一块中约定位置的</a:t>
            </a:r>
            <a:r>
              <a:rPr lang="en-US" altLang="zh-CN" sz="2400" dirty="0"/>
              <a:t>DCT</a:t>
            </a:r>
            <a:r>
              <a:rPr lang="zh-CN" altLang="en-US" sz="2400" dirty="0">
                <a:latin typeface="宋体" panose="02010600030101010101" pitchFamily="2" charset="-122"/>
              </a:rPr>
              <a:t>系数值，根据其相对大小，得到隐藏信息的比特串，从而恢复出秘密信息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800" dirty="0"/>
              <a:t>特点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不需原始图像</a:t>
            </a:r>
            <a:endParaRPr lang="zh-CN" altLang="en-US" sz="2400" dirty="0"/>
          </a:p>
          <a:p>
            <a:pPr eaLnBrk="1" hangingPunct="1">
              <a:defRPr/>
            </a:pPr>
            <a:r>
              <a:rPr lang="zh-CN" altLang="en-US" sz="2800" dirty="0"/>
              <a:t>注意</a:t>
            </a:r>
            <a:endParaRPr lang="en-US" altLang="zh-CN" sz="2800" dirty="0"/>
          </a:p>
          <a:p>
            <a:pPr lvl="1" eaLnBrk="1" hangingPunct="1">
              <a:defRPr/>
            </a:pPr>
            <a:r>
              <a:rPr lang="zh-CN" altLang="en-US" sz="2400" dirty="0"/>
              <a:t>如果选定位置的两个系数相差太大，则对图像影响较大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增大差距，代表无效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应选择相近的值，如中频系数</a:t>
            </a:r>
            <a:endParaRPr lang="zh-CN" altLang="en-US" sz="2400" dirty="0"/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F1AEE0-B404-4264-ADEC-E9E2F292B82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ldLvl="5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扩展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利用</a:t>
            </a:r>
            <a:r>
              <a:rPr lang="en-US" altLang="zh-CN" sz="2400" dirty="0">
                <a:latin typeface="宋体" panose="02010600030101010101" pitchFamily="2" charset="-122"/>
              </a:rPr>
              <a:t>DCT</a:t>
            </a:r>
            <a:r>
              <a:rPr lang="zh-CN" altLang="en-US" sz="2400" dirty="0">
                <a:latin typeface="宋体" panose="02010600030101010101" pitchFamily="2" charset="-122"/>
              </a:rPr>
              <a:t>中频系数中的三个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系数之间的相对关系隐藏信息</a:t>
            </a:r>
            <a:r>
              <a:rPr lang="zh-CN" altLang="en-US" sz="2400" dirty="0"/>
              <a:t> 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sz="2800" dirty="0"/>
              <a:t>嵌入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/>
              <a:t>选择三个位置             ，           ，</a:t>
            </a:r>
            <a:endParaRPr lang="zh-CN" altLang="en-US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嵌入1：令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嵌入0：令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如果数据不符，则修改这三个系数值，使得它们满足上述关系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选择参数</a:t>
            </a:r>
            <a:r>
              <a:rPr lang="en-US" altLang="zh-CN" sz="2400" dirty="0"/>
              <a:t>D</a:t>
            </a:r>
            <a:r>
              <a:rPr lang="zh-CN" altLang="en-US" sz="2400" dirty="0">
                <a:latin typeface="宋体" panose="02010600030101010101" pitchFamily="2" charset="-122"/>
              </a:rPr>
              <a:t>要权衡算法的稳健性和透明性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CN" sz="2400" dirty="0"/>
              <a:t>D</a:t>
            </a:r>
            <a:r>
              <a:rPr lang="zh-CN" altLang="en-US" sz="2400" dirty="0">
                <a:latin typeface="宋体" panose="02010600030101010101" pitchFamily="2" charset="-122"/>
              </a:rPr>
              <a:t>越大，隐藏算法对于图像处理就越健壮，但是对图像的改动就越大，越容易引起察觉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grpSp>
        <p:nvGrpSpPr>
          <p:cNvPr id="2" name="Group 14"/>
          <p:cNvGrpSpPr/>
          <p:nvPr/>
        </p:nvGrpSpPr>
        <p:grpSpPr bwMode="auto">
          <a:xfrm>
            <a:off x="4214813" y="3252788"/>
            <a:ext cx="3357562" cy="390525"/>
            <a:chOff x="4214810" y="3181351"/>
            <a:chExt cx="3357586" cy="390525"/>
          </a:xfrm>
        </p:grpSpPr>
        <p:graphicFrame>
          <p:nvGraphicFramePr>
            <p:cNvPr id="62561" name="Object 8"/>
            <p:cNvGraphicFramePr>
              <a:graphicFrameLocks noChangeAspect="1"/>
            </p:cNvGraphicFramePr>
            <p:nvPr/>
          </p:nvGraphicFramePr>
          <p:xfrm>
            <a:off x="4214810" y="3198813"/>
            <a:ext cx="741603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1" name="Equation" r:id="rId1" imgW="457200" imgH="215900" progId="Equation.DSMT4">
                    <p:embed/>
                  </p:oleObj>
                </mc:Choice>
                <mc:Fallback>
                  <p:oleObj name="Equation" r:id="rId1" imgW="457200" imgH="215900" progId="Equation.DSMT4">
                    <p:embed/>
                    <p:pic>
                      <p:nvPicPr>
                        <p:cNvPr id="0" name="图片 888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4810" y="3198813"/>
                          <a:ext cx="741603" cy="35560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62" name="Object 9"/>
            <p:cNvGraphicFramePr>
              <a:graphicFrameLocks noChangeAspect="1"/>
            </p:cNvGraphicFramePr>
            <p:nvPr/>
          </p:nvGraphicFramePr>
          <p:xfrm>
            <a:off x="5500694" y="3186108"/>
            <a:ext cx="857272" cy="38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2" name="Equation" r:id="rId3" imgW="494665" imgH="215900" progId="Equation.DSMT4">
                    <p:embed/>
                  </p:oleObj>
                </mc:Choice>
                <mc:Fallback>
                  <p:oleObj name="Equation" r:id="rId3" imgW="494665" imgH="215900" progId="Equation.DSMT4">
                    <p:embed/>
                    <p:pic>
                      <p:nvPicPr>
                        <p:cNvPr id="0" name="图片 888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0694" y="3186108"/>
                          <a:ext cx="857272" cy="38101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63" name="Object 10"/>
            <p:cNvGraphicFramePr>
              <a:graphicFrameLocks noChangeAspect="1"/>
            </p:cNvGraphicFramePr>
            <p:nvPr/>
          </p:nvGraphicFramePr>
          <p:xfrm>
            <a:off x="6807221" y="3181351"/>
            <a:ext cx="765175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3" name="Equation" r:id="rId5" imgW="457200" imgH="228600" progId="Equation.DSMT4">
                    <p:embed/>
                  </p:oleObj>
                </mc:Choice>
                <mc:Fallback>
                  <p:oleObj name="Equation" r:id="rId5" imgW="457200" imgH="228600" progId="Equation.DSMT4">
                    <p:embed/>
                    <p:pic>
                      <p:nvPicPr>
                        <p:cNvPr id="0" name="图片 888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7221" y="3181351"/>
                          <a:ext cx="765175" cy="39052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/>
          <p:nvPr/>
        </p:nvGrpSpPr>
        <p:grpSpPr bwMode="auto">
          <a:xfrm>
            <a:off x="3705225" y="3676650"/>
            <a:ext cx="4867275" cy="323850"/>
            <a:chOff x="3705254" y="3571876"/>
            <a:chExt cx="4867274" cy="323312"/>
          </a:xfrm>
        </p:grpSpPr>
        <p:graphicFrame>
          <p:nvGraphicFramePr>
            <p:cNvPr id="62559" name="Object 11"/>
            <p:cNvGraphicFramePr>
              <a:graphicFrameLocks noChangeAspect="1"/>
            </p:cNvGraphicFramePr>
            <p:nvPr/>
          </p:nvGraphicFramePr>
          <p:xfrm>
            <a:off x="3705254" y="3579813"/>
            <a:ext cx="2224068" cy="315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4" name="Equation" r:id="rId7" imgW="1612900" imgH="228600" progId="Equation.DSMT4">
                    <p:embed/>
                  </p:oleObj>
                </mc:Choice>
                <mc:Fallback>
                  <p:oleObj name="Equation" r:id="rId7" imgW="1612900" imgH="228600" progId="Equation.DSMT4">
                    <p:embed/>
                    <p:pic>
                      <p:nvPicPr>
                        <p:cNvPr id="0" name="图片 888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254" y="3579813"/>
                          <a:ext cx="2224068" cy="315375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60" name="Object 12"/>
            <p:cNvGraphicFramePr>
              <a:graphicFrameLocks noChangeAspect="1"/>
            </p:cNvGraphicFramePr>
            <p:nvPr/>
          </p:nvGraphicFramePr>
          <p:xfrm>
            <a:off x="6257954" y="3571876"/>
            <a:ext cx="2314574" cy="32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5" name="Equation" r:id="rId9" imgW="1651000" imgH="228600" progId="Equation.DSMT4">
                    <p:embed/>
                  </p:oleObj>
                </mc:Choice>
                <mc:Fallback>
                  <p:oleObj name="Equation" r:id="rId9" imgW="1651000" imgH="228600" progId="Equation.DSMT4">
                    <p:embed/>
                    <p:pic>
                      <p:nvPicPr>
                        <p:cNvPr id="0" name="图片 888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7954" y="3571876"/>
                          <a:ext cx="2314574" cy="321104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/>
          <p:nvPr/>
        </p:nvGrpSpPr>
        <p:grpSpPr bwMode="auto">
          <a:xfrm>
            <a:off x="3705225" y="4033838"/>
            <a:ext cx="4876800" cy="323850"/>
            <a:chOff x="3705254" y="3929066"/>
            <a:chExt cx="4876800" cy="323850"/>
          </a:xfrm>
        </p:grpSpPr>
        <p:graphicFrame>
          <p:nvGraphicFramePr>
            <p:cNvPr id="62557" name="Object 13"/>
            <p:cNvGraphicFramePr>
              <a:graphicFrameLocks noChangeAspect="1"/>
            </p:cNvGraphicFramePr>
            <p:nvPr/>
          </p:nvGraphicFramePr>
          <p:xfrm>
            <a:off x="3705254" y="3933829"/>
            <a:ext cx="220980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6" name="Equation" r:id="rId11" imgW="1612900" imgH="228600" progId="Equation.DSMT4">
                    <p:embed/>
                  </p:oleObj>
                </mc:Choice>
                <mc:Fallback>
                  <p:oleObj name="Equation" r:id="rId11" imgW="1612900" imgH="228600" progId="Equation.DSMT4">
                    <p:embed/>
                    <p:pic>
                      <p:nvPicPr>
                        <p:cNvPr id="0" name="图片 888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5254" y="3933829"/>
                          <a:ext cx="2209800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558" name="Object 14"/>
            <p:cNvGraphicFramePr>
              <a:graphicFrameLocks noChangeAspect="1"/>
            </p:cNvGraphicFramePr>
            <p:nvPr/>
          </p:nvGraphicFramePr>
          <p:xfrm>
            <a:off x="6257954" y="3929066"/>
            <a:ext cx="232410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8877" name="Equation" r:id="rId13" imgW="1638300" imgH="228600" progId="Equation.DSMT4">
                    <p:embed/>
                  </p:oleObj>
                </mc:Choice>
                <mc:Fallback>
                  <p:oleObj name="Equation" r:id="rId13" imgW="1638300" imgH="228600" progId="Equation.DSMT4">
                    <p:embed/>
                    <p:pic>
                      <p:nvPicPr>
                        <p:cNvPr id="0" name="图片 888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7954" y="3929066"/>
                          <a:ext cx="2324100" cy="323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426" name="Group 106"/>
          <p:cNvGraphicFramePr>
            <a:graphicFrameLocks noGrp="1"/>
          </p:cNvGraphicFramePr>
          <p:nvPr/>
        </p:nvGraphicFramePr>
        <p:xfrm>
          <a:off x="5857875" y="1571625"/>
          <a:ext cx="1643065" cy="1706576"/>
        </p:xfrm>
        <a:graphic>
          <a:graphicData uri="http://schemas.openxmlformats.org/drawingml/2006/table">
            <a:tbl>
              <a:tblPr/>
              <a:tblGrid>
                <a:gridCol w="204516"/>
                <a:gridCol w="206251"/>
                <a:gridCol w="223582"/>
                <a:gridCol w="187184"/>
                <a:gridCol w="204516"/>
                <a:gridCol w="209717"/>
                <a:gridCol w="202783"/>
                <a:gridCol w="204516"/>
              </a:tblGrid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18000" marR="18000"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555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6DB725E-7C7E-4C50-A93B-D911B875DAE0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6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63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ldLvl="5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zh-CN" altLang="en-US"/>
              <a:t>如果需要做的修改太大，则放弃该块，将其标识为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无效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endParaRPr lang="zh-CN" altLang="en-US"/>
          </a:p>
          <a:p>
            <a:pPr algn="just" eaLnBrk="1" hangingPunct="1"/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无效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/>
              <a:t>：对这三个系数做小量的修改使得它们满足下面条件之一：</a:t>
            </a:r>
            <a:endParaRPr lang="zh-CN" altLang="en-US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zh-CN" altLang="en-US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/>
              <a:t>  或</a:t>
            </a:r>
            <a:endParaRPr lang="zh-CN" altLang="en-US"/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2438400" y="3929063"/>
          <a:ext cx="4419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2" name="Equation" r:id="rId1" imgW="2095500" imgH="228600" progId="Equation.DSMT4">
                  <p:embed/>
                </p:oleObj>
              </mc:Choice>
              <mc:Fallback>
                <p:oleObj name="Equation" r:id="rId1" imgW="2095500" imgH="228600" progId="Equation.DSMT4">
                  <p:embed/>
                  <p:pic>
                    <p:nvPicPr>
                      <p:cNvPr id="0" name="图片 89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929063"/>
                        <a:ext cx="4419600" cy="482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2514600" y="5072063"/>
          <a:ext cx="4419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23" name="Equation" r:id="rId3" imgW="2095500" imgH="228600" progId="Equation.DSMT4">
                  <p:embed/>
                </p:oleObj>
              </mc:Choice>
              <mc:Fallback>
                <p:oleObj name="Equation" r:id="rId3" imgW="2095500" imgH="228600" progId="Equation.DSMT4">
                  <p:embed/>
                  <p:pic>
                    <p:nvPicPr>
                      <p:cNvPr id="0" name="图片 89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072063"/>
                        <a:ext cx="4419600" cy="4826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3BA966-D3E6-45CF-90B7-536D805DFF2E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实例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某算法策略为，选</a:t>
                </a:r>
                <a:r>
                  <a:rPr lang="en-US" altLang="zh-CN" dirty="0"/>
                  <a:t>D=0.5</a:t>
                </a:r>
                <a:r>
                  <a:rPr lang="zh-CN" altLang="en-US" dirty="0"/>
                  <a:t>，系数调整为均值和均值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CN" dirty="0"/>
                  <a:t>D</a:t>
                </a:r>
                <a:r>
                  <a:rPr lang="zh-CN" altLang="en-US" dirty="0"/>
                  <a:t>。即，令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为嵌入水印前系数，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为嵌入水印后系数。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则若嵌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，调整为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若嵌入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，则反之：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实例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则根据该算法策略，下面几组系数，嵌入水印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后，变为什么？</a:t>
                </a:r>
                <a:r>
                  <a:rPr lang="en-US" altLang="zh-CN" dirty="0"/>
                  <a:t>(D=0.5)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(1.3, 1.7, 1.5),(1.8,1.9,1.4),(1.8,2.3,2.2)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第一组均值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zh-CN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所以，第一组系数调整为</a:t>
                </a:r>
                <a:r>
                  <a:rPr lang="en-US" altLang="zh-CN" dirty="0">
                    <a:sym typeface="Wingdings" panose="05000000000000000000" pitchFamily="2" charset="2"/>
                  </a:rPr>
                  <a:t>(2.0,1.5,2.0)</a:t>
                </a: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8" b="-2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实例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则根据该算法策略，下面几组系数，嵌入水印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后，变为什么？</a:t>
                </a:r>
                <a:r>
                  <a:rPr lang="en-US" altLang="zh-CN" dirty="0"/>
                  <a:t>(D=0.5)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(1.3, 1.7, 1.5),(1.8,1.9,1.4),(1.8,2.3,2.2)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类似地：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第二组均值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zh-CN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所以，第二组系数调整为</a:t>
                </a:r>
                <a:r>
                  <a:rPr lang="en-US" altLang="zh-CN" dirty="0">
                    <a:sym typeface="Wingdings" panose="05000000000000000000" pitchFamily="2" charset="2"/>
                  </a:rPr>
                  <a:t>(1.2,1.7,1.2)</a:t>
                </a: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8" b="-2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实例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则根据该算法策略，下面几组系数，嵌入水印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后，变为什么？</a:t>
                </a:r>
                <a:r>
                  <a:rPr lang="en-US" altLang="zh-CN" dirty="0"/>
                  <a:t>(D=0.5)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(1.3, 1.7, 1.5),(1.8,1.9,1.4),(1.8,2.3,2.2)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类似地：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第三组均值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lang="en-US" altLang="zh-CN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所以，第三组系数调整为</a:t>
                </a:r>
                <a:r>
                  <a:rPr lang="en-US" altLang="zh-CN" dirty="0">
                    <a:sym typeface="Wingdings" panose="05000000000000000000" pitchFamily="2" charset="2"/>
                  </a:rPr>
                  <a:t>(2.6,2.1,2.6)</a:t>
                </a: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8" b="-2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提取</a:t>
            </a:r>
            <a:endParaRPr lang="zh-CN" altLang="en-US"/>
          </a:p>
          <a:p>
            <a:pPr lvl="1" eaLnBrk="1" hangingPunct="1"/>
            <a:r>
              <a:rPr lang="zh-CN" altLang="en-US">
                <a:latin typeface="宋体" panose="02010600030101010101" pitchFamily="2" charset="-122"/>
              </a:rPr>
              <a:t>对图像进行</a:t>
            </a:r>
            <a:r>
              <a:rPr lang="en-US" altLang="zh-CN"/>
              <a:t>DCT</a:t>
            </a:r>
            <a:r>
              <a:rPr lang="zh-CN" altLang="en-US">
                <a:latin typeface="宋体" panose="02010600030101010101" pitchFamily="2" charset="-122"/>
              </a:rPr>
              <a:t>变换，比较每一块相应三个位置的系数，从它们之间的关系，可以判断隐藏的是信息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1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宋体" panose="02010600030101010101" pitchFamily="2" charset="-122"/>
              </a:rPr>
              <a:t>、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0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宋体" panose="02010600030101010101" pitchFamily="2" charset="-122"/>
              </a:rPr>
              <a:t>还是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>
                <a:latin typeface="宋体" panose="02010600030101010101" pitchFamily="2" charset="-122"/>
              </a:rPr>
              <a:t>无效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宋体" panose="02010600030101010101" pitchFamily="2" charset="-122"/>
              </a:rPr>
              <a:t>块，这样就可以恢复秘密信息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9EBBEC-6E34-42BA-A81A-FF968B623D6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ym typeface="+mn-ea"/>
              </a:rPr>
              <a:t>DCT</a:t>
            </a:r>
            <a:r>
              <a:rPr lang="zh-CN" altLang="en-US" dirty="0">
                <a:sym typeface="+mn-ea"/>
              </a:rPr>
              <a:t>水印算法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基于系数比较的方法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实例：</a:t>
            </a:r>
            <a:endParaRPr lang="zh-CN" altLang="en-US" dirty="0"/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现有一幅采用系数比较法嵌入水印的图像，已知其系数为：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latin typeface="宋体" panose="02010600030101010101" pitchFamily="2" charset="-122"/>
              </a:rPr>
              <a:t>(1.7,1.0,1.8), (2.7,2.2,2.7), (1.7,2.5,1.8), (1.7,1.8,1.9)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则可从中提取的信息为</a:t>
            </a:r>
            <a:r>
              <a:rPr lang="en-US" altLang="zh-CN" dirty="0">
                <a:latin typeface="宋体" panose="02010600030101010101" pitchFamily="2" charset="-122"/>
              </a:rPr>
              <a:t>?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宋体" panose="02010600030101010101" pitchFamily="2" charset="-122"/>
              </a:rPr>
              <a:t>解：</a:t>
            </a:r>
            <a:endParaRPr lang="en-US" altLang="zh-CN" dirty="0">
              <a:latin typeface="宋体" panose="02010600030101010101" pitchFamily="2" charset="-122"/>
            </a:endParaRPr>
          </a:p>
          <a:p>
            <a:pPr lvl="2" eaLnBrk="1" hangingPunct="1"/>
            <a:r>
              <a:rPr lang="zh-CN" altLang="en-US" dirty="0"/>
              <a:t>由</a:t>
            </a:r>
            <a:r>
              <a:rPr lang="en-US" altLang="zh-CN" dirty="0"/>
              <a:t>1.7&gt;1.0,1.8&gt;1.0</a:t>
            </a:r>
            <a:r>
              <a:rPr lang="zh-CN" altLang="en-US" dirty="0"/>
              <a:t>可知，这组系数嵌入的信息是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由</a:t>
            </a:r>
            <a:r>
              <a:rPr lang="en-US" altLang="zh-CN" dirty="0"/>
              <a:t>2.7&gt;2.2,2.7&gt;2.2</a:t>
            </a:r>
            <a:r>
              <a:rPr lang="zh-CN" altLang="en-US" dirty="0"/>
              <a:t>可知，这组系数嵌入的信息是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endParaRPr lang="zh-CN" altLang="en-US" dirty="0"/>
          </a:p>
          <a:p>
            <a:pPr lvl="2" eaLnBrk="1" hangingPunct="1"/>
            <a:r>
              <a:rPr lang="zh-CN" altLang="en-US" dirty="0"/>
              <a:t>由</a:t>
            </a:r>
            <a:r>
              <a:rPr lang="en-US" altLang="zh-CN" dirty="0"/>
              <a:t>1.7&lt;2.5,1.8&lt;2.5</a:t>
            </a:r>
            <a:r>
              <a:rPr lang="zh-CN" altLang="en-US" dirty="0"/>
              <a:t>可知，这组系数嵌入的信息是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由</a:t>
            </a:r>
            <a:r>
              <a:rPr lang="en-US" altLang="zh-CN" dirty="0"/>
              <a:t>1.7&lt;1.8&lt;1.9</a:t>
            </a:r>
            <a:r>
              <a:rPr lang="zh-CN" altLang="en-US" dirty="0"/>
              <a:t>可知，这组系数无效，没有嵌入；</a:t>
            </a:r>
            <a:endParaRPr lang="zh-CN" altLang="en-US" dirty="0"/>
          </a:p>
          <a:p>
            <a:pPr lvl="2" eaLnBrk="1" hangingPunct="1"/>
            <a:endParaRPr lang="zh-CN" altLang="en-US" dirty="0"/>
          </a:p>
          <a:p>
            <a:pPr lvl="2" eaLnBrk="1" hangingPunct="1"/>
            <a:endParaRPr lang="zh-CN" altLang="en-US" dirty="0"/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09EBBEC-6E34-42BA-A81A-FF968B623D64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第三次实验：</a:t>
            </a:r>
            <a:r>
              <a:rPr dirty="0">
                <a:sym typeface="+mn-ea"/>
              </a:rPr>
              <a:t>图像水印算法实验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、参考实验指导书中的算法完成实验，最高</a:t>
            </a:r>
            <a:r>
              <a:rPr lang="en-US" altLang="zh-CN" sz="2400" dirty="0"/>
              <a:t>85</a:t>
            </a:r>
            <a:r>
              <a:rPr lang="zh-CN" altLang="en-US" sz="2400" dirty="0"/>
              <a:t>分。</a:t>
            </a:r>
            <a:endParaRPr lang="zh-CN" altLang="en-US" sz="2400" dirty="0"/>
          </a:p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查阅文档同组同学设计一个有一定的鲁棒性的图像水印算法，可以采用DCT或者DWT变换的方式嵌入水印信息。DCT算法不能采用和本实验指导书完全相同的方法，必须采用其他DCT算法。大家在查找资料时候使用robust+watermarking查找英文资料。或者使用鲁棒性图像水印查找中文资料。不管是中文资料还是英文资料都可以。只有水印算法具有一定的鲁棒性即可。查找资料的方法为登录libcon.bupt.edu.cn，查找中文或者英文资料。或者通过网页的形式查找也可。</a:t>
            </a:r>
            <a:endParaRPr lang="zh-CN" alt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第三次实验：</a:t>
            </a:r>
            <a:r>
              <a:rPr dirty="0">
                <a:sym typeface="+mn-ea"/>
              </a:rPr>
              <a:t>图像水印算法实验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/>
              <a:t>5、必须在实验报告中表明参考文献，也就是在【实验原理】中要求必须用这句话：本实验为本人和同组同学通过调研学习参考文献完成，未采用指导教师在实验指导书中所提供的算法，参考文献为：（这句话采用黑体加粗）。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参考文献可以是论文，也可以是网页，也可以是github上的开源源代码，按照参考文献的规范格式撰写即可。参考文献的格式必须规范，不规范扣1分。</a:t>
            </a:r>
            <a:endParaRPr lang="zh-CN" alt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算法设计</a:t>
            </a:r>
            <a:endParaRPr lang="en-US" altLang="zh-CN" dirty="0"/>
          </a:p>
          <a:p>
            <a:pPr lvl="1"/>
            <a:r>
              <a:rPr lang="zh-CN" altLang="en-US" dirty="0"/>
              <a:t>强稳健水印算法往往牺牲计算复杂度、透明性、容量等性能指标，来获取稳健性。</a:t>
            </a:r>
            <a:endParaRPr lang="en-US" altLang="zh-CN" dirty="0"/>
          </a:p>
          <a:p>
            <a:pPr lvl="1"/>
            <a:r>
              <a:rPr lang="zh-CN" altLang="en-US" dirty="0"/>
              <a:t>强稳健水印算法通常针对使用场景设计，不要求一个算法能够抵抗所有攻击。</a:t>
            </a:r>
            <a:endParaRPr lang="en-US" altLang="zh-CN" dirty="0"/>
          </a:p>
          <a:p>
            <a:r>
              <a:rPr lang="zh-CN" altLang="en-US" dirty="0"/>
              <a:t>典型攻击</a:t>
            </a:r>
            <a:endParaRPr lang="en-US" altLang="zh-CN" dirty="0"/>
          </a:p>
          <a:p>
            <a:pPr lvl="1"/>
            <a:r>
              <a:rPr lang="zh-CN" altLang="en-US" dirty="0"/>
              <a:t>压缩编码、几何攻击、数模</a:t>
            </a:r>
            <a:r>
              <a:rPr lang="en-US" altLang="zh-CN" dirty="0"/>
              <a:t>/</a:t>
            </a:r>
            <a:r>
              <a:rPr lang="zh-CN" altLang="en-US" dirty="0"/>
              <a:t>模数变换等。</a:t>
            </a:r>
            <a:endParaRPr lang="en-US" altLang="zh-CN" dirty="0"/>
          </a:p>
          <a:p>
            <a:r>
              <a:rPr lang="zh-CN" altLang="en-US" dirty="0"/>
              <a:t>强稳健算法典型策略</a:t>
            </a:r>
            <a:endParaRPr lang="en-US" altLang="zh-CN" dirty="0"/>
          </a:p>
          <a:p>
            <a:pPr lvl="1"/>
            <a:r>
              <a:rPr lang="zh-CN" altLang="en-US" dirty="0"/>
              <a:t>冗余嵌入、扩频、重要感知区域嵌入等。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77B935-AD41-4C27-B619-6997D5A8AAC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ransition>
    <p:dissolve/>
  </p:transition>
</p:sld>
</file>

<file path=ppt/tags/tag1.xml><?xml version="1.0" encoding="utf-8"?>
<p:tagLst xmlns:p="http://schemas.openxmlformats.org/presentationml/2006/main">
  <p:tag name="COMMONDATA" val="eyJoZGlkIjoiZmFjMDI4OTdkZTQyNDUxMWExMzgzMzc4ODA2NDYxOTYifQ=="/>
</p:tagLst>
</file>

<file path=ppt/theme/theme1.xml><?xml version="1.0" encoding="utf-8"?>
<a:theme xmlns:a="http://schemas.openxmlformats.org/drawingml/2006/main" name="Green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自定义-华文楷体">
      <a:majorFont>
        <a:latin typeface="Calibri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</Template>
  <TotalTime>0</TotalTime>
  <Words>4504</Words>
  <Application>WPS 演示</Application>
  <PresentationFormat>全屏显示(4:3)</PresentationFormat>
  <Paragraphs>461</Paragraphs>
  <Slides>24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</vt:i4>
      </vt:variant>
      <vt:variant>
        <vt:lpstr>幻灯片标题</vt:lpstr>
      </vt:variant>
      <vt:variant>
        <vt:i4>24</vt:i4>
      </vt:variant>
    </vt:vector>
  </HeadingPairs>
  <TitlesOfParts>
    <vt:vector size="51" baseType="lpstr">
      <vt:lpstr>Arial</vt:lpstr>
      <vt:lpstr>宋体</vt:lpstr>
      <vt:lpstr>Wingdings</vt:lpstr>
      <vt:lpstr>Tahoma</vt:lpstr>
      <vt:lpstr>Verdana</vt:lpstr>
      <vt:lpstr>Calibri</vt:lpstr>
      <vt:lpstr>华文楷体</vt:lpstr>
      <vt:lpstr>Times New Roman</vt:lpstr>
      <vt:lpstr>Cambria Math</vt:lpstr>
      <vt:lpstr>微软雅黑</vt:lpstr>
      <vt:lpstr>Arial Unicode MS</vt:lpstr>
      <vt:lpstr>Green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第二次实验报告的问题</vt:lpstr>
      <vt:lpstr>图像水印新用途-对抗攻击</vt:lpstr>
      <vt:lpstr>图像水印新用途</vt:lpstr>
      <vt:lpstr>授课计划</vt:lpstr>
      <vt:lpstr>图像信息隐藏与水印技术分类</vt:lpstr>
      <vt:lpstr>DCT水印</vt:lpstr>
      <vt:lpstr>图像DCT水印算法</vt:lpstr>
      <vt:lpstr>ZigZag扫描</vt:lpstr>
      <vt:lpstr>DCT系数变换</vt:lpstr>
      <vt:lpstr>DCT系数的特点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DCT水印算法 ——基于系数比较的方法</vt:lpstr>
      <vt:lpstr>第三次实验：图像水印算法实验</vt:lpstr>
      <vt:lpstr>第三次实验：图像水印算法实验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</dc:creator>
  <cp:lastModifiedBy>leimin</cp:lastModifiedBy>
  <cp:revision>738</cp:revision>
  <cp:lastPrinted>2012-05-15T10:17:00Z</cp:lastPrinted>
  <dcterms:created xsi:type="dcterms:W3CDTF">2113-01-01T00:00:00Z</dcterms:created>
  <dcterms:modified xsi:type="dcterms:W3CDTF">2024-11-22T01:37:05Z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37C1661DC04B41ADBA1025B3A26F8E39</vt:lpwstr>
  </property>
</Properties>
</file>