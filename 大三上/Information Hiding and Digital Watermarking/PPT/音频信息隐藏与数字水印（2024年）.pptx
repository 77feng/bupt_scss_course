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4" r:id="rId3"/>
  </p:sldMasterIdLst>
  <p:notesMasterIdLst>
    <p:notesMasterId r:id="rId5"/>
  </p:notesMasterIdLst>
  <p:handoutMasterIdLst>
    <p:handoutMasterId r:id="rId43"/>
  </p:handoutMasterIdLst>
  <p:sldIdLst>
    <p:sldId id="516" r:id="rId4"/>
    <p:sldId id="517" r:id="rId6"/>
    <p:sldId id="544" r:id="rId7"/>
    <p:sldId id="519" r:id="rId8"/>
    <p:sldId id="521" r:id="rId9"/>
    <p:sldId id="617" r:id="rId10"/>
    <p:sldId id="619" r:id="rId11"/>
    <p:sldId id="620" r:id="rId12"/>
    <p:sldId id="537" r:id="rId13"/>
    <p:sldId id="538" r:id="rId14"/>
    <p:sldId id="539" r:id="rId15"/>
    <p:sldId id="540" r:id="rId16"/>
    <p:sldId id="541" r:id="rId17"/>
    <p:sldId id="580" r:id="rId18"/>
    <p:sldId id="622" r:id="rId19"/>
    <p:sldId id="623" r:id="rId20"/>
    <p:sldId id="624" r:id="rId21"/>
    <p:sldId id="625" r:id="rId22"/>
    <p:sldId id="627" r:id="rId23"/>
    <p:sldId id="628" r:id="rId24"/>
    <p:sldId id="595" r:id="rId25"/>
    <p:sldId id="629" r:id="rId26"/>
    <p:sldId id="630" r:id="rId27"/>
    <p:sldId id="631" r:id="rId28"/>
    <p:sldId id="632" r:id="rId29"/>
    <p:sldId id="633" r:id="rId30"/>
    <p:sldId id="520" r:id="rId31"/>
    <p:sldId id="570" r:id="rId32"/>
    <p:sldId id="576" r:id="rId33"/>
    <p:sldId id="575" r:id="rId34"/>
    <p:sldId id="577" r:id="rId35"/>
    <p:sldId id="578" r:id="rId36"/>
    <p:sldId id="634" r:id="rId37"/>
    <p:sldId id="635" r:id="rId38"/>
    <p:sldId id="636" r:id="rId39"/>
    <p:sldId id="594" r:id="rId40"/>
    <p:sldId id="637" r:id="rId41"/>
    <p:sldId id="638" r:id="rId42"/>
  </p:sldIdLst>
  <p:sldSz cx="12192000" cy="6858000"/>
  <p:notesSz cx="6858000" cy="9144000"/>
  <p:custDataLst>
    <p:tags r:id="rId48"/>
  </p:custDataLst>
  <p:defaultTextStyle>
    <a:defPPr>
      <a:defRPr lang="en-US"/>
    </a:defPPr>
    <a:lvl1pPr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4d7a03dd-23eb-4939-9884-88a51f1e7af0}">
          <p14:sldIdLst>
            <p14:sldId id="516"/>
            <p14:sldId id="517"/>
          </p14:sldIdLst>
        </p14:section>
        <p14:section name="音频水印基本原理" id="{79a39019-89ff-40e1-b303-98dc66e1b4c4}">
          <p14:sldIdLst>
            <p14:sldId id="544"/>
          </p14:sldIdLst>
        </p14:section>
        <p14:section name="音频数字水印技术" id="{a026285b-7da0-4b3b-ada5-9d8f291a92d9}">
          <p14:sldIdLst>
            <p14:sldId id="519"/>
            <p14:sldId id="521"/>
            <p14:sldId id="617"/>
            <p14:sldId id="619"/>
            <p14:sldId id="620"/>
            <p14:sldId id="537"/>
            <p14:sldId id="538"/>
            <p14:sldId id="539"/>
            <p14:sldId id="540"/>
            <p14:sldId id="541"/>
            <p14:sldId id="580"/>
            <p14:sldId id="622"/>
            <p14:sldId id="623"/>
            <p14:sldId id="624"/>
            <p14:sldId id="625"/>
            <p14:sldId id="627"/>
            <p14:sldId id="628"/>
            <p14:sldId id="595"/>
            <p14:sldId id="629"/>
            <p14:sldId id="630"/>
            <p14:sldId id="631"/>
            <p14:sldId id="632"/>
            <p14:sldId id="633"/>
          </p14:sldIdLst>
        </p14:section>
        <p14:section name="基于MP3的音频信息隐藏算法" id="{5cf25028-9123-40c6-8027-83c0936f7c7e}">
          <p14:sldIdLst>
            <p14:sldId id="520"/>
            <p14:sldId id="570"/>
            <p14:sldId id="576"/>
            <p14:sldId id="575"/>
            <p14:sldId id="577"/>
            <p14:sldId id="578"/>
            <p14:sldId id="634"/>
            <p14:sldId id="635"/>
          </p14:sldIdLst>
        </p14:section>
        <p14:section name="本章小结" id="{67a69625-abb6-432b-b035-1afb3935b88e}">
          <p14:sldIdLst>
            <p14:sldId id="636"/>
          </p14:sldIdLst>
        </p14:section>
        <p14:section name="课后习题" id="{4dcde3f6-2a25-43ab-b8d0-9432f344458c}">
          <p14:sldIdLst>
            <p14:sldId id="594"/>
            <p14:sldId id="637"/>
            <p14:sldId id="638"/>
          </p14:sldIdLst>
        </p14:section>
      </p14:sectionLst>
    </p:ext>
    <p:ext uri="{EFAFB233-063F-42B5-8137-9DF3F51BA10A}">
      <p15:sldGuideLst xmlns:p15="http://schemas.microsoft.com/office/powerpoint/2012/main">
        <p15:guide id="1" orient="horz" pos="2160" userDrawn="1">
          <p15:clr>
            <a:srgbClr val="A4A3A4"/>
          </p15:clr>
        </p15:guide>
        <p15:guide id="2" pos="3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23B8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83947" autoAdjust="0"/>
  </p:normalViewPr>
  <p:slideViewPr>
    <p:cSldViewPr showGuides="1">
      <p:cViewPr varScale="1">
        <p:scale>
          <a:sx n="95" d="100"/>
          <a:sy n="95" d="100"/>
        </p:scale>
        <p:origin x="2064" y="96"/>
      </p:cViewPr>
      <p:guideLst>
        <p:guide orient="horz" pos="2160"/>
        <p:guide pos="3875"/>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gs" Target="tags/tag34.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ahoma" panose="020B0604030504040204" pitchFamily="34" charset="0"/>
              </a:defRPr>
            </a:lvl1pPr>
          </a:lstStyle>
          <a:p>
            <a:pPr>
              <a:defRPr/>
            </a:pPr>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Tahoma" panose="020B0604030504040204" pitchFamily="34" charset="0"/>
              </a:defRPr>
            </a:lvl1pPr>
          </a:lstStyle>
          <a:p>
            <a:pPr>
              <a:defRPr/>
            </a:pPr>
            <a:fld id="{A0CBEA2B-55CB-444E-8C14-01FCEF1C0C27}" type="datetimeFigureOut">
              <a:rPr lang="zh-CN" altLang="en-US"/>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Tahoma" panose="020B0604030504040204" pitchFamily="34" charset="0"/>
              </a:defRPr>
            </a:lvl1pPr>
          </a:lstStyle>
          <a:p>
            <a:pPr>
              <a:defRPr/>
            </a:pPr>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Tahoma" panose="020B0604030504040204" pitchFamily="34" charset="0"/>
              </a:defRPr>
            </a:lvl1pPr>
          </a:lstStyle>
          <a:p>
            <a:pPr>
              <a:defRPr/>
            </a:pPr>
            <a:fld id="{9CF732A0-FD72-4F18-9967-2A769C1E34A0}" type="slidenum">
              <a:rPr lang="zh-CN" altLang="en-US"/>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charset="0"/>
              </a:defRPr>
            </a:lvl1pPr>
          </a:lstStyle>
          <a:p>
            <a:pPr>
              <a:defRPr/>
            </a:pPr>
            <a:endParaRPr lang="zh-CN" altLang="en-US"/>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charset="0"/>
              </a:defRPr>
            </a:lvl1pPr>
          </a:lstStyle>
          <a:p>
            <a:pPr>
              <a:defRPr/>
            </a:pPr>
            <a:endParaRPr lang="en-US" altLang="zh-CN"/>
          </a:p>
        </p:txBody>
      </p:sp>
      <p:sp>
        <p:nvSpPr>
          <p:cNvPr id="1187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charset="0"/>
              </a:defRPr>
            </a:lvl1pPr>
          </a:lstStyle>
          <a:p>
            <a:pPr>
              <a:defRPr/>
            </a:pPr>
            <a:endParaRPr lang="en-US" altLang="zh-CN"/>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charset="0"/>
              </a:defRPr>
            </a:lvl1pPr>
          </a:lstStyle>
          <a:p>
            <a:pPr>
              <a:defRPr/>
            </a:pPr>
            <a:fld id="{61B10B8B-75E5-4FA7-ABF7-9D38EBCA7580}" type="slidenum">
              <a:rPr lang="zh-CN" altLang="en-US"/>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B10B8B-75E5-4FA7-ABF7-9D38EBCA7580}"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charset="0"/>
              </a:rPr>
            </a:fld>
            <a:endParaRPr lang="en-US" altLang="zh-CN" sz="1200">
              <a:latin typeface="Times New Roman" panose="0202060305040502030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p:sp>
      <p:sp>
        <p:nvSpPr>
          <p:cNvPr id="150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charset="0"/>
              </a:rPr>
              <a:t>合成分析可以忽略，其与编码的关系太密切，学生可能不容易掌握。</a:t>
            </a:r>
            <a:endParaRPr lang="zh-CN" altLang="en-US">
              <a:latin typeface="Times New Roman" panose="02020603050405020304" charset="0"/>
            </a:endParaRPr>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CFE3F00-D6D9-4445-A328-DC2A94BE190D}" type="slidenum">
              <a:rPr lang="zh-CN" altLang="en-US" smtClean="0">
                <a:latin typeface="Times New Roman" panose="02020603050405020304" charset="0"/>
              </a:rPr>
            </a:fld>
            <a:endParaRPr lang="en-US" altLang="zh-CN">
              <a:latin typeface="Times New Roman" panose="0202060305040502030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p:sp>
      <p:sp>
        <p:nvSpPr>
          <p:cNvPr id="150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charset="0"/>
              </a:rPr>
              <a:t>合成分析可以忽略，其与编码的关系太密切，学生可能不容易掌握。</a:t>
            </a:r>
            <a:endParaRPr lang="zh-CN" altLang="en-US">
              <a:latin typeface="Times New Roman" panose="02020603050405020304" charset="0"/>
            </a:endParaRPr>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CFE3F00-D6D9-4445-A328-DC2A94BE190D}" type="slidenum">
              <a:rPr lang="zh-CN" altLang="en-US" smtClean="0">
                <a:latin typeface="Times New Roman" panose="02020603050405020304" charset="0"/>
              </a:rPr>
            </a:fld>
            <a:endParaRPr lang="en-US" altLang="zh-CN">
              <a:latin typeface="Times New Roman" panose="0202060305040502030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p:sp>
      <p:sp>
        <p:nvSpPr>
          <p:cNvPr id="150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charset="0"/>
              </a:rPr>
              <a:t>合成分析可以忽略，其与编码的关系太密切，学生可能不容易掌握。</a:t>
            </a:r>
            <a:endParaRPr lang="zh-CN" altLang="en-US">
              <a:latin typeface="Times New Roman" panose="02020603050405020304" charset="0"/>
            </a:endParaRPr>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CFE3F00-D6D9-4445-A328-DC2A94BE190D}" type="slidenum">
              <a:rPr lang="zh-CN" altLang="en-US" smtClean="0">
                <a:latin typeface="Times New Roman" panose="02020603050405020304" charset="0"/>
              </a:rPr>
            </a:fld>
            <a:endParaRPr lang="en-US" altLang="zh-CN">
              <a:latin typeface="Times New Roman" panose="0202060305040502030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p:sp>
      <p:sp>
        <p:nvSpPr>
          <p:cNvPr id="150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charset="0"/>
              </a:rPr>
              <a:t>合成分析可以忽略，其与编码的关系太密切，学生可能不容易掌握。</a:t>
            </a:r>
            <a:endParaRPr lang="zh-CN" altLang="en-US">
              <a:latin typeface="Times New Roman" panose="02020603050405020304" charset="0"/>
            </a:endParaRPr>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CFE3F00-D6D9-4445-A328-DC2A94BE190D}" type="slidenum">
              <a:rPr lang="zh-CN" altLang="en-US" smtClean="0">
                <a:latin typeface="Times New Roman" panose="02020603050405020304" charset="0"/>
              </a:rPr>
            </a:fld>
            <a:endParaRPr lang="en-US" altLang="zh-CN">
              <a:latin typeface="Times New Roman" panose="0202060305040502030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6" name="AutoShape 4"/>
            <p:cNvSpPr>
              <a:spLocks noChangeArrowheads="1"/>
            </p:cNvSpPr>
            <p:nvPr/>
          </p:nvSpPr>
          <p:spPr bwMode="auto">
            <a:xfrm>
              <a:off x="-1584" y="864"/>
              <a:ext cx="2304" cy="2304"/>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sp>
          <p:nvSpPr>
            <p:cNvPr id="7" name="AutoShape 5"/>
            <p:cNvSpPr>
              <a:spLocks noChangeArrowheads="1"/>
            </p:cNvSpPr>
            <p:nvPr/>
          </p:nvSpPr>
          <p:spPr bwMode="auto">
            <a:xfrm>
              <a:off x="-2030" y="192"/>
              <a:ext cx="2544" cy="2544"/>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EC43BFCD-8F89-47D3-B29E-816612B42B7F}" type="datetime1">
              <a:rPr lang="zh-CN" altLang="en-US" smtClean="0"/>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6E94FF7A-43C6-4B2F-811E-F2916892681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C6F392C4-A329-4B4D-B1B6-CEF7A96B0782}"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5C9EA724-7D17-4A08-9484-4E45636D590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9342E230-26D3-4435-90C0-A4C2ECA9E101}"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0CD267AD-9A17-4DD8-B8DF-B7C1D120C8B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7F9187DC-96A9-4895-8E46-19079E517B4B}"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D6549C3D-8216-4E5A-9F66-1E4EE9A8607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6D945B6F-8DB8-4B4C-8D43-631B5A46B877}" type="datetime1">
              <a:rPr lang="zh-CN" altLang="en-US" smtClean="0"/>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7C4A81D7-E4CC-4D37-979F-54CC8E893C07}"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F0940BB9-39BD-4785-99F7-FB638E140C55}" type="datetime1">
              <a:rPr lang="zh-CN" altLang="en-US" smtClean="0"/>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1BA23361-B6EB-4CE4-A073-22B21AA57A8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EED5364A-DFAF-42F2-9026-F31783A592D2}" type="datetime1">
              <a:rPr lang="zh-CN" altLang="en-US" smtClean="0"/>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B5D1542E-9C66-4ED1-9B20-42699BFEA58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74E9B06F-B3D8-4447-AB50-342837018DE3}"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92F51B1C-0E59-4F55-BFC0-B432F83D903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BEBA24C0-C78A-4AE3-8203-7CAE6FFDEB3D}"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4146ACE7-D2D2-4096-A15F-A7234A93C8B4}"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D408C9C8-49DC-48A9-81DF-DBE48BD896E9}"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2426DB1-6487-4E99-B535-8377EF5A16D3}"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43ACA2F5-9032-4DEC-9205-D727EA11EEB4}"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4078A836-2C3A-4D7D-8302-713EA470DAFA}"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E63F4ED8-99FE-40AB-8838-B57B045801DC}"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A2A20444-B9C2-4C0D-9B3A-16648B1A74A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AF56A0DD-DFD0-44F7-8E5F-57261E225726}" type="datetime1">
              <a:rPr lang="zh-CN" altLang="en-US" smtClean="0"/>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9CC5D0EB-8362-4D99-96FC-8829AE83760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0"/>
            <a:ext cx="10058400" cy="1431925"/>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1422400" y="1981200"/>
            <a:ext cx="10058400" cy="4114800"/>
          </a:xfrm>
        </p:spPr>
        <p:txBody>
          <a:bodyPr/>
          <a:lstStyle/>
          <a:p>
            <a:pPr lvl="0"/>
            <a:endParaRPr lang="zh-CN" altLang="en-US" noProof="0"/>
          </a:p>
        </p:txBody>
      </p:sp>
      <p:sp>
        <p:nvSpPr>
          <p:cNvPr id="4" name="Rectangle 8"/>
          <p:cNvSpPr>
            <a:spLocks noGrp="1" noChangeArrowheads="1"/>
          </p:cNvSpPr>
          <p:nvPr>
            <p:ph type="dt" sz="half" idx="10"/>
          </p:nvPr>
        </p:nvSpPr>
        <p:spPr/>
        <p:txBody>
          <a:bodyPr/>
          <a:lstStyle>
            <a:lvl1pPr>
              <a:defRPr/>
            </a:lvl1pPr>
          </a:lstStyle>
          <a:p>
            <a:pPr>
              <a:defRPr/>
            </a:pPr>
            <a:fld id="{42B26DE6-04C1-4EC4-B362-0D691B97A118}"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ADC8BAEC-A5B6-4A34-820C-E8C90CA13CE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校徽右上">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6" name="AutoShape 4"/>
            <p:cNvSpPr>
              <a:spLocks noChangeArrowheads="1"/>
            </p:cNvSpPr>
            <p:nvPr/>
          </p:nvSpPr>
          <p:spPr bwMode="auto">
            <a:xfrm>
              <a:off x="-1584" y="864"/>
              <a:ext cx="2304" cy="2304"/>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sp>
          <p:nvSpPr>
            <p:cNvPr id="7" name="AutoShape 5"/>
            <p:cNvSpPr>
              <a:spLocks noChangeArrowheads="1"/>
            </p:cNvSpPr>
            <p:nvPr/>
          </p:nvSpPr>
          <p:spPr bwMode="auto">
            <a:xfrm>
              <a:off x="-2030" y="192"/>
              <a:ext cx="2544" cy="2544"/>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EC43BFCD-8F89-47D3-B29E-816612B42B7F}" type="datetime1">
              <a:rPr lang="zh-CN" altLang="en-US" smtClean="0"/>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6E94FF7A-43C6-4B2F-811E-F2916892681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C6F392C4-A329-4B4D-B1B6-CEF7A96B0782}"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5C9EA724-7D17-4A08-9484-4E45636D590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9342E230-26D3-4435-90C0-A4C2ECA9E101}"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0CD267AD-9A17-4DD8-B8DF-B7C1D120C8B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7F9187DC-96A9-4895-8E46-19079E517B4B}"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D6549C3D-8216-4E5A-9F66-1E4EE9A8607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6D945B6F-8DB8-4B4C-8D43-631B5A46B877}" type="datetime1">
              <a:rPr lang="zh-CN" altLang="en-US" smtClean="0"/>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7C4A81D7-E4CC-4D37-979F-54CC8E893C07}"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F0940BB9-39BD-4785-99F7-FB638E140C55}" type="datetime1">
              <a:rPr lang="zh-CN" altLang="en-US" smtClean="0"/>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1BA23361-B6EB-4CE4-A073-22B21AA57A8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EED5364A-DFAF-42F2-9026-F31783A592D2}" type="datetime1">
              <a:rPr lang="zh-CN" altLang="en-US" smtClean="0"/>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B5D1542E-9C66-4ED1-9B20-42699BFEA58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74E9B06F-B3D8-4447-AB50-342837018DE3}"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92F51B1C-0E59-4F55-BFC0-B432F83D903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BEBA24C0-C78A-4AE3-8203-7CAE6FFDEB3D}"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4146ACE7-D2D2-4096-A15F-A7234A93C8B4}"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D408C9C8-49DC-48A9-81DF-DBE48BD896E9}"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2426DB1-6487-4E99-B535-8377EF5A16D3}"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43ACA2F5-9032-4DEC-9205-D727EA11EEB4}"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4078A836-2C3A-4D7D-8302-713EA470DAFA}"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E63F4ED8-99FE-40AB-8838-B57B045801DC}"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A2A20444-B9C2-4C0D-9B3A-16648B1A74A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AF56A0DD-DFD0-44F7-8E5F-57261E225726}" type="datetime1">
              <a:rPr lang="zh-CN" altLang="en-US" smtClean="0"/>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9CC5D0EB-8362-4D99-96FC-8829AE83760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0"/>
            <a:ext cx="10058400" cy="1431925"/>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1422400" y="1981200"/>
            <a:ext cx="10058400" cy="4114800"/>
          </a:xfrm>
        </p:spPr>
        <p:txBody>
          <a:bodyPr/>
          <a:lstStyle/>
          <a:p>
            <a:pPr lvl="0"/>
            <a:endParaRPr lang="zh-CN" altLang="en-US" noProof="0"/>
          </a:p>
        </p:txBody>
      </p:sp>
      <p:sp>
        <p:nvSpPr>
          <p:cNvPr id="4" name="Rectangle 8"/>
          <p:cNvSpPr>
            <a:spLocks noGrp="1" noChangeArrowheads="1"/>
          </p:cNvSpPr>
          <p:nvPr>
            <p:ph type="dt" sz="half" idx="10"/>
          </p:nvPr>
        </p:nvSpPr>
        <p:spPr/>
        <p:txBody>
          <a:bodyPr/>
          <a:lstStyle>
            <a:lvl1pPr>
              <a:defRPr/>
            </a:lvl1pPr>
          </a:lstStyle>
          <a:p>
            <a:pPr>
              <a:defRPr/>
            </a:pPr>
            <a:fld id="{42B26DE6-04C1-4EC4-B362-0D691B97A118}"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ADC8BAEC-A5B6-4A34-820C-E8C90CA13CE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5" Type="http://schemas.openxmlformats.org/officeDocument/2006/relationships/theme" Target="../theme/theme2.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fld id="{D781995E-68D1-4C68-94AE-166B71BE41C9}" type="datetime1">
              <a:rPr lang="zh-CN" altLang="en-US" smtClean="0"/>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a:defRPr sz="1200"/>
            </a:lvl1pPr>
          </a:lstStyle>
          <a:p>
            <a:pPr>
              <a:defRPr/>
            </a:pPr>
            <a:r>
              <a:rPr lang="zh-CN" altLang="en-US"/>
              <a:t>信息隐藏与数字水印</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FD3B2BAC-91D2-4326-8C82-AB1DBE6AA645}"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2pPr>
      <a:lvl3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3pPr>
      <a:lvl4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4pPr>
      <a:lvl5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fld id="{D781995E-68D1-4C68-94AE-166B71BE41C9}" type="datetime1">
              <a:rPr lang="zh-CN" altLang="en-US" smtClean="0"/>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a:defRPr sz="1200"/>
            </a:lvl1pPr>
          </a:lstStyle>
          <a:p>
            <a:pPr>
              <a:defRPr/>
            </a:pPr>
            <a:r>
              <a:rPr lang="zh-CN" altLang="en-US"/>
              <a:t>信息隐藏与数字水印</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FD3B2BAC-91D2-4326-8C82-AB1DBE6AA645}" type="slidenum">
              <a:rPr lang="zh-CN" altLang="en-US"/>
            </a:fld>
            <a:endParaRPr lang="en-US" altLang="zh-CN"/>
          </a:p>
        </p:txBody>
      </p:sp>
      <p:grpSp>
        <p:nvGrpSpPr>
          <p:cNvPr id="7" name="组合 6"/>
          <p:cNvGrpSpPr/>
          <p:nvPr userDrawn="1"/>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2pPr>
      <a:lvl3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3pPr>
      <a:lvl4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4pPr>
      <a:lvl5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9" Type="http://schemas.openxmlformats.org/officeDocument/2006/relationships/slideLayout" Target="../slideLayouts/slideLayout2.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5.svg"/><Relationship Id="rId19" Type="http://schemas.openxmlformats.org/officeDocument/2006/relationships/tags" Target="../tags/tag16.xml"/><Relationship Id="rId18" Type="http://schemas.openxmlformats.org/officeDocument/2006/relationships/image" Target="../media/image6.jpeg"/><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wmf"/><Relationship Id="rId3" Type="http://schemas.openxmlformats.org/officeDocument/2006/relationships/oleObject" Target="../embeddings/oleObject5.bin"/><Relationship Id="rId2" Type="http://schemas.openxmlformats.org/officeDocument/2006/relationships/image" Target="../media/image10.wmf"/><Relationship Id="rId10" Type="http://schemas.openxmlformats.org/officeDocument/2006/relationships/notesSlide" Target="../notesSlides/notesSlide7.xml"/><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7.bin"/><Relationship Id="rId2" Type="http://schemas.openxmlformats.org/officeDocument/2006/relationships/image" Target="../media/image10.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18.wmf"/><Relationship Id="rId3" Type="http://schemas.openxmlformats.org/officeDocument/2006/relationships/oleObject" Target="../embeddings/oleObject10.bin"/><Relationship Id="rId2" Type="http://schemas.openxmlformats.org/officeDocument/2006/relationships/image" Target="../media/image17.wmf"/><Relationship Id="rId1"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image" Target="../media/image20.emf"/></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8.vml"/><Relationship Id="rId5" Type="http://schemas.openxmlformats.org/officeDocument/2006/relationships/slideLayout" Target="../slideLayouts/slideLayout17.xml"/><Relationship Id="rId4" Type="http://schemas.openxmlformats.org/officeDocument/2006/relationships/image" Target="../media/image22.wmf"/><Relationship Id="rId3" Type="http://schemas.openxmlformats.org/officeDocument/2006/relationships/oleObject" Target="../embeddings/oleObject13.bin"/><Relationship Id="rId2" Type="http://schemas.openxmlformats.org/officeDocument/2006/relationships/image" Target="../media/image21.wmf"/><Relationship Id="rId1" Type="http://schemas.openxmlformats.org/officeDocument/2006/relationships/oleObject" Target="../embeddings/oleObject12.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rotWithShape="1">
          <a:blip r:embed="rId1" cstate="print">
            <a:extLst>
              <a:ext uri="{BEBA8EAE-BF5A-486C-A8C5-ECC9F3942E4B}">
                <a14:imgProps xmlns:a14="http://schemas.microsoft.com/office/drawing/2010/main">
                  <a14:imgLayer r:embed="rId2">
                    <a14:imgEffect>
                      <a14:artisticWatercolorSponge/>
                    </a14:imgEffect>
                  </a14:imgLayer>
                </a14:imgProps>
              </a:ext>
              <a:ext uri="{28A0092B-C50C-407E-A947-70E740481C1C}">
                <a14:useLocalDpi xmlns:a14="http://schemas.microsoft.com/office/drawing/2010/main" val="0"/>
              </a:ext>
            </a:extLst>
          </a:blip>
          <a:srcRect t="4982" r="14708" b="10728"/>
          <a:stretch>
            <a:fillRect/>
          </a:stretch>
        </p:blipFill>
        <p:spPr>
          <a:xfrm>
            <a:off x="1793132" y="1"/>
            <a:ext cx="10398868" cy="6857999"/>
          </a:xfrm>
          <a:prstGeom prst="rect">
            <a:avLst/>
          </a:prstGeom>
        </p:spPr>
      </p:pic>
      <p:sp>
        <p:nvSpPr>
          <p:cNvPr id="28" name="矩形 27"/>
          <p:cNvSpPr/>
          <p:nvPr/>
        </p:nvSpPr>
        <p:spPr>
          <a:xfrm>
            <a:off x="1" y="0"/>
            <a:ext cx="6524428" cy="6858000"/>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平行四边形 45"/>
          <p:cNvSpPr/>
          <p:nvPr/>
        </p:nvSpPr>
        <p:spPr>
          <a:xfrm>
            <a:off x="3829260" y="-1"/>
            <a:ext cx="5496125" cy="6857999"/>
          </a:xfrm>
          <a:prstGeom prst="parallelogram">
            <a:avLst>
              <a:gd name="adj" fmla="val 48894"/>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088833" y="2515197"/>
            <a:ext cx="2198451" cy="2198451"/>
            <a:chOff x="5437761" y="2329774"/>
            <a:chExt cx="2198451" cy="2198451"/>
          </a:xfrm>
        </p:grpSpPr>
        <p:sp>
          <p:nvSpPr>
            <p:cNvPr id="30" name="椭圆 29"/>
            <p:cNvSpPr/>
            <p:nvPr/>
          </p:nvSpPr>
          <p:spPr>
            <a:xfrm>
              <a:off x="5437761" y="2329774"/>
              <a:ext cx="2198451" cy="219845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5307" y="2417320"/>
              <a:ext cx="2023358" cy="2023358"/>
            </a:xfrm>
            <a:prstGeom prst="rect">
              <a:avLst/>
            </a:prstGeom>
          </p:spPr>
        </p:pic>
      </p:grpSp>
      <p:sp>
        <p:nvSpPr>
          <p:cNvPr id="33" name="文本框 32"/>
          <p:cNvSpPr txBox="1"/>
          <p:nvPr/>
        </p:nvSpPr>
        <p:spPr>
          <a:xfrm>
            <a:off x="1068705" y="1700530"/>
            <a:ext cx="5761990" cy="2306955"/>
          </a:xfrm>
          <a:prstGeom prst="rect">
            <a:avLst/>
          </a:prstGeom>
          <a:noFill/>
        </p:spPr>
        <p:txBody>
          <a:bodyPr wrap="square" rtlCol="0">
            <a:spAutoFit/>
          </a:bodyPr>
          <a:lstStyle/>
          <a:p>
            <a:r>
              <a:rPr lang="zh-CN" altLang="en-US" sz="7200" dirty="0">
                <a:solidFill>
                  <a:schemeClr val="bg1"/>
                </a:solidFill>
                <a:latin typeface="楷体" panose="02010609060101010101" pitchFamily="49" charset="-122"/>
                <a:ea typeface="楷体" panose="02010609060101010101" pitchFamily="49" charset="-122"/>
              </a:rPr>
              <a:t>音频信息隐藏与</a:t>
            </a:r>
            <a:r>
              <a:rPr lang="zh-CN" altLang="en-US" sz="7200" dirty="0">
                <a:solidFill>
                  <a:schemeClr val="bg1"/>
                </a:solidFill>
                <a:latin typeface="楷体" panose="02010609060101010101" pitchFamily="49" charset="-122"/>
                <a:ea typeface="楷体" panose="02010609060101010101" pitchFamily="49" charset="-122"/>
              </a:rPr>
              <a:t>数字水印</a:t>
            </a:r>
            <a:endParaRPr lang="zh-CN" altLang="en-US" sz="7200" dirty="0">
              <a:solidFill>
                <a:schemeClr val="bg1"/>
              </a:solidFill>
              <a:latin typeface="楷体" panose="02010609060101010101" pitchFamily="49" charset="-122"/>
              <a:ea typeface="楷体" panose="02010609060101010101" pitchFamily="49" charset="-122"/>
            </a:endParaRPr>
          </a:p>
        </p:txBody>
      </p:sp>
      <p:cxnSp>
        <p:nvCxnSpPr>
          <p:cNvPr id="35" name="直接连接符 34"/>
          <p:cNvCxnSpPr/>
          <p:nvPr/>
        </p:nvCxnSpPr>
        <p:spPr>
          <a:xfrm flipV="1">
            <a:off x="745453" y="1595814"/>
            <a:ext cx="0" cy="249514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3153" y="4390073"/>
            <a:ext cx="5431155" cy="1608455"/>
          </a:xfrm>
          <a:prstGeom prst="rect">
            <a:avLst/>
          </a:prstGeom>
          <a:noFill/>
        </p:spPr>
        <p:txBody>
          <a:bodyPr wrap="none" rtlCol="0">
            <a:spAutoFit/>
          </a:bodyPr>
          <a:lstStyle>
            <a:defPPr>
              <a:defRPr lang="zh-CN"/>
            </a:defPPr>
            <a:lvl1pPr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9pPr>
          </a:lstStyle>
          <a:p>
            <a:pPr algn="ctr">
              <a:spcBef>
                <a:spcPct val="20000"/>
              </a:spcBef>
              <a:buClr>
                <a:srgbClr val="006666"/>
              </a:buClr>
              <a:buSzPct val="70000"/>
              <a:buFont typeface="Wingdings" panose="05000000000000000000" pitchFamily="2" charset="2"/>
            </a:pPr>
            <a:r>
              <a:rPr lang="zh-CN" altLang="en-US" sz="2900">
                <a:solidFill>
                  <a:srgbClr val="FFFFFF"/>
                </a:solidFill>
                <a:latin typeface="Times New Roman" panose="02020603050405020304" charset="0"/>
                <a:ea typeface="华文楷体" panose="02010600040101010101" pitchFamily="2" charset="-122"/>
                <a:sym typeface="华文楷体" panose="02010600040101010101" pitchFamily="2" charset="-122"/>
              </a:rPr>
              <a:t>雷敏</a:t>
            </a:r>
            <a:endParaRPr lang="zh-CN" altLang="en-US">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charset="0"/>
                <a:ea typeface="华文楷体" panose="02010600040101010101" pitchFamily="2" charset="-122"/>
                <a:sym typeface="华文楷体" panose="02010600040101010101" pitchFamily="2" charset="-122"/>
              </a:rPr>
              <a:t>北京邮电大学 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charset="0"/>
                <a:ea typeface="华文楷体" panose="02010600040101010101" pitchFamily="2" charset="-122"/>
                <a:sym typeface="华文楷体" panose="02010600040101010101" pitchFamily="2" charset="-122"/>
              </a:rPr>
              <a:t>leimin@bupt.edu.cn</a:t>
            </a:r>
            <a:endParaRPr lang="en-US" altLang="zh-CN" sz="2900" b="1" dirty="0">
              <a:solidFill>
                <a:srgbClr val="FFFFFF"/>
              </a:solidFill>
              <a:latin typeface="Times New Roman" panose="02020603050405020304" charset="0"/>
              <a:ea typeface="华文楷体" panose="02010600040101010101" pitchFamily="2" charset="-122"/>
              <a:sym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35816" y="-663036"/>
            <a:ext cx="5680997" cy="8189088"/>
            <a:chOff x="6922851" y="0"/>
            <a:chExt cx="5269149" cy="6858000"/>
          </a:xfrm>
          <a:solidFill>
            <a:srgbClr val="003399"/>
          </a:solidFill>
        </p:grpSpPr>
        <p:sp>
          <p:nvSpPr>
            <p:cNvPr id="8" name="椭圆 7"/>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形 2" descr="太阳系"/>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69272" y="1621197"/>
            <a:ext cx="6154721" cy="6154721"/>
          </a:xfrm>
          <a:prstGeom prst="rect">
            <a:avLst/>
          </a:prstGeom>
        </p:spPr>
      </p:pic>
      <p:grpSp>
        <p:nvGrpSpPr>
          <p:cNvPr id="44" name="组合 43"/>
          <p:cNvGrpSpPr/>
          <p:nvPr>
            <p:custDataLst>
              <p:tags r:id="rId3"/>
            </p:custDataLst>
          </p:nvPr>
        </p:nvGrpSpPr>
        <p:grpSpPr>
          <a:xfrm>
            <a:off x="552546" y="1132682"/>
            <a:ext cx="7192010" cy="769161"/>
            <a:chOff x="2424136" y="1811320"/>
            <a:chExt cx="7192010" cy="769161"/>
          </a:xfrm>
        </p:grpSpPr>
        <p:grpSp>
          <p:nvGrpSpPr>
            <p:cNvPr id="24" name="组合 23"/>
            <p:cNvGrpSpPr/>
            <p:nvPr/>
          </p:nvGrpSpPr>
          <p:grpSpPr>
            <a:xfrm>
              <a:off x="2424136" y="1811320"/>
              <a:ext cx="6779902" cy="769161"/>
              <a:chOff x="2629986" y="1459214"/>
              <a:chExt cx="8597473" cy="975360"/>
            </a:xfrm>
          </p:grpSpPr>
          <p:grpSp>
            <p:nvGrpSpPr>
              <p:cNvPr id="13" name="组合 12"/>
              <p:cNvGrpSpPr/>
              <p:nvPr/>
            </p:nvGrpSpPr>
            <p:grpSpPr>
              <a:xfrm>
                <a:off x="2629986" y="1459214"/>
                <a:ext cx="8597473" cy="975360"/>
                <a:chOff x="1166287" y="1249680"/>
                <a:chExt cx="8597473" cy="975360"/>
              </a:xfrm>
              <a:solidFill>
                <a:srgbClr val="003399"/>
              </a:solidFill>
            </p:grpSpPr>
            <p:sp>
              <p:nvSpPr>
                <p:cNvPr id="11" name="椭圆 10"/>
                <p:cNvSpPr/>
                <p:nvPr>
                  <p:custDataLst>
                    <p:tags r:id="rId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custDataLst>
                  <p:tags r:id="rId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1</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0" name="文本框 39"/>
            <p:cNvSpPr txBox="1"/>
            <p:nvPr>
              <p:custDataLst>
                <p:tags r:id="rId7"/>
              </p:custDataLst>
            </p:nvPr>
          </p:nvSpPr>
          <p:spPr>
            <a:xfrm>
              <a:off x="3038816" y="1850690"/>
              <a:ext cx="657733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音频水印基本原理</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45" name="组合 44"/>
          <p:cNvGrpSpPr/>
          <p:nvPr>
            <p:custDataLst>
              <p:tags r:id="rId8"/>
            </p:custDataLst>
          </p:nvPr>
        </p:nvGrpSpPr>
        <p:grpSpPr>
          <a:xfrm>
            <a:off x="552546" y="2264428"/>
            <a:ext cx="7364730" cy="768985"/>
            <a:chOff x="2424136" y="1811320"/>
            <a:chExt cx="7364730" cy="769161"/>
          </a:xfrm>
        </p:grpSpPr>
        <p:grpSp>
          <p:nvGrpSpPr>
            <p:cNvPr id="46" name="组合 45"/>
            <p:cNvGrpSpPr/>
            <p:nvPr/>
          </p:nvGrpSpPr>
          <p:grpSpPr>
            <a:xfrm>
              <a:off x="2424136" y="1811320"/>
              <a:ext cx="6779902" cy="769161"/>
              <a:chOff x="2629986" y="1459214"/>
              <a:chExt cx="8597473" cy="975360"/>
            </a:xfrm>
          </p:grpSpPr>
          <p:grpSp>
            <p:nvGrpSpPr>
              <p:cNvPr id="48" name="组合 47"/>
              <p:cNvGrpSpPr/>
              <p:nvPr/>
            </p:nvGrpSpPr>
            <p:grpSpPr>
              <a:xfrm>
                <a:off x="2629986" y="1459214"/>
                <a:ext cx="8597473" cy="975360"/>
                <a:chOff x="1166287" y="1249680"/>
                <a:chExt cx="8597473" cy="975360"/>
              </a:xfrm>
              <a:solidFill>
                <a:srgbClr val="003399"/>
              </a:solidFill>
            </p:grpSpPr>
            <p:sp>
              <p:nvSpPr>
                <p:cNvPr id="50" name="椭圆 49"/>
                <p:cNvSpPr/>
                <p:nvPr>
                  <p:custDataLst>
                    <p:tags r:id="rId9"/>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custDataLst>
                    <p:tags r:id="rId1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p:cNvSpPr/>
              <p:nvPr>
                <p:custDataLst>
                  <p:tags r:id="rId11"/>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2</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7" name="文本框 46"/>
            <p:cNvSpPr txBox="1"/>
            <p:nvPr>
              <p:custDataLst>
                <p:tags r:id="rId12"/>
              </p:custDataLst>
            </p:nvPr>
          </p:nvSpPr>
          <p:spPr>
            <a:xfrm>
              <a:off x="3038816" y="1890695"/>
              <a:ext cx="675005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音频数字水印技术</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59" name="组合 58"/>
          <p:cNvGrpSpPr/>
          <p:nvPr>
            <p:custDataLst>
              <p:tags r:id="rId13"/>
            </p:custDataLst>
          </p:nvPr>
        </p:nvGrpSpPr>
        <p:grpSpPr>
          <a:xfrm>
            <a:off x="552546" y="4527568"/>
            <a:ext cx="6779902" cy="768985"/>
            <a:chOff x="2424136" y="1811320"/>
            <a:chExt cx="6779902" cy="769161"/>
          </a:xfrm>
        </p:grpSpPr>
        <p:grpSp>
          <p:nvGrpSpPr>
            <p:cNvPr id="60" name="组合 59"/>
            <p:cNvGrpSpPr/>
            <p:nvPr/>
          </p:nvGrpSpPr>
          <p:grpSpPr>
            <a:xfrm>
              <a:off x="2424136" y="1811320"/>
              <a:ext cx="6779902" cy="769161"/>
              <a:chOff x="2629986" y="1459214"/>
              <a:chExt cx="8597473" cy="975360"/>
            </a:xfrm>
          </p:grpSpPr>
          <p:grpSp>
            <p:nvGrpSpPr>
              <p:cNvPr id="62" name="组合 61"/>
              <p:cNvGrpSpPr/>
              <p:nvPr/>
            </p:nvGrpSpPr>
            <p:grpSpPr>
              <a:xfrm>
                <a:off x="2629986" y="1459214"/>
                <a:ext cx="8597473" cy="975360"/>
                <a:chOff x="1166287" y="1249680"/>
                <a:chExt cx="8597473" cy="975360"/>
              </a:xfrm>
              <a:solidFill>
                <a:srgbClr val="003399"/>
              </a:solidFill>
            </p:grpSpPr>
            <p:sp>
              <p:nvSpPr>
                <p:cNvPr id="64" name="椭圆 63"/>
                <p:cNvSpPr/>
                <p:nvPr>
                  <p:custDataLst>
                    <p:tags r:id="rId1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custDataLst>
                    <p:tags r:id="rId1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椭圆 62"/>
              <p:cNvSpPr/>
              <p:nvPr>
                <p:custDataLst>
                  <p:tags r:id="rId1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4</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61" name="文本框 60"/>
            <p:cNvSpPr txBox="1"/>
            <p:nvPr>
              <p:custDataLst>
                <p:tags r:id="rId17"/>
              </p:custDataLst>
            </p:nvPr>
          </p:nvSpPr>
          <p:spPr>
            <a:xfrm>
              <a:off x="3193281" y="1860980"/>
              <a:ext cx="259080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本章</a:t>
              </a:r>
              <a:r>
                <a:rPr lang="zh-CN" altLang="en-US" sz="3600" dirty="0">
                  <a:solidFill>
                    <a:schemeClr val="bg1"/>
                  </a:solidFill>
                  <a:latin typeface="黑体" panose="02010609060101010101" pitchFamily="49" charset="-122"/>
                  <a:ea typeface="黑体" panose="02010609060101010101" pitchFamily="49" charset="-122"/>
                </a:rPr>
                <a:t>小结</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6" name="组合 5"/>
          <p:cNvGrpSpPr/>
          <p:nvPr/>
        </p:nvGrpSpPr>
        <p:grpSpPr>
          <a:xfrm>
            <a:off x="7744444" y="0"/>
            <a:ext cx="4447556" cy="6858000"/>
            <a:chOff x="6922851" y="0"/>
            <a:chExt cx="5269149" cy="6858000"/>
          </a:xfrm>
          <a:blipFill dpi="0" rotWithShape="1">
            <a:blip r:embed="rId18">
              <a:extLst>
                <a:ext uri="{28A0092B-C50C-407E-A947-70E740481C1C}">
                  <a14:useLocalDpi xmlns:a14="http://schemas.microsoft.com/office/drawing/2010/main" val="0"/>
                </a:ext>
              </a:extLst>
            </a:blip>
            <a:srcRect/>
            <a:stretch>
              <a:fillRect l="-50000" r="-50000"/>
            </a:stretch>
          </a:blipFill>
        </p:grpSpPr>
        <p:sp>
          <p:nvSpPr>
            <p:cNvPr id="4" name="椭圆 3"/>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flipH="1">
            <a:off x="938039" y="166642"/>
            <a:ext cx="1998316" cy="707886"/>
          </a:xfrm>
          <a:prstGeom prst="rect">
            <a:avLst/>
          </a:prstGeom>
          <a:noFill/>
        </p:spPr>
        <p:txBody>
          <a:bodyPr wrap="square" rtlCol="0">
            <a:spAutoFit/>
          </a:bodyPr>
          <a:lstStyle/>
          <a:p>
            <a:r>
              <a:rPr lang="zh-CN" altLang="en-US" sz="4000" dirty="0">
                <a:solidFill>
                  <a:srgbClr val="003399"/>
                </a:solidFill>
                <a:latin typeface="黑体" panose="02010609060101010101" pitchFamily="49" charset="-122"/>
                <a:ea typeface="黑体" panose="02010609060101010101" pitchFamily="49" charset="-122"/>
              </a:rPr>
              <a:t>目录</a:t>
            </a:r>
            <a:endParaRPr lang="zh-CN" altLang="en-US" sz="4000" dirty="0">
              <a:solidFill>
                <a:srgbClr val="003399"/>
              </a:solidFill>
              <a:latin typeface="黑体" panose="02010609060101010101" pitchFamily="49" charset="-122"/>
              <a:ea typeface="黑体" panose="02010609060101010101" pitchFamily="49" charset="-122"/>
            </a:endParaRPr>
          </a:p>
        </p:txBody>
      </p:sp>
      <p:grpSp>
        <p:nvGrpSpPr>
          <p:cNvPr id="82" name="组合 81"/>
          <p:cNvGrpSpPr/>
          <p:nvPr/>
        </p:nvGrpSpPr>
        <p:grpSpPr>
          <a:xfrm>
            <a:off x="320172" y="274706"/>
            <a:ext cx="540000" cy="540000"/>
            <a:chOff x="328496" y="364706"/>
            <a:chExt cx="540000" cy="540000"/>
          </a:xfrm>
        </p:grpSpPr>
        <p:sp>
          <p:nvSpPr>
            <p:cNvPr id="80" name="矩形 79"/>
            <p:cNvSpPr/>
            <p:nvPr/>
          </p:nvSpPr>
          <p:spPr>
            <a:xfrm>
              <a:off x="508496" y="544706"/>
              <a:ext cx="360000" cy="36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328496" y="364706"/>
              <a:ext cx="180000" cy="18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custDataLst>
              <p:tags r:id="rId19"/>
            </p:custDataLst>
          </p:nvPr>
        </p:nvGrpSpPr>
        <p:grpSpPr>
          <a:xfrm>
            <a:off x="552546" y="3395998"/>
            <a:ext cx="6823075" cy="768985"/>
            <a:chOff x="2424136" y="1811320"/>
            <a:chExt cx="6823075" cy="769161"/>
          </a:xfrm>
        </p:grpSpPr>
        <p:grpSp>
          <p:nvGrpSpPr>
            <p:cNvPr id="10" name="组合 9"/>
            <p:cNvGrpSpPr/>
            <p:nvPr/>
          </p:nvGrpSpPr>
          <p:grpSpPr>
            <a:xfrm>
              <a:off x="2424136" y="1811320"/>
              <a:ext cx="6779902" cy="769161"/>
              <a:chOff x="2629986" y="1459214"/>
              <a:chExt cx="8597473" cy="975360"/>
            </a:xfrm>
          </p:grpSpPr>
          <p:grpSp>
            <p:nvGrpSpPr>
              <p:cNvPr id="15" name="组合 14"/>
              <p:cNvGrpSpPr/>
              <p:nvPr/>
            </p:nvGrpSpPr>
            <p:grpSpPr>
              <a:xfrm>
                <a:off x="2629986" y="1459214"/>
                <a:ext cx="8597473" cy="975360"/>
                <a:chOff x="1166287" y="1249680"/>
                <a:chExt cx="8597473" cy="975360"/>
              </a:xfrm>
              <a:solidFill>
                <a:srgbClr val="003399"/>
              </a:solidFill>
            </p:grpSpPr>
            <p:sp>
              <p:nvSpPr>
                <p:cNvPr id="18" name="矩形 17"/>
                <p:cNvSpPr/>
                <p:nvPr>
                  <p:custDataLst>
                    <p:tags r:id="rId2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21"/>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椭圆 15"/>
              <p:cNvSpPr/>
              <p:nvPr>
                <p:custDataLst>
                  <p:tags r:id="rId22"/>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3</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14" name="文本框 13"/>
            <p:cNvSpPr txBox="1"/>
            <p:nvPr>
              <p:custDataLst>
                <p:tags r:id="rId23"/>
              </p:custDataLst>
            </p:nvPr>
          </p:nvSpPr>
          <p:spPr>
            <a:xfrm>
              <a:off x="3129621" y="1857675"/>
              <a:ext cx="611759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基于MP3的音频信息隐藏算法</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19" name="组合 18"/>
          <p:cNvGrpSpPr/>
          <p:nvPr>
            <p:custDataLst>
              <p:tags r:id="rId24"/>
            </p:custDataLst>
          </p:nvPr>
        </p:nvGrpSpPr>
        <p:grpSpPr>
          <a:xfrm>
            <a:off x="552546" y="5659138"/>
            <a:ext cx="7317740" cy="768985"/>
            <a:chOff x="2424136" y="1811320"/>
            <a:chExt cx="7317740" cy="769161"/>
          </a:xfrm>
        </p:grpSpPr>
        <p:grpSp>
          <p:nvGrpSpPr>
            <p:cNvPr id="20" name="组合 19"/>
            <p:cNvGrpSpPr/>
            <p:nvPr/>
          </p:nvGrpSpPr>
          <p:grpSpPr>
            <a:xfrm>
              <a:off x="2424136" y="1811320"/>
              <a:ext cx="7317740" cy="769161"/>
              <a:chOff x="2629986" y="1459214"/>
              <a:chExt cx="9279496" cy="975360"/>
            </a:xfrm>
          </p:grpSpPr>
          <p:grpSp>
            <p:nvGrpSpPr>
              <p:cNvPr id="21" name="组合 20"/>
              <p:cNvGrpSpPr/>
              <p:nvPr/>
            </p:nvGrpSpPr>
            <p:grpSpPr>
              <a:xfrm>
                <a:off x="2629986" y="1459214"/>
                <a:ext cx="9279496" cy="975360"/>
                <a:chOff x="1166287" y="1249680"/>
                <a:chExt cx="9279496" cy="975360"/>
              </a:xfrm>
              <a:solidFill>
                <a:srgbClr val="003399"/>
              </a:solidFill>
            </p:grpSpPr>
            <p:sp>
              <p:nvSpPr>
                <p:cNvPr id="22" name="椭圆 21"/>
                <p:cNvSpPr/>
                <p:nvPr>
                  <p:custDataLst>
                    <p:tags r:id="rId25"/>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custDataLst>
                    <p:tags r:id="rId26"/>
                  </p:custDataLst>
                </p:nvPr>
              </p:nvSpPr>
              <p:spPr>
                <a:xfrm>
                  <a:off x="1651842" y="1249680"/>
                  <a:ext cx="8793941"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6" name="椭圆 25"/>
              <p:cNvSpPr/>
              <p:nvPr>
                <p:custDataLst>
                  <p:tags r:id="rId27"/>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dirty="0">
                    <a:solidFill>
                      <a:srgbClr val="003399"/>
                    </a:solidFill>
                    <a:latin typeface="Arial Black" panose="020B0A04020102020204" pitchFamily="34" charset="0"/>
                    <a:ea typeface="黑体" panose="02010609060101010101" pitchFamily="49" charset="-122"/>
                  </a:rPr>
                  <a:t>5</a:t>
                </a:r>
                <a:endParaRPr lang="en-US" altLang="zh-CN" sz="4400" dirty="0">
                  <a:solidFill>
                    <a:srgbClr val="003399"/>
                  </a:solidFill>
                  <a:latin typeface="Arial Black" panose="020B0A04020102020204" pitchFamily="34" charset="0"/>
                  <a:ea typeface="黑体" panose="02010609060101010101" pitchFamily="49" charset="-122"/>
                </a:endParaRPr>
              </a:p>
            </p:txBody>
          </p:sp>
        </p:grpSp>
        <p:sp>
          <p:nvSpPr>
            <p:cNvPr id="27" name="文本框 26"/>
            <p:cNvSpPr txBox="1"/>
            <p:nvPr>
              <p:custDataLst>
                <p:tags r:id="rId28"/>
              </p:custDataLst>
            </p:nvPr>
          </p:nvSpPr>
          <p:spPr>
            <a:xfrm>
              <a:off x="3193281" y="1860980"/>
              <a:ext cx="2590800" cy="645160"/>
            </a:xfrm>
            <a:prstGeom prst="rect">
              <a:avLst/>
            </a:prstGeom>
            <a:noFill/>
          </p:spPr>
          <p:txBody>
            <a:bodyPr wrap="square" rtlCol="0">
              <a:spAutoFit/>
            </a:bodyPr>
            <a:p>
              <a:r>
                <a:rPr lang="zh-CN" altLang="en-US" sz="3600" dirty="0">
                  <a:solidFill>
                    <a:schemeClr val="bg1"/>
                  </a:solidFill>
                  <a:latin typeface="黑体" panose="02010609060101010101" pitchFamily="49" charset="-122"/>
                  <a:ea typeface="黑体" panose="02010609060101010101" pitchFamily="49" charset="-122"/>
                </a:rPr>
                <a:t>课后习题</a:t>
              </a:r>
              <a:endParaRPr lang="zh-CN" altLang="en-US" sz="3600" dirty="0">
                <a:solidFill>
                  <a:schemeClr val="bg1"/>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音频水印基本原理</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4" name="文本框 3"/>
          <p:cNvSpPr txBox="1"/>
          <p:nvPr/>
        </p:nvSpPr>
        <p:spPr>
          <a:xfrm>
            <a:off x="1631315" y="1701165"/>
            <a:ext cx="9161145" cy="2947035"/>
          </a:xfrm>
          <a:prstGeom prst="rect">
            <a:avLst/>
          </a:prstGeom>
        </p:spPr>
        <p:txBody>
          <a:bodyPr wrap="square">
            <a:spAutoFit/>
          </a:bodyPr>
          <a:p>
            <a:pPr marL="342900" indent="-342900" algn="l">
              <a:lnSpc>
                <a:spcPct val="100000"/>
              </a:lnSpc>
              <a:spcBef>
                <a:spcPct val="20000"/>
              </a:spcBef>
              <a:buClr>
                <a:schemeClr val="tx2"/>
              </a:buClr>
              <a:buSzPct val="70000"/>
              <a:buFont typeface="Wingdings" panose="05000000000000000000" pitchFamily="2" charset="2"/>
              <a:buChar char="¡"/>
            </a:pPr>
            <a:r>
              <a:rPr lang="zh-CN" altLang="en-US" sz="2900">
                <a:latin typeface="Verdana" panose="020B0604030504040204" pitchFamily="34" charset="0"/>
                <a:ea typeface="宋体" panose="02010600030101010101" pitchFamily="2" charset="-122"/>
                <a:cs typeface="+mn-ea"/>
              </a:rPr>
              <a:t>在各种载体中有很多方法可用于隐藏信息，其中最直观的一种就是替换技术。</a:t>
            </a:r>
            <a:endParaRPr lang="zh-CN" altLang="en-US" sz="2900">
              <a:latin typeface="Verdana" panose="020B0604030504040204" pitchFamily="34" charset="0"/>
              <a:ea typeface="宋体" panose="02010600030101010101" pitchFamily="2" charset="-122"/>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2900">
                <a:latin typeface="Verdana" panose="020B0604030504040204" pitchFamily="34" charset="0"/>
                <a:ea typeface="宋体" panose="02010600030101010101" pitchFamily="2" charset="-122"/>
                <a:cs typeface="+mn-ea"/>
              </a:rPr>
              <a:t>任何数字多媒体信息，在扫描和采样时，都会产生物理随机噪声，而人的感观系统对这些随机噪声不敏感。</a:t>
            </a:r>
            <a:endParaRPr lang="zh-CN" altLang="en-US" sz="2900">
              <a:latin typeface="Verdana" panose="020B0604030504040204" pitchFamily="34" charset="0"/>
              <a:ea typeface="宋体" panose="02010600030101010101" pitchFamily="2" charset="-122"/>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2900">
                <a:latin typeface="Verdana" panose="020B0604030504040204" pitchFamily="34" charset="0"/>
                <a:ea typeface="宋体" panose="02010600030101010101" pitchFamily="2" charset="-122"/>
                <a:cs typeface="+mn-ea"/>
              </a:rPr>
              <a:t>替换技术就是利用这个原理，试图用秘密信息比特替换随机噪声，以达到信息隐藏的目的。</a:t>
            </a:r>
            <a:endParaRPr lang="zh-CN" altLang="en-US" sz="2900">
              <a:latin typeface="Verdana" panose="020B0604030504040204" pitchFamily="3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a:t>
            </a:r>
            <a:r>
              <a:rPr lang="zh-CN" altLang="en-US" sz="2800" b="1" dirty="0">
                <a:solidFill>
                  <a:srgbClr val="023B8C"/>
                </a:solidFill>
                <a:latin typeface="微软雅黑" panose="020B0503020204020204" charset="-122"/>
                <a:ea typeface="微软雅黑" panose="020B0503020204020204" charset="-122"/>
                <a:sym typeface="+mn-ea"/>
              </a:rPr>
              <a:t>技术</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2553335"/>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变换域音频数字水印</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压缩</a:t>
            </a:r>
            <a:r>
              <a:rPr lang="zh-CN" altLang="en-US" sz="3200">
                <a:solidFill>
                  <a:srgbClr val="023B8C"/>
                </a:solidFill>
                <a:latin typeface="Times New Roman" panose="02020603050405020304"/>
                <a:sym typeface="+mn-ea"/>
              </a:rPr>
              <a:t>域数字水印</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音频数字水印的评价指标</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音频水印发展方向</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实践案例四：</a:t>
            </a:r>
            <a:r>
              <a:rPr lang="en-US" altLang="zh-CN" sz="3200">
                <a:solidFill>
                  <a:srgbClr val="023B8C"/>
                </a:solidFill>
                <a:latin typeface="Times New Roman" panose="02020603050405020304"/>
                <a:ea typeface="宋体" panose="02010600030101010101" pitchFamily="2" charset="-122"/>
              </a:rPr>
              <a:t>LSB</a:t>
            </a:r>
            <a:r>
              <a:rPr lang="zh-CN" altLang="en-US" sz="3200">
                <a:solidFill>
                  <a:srgbClr val="023B8C"/>
                </a:solidFill>
                <a:latin typeface="Times New Roman" panose="02020603050405020304"/>
                <a:ea typeface="宋体" panose="02010600030101010101" pitchFamily="2" charset="-122"/>
              </a:rPr>
              <a:t>音频信息</a:t>
            </a:r>
            <a:r>
              <a:rPr lang="zh-CN" altLang="en-US" sz="3200">
                <a:solidFill>
                  <a:srgbClr val="023B8C"/>
                </a:solidFill>
                <a:latin typeface="Times New Roman" panose="02020603050405020304"/>
                <a:ea typeface="宋体" panose="02010600030101010101" pitchFamily="2" charset="-122"/>
              </a:rPr>
              <a:t>隐藏</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p:txBody>
          <a:bodyPr/>
          <a:lstStyle/>
          <a:p>
            <a:pPr eaLnBrk="1" hangingPunct="1"/>
            <a:r>
              <a:rPr lang="zh-CN" altLang="en-US" sz="4400"/>
              <a:t>傅氏变换</a:t>
            </a:r>
            <a:endParaRPr lang="zh-CN" altLang="en-US" sz="4400"/>
          </a:p>
          <a:p>
            <a:pPr eaLnBrk="1" hangingPunct="1"/>
            <a:r>
              <a:rPr lang="en-US" altLang="zh-CN" sz="4400"/>
              <a:t>DCT</a:t>
            </a:r>
            <a:r>
              <a:rPr lang="zh-CN" altLang="en-US" sz="4400"/>
              <a:t>变换</a:t>
            </a:r>
            <a:endParaRPr lang="zh-CN" altLang="en-US" sz="4400"/>
          </a:p>
          <a:p>
            <a:pPr eaLnBrk="1" hangingPunct="1"/>
            <a:r>
              <a:rPr lang="zh-CN" altLang="en-US" sz="4400"/>
              <a:t>小波变换</a:t>
            </a:r>
            <a:endParaRPr lang="zh-CN" altLang="en-US" sz="4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a:t>
            </a:r>
            <a:r>
              <a:rPr lang="zh-CN" altLang="en-US" sz="2800" b="1" dirty="0">
                <a:solidFill>
                  <a:srgbClr val="023B8C"/>
                </a:solidFill>
                <a:latin typeface="微软雅黑" panose="020B0503020204020204" charset="-122"/>
                <a:ea typeface="微软雅黑" panose="020B0503020204020204" charset="-122"/>
                <a:sym typeface="+mn-ea"/>
              </a:rPr>
              <a:t>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911860" y="548640"/>
            <a:ext cx="9751695" cy="5471795"/>
          </a:xfrm>
        </p:spPr>
        <p:txBody>
          <a:bodyPr/>
          <a:lstStyle/>
          <a:p>
            <a:pPr marL="0" indent="0" algn="l" eaLnBrk="1" hangingPunct="1">
              <a:buNone/>
            </a:pPr>
            <a:endParaRPr lang="zh-CN" altLang="en-US" sz="2900" dirty="0"/>
          </a:p>
          <a:p>
            <a:pPr algn="l" eaLnBrk="1" hangingPunct="1"/>
            <a:r>
              <a:rPr lang="zh-CN" altLang="en-US" sz="2900" dirty="0"/>
              <a:t>相位编码：</a:t>
            </a:r>
            <a:endParaRPr lang="zh-CN" altLang="en-US" sz="2900" dirty="0"/>
          </a:p>
          <a:p>
            <a:pPr lvl="1" algn="l" eaLnBrk="1" hangingPunct="1">
              <a:lnSpc>
                <a:spcPct val="90000"/>
              </a:lnSpc>
            </a:pPr>
            <a:r>
              <a:rPr lang="zh-CN" altLang="en-US" sz="2500">
                <a:latin typeface="宋体" panose="02010600030101010101" pitchFamily="2" charset="-122"/>
                <a:cs typeface="+mn-ea"/>
              </a:rPr>
              <a:t>载体信号首先分成若干个短序列</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进行二维离散傅立叶变换（Two-Dimensional Discrete Fourier Transform，DFT）</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修改所有信号片段的绝对相位，同时保存它们的相对相位差不变</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通过离散傅立叶逆变换(Inverse Discrete Fourier Transform，IDFT)得到伪装信号。</a:t>
            </a:r>
            <a:endParaRPr lang="zh-CN" altLang="en-US" sz="2500">
              <a:latin typeface="宋体" panose="02010600030101010101" pitchFamily="2" charset="-122"/>
              <a:cs typeface="+mn-ea"/>
            </a:endParaRPr>
          </a:p>
          <a:p>
            <a:pPr algn="l" eaLnBrk="1" hangingPunct="1"/>
            <a:r>
              <a:rPr lang="zh-CN" altLang="en-US" sz="2900" dirty="0">
                <a:sym typeface="+mn-ea"/>
              </a:rPr>
              <a:t>恢复秘密信息：</a:t>
            </a:r>
            <a:endParaRPr lang="zh-CN" altLang="en-US" sz="2900" dirty="0">
              <a:sym typeface="+mn-ea"/>
            </a:endParaRPr>
          </a:p>
          <a:p>
            <a:pPr lvl="1" algn="l" eaLnBrk="1" hangingPunct="1">
              <a:lnSpc>
                <a:spcPct val="90000"/>
              </a:lnSpc>
            </a:pPr>
            <a:r>
              <a:rPr lang="zh-CN" altLang="en-US" sz="2500">
                <a:latin typeface="宋体" panose="02010600030101010101" pitchFamily="2" charset="-122"/>
                <a:cs typeface="+mn-ea"/>
                <a:sym typeface="+mn-ea"/>
              </a:rPr>
              <a:t>采用同步技术，找到信号的分段。</a:t>
            </a:r>
            <a:endParaRPr lang="zh-CN" altLang="en-US" sz="2500">
              <a:latin typeface="宋体" panose="02010600030101010101" pitchFamily="2" charset="-122"/>
              <a:cs typeface="+mn-ea"/>
              <a:sym typeface="+mn-ea"/>
            </a:endParaRPr>
          </a:p>
          <a:p>
            <a:pPr lvl="1" algn="l" eaLnBrk="1" hangingPunct="1">
              <a:lnSpc>
                <a:spcPct val="90000"/>
              </a:lnSpc>
            </a:pPr>
            <a:r>
              <a:rPr lang="zh-CN" altLang="en-US" sz="2500">
                <a:latin typeface="宋体" panose="02010600030101010101" pitchFamily="2" charset="-122"/>
                <a:cs typeface="+mn-ea"/>
                <a:sym typeface="+mn-ea"/>
              </a:rPr>
              <a:t>已知序列长度，接收者就能计算DFT，并能检测出相位</a:t>
            </a:r>
            <a:r>
              <a:rPr lang="en-US" altLang="zh-CN" sz="2500">
                <a:latin typeface="宋体" panose="02010600030101010101" pitchFamily="2" charset="-122"/>
                <a:cs typeface="+mn-ea"/>
                <a:sym typeface="+mn-ea"/>
              </a:rPr>
              <a:t>    </a:t>
            </a:r>
            <a:r>
              <a:rPr lang="zh-CN" altLang="en-US" sz="2500">
                <a:latin typeface="宋体" panose="02010600030101010101" pitchFamily="2" charset="-122"/>
                <a:cs typeface="+mn-ea"/>
                <a:sym typeface="+mn-ea"/>
              </a:rPr>
              <a:t>。</a:t>
            </a:r>
            <a:r>
              <a:rPr lang="en-US" altLang="zh-CN" sz="2500">
                <a:latin typeface="宋体" panose="02010600030101010101" pitchFamily="2" charset="-122"/>
                <a:cs typeface="+mn-ea"/>
                <a:sym typeface="+mn-ea"/>
              </a:rPr>
              <a:t> </a:t>
            </a:r>
            <a:endParaRPr lang="zh-CN" altLang="en-US" sz="2900">
              <a:latin typeface="宋体" panose="02010600030101010101" pitchFamily="2" charset="-122"/>
              <a:cs typeface="+mn-ea"/>
            </a:endParaRPr>
          </a:p>
          <a:p>
            <a:pPr marL="457200" lvl="1" indent="0" algn="l" eaLnBrk="1" hangingPunct="1">
              <a:lnSpc>
                <a:spcPct val="90000"/>
              </a:lnSpc>
              <a:buNone/>
            </a:pPr>
            <a:endParaRPr lang="zh-CN" altLang="en-US" sz="2900"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傅氏</a:t>
            </a:r>
            <a:r>
              <a:rPr lang="zh-CN" altLang="en-US" sz="2800" b="1" dirty="0">
                <a:solidFill>
                  <a:srgbClr val="023B8C"/>
                </a:solidFill>
                <a:latin typeface="微软雅黑" panose="020B0503020204020204" charset="-122"/>
                <a:ea typeface="微软雅黑" panose="020B0503020204020204" charset="-122"/>
                <a:sym typeface="+mn-ea"/>
              </a:rPr>
              <a:t>变换</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graphicFrame>
        <p:nvGraphicFramePr>
          <p:cNvPr id="3" name="对象 -2147482612"/>
          <p:cNvGraphicFramePr>
            <a:graphicFrameLocks noChangeAspect="1"/>
          </p:cNvGraphicFramePr>
          <p:nvPr/>
        </p:nvGraphicFramePr>
        <p:xfrm>
          <a:off x="9192260" y="5228590"/>
          <a:ext cx="617855" cy="379095"/>
        </p:xfrm>
        <a:graphic>
          <a:graphicData uri="http://schemas.openxmlformats.org/presentationml/2006/ole">
            <mc:AlternateContent xmlns:mc="http://schemas.openxmlformats.org/markup-compatibility/2006">
              <mc:Choice xmlns:v="urn:schemas-microsoft-com:vml" Requires="v">
                <p:oleObj spid="_x0000_s3076" name="" r:id="rId1" imgW="382905" imgH="229870" progId="Equation.DSMT4">
                  <p:embed/>
                </p:oleObj>
              </mc:Choice>
              <mc:Fallback>
                <p:oleObj name="" r:id="rId1" imgW="382905" imgH="229870" progId="Equation.DSMT4">
                  <p:embed/>
                  <p:pic>
                    <p:nvPicPr>
                      <p:cNvPr id="0" name="图片 3075"/>
                      <p:cNvPicPr/>
                      <p:nvPr/>
                    </p:nvPicPr>
                    <p:blipFill>
                      <a:blip r:embed="rId2"/>
                      <a:stretch>
                        <a:fillRect/>
                      </a:stretch>
                    </p:blipFill>
                    <p:spPr>
                      <a:xfrm>
                        <a:off x="9192260" y="5228590"/>
                        <a:ext cx="617855" cy="37909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911649" y="1556703"/>
            <a:ext cx="9751483" cy="4114800"/>
          </a:xfrm>
        </p:spPr>
        <p:txBody>
          <a:bodyPr/>
          <a:lstStyle/>
          <a:p>
            <a:pPr algn="l" eaLnBrk="1" hangingPunct="1"/>
            <a:r>
              <a:rPr lang="zh-CN" altLang="en-US" dirty="0">
                <a:sym typeface="+mn-ea"/>
              </a:rPr>
              <a:t>该算法对载体信号的再取样有鲁棒性，但对大多数音频压缩算法敏感。</a:t>
            </a:r>
            <a:endParaRPr lang="zh-CN" altLang="en-US" dirty="0">
              <a:sym typeface="+mn-ea"/>
            </a:endParaRPr>
          </a:p>
          <a:p>
            <a:pPr algn="l" eaLnBrk="1" hangingPunct="1"/>
            <a:r>
              <a:rPr lang="zh-CN" altLang="en-US" dirty="0">
                <a:sym typeface="+mn-ea"/>
              </a:rPr>
              <a:t>该算法由于仅在第一个信号片段进行编码，数据传输率很低。</a:t>
            </a:r>
            <a:endParaRPr lang="zh-CN" altLang="en-US" sz="2900"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傅氏</a:t>
            </a:r>
            <a:r>
              <a:rPr lang="zh-CN" altLang="en-US" sz="2800" b="1" dirty="0">
                <a:solidFill>
                  <a:srgbClr val="023B8C"/>
                </a:solidFill>
                <a:latin typeface="微软雅黑" panose="020B0503020204020204" charset="-122"/>
                <a:ea typeface="微软雅黑" panose="020B0503020204020204" charset="-122"/>
                <a:sym typeface="+mn-ea"/>
              </a:rPr>
              <a:t>变换</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——DCT</a:t>
            </a:r>
            <a:r>
              <a:rPr lang="zh-CN" altLang="en-US" sz="2800" b="1" dirty="0">
                <a:solidFill>
                  <a:srgbClr val="023B8C"/>
                </a:solidFill>
                <a:latin typeface="微软雅黑" panose="020B0503020204020204" charset="-122"/>
                <a:ea typeface="微软雅黑" panose="020B0503020204020204" charset="-122"/>
                <a:sym typeface="+mn-ea"/>
              </a:rPr>
              <a:t>变换</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4" name="Rectangle 3"/>
          <p:cNvSpPr>
            <a:spLocks noGrp="1" noChangeArrowheads="1"/>
          </p:cNvSpPr>
          <p:nvPr>
            <p:ph idx="1"/>
          </p:nvPr>
        </p:nvSpPr>
        <p:spPr>
          <a:xfrm>
            <a:off x="1055370" y="1412875"/>
            <a:ext cx="9751695" cy="5471795"/>
          </a:xfrm>
        </p:spPr>
        <p:txBody>
          <a:bodyPr/>
          <a:p>
            <a:pPr marL="0" indent="0" algn="l" eaLnBrk="1" hangingPunct="1">
              <a:buNone/>
            </a:pPr>
            <a:endParaRPr lang="zh-CN" altLang="en-US" sz="2900" dirty="0"/>
          </a:p>
          <a:p>
            <a:pPr algn="l" eaLnBrk="1" hangingPunct="1"/>
            <a:r>
              <a:rPr lang="zh-CN" altLang="en-US" sz="2900" dirty="0"/>
              <a:t>扩频水印技术可抵抗有损压缩编码和其他一些具有信号失真的数据处理过程。但在水印嵌入的过程中会产生加性噪声，因此在水印嵌入时，需要同时使用音频掩蔽技术，使得水印嵌入对声音信号的听觉影响降到最低。</a:t>
            </a:r>
            <a:endParaRPr lang="zh-CN" altLang="en-US" sz="2900" dirty="0"/>
          </a:p>
          <a:p>
            <a:pPr algn="l" eaLnBrk="1" hangingPunct="1"/>
            <a:r>
              <a:rPr lang="zh-CN" altLang="en-US" sz="2900" dirty="0"/>
              <a:t>另外，扩频水印的提取算法较复杂，而且算法对于信号的同步要求较高，对于音频载体中幅度的变化鲁棒性较差。</a:t>
            </a:r>
            <a:endParaRPr lang="zh-CN" altLang="en-US" sz="29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xfrm>
            <a:off x="1559349" y="1412558"/>
            <a:ext cx="9751483" cy="4114800"/>
          </a:xfrm>
        </p:spPr>
        <p:txBody>
          <a:bodyPr/>
          <a:lstStyle/>
          <a:p>
            <a:pPr eaLnBrk="1" hangingPunct="1"/>
            <a:r>
              <a:rPr lang="zh-CN" altLang="en-US" dirty="0"/>
              <a:t>嵌入</a:t>
            </a:r>
            <a:endParaRPr lang="zh-CN" altLang="en-US" dirty="0"/>
          </a:p>
          <a:p>
            <a:pPr lvl="1" eaLnBrk="1" hangingPunct="1"/>
            <a:r>
              <a:rPr lang="zh-CN" altLang="en-US" dirty="0">
                <a:latin typeface="宋体" panose="02010600030101010101" pitchFamily="2" charset="-122"/>
              </a:rPr>
              <a:t>数字水印为一个随机信号</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选择适当的小波基对原始语音信号进行</a:t>
            </a:r>
            <a:r>
              <a:rPr lang="en-US" altLang="zh-CN" dirty="0">
                <a:latin typeface="宋体" panose="02010600030101010101" pitchFamily="2" charset="-122"/>
              </a:rPr>
              <a:t>L</a:t>
            </a:r>
            <a:r>
              <a:rPr lang="zh-CN" altLang="en-US" dirty="0">
                <a:latin typeface="宋体" panose="02010600030101010101" pitchFamily="2" charset="-122"/>
              </a:rPr>
              <a:t>级分解，在第</a:t>
            </a:r>
            <a:r>
              <a:rPr lang="en-US" altLang="zh-CN" dirty="0">
                <a:latin typeface="宋体" panose="02010600030101010101" pitchFamily="2" charset="-122"/>
              </a:rPr>
              <a:t>L</a:t>
            </a:r>
            <a:r>
              <a:rPr lang="zh-CN" altLang="en-US" dirty="0">
                <a:latin typeface="宋体" panose="02010600030101010101" pitchFamily="2" charset="-122"/>
              </a:rPr>
              <a:t>级的小波细节分量中嵌入水印</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水印嵌入算法</a:t>
            </a:r>
            <a:endParaRPr lang="zh-CN" altLang="en-US" dirty="0">
              <a:latin typeface="宋体" panose="02010600030101010101" pitchFamily="2" charset="-122"/>
            </a:endParaRPr>
          </a:p>
        </p:txBody>
      </p:sp>
      <p:graphicFrame>
        <p:nvGraphicFramePr>
          <p:cNvPr id="89093" name="Object 4"/>
          <p:cNvGraphicFramePr>
            <a:graphicFrameLocks noChangeAspect="1"/>
          </p:cNvGraphicFramePr>
          <p:nvPr/>
        </p:nvGraphicFramePr>
        <p:xfrm>
          <a:off x="2063750" y="3933190"/>
          <a:ext cx="5994400" cy="967317"/>
        </p:xfrm>
        <a:graphic>
          <a:graphicData uri="http://schemas.openxmlformats.org/presentationml/2006/ole">
            <mc:AlternateContent xmlns:mc="http://schemas.openxmlformats.org/markup-compatibility/2006">
              <mc:Choice xmlns:v="urn:schemas-microsoft-com:vml" Requires="v">
                <p:oleObj spid="_x0000_s105503" name="Equation" r:id="rId1" imgW="1473200" imgH="241300" progId="Equation.DSMT4">
                  <p:embed/>
                </p:oleObj>
              </mc:Choice>
              <mc:Fallback>
                <p:oleObj name="Equation" r:id="rId1" imgW="1473200" imgH="241300" progId="Equation.DSMT4">
                  <p:embed/>
                  <p:pic>
                    <p:nvPicPr>
                      <p:cNvPr id="0" name="图片 1055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3933190"/>
                        <a:ext cx="5994400" cy="96731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 name="Rectangle 3"/>
          <p:cNvSpPr>
            <a:spLocks noGrp="1" noChangeArrowheads="1"/>
          </p:cNvSpPr>
          <p:nvPr>
            <p:ph idx="1"/>
          </p:nvPr>
        </p:nvSpPr>
        <p:spPr>
          <a:xfrm>
            <a:off x="1559560" y="1412875"/>
            <a:ext cx="7626350" cy="4648200"/>
          </a:xfrm>
        </p:spPr>
        <p:txBody>
          <a:bodyPr/>
          <a:p>
            <a:pPr eaLnBrk="1" hangingPunct="1">
              <a:lnSpc>
                <a:spcPct val="90000"/>
              </a:lnSpc>
            </a:pPr>
            <a:r>
              <a:rPr lang="zh-CN" altLang="en-US"/>
              <a:t>提取</a:t>
            </a:r>
            <a:endParaRPr lang="zh-CN" altLang="en-US"/>
          </a:p>
          <a:p>
            <a:pPr lvl="1" eaLnBrk="1" hangingPunct="1">
              <a:lnSpc>
                <a:spcPct val="90000"/>
              </a:lnSpc>
            </a:pPr>
            <a:r>
              <a:rPr lang="zh-CN" altLang="en-US">
                <a:latin typeface="宋体" panose="02010600030101010101" pitchFamily="2" charset="-122"/>
              </a:rPr>
              <a:t>在水印检测端（作品所有者或第三方认证机构），原始的语音信号以及水印信号需要保留以备检测时用</a:t>
            </a:r>
            <a:r>
              <a:rPr lang="zh-CN" altLang="en-US"/>
              <a:t> </a:t>
            </a:r>
            <a:endParaRPr lang="zh-CN" altLang="en-US"/>
          </a:p>
          <a:p>
            <a:pPr lvl="1" eaLnBrk="1" hangingPunct="1">
              <a:lnSpc>
                <a:spcPct val="90000"/>
              </a:lnSpc>
            </a:pPr>
            <a:r>
              <a:rPr lang="zh-CN" altLang="en-US">
                <a:latin typeface="宋体" panose="02010600030101010101" pitchFamily="2" charset="-122"/>
              </a:rPr>
              <a:t>对</a:t>
            </a:r>
            <a:r>
              <a:rPr lang="en-US" altLang="zh-CN">
                <a:latin typeface="宋体" panose="02010600030101010101" pitchFamily="2" charset="-122"/>
              </a:rPr>
              <a:t>L</a:t>
            </a:r>
            <a:r>
              <a:rPr lang="zh-CN" altLang="en-US">
                <a:latin typeface="宋体" panose="02010600030101010101" pitchFamily="2" charset="-122"/>
              </a:rPr>
              <a:t>级分解的细节分量，利用原始语音信号找到隐藏了</a:t>
            </a:r>
            <a:r>
              <a:rPr lang="en-US" altLang="zh-CN">
                <a:latin typeface="宋体" panose="02010600030101010101" pitchFamily="2" charset="-122"/>
              </a:rPr>
              <a:t>N</a:t>
            </a:r>
            <a:r>
              <a:rPr lang="zh-CN" altLang="en-US">
                <a:latin typeface="宋体" panose="02010600030101010101" pitchFamily="2" charset="-122"/>
              </a:rPr>
              <a:t>个随机数的位置，求</a:t>
            </a:r>
            <a:endParaRPr lang="zh-CN" altLang="en-US">
              <a:latin typeface="宋体" panose="02010600030101010101" pitchFamily="2" charset="-122"/>
            </a:endParaRPr>
          </a:p>
          <a:p>
            <a:pPr lvl="1" eaLnBrk="1" hangingPunct="1">
              <a:lnSpc>
                <a:spcPct val="90000"/>
              </a:lnSpc>
            </a:pPr>
            <a:endParaRPr lang="zh-CN" altLang="en-US">
              <a:latin typeface="宋体" panose="02010600030101010101" pitchFamily="2" charset="-122"/>
            </a:endParaRPr>
          </a:p>
          <a:p>
            <a:pPr lvl="1" eaLnBrk="1" hangingPunct="1">
              <a:lnSpc>
                <a:spcPct val="90000"/>
              </a:lnSpc>
            </a:pPr>
            <a:endParaRPr lang="zh-CN" altLang="en-US">
              <a:latin typeface="宋体" panose="02010600030101010101" pitchFamily="2" charset="-122"/>
              <a:cs typeface="Times New Roman" panose="02020603050405020304" charset="0"/>
            </a:endParaRPr>
          </a:p>
          <a:p>
            <a:pPr lvl="1" eaLnBrk="1" hangingPunct="1">
              <a:lnSpc>
                <a:spcPct val="90000"/>
              </a:lnSpc>
            </a:pPr>
            <a:r>
              <a:rPr lang="zh-CN" altLang="en-US">
                <a:latin typeface="宋体" panose="02010600030101010101" pitchFamily="2" charset="-122"/>
                <a:cs typeface="Times New Roman" panose="02020603050405020304" charset="0"/>
              </a:rPr>
              <a:t>计算</a:t>
            </a:r>
            <a:r>
              <a:rPr lang="zh-CN" altLang="en-US">
                <a:latin typeface="宋体" panose="02010600030101010101" pitchFamily="2" charset="-122"/>
              </a:rPr>
              <a:t>提取水印</a:t>
            </a:r>
            <a:r>
              <a:rPr lang="zh-CN" altLang="en-US">
                <a:latin typeface="宋体" panose="02010600030101010101" pitchFamily="2" charset="-122"/>
                <a:cs typeface="Times New Roman" panose="02020603050405020304" charset="0"/>
              </a:rPr>
              <a:t>与</a:t>
            </a:r>
            <a:r>
              <a:rPr lang="zh-CN" altLang="en-US">
                <a:latin typeface="宋体" panose="02010600030101010101" pitchFamily="2" charset="-122"/>
              </a:rPr>
              <a:t>原始水印</a:t>
            </a:r>
            <a:r>
              <a:rPr lang="zh-CN" altLang="en-US">
                <a:latin typeface="宋体" panose="02010600030101010101" pitchFamily="2" charset="-122"/>
                <a:cs typeface="Times New Roman" panose="02020603050405020304" charset="0"/>
              </a:rPr>
              <a:t>的相关值，判断是否有水印信号存在</a:t>
            </a:r>
            <a:r>
              <a:rPr lang="zh-CN" altLang="en-US">
                <a:latin typeface="宋体" panose="02010600030101010101" pitchFamily="2" charset="-122"/>
              </a:rPr>
              <a:t> </a:t>
            </a:r>
            <a:endParaRPr lang="zh-CN" altLang="en-US">
              <a:latin typeface="宋体" panose="02010600030101010101" pitchFamily="2" charset="-122"/>
            </a:endParaRPr>
          </a:p>
        </p:txBody>
      </p:sp>
      <p:graphicFrame>
        <p:nvGraphicFramePr>
          <p:cNvPr id="10" name="Object 4"/>
          <p:cNvGraphicFramePr>
            <a:graphicFrameLocks noChangeAspect="1"/>
          </p:cNvGraphicFramePr>
          <p:nvPr/>
        </p:nvGraphicFramePr>
        <p:xfrm>
          <a:off x="2975610" y="3860800"/>
          <a:ext cx="4419600" cy="598488"/>
        </p:xfrm>
        <a:graphic>
          <a:graphicData uri="http://schemas.openxmlformats.org/presentationml/2006/ole">
            <mc:AlternateContent xmlns:mc="http://schemas.openxmlformats.org/markup-compatibility/2006">
              <mc:Choice xmlns:v="urn:schemas-microsoft-com:vml" Requires="v">
                <p:oleObj spid="_x0000_s11" name="Equation" r:id="rId1" imgW="1689100" imgH="228600" progId="Equation.DSMT4">
                  <p:embed/>
                </p:oleObj>
              </mc:Choice>
              <mc:Fallback>
                <p:oleObj name="Equation" r:id="rId1" imgW="1689100" imgH="228600" progId="Equation.DSMT4">
                  <p:embed/>
                  <p:pic>
                    <p:nvPicPr>
                      <p:cNvPr id="0" name="图片 1065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5610" y="3860800"/>
                        <a:ext cx="4419600" cy="59848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1415204" y="1772603"/>
            <a:ext cx="9751483" cy="4114800"/>
          </a:xfrm>
        </p:spPr>
        <p:txBody>
          <a:bodyPr/>
          <a:lstStyle/>
          <a:p>
            <a:pPr eaLnBrk="1" hangingPunct="1"/>
            <a:r>
              <a:rPr lang="zh-CN" altLang="en-US" sz="3600"/>
              <a:t>算法特点</a:t>
            </a:r>
            <a:endParaRPr lang="zh-CN" altLang="en-US" sz="3600">
              <a:latin typeface="宋体" panose="02010600030101010101" pitchFamily="2" charset="-122"/>
            </a:endParaRPr>
          </a:p>
          <a:p>
            <a:pPr lvl="1" eaLnBrk="1" hangingPunct="1"/>
            <a:r>
              <a:rPr lang="zh-CN" altLang="en-US" sz="3200">
                <a:latin typeface="宋体" panose="02010600030101010101" pitchFamily="2" charset="-122"/>
                <a:cs typeface="Times New Roman" panose="02020603050405020304" charset="0"/>
              </a:rPr>
              <a:t>一方面语音信号遮盖了水印的影响，使其不易被发觉</a:t>
            </a:r>
            <a:r>
              <a:rPr lang="zh-CN" altLang="en-US" sz="3200">
                <a:latin typeface="宋体" panose="02010600030101010101" pitchFamily="2" charset="-122"/>
              </a:rPr>
              <a:t> </a:t>
            </a:r>
            <a:endParaRPr lang="zh-CN" altLang="en-US" sz="3200">
              <a:latin typeface="宋体" panose="02010600030101010101" pitchFamily="2" charset="-122"/>
            </a:endParaRPr>
          </a:p>
          <a:p>
            <a:pPr lvl="1" eaLnBrk="1" hangingPunct="1"/>
            <a:r>
              <a:rPr lang="zh-CN" altLang="en-US" sz="3200">
                <a:latin typeface="宋体" panose="02010600030101010101" pitchFamily="2" charset="-122"/>
                <a:cs typeface="Times New Roman" panose="02020603050405020304" charset="0"/>
              </a:rPr>
              <a:t>另一方面即使受到一定的破坏，只要语音信号有一定的可懂度，水印信号就可以检测出来</a:t>
            </a:r>
            <a:r>
              <a:rPr lang="zh-CN" altLang="en-US" sz="3200">
                <a:latin typeface="宋体" panose="02010600030101010101" pitchFamily="2" charset="-122"/>
              </a:rPr>
              <a:t> </a:t>
            </a:r>
            <a:endParaRPr lang="zh-CN" altLang="en-US" sz="3200">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idx="1"/>
          </p:nvPr>
        </p:nvSpPr>
        <p:spPr/>
        <p:txBody>
          <a:bodyPr/>
          <a:lstStyle/>
          <a:p>
            <a:pPr eaLnBrk="1" hangingPunct="1"/>
            <a:r>
              <a:rPr lang="zh-CN" altLang="en-US" sz="4000" dirty="0"/>
              <a:t>算法特点</a:t>
            </a:r>
            <a:endParaRPr lang="en-US" altLang="zh-CN" sz="4000" dirty="0"/>
          </a:p>
          <a:p>
            <a:pPr lvl="1" eaLnBrk="1" hangingPunct="1"/>
            <a:r>
              <a:rPr lang="zh-CN" altLang="en-US" sz="3600" dirty="0"/>
              <a:t>单比特算法</a:t>
            </a:r>
            <a:endParaRPr lang="zh-CN" altLang="en-US" sz="3600" dirty="0"/>
          </a:p>
          <a:p>
            <a:pPr lvl="1" eaLnBrk="1" hangingPunct="1"/>
            <a:r>
              <a:rPr lang="zh-CN" altLang="en-US" sz="3600" dirty="0"/>
              <a:t>非盲检测</a:t>
            </a:r>
            <a:endParaRPr lang="zh-CN" altLang="en-US" sz="3600" dirty="0"/>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变换域音频数字水印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压缩域数字水印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4" name="文本框 3"/>
          <p:cNvSpPr txBox="1"/>
          <p:nvPr/>
        </p:nvSpPr>
        <p:spPr>
          <a:xfrm>
            <a:off x="1703705" y="1700530"/>
            <a:ext cx="8102600" cy="2691765"/>
          </a:xfrm>
          <a:prstGeom prst="rect">
            <a:avLst/>
          </a:prstGeom>
        </p:spPr>
        <p:txBody>
          <a:bodyPr wrap="square">
            <a:spAutoFit/>
          </a:bodyPr>
          <a:p>
            <a:pPr marL="342900" indent="-342900" algn="l">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音频水印按照水印嵌入的位置可分为三类：</a:t>
            </a:r>
            <a:endParaRPr lang="zh-CN" altLang="en-US" sz="2900" kern="0" dirty="0">
              <a:latin typeface="+mn-lt"/>
              <a:ea typeface="+mn-ea"/>
            </a:endParaRPr>
          </a:p>
          <a:p>
            <a:pPr marL="742950" lvl="1" indent="-285750" algn="l">
              <a:lnSpc>
                <a:spcPct val="100000"/>
              </a:lnSpc>
              <a:spcBef>
                <a:spcPct val="20000"/>
              </a:spcBef>
              <a:buClr>
                <a:schemeClr val="accent2"/>
              </a:buClr>
              <a:buSzPct val="70000"/>
              <a:buFont typeface="Wingdings" panose="05000000000000000000" pitchFamily="2" charset="2"/>
              <a:buChar char="l"/>
            </a:pPr>
            <a:r>
              <a:rPr lang="zh-CN" altLang="en-US" sz="2500" kern="0" dirty="0">
                <a:latin typeface="宋体" panose="02010600030101010101" pitchFamily="2" charset="-122"/>
                <a:ea typeface="+mn-ea"/>
                <a:cs typeface="+mn-ea"/>
              </a:rPr>
              <a:t>在原始音频信号中嵌入。</a:t>
            </a:r>
            <a:endParaRPr lang="zh-CN" altLang="en-US" sz="2500" kern="0" dirty="0">
              <a:latin typeface="宋体" panose="02010600030101010101" pitchFamily="2" charset="-122"/>
              <a:ea typeface="+mn-ea"/>
              <a:cs typeface="+mn-ea"/>
            </a:endParaRPr>
          </a:p>
          <a:p>
            <a:pPr marL="742950" lvl="1" indent="-285750" algn="l">
              <a:lnSpc>
                <a:spcPct val="100000"/>
              </a:lnSpc>
              <a:spcBef>
                <a:spcPct val="20000"/>
              </a:spcBef>
              <a:buClr>
                <a:schemeClr val="accent2"/>
              </a:buClr>
              <a:buSzPct val="70000"/>
              <a:buFont typeface="Wingdings" panose="05000000000000000000" pitchFamily="2" charset="2"/>
              <a:buChar char="l"/>
            </a:pPr>
            <a:r>
              <a:rPr lang="zh-CN" altLang="en-US" sz="2500" kern="0" dirty="0">
                <a:latin typeface="宋体" panose="02010600030101010101" pitchFamily="2" charset="-122"/>
                <a:ea typeface="+mn-ea"/>
                <a:cs typeface="+mn-ea"/>
              </a:rPr>
              <a:t>在音频编码器中嵌入：鲁棒性较高；需要复杂的编码和解码过程，运算量大，实时性不好。</a:t>
            </a:r>
            <a:endParaRPr lang="zh-CN" altLang="en-US" sz="2500" kern="0" dirty="0">
              <a:latin typeface="宋体" panose="02010600030101010101" pitchFamily="2" charset="-122"/>
              <a:ea typeface="+mn-ea"/>
              <a:cs typeface="+mn-ea"/>
            </a:endParaRPr>
          </a:p>
          <a:p>
            <a:pPr marL="742950" lvl="1" indent="-285750" algn="l">
              <a:lnSpc>
                <a:spcPct val="100000"/>
              </a:lnSpc>
              <a:spcBef>
                <a:spcPct val="20000"/>
              </a:spcBef>
              <a:buClr>
                <a:schemeClr val="accent2"/>
              </a:buClr>
              <a:buSzPct val="70000"/>
              <a:buFont typeface="Wingdings" panose="05000000000000000000" pitchFamily="2" charset="2"/>
              <a:buChar char="l"/>
            </a:pPr>
            <a:r>
              <a:rPr lang="zh-CN" altLang="en-US" sz="2500" kern="0" dirty="0">
                <a:latin typeface="宋体" panose="02010600030101010101" pitchFamily="2" charset="-122"/>
                <a:ea typeface="+mn-ea"/>
                <a:cs typeface="+mn-ea"/>
              </a:rPr>
              <a:t>在压缩后的音频数据流中嵌入：避免了复杂的编解码过程；鲁棒性不高；能够嵌入的水印容量不大。</a:t>
            </a:r>
            <a:endParaRPr lang="zh-CN" altLang="en-US" sz="2500" kern="0" dirty="0">
              <a:latin typeface="宋体" panose="02010600030101010101" pitchFamily="2" charset="-122"/>
              <a:ea typeface="+mn-ea"/>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p:txBody>
          <a:bodyPr/>
          <a:p>
            <a:pPr eaLnBrk="1" hangingPunct="1"/>
            <a:r>
              <a:rPr lang="zh-CN" altLang="en-US" sz="4400"/>
              <a:t>透明性</a:t>
            </a:r>
            <a:endParaRPr lang="zh-CN" altLang="en-US" sz="4400"/>
          </a:p>
          <a:p>
            <a:pPr eaLnBrk="1" hangingPunct="1"/>
            <a:r>
              <a:rPr lang="zh-CN" altLang="en-US" sz="4400"/>
              <a:t>水印容量</a:t>
            </a:r>
            <a:endParaRPr lang="zh-CN" altLang="en-US" sz="4400"/>
          </a:p>
          <a:p>
            <a:pPr eaLnBrk="1" hangingPunct="1"/>
            <a:r>
              <a:rPr lang="zh-CN" altLang="en-US" sz="4400"/>
              <a:t>鲁棒性</a:t>
            </a:r>
            <a:endParaRPr lang="zh-CN" altLang="en-US" sz="44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透明性</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6914" y="1484948"/>
            <a:ext cx="9751483" cy="4114800"/>
          </a:xfrm>
        </p:spPr>
        <p:txBody>
          <a:bodyPr/>
          <a:p>
            <a:pPr algn="l" eaLnBrk="1" hangingPunct="1"/>
            <a:r>
              <a:rPr lang="zh-CN" altLang="en-US" sz="2900" dirty="0"/>
              <a:t>（1）MOS值</a:t>
            </a:r>
            <a:endParaRPr lang="zh-CN" altLang="en-US" sz="2900" dirty="0"/>
          </a:p>
          <a:p>
            <a:pPr lvl="1" algn="l" eaLnBrk="1" hangingPunct="1">
              <a:lnSpc>
                <a:spcPct val="90000"/>
              </a:lnSpc>
            </a:pPr>
            <a:r>
              <a:rPr lang="zh-CN" altLang="en-US" sz="2500">
                <a:latin typeface="宋体" panose="02010600030101010101" pitchFamily="2" charset="-122"/>
                <a:cs typeface="+mn-ea"/>
              </a:rPr>
              <a:t>最常用的音频透明性评测方法是主观平均判分法。</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该方法挑选测试人员对音频信号的质量进行评分，求出平均分数，评分1到5分作为对音频信号质量的评价结果，一般高质量的音频可达到4分。</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主观测试直接反映了人对音频质量的感受，一般来说比较准确，对最终的质量评价和测试有实际价值。</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但其缺点是不同听众之间主观差异较大，并且实验时要得到较好的统计结果，就需要找大量的人员进行测试，因此结果的可重复性不高。</a:t>
            </a:r>
            <a:endParaRPr lang="zh-CN" altLang="en-US" sz="2500">
              <a:latin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透明性</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6914" y="1484948"/>
            <a:ext cx="9751483" cy="4114800"/>
          </a:xfrm>
        </p:spPr>
        <p:txBody>
          <a:bodyPr/>
          <a:p>
            <a:pPr algn="l" eaLnBrk="1" hangingPunct="1"/>
            <a:r>
              <a:rPr lang="zh-CN" altLang="en-US" sz="2900" dirty="0"/>
              <a:t>（</a:t>
            </a:r>
            <a:r>
              <a:rPr lang="en-US" altLang="zh-CN" sz="2900" dirty="0"/>
              <a:t>2</a:t>
            </a:r>
            <a:r>
              <a:rPr lang="zh-CN" altLang="en-US" sz="2900" dirty="0"/>
              <a:t>）</a:t>
            </a:r>
            <a:r>
              <a:rPr lang="zh-CN" altLang="en-US" sz="2900" dirty="0"/>
              <a:t>信噪比</a:t>
            </a:r>
            <a:endParaRPr lang="zh-CN" altLang="en-US" sz="2900" dirty="0"/>
          </a:p>
          <a:p>
            <a:pPr lvl="1" algn="l" eaLnBrk="1" hangingPunct="1">
              <a:lnSpc>
                <a:spcPct val="90000"/>
              </a:lnSpc>
            </a:pPr>
            <a:r>
              <a:rPr lang="zh-CN" altLang="en-US" sz="2500">
                <a:latin typeface="宋体" panose="02010600030101010101" pitchFamily="2" charset="-122"/>
                <a:cs typeface="+mn-ea"/>
              </a:rPr>
              <a:t>定义：设N为音频数据段长度，</a:t>
            </a:r>
            <a:r>
              <a:rPr lang="en-US" altLang="zh-CN" sz="2500">
                <a:latin typeface="宋体" panose="02010600030101010101" pitchFamily="2" charset="-122"/>
                <a:cs typeface="+mn-ea"/>
              </a:rPr>
              <a:t>x</a:t>
            </a:r>
            <a:r>
              <a:rPr lang="zh-CN" altLang="en-US" sz="2500">
                <a:latin typeface="宋体" panose="02010600030101010101" pitchFamily="2" charset="-122"/>
                <a:cs typeface="+mn-ea"/>
              </a:rPr>
              <a:t>为原始音频采样数据，</a:t>
            </a:r>
            <a:r>
              <a:rPr lang="en-US" altLang="zh-CN" sz="2500">
                <a:latin typeface="宋体" panose="02010600030101010101" pitchFamily="2" charset="-122"/>
                <a:cs typeface="+mn-ea"/>
              </a:rPr>
              <a:t> </a:t>
            </a:r>
            <a:r>
              <a:rPr lang="zh-CN" altLang="en-US" sz="2500">
                <a:latin typeface="宋体" panose="02010600030101010101" pitchFamily="2" charset="-122"/>
                <a:cs typeface="+mn-ea"/>
              </a:rPr>
              <a:t>为含水印的音频采样数据，</a:t>
            </a:r>
            <a:r>
              <a:rPr lang="zh-CN" altLang="en-US" sz="2500">
                <a:latin typeface="宋体" panose="02010600030101010101" pitchFamily="2" charset="-122"/>
                <a:cs typeface="+mn-ea"/>
              </a:rPr>
              <a:t>则</a:t>
            </a: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marL="457200" lvl="1" indent="0" algn="l" eaLnBrk="1" hangingPunct="1">
              <a:lnSpc>
                <a:spcPct val="90000"/>
              </a:lnSpc>
              <a:buNone/>
            </a:pPr>
            <a:r>
              <a:rPr lang="en-US" altLang="zh-CN" sz="2500">
                <a:latin typeface="宋体" panose="02010600030101010101" pitchFamily="2" charset="-122"/>
                <a:cs typeface="+mn-ea"/>
              </a:rPr>
              <a:t> </a:t>
            </a:r>
            <a:r>
              <a:rPr lang="zh-CN" altLang="en-US" sz="2500">
                <a:latin typeface="宋体" panose="02010600030101010101" pitchFamily="2" charset="-122"/>
                <a:cs typeface="+mn-ea"/>
              </a:rPr>
              <a:t>其中</a:t>
            </a:r>
            <a:r>
              <a:rPr lang="en-US" altLang="zh-CN" sz="2500">
                <a:latin typeface="宋体" panose="02010600030101010101" pitchFamily="2" charset="-122"/>
                <a:cs typeface="+mn-ea"/>
              </a:rPr>
              <a:t>           </a:t>
            </a:r>
            <a:r>
              <a:rPr lang="zh-CN" altLang="en-US" sz="2500">
                <a:latin typeface="宋体" panose="02010600030101010101" pitchFamily="2" charset="-122"/>
                <a:cs typeface="+mn-ea"/>
              </a:rPr>
              <a:t>，</a:t>
            </a:r>
            <a:r>
              <a:rPr lang="en-US" altLang="zh-CN" sz="2500">
                <a:latin typeface="宋体" panose="02010600030101010101" pitchFamily="2" charset="-122"/>
                <a:cs typeface="+mn-ea"/>
              </a:rPr>
              <a:t>          </a:t>
            </a:r>
            <a:r>
              <a:rPr lang="zh-CN" altLang="en-US" sz="2500">
                <a:latin typeface="宋体" panose="02010600030101010101" pitchFamily="2" charset="-122"/>
                <a:cs typeface="+mn-ea"/>
              </a:rPr>
              <a:t>，</a:t>
            </a:r>
            <a:endParaRPr lang="zh-CN" altLang="en-US" sz="2500">
              <a:latin typeface="宋体" panose="02010600030101010101" pitchFamily="2" charset="-122"/>
              <a:cs typeface="+mn-ea"/>
            </a:endParaRPr>
          </a:p>
          <a:p>
            <a:pPr marL="457200" lvl="1" indent="0" algn="l" eaLnBrk="1" hangingPunct="1">
              <a:lnSpc>
                <a:spcPct val="90000"/>
              </a:lnSpc>
              <a:buNone/>
            </a:pP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信噪比并不是一个完美的音频听觉质量评价标准，在极轻微的同步攻击下，即使听觉质量没有变化，信噪比的值会下降。</a:t>
            </a:r>
            <a:endParaRPr lang="zh-CN" altLang="en-US" sz="2500">
              <a:latin typeface="宋体" panose="02010600030101010101" pitchFamily="2" charset="-122"/>
              <a:cs typeface="+mn-ea"/>
            </a:endParaRPr>
          </a:p>
        </p:txBody>
      </p:sp>
      <p:graphicFrame>
        <p:nvGraphicFramePr>
          <p:cNvPr id="3" name="对象 -2147482600"/>
          <p:cNvGraphicFramePr>
            <a:graphicFrameLocks noChangeAspect="1"/>
          </p:cNvGraphicFramePr>
          <p:nvPr/>
        </p:nvGraphicFramePr>
        <p:xfrm>
          <a:off x="9480550" y="1988820"/>
          <a:ext cx="302260" cy="361315"/>
        </p:xfrm>
        <a:graphic>
          <a:graphicData uri="http://schemas.openxmlformats.org/presentationml/2006/ole">
            <mc:AlternateContent xmlns:mc="http://schemas.openxmlformats.org/markup-compatibility/2006">
              <mc:Choice xmlns:v="urn:schemas-microsoft-com:vml" Requires="v">
                <p:oleObj spid="_x0000_s3076" name="" r:id="rId1" imgW="191135" imgH="229870" progId="Equation.DSMT4">
                  <p:embed/>
                </p:oleObj>
              </mc:Choice>
              <mc:Fallback>
                <p:oleObj name="" r:id="rId1" imgW="191135" imgH="229870" progId="Equation.DSMT4">
                  <p:embed/>
                  <p:pic>
                    <p:nvPicPr>
                      <p:cNvPr id="0" name="图片 3075"/>
                      <p:cNvPicPr/>
                      <p:nvPr/>
                    </p:nvPicPr>
                    <p:blipFill>
                      <a:blip r:embed="rId2"/>
                      <a:stretch>
                        <a:fillRect/>
                      </a:stretch>
                    </p:blipFill>
                    <p:spPr>
                      <a:xfrm>
                        <a:off x="9480550" y="1988820"/>
                        <a:ext cx="302260" cy="361315"/>
                      </a:xfrm>
                      <a:prstGeom prst="rect">
                        <a:avLst/>
                      </a:prstGeom>
                      <a:noFill/>
                      <a:ln w="38100">
                        <a:noFill/>
                        <a:miter/>
                      </a:ln>
                    </p:spPr>
                  </p:pic>
                </p:oleObj>
              </mc:Fallback>
            </mc:AlternateContent>
          </a:graphicData>
        </a:graphic>
      </p:graphicFrame>
      <p:graphicFrame>
        <p:nvGraphicFramePr>
          <p:cNvPr id="4" name="对象 -2147482599"/>
          <p:cNvGraphicFramePr>
            <a:graphicFrameLocks noChangeAspect="1"/>
          </p:cNvGraphicFramePr>
          <p:nvPr/>
        </p:nvGraphicFramePr>
        <p:xfrm>
          <a:off x="4151630" y="2564765"/>
          <a:ext cx="2612390" cy="981075"/>
        </p:xfrm>
        <a:graphic>
          <a:graphicData uri="http://schemas.openxmlformats.org/presentationml/2006/ole">
            <mc:AlternateContent xmlns:mc="http://schemas.openxmlformats.org/markup-compatibility/2006">
              <mc:Choice xmlns:v="urn:schemas-microsoft-com:vml" Requires="v">
                <p:oleObj spid="_x0000_s5" name="" r:id="rId3" imgW="1144905" imgH="419735" progId="Equation.DSMT4">
                  <p:embed/>
                </p:oleObj>
              </mc:Choice>
              <mc:Fallback>
                <p:oleObj name="" r:id="rId3" imgW="1144905" imgH="419735" progId="Equation.DSMT4">
                  <p:embed/>
                  <p:pic>
                    <p:nvPicPr>
                      <p:cNvPr id="0" name="图片 2"/>
                      <p:cNvPicPr/>
                      <p:nvPr/>
                    </p:nvPicPr>
                    <p:blipFill>
                      <a:blip r:embed="rId4"/>
                      <a:stretch>
                        <a:fillRect/>
                      </a:stretch>
                    </p:blipFill>
                    <p:spPr>
                      <a:xfrm>
                        <a:off x="4151630" y="2564765"/>
                        <a:ext cx="2612390" cy="981075"/>
                      </a:xfrm>
                      <a:prstGeom prst="rect">
                        <a:avLst/>
                      </a:prstGeom>
                      <a:noFill/>
                      <a:ln w="38100">
                        <a:noFill/>
                        <a:miter/>
                      </a:ln>
                    </p:spPr>
                  </p:pic>
                </p:oleObj>
              </mc:Fallback>
            </mc:AlternateContent>
          </a:graphicData>
        </a:graphic>
      </p:graphicFrame>
      <p:pic>
        <p:nvPicPr>
          <p:cNvPr id="6" name="图片 5"/>
          <p:cNvPicPr/>
          <p:nvPr/>
        </p:nvPicPr>
        <p:blipFill>
          <a:blip r:embed="rId5"/>
        </p:blipFill>
        <p:spPr>
          <a:xfrm>
            <a:off x="2489835" y="3429000"/>
            <a:ext cx="1645920" cy="750570"/>
          </a:xfrm>
          <a:prstGeom prst="rect">
            <a:avLst/>
          </a:prstGeom>
        </p:spPr>
      </p:pic>
      <p:pic>
        <p:nvPicPr>
          <p:cNvPr id="11" name="图片 10"/>
          <p:cNvPicPr/>
          <p:nvPr/>
        </p:nvPicPr>
        <p:blipFill>
          <a:blip r:embed="rId6"/>
        </p:blipFill>
        <p:spPr>
          <a:xfrm>
            <a:off x="4583430" y="3477895"/>
            <a:ext cx="1364615" cy="701675"/>
          </a:xfrm>
          <a:prstGeom prst="rect">
            <a:avLst/>
          </a:prstGeom>
        </p:spPr>
      </p:pic>
      <p:pic>
        <p:nvPicPr>
          <p:cNvPr id="13" name="图片 12"/>
          <p:cNvPicPr/>
          <p:nvPr/>
        </p:nvPicPr>
        <p:blipFill>
          <a:blip r:embed="rId7"/>
        </p:blipFill>
        <p:spPr>
          <a:xfrm>
            <a:off x="6383655" y="3460115"/>
            <a:ext cx="1479550" cy="7194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透明性</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6914" y="1484948"/>
            <a:ext cx="9751483" cy="4114800"/>
          </a:xfrm>
        </p:spPr>
        <p:txBody>
          <a:bodyPr/>
          <a:p>
            <a:pPr algn="l" eaLnBrk="1" hangingPunct="1"/>
            <a:r>
              <a:rPr lang="zh-CN" altLang="en-US" sz="2900" dirty="0"/>
              <a:t>（</a:t>
            </a:r>
            <a:r>
              <a:rPr lang="en-US" altLang="zh-CN" sz="2900" dirty="0"/>
              <a:t>3</a:t>
            </a:r>
            <a:r>
              <a:rPr lang="zh-CN" altLang="en-US" sz="2900" dirty="0"/>
              <a:t>）</a:t>
            </a:r>
            <a:r>
              <a:rPr lang="zh-CN" altLang="en-US" sz="2900" dirty="0"/>
              <a:t>峰值信噪比</a:t>
            </a:r>
            <a:endParaRPr lang="zh-CN" altLang="en-US" sz="2900" dirty="0"/>
          </a:p>
          <a:p>
            <a:pPr lvl="1" algn="l" eaLnBrk="1" hangingPunct="1">
              <a:lnSpc>
                <a:spcPct val="90000"/>
              </a:lnSpc>
            </a:pPr>
            <a:r>
              <a:rPr lang="zh-CN" altLang="en-US" sz="2500">
                <a:latin typeface="宋体" panose="02010600030101010101" pitchFamily="2" charset="-122"/>
                <a:cs typeface="+mn-ea"/>
              </a:rPr>
              <a:t>定义：设N为音频数据段长度，</a:t>
            </a:r>
            <a:r>
              <a:rPr lang="en-US" altLang="zh-CN" sz="2500">
                <a:latin typeface="宋体" panose="02010600030101010101" pitchFamily="2" charset="-122"/>
                <a:cs typeface="+mn-ea"/>
              </a:rPr>
              <a:t>x</a:t>
            </a:r>
            <a:r>
              <a:rPr lang="zh-CN" altLang="en-US" sz="2500">
                <a:latin typeface="宋体" panose="02010600030101010101" pitchFamily="2" charset="-122"/>
                <a:cs typeface="+mn-ea"/>
              </a:rPr>
              <a:t>为原始音频采样数据，</a:t>
            </a:r>
            <a:r>
              <a:rPr lang="en-US" altLang="zh-CN" sz="2500">
                <a:latin typeface="宋体" panose="02010600030101010101" pitchFamily="2" charset="-122"/>
                <a:cs typeface="+mn-ea"/>
              </a:rPr>
              <a:t> </a:t>
            </a:r>
            <a:r>
              <a:rPr lang="zh-CN" altLang="en-US" sz="2500">
                <a:latin typeface="宋体" panose="02010600030101010101" pitchFamily="2" charset="-122"/>
                <a:cs typeface="+mn-ea"/>
              </a:rPr>
              <a:t>为含水印的音频采样数据，则</a:t>
            </a: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峰值信噪比越高，表示该算法透明性越好。</a:t>
            </a:r>
            <a:endParaRPr lang="zh-CN" altLang="en-US" sz="2500">
              <a:latin typeface="宋体" panose="02010600030101010101" pitchFamily="2" charset="-122"/>
              <a:cs typeface="+mn-ea"/>
            </a:endParaRPr>
          </a:p>
        </p:txBody>
      </p:sp>
      <p:graphicFrame>
        <p:nvGraphicFramePr>
          <p:cNvPr id="3" name="对象 -2147482594"/>
          <p:cNvGraphicFramePr>
            <a:graphicFrameLocks noChangeAspect="1"/>
          </p:cNvGraphicFramePr>
          <p:nvPr/>
        </p:nvGraphicFramePr>
        <p:xfrm>
          <a:off x="9480550" y="2061210"/>
          <a:ext cx="288925" cy="345440"/>
        </p:xfrm>
        <a:graphic>
          <a:graphicData uri="http://schemas.openxmlformats.org/presentationml/2006/ole">
            <mc:AlternateContent xmlns:mc="http://schemas.openxmlformats.org/markup-compatibility/2006">
              <mc:Choice xmlns:v="urn:schemas-microsoft-com:vml" Requires="v">
                <p:oleObj spid="_x0000_s3076" name="" r:id="rId1" imgW="191135" imgH="229870" progId="Equation.DSMT4">
                  <p:embed/>
                </p:oleObj>
              </mc:Choice>
              <mc:Fallback>
                <p:oleObj name="" r:id="rId1" imgW="191135" imgH="229870" progId="Equation.DSMT4">
                  <p:embed/>
                  <p:pic>
                    <p:nvPicPr>
                      <p:cNvPr id="0" name="图片 3075"/>
                      <p:cNvPicPr/>
                      <p:nvPr/>
                    </p:nvPicPr>
                    <p:blipFill>
                      <a:blip r:embed="rId2"/>
                      <a:stretch>
                        <a:fillRect/>
                      </a:stretch>
                    </p:blipFill>
                    <p:spPr>
                      <a:xfrm>
                        <a:off x="9480550" y="2061210"/>
                        <a:ext cx="288925" cy="345440"/>
                      </a:xfrm>
                      <a:prstGeom prst="rect">
                        <a:avLst/>
                      </a:prstGeom>
                      <a:noFill/>
                      <a:ln w="38100">
                        <a:noFill/>
                        <a:miter/>
                      </a:ln>
                    </p:spPr>
                  </p:pic>
                </p:oleObj>
              </mc:Fallback>
            </mc:AlternateContent>
          </a:graphicData>
        </a:graphic>
      </p:graphicFrame>
      <p:graphicFrame>
        <p:nvGraphicFramePr>
          <p:cNvPr id="4" name="对象 -2147482593"/>
          <p:cNvGraphicFramePr>
            <a:graphicFrameLocks noChangeAspect="1"/>
          </p:cNvGraphicFramePr>
          <p:nvPr/>
        </p:nvGraphicFramePr>
        <p:xfrm>
          <a:off x="4008120" y="2781300"/>
          <a:ext cx="4435475" cy="1528445"/>
        </p:xfrm>
        <a:graphic>
          <a:graphicData uri="http://schemas.openxmlformats.org/presentationml/2006/ole">
            <mc:AlternateContent xmlns:mc="http://schemas.openxmlformats.org/markup-compatibility/2006">
              <mc:Choice xmlns:v="urn:schemas-microsoft-com:vml" Requires="v">
                <p:oleObj spid="_x0000_s5" name="" r:id="rId3" imgW="2565400" imgH="889000" progId="Equation.DSMT4">
                  <p:embed/>
                </p:oleObj>
              </mc:Choice>
              <mc:Fallback>
                <p:oleObj name="" r:id="rId3" imgW="2565400" imgH="889000" progId="Equation.DSMT4">
                  <p:embed/>
                  <p:pic>
                    <p:nvPicPr>
                      <p:cNvPr id="0" name="图片 2"/>
                      <p:cNvPicPr/>
                      <p:nvPr/>
                    </p:nvPicPr>
                    <p:blipFill>
                      <a:blip r:embed="rId4"/>
                      <a:stretch>
                        <a:fillRect/>
                      </a:stretch>
                    </p:blipFill>
                    <p:spPr>
                      <a:xfrm>
                        <a:off x="4008120" y="2781300"/>
                        <a:ext cx="4435475" cy="152844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水印容量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7549" y="1772603"/>
            <a:ext cx="9751483" cy="4114800"/>
          </a:xfrm>
        </p:spPr>
        <p:txBody>
          <a:bodyPr/>
          <a:p>
            <a:pPr algn="l" eaLnBrk="1" hangingPunct="1"/>
            <a:r>
              <a:rPr lang="zh-CN" altLang="en-US"/>
              <a:t>水印容量（数据嵌入量），指单位长度音频可隐藏的秘密信息量，通常用比特率来表示。</a:t>
            </a:r>
            <a:endParaRPr lang="zh-CN" altLang="en-US"/>
          </a:p>
          <a:p>
            <a:pPr algn="l" eaLnBrk="1" hangingPunct="1"/>
            <a:r>
              <a:rPr lang="zh-CN" altLang="en-US"/>
              <a:t>单位为bps (bits per-second)，即每秒音频中可嵌入多少比特的水印信息。也可用样本数为单位。对于数字音频来说在给定音频采样率的条件下两者是可相互转换的。</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鲁棒性</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6914" y="1484948"/>
            <a:ext cx="9751483" cy="4114800"/>
          </a:xfrm>
        </p:spPr>
        <p:txBody>
          <a:bodyPr/>
          <a:p>
            <a:pPr algn="l" eaLnBrk="1" hangingPunct="1"/>
            <a:r>
              <a:rPr lang="zh-CN" altLang="en-US" sz="2900" dirty="0"/>
              <a:t>（1）</a:t>
            </a:r>
            <a:r>
              <a:rPr lang="zh-CN" altLang="en-US" sz="2900" dirty="0"/>
              <a:t>误码率</a:t>
            </a:r>
            <a:endParaRPr lang="zh-CN" altLang="en-US" sz="2900" dirty="0"/>
          </a:p>
          <a:p>
            <a:pPr lvl="1" algn="l" eaLnBrk="1" hangingPunct="1">
              <a:lnSpc>
                <a:spcPct val="90000"/>
              </a:lnSpc>
            </a:pPr>
            <a:r>
              <a:rPr lang="zh-CN" altLang="en-US" sz="2500">
                <a:latin typeface="宋体" panose="02010600030101010101" pitchFamily="2" charset="-122"/>
                <a:cs typeface="+mn-ea"/>
              </a:rPr>
              <a:t>定义：在各种攻击后提取得到的水印与原始水印之间不同比特数所占的百分比，</a:t>
            </a:r>
            <a:r>
              <a:rPr lang="zh-CN" altLang="en-US" sz="2500">
                <a:latin typeface="宋体" panose="02010600030101010101" pitchFamily="2" charset="-122"/>
                <a:cs typeface="+mn-ea"/>
              </a:rPr>
              <a:t>则</a:t>
            </a: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误码率越低，表示该算法抵抗该种音频信号处理能力的鲁棒性越强。</a:t>
            </a:r>
            <a:endParaRPr lang="zh-CN" altLang="en-US" sz="2500">
              <a:latin typeface="宋体" panose="02010600030101010101" pitchFamily="2" charset="-122"/>
              <a:cs typeface="+mn-ea"/>
            </a:endParaRPr>
          </a:p>
        </p:txBody>
      </p:sp>
      <p:graphicFrame>
        <p:nvGraphicFramePr>
          <p:cNvPr id="3" name="对象 -2147482592"/>
          <p:cNvGraphicFramePr>
            <a:graphicFrameLocks noChangeAspect="1"/>
          </p:cNvGraphicFramePr>
          <p:nvPr/>
        </p:nvGraphicFramePr>
        <p:xfrm>
          <a:off x="4431665" y="2780665"/>
          <a:ext cx="2887345" cy="631190"/>
        </p:xfrm>
        <a:graphic>
          <a:graphicData uri="http://schemas.openxmlformats.org/presentationml/2006/ole">
            <mc:AlternateContent xmlns:mc="http://schemas.openxmlformats.org/markup-compatibility/2006">
              <mc:Choice xmlns:v="urn:schemas-microsoft-com:vml" Requires="v">
                <p:oleObj spid="_x0000_s3076" name="" r:id="rId1" imgW="1866900" imgH="419100" progId="Equation.3">
                  <p:embed/>
                </p:oleObj>
              </mc:Choice>
              <mc:Fallback>
                <p:oleObj name="" r:id="rId1" imgW="1866900" imgH="419100" progId="Equation.3">
                  <p:embed/>
                  <p:pic>
                    <p:nvPicPr>
                      <p:cNvPr id="0" name="图片 3075"/>
                      <p:cNvPicPr/>
                      <p:nvPr/>
                    </p:nvPicPr>
                    <p:blipFill>
                      <a:blip r:embed="rId2"/>
                      <a:stretch>
                        <a:fillRect/>
                      </a:stretch>
                    </p:blipFill>
                    <p:spPr>
                      <a:xfrm>
                        <a:off x="4431665" y="2780665"/>
                        <a:ext cx="2887345" cy="63119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fld>
            <a:endParaRPr kumimoji="0" lang="en-US" altLang="zh-CN" sz="14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音频数字水印的评价指标</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鲁棒性</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69635" name="Rectangle 3"/>
          <p:cNvSpPr>
            <a:spLocks noGrp="1" noChangeArrowheads="1"/>
          </p:cNvSpPr>
          <p:nvPr>
            <p:ph idx="1"/>
          </p:nvPr>
        </p:nvSpPr>
        <p:spPr>
          <a:xfrm>
            <a:off x="1126914" y="1484948"/>
            <a:ext cx="9751483" cy="4114800"/>
          </a:xfrm>
        </p:spPr>
        <p:txBody>
          <a:bodyPr/>
          <a:p>
            <a:pPr algn="l" eaLnBrk="1" hangingPunct="1"/>
            <a:r>
              <a:rPr lang="zh-CN" altLang="en-US" sz="2900" dirty="0"/>
              <a:t>（</a:t>
            </a:r>
            <a:r>
              <a:rPr lang="en-US" altLang="zh-CN" sz="2900" dirty="0"/>
              <a:t>2</a:t>
            </a:r>
            <a:r>
              <a:rPr lang="zh-CN" altLang="en-US" sz="2900" dirty="0"/>
              <a:t>）余弦相似度</a:t>
            </a:r>
            <a:r>
              <a:rPr lang="zh-CN" altLang="en-US" sz="2900" dirty="0"/>
              <a:t>系数</a:t>
            </a:r>
            <a:endParaRPr lang="zh-CN" altLang="en-US" sz="2900" dirty="0"/>
          </a:p>
          <a:p>
            <a:pPr lvl="1" algn="l" eaLnBrk="1" hangingPunct="1">
              <a:lnSpc>
                <a:spcPct val="90000"/>
              </a:lnSpc>
            </a:pPr>
            <a:r>
              <a:rPr lang="zh-CN" altLang="en-US" sz="2500">
                <a:latin typeface="宋体" panose="02010600030101010101" pitchFamily="2" charset="-122"/>
                <a:cs typeface="+mn-ea"/>
              </a:rPr>
              <a:t>如果在音频信号中嵌入的水印信息为二值图像，可采用</a:t>
            </a:r>
            <a:r>
              <a:rPr lang="zh-CN" altLang="en-US" dirty="0">
                <a:sym typeface="+mn-ea"/>
              </a:rPr>
              <a:t>余弦相似度</a:t>
            </a:r>
            <a:r>
              <a:rPr lang="zh-CN" altLang="en-US" sz="2500">
                <a:latin typeface="宋体" panose="02010600030101010101" pitchFamily="2" charset="-122"/>
                <a:cs typeface="+mn-ea"/>
              </a:rPr>
              <a:t>系数（NC）来判断提取水印图像和原始水印图像的相似性作为评价标准</a:t>
            </a:r>
            <a:endParaRPr lang="zh-CN" altLang="en-US" sz="2500">
              <a:latin typeface="宋体" panose="02010600030101010101" pitchFamily="2" charset="-122"/>
              <a:cs typeface="+mn-ea"/>
            </a:endParaRPr>
          </a:p>
          <a:p>
            <a:pPr lvl="1" algn="l" eaLnBrk="1" hangingPunct="1">
              <a:lnSpc>
                <a:spcPct val="90000"/>
              </a:lnSpc>
            </a:pPr>
            <a:r>
              <a:rPr lang="zh-CN" altLang="en-US" sz="2500">
                <a:latin typeface="宋体" panose="02010600030101010101" pitchFamily="2" charset="-122"/>
                <a:cs typeface="+mn-ea"/>
              </a:rPr>
              <a:t>定义：W为原始水印，</a:t>
            </a:r>
            <a:r>
              <a:rPr lang="en-US" altLang="zh-CN" sz="2500">
                <a:latin typeface="宋体" panose="02010600030101010101" pitchFamily="2" charset="-122"/>
                <a:cs typeface="+mn-ea"/>
              </a:rPr>
              <a:t> </a:t>
            </a:r>
            <a:r>
              <a:rPr lang="zh-CN" altLang="en-US" sz="2500">
                <a:latin typeface="宋体" panose="02010600030101010101" pitchFamily="2" charset="-122"/>
                <a:cs typeface="+mn-ea"/>
              </a:rPr>
              <a:t>为提取的水印，它们的大小为</a:t>
            </a:r>
            <a:r>
              <a:rPr lang="en-US" altLang="zh-CN" sz="2500">
                <a:latin typeface="宋体" panose="02010600030101010101" pitchFamily="2" charset="-122"/>
                <a:cs typeface="+mn-ea"/>
              </a:rPr>
              <a:t>      </a:t>
            </a:r>
            <a:r>
              <a:rPr lang="zh-CN" altLang="en-US" sz="2500">
                <a:latin typeface="宋体" panose="02010600030101010101" pitchFamily="2" charset="-122"/>
                <a:cs typeface="+mn-ea"/>
              </a:rPr>
              <a:t>，</a:t>
            </a:r>
            <a:r>
              <a:rPr lang="zh-CN" altLang="en-US" sz="2500">
                <a:latin typeface="宋体" panose="02010600030101010101" pitchFamily="2" charset="-122"/>
                <a:cs typeface="+mn-ea"/>
              </a:rPr>
              <a:t>则：</a:t>
            </a: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endParaRPr lang="zh-CN" altLang="en-US" sz="2500">
              <a:latin typeface="宋体" panose="02010600030101010101" pitchFamily="2" charset="-122"/>
              <a:cs typeface="+mn-ea"/>
            </a:endParaRPr>
          </a:p>
          <a:p>
            <a:pPr lvl="1" algn="l" eaLnBrk="1" hangingPunct="1">
              <a:lnSpc>
                <a:spcPct val="90000"/>
              </a:lnSpc>
            </a:pPr>
            <a:r>
              <a:rPr lang="zh-CN" altLang="en-US" dirty="0">
                <a:sym typeface="+mn-ea"/>
              </a:rPr>
              <a:t>余弦相似度</a:t>
            </a:r>
            <a:r>
              <a:rPr lang="zh-CN" altLang="en-US" sz="2500">
                <a:latin typeface="宋体" panose="02010600030101010101" pitchFamily="2" charset="-122"/>
                <a:cs typeface="+mn-ea"/>
              </a:rPr>
              <a:t>系数越大，表明该算法抵抗该种音频信号处理能力的鲁棒性越强</a:t>
            </a:r>
            <a:endParaRPr lang="zh-CN" altLang="en-US" sz="2500">
              <a:latin typeface="宋体" panose="02010600030101010101" pitchFamily="2" charset="-122"/>
              <a:cs typeface="+mn-ea"/>
            </a:endParaRPr>
          </a:p>
        </p:txBody>
      </p:sp>
      <p:graphicFrame>
        <p:nvGraphicFramePr>
          <p:cNvPr id="3" name="对象 -2147482590"/>
          <p:cNvGraphicFramePr>
            <a:graphicFrameLocks noChangeAspect="1"/>
          </p:cNvGraphicFramePr>
          <p:nvPr/>
        </p:nvGraphicFramePr>
        <p:xfrm>
          <a:off x="4829175" y="3140710"/>
          <a:ext cx="327660" cy="327660"/>
        </p:xfrm>
        <a:graphic>
          <a:graphicData uri="http://schemas.openxmlformats.org/presentationml/2006/ole">
            <mc:AlternateContent xmlns:mc="http://schemas.openxmlformats.org/markup-compatibility/2006">
              <mc:Choice xmlns:v="urn:schemas-microsoft-com:vml" Requires="v">
                <p:oleObj spid="_x0000_s4" name="" r:id="rId1" imgW="204470" imgH="204470" progId="Equation.DSMT4">
                  <p:embed/>
                </p:oleObj>
              </mc:Choice>
              <mc:Fallback>
                <p:oleObj name="" r:id="rId1" imgW="204470" imgH="204470" progId="Equation.DSMT4">
                  <p:embed/>
                  <p:pic>
                    <p:nvPicPr>
                      <p:cNvPr id="0" name="图片 3"/>
                      <p:cNvPicPr/>
                      <p:nvPr/>
                    </p:nvPicPr>
                    <p:blipFill>
                      <a:blip r:embed="rId2"/>
                      <a:stretch>
                        <a:fillRect/>
                      </a:stretch>
                    </p:blipFill>
                    <p:spPr>
                      <a:xfrm>
                        <a:off x="4829175" y="3140710"/>
                        <a:ext cx="327660" cy="327660"/>
                      </a:xfrm>
                      <a:prstGeom prst="rect">
                        <a:avLst/>
                      </a:prstGeom>
                      <a:noFill/>
                      <a:ln w="38100">
                        <a:noFill/>
                        <a:miter/>
                      </a:ln>
                    </p:spPr>
                  </p:pic>
                </p:oleObj>
              </mc:Fallback>
            </mc:AlternateContent>
          </a:graphicData>
        </a:graphic>
      </p:graphicFrame>
      <p:graphicFrame>
        <p:nvGraphicFramePr>
          <p:cNvPr id="5" name="对象 -2147482589"/>
          <p:cNvGraphicFramePr>
            <a:graphicFrameLocks noChangeAspect="1"/>
          </p:cNvGraphicFramePr>
          <p:nvPr/>
        </p:nvGraphicFramePr>
        <p:xfrm>
          <a:off x="9264650" y="3140710"/>
          <a:ext cx="846455" cy="327025"/>
        </p:xfrm>
        <a:graphic>
          <a:graphicData uri="http://schemas.openxmlformats.org/presentationml/2006/ole">
            <mc:AlternateContent xmlns:mc="http://schemas.openxmlformats.org/markup-compatibility/2006">
              <mc:Choice xmlns:v="urn:schemas-microsoft-com:vml" Requires="v">
                <p:oleObj spid="_x0000_s6" name="" r:id="rId3" imgW="572770" imgH="216535" progId="Equation.DSMT4">
                  <p:embed/>
                </p:oleObj>
              </mc:Choice>
              <mc:Fallback>
                <p:oleObj name="" r:id="rId3" imgW="572770" imgH="216535" progId="Equation.DSMT4">
                  <p:embed/>
                  <p:pic>
                    <p:nvPicPr>
                      <p:cNvPr id="0" name="图片 4"/>
                      <p:cNvPicPr/>
                      <p:nvPr/>
                    </p:nvPicPr>
                    <p:blipFill>
                      <a:blip r:embed="rId4"/>
                      <a:stretch>
                        <a:fillRect/>
                      </a:stretch>
                    </p:blipFill>
                    <p:spPr>
                      <a:xfrm>
                        <a:off x="9264650" y="3140710"/>
                        <a:ext cx="846455" cy="327025"/>
                      </a:xfrm>
                      <a:prstGeom prst="rect">
                        <a:avLst/>
                      </a:prstGeom>
                      <a:noFill/>
                      <a:ln w="38100">
                        <a:noFill/>
                        <a:miter/>
                      </a:ln>
                    </p:spPr>
                  </p:pic>
                </p:oleObj>
              </mc:Fallback>
            </mc:AlternateContent>
          </a:graphicData>
        </a:graphic>
      </p:graphicFrame>
      <p:graphicFrame>
        <p:nvGraphicFramePr>
          <p:cNvPr id="10" name="对象 -2147482591"/>
          <p:cNvGraphicFramePr>
            <a:graphicFrameLocks noChangeAspect="1"/>
          </p:cNvGraphicFramePr>
          <p:nvPr/>
        </p:nvGraphicFramePr>
        <p:xfrm>
          <a:off x="3719830" y="3573145"/>
          <a:ext cx="4085590" cy="1276985"/>
        </p:xfrm>
        <a:graphic>
          <a:graphicData uri="http://schemas.openxmlformats.org/presentationml/2006/ole">
            <mc:AlternateContent xmlns:mc="http://schemas.openxmlformats.org/markup-compatibility/2006">
              <mc:Choice xmlns:v="urn:schemas-microsoft-com:vml" Requires="v">
                <p:oleObj spid="_x0000_s11" name="" r:id="rId5" imgW="3060700" imgH="952500" progId="Equation.DSMT4">
                  <p:embed/>
                </p:oleObj>
              </mc:Choice>
              <mc:Fallback>
                <p:oleObj name="" r:id="rId5" imgW="3060700" imgH="952500" progId="Equation.DSMT4">
                  <p:embed/>
                  <p:pic>
                    <p:nvPicPr>
                      <p:cNvPr id="0" name="图片 5"/>
                      <p:cNvPicPr/>
                      <p:nvPr/>
                    </p:nvPicPr>
                    <p:blipFill>
                      <a:blip r:embed="rId6"/>
                      <a:stretch>
                        <a:fillRect/>
                      </a:stretch>
                    </p:blipFill>
                    <p:spPr>
                      <a:xfrm>
                        <a:off x="3719830" y="3573145"/>
                        <a:ext cx="4085590" cy="127698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p:txBody>
          <a:bodyPr/>
          <a:lstStyle/>
          <a:p>
            <a:pPr eaLnBrk="1" hangingPunct="1"/>
            <a:r>
              <a:rPr lang="zh-CN" altLang="en-US">
                <a:solidFill>
                  <a:srgbClr val="023B8C"/>
                </a:solidFill>
              </a:rPr>
              <a:t>最低有效位方法（Least Significant Bit，LSB）</a:t>
            </a:r>
            <a:endParaRPr lang="zh-CN" altLang="en-US">
              <a:solidFill>
                <a:srgbClr val="023B8C"/>
              </a:solidFill>
            </a:endParaRPr>
          </a:p>
          <a:p>
            <a:pPr eaLnBrk="1" hangingPunct="1"/>
            <a:r>
              <a:rPr lang="zh-CN" altLang="en-US">
                <a:solidFill>
                  <a:srgbClr val="023B8C"/>
                </a:solidFill>
              </a:rPr>
              <a:t>回声隐藏法</a:t>
            </a:r>
            <a:endParaRPr lang="zh-CN" altLang="en-US">
              <a:solidFill>
                <a:srgbClr val="023B8C"/>
              </a:solidFill>
            </a:endParaRPr>
          </a:p>
        </p:txBody>
      </p:sp>
      <p:sp>
        <p:nvSpPr>
          <p:cNvPr id="5" name="矩形 4"/>
          <p:cNvSpPr/>
          <p:nvPr/>
        </p:nvSpPr>
        <p:spPr>
          <a:xfrm>
            <a:off x="893445" y="249555"/>
            <a:ext cx="8162290"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音频水印发展方</a:t>
            </a:r>
            <a:r>
              <a:rPr lang="zh-CN" altLang="en-US" sz="2800" b="1" dirty="0">
                <a:solidFill>
                  <a:srgbClr val="023B8C"/>
                </a:solidFill>
                <a:latin typeface="微软雅黑" panose="020B0503020204020204" charset="-122"/>
                <a:ea typeface="微软雅黑" panose="020B0503020204020204" charset="-122"/>
                <a:sym typeface="+mn-ea"/>
              </a:rPr>
              <a:t>向</a:t>
            </a:r>
            <a:endParaRPr lang="zh-CN" altLang="en-US" sz="2800" b="1" dirty="0">
              <a:solidFill>
                <a:srgbClr val="023B8C"/>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1271059" y="1412558"/>
            <a:ext cx="9751483" cy="4114800"/>
          </a:xfrm>
        </p:spPr>
        <p:txBody>
          <a:bodyPr/>
          <a:lstStyle/>
          <a:p>
            <a:pPr eaLnBrk="1" hangingPunct="1"/>
            <a:r>
              <a:rPr lang="zh-CN" altLang="en-US">
                <a:solidFill>
                  <a:schemeClr val="tx1"/>
                </a:solidFill>
              </a:rPr>
              <a:t>这是一种最简单的时间域水印算法。</a:t>
            </a:r>
            <a:endParaRPr lang="zh-CN" altLang="en-US">
              <a:solidFill>
                <a:schemeClr val="tx1"/>
              </a:solidFill>
            </a:endParaRPr>
          </a:p>
          <a:p>
            <a:pPr eaLnBrk="1" hangingPunct="1"/>
            <a:r>
              <a:rPr lang="zh-CN" altLang="en-US">
                <a:solidFill>
                  <a:schemeClr val="tx1"/>
                </a:solidFill>
              </a:rPr>
              <a:t>该方法是利用原始数据的最低几位来嵌入水印，嵌入的位数，以人的听觉无法察觉为原则。</a:t>
            </a:r>
            <a:endParaRPr lang="zh-CN" altLang="en-US">
              <a:solidFill>
                <a:schemeClr val="tx1"/>
              </a:solidFill>
            </a:endParaRPr>
          </a:p>
          <a:p>
            <a:pPr eaLnBrk="1" hangingPunct="1"/>
            <a:r>
              <a:rPr lang="zh-CN" altLang="en-US">
                <a:solidFill>
                  <a:schemeClr val="tx1"/>
                </a:solidFill>
              </a:rPr>
              <a:t>该方法的优点是具有较大的嵌入容量，但其缺点是水印的鲁棒性很差，无法经受一些信号处理的操作，而且很容易被擦除或绕过。</a:t>
            </a:r>
            <a:endParaRPr lang="zh-CN" altLang="en-US">
              <a:solidFill>
                <a:schemeClr val="tx1"/>
              </a:solidFill>
            </a:endParaRPr>
          </a:p>
        </p:txBody>
      </p:sp>
      <p:sp>
        <p:nvSpPr>
          <p:cNvPr id="5" name="矩形 4"/>
          <p:cNvSpPr/>
          <p:nvPr/>
        </p:nvSpPr>
        <p:spPr>
          <a:xfrm>
            <a:off x="893445" y="249555"/>
            <a:ext cx="8162290"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音频水印发展方向</a:t>
            </a:r>
            <a:r>
              <a:rPr lang="en-US" altLang="zh-CN" sz="2800" b="1" dirty="0">
                <a:solidFill>
                  <a:srgbClr val="023B8C"/>
                </a:solidFill>
                <a:latin typeface="微软雅黑" panose="020B0503020204020204" charset="-122"/>
                <a:ea typeface="微软雅黑" panose="020B0503020204020204" charset="-122"/>
                <a:sym typeface="+mn-ea"/>
              </a:rPr>
              <a:t>——</a:t>
            </a:r>
            <a:r>
              <a:rPr lang="en-US" altLang="zh-CN" sz="2800" b="1" dirty="0">
                <a:solidFill>
                  <a:srgbClr val="023B8C"/>
                </a:solidFill>
                <a:latin typeface="微软雅黑" panose="020B0503020204020204" charset="-122"/>
                <a:ea typeface="微软雅黑" panose="020B0503020204020204" charset="-122"/>
                <a:sym typeface="+mn-ea"/>
              </a:rPr>
              <a:t>LSB</a:t>
            </a:r>
            <a:endParaRPr lang="en-US" altLang="zh-CN" sz="2800" b="1" dirty="0">
              <a:solidFill>
                <a:srgbClr val="023B8C"/>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additive="base">
                                        <p:cTn id="19"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3445" y="249555"/>
            <a:ext cx="8162290"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音频水印发展方向</a:t>
            </a:r>
            <a:r>
              <a:rPr lang="en-US" altLang="zh-CN" sz="2800" b="1" dirty="0">
                <a:solidFill>
                  <a:srgbClr val="023B8C"/>
                </a:solidFill>
                <a:latin typeface="微软雅黑" panose="020B0503020204020204" charset="-122"/>
                <a:ea typeface="微软雅黑" panose="020B0503020204020204" charset="-122"/>
                <a:sym typeface="+mn-ea"/>
              </a:rPr>
              <a:t>——</a:t>
            </a:r>
            <a:r>
              <a:rPr lang="en-US" altLang="zh-CN" sz="2800" b="1" dirty="0">
                <a:solidFill>
                  <a:srgbClr val="023B8C"/>
                </a:solidFill>
                <a:latin typeface="微软雅黑" panose="020B0503020204020204" charset="-122"/>
                <a:ea typeface="微软雅黑" panose="020B0503020204020204" charset="-122"/>
                <a:sym typeface="+mn-ea"/>
              </a:rPr>
              <a:t>LSB</a:t>
            </a:r>
            <a:endParaRPr lang="en-US" altLang="zh-CN" sz="2800" b="1" dirty="0">
              <a:solidFill>
                <a:srgbClr val="023B8C"/>
              </a:solidFill>
              <a:latin typeface="微软雅黑" panose="020B0503020204020204" charset="-122"/>
              <a:ea typeface="微软雅黑" panose="020B0503020204020204" charset="-122"/>
              <a:sym typeface="+mn-ea"/>
            </a:endParaRPr>
          </a:p>
        </p:txBody>
      </p:sp>
      <p:pic>
        <p:nvPicPr>
          <p:cNvPr id="4" name="内容占位符 3"/>
          <p:cNvPicPr>
            <a:picLocks noChangeAspect="1"/>
          </p:cNvPicPr>
          <p:nvPr>
            <p:ph idx="1"/>
          </p:nvPr>
        </p:nvPicPr>
        <p:blipFill>
          <a:blip r:embed="rId1"/>
          <a:srcRect b="15355"/>
          <a:stretch>
            <a:fillRect/>
          </a:stretch>
        </p:blipFill>
        <p:spPr>
          <a:xfrm>
            <a:off x="2135505" y="1340485"/>
            <a:ext cx="7303770" cy="4536440"/>
          </a:xfrm>
          <a:prstGeom prst="rect">
            <a:avLst/>
          </a:prstGeom>
        </p:spPr>
      </p:pic>
      <p:sp>
        <p:nvSpPr>
          <p:cNvPr id="6" name="Rectangle 3"/>
          <p:cNvSpPr>
            <a:spLocks noGrp="1" noChangeArrowheads="1"/>
          </p:cNvSpPr>
          <p:nvPr/>
        </p:nvSpPr>
        <p:spPr>
          <a:xfrm>
            <a:off x="1055370" y="1268730"/>
            <a:ext cx="1262380" cy="69977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solidFill>
                  <a:schemeClr val="tx1"/>
                </a:solidFill>
              </a:rPr>
              <a:t>例：</a:t>
            </a: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911225" y="1371600"/>
            <a:ext cx="10480675" cy="4114800"/>
          </a:xfrm>
        </p:spPr>
        <p:txBody>
          <a:bodyPr/>
          <a:lstStyle/>
          <a:p>
            <a:pPr eaLnBrk="1" hangingPunct="1"/>
            <a:r>
              <a:rPr lang="zh-CN" altLang="en-US">
                <a:solidFill>
                  <a:schemeClr val="tx1"/>
                </a:solidFill>
              </a:rPr>
              <a:t>原理：在离散信号</a:t>
            </a:r>
            <a:r>
              <a:rPr lang="en-US" altLang="zh-CN">
                <a:solidFill>
                  <a:schemeClr val="tx1"/>
                </a:solidFill>
              </a:rPr>
              <a:t>       </a:t>
            </a:r>
            <a:r>
              <a:rPr lang="zh-CN" altLang="en-US">
                <a:solidFill>
                  <a:schemeClr val="tx1"/>
                </a:solidFill>
              </a:rPr>
              <a:t>中引入回声</a:t>
            </a:r>
            <a:r>
              <a:rPr lang="en-US" altLang="zh-CN">
                <a:solidFill>
                  <a:schemeClr val="tx1"/>
                </a:solidFill>
              </a:rPr>
              <a:t>               </a:t>
            </a:r>
            <a:r>
              <a:rPr lang="zh-CN" altLang="en-US">
                <a:solidFill>
                  <a:schemeClr val="tx1"/>
                </a:solidFill>
              </a:rPr>
              <a:t>，通过修改信号和回声之间的延迟△t来编码水印信息。</a:t>
            </a:r>
            <a:endParaRPr lang="zh-CN" altLang="en-US">
              <a:solidFill>
                <a:schemeClr val="tx1"/>
              </a:solidFill>
            </a:endParaRPr>
          </a:p>
          <a:p>
            <a:pPr eaLnBrk="1" hangingPunct="1"/>
            <a:r>
              <a:rPr lang="zh-CN" altLang="en-US">
                <a:solidFill>
                  <a:schemeClr val="tx1"/>
                </a:solidFill>
              </a:rPr>
              <a:t>水印提取时，计算每一个信号片段中信号倒谱的自相关函数，在时延△t上会出现峰值。</a:t>
            </a:r>
            <a:endParaRPr lang="zh-CN" altLang="en-US">
              <a:solidFill>
                <a:schemeClr val="tx1"/>
              </a:solidFill>
            </a:endParaRPr>
          </a:p>
          <a:p>
            <a:pPr eaLnBrk="1" hangingPunct="1"/>
            <a:r>
              <a:rPr lang="zh-CN" altLang="en-US">
                <a:solidFill>
                  <a:schemeClr val="tx1"/>
                </a:solidFill>
              </a:rPr>
              <a:t>优点：对滤波、重采样、有损压缩等不敏感，嵌入算法简单。</a:t>
            </a:r>
            <a:endParaRPr lang="zh-CN" altLang="en-US">
              <a:solidFill>
                <a:schemeClr val="tx1"/>
              </a:solidFill>
            </a:endParaRPr>
          </a:p>
          <a:p>
            <a:pPr eaLnBrk="1" hangingPunct="1"/>
            <a:r>
              <a:rPr lang="zh-CN" altLang="en-US">
                <a:solidFill>
                  <a:schemeClr val="tx1"/>
                </a:solidFill>
              </a:rPr>
              <a:t>缺点：容易被第三方用检测回声的方法检测出来，易被察觉。由于在水印嵌入时需要对信号进行分块处理，因此，水印提取时需要采取某种比较精确的同步措施，否则会影响水印提取的正确率。</a:t>
            </a:r>
            <a:endParaRPr lang="zh-CN" altLang="en-US">
              <a:solidFill>
                <a:schemeClr val="tx1"/>
              </a:solidFill>
            </a:endParaRPr>
          </a:p>
        </p:txBody>
      </p:sp>
      <p:sp>
        <p:nvSpPr>
          <p:cNvPr id="5" name="矩形 4"/>
          <p:cNvSpPr/>
          <p:nvPr/>
        </p:nvSpPr>
        <p:spPr>
          <a:xfrm>
            <a:off x="893445" y="249555"/>
            <a:ext cx="8162290"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音频水印发展方向</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回声隐藏</a:t>
            </a:r>
            <a:r>
              <a:rPr lang="zh-CN" altLang="en-US" sz="2800" b="1" dirty="0">
                <a:solidFill>
                  <a:srgbClr val="023B8C"/>
                </a:solidFill>
                <a:latin typeface="微软雅黑" panose="020B0503020204020204" charset="-122"/>
                <a:ea typeface="微软雅黑" panose="020B0503020204020204" charset="-122"/>
                <a:sym typeface="+mn-ea"/>
              </a:rPr>
              <a:t>法</a:t>
            </a:r>
            <a:endParaRPr lang="zh-CN" altLang="en-US" sz="2800" b="1" dirty="0">
              <a:solidFill>
                <a:srgbClr val="023B8C"/>
              </a:solidFill>
              <a:latin typeface="微软雅黑" panose="020B0503020204020204" charset="-122"/>
              <a:ea typeface="微软雅黑" panose="020B0503020204020204" charset="-122"/>
              <a:sym typeface="+mn-ea"/>
            </a:endParaRPr>
          </a:p>
        </p:txBody>
      </p:sp>
      <p:graphicFrame>
        <p:nvGraphicFramePr>
          <p:cNvPr id="2" name="对象 -2147482588"/>
          <p:cNvGraphicFramePr>
            <a:graphicFrameLocks noChangeAspect="1"/>
          </p:cNvGraphicFramePr>
          <p:nvPr/>
        </p:nvGraphicFramePr>
        <p:xfrm>
          <a:off x="4295775" y="1412875"/>
          <a:ext cx="596265" cy="415925"/>
        </p:xfrm>
        <a:graphic>
          <a:graphicData uri="http://schemas.openxmlformats.org/presentationml/2006/ole">
            <mc:AlternateContent xmlns:mc="http://schemas.openxmlformats.org/markup-compatibility/2006">
              <mc:Choice xmlns:v="urn:schemas-microsoft-com:vml" Requires="v">
                <p:oleObj spid="_x0000_s3076" name="" r:id="rId1" imgW="306705" imgH="204470" progId="Equation.DSMT4">
                  <p:embed/>
                </p:oleObj>
              </mc:Choice>
              <mc:Fallback>
                <p:oleObj name="" r:id="rId1" imgW="306705" imgH="204470" progId="Equation.DSMT4">
                  <p:embed/>
                  <p:pic>
                    <p:nvPicPr>
                      <p:cNvPr id="0" name="图片 3075"/>
                      <p:cNvPicPr/>
                      <p:nvPr/>
                    </p:nvPicPr>
                    <p:blipFill>
                      <a:blip r:embed="rId2"/>
                      <a:stretch>
                        <a:fillRect/>
                      </a:stretch>
                    </p:blipFill>
                    <p:spPr>
                      <a:xfrm>
                        <a:off x="4295775" y="1412875"/>
                        <a:ext cx="596265" cy="415925"/>
                      </a:xfrm>
                      <a:prstGeom prst="rect">
                        <a:avLst/>
                      </a:prstGeom>
                      <a:noFill/>
                      <a:ln w="38100">
                        <a:noFill/>
                        <a:miter/>
                      </a:ln>
                    </p:spPr>
                  </p:pic>
                </p:oleObj>
              </mc:Fallback>
            </mc:AlternateContent>
          </a:graphicData>
        </a:graphic>
      </p:graphicFrame>
      <p:graphicFrame>
        <p:nvGraphicFramePr>
          <p:cNvPr id="3" name="对象 -2147482587"/>
          <p:cNvGraphicFramePr>
            <a:graphicFrameLocks noChangeAspect="1"/>
          </p:cNvGraphicFramePr>
          <p:nvPr/>
        </p:nvGraphicFramePr>
        <p:xfrm>
          <a:off x="6816090" y="1417955"/>
          <a:ext cx="1269365" cy="410845"/>
        </p:xfrm>
        <a:graphic>
          <a:graphicData uri="http://schemas.openxmlformats.org/presentationml/2006/ole">
            <mc:AlternateContent xmlns:mc="http://schemas.openxmlformats.org/markup-compatibility/2006">
              <mc:Choice xmlns:v="urn:schemas-microsoft-com:vml" Requires="v">
                <p:oleObj spid="_x0000_s4" name="" r:id="rId3" imgW="661670" imgH="203835" progId="Equation.DSMT4">
                  <p:embed/>
                </p:oleObj>
              </mc:Choice>
              <mc:Fallback>
                <p:oleObj name="" r:id="rId3" imgW="661670" imgH="203835" progId="Equation.DSMT4">
                  <p:embed/>
                  <p:pic>
                    <p:nvPicPr>
                      <p:cNvPr id="0" name="图片 1"/>
                      <p:cNvPicPr/>
                      <p:nvPr/>
                    </p:nvPicPr>
                    <p:blipFill>
                      <a:blip r:embed="rId4"/>
                      <a:stretch>
                        <a:fillRect/>
                      </a:stretch>
                    </p:blipFill>
                    <p:spPr>
                      <a:xfrm>
                        <a:off x="6816090" y="1417955"/>
                        <a:ext cx="1269365" cy="41084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additive="base">
                                        <p:cTn id="19"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635">
                                            <p:txEl>
                                              <p:pRg st="3" end="3"/>
                                            </p:txEl>
                                          </p:spTgt>
                                        </p:tgtEl>
                                        <p:attrNameLst>
                                          <p:attrName>style.visibility</p:attrName>
                                        </p:attrNameLst>
                                      </p:cBhvr>
                                      <p:to>
                                        <p:strVal val="visible"/>
                                      </p:to>
                                    </p:set>
                                    <p:anim calcmode="lin" valueType="num">
                                      <p:cBhvr additive="base">
                                        <p:cTn id="25"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980249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知识：理解LSB音频水印嵌入算法。</a:t>
            </a:r>
            <a:endParaRPr lang="zh-CN" altLang="en-US" sz="2500" dirty="0">
              <a:cs typeface="+mn-ea"/>
            </a:endParaRPr>
          </a:p>
          <a:p>
            <a:pPr lvl="1" algn="l">
              <a:lnSpc>
                <a:spcPct val="100000"/>
              </a:lnSpc>
              <a:buChar char="l"/>
            </a:pPr>
            <a:r>
              <a:rPr lang="zh-CN" altLang="en-US" sz="2500" dirty="0">
                <a:cs typeface="+mn-ea"/>
              </a:rPr>
              <a:t>技能：掌握基于Python的音频数字水印常用操作方法。</a:t>
            </a:r>
            <a:endParaRPr lang="zh-CN" altLang="en-US" sz="2500" dirty="0">
              <a:cs typeface="+mn-ea"/>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4</a:t>
            </a:r>
            <a:r>
              <a:rPr lang="zh-CN" altLang="en-US" dirty="0">
                <a:cs typeface="+mn-ea"/>
              </a:rPr>
              <a:t>中的实验内容。</a:t>
            </a:r>
            <a:endParaRPr lang="zh-CN" altLang="en-US" dirty="0">
              <a:cs typeface="+mn-ea"/>
            </a:endParaRPr>
          </a:p>
          <a:p>
            <a:pPr lvl="1" algn="l">
              <a:lnSpc>
                <a:spcPct val="100000"/>
              </a:lnSpc>
            </a:pPr>
            <a:r>
              <a:rPr lang="zh-CN" altLang="en-US" dirty="0">
                <a:cs typeface="+mn-ea"/>
              </a:rPr>
              <a:t>按实验指导书完成音频数字水印实验，嵌入并提取水印。</a:t>
            </a:r>
            <a:endParaRPr lang="zh-CN" altLang="en-US" dirty="0">
              <a:cs typeface="+mn-ea"/>
            </a:endParaRPr>
          </a:p>
          <a:p>
            <a:pPr lvl="1" algn="l">
              <a:lnSpc>
                <a:spcPct val="100000"/>
              </a:lnSpc>
            </a:pPr>
            <a:r>
              <a:rPr lang="zh-CN" altLang="en-US" dirty="0">
                <a:cs typeface="+mn-ea"/>
              </a:rPr>
              <a:t>在没有攻击和有攻击情况下提取水印图像，比较原始水印图像和提取水印图像的NC值。</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a:t>
            </a:r>
            <a:r>
              <a:rPr lang="zh-CN" altLang="en-US" sz="2800" b="1" dirty="0">
                <a:solidFill>
                  <a:srgbClr val="023B8C"/>
                </a:solidFill>
                <a:latin typeface="微软雅黑" panose="020B0503020204020204" charset="-122"/>
                <a:ea typeface="微软雅黑" panose="020B0503020204020204" charset="-122"/>
              </a:rPr>
              <a:t>四：LSB音频信息隐藏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7107">
                                            <p:txEl>
                                              <p:pRg st="9" end="9"/>
                                            </p:txEl>
                                          </p:spTgt>
                                        </p:tgtEl>
                                        <p:attrNameLst>
                                          <p:attrName>style.visibility</p:attrName>
                                        </p:attrNameLst>
                                      </p:cBhvr>
                                      <p:to>
                                        <p:strVal val="visible"/>
                                      </p:to>
                                    </p:set>
                                    <p:anim calcmode="lin" valueType="num">
                                      <p:cBhvr additive="base">
                                        <p:cTn id="61" dur="500" fill="hold"/>
                                        <p:tgtEl>
                                          <p:spTgt spid="4710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710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1020572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了解水印嵌入和提取的方法</a:t>
            </a:r>
            <a:endParaRPr lang="zh-CN" altLang="en-US" dirty="0">
              <a:cs typeface="+mn-ea"/>
            </a:endParaRPr>
          </a:p>
          <a:p>
            <a:pPr lvl="1" algn="l" latinLnBrk="0">
              <a:lnSpc>
                <a:spcPct val="150000"/>
              </a:lnSpc>
              <a:spcBef>
                <a:spcPts val="0"/>
              </a:spcBef>
            </a:pPr>
            <a:r>
              <a:rPr lang="zh-CN" altLang="en-US" dirty="0">
                <a:cs typeface="+mn-ea"/>
              </a:rPr>
              <a:t>利用载体音频隐藏嵌入秘密信息图像。</a:t>
            </a:r>
            <a:endParaRPr lang="zh-CN" altLang="en-US" dirty="0">
              <a:cs typeface="+mn-ea"/>
            </a:endParaRPr>
          </a:p>
          <a:p>
            <a:pPr lvl="1" algn="l" latinLnBrk="0">
              <a:lnSpc>
                <a:spcPct val="150000"/>
              </a:lnSpc>
              <a:spcBef>
                <a:spcPts val="0"/>
              </a:spcBef>
            </a:pPr>
            <a:r>
              <a:rPr lang="zh-CN" altLang="en-US" dirty="0">
                <a:cs typeface="+mn-ea"/>
              </a:rPr>
              <a:t>输出原始音频和携密音频的波形图，在图中嵌入标识身份的信息。</a:t>
            </a:r>
            <a:endParaRPr lang="zh-CN" altLang="en-US" dirty="0">
              <a:cs typeface="+mn-ea"/>
            </a:endParaRPr>
          </a:p>
          <a:p>
            <a:pPr lvl="1" algn="l" latinLnBrk="0">
              <a:lnSpc>
                <a:spcPct val="150000"/>
              </a:lnSpc>
              <a:spcBef>
                <a:spcPts val="0"/>
              </a:spcBef>
            </a:pPr>
            <a:r>
              <a:rPr lang="zh-CN" altLang="en-US" dirty="0">
                <a:cs typeface="+mn-ea"/>
              </a:rPr>
              <a:t>在没有任何攻击的情况下，从嵌入秘密信息后的音频中提取水印图像。</a:t>
            </a:r>
            <a:endParaRPr lang="zh-CN" altLang="en-US" dirty="0">
              <a:cs typeface="+mn-ea"/>
            </a:endParaRPr>
          </a:p>
          <a:p>
            <a:pPr lvl="1" algn="l" latinLnBrk="0">
              <a:lnSpc>
                <a:spcPct val="150000"/>
              </a:lnSpc>
              <a:spcBef>
                <a:spcPts val="0"/>
              </a:spcBef>
            </a:pPr>
            <a:r>
              <a:rPr lang="zh-CN" altLang="en-US" dirty="0">
                <a:cs typeface="+mn-ea"/>
              </a:rPr>
              <a:t>在没有任何攻击的情况下，比较原始水印图像和提取水印图像的NC值，这个NC值应为1。</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实践案例四：LSB音频信息隐藏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568450"/>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MP3编码算法	</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MP3解码算法</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实践案例五：</a:t>
            </a:r>
            <a:r>
              <a:rPr lang="en-US" altLang="zh-CN" sz="3200">
                <a:solidFill>
                  <a:srgbClr val="023B8C"/>
                </a:solidFill>
                <a:latin typeface="Times New Roman" panose="02020603050405020304"/>
                <a:ea typeface="宋体" panose="02010600030101010101" pitchFamily="2" charset="-122"/>
              </a:rPr>
              <a:t>MP3</a:t>
            </a:r>
            <a:r>
              <a:rPr lang="zh-CN" altLang="en-US" sz="3200">
                <a:solidFill>
                  <a:srgbClr val="023B8C"/>
                </a:solidFill>
                <a:latin typeface="Times New Roman" panose="02020603050405020304"/>
                <a:ea typeface="宋体" panose="02010600030101010101" pitchFamily="2" charset="-122"/>
              </a:rPr>
              <a:t>音频信息</a:t>
            </a:r>
            <a:r>
              <a:rPr lang="zh-CN" altLang="en-US" sz="3200">
                <a:solidFill>
                  <a:srgbClr val="023B8C"/>
                </a:solidFill>
                <a:latin typeface="Times New Roman" panose="02020603050405020304"/>
                <a:ea typeface="宋体" panose="02010600030101010101" pitchFamily="2" charset="-122"/>
              </a:rPr>
              <a:t>隐藏	</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r>
              <a:rPr lang="en-US" altLang="zh-CN" sz="2800" b="1" dirty="0">
                <a:solidFill>
                  <a:srgbClr val="023B8C"/>
                </a:solidFill>
                <a:latin typeface="微软雅黑" panose="020B0503020204020204" charset="-122"/>
                <a:ea typeface="微软雅黑" panose="020B0503020204020204" charset="-122"/>
                <a:sym typeface="+mn-ea"/>
              </a:rPr>
              <a:t>——MP3编码算法</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grpSp>
        <p:nvGrpSpPr>
          <p:cNvPr id="16699" name="组合 325"/>
          <p:cNvGrpSpPr/>
          <p:nvPr/>
        </p:nvGrpSpPr>
        <p:grpSpPr>
          <a:xfrm>
            <a:off x="735330" y="1940560"/>
            <a:ext cx="7045960" cy="3863340"/>
            <a:chOff x="1407" y="6948"/>
            <a:chExt cx="10480" cy="4138"/>
          </a:xfrm>
        </p:grpSpPr>
        <p:cxnSp>
          <p:nvCxnSpPr>
            <p:cNvPr id="16700" name="自选图形 276"/>
            <p:cNvCxnSpPr>
              <a:cxnSpLocks noChangeShapeType="1"/>
            </p:cNvCxnSpPr>
            <p:nvPr/>
          </p:nvCxnSpPr>
          <p:spPr bwMode="auto">
            <a:xfrm>
              <a:off x="1830" y="7581"/>
              <a:ext cx="1095" cy="0"/>
            </a:xfrm>
            <a:prstGeom prst="straightConnector1">
              <a:avLst/>
            </a:prstGeom>
            <a:noFill/>
            <a:ln w="9525" cmpd="sng">
              <a:solidFill>
                <a:srgbClr val="000000"/>
              </a:solidFill>
              <a:round/>
              <a:tailEnd type="triangle" w="med" len="med"/>
            </a:ln>
          </p:spPr>
        </p:cxnSp>
        <p:grpSp>
          <p:nvGrpSpPr>
            <p:cNvPr id="16701" name="组合 327"/>
            <p:cNvGrpSpPr/>
            <p:nvPr/>
          </p:nvGrpSpPr>
          <p:grpSpPr>
            <a:xfrm>
              <a:off x="1407" y="6948"/>
              <a:ext cx="10480" cy="4138"/>
              <a:chOff x="1441" y="6942"/>
              <a:chExt cx="10480" cy="4138"/>
            </a:xfrm>
          </p:grpSpPr>
          <p:cxnSp>
            <p:nvCxnSpPr>
              <p:cNvPr id="16702" name="自选图形 302"/>
              <p:cNvCxnSpPr>
                <a:cxnSpLocks noChangeShapeType="1"/>
                <a:endCxn id="77" idx="2"/>
              </p:cNvCxnSpPr>
              <p:nvPr/>
            </p:nvCxnSpPr>
            <p:spPr bwMode="auto">
              <a:xfrm flipV="1">
                <a:off x="6313" y="9684"/>
                <a:ext cx="0" cy="838"/>
              </a:xfrm>
              <a:prstGeom prst="straightConnector1">
                <a:avLst/>
              </a:prstGeom>
              <a:noFill/>
              <a:ln w="9525" cmpd="sng">
                <a:solidFill>
                  <a:srgbClr val="000000"/>
                </a:solidFill>
                <a:round/>
                <a:tailEnd type="triangle" w="med" len="med"/>
              </a:ln>
            </p:spPr>
          </p:cxnSp>
          <p:grpSp>
            <p:nvGrpSpPr>
              <p:cNvPr id="16703" name="组合 329"/>
              <p:cNvGrpSpPr/>
              <p:nvPr/>
            </p:nvGrpSpPr>
            <p:grpSpPr>
              <a:xfrm>
                <a:off x="1441" y="6942"/>
                <a:ext cx="10480" cy="4138"/>
                <a:chOff x="1441" y="6942"/>
                <a:chExt cx="10480" cy="4138"/>
              </a:xfrm>
            </p:grpSpPr>
            <p:cxnSp>
              <p:nvCxnSpPr>
                <p:cNvPr id="64" name="自选图形 279"/>
                <p:cNvCxnSpPr>
                  <a:cxnSpLocks noChangeShapeType="1"/>
                </p:cNvCxnSpPr>
                <p:nvPr/>
              </p:nvCxnSpPr>
              <p:spPr bwMode="auto">
                <a:xfrm>
                  <a:off x="3705" y="7400"/>
                  <a:ext cx="675" cy="1"/>
                </a:xfrm>
                <a:prstGeom prst="straightConnector1">
                  <a:avLst/>
                </a:prstGeom>
                <a:noFill/>
                <a:ln w="9525" cmpd="sng">
                  <a:solidFill>
                    <a:srgbClr val="000000"/>
                  </a:solidFill>
                  <a:round/>
                  <a:tailEnd type="triangle" w="med" len="med"/>
                </a:ln>
              </p:spPr>
            </p:cxnSp>
            <p:cxnSp>
              <p:nvCxnSpPr>
                <p:cNvPr id="65" name="自选图形 280"/>
                <p:cNvCxnSpPr>
                  <a:cxnSpLocks noChangeShapeType="1"/>
                </p:cNvCxnSpPr>
                <p:nvPr/>
              </p:nvCxnSpPr>
              <p:spPr bwMode="auto">
                <a:xfrm>
                  <a:off x="3705" y="7943"/>
                  <a:ext cx="675" cy="1"/>
                </a:xfrm>
                <a:prstGeom prst="straightConnector1">
                  <a:avLst/>
                </a:prstGeom>
                <a:noFill/>
                <a:ln w="9525" cmpd="sng">
                  <a:solidFill>
                    <a:srgbClr val="000000"/>
                  </a:solidFill>
                  <a:round/>
                  <a:tailEnd type="triangle" w="med" len="med"/>
                </a:ln>
              </p:spPr>
            </p:cxnSp>
            <p:cxnSp>
              <p:nvCxnSpPr>
                <p:cNvPr id="66" name="自选图形 281"/>
                <p:cNvCxnSpPr>
                  <a:cxnSpLocks noChangeShapeType="1"/>
                </p:cNvCxnSpPr>
                <p:nvPr/>
              </p:nvCxnSpPr>
              <p:spPr bwMode="auto">
                <a:xfrm>
                  <a:off x="3705" y="8496"/>
                  <a:ext cx="675" cy="1"/>
                </a:xfrm>
                <a:prstGeom prst="straightConnector1">
                  <a:avLst/>
                </a:prstGeom>
                <a:noFill/>
                <a:ln w="9525" cmpd="sng">
                  <a:solidFill>
                    <a:srgbClr val="000000"/>
                  </a:solidFill>
                  <a:round/>
                  <a:tailEnd type="triangle" w="med" len="med"/>
                </a:ln>
              </p:spPr>
            </p:cxnSp>
            <p:sp>
              <p:nvSpPr>
                <p:cNvPr id="68" name="矩形 303"/>
                <p:cNvSpPr>
                  <a:spLocks noChangeArrowheads="1"/>
                </p:cNvSpPr>
                <p:nvPr/>
              </p:nvSpPr>
              <p:spPr bwMode="auto">
                <a:xfrm>
                  <a:off x="8410" y="10131"/>
                  <a:ext cx="1591" cy="645"/>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辅助数据</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69" name="自选图形 304"/>
                <p:cNvCxnSpPr>
                  <a:cxnSpLocks noChangeShapeType="1"/>
                  <a:stCxn id="68" idx="0"/>
                  <a:endCxn id="85" idx="2"/>
                </p:cNvCxnSpPr>
                <p:nvPr/>
              </p:nvCxnSpPr>
              <p:spPr bwMode="auto">
                <a:xfrm flipH="1" flipV="1">
                  <a:off x="9180" y="9353"/>
                  <a:ext cx="25" cy="778"/>
                </a:xfrm>
                <a:prstGeom prst="straightConnector1">
                  <a:avLst/>
                </a:prstGeom>
                <a:noFill/>
                <a:ln w="9525" cmpd="sng">
                  <a:solidFill>
                    <a:srgbClr val="000000"/>
                  </a:solidFill>
                  <a:round/>
                  <a:tailEnd type="triangle" w="med" len="med"/>
                </a:ln>
              </p:spPr>
            </p:cxnSp>
            <p:grpSp>
              <p:nvGrpSpPr>
                <p:cNvPr id="71" name="组合 336"/>
                <p:cNvGrpSpPr/>
                <p:nvPr/>
              </p:nvGrpSpPr>
              <p:grpSpPr>
                <a:xfrm>
                  <a:off x="1441" y="6942"/>
                  <a:ext cx="10480" cy="4138"/>
                  <a:chOff x="1441" y="6942"/>
                  <a:chExt cx="10480" cy="4138"/>
                </a:xfrm>
              </p:grpSpPr>
              <p:sp>
                <p:nvSpPr>
                  <p:cNvPr id="72" name="文本框 274"/>
                  <p:cNvSpPr txBox="1">
                    <a:spLocks noChangeArrowheads="1"/>
                  </p:cNvSpPr>
                  <p:nvPr/>
                </p:nvSpPr>
                <p:spPr bwMode="auto">
                  <a:xfrm>
                    <a:off x="1441" y="6942"/>
                    <a:ext cx="1719" cy="571"/>
                  </a:xfrm>
                  <a:prstGeom prst="rect">
                    <a:avLst/>
                  </a:prstGeom>
                  <a:solidFill>
                    <a:srgbClr val="FFFFFF"/>
                  </a:solidFill>
                  <a:ln w="9525" cmpd="sng">
                    <a:solidFill>
                      <a:srgbClr val="FFFFFF"/>
                    </a:solidFill>
                    <a:miter lim="800000"/>
                  </a:ln>
                </p:spPr>
                <p:txBody>
                  <a:bodyPr rot="0" vert="horz" wrap="square" lIns="0" tIns="45720" rIns="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PCM数据</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73" name="组合 338"/>
                  <p:cNvGrpSpPr/>
                  <p:nvPr/>
                </p:nvGrpSpPr>
                <p:grpSpPr>
                  <a:xfrm>
                    <a:off x="4380" y="7071"/>
                    <a:ext cx="7541" cy="2613"/>
                    <a:chOff x="4380" y="7071"/>
                    <a:chExt cx="7541" cy="2613"/>
                  </a:xfrm>
                </p:grpSpPr>
                <p:sp>
                  <p:nvSpPr>
                    <p:cNvPr id="74" name="文本框 297"/>
                    <p:cNvSpPr txBox="1">
                      <a:spLocks noChangeArrowheads="1"/>
                    </p:cNvSpPr>
                    <p:nvPr/>
                  </p:nvSpPr>
                  <p:spPr bwMode="auto">
                    <a:xfrm>
                      <a:off x="10249" y="7669"/>
                      <a:ext cx="1672" cy="1326"/>
                    </a:xfrm>
                    <a:prstGeom prst="rect">
                      <a:avLst/>
                    </a:prstGeom>
                    <a:solidFill>
                      <a:srgbClr val="FFFFFF"/>
                    </a:solidFill>
                    <a:ln w="9525" cmpd="sng">
                      <a:solidFill>
                        <a:srgbClr val="FFFFFF"/>
                      </a:solidFill>
                      <a:miter lim="800000"/>
                    </a:ln>
                  </p:spPr>
                  <p:txBody>
                    <a:bodyPr rot="0" vert="horz" wrap="square" lIns="91440" tIns="45720" rIns="91440" bIns="45720" anchor="t" anchorCtr="0" upright="1">
                      <a:noAutofit/>
                    </a:bodyPr>
                    <a:lstStyle/>
                    <a:p>
                      <a:pPr indent="254000" algn="just">
                        <a:lnSpc>
                          <a:spcPct val="120000"/>
                        </a:lnSpc>
                      </a:pPr>
                      <a:r>
                        <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rPr>
                        <a:t>MP3</a:t>
                      </a:r>
                      <a:endPar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endParaRPr>
                    </a:p>
                    <a:p>
                      <a:pPr indent="254000" algn="just">
                        <a:lnSpc>
                          <a:spcPct val="120000"/>
                        </a:lnSpc>
                      </a:pPr>
                      <a:r>
                        <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rPr>
                        <a:t>码</a:t>
                      </a: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流</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75" name="组合 340"/>
                    <p:cNvGrpSpPr/>
                    <p:nvPr/>
                  </p:nvGrpSpPr>
                  <p:grpSpPr>
                    <a:xfrm>
                      <a:off x="4380" y="7071"/>
                      <a:ext cx="6300" cy="2613"/>
                      <a:chOff x="4380" y="7071"/>
                      <a:chExt cx="6300" cy="2613"/>
                    </a:xfrm>
                  </p:grpSpPr>
                  <p:sp>
                    <p:nvSpPr>
                      <p:cNvPr id="76" name="矩形 282"/>
                      <p:cNvSpPr>
                        <a:spLocks noChangeArrowheads="1"/>
                      </p:cNvSpPr>
                      <p:nvPr/>
                    </p:nvSpPr>
                    <p:spPr bwMode="auto">
                      <a:xfrm>
                        <a:off x="4380" y="7071"/>
                        <a:ext cx="750" cy="2459"/>
                      </a:xfrm>
                      <a:prstGeom prst="rect">
                        <a:avLst/>
                      </a:prstGeom>
                      <a:solidFill>
                        <a:srgbClr val="FFFFFF"/>
                      </a:solidFill>
                      <a:ln w="9525" cmpd="sng">
                        <a:solidFill>
                          <a:srgbClr val="000000"/>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MDCT</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78" name="自选图形 284"/>
                      <p:cNvCxnSpPr>
                        <a:cxnSpLocks noChangeShapeType="1"/>
                      </p:cNvCxnSpPr>
                      <p:nvPr/>
                    </p:nvCxnSpPr>
                    <p:spPr bwMode="auto">
                      <a:xfrm>
                        <a:off x="5130" y="7400"/>
                        <a:ext cx="675" cy="0"/>
                      </a:xfrm>
                      <a:prstGeom prst="straightConnector1">
                        <a:avLst/>
                      </a:prstGeom>
                      <a:noFill/>
                      <a:ln w="9525" cmpd="sng">
                        <a:solidFill>
                          <a:srgbClr val="000000"/>
                        </a:solidFill>
                        <a:round/>
                        <a:tailEnd type="triangle" w="med" len="med"/>
                      </a:ln>
                    </p:spPr>
                  </p:cxnSp>
                  <p:cxnSp>
                    <p:nvCxnSpPr>
                      <p:cNvPr id="79" name="自选图形 285"/>
                      <p:cNvCxnSpPr>
                        <a:cxnSpLocks noChangeShapeType="1"/>
                      </p:cNvCxnSpPr>
                      <p:nvPr/>
                    </p:nvCxnSpPr>
                    <p:spPr bwMode="auto">
                      <a:xfrm>
                        <a:off x="5130" y="7945"/>
                        <a:ext cx="675" cy="0"/>
                      </a:xfrm>
                      <a:prstGeom prst="straightConnector1">
                        <a:avLst/>
                      </a:prstGeom>
                      <a:noFill/>
                      <a:ln w="9525" cmpd="sng">
                        <a:solidFill>
                          <a:srgbClr val="000000"/>
                        </a:solidFill>
                        <a:round/>
                        <a:tailEnd type="triangle" w="med" len="med"/>
                      </a:ln>
                    </p:spPr>
                  </p:cxnSp>
                  <p:cxnSp>
                    <p:nvCxnSpPr>
                      <p:cNvPr id="80" name="自选图形 286"/>
                      <p:cNvCxnSpPr>
                        <a:cxnSpLocks noChangeShapeType="1"/>
                      </p:cNvCxnSpPr>
                      <p:nvPr/>
                    </p:nvCxnSpPr>
                    <p:spPr bwMode="auto">
                      <a:xfrm>
                        <a:off x="5130" y="8498"/>
                        <a:ext cx="675" cy="1"/>
                      </a:xfrm>
                      <a:prstGeom prst="straightConnector1">
                        <a:avLst/>
                      </a:prstGeom>
                      <a:noFill/>
                      <a:ln w="9525" cmpd="sng">
                        <a:solidFill>
                          <a:srgbClr val="000000"/>
                        </a:solidFill>
                        <a:round/>
                        <a:tailEnd type="triangle" w="med" len="med"/>
                      </a:ln>
                    </p:spPr>
                  </p:cxnSp>
                  <p:sp>
                    <p:nvSpPr>
                      <p:cNvPr id="81" name="矩形 288"/>
                      <p:cNvSpPr>
                        <a:spLocks noChangeArrowheads="1"/>
                      </p:cNvSpPr>
                      <p:nvPr/>
                    </p:nvSpPr>
                    <p:spPr bwMode="auto">
                      <a:xfrm>
                        <a:off x="7305" y="7071"/>
                        <a:ext cx="810" cy="2334"/>
                      </a:xfrm>
                      <a:prstGeom prst="rect">
                        <a:avLst/>
                      </a:prstGeom>
                      <a:solidFill>
                        <a:srgbClr val="FFFFFF"/>
                      </a:solidFill>
                      <a:ln w="9525" cmpd="sng">
                        <a:solidFill>
                          <a:srgbClr val="000000"/>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哈夫曼编码</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82" name="自选图形 289"/>
                      <p:cNvCxnSpPr>
                        <a:cxnSpLocks noChangeShapeType="1"/>
                      </p:cNvCxnSpPr>
                      <p:nvPr/>
                    </p:nvCxnSpPr>
                    <p:spPr bwMode="auto">
                      <a:xfrm>
                        <a:off x="6585" y="7400"/>
                        <a:ext cx="720" cy="0"/>
                      </a:xfrm>
                      <a:prstGeom prst="straightConnector1">
                        <a:avLst/>
                      </a:prstGeom>
                      <a:noFill/>
                      <a:ln w="9525" cmpd="sng">
                        <a:solidFill>
                          <a:srgbClr val="000000"/>
                        </a:solidFill>
                        <a:round/>
                        <a:tailEnd type="triangle" w="med" len="med"/>
                      </a:ln>
                    </p:spPr>
                  </p:cxnSp>
                  <p:cxnSp>
                    <p:nvCxnSpPr>
                      <p:cNvPr id="83" name="自选图形 290"/>
                      <p:cNvCxnSpPr>
                        <a:cxnSpLocks noChangeShapeType="1"/>
                      </p:cNvCxnSpPr>
                      <p:nvPr/>
                    </p:nvCxnSpPr>
                    <p:spPr bwMode="auto">
                      <a:xfrm>
                        <a:off x="6585" y="7945"/>
                        <a:ext cx="720" cy="0"/>
                      </a:xfrm>
                      <a:prstGeom prst="straightConnector1">
                        <a:avLst/>
                      </a:prstGeom>
                      <a:noFill/>
                      <a:ln w="9525" cmpd="sng">
                        <a:solidFill>
                          <a:srgbClr val="000000"/>
                        </a:solidFill>
                        <a:round/>
                        <a:tailEnd type="triangle" w="med" len="med"/>
                      </a:ln>
                    </p:spPr>
                  </p:cxnSp>
                  <p:cxnSp>
                    <p:nvCxnSpPr>
                      <p:cNvPr id="84" name="自选图形 291"/>
                      <p:cNvCxnSpPr>
                        <a:cxnSpLocks noChangeShapeType="1"/>
                      </p:cNvCxnSpPr>
                      <p:nvPr/>
                    </p:nvCxnSpPr>
                    <p:spPr bwMode="auto">
                      <a:xfrm flipV="1">
                        <a:off x="6585" y="8496"/>
                        <a:ext cx="720" cy="3"/>
                      </a:xfrm>
                      <a:prstGeom prst="straightConnector1">
                        <a:avLst/>
                      </a:prstGeom>
                      <a:noFill/>
                      <a:ln w="9525" cmpd="sng">
                        <a:solidFill>
                          <a:srgbClr val="000000"/>
                        </a:solidFill>
                        <a:round/>
                        <a:tailEnd type="triangle" w="med" len="med"/>
                      </a:ln>
                    </p:spPr>
                  </p:cxnSp>
                  <p:sp>
                    <p:nvSpPr>
                      <p:cNvPr id="85" name="矩形 292"/>
                      <p:cNvSpPr>
                        <a:spLocks noChangeArrowheads="1"/>
                      </p:cNvSpPr>
                      <p:nvPr/>
                    </p:nvSpPr>
                    <p:spPr bwMode="auto">
                      <a:xfrm>
                        <a:off x="8790" y="7071"/>
                        <a:ext cx="780" cy="2282"/>
                      </a:xfrm>
                      <a:prstGeom prst="rect">
                        <a:avLst/>
                      </a:prstGeom>
                      <a:solidFill>
                        <a:srgbClr val="FFFFFF"/>
                      </a:solidFill>
                      <a:ln w="9525" cmpd="sng">
                        <a:solidFill>
                          <a:srgbClr val="000000"/>
                        </a:solidFill>
                        <a:miter lim="800000"/>
                      </a:ln>
                    </p:spPr>
                    <p:txBody>
                      <a:bodyPr rot="0" vert="horz" wrap="square" lIns="91440" tIns="45720" rIns="91440" bIns="45720" anchor="t" anchorCtr="0" upright="1">
                        <a:noAutofit/>
                      </a:bodyPr>
                      <a:lstStyle/>
                      <a:p>
                        <a:pPr indent="0" algn="just">
                          <a:lnSpc>
                            <a:spcPct val="10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帧数据流形成</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a:p>
                        <a:pPr indent="30480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86" name="自选图形 294"/>
                      <p:cNvCxnSpPr>
                        <a:cxnSpLocks noChangeShapeType="1"/>
                      </p:cNvCxnSpPr>
                      <p:nvPr/>
                    </p:nvCxnSpPr>
                    <p:spPr bwMode="auto">
                      <a:xfrm>
                        <a:off x="8115" y="7943"/>
                        <a:ext cx="675" cy="0"/>
                      </a:xfrm>
                      <a:prstGeom prst="straightConnector1">
                        <a:avLst/>
                      </a:prstGeom>
                      <a:noFill/>
                      <a:ln w="9525" cmpd="sng">
                        <a:solidFill>
                          <a:srgbClr val="000000"/>
                        </a:solidFill>
                        <a:round/>
                        <a:tailEnd type="triangle" w="med" len="med"/>
                      </a:ln>
                    </p:spPr>
                  </p:cxnSp>
                  <p:cxnSp>
                    <p:nvCxnSpPr>
                      <p:cNvPr id="87" name="自选图形 298"/>
                      <p:cNvCxnSpPr>
                        <a:cxnSpLocks noChangeShapeType="1"/>
                      </p:cNvCxnSpPr>
                      <p:nvPr/>
                    </p:nvCxnSpPr>
                    <p:spPr bwMode="auto">
                      <a:xfrm flipV="1">
                        <a:off x="9570" y="7944"/>
                        <a:ext cx="1110" cy="1"/>
                      </a:xfrm>
                      <a:prstGeom prst="straightConnector1">
                        <a:avLst/>
                      </a:prstGeom>
                      <a:noFill/>
                      <a:ln w="9525" cmpd="sng">
                        <a:solidFill>
                          <a:srgbClr val="000000"/>
                        </a:solidFill>
                        <a:round/>
                        <a:tailEnd type="triangle" w="med" len="med"/>
                      </a:ln>
                    </p:spPr>
                  </p:cxnSp>
                  <p:sp>
                    <p:nvSpPr>
                      <p:cNvPr id="77" name="矩形 283"/>
                      <p:cNvSpPr>
                        <a:spLocks noChangeArrowheads="1"/>
                      </p:cNvSpPr>
                      <p:nvPr/>
                    </p:nvSpPr>
                    <p:spPr bwMode="auto">
                      <a:xfrm>
                        <a:off x="5805" y="7071"/>
                        <a:ext cx="1016" cy="2613"/>
                      </a:xfrm>
                      <a:prstGeom prst="rect">
                        <a:avLst/>
                      </a:prstGeom>
                      <a:solidFill>
                        <a:srgbClr val="FFFFFF"/>
                      </a:solidFill>
                      <a:ln w="9525" cmpd="sng">
                        <a:solidFill>
                          <a:srgbClr val="000000"/>
                        </a:solidFill>
                        <a:miter lim="800000"/>
                      </a:ln>
                    </p:spPr>
                    <p:txBody>
                      <a:bodyPr rot="0" vert="horz" wrap="square" lIns="91440" tIns="45720" rIns="91440" bIns="45720" anchor="t" anchorCtr="0" upright="1">
                        <a:noAutofit/>
                      </a:bodyPr>
                      <a:lstStyle/>
                      <a:p>
                        <a:pPr indent="0" algn="just">
                          <a:lnSpc>
                            <a:spcPct val="10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比特和比例因子分配</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sp>
                <p:nvSpPr>
                  <p:cNvPr id="88" name="矩形 301"/>
                  <p:cNvSpPr>
                    <a:spLocks noChangeArrowheads="1"/>
                  </p:cNvSpPr>
                  <p:nvPr/>
                </p:nvSpPr>
                <p:spPr bwMode="auto">
                  <a:xfrm>
                    <a:off x="4513" y="10481"/>
                    <a:ext cx="2476" cy="599"/>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心理声学模型</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89" name="矩形 277"/>
                  <p:cNvSpPr>
                    <a:spLocks noChangeArrowheads="1"/>
                  </p:cNvSpPr>
                  <p:nvPr/>
                </p:nvSpPr>
                <p:spPr bwMode="auto">
                  <a:xfrm>
                    <a:off x="2925" y="7071"/>
                    <a:ext cx="780" cy="2778"/>
                  </a:xfrm>
                  <a:prstGeom prst="rect">
                    <a:avLst/>
                  </a:prstGeom>
                  <a:solidFill>
                    <a:srgbClr val="FFFFFF"/>
                  </a:solidFill>
                  <a:ln w="9525" cmpd="sng">
                    <a:solidFill>
                      <a:srgbClr val="000000"/>
                    </a:solidFill>
                    <a:miter lim="800000"/>
                  </a:ln>
                </p:spPr>
                <p:txBody>
                  <a:bodyPr rot="0" vert="horz" wrap="square" lIns="91440" tIns="45720" rIns="91440" bIns="45720" anchor="t" anchorCtr="0" upright="1">
                    <a:noAutofit/>
                  </a:bodyPr>
                  <a:lstStyle/>
                  <a:p>
                    <a:pPr indent="0" algn="ctr">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子带滤波器组</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90" name="自选图形 300"/>
                  <p:cNvCxnSpPr>
                    <a:cxnSpLocks noChangeShapeType="1"/>
                  </p:cNvCxnSpPr>
                  <p:nvPr/>
                </p:nvCxnSpPr>
                <p:spPr bwMode="auto">
                  <a:xfrm rot="16200000" flipH="1">
                    <a:off x="1895" y="8104"/>
                    <a:ext cx="3120" cy="2115"/>
                  </a:xfrm>
                  <a:prstGeom prst="bentConnector3">
                    <a:avLst>
                      <a:gd name="adj1" fmla="val 100060"/>
                    </a:avLst>
                  </a:prstGeom>
                  <a:noFill/>
                  <a:ln w="9525" cmpd="sng">
                    <a:solidFill>
                      <a:srgbClr val="000000"/>
                    </a:solidFill>
                    <a:miter lim="800000"/>
                    <a:tailEnd type="triangle" w="med" len="med"/>
                  </a:ln>
                </p:spPr>
              </p:cxnSp>
            </p:grpSp>
          </p:grpSp>
        </p:grpSp>
      </p:grpSp>
      <p:sp>
        <p:nvSpPr>
          <p:cNvPr id="4" name="Rectangle 3"/>
          <p:cNvSpPr>
            <a:spLocks noGrp="1" noChangeArrowheads="1"/>
          </p:cNvSpPr>
          <p:nvPr/>
        </p:nvSpPr>
        <p:spPr>
          <a:xfrm>
            <a:off x="551180" y="981075"/>
            <a:ext cx="6358890" cy="296672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cs typeface="+mn-ea"/>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r>
              <a:rPr lang="zh-CN" altLang="en-US"/>
              <a:t>MP3编码算法的过程如下图所示</a:t>
            </a:r>
            <a:endParaRPr lang="zh-CN" altLang="en-US"/>
          </a:p>
        </p:txBody>
      </p:sp>
      <p:sp>
        <p:nvSpPr>
          <p:cNvPr id="5" name="Rectangle 3"/>
          <p:cNvSpPr>
            <a:spLocks noGrp="1" noChangeArrowheads="1"/>
          </p:cNvSpPr>
          <p:nvPr/>
        </p:nvSpPr>
        <p:spPr>
          <a:xfrm>
            <a:off x="7541260" y="2061210"/>
            <a:ext cx="4118610" cy="296672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cs typeface="+mn-ea"/>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r>
              <a:rPr lang="zh-CN" altLang="en-US"/>
              <a:t>MP3编码算法流程大致可分为四部分：</a:t>
            </a:r>
            <a:endParaRPr lang="zh-CN" altLang="en-US"/>
          </a:p>
          <a:p>
            <a:pPr lvl="1" algn="l" eaLnBrk="1" hangingPunct="1"/>
            <a:r>
              <a:rPr lang="zh-CN" altLang="en-US" kern="0">
                <a:latin typeface="宋体" panose="02010600030101010101" pitchFamily="2" charset="-122"/>
                <a:ea typeface="+mn-ea"/>
                <a:cs typeface="+mn-ea"/>
              </a:rPr>
              <a:t>时频映射</a:t>
            </a:r>
            <a:endParaRPr lang="zh-CN" altLang="en-US" kern="0">
              <a:latin typeface="宋体" panose="02010600030101010101" pitchFamily="2" charset="-122"/>
              <a:ea typeface="+mn-ea"/>
              <a:cs typeface="+mn-ea"/>
            </a:endParaRPr>
          </a:p>
          <a:p>
            <a:pPr lvl="1" algn="l" eaLnBrk="1" hangingPunct="1"/>
            <a:r>
              <a:rPr lang="zh-CN" altLang="en-US" kern="0">
                <a:latin typeface="宋体" panose="02010600030101010101" pitchFamily="2" charset="-122"/>
                <a:ea typeface="+mn-ea"/>
                <a:cs typeface="+mn-ea"/>
              </a:rPr>
              <a:t>心理声学模型</a:t>
            </a:r>
            <a:endParaRPr lang="zh-CN" altLang="en-US" kern="0">
              <a:latin typeface="宋体" panose="02010600030101010101" pitchFamily="2" charset="-122"/>
              <a:ea typeface="+mn-ea"/>
              <a:cs typeface="+mn-ea"/>
            </a:endParaRPr>
          </a:p>
          <a:p>
            <a:pPr lvl="1" algn="l" eaLnBrk="1" hangingPunct="1"/>
            <a:r>
              <a:rPr lang="zh-CN" altLang="en-US" kern="0">
                <a:latin typeface="宋体" panose="02010600030101010101" pitchFamily="2" charset="-122"/>
                <a:ea typeface="+mn-ea"/>
                <a:cs typeface="+mn-ea"/>
              </a:rPr>
              <a:t>量化编码</a:t>
            </a:r>
            <a:endParaRPr lang="zh-CN" altLang="en-US" kern="0">
              <a:latin typeface="宋体" panose="02010600030101010101" pitchFamily="2" charset="-122"/>
              <a:ea typeface="+mn-ea"/>
              <a:cs typeface="+mn-ea"/>
            </a:endParaRPr>
          </a:p>
          <a:p>
            <a:pPr lvl="1" algn="l" eaLnBrk="1" hangingPunct="1"/>
            <a:r>
              <a:rPr lang="zh-CN" altLang="en-US" kern="0">
                <a:latin typeface="宋体" panose="02010600030101010101" pitchFamily="2" charset="-122"/>
                <a:ea typeface="+mn-ea"/>
                <a:cs typeface="+mn-ea"/>
              </a:rPr>
              <a:t>帧数据流格式化</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r>
              <a:rPr lang="en-US" altLang="zh-CN" sz="2800" b="1" dirty="0">
                <a:solidFill>
                  <a:srgbClr val="023B8C"/>
                </a:solidFill>
                <a:latin typeface="微软雅黑" panose="020B0503020204020204" charset="-122"/>
                <a:ea typeface="微软雅黑" panose="020B0503020204020204" charset="-122"/>
                <a:sym typeface="+mn-ea"/>
              </a:rPr>
              <a:t>——MP3编码算法</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4" name="文本框 3"/>
          <p:cNvSpPr txBox="1"/>
          <p:nvPr/>
        </p:nvSpPr>
        <p:spPr>
          <a:xfrm>
            <a:off x="1271270" y="1844675"/>
            <a:ext cx="9681845" cy="2971800"/>
          </a:xfrm>
          <a:prstGeom prst="rect">
            <a:avLst/>
          </a:prstGeom>
        </p:spPr>
        <p:txBody>
          <a:bodyPr wrap="square">
            <a:spAutoFit/>
          </a:bodyPr>
          <a:p>
            <a:pPr marL="342900" indent="-342900" algn="l">
              <a:lnSpc>
                <a:spcPct val="100000"/>
              </a:lnSpc>
              <a:spcBef>
                <a:spcPct val="20000"/>
              </a:spcBef>
              <a:buClr>
                <a:schemeClr val="tx2"/>
              </a:buClr>
              <a:buSzPct val="70000"/>
              <a:buFont typeface="Wingdings" panose="05000000000000000000" pitchFamily="2" charset="2"/>
              <a:buChar char="¡"/>
            </a:pPr>
            <a:r>
              <a:rPr lang="zh-CN" altLang="en-US" sz="3600">
                <a:latin typeface="Verdana" panose="020B0604030504040204" pitchFamily="34" charset="0"/>
                <a:cs typeface="+mn-ea"/>
              </a:rPr>
              <a:t>MP3的压缩算法实质上属于有损压缩，而对于人耳来说，MP3的压缩算法属于无损压缩。</a:t>
            </a:r>
            <a:endParaRPr lang="zh-CN" altLang="en-US" sz="3600">
              <a:latin typeface="Verdana" panose="020B0604030504040204" pitchFamily="34" charset="0"/>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3600">
                <a:latin typeface="Verdana" panose="020B0604030504040204" pitchFamily="34" charset="0"/>
                <a:cs typeface="+mn-ea"/>
              </a:rPr>
              <a:t>这里应用的理论基础是人耳听觉系统的掩蔽效应，包括时域掩蔽和频域掩蔽效应，主要是应用频域掩蔽效应。</a:t>
            </a:r>
            <a:endParaRPr lang="zh-CN" altLang="en-US" sz="3600">
              <a:latin typeface="Verdana" panose="020B0604030504040204" pitchFamily="34" charset="0"/>
              <a:ea typeface="宋体" panose="02010600030101010101" pitchFamily="2"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r>
              <a:rPr lang="en-US" altLang="zh-CN" sz="2800" b="1" dirty="0">
                <a:solidFill>
                  <a:srgbClr val="023B8C"/>
                </a:solidFill>
                <a:latin typeface="微软雅黑" panose="020B0503020204020204" charset="-122"/>
                <a:ea typeface="微软雅黑" panose="020B0503020204020204" charset="-122"/>
                <a:sym typeface="+mn-ea"/>
              </a:rPr>
              <a:t>——MP3编码算法</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839470" y="1341120"/>
            <a:ext cx="9952990" cy="4372610"/>
          </a:xfrm>
          <a:prstGeom prst="rect">
            <a:avLst/>
          </a:prstGeom>
        </p:spPr>
        <p:txBody>
          <a:bodyPr wrap="square">
            <a:spAutoFit/>
          </a:bodyPr>
          <a:p>
            <a:pPr marL="342900" indent="-342900" algn="l">
              <a:lnSpc>
                <a:spcPct val="90000"/>
              </a:lnSpc>
              <a:spcBef>
                <a:spcPct val="20000"/>
              </a:spcBef>
              <a:buClr>
                <a:schemeClr val="tx2"/>
              </a:buClr>
              <a:buSzPct val="70000"/>
              <a:buFont typeface="Wingdings" panose="05000000000000000000" pitchFamily="2" charset="2"/>
              <a:buChar char="¡"/>
            </a:pPr>
            <a:r>
              <a:rPr lang="zh-CN" altLang="en-US" sz="2900" kern="0">
                <a:latin typeface="+mn-lt"/>
                <a:ea typeface="+mn-ea"/>
              </a:rPr>
              <a:t>时频映射部分：包括子带滤波器组0和修正的离散余弦变换（Modified Discrete Cosine Transform，MDCT）。</a:t>
            </a:r>
            <a:endParaRPr lang="zh-CN" altLang="en-US" sz="2900" kern="0">
              <a:latin typeface="+mn-lt"/>
              <a:ea typeface="+mn-ea"/>
            </a:endParaRPr>
          </a:p>
          <a:p>
            <a:pPr marL="342900" indent="-342900" algn="l">
              <a:lnSpc>
                <a:spcPct val="90000"/>
              </a:lnSpc>
              <a:spcBef>
                <a:spcPct val="20000"/>
              </a:spcBef>
              <a:buClr>
                <a:schemeClr val="tx2"/>
              </a:buClr>
              <a:buSzPct val="70000"/>
              <a:buFont typeface="Wingdings" panose="05000000000000000000" pitchFamily="2" charset="2"/>
              <a:buChar char="¡"/>
            </a:pPr>
            <a:r>
              <a:rPr lang="zh-CN" altLang="en-US" sz="2900" kern="0">
                <a:latin typeface="+mn-lt"/>
                <a:ea typeface="+mn-ea"/>
              </a:rPr>
              <a:t>量化编码：包括比特和比例因子分配和霍夫曼编码。</a:t>
            </a:r>
            <a:endParaRPr lang="zh-CN" altLang="en-US" sz="2900" kern="0">
              <a:latin typeface="+mn-lt"/>
              <a:ea typeface="+mn-ea"/>
            </a:endParaRPr>
          </a:p>
          <a:p>
            <a:pPr marL="342900" indent="-342900" algn="l">
              <a:lnSpc>
                <a:spcPct val="90000"/>
              </a:lnSpc>
              <a:spcBef>
                <a:spcPct val="20000"/>
              </a:spcBef>
              <a:buClr>
                <a:schemeClr val="tx2"/>
              </a:buClr>
              <a:buSzPct val="70000"/>
              <a:buFont typeface="Wingdings" panose="05000000000000000000" pitchFamily="2" charset="2"/>
              <a:buChar char="¡"/>
            </a:pPr>
            <a:r>
              <a:rPr lang="zh-CN" altLang="en-US" sz="2900" kern="0">
                <a:latin typeface="+mn-lt"/>
                <a:ea typeface="+mn-ea"/>
                <a:sym typeface="+mn-ea"/>
              </a:rPr>
              <a:t>心理声学模型：</a:t>
            </a:r>
            <a:r>
              <a:rPr lang="zh-CN" altLang="en-US" sz="2900" kern="0">
                <a:latin typeface="+mn-lt"/>
                <a:ea typeface="+mn-ea"/>
              </a:rPr>
              <a:t>量化在心理声学模型的控制下进行，原始的PCM音频数据分为两路，一路进入子带滤波器组，另一路进入心理声学模型。心理声学模型是对掩蔽效应的具体应用。</a:t>
            </a:r>
            <a:endParaRPr lang="zh-CN" altLang="en-US" sz="2900" kern="0">
              <a:latin typeface="+mn-lt"/>
              <a:ea typeface="+mn-ea"/>
            </a:endParaRPr>
          </a:p>
          <a:p>
            <a:pPr marL="342900" indent="-342900" algn="l">
              <a:lnSpc>
                <a:spcPct val="90000"/>
              </a:lnSpc>
              <a:spcBef>
                <a:spcPct val="20000"/>
              </a:spcBef>
              <a:buClr>
                <a:schemeClr val="tx2"/>
              </a:buClr>
              <a:buSzPct val="70000"/>
              <a:buFont typeface="Wingdings" panose="05000000000000000000" pitchFamily="2" charset="2"/>
              <a:buChar char="¡"/>
            </a:pPr>
            <a:r>
              <a:rPr lang="zh-CN" altLang="en-US" sz="2900" kern="0">
                <a:latin typeface="+mn-lt"/>
                <a:ea typeface="+mn-ea"/>
              </a:rPr>
              <a:t>帧数据流格式化：把比特流打包形成MP3码流。也就是按照MP3标准所规定的码流格式，把帧头、纠错码、边信息、主数据、附加数据等有关信息组合成适合于解码的帧。</a:t>
            </a:r>
            <a:endParaRPr lang="zh-CN" altLang="en-US" sz="1600">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r>
              <a:rPr lang="en-US" altLang="zh-CN" sz="2800" b="1" dirty="0">
                <a:solidFill>
                  <a:srgbClr val="023B8C"/>
                </a:solidFill>
                <a:latin typeface="微软雅黑" panose="020B0503020204020204" charset="-122"/>
                <a:ea typeface="微软雅黑" panose="020B0503020204020204" charset="-122"/>
                <a:sym typeface="+mn-ea"/>
              </a:rPr>
              <a:t>——MP3</a:t>
            </a:r>
            <a:r>
              <a:rPr lang="zh-CN" altLang="en-US" sz="2800" b="1" dirty="0">
                <a:solidFill>
                  <a:srgbClr val="023B8C"/>
                </a:solidFill>
                <a:latin typeface="微软雅黑" panose="020B0503020204020204" charset="-122"/>
                <a:ea typeface="微软雅黑" panose="020B0503020204020204" charset="-122"/>
                <a:sym typeface="+mn-ea"/>
              </a:rPr>
              <a:t>解码</a:t>
            </a:r>
            <a:r>
              <a:rPr lang="zh-CN" altLang="en-US" sz="2800" b="1" dirty="0">
                <a:solidFill>
                  <a:srgbClr val="023B8C"/>
                </a:solidFill>
                <a:latin typeface="微软雅黑" panose="020B0503020204020204" charset="-122"/>
                <a:ea typeface="微软雅黑" panose="020B0503020204020204" charset="-122"/>
                <a:sym typeface="+mn-ea"/>
              </a:rPr>
              <a:t>算法</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grpSp>
        <p:nvGrpSpPr>
          <p:cNvPr id="16680" name="组合 369"/>
          <p:cNvGrpSpPr/>
          <p:nvPr/>
        </p:nvGrpSpPr>
        <p:grpSpPr>
          <a:xfrm>
            <a:off x="5807710" y="1412875"/>
            <a:ext cx="3570605" cy="4432935"/>
            <a:chOff x="4636" y="6785"/>
            <a:chExt cx="4009" cy="6415"/>
          </a:xfrm>
        </p:grpSpPr>
        <p:sp>
          <p:nvSpPr>
            <p:cNvPr id="16681" name="文本框 307"/>
            <p:cNvSpPr txBox="1">
              <a:spLocks noChangeArrowheads="1"/>
            </p:cNvSpPr>
            <p:nvPr/>
          </p:nvSpPr>
          <p:spPr bwMode="auto">
            <a:xfrm>
              <a:off x="6205" y="7287"/>
              <a:ext cx="2082" cy="586"/>
            </a:xfrm>
            <a:prstGeom prst="rect">
              <a:avLst/>
            </a:prstGeom>
            <a:solidFill>
              <a:srgbClr val="FFFFFF"/>
            </a:solidFill>
            <a:ln w="9525" cmpd="sng">
              <a:solidFill>
                <a:srgbClr val="FFFFFF"/>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标准比特流输入</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16684" name="组合 373"/>
            <p:cNvGrpSpPr/>
            <p:nvPr/>
          </p:nvGrpSpPr>
          <p:grpSpPr>
            <a:xfrm>
              <a:off x="4636" y="6785"/>
              <a:ext cx="4009" cy="6415"/>
              <a:chOff x="4755" y="8235"/>
              <a:chExt cx="4009" cy="6415"/>
            </a:xfrm>
          </p:grpSpPr>
          <p:sp>
            <p:nvSpPr>
              <p:cNvPr id="16685" name="矩形 305"/>
              <p:cNvSpPr>
                <a:spLocks noChangeArrowheads="1"/>
              </p:cNvSpPr>
              <p:nvPr/>
            </p:nvSpPr>
            <p:spPr bwMode="auto">
              <a:xfrm>
                <a:off x="5576" y="8235"/>
                <a:ext cx="1429" cy="565"/>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15240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开  始</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6686" name="自选图形 308"/>
              <p:cNvCxnSpPr>
                <a:cxnSpLocks noChangeShapeType="1"/>
              </p:cNvCxnSpPr>
              <p:nvPr/>
            </p:nvCxnSpPr>
            <p:spPr bwMode="auto">
              <a:xfrm flipH="1">
                <a:off x="6300" y="8800"/>
                <a:ext cx="8" cy="479"/>
              </a:xfrm>
              <a:prstGeom prst="straightConnector1">
                <a:avLst/>
              </a:prstGeom>
              <a:noFill/>
              <a:ln w="9525" cmpd="sng">
                <a:solidFill>
                  <a:srgbClr val="000000"/>
                </a:solidFill>
                <a:round/>
                <a:tailEnd type="triangle" w="med" len="med"/>
              </a:ln>
            </p:spPr>
          </p:cxnSp>
          <p:sp>
            <p:nvSpPr>
              <p:cNvPr id="16687" name="矩形 309"/>
              <p:cNvSpPr>
                <a:spLocks noChangeArrowheads="1"/>
              </p:cNvSpPr>
              <p:nvPr/>
            </p:nvSpPr>
            <p:spPr bwMode="auto">
              <a:xfrm>
                <a:off x="4755" y="9287"/>
                <a:ext cx="3080" cy="586"/>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比特流按帧解位，并延迟</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688" name="矩形 310"/>
              <p:cNvSpPr>
                <a:spLocks noChangeArrowheads="1"/>
              </p:cNvSpPr>
              <p:nvPr/>
            </p:nvSpPr>
            <p:spPr bwMode="auto">
              <a:xfrm>
                <a:off x="4755" y="10168"/>
                <a:ext cx="3080" cy="531"/>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0" algn="ctr">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霍夫曼解码</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689" name="矩形 311"/>
              <p:cNvSpPr>
                <a:spLocks noChangeArrowheads="1"/>
              </p:cNvSpPr>
              <p:nvPr/>
            </p:nvSpPr>
            <p:spPr bwMode="auto">
              <a:xfrm>
                <a:off x="4755" y="11098"/>
                <a:ext cx="3105" cy="503"/>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30480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频增值的逆量化</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690" name="矩形 312"/>
              <p:cNvSpPr>
                <a:spLocks noChangeArrowheads="1"/>
              </p:cNvSpPr>
              <p:nvPr/>
            </p:nvSpPr>
            <p:spPr bwMode="auto">
              <a:xfrm>
                <a:off x="4755" y="12028"/>
                <a:ext cx="3131" cy="499"/>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38100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MDCT逆变换</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691" name="矩形 313"/>
              <p:cNvSpPr>
                <a:spLocks noChangeArrowheads="1"/>
              </p:cNvSpPr>
              <p:nvPr/>
            </p:nvSpPr>
            <p:spPr bwMode="auto">
              <a:xfrm>
                <a:off x="4780" y="12928"/>
                <a:ext cx="3106" cy="488"/>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457200" algn="just">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合成滤波器</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6692" name="自选图形 315"/>
              <p:cNvCxnSpPr>
                <a:cxnSpLocks noChangeShapeType="1"/>
                <a:stCxn id="16687" idx="2"/>
                <a:endCxn id="16688" idx="0"/>
              </p:cNvCxnSpPr>
              <p:nvPr/>
            </p:nvCxnSpPr>
            <p:spPr bwMode="auto">
              <a:xfrm>
                <a:off x="6295" y="9873"/>
                <a:ext cx="0" cy="295"/>
              </a:xfrm>
              <a:prstGeom prst="straightConnector1">
                <a:avLst/>
              </a:prstGeom>
              <a:noFill/>
              <a:ln w="9525" cmpd="sng">
                <a:solidFill>
                  <a:srgbClr val="000000"/>
                </a:solidFill>
                <a:round/>
                <a:tailEnd type="triangle" w="med" len="med"/>
              </a:ln>
            </p:spPr>
          </p:cxnSp>
          <p:cxnSp>
            <p:nvCxnSpPr>
              <p:cNvPr id="16693" name="自选图形 316"/>
              <p:cNvCxnSpPr>
                <a:cxnSpLocks noChangeShapeType="1"/>
                <a:stCxn id="16688" idx="2"/>
                <a:endCxn id="16689" idx="0"/>
              </p:cNvCxnSpPr>
              <p:nvPr/>
            </p:nvCxnSpPr>
            <p:spPr bwMode="auto">
              <a:xfrm>
                <a:off x="6295" y="10699"/>
                <a:ext cx="13" cy="399"/>
              </a:xfrm>
              <a:prstGeom prst="straightConnector1">
                <a:avLst/>
              </a:prstGeom>
              <a:noFill/>
              <a:ln w="9525" cmpd="sng">
                <a:solidFill>
                  <a:srgbClr val="000000"/>
                </a:solidFill>
                <a:round/>
                <a:tailEnd type="triangle" w="med" len="med"/>
              </a:ln>
            </p:spPr>
          </p:cxnSp>
          <p:cxnSp>
            <p:nvCxnSpPr>
              <p:cNvPr id="16694" name="自选图形 317"/>
              <p:cNvCxnSpPr>
                <a:cxnSpLocks noChangeShapeType="1"/>
              </p:cNvCxnSpPr>
              <p:nvPr/>
            </p:nvCxnSpPr>
            <p:spPr bwMode="auto">
              <a:xfrm>
                <a:off x="6324" y="11611"/>
                <a:ext cx="16" cy="427"/>
              </a:xfrm>
              <a:prstGeom prst="straightConnector1">
                <a:avLst/>
              </a:prstGeom>
              <a:noFill/>
              <a:ln w="9525" cmpd="sng">
                <a:solidFill>
                  <a:srgbClr val="000000"/>
                </a:solidFill>
                <a:round/>
                <a:tailEnd type="triangle" w="med" len="med"/>
              </a:ln>
            </p:spPr>
          </p:cxnSp>
          <p:cxnSp>
            <p:nvCxnSpPr>
              <p:cNvPr id="16695" name="自选图形 318"/>
              <p:cNvCxnSpPr>
                <a:cxnSpLocks noChangeShapeType="1"/>
                <a:stCxn id="16690" idx="2"/>
                <a:endCxn id="16691" idx="0"/>
              </p:cNvCxnSpPr>
              <p:nvPr/>
            </p:nvCxnSpPr>
            <p:spPr bwMode="auto">
              <a:xfrm>
                <a:off x="6321" y="12527"/>
                <a:ext cx="12" cy="401"/>
              </a:xfrm>
              <a:prstGeom prst="straightConnector1">
                <a:avLst/>
              </a:prstGeom>
              <a:noFill/>
              <a:ln w="9525" cmpd="sng">
                <a:solidFill>
                  <a:srgbClr val="000000"/>
                </a:solidFill>
                <a:round/>
                <a:tailEnd type="triangle" w="med" len="med"/>
              </a:ln>
            </p:spPr>
          </p:cxnSp>
          <p:cxnSp>
            <p:nvCxnSpPr>
              <p:cNvPr id="16696" name="自选图形 319"/>
              <p:cNvCxnSpPr>
                <a:cxnSpLocks noChangeShapeType="1"/>
              </p:cNvCxnSpPr>
              <p:nvPr/>
            </p:nvCxnSpPr>
            <p:spPr bwMode="auto">
              <a:xfrm>
                <a:off x="6321" y="13406"/>
                <a:ext cx="9" cy="696"/>
              </a:xfrm>
              <a:prstGeom prst="straightConnector1">
                <a:avLst/>
              </a:prstGeom>
              <a:noFill/>
              <a:ln w="9525" cmpd="sng">
                <a:solidFill>
                  <a:srgbClr val="000000"/>
                </a:solidFill>
                <a:round/>
                <a:tailEnd type="triangle" w="med" len="med"/>
              </a:ln>
            </p:spPr>
          </p:cxnSp>
          <p:sp>
            <p:nvSpPr>
              <p:cNvPr id="16697" name="文本框 320"/>
              <p:cNvSpPr txBox="1">
                <a:spLocks noChangeArrowheads="1"/>
              </p:cNvSpPr>
              <p:nvPr/>
            </p:nvSpPr>
            <p:spPr bwMode="auto">
              <a:xfrm>
                <a:off x="6821" y="13511"/>
                <a:ext cx="1943" cy="878"/>
              </a:xfrm>
              <a:prstGeom prst="rect">
                <a:avLst/>
              </a:prstGeom>
              <a:solidFill>
                <a:srgbClr val="FFFFFF"/>
              </a:solidFill>
              <a:ln w="9525" cmpd="sng">
                <a:solidFill>
                  <a:srgbClr val="FFFFFF"/>
                </a:solidFill>
                <a:miter lim="800000"/>
              </a:ln>
            </p:spPr>
            <p:txBody>
              <a:bodyPr rot="0" vert="horz" wrap="square" lIns="0" tIns="0" rIns="0" bIns="0" anchor="t" anchorCtr="0" upright="1">
                <a:noAutofit/>
              </a:bodyPr>
              <a:lstStyle/>
              <a:p>
                <a:pPr indent="0" algn="just">
                  <a:lnSpc>
                    <a:spcPct val="120000"/>
                  </a:lnSpc>
                </a:pPr>
                <a:r>
                  <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rPr>
                  <a:t>重建数字音频信号</a:t>
                </a:r>
                <a:endPar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endParaRPr>
              </a:p>
              <a:p>
                <a:pPr indent="254000" algn="just">
                  <a:lnSpc>
                    <a:spcPct val="120000"/>
                  </a:lnSpc>
                </a:pPr>
                <a:r>
                  <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rPr>
                  <a:t>（PCM信号）</a:t>
                </a:r>
                <a:endPar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698" name="矩形 314"/>
              <p:cNvSpPr>
                <a:spLocks noChangeArrowheads="1"/>
              </p:cNvSpPr>
              <p:nvPr/>
            </p:nvSpPr>
            <p:spPr bwMode="auto">
              <a:xfrm>
                <a:off x="5660" y="14102"/>
                <a:ext cx="1368" cy="548"/>
              </a:xfrm>
              <a:prstGeom prst="rect">
                <a:avLst/>
              </a:prstGeom>
              <a:solidFill>
                <a:srgbClr val="FFFFFF"/>
              </a:solidFill>
              <a:ln w="9525" cmpd="sng" algn="ctr">
                <a:solidFill>
                  <a:srgbClr val="000000"/>
                </a:solidFill>
                <a:miter lim="800000"/>
              </a:ln>
            </p:spPr>
            <p:txBody>
              <a:bodyPr rot="0" vert="horz" wrap="square" lIns="91440" tIns="45720" rIns="91440" bIns="45720" anchor="t" anchorCtr="0" upright="1">
                <a:noAutofit/>
              </a:bodyPr>
              <a:lstStyle/>
              <a:p>
                <a:pPr indent="0" algn="ctr">
                  <a:lnSpc>
                    <a:spcPct val="120000"/>
                  </a:lnSpc>
                </a:pPr>
                <a:r>
                  <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rPr>
                  <a:t>结  束</a:t>
                </a:r>
                <a:endParaRPr lang="en-US" altLang="zh-CN" sz="12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sp>
        <p:nvSpPr>
          <p:cNvPr id="3" name="文本框 2"/>
          <p:cNvSpPr txBox="1"/>
          <p:nvPr/>
        </p:nvSpPr>
        <p:spPr>
          <a:xfrm>
            <a:off x="1102995" y="1341120"/>
            <a:ext cx="5080000" cy="537210"/>
          </a:xfrm>
          <a:prstGeom prst="rect">
            <a:avLst/>
          </a:prstGeom>
        </p:spPr>
        <p:txBody>
          <a:bodyPr>
            <a:spAutoFit/>
          </a:bodyPr>
          <a:p>
            <a:pPr marL="342900" indent="-342900" algn="l">
              <a:lnSpc>
                <a:spcPct val="100000"/>
              </a:lnSpc>
              <a:spcBef>
                <a:spcPct val="20000"/>
              </a:spcBef>
              <a:buClr>
                <a:schemeClr val="tx2"/>
              </a:buClr>
              <a:buSzPct val="70000"/>
              <a:buFont typeface="Wingdings" panose="05000000000000000000" pitchFamily="2" charset="2"/>
              <a:buChar char="¡"/>
            </a:pPr>
            <a:r>
              <a:rPr lang="zh-CN" altLang="en-US" sz="2900">
                <a:latin typeface="Verdana" panose="020B0604030504040204" pitchFamily="34" charset="0"/>
                <a:cs typeface="+mn-ea"/>
              </a:rPr>
              <a:t>解码是编码的逆过程</a:t>
            </a:r>
            <a:endParaRPr lang="zh-CN" altLang="en-US" sz="2900">
              <a:latin typeface="Verdana" panose="020B0604030504040204" pitchFamily="34" charset="0"/>
              <a:ea typeface="宋体" panose="02010600030101010101" pitchFamily="2"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基于MP3的音频信息隐藏算法</a:t>
            </a:r>
            <a:r>
              <a:rPr lang="en-US" altLang="zh-CN" sz="2800" b="1" dirty="0">
                <a:solidFill>
                  <a:srgbClr val="023B8C"/>
                </a:solidFill>
                <a:latin typeface="微软雅黑" panose="020B0503020204020204" charset="-122"/>
                <a:ea typeface="微软雅黑" panose="020B0503020204020204" charset="-122"/>
                <a:sym typeface="+mn-ea"/>
              </a:rPr>
              <a:t>——MP3</a:t>
            </a:r>
            <a:r>
              <a:rPr lang="zh-CN" altLang="en-US" sz="2800" b="1" dirty="0">
                <a:solidFill>
                  <a:srgbClr val="023B8C"/>
                </a:solidFill>
                <a:latin typeface="微软雅黑" panose="020B0503020204020204" charset="-122"/>
                <a:ea typeface="微软雅黑" panose="020B0503020204020204" charset="-122"/>
                <a:sym typeface="+mn-ea"/>
              </a:rPr>
              <a:t>解码</a:t>
            </a:r>
            <a:r>
              <a:rPr lang="zh-CN" altLang="en-US" sz="2800" b="1" dirty="0">
                <a:solidFill>
                  <a:srgbClr val="023B8C"/>
                </a:solidFill>
                <a:latin typeface="微软雅黑" panose="020B0503020204020204" charset="-122"/>
                <a:ea typeface="微软雅黑" panose="020B0503020204020204" charset="-122"/>
                <a:sym typeface="+mn-ea"/>
              </a:rPr>
              <a:t>算法</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4" name="文本框 3"/>
          <p:cNvSpPr txBox="1"/>
          <p:nvPr/>
        </p:nvSpPr>
        <p:spPr>
          <a:xfrm>
            <a:off x="1199515" y="1412875"/>
            <a:ext cx="9203055" cy="4375150"/>
          </a:xfrm>
          <a:prstGeom prst="rect">
            <a:avLst/>
          </a:prstGeom>
        </p:spPr>
        <p:txBody>
          <a:bodyPr wrap="square">
            <a:spAutoFit/>
          </a:bodyPr>
          <a:p>
            <a:pPr marL="342900" indent="-342900" algn="l">
              <a:lnSpc>
                <a:spcPct val="100000"/>
              </a:lnSpc>
              <a:spcBef>
                <a:spcPct val="20000"/>
              </a:spcBef>
              <a:buClr>
                <a:schemeClr val="tx2"/>
              </a:buClr>
              <a:buSzPct val="70000"/>
              <a:buFont typeface="Wingdings" panose="05000000000000000000" pitchFamily="2" charset="2"/>
              <a:buChar char="¡"/>
            </a:pPr>
            <a:r>
              <a:rPr lang="zh-CN" altLang="en-US" sz="2400">
                <a:latin typeface="Verdana" panose="020B0604030504040204" pitchFamily="34" charset="0"/>
                <a:ea typeface="宋体" panose="02010600030101010101" pitchFamily="2" charset="-122"/>
                <a:cs typeface="+mn-ea"/>
              </a:rPr>
              <a:t>MP3Stego</a:t>
            </a:r>
            <a:r>
              <a:rPr lang="zh-CN" altLang="en-US" sz="2400">
                <a:latin typeface="Verdana" panose="020B0604030504040204" pitchFamily="34" charset="0"/>
                <a:ea typeface="宋体" panose="02010600030101010101" pitchFamily="2" charset="-122"/>
                <a:cs typeface="+mn-ea"/>
              </a:rPr>
              <a:t>是一个公开源代码的免费程序，是在MP3上进行水印嵌入研究最具有代表性的软件。</a:t>
            </a:r>
            <a:endParaRPr lang="zh-CN" altLang="en-US" sz="2400">
              <a:latin typeface="Verdana" panose="020B0604030504040204" pitchFamily="34" charset="0"/>
              <a:ea typeface="宋体" panose="02010600030101010101" pitchFamily="2" charset="-122"/>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2400">
                <a:latin typeface="Verdana" panose="020B0604030504040204" pitchFamily="34" charset="0"/>
                <a:ea typeface="宋体" panose="02010600030101010101" pitchFamily="2" charset="-122"/>
                <a:cs typeface="+mn-ea"/>
              </a:rPr>
              <a:t>MP3Stego在</a:t>
            </a:r>
            <a:r>
              <a:rPr lang="zh-CN" altLang="en-US" sz="2400">
                <a:latin typeface="Verdana" panose="020B0604030504040204" pitchFamily="34" charset="0"/>
                <a:cs typeface="+mn-ea"/>
              </a:rPr>
              <a:t>WAV</a:t>
            </a:r>
            <a:r>
              <a:rPr lang="zh-CN" altLang="en-US" sz="2400">
                <a:latin typeface="Verdana" panose="020B0604030504040204" pitchFamily="34" charset="0"/>
                <a:ea typeface="宋体" panose="02010600030101010101" pitchFamily="2" charset="-122"/>
                <a:cs typeface="+mn-ea"/>
              </a:rPr>
              <a:t>文件压缩成MP3的过程嵌入水印信息，嵌入数据先被压缩、加密，然后隐藏在MP3比特流中，默认输出的MP3格式是128bit，单声道。</a:t>
            </a:r>
            <a:endParaRPr lang="zh-CN" altLang="en-US" sz="2400">
              <a:latin typeface="Verdana" panose="020B0604030504040204" pitchFamily="34" charset="0"/>
              <a:ea typeface="宋体" panose="02010600030101010101" pitchFamily="2" charset="-122"/>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2400">
                <a:latin typeface="Verdana" panose="020B0604030504040204" pitchFamily="34" charset="0"/>
                <a:ea typeface="宋体" panose="02010600030101010101" pitchFamily="2" charset="-122"/>
                <a:cs typeface="+mn-ea"/>
              </a:rPr>
              <a:t>数字音频的频域信号在量化和编码时，存在量化误差。这个量化误差是一个不确定值。</a:t>
            </a:r>
            <a:endParaRPr lang="zh-CN" altLang="en-US" sz="2400">
              <a:latin typeface="Verdana" panose="020B0604030504040204" pitchFamily="34" charset="0"/>
              <a:ea typeface="宋体" panose="02010600030101010101" pitchFamily="2" charset="-122"/>
              <a:cs typeface="+mn-ea"/>
            </a:endParaRPr>
          </a:p>
          <a:p>
            <a:pPr marL="342900" indent="-342900" algn="l">
              <a:lnSpc>
                <a:spcPct val="100000"/>
              </a:lnSpc>
              <a:spcBef>
                <a:spcPct val="20000"/>
              </a:spcBef>
              <a:buClr>
                <a:schemeClr val="tx2"/>
              </a:buClr>
              <a:buSzPct val="70000"/>
              <a:buFont typeface="Wingdings" panose="05000000000000000000" pitchFamily="2" charset="2"/>
              <a:buChar char="¡"/>
            </a:pPr>
            <a:r>
              <a:rPr lang="zh-CN" altLang="en-US" sz="2400">
                <a:latin typeface="Verdana" panose="020B0604030504040204" pitchFamily="34" charset="0"/>
                <a:ea typeface="宋体" panose="02010600030101010101" pitchFamily="2" charset="-122"/>
                <a:cs typeface="+mn-ea"/>
              </a:rPr>
              <a:t>MP3Stego通过调节量化误差大小，将量化和编码后的长度作为信息隐藏的方法，即长度为奇数代表信息1，长度为偶数代表信息0，从而将信息隐藏到最后的MP3比特流中。因此，MP3Stego 可以说是一种量化编码信息隐藏方法。</a:t>
            </a:r>
            <a:endParaRPr lang="zh-CN" altLang="en-US" sz="2400">
              <a:latin typeface="Verdana" panose="020B0604030504040204" pitchFamily="34" charset="0"/>
              <a:ea typeface="宋体" panose="02010600030101010101" pitchFamily="2"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1089342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知识：理解MP3音频文件特点，理解如何在MP3音频文件中嵌入水印。</a:t>
            </a:r>
            <a:endParaRPr lang="zh-CN" altLang="en-US" sz="2500" dirty="0">
              <a:cs typeface="+mn-ea"/>
            </a:endParaRPr>
          </a:p>
          <a:p>
            <a:pPr lvl="1" algn="l">
              <a:lnSpc>
                <a:spcPct val="100000"/>
              </a:lnSpc>
              <a:buChar char="l"/>
            </a:pPr>
            <a:r>
              <a:rPr lang="zh-CN" altLang="en-US" sz="2500" dirty="0">
                <a:cs typeface="+mn-ea"/>
              </a:rPr>
              <a:t>技能：掌握Mp3Stego软件的使用方法。</a:t>
            </a:r>
            <a:endParaRPr lang="zh-CN" altLang="en-US" sz="2500" dirty="0">
              <a:cs typeface="+mn-ea"/>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5</a:t>
            </a:r>
            <a:r>
              <a:rPr lang="zh-CN" altLang="en-US" dirty="0">
                <a:cs typeface="+mn-ea"/>
              </a:rPr>
              <a:t>中的实验内容。</a:t>
            </a:r>
            <a:endParaRPr lang="zh-CN" altLang="en-US" dirty="0">
              <a:cs typeface="+mn-ea"/>
            </a:endParaRPr>
          </a:p>
          <a:p>
            <a:pPr lvl="1" algn="l">
              <a:lnSpc>
                <a:spcPct val="100000"/>
              </a:lnSpc>
            </a:pPr>
            <a:r>
              <a:rPr lang="zh-CN" altLang="en-US" dirty="0">
                <a:cs typeface="+mn-ea"/>
              </a:rPr>
              <a:t> 按实验指导书5完成Mp3stego工具实验，编码嵌入秘密信息，解码提取秘密信息。</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a:t>
            </a:r>
            <a:r>
              <a:rPr lang="zh-CN" altLang="en-US" sz="2800" b="1" dirty="0">
                <a:solidFill>
                  <a:srgbClr val="023B8C"/>
                </a:solidFill>
                <a:latin typeface="微软雅黑" panose="020B0503020204020204" charset="-122"/>
                <a:ea typeface="微软雅黑" panose="020B0503020204020204" charset="-122"/>
                <a:sym typeface="+mn-ea"/>
              </a:rPr>
              <a:t>五：MP3音频信息隐藏	</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1020572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使用Mp3stego工具隐藏秘密信息。</a:t>
            </a:r>
            <a:endParaRPr lang="zh-CN" altLang="en-US" dirty="0">
              <a:cs typeface="+mn-ea"/>
            </a:endParaRPr>
          </a:p>
          <a:p>
            <a:pPr lvl="1" algn="l" latinLnBrk="0">
              <a:lnSpc>
                <a:spcPct val="150000"/>
              </a:lnSpc>
              <a:spcBef>
                <a:spcPts val="0"/>
              </a:spcBef>
            </a:pPr>
            <a:r>
              <a:rPr lang="zh-CN" altLang="en-US" dirty="0">
                <a:cs typeface="+mn-ea"/>
              </a:rPr>
              <a:t>使用Mp3stego工具提取秘密信息。</a:t>
            </a:r>
            <a:endParaRPr lang="zh-CN" altLang="en-US" dirty="0">
              <a:cs typeface="+mn-ea"/>
            </a:endParaRPr>
          </a:p>
          <a:p>
            <a:pPr lvl="1" algn="l" latinLnBrk="0">
              <a:lnSpc>
                <a:spcPct val="150000"/>
              </a:lnSpc>
              <a:spcBef>
                <a:spcPts val="0"/>
              </a:spcBef>
            </a:pPr>
            <a:r>
              <a:rPr lang="zh-CN" altLang="en-US" dirty="0">
                <a:cs typeface="+mn-ea"/>
              </a:rPr>
              <a:t>使用MP3播放工具播放隐藏后的音频文件，从听觉效果上和未嵌入秘密信息的原始音频进行比较。</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a:t>
            </a:r>
            <a:r>
              <a:rPr lang="zh-CN" altLang="en-US" sz="2800" b="1" dirty="0">
                <a:solidFill>
                  <a:srgbClr val="023B8C"/>
                </a:solidFill>
                <a:latin typeface="微软雅黑" panose="020B0503020204020204" charset="-122"/>
                <a:ea typeface="微软雅黑" panose="020B0503020204020204" charset="-122"/>
                <a:sym typeface="+mn-ea"/>
              </a:rPr>
              <a:t>五：MP3音频信息隐藏	</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87594" y="1484313"/>
            <a:ext cx="9751483" cy="4114800"/>
          </a:xfrm>
        </p:spPr>
        <p:txBody>
          <a:bodyPr/>
          <a:lstStyle/>
          <a:p>
            <a:r>
              <a:rPr lang="zh-CN" altLang="en-US" dirty="0"/>
              <a:t>本章主要介绍音频信息隐藏和数字水印的概念、原理、算法和评价指标。</a:t>
            </a:r>
            <a:endParaRPr lang="zh-CN" altLang="en-US" dirty="0"/>
          </a:p>
          <a:p>
            <a:r>
              <a:rPr lang="zh-CN" altLang="en-US" dirty="0"/>
              <a:t>需要掌握以下知识点：</a:t>
            </a:r>
            <a:endParaRPr lang="zh-CN" altLang="en-US" dirty="0"/>
          </a:p>
          <a:p>
            <a:pPr lvl="1" algn="l">
              <a:lnSpc>
                <a:spcPct val="150000"/>
              </a:lnSpc>
              <a:spcBef>
                <a:spcPts val="0"/>
              </a:spcBef>
            </a:pPr>
            <a:r>
              <a:rPr lang="zh-CN" altLang="en-US" dirty="0">
                <a:cs typeface="+mn-ea"/>
              </a:rPr>
              <a:t>音频水印的基本原理。</a:t>
            </a:r>
            <a:endParaRPr lang="zh-CN" altLang="en-US" dirty="0">
              <a:cs typeface="+mn-ea"/>
            </a:endParaRPr>
          </a:p>
          <a:p>
            <a:pPr lvl="1" algn="l">
              <a:lnSpc>
                <a:spcPct val="150000"/>
              </a:lnSpc>
              <a:spcBef>
                <a:spcPts val="0"/>
              </a:spcBef>
            </a:pPr>
            <a:r>
              <a:rPr lang="zh-CN" altLang="en-US" dirty="0">
                <a:cs typeface="+mn-ea"/>
              </a:rPr>
              <a:t>音频数字水印的评价指标。</a:t>
            </a:r>
            <a:endParaRPr lang="zh-CN" altLang="en-US" dirty="0">
              <a:cs typeface="+mn-ea"/>
            </a:endParaRPr>
          </a:p>
          <a:p>
            <a:pPr lvl="1" algn="l">
              <a:lnSpc>
                <a:spcPct val="150000"/>
              </a:lnSpc>
              <a:spcBef>
                <a:spcPts val="0"/>
              </a:spcBef>
            </a:pPr>
            <a:r>
              <a:rPr lang="zh-CN" altLang="en-US" dirty="0">
                <a:cs typeface="+mn-ea"/>
              </a:rPr>
              <a:t>理解MP3音频水印三种嵌入方案的特点。</a:t>
            </a:r>
            <a:endParaRPr lang="zh-CN" altLang="en-US" dirty="0">
              <a:cs typeface="+mn-ea"/>
            </a:endParaRPr>
          </a:p>
          <a:p>
            <a:pPr lvl="1" algn="l">
              <a:lnSpc>
                <a:spcPct val="150000"/>
              </a:lnSpc>
              <a:spcBef>
                <a:spcPts val="0"/>
              </a:spcBef>
            </a:pPr>
            <a:r>
              <a:rPr lang="zh-CN" altLang="en-US" dirty="0">
                <a:cs typeface="+mn-ea"/>
              </a:rPr>
              <a:t>通过实践掌握LSB音频信息隐藏和MP3音频信息隐藏方法。</a:t>
            </a:r>
            <a:endParaRPr lang="zh-CN" altLang="en-US" dirty="0">
              <a:cs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本章小结</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96259" name="Rectangle 3"/>
          <p:cNvSpPr>
            <a:spLocks noGrp="1" noChangeArrowheads="1"/>
          </p:cNvSpPr>
          <p:nvPr/>
        </p:nvSpPr>
        <p:spPr>
          <a:xfrm>
            <a:off x="1486959" y="1484313"/>
            <a:ext cx="9751483"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t>【简答题】</a:t>
            </a:r>
            <a:endParaRPr lang="zh-CN" altLang="en-US" dirty="0"/>
          </a:p>
          <a:p>
            <a:pPr lvl="1" algn="l">
              <a:lnSpc>
                <a:spcPct val="150000"/>
              </a:lnSpc>
              <a:spcBef>
                <a:spcPts val="0"/>
              </a:spcBef>
            </a:pPr>
            <a:r>
              <a:rPr lang="zh-CN" altLang="en-US" dirty="0">
                <a:cs typeface="+mn-ea"/>
              </a:rPr>
              <a:t>1.回声信息隐藏的原理是什么？</a:t>
            </a:r>
            <a:endParaRPr lang="zh-CN" altLang="en-US" dirty="0">
              <a:cs typeface="+mn-ea"/>
            </a:endParaRPr>
          </a:p>
          <a:p>
            <a:pPr lvl="1" algn="l">
              <a:lnSpc>
                <a:spcPct val="150000"/>
              </a:lnSpc>
              <a:spcBef>
                <a:spcPts val="0"/>
              </a:spcBef>
            </a:pPr>
            <a:r>
              <a:rPr lang="zh-CN" altLang="en-US" dirty="0">
                <a:cs typeface="+mn-ea"/>
              </a:rPr>
              <a:t>2.MP3音频信息隐藏算法的原理是什么？</a:t>
            </a:r>
            <a:endParaRPr lang="zh-CN" altLang="en-US" dirty="0">
              <a:cs typeface="+mn-ea"/>
            </a:endParaRPr>
          </a:p>
          <a:p>
            <a:pPr lvl="1" algn="l">
              <a:lnSpc>
                <a:spcPct val="150000"/>
              </a:lnSpc>
              <a:spcBef>
                <a:spcPts val="0"/>
              </a:spcBef>
            </a:pPr>
            <a:r>
              <a:rPr lang="zh-CN" altLang="en-US" dirty="0">
                <a:cs typeface="+mn-ea"/>
              </a:rPr>
              <a:t>3.压缩域音频水印的方法有哪些？</a:t>
            </a:r>
            <a:endParaRPr lang="zh-CN" altLang="en-US" dirty="0">
              <a:cs typeface="+mn-ea"/>
            </a:endParaRPr>
          </a:p>
          <a:p>
            <a:pPr lvl="1" algn="l">
              <a:lnSpc>
                <a:spcPct val="150000"/>
              </a:lnSpc>
              <a:spcBef>
                <a:spcPts val="0"/>
              </a:spcBef>
            </a:pPr>
            <a:r>
              <a:rPr lang="zh-CN" altLang="en-US" dirty="0">
                <a:cs typeface="+mn-ea"/>
              </a:rPr>
              <a:t>4.音频数字水印的评价指标有哪些？</a:t>
            </a:r>
            <a:endParaRPr lang="zh-CN" altLang="en-US" dirty="0">
              <a:cs typeface="+mn-ea"/>
            </a:endParaRPr>
          </a:p>
          <a:p>
            <a:pPr lvl="1" algn="l">
              <a:lnSpc>
                <a:spcPct val="150000"/>
              </a:lnSpc>
              <a:spcBef>
                <a:spcPts val="0"/>
              </a:spcBef>
            </a:pPr>
            <a:r>
              <a:rPr lang="zh-CN" altLang="en-US" dirty="0">
                <a:cs typeface="+mn-ea"/>
              </a:rPr>
              <a:t>5.有哪些方法来衡量水印算法透明性？</a:t>
            </a:r>
            <a:endParaRPr lang="zh-CN" altLang="en-US" dirty="0">
              <a:cs typeface="+mn-ea"/>
            </a:endParaRPr>
          </a:p>
          <a:p>
            <a:pPr lvl="1" algn="l">
              <a:lnSpc>
                <a:spcPct val="150000"/>
              </a:lnSpc>
              <a:spcBef>
                <a:spcPts val="0"/>
              </a:spcBef>
            </a:pPr>
            <a:r>
              <a:rPr lang="en-US" altLang="zh-CN" dirty="0">
                <a:cs typeface="+mn-ea"/>
              </a:rPr>
              <a:t>6.</a:t>
            </a:r>
            <a:r>
              <a:rPr lang="zh-CN" altLang="en-US" dirty="0">
                <a:cs typeface="+mn-ea"/>
              </a:rPr>
              <a:t>音频信息隐藏为什么要比图像信息隐藏难？</a:t>
            </a:r>
            <a:endParaRPr lang="zh-CN" altLang="en-US" dirty="0">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7221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5" name="图片 4"/>
          <p:cNvPicPr>
            <a:picLocks noChangeAspect="1"/>
          </p:cNvPicPr>
          <p:nvPr/>
        </p:nvPicPr>
        <p:blipFill>
          <a:blip r:embed="rId1"/>
          <a:srcRect b="50576"/>
          <a:stretch>
            <a:fillRect/>
          </a:stretch>
        </p:blipFill>
        <p:spPr>
          <a:xfrm>
            <a:off x="1703705" y="1709420"/>
            <a:ext cx="8702675" cy="437388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7221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5" name="图片 4"/>
          <p:cNvPicPr>
            <a:picLocks noChangeAspect="1"/>
          </p:cNvPicPr>
          <p:nvPr/>
        </p:nvPicPr>
        <p:blipFill>
          <a:blip r:embed="rId1"/>
          <a:srcRect l="-832" t="50450" r="-941" b="126"/>
          <a:stretch>
            <a:fillRect/>
          </a:stretch>
        </p:blipFill>
        <p:spPr>
          <a:xfrm>
            <a:off x="1667510" y="1844675"/>
            <a:ext cx="8856980" cy="437388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4.xml><?xml version="1.0" encoding="utf-8"?>
<p:tagLst xmlns:p="http://schemas.openxmlformats.org/presentationml/2006/main">
  <p:tag name="commondata" val="eyJoZGlkIjoiZmFjMDI4OTdkZTQyNDUxMWExMzgzMzc4ODA2NDYxOTYifQ=="/>
</p:tagLst>
</file>

<file path=ppt/theme/theme1.xml><?xml version="1.0" encoding="utf-8"?>
<a:theme xmlns:a="http://schemas.openxmlformats.org/drawingml/2006/main" name="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自定义-华文楷体">
      <a:majorFont>
        <a:latin typeface="Calibri"/>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自定义-华文楷体">
      <a:majorFont>
        <a:latin typeface="Calibri"/>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Green</Template>
  <TotalTime>0</TotalTime>
  <Words>4276</Words>
  <Application>WPS 演示</Application>
  <PresentationFormat>全屏显示(4:3)</PresentationFormat>
  <Paragraphs>347</Paragraphs>
  <Slides>38</Slides>
  <Notes>46</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13</vt:i4>
      </vt:variant>
      <vt:variant>
        <vt:lpstr>幻灯片标题</vt:lpstr>
      </vt:variant>
      <vt:variant>
        <vt:i4>38</vt:i4>
      </vt:variant>
    </vt:vector>
  </HeadingPairs>
  <TitlesOfParts>
    <vt:vector size="68" baseType="lpstr">
      <vt:lpstr>Arial</vt:lpstr>
      <vt:lpstr>宋体</vt:lpstr>
      <vt:lpstr>Wingdings</vt:lpstr>
      <vt:lpstr>Tahoma</vt:lpstr>
      <vt:lpstr>Verdana</vt:lpstr>
      <vt:lpstr>Calibri</vt:lpstr>
      <vt:lpstr>华文楷体</vt:lpstr>
      <vt:lpstr>Impact</vt:lpstr>
      <vt:lpstr>微软雅黑</vt:lpstr>
      <vt:lpstr>Times New Roman</vt:lpstr>
      <vt:lpstr>楷体</vt:lpstr>
      <vt:lpstr>Arial Black</vt:lpstr>
      <vt:lpstr>黑体</vt:lpstr>
      <vt:lpstr>Times New Roman</vt:lpstr>
      <vt:lpstr>Arial Unicode MS</vt:lpstr>
      <vt:lpstr>Green</vt:lpstr>
      <vt:lpstr>1_Green</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c:creator>
  <cp:lastModifiedBy>leimin</cp:lastModifiedBy>
  <cp:revision>788</cp:revision>
  <dcterms:created xsi:type="dcterms:W3CDTF">2113-01-01T00:00:00Z</dcterms:created>
  <dcterms:modified xsi:type="dcterms:W3CDTF">2024-11-06T01:11:15Z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572C265CB62240BBA3FE2CC89678852B_13</vt:lpwstr>
  </property>
</Properties>
</file>