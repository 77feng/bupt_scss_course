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2"/>
  </p:handoutMasterIdLst>
  <p:sldIdLst>
    <p:sldId id="788" r:id="rId3"/>
    <p:sldId id="790" r:id="rId5"/>
    <p:sldId id="805" r:id="rId6"/>
    <p:sldId id="927" r:id="rId7"/>
    <p:sldId id="796" r:id="rId8"/>
    <p:sldId id="797" r:id="rId9"/>
    <p:sldId id="798" r:id="rId10"/>
    <p:sldId id="799" r:id="rId11"/>
    <p:sldId id="800" r:id="rId12"/>
    <p:sldId id="801" r:id="rId13"/>
    <p:sldId id="802" r:id="rId14"/>
    <p:sldId id="803" r:id="rId15"/>
    <p:sldId id="804" r:id="rId16"/>
    <p:sldId id="996" r:id="rId17"/>
    <p:sldId id="997" r:id="rId18"/>
    <p:sldId id="998" r:id="rId19"/>
    <p:sldId id="807" r:id="rId20"/>
    <p:sldId id="808" r:id="rId21"/>
    <p:sldId id="812" r:id="rId22"/>
    <p:sldId id="825" r:id="rId23"/>
    <p:sldId id="813" r:id="rId24"/>
    <p:sldId id="814" r:id="rId25"/>
    <p:sldId id="815" r:id="rId26"/>
    <p:sldId id="816" r:id="rId27"/>
    <p:sldId id="817" r:id="rId28"/>
    <p:sldId id="818" r:id="rId29"/>
    <p:sldId id="819" r:id="rId30"/>
    <p:sldId id="820" r:id="rId31"/>
    <p:sldId id="821" r:id="rId32"/>
    <p:sldId id="999" r:id="rId33"/>
    <p:sldId id="1000" r:id="rId34"/>
    <p:sldId id="856" r:id="rId35"/>
    <p:sldId id="843" r:id="rId36"/>
    <p:sldId id="1003" r:id="rId37"/>
    <p:sldId id="1004" r:id="rId38"/>
    <p:sldId id="1005" r:id="rId39"/>
    <p:sldId id="1006" r:id="rId40"/>
    <p:sldId id="1007" r:id="rId41"/>
    <p:sldId id="1008" r:id="rId42"/>
    <p:sldId id="1011" r:id="rId43"/>
    <p:sldId id="1012" r:id="rId44"/>
    <p:sldId id="1009" r:id="rId45"/>
    <p:sldId id="1001" r:id="rId46"/>
    <p:sldId id="1002" r:id="rId47"/>
    <p:sldId id="1010" r:id="rId48"/>
    <p:sldId id="1013" r:id="rId49"/>
    <p:sldId id="1014" r:id="rId50"/>
    <p:sldId id="1015" r:id="rId51"/>
  </p:sldIdLst>
  <p:sldSz cx="12192000" cy="6858000"/>
  <p:notesSz cx="6858000" cy="9144000"/>
  <p:custDataLst>
    <p:tags r:id="rId57"/>
  </p:custDataLst>
  <p:defaultTextStyle>
    <a:defPPr>
      <a:defRPr lang="en-US"/>
    </a:defPPr>
    <a:lvl1pPr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113e5439-0cb8-413f-a885-1212775da5a2}">
          <p14:sldIdLst>
            <p14:sldId id="788"/>
            <p14:sldId id="790"/>
          </p14:sldIdLst>
        </p14:section>
        <p14:section name="水印嵌入位置的选择" id="{68af6f3b-0bad-4f03-8431-b749479a034e}">
          <p14:sldIdLst>
            <p14:sldId id="805"/>
            <p14:sldId id="927"/>
            <p14:sldId id="796"/>
            <p14:sldId id="797"/>
            <p14:sldId id="798"/>
            <p14:sldId id="799"/>
            <p14:sldId id="800"/>
            <p14:sldId id="801"/>
            <p14:sldId id="802"/>
            <p14:sldId id="803"/>
            <p14:sldId id="804"/>
            <p14:sldId id="996"/>
            <p14:sldId id="997"/>
          </p14:sldIdLst>
        </p14:section>
        <p14:section name="时域替换技术" id="{948b7329-6749-4a25-a02e-f50f608df3d6}">
          <p14:sldIdLst>
            <p14:sldId id="998"/>
            <p14:sldId id="807"/>
            <p14:sldId id="808"/>
            <p14:sldId id="812"/>
            <p14:sldId id="825"/>
            <p14:sldId id="813"/>
            <p14:sldId id="814"/>
            <p14:sldId id="815"/>
            <p14:sldId id="816"/>
            <p14:sldId id="817"/>
            <p14:sldId id="818"/>
            <p14:sldId id="819"/>
            <p14:sldId id="820"/>
            <p14:sldId id="821"/>
            <p14:sldId id="999"/>
            <p14:sldId id="1000"/>
          </p14:sldIdLst>
        </p14:section>
        <p14:section name="变换域技术" id="{db7a4545-0676-4a8c-bc47-885c1629a0d6}">
          <p14:sldIdLst>
            <p14:sldId id="856"/>
            <p14:sldId id="843"/>
            <p14:sldId id="1003"/>
            <p14:sldId id="1004"/>
            <p14:sldId id="1005"/>
            <p14:sldId id="1006"/>
            <p14:sldId id="1007"/>
            <p14:sldId id="1008"/>
            <p14:sldId id="1011"/>
            <p14:sldId id="1012"/>
            <p14:sldId id="1009"/>
            <p14:sldId id="1001"/>
            <p14:sldId id="1002"/>
          </p14:sldIdLst>
        </p14:section>
        <p14:section name="本章小结" id="{3afd8725-5aa8-484a-853c-2a06ff4ffe56}">
          <p14:sldIdLst>
            <p14:sldId id="1010"/>
          </p14:sldIdLst>
        </p14:section>
        <p14:section name="课后习题" id="{fc31038c-a1b1-42b3-9122-c2ac11f0ff7f}">
          <p14:sldIdLst>
            <p14:sldId id="1013"/>
            <p14:sldId id="1014"/>
            <p14:sldId id="1015"/>
          </p14:sldIdLst>
        </p14:section>
      </p14:sectionLst>
    </p:ext>
    <p:ext uri="{EFAFB233-063F-42B5-8137-9DF3F51BA10A}">
      <p15:sldGuideLst xmlns:p15="http://schemas.microsoft.com/office/powerpoint/2012/main">
        <p15:guide id="1" orient="horz" pos="2069" userDrawn="1">
          <p15:clr>
            <a:srgbClr val="A4A3A4"/>
          </p15:clr>
        </p15:guide>
        <p15:guide id="2" pos="3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6666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89966" autoAdjust="0"/>
  </p:normalViewPr>
  <p:slideViewPr>
    <p:cSldViewPr showGuides="1">
      <p:cViewPr varScale="1">
        <p:scale>
          <a:sx n="102" d="100"/>
          <a:sy n="102" d="100"/>
        </p:scale>
        <p:origin x="1884" y="114"/>
      </p:cViewPr>
      <p:guideLst>
        <p:guide orient="horz" pos="2069"/>
        <p:guide pos="3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17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30.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r>
              <a:rPr lang="en-US" altLang="zh-CN"/>
              <a:t>Datahiding &amp; Digital Watermark</a:t>
            </a:r>
            <a:endParaRPr lang="zh-CN"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06321EE-55F4-4AF8-9331-29243F30C8B2}" type="datetime1">
              <a:rPr lang="zh-CN" altLang="en-US" smtClean="0"/>
            </a:fld>
            <a:endParaRPr lang="zh-CN"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r>
              <a:rPr lang="en-US" altLang="zh-CN"/>
              <a:t>yangyu@bupt.edu.cn</a:t>
            </a:r>
            <a:endParaRPr lang="zh-CN"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005A5F6-3AB1-456F-B354-F2759347BD91}" type="slidenum">
              <a:rPr lang="zh-CN" altLang="en-US"/>
            </a:fld>
            <a:endParaRPr lang="zh-CN" altLang="en-US"/>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charset="0"/>
              </a:defRPr>
            </a:lvl1pPr>
          </a:lstStyle>
          <a:p>
            <a:pPr>
              <a:defRPr/>
            </a:pPr>
            <a:r>
              <a:rPr lang="en-US" altLang="zh-CN"/>
              <a:t>Datahiding &amp; Digital Watermark</a:t>
            </a:r>
            <a:endParaRPr lang="zh-CN" altLang="en-US"/>
          </a:p>
        </p:txBody>
      </p:sp>
      <p:sp>
        <p:nvSpPr>
          <p:cNvPr id="2969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charset="0"/>
              </a:defRPr>
            </a:lvl1pPr>
          </a:lstStyle>
          <a:p>
            <a:pPr>
              <a:defRPr/>
            </a:pPr>
            <a:fld id="{3B3908F0-2A8D-4A20-A4FB-832974B0F180}" type="datetime1">
              <a:rPr lang="zh-CN" altLang="en-US" smtClean="0"/>
            </a:fld>
            <a:endParaRPr lang="en-US" altLang="zh-CN"/>
          </a:p>
        </p:txBody>
      </p:sp>
      <p:sp>
        <p:nvSpPr>
          <p:cNvPr id="1290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970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970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charset="0"/>
              </a:defRPr>
            </a:lvl1pPr>
          </a:lstStyle>
          <a:p>
            <a:pPr>
              <a:defRPr/>
            </a:pPr>
            <a:r>
              <a:rPr lang="en-US" altLang="zh-CN"/>
              <a:t>yangyu@bupt.edu.cn</a:t>
            </a:r>
            <a:endParaRPr lang="en-US" altLang="zh-CN"/>
          </a:p>
        </p:txBody>
      </p:sp>
      <p:sp>
        <p:nvSpPr>
          <p:cNvPr id="2970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charset="0"/>
              </a:defRPr>
            </a:lvl1pPr>
          </a:lstStyle>
          <a:p>
            <a:pPr>
              <a:defRPr/>
            </a:pPr>
            <a:fld id="{424EB003-50A5-4D7F-A9FC-35C5A4778E3D}" type="slidenum">
              <a:rPr lang="zh-CN" altLang="en-US"/>
            </a:fld>
            <a:endParaRPr lang="en-US" altLang="zh-CN"/>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38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895C77B-C845-4763-BFB0-7C8D2780512E}" type="slidenum">
              <a:rPr lang="zh-CN" altLang="en-US" smtClean="0">
                <a:latin typeface="Times New Roman" panose="02020603050405020304" charset="0"/>
              </a:rPr>
            </a:fld>
            <a:endParaRPr lang="en-US" altLang="zh-CN">
              <a:latin typeface="Times New Roman" panose="02020603050405020304" charset="0"/>
            </a:endParaRPr>
          </a:p>
        </p:txBody>
      </p:sp>
      <p:sp>
        <p:nvSpPr>
          <p:cNvPr id="16384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0CE261B-5CFB-4003-98FA-E2F2149684D1}" type="datetime1">
              <a:rPr lang="zh-CN" altLang="en-US" smtClean="0">
                <a:latin typeface="Times New Roman" panose="02020603050405020304" charset="0"/>
              </a:rPr>
            </a:fld>
            <a:endParaRPr lang="en-US" altLang="zh-CN">
              <a:latin typeface="Times New Roman" panose="02020603050405020304" charset="0"/>
            </a:endParaRPr>
          </a:p>
        </p:txBody>
      </p:sp>
      <p:sp>
        <p:nvSpPr>
          <p:cNvPr id="16384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384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p:sp>
      <p:sp>
        <p:nvSpPr>
          <p:cNvPr id="1648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Times New Roman" panose="02020603050405020304" charset="0"/>
              </a:rPr>
              <a:t>实现二值图像算法，选取边缘像素，利用像素的黑色像素值来隐藏</a:t>
            </a:r>
            <a:endParaRPr lang="zh-CN" altLang="en-US" dirty="0">
              <a:latin typeface="Times New Roman" panose="02020603050405020304" charset="0"/>
            </a:endParaRPr>
          </a:p>
        </p:txBody>
      </p:sp>
      <p:sp>
        <p:nvSpPr>
          <p:cNvPr id="16486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59355E0B-4807-4FFE-94A3-50C88839CECF}" type="slidenum">
              <a:rPr lang="zh-CN" altLang="en-US" smtClean="0">
                <a:latin typeface="Times New Roman" panose="02020603050405020304" charset="0"/>
              </a:rPr>
            </a:fld>
            <a:endParaRPr lang="en-US" altLang="zh-CN">
              <a:latin typeface="Times New Roman" panose="02020603050405020304" charset="0"/>
            </a:endParaRPr>
          </a:p>
        </p:txBody>
      </p:sp>
      <p:sp>
        <p:nvSpPr>
          <p:cNvPr id="164869"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CEFAE17A-9BB2-45F9-AA2B-94F201D8BCAF}" type="datetime1">
              <a:rPr lang="zh-CN" altLang="en-US" smtClean="0">
                <a:latin typeface="Times New Roman" panose="02020603050405020304" charset="0"/>
              </a:rPr>
            </a:fld>
            <a:endParaRPr lang="en-US" altLang="zh-CN">
              <a:latin typeface="Times New Roman" panose="02020603050405020304" charset="0"/>
            </a:endParaRPr>
          </a:p>
        </p:txBody>
      </p:sp>
      <p:sp>
        <p:nvSpPr>
          <p:cNvPr id="164870"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4871"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p:sp>
      <p:sp>
        <p:nvSpPr>
          <p:cNvPr id="1669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69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4A0BDDBD-C843-4C2F-A1CD-DA6226998C22}" type="slidenum">
              <a:rPr lang="zh-CN" altLang="en-US" smtClean="0">
                <a:latin typeface="Times New Roman" panose="02020603050405020304" charset="0"/>
              </a:rPr>
            </a:fld>
            <a:endParaRPr lang="en-US" altLang="zh-CN">
              <a:latin typeface="Times New Roman" panose="02020603050405020304" charset="0"/>
            </a:endParaRPr>
          </a:p>
        </p:txBody>
      </p:sp>
      <p:sp>
        <p:nvSpPr>
          <p:cNvPr id="166917"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5C16912-9CF3-49F0-89FB-18F258043B70}" type="datetime1">
              <a:rPr lang="zh-CN" altLang="en-US" smtClean="0">
                <a:latin typeface="Times New Roman" panose="02020603050405020304" charset="0"/>
              </a:rPr>
            </a:fld>
            <a:endParaRPr lang="en-US" altLang="zh-CN">
              <a:latin typeface="Times New Roman" panose="02020603050405020304" charset="0"/>
            </a:endParaRPr>
          </a:p>
        </p:txBody>
      </p:sp>
      <p:sp>
        <p:nvSpPr>
          <p:cNvPr id="166918"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6919"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p:sp>
      <p:sp>
        <p:nvSpPr>
          <p:cNvPr id="1679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794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460DEEB-8762-4C28-88AC-B371D300B6FC}" type="slidenum">
              <a:rPr lang="zh-CN" altLang="en-US" smtClean="0">
                <a:latin typeface="Times New Roman" panose="02020603050405020304" charset="0"/>
              </a:rPr>
            </a:fld>
            <a:endParaRPr lang="en-US" altLang="zh-CN">
              <a:latin typeface="Times New Roman" panose="02020603050405020304" charset="0"/>
            </a:endParaRPr>
          </a:p>
        </p:txBody>
      </p:sp>
      <p:sp>
        <p:nvSpPr>
          <p:cNvPr id="167941"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96499A78-181F-4172-9325-18C024D13E76}" type="datetime1">
              <a:rPr lang="zh-CN" altLang="en-US" smtClean="0">
                <a:latin typeface="Times New Roman" panose="02020603050405020304" charset="0"/>
              </a:rPr>
            </a:fld>
            <a:endParaRPr lang="en-US" altLang="zh-CN">
              <a:latin typeface="Times New Roman" panose="02020603050405020304" charset="0"/>
            </a:endParaRPr>
          </a:p>
        </p:txBody>
      </p:sp>
      <p:sp>
        <p:nvSpPr>
          <p:cNvPr id="167942"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7943"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p:sp>
      <p:sp>
        <p:nvSpPr>
          <p:cNvPr id="1689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896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28A1F7A1-1F1A-4C47-8F2A-A39943523321}" type="slidenum">
              <a:rPr lang="zh-CN" altLang="en-US" smtClean="0">
                <a:latin typeface="Times New Roman" panose="02020603050405020304" charset="0"/>
              </a:rPr>
            </a:fld>
            <a:endParaRPr lang="en-US" altLang="zh-CN">
              <a:latin typeface="Times New Roman" panose="02020603050405020304" charset="0"/>
            </a:endParaRPr>
          </a:p>
        </p:txBody>
      </p:sp>
      <p:sp>
        <p:nvSpPr>
          <p:cNvPr id="16896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E99F5B3-E83F-473E-870B-C9FB0F3611BF}" type="datetime1">
              <a:rPr lang="zh-CN" altLang="en-US" smtClean="0">
                <a:latin typeface="Times New Roman" panose="02020603050405020304" charset="0"/>
              </a:rPr>
            </a:fld>
            <a:endParaRPr lang="en-US" altLang="zh-CN">
              <a:latin typeface="Times New Roman" panose="02020603050405020304" charset="0"/>
            </a:endParaRPr>
          </a:p>
        </p:txBody>
      </p:sp>
      <p:sp>
        <p:nvSpPr>
          <p:cNvPr id="16896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896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p:sp>
      <p:sp>
        <p:nvSpPr>
          <p:cNvPr id="1699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99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CD83A35-1B36-442E-A75C-B9386F21828E}" type="slidenum">
              <a:rPr lang="zh-CN" altLang="en-US" smtClean="0">
                <a:latin typeface="Times New Roman" panose="02020603050405020304" charset="0"/>
              </a:rPr>
            </a:fld>
            <a:endParaRPr lang="en-US" altLang="zh-CN">
              <a:latin typeface="Times New Roman" panose="02020603050405020304" charset="0"/>
            </a:endParaRPr>
          </a:p>
        </p:txBody>
      </p:sp>
      <p:sp>
        <p:nvSpPr>
          <p:cNvPr id="169989"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5B993BE-8105-41C2-8A5F-857649DD090C}" type="datetime1">
              <a:rPr lang="zh-CN" altLang="en-US" smtClean="0">
                <a:latin typeface="Times New Roman" panose="02020603050405020304" charset="0"/>
              </a:rPr>
            </a:fld>
            <a:endParaRPr lang="en-US" altLang="zh-CN">
              <a:latin typeface="Times New Roman" panose="02020603050405020304" charset="0"/>
            </a:endParaRPr>
          </a:p>
        </p:txBody>
      </p:sp>
      <p:sp>
        <p:nvSpPr>
          <p:cNvPr id="169990"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9991"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p:sp>
      <p:sp>
        <p:nvSpPr>
          <p:cNvPr id="1699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699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CD83A35-1B36-442E-A75C-B9386F21828E}" type="slidenum">
              <a:rPr lang="zh-CN" altLang="en-US" smtClean="0">
                <a:latin typeface="Times New Roman" panose="02020603050405020304" charset="0"/>
              </a:rPr>
            </a:fld>
            <a:endParaRPr lang="en-US" altLang="zh-CN">
              <a:latin typeface="Times New Roman" panose="02020603050405020304" charset="0"/>
            </a:endParaRPr>
          </a:p>
        </p:txBody>
      </p:sp>
      <p:sp>
        <p:nvSpPr>
          <p:cNvPr id="169989"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5C1836C2-EFED-4714-B5AF-84DB2C1A2FF8}" type="datetime1">
              <a:rPr lang="zh-CN" altLang="en-US" smtClean="0">
                <a:latin typeface="Times New Roman" panose="02020603050405020304" charset="0"/>
              </a:rPr>
            </a:fld>
            <a:endParaRPr lang="en-US" altLang="zh-CN">
              <a:latin typeface="Times New Roman" panose="02020603050405020304" charset="0"/>
            </a:endParaRPr>
          </a:p>
        </p:txBody>
      </p:sp>
      <p:sp>
        <p:nvSpPr>
          <p:cNvPr id="169990"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69991"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p:sp>
      <p:sp>
        <p:nvSpPr>
          <p:cNvPr id="1710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101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A06FE91-8342-4CA5-A2BA-A62B10E074DE}" type="slidenum">
              <a:rPr lang="zh-CN" altLang="en-US" smtClean="0">
                <a:latin typeface="Times New Roman" panose="02020603050405020304" charset="0"/>
              </a:rPr>
            </a:fld>
            <a:endParaRPr lang="en-US" altLang="zh-CN">
              <a:latin typeface="Times New Roman" panose="02020603050405020304" charset="0"/>
            </a:endParaRPr>
          </a:p>
        </p:txBody>
      </p:sp>
      <p:sp>
        <p:nvSpPr>
          <p:cNvPr id="171013"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54FA013-2584-4E57-A253-E0D67F5DD190}" type="datetime1">
              <a:rPr lang="zh-CN" altLang="en-US" smtClean="0">
                <a:latin typeface="Times New Roman" panose="02020603050405020304" charset="0"/>
              </a:rPr>
            </a:fld>
            <a:endParaRPr lang="en-US" altLang="zh-CN">
              <a:latin typeface="Times New Roman" panose="02020603050405020304" charset="0"/>
            </a:endParaRPr>
          </a:p>
        </p:txBody>
      </p:sp>
      <p:sp>
        <p:nvSpPr>
          <p:cNvPr id="171014"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1015"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p:sp>
      <p:sp>
        <p:nvSpPr>
          <p:cNvPr id="172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203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E528E30-D409-424D-9395-659ABB8BF07A}" type="slidenum">
              <a:rPr lang="zh-CN" altLang="en-US" smtClean="0">
                <a:latin typeface="Times New Roman" panose="02020603050405020304" charset="0"/>
              </a:rPr>
            </a:fld>
            <a:endParaRPr lang="en-US" altLang="zh-CN">
              <a:latin typeface="Times New Roman" panose="02020603050405020304" charset="0"/>
            </a:endParaRPr>
          </a:p>
        </p:txBody>
      </p:sp>
      <p:sp>
        <p:nvSpPr>
          <p:cNvPr id="172037"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C4E7FA42-F2F2-48D8-84FE-E78536B9C217}" type="datetime1">
              <a:rPr lang="zh-CN" altLang="en-US" smtClean="0">
                <a:latin typeface="Times New Roman" panose="02020603050405020304" charset="0"/>
              </a:rPr>
            </a:fld>
            <a:endParaRPr lang="en-US" altLang="zh-CN">
              <a:latin typeface="Times New Roman" panose="02020603050405020304" charset="0"/>
            </a:endParaRPr>
          </a:p>
        </p:txBody>
      </p:sp>
      <p:sp>
        <p:nvSpPr>
          <p:cNvPr id="172038"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2039"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C32CE635-B4C1-4D89-9286-7077868FB574}" type="slidenum">
              <a:rPr lang="zh-CN" altLang="en-US">
                <a:latin typeface="Times New Roman" panose="02020603050405020304" charset="0"/>
              </a:rPr>
            </a:fld>
            <a:endParaRPr lang="en-US" altLang="zh-CN">
              <a:latin typeface="Times New Roman" panose="02020603050405020304" charset="0"/>
            </a:endParaRPr>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08C510D-6AB6-4AAC-8D7E-1322C8F4A2A1}" type="slidenum">
              <a:rPr lang="zh-CN" altLang="en-US">
                <a:latin typeface="Times New Roman" panose="02020603050405020304" charset="0"/>
              </a:rPr>
            </a:fld>
            <a:endParaRPr lang="en-US" altLang="zh-CN">
              <a:latin typeface="Times New Roman" panose="02020603050405020304" charset="0"/>
            </a:endParaRPr>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E0C07A9-FB42-454E-A5D6-689CAF539D8B}" type="slidenum">
              <a:rPr lang="zh-CN" altLang="en-US">
                <a:latin typeface="Times New Roman" panose="02020603050405020304" charset="0"/>
              </a:rPr>
            </a:fld>
            <a:endParaRPr lang="en-US" altLang="zh-CN">
              <a:latin typeface="Times New Roman" panose="02020603050405020304" charset="0"/>
            </a:endParaRPr>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1001, 1011, 1100,</a:t>
            </a:r>
            <a:r>
              <a:rPr lang="en-US" altLang="zh-CN" baseline="0" dirty="0"/>
              <a:t> 1101</a:t>
            </a:r>
            <a:endParaRPr lang="zh-CN" altLang="en-US" dirty="0"/>
          </a:p>
        </p:txBody>
      </p:sp>
      <p:sp>
        <p:nvSpPr>
          <p:cNvPr id="4" name="页眉占位符 3"/>
          <p:cNvSpPr>
            <a:spLocks noGrp="1"/>
          </p:cNvSpPr>
          <p:nvPr>
            <p:ph type="hdr" sz="quarter" idx="10"/>
          </p:nvPr>
        </p:nvSpPr>
        <p:spPr/>
        <p:txBody>
          <a:bodyPr/>
          <a:lstStyle/>
          <a:p>
            <a:pPr>
              <a:defRPr/>
            </a:pPr>
            <a:r>
              <a:rPr lang="en-US" altLang="zh-CN"/>
              <a:t>Datahiding &amp; Digital Watermark</a:t>
            </a:r>
            <a:endParaRPr lang="zh-CN" altLang="en-US"/>
          </a:p>
        </p:txBody>
      </p:sp>
      <p:sp>
        <p:nvSpPr>
          <p:cNvPr id="5" name="日期占位符 4"/>
          <p:cNvSpPr>
            <a:spLocks noGrp="1"/>
          </p:cNvSpPr>
          <p:nvPr>
            <p:ph type="dt" idx="11"/>
          </p:nvPr>
        </p:nvSpPr>
        <p:spPr/>
        <p:txBody>
          <a:bodyPr/>
          <a:lstStyle/>
          <a:p>
            <a:pPr>
              <a:defRPr/>
            </a:pPr>
            <a:fld id="{A81B9D72-5F02-409C-B2F5-3116CE365407}"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yangyu@bupt.edu.cn</a:t>
            </a:r>
            <a:endParaRPr lang="en-US" altLang="zh-CN"/>
          </a:p>
        </p:txBody>
      </p:sp>
      <p:sp>
        <p:nvSpPr>
          <p:cNvPr id="7" name="灯片编号占位符 6"/>
          <p:cNvSpPr>
            <a:spLocks noGrp="1"/>
          </p:cNvSpPr>
          <p:nvPr>
            <p:ph type="sldNum" sz="quarter" idx="13"/>
          </p:nvPr>
        </p:nvSpPr>
        <p:spPr/>
        <p:txBody>
          <a:bodyPr/>
          <a:lstStyle/>
          <a:p>
            <a:pPr>
              <a:defRPr/>
            </a:pPr>
            <a:fld id="{424EB003-50A5-4D7F-A9FC-35C5A4778E3D}"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Datahiding &amp; Digital Watermark</a:t>
            </a:r>
            <a:endParaRPr lang="zh-CN" altLang="en-US"/>
          </a:p>
        </p:txBody>
      </p:sp>
      <p:sp>
        <p:nvSpPr>
          <p:cNvPr id="5" name="日期占位符 4"/>
          <p:cNvSpPr>
            <a:spLocks noGrp="1"/>
          </p:cNvSpPr>
          <p:nvPr>
            <p:ph type="dt" idx="11"/>
          </p:nvPr>
        </p:nvSpPr>
        <p:spPr/>
        <p:txBody>
          <a:bodyPr/>
          <a:lstStyle/>
          <a:p>
            <a:pPr>
              <a:defRPr/>
            </a:pPr>
            <a:fld id="{CEE559CE-F538-457E-BC84-A2C85E8AE56D}"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yangyu@bupt.edu.cn</a:t>
            </a:r>
            <a:endParaRPr lang="en-US" altLang="zh-CN"/>
          </a:p>
        </p:txBody>
      </p:sp>
      <p:sp>
        <p:nvSpPr>
          <p:cNvPr id="7" name="灯片编号占位符 6"/>
          <p:cNvSpPr>
            <a:spLocks noGrp="1"/>
          </p:cNvSpPr>
          <p:nvPr>
            <p:ph type="sldNum" sz="quarter" idx="13"/>
          </p:nvPr>
        </p:nvSpPr>
        <p:spPr/>
        <p:txBody>
          <a:bodyPr/>
          <a:lstStyle/>
          <a:p>
            <a:pPr>
              <a:defRPr/>
            </a:pPr>
            <a:fld id="{424EB003-50A5-4D7F-A9FC-35C5A4778E3D}"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p:sp>
      <p:sp>
        <p:nvSpPr>
          <p:cNvPr id="1740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charset="0"/>
            </a:endParaRPr>
          </a:p>
        </p:txBody>
      </p:sp>
      <p:sp>
        <p:nvSpPr>
          <p:cNvPr id="17408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8256B6-685E-452F-B4CF-48E27DCE9003}" type="slidenum">
              <a:rPr lang="zh-CN" altLang="en-US" smtClean="0">
                <a:latin typeface="Times New Roman" panose="02020603050405020304" charset="0"/>
              </a:rPr>
            </a:fld>
            <a:endParaRPr lang="en-US" altLang="zh-CN">
              <a:latin typeface="Times New Roman" panose="02020603050405020304" charset="0"/>
            </a:endParaRPr>
          </a:p>
        </p:txBody>
      </p:sp>
      <p:sp>
        <p:nvSpPr>
          <p:cNvPr id="17408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D9D828F-621C-47A9-9B56-F232BB7EF99B}" type="datetime1">
              <a:rPr lang="zh-CN" altLang="en-US" smtClean="0">
                <a:latin typeface="Times New Roman" panose="02020603050405020304" charset="0"/>
              </a:rPr>
            </a:fld>
            <a:endParaRPr lang="en-US" altLang="zh-CN">
              <a:latin typeface="Times New Roman" panose="02020603050405020304" charset="0"/>
            </a:endParaRPr>
          </a:p>
        </p:txBody>
      </p:sp>
      <p:sp>
        <p:nvSpPr>
          <p:cNvPr id="17408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yangyu@bupt.edu.cn</a:t>
            </a:r>
            <a:endParaRPr lang="en-US" altLang="zh-CN">
              <a:latin typeface="Times New Roman" panose="02020603050405020304" charset="0"/>
            </a:endParaRPr>
          </a:p>
        </p:txBody>
      </p:sp>
      <p:sp>
        <p:nvSpPr>
          <p:cNvPr id="174087" name="Header Placeholder 6"/>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charset="0"/>
              </a:rPr>
              <a:t>Datahiding &amp; Digital Watermark</a:t>
            </a:r>
            <a:endParaRPr lang="zh-CN" altLang="en-US">
              <a:latin typeface="Times New Roman" panose="0202060305040502030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页眉占位符 3"/>
          <p:cNvSpPr>
            <a:spLocks noGrp="1"/>
          </p:cNvSpPr>
          <p:nvPr>
            <p:ph type="hdr" sz="quarter"/>
          </p:nvPr>
        </p:nvSpPr>
        <p:spPr/>
        <p:txBody>
          <a:bodyPr/>
          <a:p>
            <a:pPr>
              <a:defRPr/>
            </a:pPr>
            <a:r>
              <a:rPr lang="en-US" altLang="zh-CN"/>
              <a:t>Datahiding &amp; Digital Watermark</a:t>
            </a:r>
            <a:endParaRPr lang="zh-CN" altLang="en-US"/>
          </a:p>
        </p:txBody>
      </p:sp>
      <p:sp>
        <p:nvSpPr>
          <p:cNvPr id="5" name="日期占位符 4"/>
          <p:cNvSpPr>
            <a:spLocks noGrp="1"/>
          </p:cNvSpPr>
          <p:nvPr>
            <p:ph type="dt" idx="1"/>
          </p:nvPr>
        </p:nvSpPr>
        <p:spPr/>
        <p:txBody>
          <a:bodyPr/>
          <a:p>
            <a:pPr>
              <a:defRPr/>
            </a:pPr>
            <a:fld id="{3B3908F0-2A8D-4A20-A4FB-832974B0F180}" type="datetime1">
              <a:rPr lang="zh-CN" altLang="en-US" smtClean="0"/>
            </a:fld>
            <a:endParaRPr lang="en-US" altLang="zh-CN"/>
          </a:p>
        </p:txBody>
      </p:sp>
      <p:sp>
        <p:nvSpPr>
          <p:cNvPr id="6" name="页脚占位符 5"/>
          <p:cNvSpPr>
            <a:spLocks noGrp="1"/>
          </p:cNvSpPr>
          <p:nvPr>
            <p:ph type="ftr" sz="quarter" idx="4"/>
          </p:nvPr>
        </p:nvSpPr>
        <p:spPr/>
        <p:txBody>
          <a:bodyPr/>
          <a:p>
            <a:pPr>
              <a:defRPr/>
            </a:pPr>
            <a:r>
              <a:rPr lang="en-US" altLang="zh-CN"/>
              <a:t>yangyu@bupt.edu.cn</a:t>
            </a:r>
            <a:endParaRPr lang="en-US" altLang="zh-CN"/>
          </a:p>
        </p:txBody>
      </p:sp>
      <p:sp>
        <p:nvSpPr>
          <p:cNvPr id="7" name="灯片编号占位符 6"/>
          <p:cNvSpPr>
            <a:spLocks noGrp="1"/>
          </p:cNvSpPr>
          <p:nvPr>
            <p:ph type="sldNum" sz="quarter" idx="5"/>
          </p:nvPr>
        </p:nvSpPr>
        <p:spPr/>
        <p:txBody>
          <a:bodyPr/>
          <a:p>
            <a:pPr>
              <a:defRPr/>
            </a:pPr>
            <a:fld id="{424EB003-50A5-4D7F-A9FC-35C5A4778E3D}" type="slidenum">
              <a:rPr lang="zh-CN" altLang="en-US"/>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页眉占位符 3"/>
          <p:cNvSpPr>
            <a:spLocks noGrp="1"/>
          </p:cNvSpPr>
          <p:nvPr>
            <p:ph type="hdr" sz="quarter"/>
          </p:nvPr>
        </p:nvSpPr>
        <p:spPr/>
        <p:txBody>
          <a:bodyPr/>
          <a:p>
            <a:pPr>
              <a:defRPr/>
            </a:pPr>
            <a:r>
              <a:rPr lang="en-US" altLang="zh-CN"/>
              <a:t>Datahiding &amp; Digital Watermark</a:t>
            </a:r>
            <a:endParaRPr lang="zh-CN" altLang="en-US"/>
          </a:p>
        </p:txBody>
      </p:sp>
      <p:sp>
        <p:nvSpPr>
          <p:cNvPr id="5" name="日期占位符 4"/>
          <p:cNvSpPr>
            <a:spLocks noGrp="1"/>
          </p:cNvSpPr>
          <p:nvPr>
            <p:ph type="dt" idx="1"/>
          </p:nvPr>
        </p:nvSpPr>
        <p:spPr/>
        <p:txBody>
          <a:bodyPr/>
          <a:p>
            <a:pPr>
              <a:defRPr/>
            </a:pPr>
            <a:fld id="{3B3908F0-2A8D-4A20-A4FB-832974B0F180}" type="datetime1">
              <a:rPr lang="zh-CN" altLang="en-US" smtClean="0"/>
            </a:fld>
            <a:endParaRPr lang="en-US" altLang="zh-CN"/>
          </a:p>
        </p:txBody>
      </p:sp>
      <p:sp>
        <p:nvSpPr>
          <p:cNvPr id="6" name="页脚占位符 5"/>
          <p:cNvSpPr>
            <a:spLocks noGrp="1"/>
          </p:cNvSpPr>
          <p:nvPr>
            <p:ph type="ftr" sz="quarter" idx="4"/>
          </p:nvPr>
        </p:nvSpPr>
        <p:spPr/>
        <p:txBody>
          <a:bodyPr/>
          <a:p>
            <a:pPr>
              <a:defRPr/>
            </a:pPr>
            <a:r>
              <a:rPr lang="en-US" altLang="zh-CN"/>
              <a:t>yangyu@bupt.edu.cn</a:t>
            </a:r>
            <a:endParaRPr lang="en-US" altLang="zh-CN"/>
          </a:p>
        </p:txBody>
      </p:sp>
      <p:sp>
        <p:nvSpPr>
          <p:cNvPr id="7" name="灯片编号占位符 6"/>
          <p:cNvSpPr>
            <a:spLocks noGrp="1"/>
          </p:cNvSpPr>
          <p:nvPr>
            <p:ph type="sldNum" sz="quarter" idx="5"/>
          </p:nvPr>
        </p:nvSpPr>
        <p:spPr/>
        <p:txBody>
          <a:bodyPr/>
          <a:p>
            <a:pPr>
              <a:defRPr/>
            </a:pPr>
            <a:fld id="{424EB003-50A5-4D7F-A9FC-35C5A4778E3D}"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6" name="AutoShape 4"/>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sp>
          <p:nvSpPr>
            <p:cNvPr id="7" name="AutoShape 5"/>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D16B72E6-5C4C-4F85-B94A-0D174DDE7010}" type="datetime1">
              <a:rPr lang="zh-CN" altLang="en-US" smtClean="0"/>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9FF94878-D791-427B-8151-09F155CFB1B1}"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64CBB551-E93F-4CFD-A468-35FE21443D6E}"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7DBE22A0-ED15-4374-AFB9-CCC6C7D2B433}"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C38F21F6-5927-4879-8506-63D104EE7C4D}"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D52F02B1-4C21-4263-BB0E-2F00094D981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D380BCAF-0AE7-46AA-BB4E-B317D6E5C1FD}"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F04B3559-9F99-4E96-B08E-79ACCA65543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B6A8E49E-8CAB-4B12-84E8-6BB20459AAB9}" type="datetime1">
              <a:rPr lang="zh-CN" altLang="en-US" smtClean="0"/>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647C4F83-B78C-4C65-8A12-2256524F2C50}"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0F38F780-D88B-4F74-905F-702C4EAD6B92}" type="datetime1">
              <a:rPr lang="zh-CN" altLang="en-US" smtClean="0"/>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8064A39C-7DB8-4A8D-BCAA-3950E48DC947}"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75703C92-489F-410B-8A17-2643AD9E031C}" type="datetime1">
              <a:rPr lang="zh-CN" altLang="en-US" smtClean="0"/>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C4D775D2-2CB1-4E5F-8B58-02597F560C4F}"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EA05D5BB-FCB3-4AC1-9930-C4667CC7D960}"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C95C9235-AC53-447A-B138-8257721311EC}"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C2973E8D-65CC-4405-9C99-ED7C6E535446}"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0C671B10-85B1-4003-BAA1-B891D4618A7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67CF284E-607D-41F8-844E-1A0B455D1C3D}"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805CE127-97CD-4181-9F2D-5E3800A4D3C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F4D0EF5D-0D09-474B-B1A8-E8AB26A90EC5}"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A729DFD6-C68D-498F-B299-20C080F5E678}"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77D830AE-FCFD-44E4-9BD0-AB6052398565}"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4A6F20F6-3CC4-47BF-9DFE-50AD5C3947EE}"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D364F401-39EB-4A65-8328-F29AFBC16A35}" type="datetime1">
              <a:rPr lang="zh-CN" altLang="en-US" smtClean="0"/>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05610679-3851-49A7-8DB2-1AB55A4C8C39}"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0"/>
            <a:ext cx="10058400" cy="1431925"/>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1422400" y="1981200"/>
            <a:ext cx="10058400" cy="4114800"/>
          </a:xfrm>
        </p:spPr>
        <p:txBody>
          <a:bodyPr/>
          <a:lstStyle/>
          <a:p>
            <a:pPr lvl="0"/>
            <a:endParaRPr lang="zh-CN" altLang="en-US" noProof="0"/>
          </a:p>
        </p:txBody>
      </p:sp>
      <p:sp>
        <p:nvSpPr>
          <p:cNvPr id="4" name="Rectangle 8"/>
          <p:cNvSpPr>
            <a:spLocks noGrp="1" noChangeArrowheads="1"/>
          </p:cNvSpPr>
          <p:nvPr>
            <p:ph type="dt" sz="half" idx="10"/>
          </p:nvPr>
        </p:nvSpPr>
        <p:spPr/>
        <p:txBody>
          <a:bodyPr/>
          <a:lstStyle>
            <a:lvl1pPr>
              <a:defRPr/>
            </a:lvl1pPr>
          </a:lstStyle>
          <a:p>
            <a:pPr>
              <a:defRPr/>
            </a:pPr>
            <a:fld id="{B6CAFB9B-A1D1-40E1-81FA-7D0F407805EA}" type="datetime1">
              <a:rPr lang="zh-CN" altLang="en-US" smtClean="0"/>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8FFFCC48-B181-4D5F-9BE5-3361B022BEFB}"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0"/>
            <a:ext cx="10058400" cy="1431925"/>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422400" y="1981200"/>
            <a:ext cx="4927600" cy="41148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553200" y="1981200"/>
            <a:ext cx="4927600" cy="41148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5D65981C-FF51-4FFA-8E04-9D8649B9C85C}" type="datetime1">
              <a:rPr lang="zh-CN" altLang="en-US" smtClean="0"/>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9E1E66F3-4F8F-44FB-8482-BCF4E560E785}"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422400" y="304800"/>
            <a:ext cx="10058400" cy="1431925"/>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422400" y="1981200"/>
            <a:ext cx="49276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553200" y="1981200"/>
            <a:ext cx="49276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Content Placeholder 4"/>
          <p:cNvSpPr>
            <a:spLocks noGrp="1"/>
          </p:cNvSpPr>
          <p:nvPr>
            <p:ph sz="quarter" idx="3"/>
          </p:nvPr>
        </p:nvSpPr>
        <p:spPr>
          <a:xfrm>
            <a:off x="1422400" y="4114800"/>
            <a:ext cx="49276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Content Placeholder 5"/>
          <p:cNvSpPr>
            <a:spLocks noGrp="1"/>
          </p:cNvSpPr>
          <p:nvPr>
            <p:ph sz="quarter" idx="4"/>
          </p:nvPr>
        </p:nvSpPr>
        <p:spPr>
          <a:xfrm>
            <a:off x="6553200" y="4114800"/>
            <a:ext cx="49276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A37A66B0-3DC3-4DAF-84D1-8D04D33FC181}" type="datetime1">
              <a:rPr lang="zh-CN" altLang="en-US" smtClean="0"/>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en-US" altLang="zh-CN"/>
              <a:t>Stegonagraphy &amp; Digital Watermark</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1778FB80-44AE-43BA-96FF-0B560065EA7A}" type="slidenum">
              <a:rPr lang="zh-CN" altLang="en-US"/>
            </a:fld>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校徽右上">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fld id="{51D60A17-44A8-417B-8952-082D2AB2CFC7}" type="datetime1">
              <a:rPr lang="zh-CN" altLang="en-US" smtClean="0"/>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a:defRPr sz="1200"/>
            </a:lvl1pPr>
          </a:lstStyle>
          <a:p>
            <a:pPr>
              <a:defRPr/>
            </a:pPr>
            <a:r>
              <a:rPr lang="en-US" altLang="zh-CN"/>
              <a:t>Stegonagraphy &amp; Digital Watermark</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B58E74A1-232E-4E1E-B1A1-1F7BBABA53DA}"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2pPr>
      <a:lvl3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3pPr>
      <a:lvl4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4pPr>
      <a:lvl5pPr algn="l" rtl="0" eaLnBrk="0" fontAlgn="base" hangingPunct="0">
        <a:spcBef>
          <a:spcPct val="0"/>
        </a:spcBef>
        <a:spcAft>
          <a:spcPct val="0"/>
        </a:spcAft>
        <a:defRPr sz="3600">
          <a:solidFill>
            <a:schemeClr val="tx2"/>
          </a:solidFill>
          <a:latin typeface="Calibri" panose="020F0502020204030204" pitchFamily="34" charset="0"/>
          <a:ea typeface="华文楷体" panose="0201060004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9" Type="http://schemas.openxmlformats.org/officeDocument/2006/relationships/slideLayout" Target="../slideLayouts/slideLayout2.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5.svg"/><Relationship Id="rId19" Type="http://schemas.openxmlformats.org/officeDocument/2006/relationships/tags" Target="../tags/tag16.xml"/><Relationship Id="rId18" Type="http://schemas.openxmlformats.org/officeDocument/2006/relationships/image" Target="../media/image6.jpeg"/><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2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tags" Target="../tags/tag2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9.wmf"/><Relationship Id="rId3" Type="http://schemas.openxmlformats.org/officeDocument/2006/relationships/oleObject" Target="../embeddings/oleObject2.bin"/><Relationship Id="rId2" Type="http://schemas.openxmlformats.org/officeDocument/2006/relationships/image" Target="../media/image8.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13.wmf"/><Relationship Id="rId7" Type="http://schemas.openxmlformats.org/officeDocument/2006/relationships/oleObject" Target="../embeddings/oleObject6.bin"/><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 Id="rId3" Type="http://schemas.openxmlformats.org/officeDocument/2006/relationships/oleObject" Target="../embeddings/oleObject4.bin"/><Relationship Id="rId21" Type="http://schemas.openxmlformats.org/officeDocument/2006/relationships/notesSlide" Target="../notesSlides/notesSlide6.xml"/><Relationship Id="rId20" Type="http://schemas.openxmlformats.org/officeDocument/2006/relationships/vmlDrawing" Target="../drawings/vmlDrawing2.vml"/><Relationship Id="rId2" Type="http://schemas.openxmlformats.org/officeDocument/2006/relationships/image" Target="../media/image10.wmf"/><Relationship Id="rId19" Type="http://schemas.openxmlformats.org/officeDocument/2006/relationships/slideLayout" Target="../slideLayouts/slideLayout2.xml"/><Relationship Id="rId18" Type="http://schemas.openxmlformats.org/officeDocument/2006/relationships/oleObject" Target="../embeddings/oleObject13.bin"/><Relationship Id="rId17" Type="http://schemas.openxmlformats.org/officeDocument/2006/relationships/oleObject" Target="../embeddings/oleObject12.bin"/><Relationship Id="rId16" Type="http://schemas.openxmlformats.org/officeDocument/2006/relationships/oleObject" Target="../embeddings/oleObject11.bin"/><Relationship Id="rId15" Type="http://schemas.openxmlformats.org/officeDocument/2006/relationships/oleObject" Target="../embeddings/oleObject10.bin"/><Relationship Id="rId14" Type="http://schemas.openxmlformats.org/officeDocument/2006/relationships/image" Target="../media/image16.wmf"/><Relationship Id="rId13" Type="http://schemas.openxmlformats.org/officeDocument/2006/relationships/oleObject" Target="../embeddings/oleObject9.bin"/><Relationship Id="rId12" Type="http://schemas.openxmlformats.org/officeDocument/2006/relationships/image" Target="../media/image15.wmf"/><Relationship Id="rId11" Type="http://schemas.openxmlformats.org/officeDocument/2006/relationships/oleObject" Target="../embeddings/oleObject8.bin"/><Relationship Id="rId10" Type="http://schemas.openxmlformats.org/officeDocument/2006/relationships/image" Target="../media/image14.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wmf"/><Relationship Id="rId7" Type="http://schemas.openxmlformats.org/officeDocument/2006/relationships/oleObject" Target="../embeddings/oleObject17.bin"/><Relationship Id="rId6" Type="http://schemas.openxmlformats.org/officeDocument/2006/relationships/image" Target="../media/image13.wmf"/><Relationship Id="rId5" Type="http://schemas.openxmlformats.org/officeDocument/2006/relationships/oleObject" Target="../embeddings/oleObject16.bin"/><Relationship Id="rId4" Type="http://schemas.openxmlformats.org/officeDocument/2006/relationships/image" Target="../media/image16.wmf"/><Relationship Id="rId3" Type="http://schemas.openxmlformats.org/officeDocument/2006/relationships/oleObject" Target="../embeddings/oleObject15.bin"/><Relationship Id="rId2" Type="http://schemas.openxmlformats.org/officeDocument/2006/relationships/image" Target="../media/image15.wmf"/><Relationship Id="rId11" Type="http://schemas.openxmlformats.org/officeDocument/2006/relationships/notesSlide" Target="../notesSlides/notesSlide7.xml"/><Relationship Id="rId10" Type="http://schemas.openxmlformats.org/officeDocument/2006/relationships/vmlDrawing" Target="../drawings/vmlDrawing3.vml"/><Relationship Id="rId1"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20.wmf"/><Relationship Id="rId7" Type="http://schemas.openxmlformats.org/officeDocument/2006/relationships/oleObject" Target="../embeddings/oleObject21.bin"/><Relationship Id="rId6" Type="http://schemas.openxmlformats.org/officeDocument/2006/relationships/image" Target="../media/image19.wmf"/><Relationship Id="rId5" Type="http://schemas.openxmlformats.org/officeDocument/2006/relationships/oleObject" Target="../embeddings/oleObject20.bin"/><Relationship Id="rId4" Type="http://schemas.openxmlformats.org/officeDocument/2006/relationships/image" Target="../media/image18.wmf"/><Relationship Id="rId3" Type="http://schemas.openxmlformats.org/officeDocument/2006/relationships/oleObject" Target="../embeddings/oleObject19.bin"/><Relationship Id="rId2" Type="http://schemas.openxmlformats.org/officeDocument/2006/relationships/image" Target="../media/image17.wmf"/><Relationship Id="rId13" Type="http://schemas.openxmlformats.org/officeDocument/2006/relationships/notesSlide" Target="../notesSlides/notesSlide8.xml"/><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21.wmf"/><Relationship Id="rId1"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tags" Target="../tags/tag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emf"/></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4.e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4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rotWithShape="1">
          <a:blip r:embed="rId1" cstate="print">
            <a:extLst>
              <a:ext uri="{BEBA8EAE-BF5A-486C-A8C5-ECC9F3942E4B}">
                <a14:imgProps xmlns:a14="http://schemas.microsoft.com/office/drawing/2010/main">
                  <a14:imgLayer r:embed="rId2">
                    <a14:imgEffect>
                      <a14:artisticWatercolorSponge/>
                    </a14:imgEffect>
                  </a14:imgLayer>
                </a14:imgProps>
              </a:ext>
              <a:ext uri="{28A0092B-C50C-407E-A947-70E740481C1C}">
                <a14:useLocalDpi xmlns:a14="http://schemas.microsoft.com/office/drawing/2010/main" val="0"/>
              </a:ext>
            </a:extLst>
          </a:blip>
          <a:srcRect t="4982" r="14708" b="10728"/>
          <a:stretch>
            <a:fillRect/>
          </a:stretch>
        </p:blipFill>
        <p:spPr>
          <a:xfrm>
            <a:off x="1793132" y="1"/>
            <a:ext cx="10398868" cy="6857999"/>
          </a:xfrm>
          <a:prstGeom prst="rect">
            <a:avLst/>
          </a:prstGeom>
        </p:spPr>
      </p:pic>
      <p:sp>
        <p:nvSpPr>
          <p:cNvPr id="28" name="矩形 27"/>
          <p:cNvSpPr/>
          <p:nvPr/>
        </p:nvSpPr>
        <p:spPr>
          <a:xfrm>
            <a:off x="1" y="0"/>
            <a:ext cx="6524428" cy="6858000"/>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平行四边形 45"/>
          <p:cNvSpPr/>
          <p:nvPr/>
        </p:nvSpPr>
        <p:spPr>
          <a:xfrm>
            <a:off x="3829260" y="-1"/>
            <a:ext cx="5496125" cy="6857999"/>
          </a:xfrm>
          <a:prstGeom prst="parallelogram">
            <a:avLst>
              <a:gd name="adj" fmla="val 48894"/>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088833" y="2515197"/>
            <a:ext cx="2198451" cy="2198451"/>
            <a:chOff x="5437761" y="2329774"/>
            <a:chExt cx="2198451" cy="2198451"/>
          </a:xfrm>
        </p:grpSpPr>
        <p:sp>
          <p:nvSpPr>
            <p:cNvPr id="30" name="椭圆 29"/>
            <p:cNvSpPr/>
            <p:nvPr/>
          </p:nvSpPr>
          <p:spPr>
            <a:xfrm>
              <a:off x="5437761" y="2329774"/>
              <a:ext cx="2198451" cy="219845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25307" y="2417320"/>
              <a:ext cx="2023358" cy="2023358"/>
            </a:xfrm>
            <a:prstGeom prst="rect">
              <a:avLst/>
            </a:prstGeom>
          </p:spPr>
        </p:pic>
      </p:grpSp>
      <p:sp>
        <p:nvSpPr>
          <p:cNvPr id="33" name="文本框 32"/>
          <p:cNvSpPr txBox="1"/>
          <p:nvPr/>
        </p:nvSpPr>
        <p:spPr>
          <a:xfrm>
            <a:off x="1097280" y="1689735"/>
            <a:ext cx="5761990" cy="2306955"/>
          </a:xfrm>
          <a:prstGeom prst="rect">
            <a:avLst/>
          </a:prstGeom>
          <a:noFill/>
        </p:spPr>
        <p:txBody>
          <a:bodyPr wrap="square" rtlCol="0">
            <a:spAutoFit/>
          </a:bodyPr>
          <a:lstStyle/>
          <a:p>
            <a:r>
              <a:rPr lang="zh-CN" altLang="en-US" sz="7200" dirty="0">
                <a:solidFill>
                  <a:schemeClr val="bg1"/>
                </a:solidFill>
                <a:latin typeface="楷体" panose="02010609060101010101" pitchFamily="49" charset="-122"/>
                <a:ea typeface="楷体" panose="02010609060101010101" pitchFamily="49" charset="-122"/>
              </a:rPr>
              <a:t>图像信息隐藏与数字水印</a:t>
            </a:r>
            <a:endParaRPr lang="zh-CN" altLang="en-US" sz="7200" dirty="0">
              <a:solidFill>
                <a:schemeClr val="bg1"/>
              </a:solidFill>
              <a:latin typeface="楷体" panose="02010609060101010101" pitchFamily="49" charset="-122"/>
              <a:ea typeface="楷体" panose="02010609060101010101" pitchFamily="49" charset="-122"/>
            </a:endParaRPr>
          </a:p>
        </p:txBody>
      </p:sp>
      <p:cxnSp>
        <p:nvCxnSpPr>
          <p:cNvPr id="35" name="直接连接符 34"/>
          <p:cNvCxnSpPr/>
          <p:nvPr/>
        </p:nvCxnSpPr>
        <p:spPr>
          <a:xfrm flipV="1">
            <a:off x="745453" y="1595814"/>
            <a:ext cx="0" cy="249514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93153" y="4390073"/>
            <a:ext cx="5431155" cy="1608455"/>
          </a:xfrm>
          <a:prstGeom prst="rect">
            <a:avLst/>
          </a:prstGeom>
          <a:noFill/>
        </p:spPr>
        <p:txBody>
          <a:bodyPr wrap="none" rtlCol="0">
            <a:spAutoFit/>
          </a:bodyPr>
          <a:lstStyle>
            <a:defPPr>
              <a:defRPr lang="zh-CN"/>
            </a:defPPr>
            <a:lvl1pPr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9pPr>
          </a:lstStyle>
          <a:p>
            <a:pPr algn="ctr">
              <a:spcBef>
                <a:spcPct val="20000"/>
              </a:spcBef>
              <a:buClr>
                <a:srgbClr val="006666"/>
              </a:buClr>
              <a:buSzPct val="70000"/>
              <a:buFont typeface="Wingdings" panose="05000000000000000000" pitchFamily="2" charset="2"/>
            </a:pPr>
            <a:r>
              <a:rPr lang="zh-CN" altLang="en-US" sz="2900">
                <a:solidFill>
                  <a:srgbClr val="FFFFFF"/>
                </a:solidFill>
                <a:latin typeface="Times New Roman" panose="02020603050405020304" charset="0"/>
                <a:ea typeface="华文楷体" panose="02010600040101010101" pitchFamily="2" charset="-122"/>
                <a:sym typeface="华文楷体" panose="02010600040101010101" pitchFamily="2" charset="-122"/>
              </a:rPr>
              <a:t>雷敏</a:t>
            </a:r>
            <a:endParaRPr lang="zh-CN" altLang="en-US">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charset="0"/>
                <a:ea typeface="华文楷体" panose="02010600040101010101" pitchFamily="2" charset="-122"/>
                <a:sym typeface="华文楷体" panose="02010600040101010101" pitchFamily="2" charset="-122"/>
              </a:rPr>
              <a:t>北京邮电大学 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charset="0"/>
                <a:ea typeface="华文楷体" panose="02010600040101010101" pitchFamily="2" charset="-122"/>
                <a:sym typeface="华文楷体" panose="02010600040101010101" pitchFamily="2" charset="-122"/>
              </a:rPr>
              <a:t>leimin@bupt.edu.cn</a:t>
            </a:r>
            <a:endParaRPr lang="en-US" altLang="zh-CN" sz="2900" b="1" dirty="0">
              <a:solidFill>
                <a:srgbClr val="FFFFFF"/>
              </a:solidFill>
              <a:latin typeface="Times New Roman" panose="02020603050405020304" charset="0"/>
              <a:ea typeface="华文楷体" panose="02010600040101010101" pitchFamily="2" charset="-122"/>
              <a:sym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35816" y="-663036"/>
            <a:ext cx="5680997" cy="8189088"/>
            <a:chOff x="6922851" y="0"/>
            <a:chExt cx="5269149" cy="6858000"/>
          </a:xfrm>
          <a:solidFill>
            <a:srgbClr val="003399"/>
          </a:solidFill>
        </p:grpSpPr>
        <p:sp>
          <p:nvSpPr>
            <p:cNvPr id="8" name="椭圆 7"/>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形 2" descr="太阳系"/>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69272" y="1621197"/>
            <a:ext cx="6154721" cy="6154721"/>
          </a:xfrm>
          <a:prstGeom prst="rect">
            <a:avLst/>
          </a:prstGeom>
        </p:spPr>
      </p:pic>
      <p:grpSp>
        <p:nvGrpSpPr>
          <p:cNvPr id="44" name="组合 43"/>
          <p:cNvGrpSpPr/>
          <p:nvPr>
            <p:custDataLst>
              <p:tags r:id="rId3"/>
            </p:custDataLst>
          </p:nvPr>
        </p:nvGrpSpPr>
        <p:grpSpPr>
          <a:xfrm>
            <a:off x="552546" y="1132682"/>
            <a:ext cx="7346315" cy="769161"/>
            <a:chOff x="2424136" y="1811320"/>
            <a:chExt cx="7346315" cy="769161"/>
          </a:xfrm>
        </p:grpSpPr>
        <p:grpSp>
          <p:nvGrpSpPr>
            <p:cNvPr id="24" name="组合 23"/>
            <p:cNvGrpSpPr/>
            <p:nvPr/>
          </p:nvGrpSpPr>
          <p:grpSpPr>
            <a:xfrm>
              <a:off x="2424136" y="1811320"/>
              <a:ext cx="6779902" cy="769161"/>
              <a:chOff x="2629986" y="1459214"/>
              <a:chExt cx="8597473" cy="975360"/>
            </a:xfrm>
          </p:grpSpPr>
          <p:grpSp>
            <p:nvGrpSpPr>
              <p:cNvPr id="13" name="组合 12"/>
              <p:cNvGrpSpPr/>
              <p:nvPr/>
            </p:nvGrpSpPr>
            <p:grpSpPr>
              <a:xfrm>
                <a:off x="2629986" y="1459214"/>
                <a:ext cx="8597473" cy="975360"/>
                <a:chOff x="1166287" y="1249680"/>
                <a:chExt cx="8597473" cy="975360"/>
              </a:xfrm>
              <a:solidFill>
                <a:srgbClr val="003399"/>
              </a:solidFill>
            </p:grpSpPr>
            <p:sp>
              <p:nvSpPr>
                <p:cNvPr id="11" name="椭圆 10"/>
                <p:cNvSpPr/>
                <p:nvPr>
                  <p:custDataLst>
                    <p:tags r:id="rId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custDataLst>
                  <p:tags r:id="rId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1</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0" name="文本框 39"/>
            <p:cNvSpPr txBox="1"/>
            <p:nvPr>
              <p:custDataLst>
                <p:tags r:id="rId7"/>
              </p:custDataLst>
            </p:nvPr>
          </p:nvSpPr>
          <p:spPr>
            <a:xfrm>
              <a:off x="3193121" y="1854500"/>
              <a:ext cx="657733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水印嵌入位置的选择</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45" name="组合 44"/>
          <p:cNvGrpSpPr/>
          <p:nvPr>
            <p:custDataLst>
              <p:tags r:id="rId8"/>
            </p:custDataLst>
          </p:nvPr>
        </p:nvGrpSpPr>
        <p:grpSpPr>
          <a:xfrm>
            <a:off x="552546" y="2264428"/>
            <a:ext cx="7455535" cy="768985"/>
            <a:chOff x="2424136" y="1811320"/>
            <a:chExt cx="7455535" cy="769161"/>
          </a:xfrm>
        </p:grpSpPr>
        <p:grpSp>
          <p:nvGrpSpPr>
            <p:cNvPr id="46" name="组合 45"/>
            <p:cNvGrpSpPr/>
            <p:nvPr/>
          </p:nvGrpSpPr>
          <p:grpSpPr>
            <a:xfrm>
              <a:off x="2424136" y="1811320"/>
              <a:ext cx="6779902" cy="769161"/>
              <a:chOff x="2629986" y="1459214"/>
              <a:chExt cx="8597473" cy="975360"/>
            </a:xfrm>
          </p:grpSpPr>
          <p:grpSp>
            <p:nvGrpSpPr>
              <p:cNvPr id="48" name="组合 47"/>
              <p:cNvGrpSpPr/>
              <p:nvPr/>
            </p:nvGrpSpPr>
            <p:grpSpPr>
              <a:xfrm>
                <a:off x="2629986" y="1459214"/>
                <a:ext cx="8597473" cy="975360"/>
                <a:chOff x="1166287" y="1249680"/>
                <a:chExt cx="8597473" cy="975360"/>
              </a:xfrm>
              <a:solidFill>
                <a:srgbClr val="003399"/>
              </a:solidFill>
            </p:grpSpPr>
            <p:sp>
              <p:nvSpPr>
                <p:cNvPr id="50" name="椭圆 49"/>
                <p:cNvSpPr/>
                <p:nvPr>
                  <p:custDataLst>
                    <p:tags r:id="rId9"/>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custDataLst>
                    <p:tags r:id="rId1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p:cNvSpPr/>
              <p:nvPr>
                <p:custDataLst>
                  <p:tags r:id="rId11"/>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2</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7" name="文本框 46"/>
            <p:cNvSpPr txBox="1"/>
            <p:nvPr>
              <p:custDataLst>
                <p:tags r:id="rId12"/>
              </p:custDataLst>
            </p:nvPr>
          </p:nvSpPr>
          <p:spPr>
            <a:xfrm>
              <a:off x="3129621" y="1895776"/>
              <a:ext cx="6750050" cy="645308"/>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时域替换技术</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59" name="组合 58"/>
          <p:cNvGrpSpPr/>
          <p:nvPr>
            <p:custDataLst>
              <p:tags r:id="rId13"/>
            </p:custDataLst>
          </p:nvPr>
        </p:nvGrpSpPr>
        <p:grpSpPr>
          <a:xfrm>
            <a:off x="552546" y="4527568"/>
            <a:ext cx="6779902" cy="768985"/>
            <a:chOff x="2424136" y="1811320"/>
            <a:chExt cx="6779902" cy="769161"/>
          </a:xfrm>
        </p:grpSpPr>
        <p:grpSp>
          <p:nvGrpSpPr>
            <p:cNvPr id="60" name="组合 59"/>
            <p:cNvGrpSpPr/>
            <p:nvPr/>
          </p:nvGrpSpPr>
          <p:grpSpPr>
            <a:xfrm>
              <a:off x="2424136" y="1811320"/>
              <a:ext cx="6779902" cy="769161"/>
              <a:chOff x="2629986" y="1459214"/>
              <a:chExt cx="8597473" cy="975360"/>
            </a:xfrm>
          </p:grpSpPr>
          <p:grpSp>
            <p:nvGrpSpPr>
              <p:cNvPr id="62" name="组合 61"/>
              <p:cNvGrpSpPr/>
              <p:nvPr/>
            </p:nvGrpSpPr>
            <p:grpSpPr>
              <a:xfrm>
                <a:off x="2629986" y="1459214"/>
                <a:ext cx="8597473" cy="975360"/>
                <a:chOff x="1166287" y="1249680"/>
                <a:chExt cx="8597473" cy="975360"/>
              </a:xfrm>
              <a:solidFill>
                <a:srgbClr val="003399"/>
              </a:solidFill>
            </p:grpSpPr>
            <p:sp>
              <p:nvSpPr>
                <p:cNvPr id="64" name="椭圆 63"/>
                <p:cNvSpPr/>
                <p:nvPr>
                  <p:custDataLst>
                    <p:tags r:id="rId14"/>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custDataLst>
                    <p:tags r:id="rId15"/>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椭圆 62"/>
              <p:cNvSpPr/>
              <p:nvPr>
                <p:custDataLst>
                  <p:tags r:id="rId1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4</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61" name="文本框 60"/>
            <p:cNvSpPr txBox="1"/>
            <p:nvPr>
              <p:custDataLst>
                <p:tags r:id="rId17"/>
              </p:custDataLst>
            </p:nvPr>
          </p:nvSpPr>
          <p:spPr>
            <a:xfrm>
              <a:off x="3193281" y="1860980"/>
              <a:ext cx="259080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本章</a:t>
              </a:r>
              <a:r>
                <a:rPr lang="zh-CN" altLang="en-US" sz="3600" dirty="0">
                  <a:solidFill>
                    <a:schemeClr val="bg1"/>
                  </a:solidFill>
                  <a:latin typeface="黑体" panose="02010609060101010101" pitchFamily="49" charset="-122"/>
                  <a:ea typeface="黑体" panose="02010609060101010101" pitchFamily="49" charset="-122"/>
                </a:rPr>
                <a:t>小结</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6" name="组合 5"/>
          <p:cNvGrpSpPr/>
          <p:nvPr/>
        </p:nvGrpSpPr>
        <p:grpSpPr>
          <a:xfrm>
            <a:off x="7744444" y="0"/>
            <a:ext cx="4447556" cy="6858000"/>
            <a:chOff x="6922851" y="0"/>
            <a:chExt cx="5269149" cy="6858000"/>
          </a:xfrm>
          <a:blipFill dpi="0" rotWithShape="1">
            <a:blip r:embed="rId18">
              <a:extLst>
                <a:ext uri="{28A0092B-C50C-407E-A947-70E740481C1C}">
                  <a14:useLocalDpi xmlns:a14="http://schemas.microsoft.com/office/drawing/2010/main" val="0"/>
                </a:ext>
              </a:extLst>
            </a:blip>
            <a:srcRect/>
            <a:stretch>
              <a:fillRect l="-50000" r="-50000"/>
            </a:stretch>
          </a:blipFill>
        </p:grpSpPr>
        <p:sp>
          <p:nvSpPr>
            <p:cNvPr id="4" name="椭圆 3"/>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flipH="1">
            <a:off x="938039" y="166642"/>
            <a:ext cx="1998316" cy="707886"/>
          </a:xfrm>
          <a:prstGeom prst="rect">
            <a:avLst/>
          </a:prstGeom>
          <a:noFill/>
        </p:spPr>
        <p:txBody>
          <a:bodyPr wrap="square" rtlCol="0">
            <a:spAutoFit/>
          </a:bodyPr>
          <a:lstStyle/>
          <a:p>
            <a:r>
              <a:rPr lang="zh-CN" altLang="en-US" sz="4000" dirty="0">
                <a:solidFill>
                  <a:srgbClr val="003399"/>
                </a:solidFill>
                <a:latin typeface="黑体" panose="02010609060101010101" pitchFamily="49" charset="-122"/>
                <a:ea typeface="黑体" panose="02010609060101010101" pitchFamily="49" charset="-122"/>
              </a:rPr>
              <a:t>目录</a:t>
            </a:r>
            <a:endParaRPr lang="zh-CN" altLang="en-US" sz="4000" dirty="0">
              <a:solidFill>
                <a:srgbClr val="003399"/>
              </a:solidFill>
              <a:latin typeface="黑体" panose="02010609060101010101" pitchFamily="49" charset="-122"/>
              <a:ea typeface="黑体" panose="02010609060101010101" pitchFamily="49" charset="-122"/>
            </a:endParaRPr>
          </a:p>
        </p:txBody>
      </p:sp>
      <p:grpSp>
        <p:nvGrpSpPr>
          <p:cNvPr id="82" name="组合 81"/>
          <p:cNvGrpSpPr/>
          <p:nvPr/>
        </p:nvGrpSpPr>
        <p:grpSpPr>
          <a:xfrm>
            <a:off x="320172" y="274706"/>
            <a:ext cx="540000" cy="540000"/>
            <a:chOff x="328496" y="364706"/>
            <a:chExt cx="540000" cy="540000"/>
          </a:xfrm>
        </p:grpSpPr>
        <p:sp>
          <p:nvSpPr>
            <p:cNvPr id="80" name="矩形 79"/>
            <p:cNvSpPr/>
            <p:nvPr/>
          </p:nvSpPr>
          <p:spPr>
            <a:xfrm>
              <a:off x="508496" y="544706"/>
              <a:ext cx="360000" cy="36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328496" y="364706"/>
              <a:ext cx="180000" cy="18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custDataLst>
              <p:tags r:id="rId19"/>
            </p:custDataLst>
          </p:nvPr>
        </p:nvGrpSpPr>
        <p:grpSpPr>
          <a:xfrm>
            <a:off x="552546" y="3395998"/>
            <a:ext cx="6823075" cy="768985"/>
            <a:chOff x="2424136" y="1811320"/>
            <a:chExt cx="6823075" cy="769161"/>
          </a:xfrm>
        </p:grpSpPr>
        <p:grpSp>
          <p:nvGrpSpPr>
            <p:cNvPr id="10" name="组合 9"/>
            <p:cNvGrpSpPr/>
            <p:nvPr/>
          </p:nvGrpSpPr>
          <p:grpSpPr>
            <a:xfrm>
              <a:off x="2424136" y="1811320"/>
              <a:ext cx="6779902" cy="769161"/>
              <a:chOff x="2629986" y="1459214"/>
              <a:chExt cx="8597473" cy="975360"/>
            </a:xfrm>
          </p:grpSpPr>
          <p:grpSp>
            <p:nvGrpSpPr>
              <p:cNvPr id="15" name="组合 14"/>
              <p:cNvGrpSpPr/>
              <p:nvPr/>
            </p:nvGrpSpPr>
            <p:grpSpPr>
              <a:xfrm>
                <a:off x="2629986" y="1459214"/>
                <a:ext cx="8597473" cy="975360"/>
                <a:chOff x="1166287" y="1249680"/>
                <a:chExt cx="8597473" cy="975360"/>
              </a:xfrm>
              <a:solidFill>
                <a:srgbClr val="003399"/>
              </a:solidFill>
            </p:grpSpPr>
            <p:sp>
              <p:nvSpPr>
                <p:cNvPr id="18" name="矩形 17"/>
                <p:cNvSpPr/>
                <p:nvPr>
                  <p:custDataLst>
                    <p:tags r:id="rId2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21"/>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椭圆 15"/>
              <p:cNvSpPr/>
              <p:nvPr>
                <p:custDataLst>
                  <p:tags r:id="rId22"/>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3</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14" name="文本框 13"/>
            <p:cNvSpPr txBox="1"/>
            <p:nvPr>
              <p:custDataLst>
                <p:tags r:id="rId23"/>
              </p:custDataLst>
            </p:nvPr>
          </p:nvSpPr>
          <p:spPr>
            <a:xfrm>
              <a:off x="3129621" y="1857675"/>
              <a:ext cx="6117590" cy="645308"/>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变换域技术</a:t>
              </a:r>
              <a:endParaRPr lang="zh-CN" altLang="en-US" sz="3600" dirty="0">
                <a:solidFill>
                  <a:schemeClr val="bg1"/>
                </a:solidFill>
                <a:latin typeface="黑体" panose="02010609060101010101" pitchFamily="49" charset="-122"/>
                <a:ea typeface="黑体" panose="02010609060101010101" pitchFamily="49" charset="-122"/>
              </a:endParaRPr>
            </a:p>
          </p:txBody>
        </p:sp>
      </p:grpSp>
      <p:grpSp>
        <p:nvGrpSpPr>
          <p:cNvPr id="19" name="组合 18"/>
          <p:cNvGrpSpPr/>
          <p:nvPr>
            <p:custDataLst>
              <p:tags r:id="rId24"/>
            </p:custDataLst>
          </p:nvPr>
        </p:nvGrpSpPr>
        <p:grpSpPr>
          <a:xfrm>
            <a:off x="552546" y="5659138"/>
            <a:ext cx="7317740" cy="768985"/>
            <a:chOff x="2424136" y="1811320"/>
            <a:chExt cx="7317740" cy="769161"/>
          </a:xfrm>
        </p:grpSpPr>
        <p:grpSp>
          <p:nvGrpSpPr>
            <p:cNvPr id="20" name="组合 19"/>
            <p:cNvGrpSpPr/>
            <p:nvPr/>
          </p:nvGrpSpPr>
          <p:grpSpPr>
            <a:xfrm>
              <a:off x="2424136" y="1811320"/>
              <a:ext cx="7317740" cy="769161"/>
              <a:chOff x="2629986" y="1459214"/>
              <a:chExt cx="9279496" cy="975360"/>
            </a:xfrm>
          </p:grpSpPr>
          <p:grpSp>
            <p:nvGrpSpPr>
              <p:cNvPr id="21" name="组合 20"/>
              <p:cNvGrpSpPr/>
              <p:nvPr/>
            </p:nvGrpSpPr>
            <p:grpSpPr>
              <a:xfrm>
                <a:off x="2629986" y="1459214"/>
                <a:ext cx="9279496" cy="975360"/>
                <a:chOff x="1166287" y="1249680"/>
                <a:chExt cx="9279496" cy="975360"/>
              </a:xfrm>
              <a:solidFill>
                <a:srgbClr val="003399"/>
              </a:solidFill>
            </p:grpSpPr>
            <p:sp>
              <p:nvSpPr>
                <p:cNvPr id="22" name="椭圆 21"/>
                <p:cNvSpPr/>
                <p:nvPr>
                  <p:custDataLst>
                    <p:tags r:id="rId25"/>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custDataLst>
                    <p:tags r:id="rId26"/>
                  </p:custDataLst>
                </p:nvPr>
              </p:nvSpPr>
              <p:spPr>
                <a:xfrm>
                  <a:off x="1651842" y="1249680"/>
                  <a:ext cx="8793941"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6" name="椭圆 25"/>
              <p:cNvSpPr/>
              <p:nvPr>
                <p:custDataLst>
                  <p:tags r:id="rId27"/>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dirty="0">
                    <a:solidFill>
                      <a:srgbClr val="003399"/>
                    </a:solidFill>
                    <a:latin typeface="Arial Black" panose="020B0A04020102020204" pitchFamily="34" charset="0"/>
                    <a:ea typeface="黑体" panose="02010609060101010101" pitchFamily="49" charset="-122"/>
                  </a:rPr>
                  <a:t>5</a:t>
                </a:r>
                <a:endParaRPr lang="en-US" altLang="zh-CN" sz="4400" dirty="0">
                  <a:solidFill>
                    <a:srgbClr val="003399"/>
                  </a:solidFill>
                  <a:latin typeface="Arial Black" panose="020B0A04020102020204" pitchFamily="34" charset="0"/>
                  <a:ea typeface="黑体" panose="02010609060101010101" pitchFamily="49" charset="-122"/>
                </a:endParaRPr>
              </a:p>
            </p:txBody>
          </p:sp>
        </p:grpSp>
        <p:sp>
          <p:nvSpPr>
            <p:cNvPr id="27" name="文本框 26"/>
            <p:cNvSpPr txBox="1"/>
            <p:nvPr>
              <p:custDataLst>
                <p:tags r:id="rId28"/>
              </p:custDataLst>
            </p:nvPr>
          </p:nvSpPr>
          <p:spPr>
            <a:xfrm>
              <a:off x="3193281" y="1860980"/>
              <a:ext cx="2590800" cy="645160"/>
            </a:xfrm>
            <a:prstGeom prst="rect">
              <a:avLst/>
            </a:prstGeom>
            <a:noFill/>
          </p:spPr>
          <p:txBody>
            <a:bodyPr wrap="square" rtlCol="0">
              <a:spAutoFit/>
            </a:bodyPr>
            <a:p>
              <a:r>
                <a:rPr lang="zh-CN" altLang="en-US" sz="3600" dirty="0">
                  <a:solidFill>
                    <a:schemeClr val="bg1"/>
                  </a:solidFill>
                  <a:latin typeface="黑体" panose="02010609060101010101" pitchFamily="49" charset="-122"/>
                  <a:ea typeface="黑体" panose="02010609060101010101" pitchFamily="49" charset="-122"/>
                </a:rPr>
                <a:t>课后习题</a:t>
              </a:r>
              <a:endParaRPr lang="zh-CN" altLang="en-US" sz="3600" dirty="0">
                <a:solidFill>
                  <a:schemeClr val="bg1"/>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水印嵌入位置的</a:t>
            </a:r>
            <a:r>
              <a:rPr lang="zh-CN" altLang="en-US" sz="2800" b="1" dirty="0">
                <a:solidFill>
                  <a:srgbClr val="023B8C"/>
                </a:solidFill>
                <a:latin typeface="微软雅黑" panose="020B0503020204020204" charset="-122"/>
                <a:ea typeface="微软雅黑" panose="020B0503020204020204" charset="-122"/>
                <a:sym typeface="+mn-ea"/>
              </a:rPr>
              <a:t>选择</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568450"/>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常用水印嵌入位置</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二值图像信息隐藏</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实践案例六：二值图像信息隐藏</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常用水印嵌入位置</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9939" name="Rectangle 3"/>
          <p:cNvSpPr>
            <a:spLocks noGrp="1" noChangeArrowheads="1"/>
          </p:cNvSpPr>
          <p:nvPr>
            <p:ph idx="1"/>
          </p:nvPr>
        </p:nvSpPr>
        <p:spPr>
          <a:xfrm>
            <a:off x="1487805" y="1485265"/>
            <a:ext cx="9638030" cy="3390900"/>
          </a:xfrm>
        </p:spPr>
        <p:txBody>
          <a:bodyPr/>
          <a:p>
            <a:pPr algn="l" eaLnBrk="1" hangingPunct="1">
              <a:defRPr/>
            </a:pPr>
            <a:r>
              <a:rPr lang="zh-CN" altLang="en-US" sz="2800" dirty="0"/>
              <a:t>水印嵌入位置的选择应考虑两个问题：</a:t>
            </a:r>
            <a:endParaRPr lang="zh-CN" altLang="en-US" sz="2800" dirty="0"/>
          </a:p>
          <a:p>
            <a:pPr lvl="1" eaLnBrk="1" hangingPunct="1">
              <a:defRPr/>
            </a:pPr>
            <a:r>
              <a:rPr lang="zh-CN" altLang="en-US" sz="2800" dirty="0"/>
              <a:t>安全性问题</a:t>
            </a:r>
            <a:endParaRPr lang="zh-CN" altLang="en-US" sz="2800" dirty="0"/>
          </a:p>
          <a:p>
            <a:pPr lvl="1" eaLnBrk="1" hangingPunct="1">
              <a:defRPr/>
            </a:pPr>
            <a:r>
              <a:rPr lang="zh-CN" altLang="en-US" sz="2800" dirty="0">
                <a:sym typeface="+mn-ea"/>
              </a:rPr>
              <a:t>透明性问题</a:t>
            </a:r>
            <a:endParaRPr lang="zh-CN" altLang="en-US" sz="2800" dirty="0"/>
          </a:p>
          <a:p>
            <a:pPr eaLnBrk="1" hangingPunct="1">
              <a:defRPr/>
            </a:pPr>
            <a:r>
              <a:rPr lang="zh-CN" altLang="en-US" sz="2800" dirty="0"/>
              <a:t>在许多方案中，采用了一个密钥控制的伪随机数发生器来产生嵌入水印的位置。</a:t>
            </a:r>
            <a:endParaRPr lang="zh-CN" altLang="en-US" sz="2800" dirty="0"/>
          </a:p>
          <a:p>
            <a:pPr eaLnBrk="1" hangingPunct="1">
              <a:defRPr/>
            </a:pPr>
            <a:r>
              <a:rPr lang="zh-CN" altLang="en-US" sz="2800" dirty="0"/>
              <a:t>从嵌入水印不影响感观效果的角度和人类的心理视觉考虑，应选择合适的区域嵌入水印，而如何选择合适的区域，则利用了预测编码的原理。</a:t>
            </a:r>
            <a:endParaRPr lang="zh-CN" altLang="en-US" sz="28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39">
                                            <p:txEl>
                                              <p:pRg st="1" end="1"/>
                                            </p:txEl>
                                          </p:spTgt>
                                        </p:tgtEl>
                                        <p:attrNameLst>
                                          <p:attrName>style.visibility</p:attrName>
                                        </p:attrNameLst>
                                      </p:cBhvr>
                                      <p:to>
                                        <p:strVal val="visible"/>
                                      </p:to>
                                    </p:set>
                                    <p:anim calcmode="lin" valueType="num">
                                      <p:cBhvr additive="base">
                                        <p:cTn id="13"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9">
                                            <p:txEl>
                                              <p:pRg st="2" end="2"/>
                                            </p:txEl>
                                          </p:spTgt>
                                        </p:tgtEl>
                                        <p:attrNameLst>
                                          <p:attrName>style.visibility</p:attrName>
                                        </p:attrNameLst>
                                      </p:cBhvr>
                                      <p:to>
                                        <p:strVal val="visible"/>
                                      </p:to>
                                    </p:set>
                                    <p:anim calcmode="lin" valueType="num">
                                      <p:cBhvr additive="base">
                                        <p:cTn id="19"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939">
                                            <p:txEl>
                                              <p:pRg st="3" end="3"/>
                                            </p:txEl>
                                          </p:spTgt>
                                        </p:tgtEl>
                                        <p:attrNameLst>
                                          <p:attrName>style.visibility</p:attrName>
                                        </p:attrNameLst>
                                      </p:cBhvr>
                                      <p:to>
                                        <p:strVal val="visible"/>
                                      </p:to>
                                    </p:set>
                                    <p:anim calcmode="lin" valueType="num">
                                      <p:cBhvr additive="base">
                                        <p:cTn id="25"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939">
                                            <p:txEl>
                                              <p:pRg st="4" end="4"/>
                                            </p:txEl>
                                          </p:spTgt>
                                        </p:tgtEl>
                                        <p:attrNameLst>
                                          <p:attrName>style.visibility</p:attrName>
                                        </p:attrNameLst>
                                      </p:cBhvr>
                                      <p:to>
                                        <p:strVal val="visible"/>
                                      </p:to>
                                    </p:set>
                                    <p:anim calcmode="lin" valueType="num">
                                      <p:cBhvr additive="base">
                                        <p:cTn id="31"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ldLvl="5"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422400" y="1917065"/>
            <a:ext cx="10058400" cy="2891367"/>
          </a:xfrm>
        </p:spPr>
        <p:txBody>
          <a:bodyPr>
            <a:normAutofit/>
          </a:bodyPr>
          <a:lstStyle/>
          <a:p>
            <a:pPr eaLnBrk="1" hangingPunct="1">
              <a:defRPr/>
            </a:pPr>
            <a:r>
              <a:rPr lang="zh-CN" altLang="en-US" dirty="0"/>
              <a:t>二值图像</a:t>
            </a:r>
            <a:endParaRPr lang="en-US" altLang="zh-CN" dirty="0"/>
          </a:p>
          <a:p>
            <a:pPr lvl="1" eaLnBrk="1" hangingPunct="1">
              <a:defRPr/>
            </a:pPr>
            <a:r>
              <a:rPr lang="zh-CN" altLang="en-US" dirty="0"/>
              <a:t>由黑白像素的分布构成的图像</a:t>
            </a:r>
            <a:endParaRPr lang="en-US" altLang="zh-CN" dirty="0"/>
          </a:p>
          <a:p>
            <a:pPr lvl="1" eaLnBrk="1" hangingPunct="1">
              <a:defRPr/>
            </a:pPr>
            <a:r>
              <a:rPr lang="zh-CN" altLang="en-US" dirty="0"/>
              <a:t>例如：传真、文字识别等</a:t>
            </a:r>
            <a:endParaRPr lang="zh-CN" altLang="en-US" dirty="0"/>
          </a:p>
          <a:p>
            <a:pPr eaLnBrk="1" hangingPunct="1">
              <a:defRPr/>
            </a:pPr>
            <a:r>
              <a:rPr lang="zh-CN" altLang="en-US" dirty="0"/>
              <a:t>常用信息隐藏方法</a:t>
            </a:r>
            <a:endParaRPr lang="en-US" altLang="zh-CN" dirty="0"/>
          </a:p>
          <a:p>
            <a:pPr lvl="1" eaLnBrk="1" hangingPunct="1">
              <a:defRPr/>
            </a:pPr>
            <a:r>
              <a:rPr lang="zh-CN" altLang="en-US" dirty="0">
                <a:latin typeface="宋体" panose="02010600030101010101" pitchFamily="2" charset="-122"/>
              </a:rPr>
              <a:t>利用图像区域中黑色</a:t>
            </a:r>
            <a:r>
              <a:rPr lang="zh-CN" altLang="en-US" dirty="0"/>
              <a:t>像素</a:t>
            </a:r>
            <a:r>
              <a:rPr lang="zh-CN" altLang="en-US" dirty="0">
                <a:latin typeface="宋体" panose="02010600030101010101" pitchFamily="2" charset="-122"/>
              </a:rPr>
              <a:t>的个数隐藏秘密信息</a:t>
            </a:r>
            <a:endParaRPr lang="zh-CN" altLang="en-US" dirty="0"/>
          </a:p>
        </p:txBody>
      </p:sp>
      <p:sp>
        <p:nvSpPr>
          <p:cNvPr id="51204" name="Picture 4" descr="man_original"/>
          <p:cNvSpPr>
            <a:spLocks noChangeAspect="1" noChangeArrowheads="1"/>
          </p:cNvSpPr>
          <p:nvPr/>
        </p:nvSpPr>
        <p:spPr bwMode="auto">
          <a:xfrm>
            <a:off x="1678517" y="4292600"/>
            <a:ext cx="4470400" cy="336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pic>
        <p:nvPicPr>
          <p:cNvPr id="51205" name="Picture 5" descr="ball_origina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32215" y="4279265"/>
            <a:ext cx="3420110" cy="257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39">
                                            <p:txEl>
                                              <p:pRg st="1" end="1"/>
                                            </p:txEl>
                                          </p:spTgt>
                                        </p:tgtEl>
                                        <p:attrNameLst>
                                          <p:attrName>style.visibility</p:attrName>
                                        </p:attrNameLst>
                                      </p:cBhvr>
                                      <p:to>
                                        <p:strVal val="visible"/>
                                      </p:to>
                                    </p:set>
                                    <p:anim calcmode="lin" valueType="num">
                                      <p:cBhvr additive="base">
                                        <p:cTn id="13"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9">
                                            <p:txEl>
                                              <p:pRg st="2" end="2"/>
                                            </p:txEl>
                                          </p:spTgt>
                                        </p:tgtEl>
                                        <p:attrNameLst>
                                          <p:attrName>style.visibility</p:attrName>
                                        </p:attrNameLst>
                                      </p:cBhvr>
                                      <p:to>
                                        <p:strVal val="visible"/>
                                      </p:to>
                                    </p:set>
                                    <p:anim calcmode="lin" valueType="num">
                                      <p:cBhvr additive="base">
                                        <p:cTn id="19"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nodePh="1">
                                  <p:stCondLst>
                                    <p:cond delay="0"/>
                                  </p:stCondLst>
                                  <p:endCondLst>
                                    <p:cond evt="begin" delay="0">
                                      <p:tn val="21"/>
                                    </p:cond>
                                  </p:endCondLst>
                                  <p:childTnLst>
                                    <p:set>
                                      <p:cBhvr>
                                        <p:cTn id="22" dur="1" fill="hold">
                                          <p:stCondLst>
                                            <p:cond delay="0"/>
                                          </p:stCondLst>
                                        </p:cTn>
                                        <p:tgtEl>
                                          <p:spTgt spid="51204"/>
                                        </p:tgtEl>
                                        <p:attrNameLst>
                                          <p:attrName>style.visibility</p:attrName>
                                        </p:attrNameLst>
                                      </p:cBhvr>
                                      <p:to>
                                        <p:strVal val="visible"/>
                                      </p:to>
                                    </p:set>
                                    <p:anim calcmode="lin" valueType="num">
                                      <p:cBhvr additive="base">
                                        <p:cTn id="23" dur="500" fill="hold"/>
                                        <p:tgtEl>
                                          <p:spTgt spid="51204"/>
                                        </p:tgtEl>
                                        <p:attrNameLst>
                                          <p:attrName>ppt_x</p:attrName>
                                        </p:attrNameLst>
                                      </p:cBhvr>
                                      <p:tavLst>
                                        <p:tav tm="0">
                                          <p:val>
                                            <p:strVal val="#ppt_x"/>
                                          </p:val>
                                        </p:tav>
                                        <p:tav tm="100000">
                                          <p:val>
                                            <p:strVal val="#ppt_x"/>
                                          </p:val>
                                        </p:tav>
                                      </p:tavLst>
                                    </p:anim>
                                    <p:anim calcmode="lin" valueType="num">
                                      <p:cBhvr additive="base">
                                        <p:cTn id="24" dur="500" fill="hold"/>
                                        <p:tgtEl>
                                          <p:spTgt spid="5120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205"/>
                                        </p:tgtEl>
                                        <p:attrNameLst>
                                          <p:attrName>style.visibility</p:attrName>
                                        </p:attrNameLst>
                                      </p:cBhvr>
                                      <p:to>
                                        <p:strVal val="visible"/>
                                      </p:to>
                                    </p:set>
                                    <p:anim calcmode="lin" valueType="num">
                                      <p:cBhvr additive="base">
                                        <p:cTn id="27" dur="500" fill="hold"/>
                                        <p:tgtEl>
                                          <p:spTgt spid="51205"/>
                                        </p:tgtEl>
                                        <p:attrNameLst>
                                          <p:attrName>ppt_x</p:attrName>
                                        </p:attrNameLst>
                                      </p:cBhvr>
                                      <p:tavLst>
                                        <p:tav tm="0">
                                          <p:val>
                                            <p:strVal val="#ppt_x"/>
                                          </p:val>
                                        </p:tav>
                                        <p:tav tm="100000">
                                          <p:val>
                                            <p:strVal val="#ppt_x"/>
                                          </p:val>
                                        </p:tav>
                                      </p:tavLst>
                                    </p:anim>
                                    <p:anim calcmode="lin" valueType="num">
                                      <p:cBhvr additive="base">
                                        <p:cTn id="28" dur="500" fill="hold"/>
                                        <p:tgtEl>
                                          <p:spTgt spid="5120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9939">
                                            <p:txEl>
                                              <p:pRg st="3" end="3"/>
                                            </p:txEl>
                                          </p:spTgt>
                                        </p:tgtEl>
                                        <p:attrNameLst>
                                          <p:attrName>style.visibility</p:attrName>
                                        </p:attrNameLst>
                                      </p:cBhvr>
                                      <p:to>
                                        <p:strVal val="visible"/>
                                      </p:to>
                                    </p:set>
                                    <p:anim calcmode="lin" valueType="num">
                                      <p:cBhvr additive="base">
                                        <p:cTn id="33"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9939">
                                            <p:txEl>
                                              <p:pRg st="4" end="4"/>
                                            </p:txEl>
                                          </p:spTgt>
                                        </p:tgtEl>
                                        <p:attrNameLst>
                                          <p:attrName>style.visibility</p:attrName>
                                        </p:attrNameLst>
                                      </p:cBhvr>
                                      <p:to>
                                        <p:strVal val="visible"/>
                                      </p:to>
                                    </p:set>
                                    <p:anim calcmode="lin" valueType="num">
                                      <p:cBhvr additive="base">
                                        <p:cTn id="39"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ldLvl="5" build="p"/>
      <p:bldP spid="5120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1343449" y="1340803"/>
            <a:ext cx="9751483" cy="4114800"/>
          </a:xfrm>
        </p:spPr>
        <p:txBody>
          <a:bodyPr/>
          <a:lstStyle/>
          <a:p>
            <a:pPr eaLnBrk="1" hangingPunct="1"/>
            <a:r>
              <a:rPr lang="zh-CN" altLang="en-US"/>
              <a:t>方法一</a:t>
            </a:r>
            <a:endParaRPr lang="en-US" altLang="zh-CN"/>
          </a:p>
          <a:p>
            <a:pPr lvl="1" eaLnBrk="1" hangingPunct="1"/>
            <a:r>
              <a:rPr lang="zh-CN" altLang="en-US"/>
              <a:t>基于黑白像素比例的隐藏</a:t>
            </a:r>
            <a:endParaRPr lang="en-US" altLang="zh-CN"/>
          </a:p>
          <a:p>
            <a:pPr eaLnBrk="1" hangingPunct="1"/>
            <a:r>
              <a:rPr lang="zh-CN" altLang="en-US"/>
              <a:t>嵌入</a:t>
            </a:r>
            <a:endParaRPr lang="zh-CN" altLang="en-US"/>
          </a:p>
          <a:p>
            <a:pPr lvl="1" eaLnBrk="1" hangingPunct="1"/>
            <a:r>
              <a:rPr lang="zh-CN" altLang="en-US">
                <a:latin typeface="宋体" panose="02010600030101010101" pitchFamily="2" charset="-122"/>
              </a:rPr>
              <a:t>划分一个二值图像为    个矩形图像区域   </a:t>
            </a:r>
            <a:endParaRPr lang="en-US" altLang="zh-CN">
              <a:latin typeface="宋体" panose="02010600030101010101" pitchFamily="2" charset="-122"/>
            </a:endParaRPr>
          </a:p>
          <a:p>
            <a:pPr lvl="1" eaLnBrk="1" hangingPunct="1"/>
            <a:r>
              <a:rPr lang="zh-CN" altLang="en-US">
                <a:latin typeface="宋体" panose="02010600030101010101" pitchFamily="2" charset="-122"/>
              </a:rPr>
              <a:t>调整黑白像素的比例，使其满足：隐藏</a:t>
            </a:r>
            <a:r>
              <a:rPr lang="en-US" altLang="zh-CN">
                <a:latin typeface="宋体" panose="02010600030101010101" pitchFamily="2" charset="-122"/>
              </a:rPr>
              <a:t>0</a:t>
            </a:r>
            <a:r>
              <a:rPr lang="zh-CN" altLang="en-US">
                <a:latin typeface="宋体" panose="02010600030101010101" pitchFamily="2" charset="-122"/>
              </a:rPr>
              <a:t>时，黑色像素比例大于</a:t>
            </a:r>
            <a:r>
              <a:rPr lang="en-US" altLang="zh-CN">
                <a:latin typeface="宋体" panose="02010600030101010101" pitchFamily="2" charset="-122"/>
              </a:rPr>
              <a:t>50%</a:t>
            </a:r>
            <a:r>
              <a:rPr lang="zh-CN" altLang="en-US">
                <a:latin typeface="宋体" panose="02010600030101010101" pitchFamily="2" charset="-122"/>
              </a:rPr>
              <a:t>，隐藏</a:t>
            </a:r>
            <a:r>
              <a:rPr lang="en-US" altLang="zh-CN">
                <a:latin typeface="宋体" panose="02010600030101010101" pitchFamily="2" charset="-122"/>
              </a:rPr>
              <a:t>1</a:t>
            </a:r>
            <a:r>
              <a:rPr lang="zh-CN" altLang="en-US">
                <a:latin typeface="宋体" panose="02010600030101010101" pitchFamily="2" charset="-122"/>
              </a:rPr>
              <a:t>时则相反</a:t>
            </a:r>
            <a:endParaRPr lang="zh-CN" altLang="en-US">
              <a:latin typeface="宋体" panose="02010600030101010101" pitchFamily="2" charset="-122"/>
            </a:endParaRPr>
          </a:p>
          <a:p>
            <a:pPr lvl="1" eaLnBrk="1" hangingPunct="1"/>
            <a:r>
              <a:rPr lang="zh-CN" altLang="en-US">
                <a:latin typeface="宋体" panose="02010600030101010101" pitchFamily="2" charset="-122"/>
              </a:rPr>
              <a:t>修改应遵循不引起感观察觉的原则</a:t>
            </a:r>
            <a:endParaRPr lang="zh-CN" altLang="en-US">
              <a:latin typeface="宋体" panose="02010600030101010101" pitchFamily="2" charset="-122"/>
            </a:endParaRPr>
          </a:p>
          <a:p>
            <a:pPr lvl="1" eaLnBrk="1" hangingPunct="1"/>
            <a:r>
              <a:rPr lang="zh-CN" altLang="en-US">
                <a:latin typeface="宋体" panose="02010600030101010101" pitchFamily="2" charset="-122"/>
              </a:rPr>
              <a:t>修改应在黑白区域的边缘进行</a:t>
            </a:r>
            <a:r>
              <a:rPr lang="zh-CN" altLang="en-US"/>
              <a:t> </a:t>
            </a:r>
            <a:endParaRPr lang="zh-CN" altLang="en-US"/>
          </a:p>
        </p:txBody>
      </p:sp>
      <p:graphicFrame>
        <p:nvGraphicFramePr>
          <p:cNvPr id="3074" name="Object 4"/>
          <p:cNvGraphicFramePr>
            <a:graphicFrameLocks noChangeAspect="1"/>
          </p:cNvGraphicFramePr>
          <p:nvPr/>
        </p:nvGraphicFramePr>
        <p:xfrm>
          <a:off x="4988560" y="2878455"/>
          <a:ext cx="744220" cy="422910"/>
        </p:xfrm>
        <a:graphic>
          <a:graphicData uri="http://schemas.openxmlformats.org/presentationml/2006/ole">
            <mc:AlternateContent xmlns:mc="http://schemas.openxmlformats.org/markup-compatibility/2006">
              <mc:Choice xmlns:v="urn:schemas-microsoft-com:vml" Requires="v">
                <p:oleObj spid="_x0000_s47757" name="Equation" r:id="rId1" imgW="355600" imgH="203200" progId="Equation.DSMT4">
                  <p:embed/>
                </p:oleObj>
              </mc:Choice>
              <mc:Fallback>
                <p:oleObj name="Equation" r:id="rId1" imgW="355600" imgH="203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8560" y="2878455"/>
                        <a:ext cx="744220" cy="42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Object 6"/>
          <p:cNvGraphicFramePr>
            <a:graphicFrameLocks noChangeAspect="1"/>
          </p:cNvGraphicFramePr>
          <p:nvPr/>
        </p:nvGraphicFramePr>
        <p:xfrm>
          <a:off x="7896225" y="2853055"/>
          <a:ext cx="386080" cy="487680"/>
        </p:xfrm>
        <a:graphic>
          <a:graphicData uri="http://schemas.openxmlformats.org/presentationml/2006/ole">
            <mc:AlternateContent xmlns:mc="http://schemas.openxmlformats.org/markup-compatibility/2006">
              <mc:Choice xmlns:v="urn:schemas-microsoft-com:vml" Requires="v">
                <p:oleObj spid="_x0000_s47758" name="Equation" r:id="rId3" imgW="177800" imgH="228600" progId="Equation.DSMT4">
                  <p:embed/>
                </p:oleObj>
              </mc:Choice>
              <mc:Fallback>
                <p:oleObj name="Equation" r:id="rId3" imgW="1778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6225" y="2853055"/>
                        <a:ext cx="386080" cy="48768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anim calcmode="lin" valueType="num">
                                      <p:cBhvr additive="base">
                                        <p:cTn id="11"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 calcmode="lin" valueType="num">
                                      <p:cBhvr additive="base">
                                        <p:cTn id="17"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0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0963">
                                            <p:txEl>
                                              <p:pRg st="3" end="3"/>
                                            </p:txEl>
                                          </p:spTgt>
                                        </p:tgtEl>
                                        <p:attrNameLst>
                                          <p:attrName>style.visibility</p:attrName>
                                        </p:attrNameLst>
                                      </p:cBhvr>
                                      <p:to>
                                        <p:strVal val="visible"/>
                                      </p:to>
                                    </p:set>
                                    <p:anim calcmode="lin" valueType="num">
                                      <p:cBhvr additive="base">
                                        <p:cTn id="23"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09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075"/>
                                        </p:tgtEl>
                                        <p:attrNameLst>
                                          <p:attrName>style.visibility</p:attrName>
                                        </p:attrNameLst>
                                      </p:cBhvr>
                                      <p:to>
                                        <p:strVal val="visible"/>
                                      </p:to>
                                    </p:set>
                                    <p:anim calcmode="lin" valueType="num">
                                      <p:cBhvr additive="base">
                                        <p:cTn id="27" dur="500" fill="hold"/>
                                        <p:tgtEl>
                                          <p:spTgt spid="3075"/>
                                        </p:tgtEl>
                                        <p:attrNameLst>
                                          <p:attrName>ppt_x</p:attrName>
                                        </p:attrNameLst>
                                      </p:cBhvr>
                                      <p:tavLst>
                                        <p:tav tm="0">
                                          <p:val>
                                            <p:strVal val="#ppt_x"/>
                                          </p:val>
                                        </p:tav>
                                        <p:tav tm="100000">
                                          <p:val>
                                            <p:strVal val="#ppt_x"/>
                                          </p:val>
                                        </p:tav>
                                      </p:tavLst>
                                    </p:anim>
                                    <p:anim calcmode="lin" valueType="num">
                                      <p:cBhvr additive="base">
                                        <p:cTn id="28" dur="500" fill="hold"/>
                                        <p:tgtEl>
                                          <p:spTgt spid="307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74"/>
                                        </p:tgtEl>
                                        <p:attrNameLst>
                                          <p:attrName>style.visibility</p:attrName>
                                        </p:attrNameLst>
                                      </p:cBhvr>
                                      <p:to>
                                        <p:strVal val="visible"/>
                                      </p:to>
                                    </p:set>
                                    <p:anim calcmode="lin" valueType="num">
                                      <p:cBhvr additive="base">
                                        <p:cTn id="31" dur="500" fill="hold"/>
                                        <p:tgtEl>
                                          <p:spTgt spid="3074"/>
                                        </p:tgtEl>
                                        <p:attrNameLst>
                                          <p:attrName>ppt_x</p:attrName>
                                        </p:attrNameLst>
                                      </p:cBhvr>
                                      <p:tavLst>
                                        <p:tav tm="0">
                                          <p:val>
                                            <p:strVal val="#ppt_x"/>
                                          </p:val>
                                        </p:tav>
                                        <p:tav tm="100000">
                                          <p:val>
                                            <p:strVal val="#ppt_x"/>
                                          </p:val>
                                        </p:tav>
                                      </p:tavLst>
                                    </p:anim>
                                    <p:anim calcmode="lin" valueType="num">
                                      <p:cBhvr additive="base">
                                        <p:cTn id="32"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63">
                                            <p:txEl>
                                              <p:pRg st="4" end="4"/>
                                            </p:txEl>
                                          </p:spTgt>
                                        </p:tgtEl>
                                        <p:attrNameLst>
                                          <p:attrName>style.visibility</p:attrName>
                                        </p:attrNameLst>
                                      </p:cBhvr>
                                      <p:to>
                                        <p:strVal val="visible"/>
                                      </p:to>
                                    </p:set>
                                    <p:anim calcmode="lin" valueType="num">
                                      <p:cBhvr additive="base">
                                        <p:cTn id="37" dur="5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0963">
                                            <p:txEl>
                                              <p:pRg st="5" end="5"/>
                                            </p:txEl>
                                          </p:spTgt>
                                        </p:tgtEl>
                                        <p:attrNameLst>
                                          <p:attrName>style.visibility</p:attrName>
                                        </p:attrNameLst>
                                      </p:cBhvr>
                                      <p:to>
                                        <p:strVal val="visible"/>
                                      </p:to>
                                    </p:set>
                                    <p:anim calcmode="lin" valueType="num">
                                      <p:cBhvr additive="base">
                                        <p:cTn id="43" dur="5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0963">
                                            <p:txEl>
                                              <p:pRg st="6" end="6"/>
                                            </p:txEl>
                                          </p:spTgt>
                                        </p:tgtEl>
                                        <p:attrNameLst>
                                          <p:attrName>style.visibility</p:attrName>
                                        </p:attrNameLst>
                                      </p:cBhvr>
                                      <p:to>
                                        <p:strVal val="visible"/>
                                      </p:to>
                                    </p:set>
                                    <p:anim calcmode="lin" valueType="num">
                                      <p:cBhvr additive="base">
                                        <p:cTn id="49" dur="500" fill="hold"/>
                                        <p:tgtEl>
                                          <p:spTgt spid="4096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09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5" name="Rectangle 3"/>
          <p:cNvSpPr>
            <a:spLocks noGrp="1" noChangeArrowheads="1"/>
          </p:cNvSpPr>
          <p:nvPr>
            <p:ph idx="1"/>
          </p:nvPr>
        </p:nvSpPr>
        <p:spPr>
          <a:xfrm>
            <a:off x="1271270" y="1314133"/>
            <a:ext cx="7313613" cy="4114800"/>
          </a:xfrm>
        </p:spPr>
        <p:txBody>
          <a:bodyPr/>
          <a:lstStyle/>
          <a:p>
            <a:pPr lvl="1" eaLnBrk="1" hangingPunct="1"/>
            <a:r>
              <a:rPr lang="zh-CN" altLang="en-US" sz="2400">
                <a:latin typeface="宋体" panose="02010600030101010101" pitchFamily="2" charset="-122"/>
              </a:rPr>
              <a:t>应考虑有一定的冗余度，确定有效区域</a:t>
            </a:r>
            <a:endParaRPr lang="zh-CN" altLang="en-US" sz="2400">
              <a:latin typeface="宋体" panose="02010600030101010101" pitchFamily="2" charset="-122"/>
            </a:endParaRPr>
          </a:p>
          <a:p>
            <a:pPr lvl="1" eaLnBrk="1" hangingPunct="1"/>
            <a:r>
              <a:rPr lang="zh-CN" altLang="en-US" sz="2400">
                <a:latin typeface="宋体" panose="02010600030101010101" pitchFamily="2" charset="-122"/>
              </a:rPr>
              <a:t>确定两个阈值      和      ，以及一个稳健性参数   。隐藏</a:t>
            </a:r>
            <a:r>
              <a:rPr lang="en-US" altLang="zh-CN" sz="2400">
                <a:latin typeface="宋体" panose="02010600030101010101" pitchFamily="2" charset="-122"/>
              </a:rPr>
              <a:t>1</a:t>
            </a:r>
            <a:r>
              <a:rPr lang="zh-CN" altLang="en-US" sz="2400">
                <a:latin typeface="宋体" panose="02010600030101010101" pitchFamily="2" charset="-122"/>
              </a:rPr>
              <a:t>时，该块的黑色像素的个数应属于       ；隐藏</a:t>
            </a:r>
            <a:r>
              <a:rPr lang="en-US" altLang="zh-CN" sz="2400">
                <a:latin typeface="宋体" panose="02010600030101010101" pitchFamily="2" charset="-122"/>
              </a:rPr>
              <a:t>0</a:t>
            </a:r>
            <a:r>
              <a:rPr lang="zh-CN" altLang="en-US" sz="2400">
                <a:latin typeface="宋体" panose="02010600030101010101" pitchFamily="2" charset="-122"/>
              </a:rPr>
              <a:t>时，该块的黑色像素的个数应属于       </a:t>
            </a:r>
            <a:endParaRPr lang="zh-CN" altLang="en-US" sz="2400">
              <a:latin typeface="宋体" panose="02010600030101010101" pitchFamily="2" charset="-122"/>
            </a:endParaRPr>
          </a:p>
          <a:p>
            <a:pPr lvl="1" eaLnBrk="1" hangingPunct="1"/>
            <a:r>
              <a:rPr lang="zh-CN" altLang="en-US" sz="2400">
                <a:latin typeface="宋体" panose="02010600030101010101" pitchFamily="2" charset="-122"/>
              </a:rPr>
              <a:t>如果为了适应所嵌入的比特，目标块必须修改太多的像素，就把该块设为无效</a:t>
            </a:r>
            <a:endParaRPr lang="zh-CN" altLang="en-US" sz="2400">
              <a:latin typeface="宋体" panose="02010600030101010101" pitchFamily="2" charset="-122"/>
            </a:endParaRPr>
          </a:p>
          <a:p>
            <a:pPr lvl="1" eaLnBrk="1" hangingPunct="1"/>
            <a:r>
              <a:rPr lang="zh-CN" altLang="en-US" sz="2400">
                <a:latin typeface="宋体" panose="02010600030101010101" pitchFamily="2" charset="-122"/>
              </a:rPr>
              <a:t>标识无效块：将无效块中的像素进行少量的修改，使得其中黑色像素的百分比大于      ，或者小于      </a:t>
            </a:r>
            <a:r>
              <a:rPr lang="zh-CN" altLang="en-US" sz="2400"/>
              <a:t> </a:t>
            </a:r>
            <a:endParaRPr lang="zh-CN" altLang="en-US" sz="2400"/>
          </a:p>
        </p:txBody>
      </p:sp>
      <p:graphicFrame>
        <p:nvGraphicFramePr>
          <p:cNvPr id="6" name="Object 4"/>
          <p:cNvGraphicFramePr>
            <a:graphicFrameLocks noChangeAspect="1"/>
          </p:cNvGraphicFramePr>
          <p:nvPr/>
        </p:nvGraphicFramePr>
        <p:xfrm>
          <a:off x="3941445" y="1785620"/>
          <a:ext cx="914400" cy="314325"/>
        </p:xfrm>
        <a:graphic>
          <a:graphicData uri="http://schemas.openxmlformats.org/presentationml/2006/ole">
            <mc:AlternateContent xmlns:mc="http://schemas.openxmlformats.org/markup-compatibility/2006">
              <mc:Choice xmlns:v="urn:schemas-microsoft-com:vml" Requires="v">
                <p:oleObj spid="_x0000_s10" name="Equation" r:id="rId1" imgW="634365" imgH="215900" progId="Equation.DSMT4">
                  <p:embed/>
                </p:oleObj>
              </mc:Choice>
              <mc:Fallback>
                <p:oleObj name="Equation" r:id="rId1" imgW="634365" imgH="2159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1445" y="1785620"/>
                        <a:ext cx="914400" cy="314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
          <p:cNvGraphicFramePr>
            <a:graphicFrameLocks noChangeAspect="1"/>
          </p:cNvGraphicFramePr>
          <p:nvPr/>
        </p:nvGraphicFramePr>
        <p:xfrm>
          <a:off x="5227320" y="1785620"/>
          <a:ext cx="990600" cy="349250"/>
        </p:xfrm>
        <a:graphic>
          <a:graphicData uri="http://schemas.openxmlformats.org/presentationml/2006/ole">
            <mc:AlternateContent xmlns:mc="http://schemas.openxmlformats.org/markup-compatibility/2006">
              <mc:Choice xmlns:v="urn:schemas-microsoft-com:vml" Requires="v">
                <p:oleObj spid="_x0000_s12" name="Equation" r:id="rId3" imgW="647700" imgH="228600" progId="Equation.DSMT4">
                  <p:embed/>
                </p:oleObj>
              </mc:Choice>
              <mc:Fallback>
                <p:oleObj name="Equation" r:id="rId3" imgW="6477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7320" y="1785620"/>
                        <a:ext cx="990600" cy="34925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8"/>
          <p:cNvGraphicFramePr>
            <a:graphicFrameLocks noChangeAspect="1"/>
          </p:cNvGraphicFramePr>
          <p:nvPr/>
        </p:nvGraphicFramePr>
        <p:xfrm>
          <a:off x="3227070" y="2214245"/>
          <a:ext cx="241300" cy="304800"/>
        </p:xfrm>
        <a:graphic>
          <a:graphicData uri="http://schemas.openxmlformats.org/presentationml/2006/ole">
            <mc:AlternateContent xmlns:mc="http://schemas.openxmlformats.org/markup-compatibility/2006">
              <mc:Choice xmlns:v="urn:schemas-microsoft-com:vml" Requires="v">
                <p:oleObj spid="_x0000_s14" name="Equation" r:id="rId5" imgW="139700" imgH="177800" progId="Equation.DSMT4">
                  <p:embed/>
                </p:oleObj>
              </mc:Choice>
              <mc:Fallback>
                <p:oleObj name="Equation" r:id="rId5" imgW="139700" imgH="1778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7070" y="2214245"/>
                        <a:ext cx="241300" cy="3048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noChangeAspect="1"/>
          </p:cNvGraphicFramePr>
          <p:nvPr/>
        </p:nvGraphicFramePr>
        <p:xfrm>
          <a:off x="3084195" y="2571433"/>
          <a:ext cx="1066800" cy="322262"/>
        </p:xfrm>
        <a:graphic>
          <a:graphicData uri="http://schemas.openxmlformats.org/presentationml/2006/ole">
            <mc:AlternateContent xmlns:mc="http://schemas.openxmlformats.org/markup-compatibility/2006">
              <mc:Choice xmlns:v="urn:schemas-microsoft-com:vml" Requires="v">
                <p:oleObj spid="_x0000_s16" name="Equation" r:id="rId7" imgW="723900" imgH="215900" progId="Equation.DSMT4">
                  <p:embed/>
                </p:oleObj>
              </mc:Choice>
              <mc:Fallback>
                <p:oleObj name="Equation" r:id="rId7" imgW="723900" imgH="2159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4195" y="2571433"/>
                        <a:ext cx="1066800" cy="3222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2"/>
          <p:cNvGraphicFramePr>
            <a:graphicFrameLocks noChangeAspect="1"/>
          </p:cNvGraphicFramePr>
          <p:nvPr/>
        </p:nvGraphicFramePr>
        <p:xfrm>
          <a:off x="3727133" y="2857183"/>
          <a:ext cx="1143000" cy="346075"/>
        </p:xfrm>
        <a:graphic>
          <a:graphicData uri="http://schemas.openxmlformats.org/presentationml/2006/ole">
            <mc:AlternateContent xmlns:mc="http://schemas.openxmlformats.org/markup-compatibility/2006">
              <mc:Choice xmlns:v="urn:schemas-microsoft-com:vml" Requires="v">
                <p:oleObj spid="_x0000_s18" name="Equation" r:id="rId9" imgW="749300" imgH="228600" progId="Equation.DSMT4">
                  <p:embed/>
                </p:oleObj>
              </mc:Choice>
              <mc:Fallback>
                <p:oleObj name="Equation" r:id="rId9" imgW="7493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7133" y="2857183"/>
                        <a:ext cx="1143000" cy="3460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4"/>
          <p:cNvGraphicFramePr>
            <a:graphicFrameLocks noChangeAspect="1"/>
          </p:cNvGraphicFramePr>
          <p:nvPr/>
        </p:nvGraphicFramePr>
        <p:xfrm>
          <a:off x="7084695" y="4500245"/>
          <a:ext cx="914400" cy="396875"/>
        </p:xfrm>
        <a:graphic>
          <a:graphicData uri="http://schemas.openxmlformats.org/presentationml/2006/ole">
            <mc:AlternateContent xmlns:mc="http://schemas.openxmlformats.org/markup-compatibility/2006">
              <mc:Choice xmlns:v="urn:schemas-microsoft-com:vml" Requires="v">
                <p:oleObj spid="_x0000_s20" name="Equation" r:id="rId11" imgW="508000" imgH="215900" progId="Equation.DSMT4">
                  <p:embed/>
                </p:oleObj>
              </mc:Choice>
              <mc:Fallback>
                <p:oleObj name="Equation" r:id="rId11" imgW="508000" imgH="2159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4695" y="4500245"/>
                        <a:ext cx="914400" cy="3968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6"/>
          <p:cNvGraphicFramePr>
            <a:graphicFrameLocks noChangeAspect="1"/>
          </p:cNvGraphicFramePr>
          <p:nvPr/>
        </p:nvGraphicFramePr>
        <p:xfrm>
          <a:off x="3441383" y="4928870"/>
          <a:ext cx="795337" cy="347663"/>
        </p:xfrm>
        <a:graphic>
          <a:graphicData uri="http://schemas.openxmlformats.org/presentationml/2006/ole">
            <mc:AlternateContent xmlns:mc="http://schemas.openxmlformats.org/markup-compatibility/2006">
              <mc:Choice xmlns:v="urn:schemas-microsoft-com:vml" Requires="v">
                <p:oleObj spid="_x0000_s22" name="Equation" r:id="rId13" imgW="520700" imgH="228600" progId="Equation.DSMT4">
                  <p:embed/>
                </p:oleObj>
              </mc:Choice>
              <mc:Fallback>
                <p:oleObj name="Equation" r:id="rId13" imgW="520700" imgH="22860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1383" y="4928870"/>
                        <a:ext cx="795337" cy="34766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 name="Group 37"/>
          <p:cNvGrpSpPr/>
          <p:nvPr/>
        </p:nvGrpSpPr>
        <p:grpSpPr bwMode="auto">
          <a:xfrm>
            <a:off x="3598545" y="5398770"/>
            <a:ext cx="5029200" cy="914400"/>
            <a:chOff x="2112" y="3744"/>
            <a:chExt cx="3168" cy="576"/>
          </a:xfrm>
        </p:grpSpPr>
        <p:sp>
          <p:nvSpPr>
            <p:cNvPr id="24" name="Text Box 22"/>
            <p:cNvSpPr txBox="1">
              <a:spLocks noChangeArrowheads="1"/>
            </p:cNvSpPr>
            <p:nvPr/>
          </p:nvSpPr>
          <p:spPr bwMode="auto">
            <a:xfrm>
              <a:off x="2112" y="4128"/>
              <a:ext cx="297" cy="192"/>
            </a:xfrm>
            <a:prstGeom prst="rect">
              <a:avLst/>
            </a:prstGeom>
            <a:solidFill>
              <a:srgbClr val="FFFFFF"/>
            </a:solidFill>
            <a:ln w="9525">
              <a:solidFill>
                <a:srgbClr val="FFFFFF"/>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1000">
                  <a:solidFill>
                    <a:schemeClr val="bg1"/>
                  </a:solidFill>
                  <a:latin typeface="Times New Roman" panose="02020603050405020304" charset="0"/>
                </a:rPr>
                <a:t>0</a:t>
              </a:r>
              <a:endParaRPr lang="zh-CN" altLang="en-US" sz="1000">
                <a:solidFill>
                  <a:schemeClr val="bg1"/>
                </a:solidFill>
                <a:latin typeface="Times New Roman" panose="02020603050405020304" charset="0"/>
              </a:endParaRPr>
            </a:p>
          </p:txBody>
        </p:sp>
        <p:sp>
          <p:nvSpPr>
            <p:cNvPr id="25" name="Text Box 23"/>
            <p:cNvSpPr txBox="1">
              <a:spLocks noChangeArrowheads="1"/>
            </p:cNvSpPr>
            <p:nvPr/>
          </p:nvSpPr>
          <p:spPr bwMode="auto">
            <a:xfrm>
              <a:off x="4983" y="4128"/>
              <a:ext cx="297" cy="192"/>
            </a:xfrm>
            <a:prstGeom prst="rect">
              <a:avLst/>
            </a:prstGeom>
            <a:solidFill>
              <a:srgbClr val="FFFFFF"/>
            </a:solidFill>
            <a:ln w="9525">
              <a:solidFill>
                <a:srgbClr val="FFFFFF"/>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1000">
                  <a:solidFill>
                    <a:schemeClr val="bg1"/>
                  </a:solidFill>
                  <a:latin typeface="Times New Roman" panose="02020603050405020304" charset="0"/>
                </a:rPr>
                <a:t>1</a:t>
              </a:r>
              <a:endParaRPr lang="zh-CN" altLang="en-US" sz="1000">
                <a:solidFill>
                  <a:schemeClr val="bg1"/>
                </a:solidFill>
                <a:latin typeface="Times New Roman" panose="02020603050405020304" charset="0"/>
              </a:endParaRPr>
            </a:p>
          </p:txBody>
        </p:sp>
        <p:sp>
          <p:nvSpPr>
            <p:cNvPr id="26" name="Text Box 25"/>
            <p:cNvSpPr txBox="1">
              <a:spLocks noChangeArrowheads="1"/>
            </p:cNvSpPr>
            <p:nvPr/>
          </p:nvSpPr>
          <p:spPr bwMode="auto">
            <a:xfrm>
              <a:off x="3600" y="4128"/>
              <a:ext cx="363" cy="192"/>
            </a:xfrm>
            <a:prstGeom prst="rect">
              <a:avLst/>
            </a:prstGeom>
            <a:solidFill>
              <a:srgbClr val="FFFFFF"/>
            </a:solidFill>
            <a:ln w="9525">
              <a:solidFill>
                <a:srgbClr val="FFFFFF"/>
              </a:solidFill>
              <a:miter lim="800000"/>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1000">
                  <a:solidFill>
                    <a:schemeClr val="bg1"/>
                  </a:solidFill>
                  <a:latin typeface="Times New Roman" panose="02020603050405020304" charset="0"/>
                </a:rPr>
                <a:t>0.5</a:t>
              </a:r>
              <a:endParaRPr lang="zh-CN" altLang="en-US" sz="1000">
                <a:solidFill>
                  <a:schemeClr val="bg1"/>
                </a:solidFill>
                <a:latin typeface="Times New Roman" panose="02020603050405020304" charset="0"/>
              </a:endParaRPr>
            </a:p>
          </p:txBody>
        </p:sp>
        <p:grpSp>
          <p:nvGrpSpPr>
            <p:cNvPr id="27" name="Group 36"/>
            <p:cNvGrpSpPr/>
            <p:nvPr/>
          </p:nvGrpSpPr>
          <p:grpSpPr bwMode="auto">
            <a:xfrm>
              <a:off x="2211" y="3744"/>
              <a:ext cx="2877" cy="320"/>
              <a:chOff x="2211" y="3744"/>
              <a:chExt cx="2877" cy="320"/>
            </a:xfrm>
          </p:grpSpPr>
          <p:sp>
            <p:nvSpPr>
              <p:cNvPr id="28" name="Line 19"/>
              <p:cNvSpPr>
                <a:spLocks noChangeShapeType="1"/>
              </p:cNvSpPr>
              <p:nvPr/>
            </p:nvSpPr>
            <p:spPr bwMode="auto">
              <a:xfrm>
                <a:off x="2211" y="4000"/>
                <a:ext cx="287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20"/>
              <p:cNvSpPr>
                <a:spLocks noChangeShapeType="1"/>
              </p:cNvSpPr>
              <p:nvPr/>
            </p:nvSpPr>
            <p:spPr bwMode="auto">
              <a:xfrm>
                <a:off x="2211" y="3936"/>
                <a:ext cx="0" cy="128"/>
              </a:xfrm>
              <a:prstGeom prst="line">
                <a:avLst/>
              </a:prstGeom>
              <a:noFill/>
              <a:ln w="952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21"/>
              <p:cNvSpPr>
                <a:spLocks noChangeShapeType="1"/>
              </p:cNvSpPr>
              <p:nvPr/>
            </p:nvSpPr>
            <p:spPr bwMode="auto">
              <a:xfrm>
                <a:off x="5082" y="3936"/>
                <a:ext cx="0" cy="128"/>
              </a:xfrm>
              <a:prstGeom prst="line">
                <a:avLst/>
              </a:prstGeom>
              <a:noFill/>
              <a:ln w="952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Line 24"/>
              <p:cNvSpPr>
                <a:spLocks noChangeShapeType="1"/>
              </p:cNvSpPr>
              <p:nvPr/>
            </p:nvSpPr>
            <p:spPr bwMode="auto">
              <a:xfrm>
                <a:off x="3696" y="3936"/>
                <a:ext cx="0" cy="1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Rectangle 26"/>
              <p:cNvSpPr>
                <a:spLocks noChangeArrowheads="1"/>
              </p:cNvSpPr>
              <p:nvPr/>
            </p:nvSpPr>
            <p:spPr bwMode="auto">
              <a:xfrm>
                <a:off x="3102" y="3936"/>
                <a:ext cx="495" cy="64"/>
              </a:xfrm>
              <a:prstGeom prst="rect">
                <a:avLst/>
              </a:prstGeom>
              <a:solidFill>
                <a:schemeClr val="tx1"/>
              </a:solidFill>
              <a:ln w="9525">
                <a:solidFill>
                  <a:srgbClr val="FFFFFF"/>
                </a:solidFill>
                <a:miter lim="800000"/>
              </a:ln>
            </p:spPr>
            <p:txBody>
              <a:bodyPr/>
              <a:lstStyle/>
              <a:p>
                <a:endParaRPr lang="zh-CN" altLang="en-US"/>
              </a:p>
            </p:txBody>
          </p:sp>
          <p:sp>
            <p:nvSpPr>
              <p:cNvPr id="33" name="Rectangle 27"/>
              <p:cNvSpPr>
                <a:spLocks noChangeArrowheads="1"/>
              </p:cNvSpPr>
              <p:nvPr/>
            </p:nvSpPr>
            <p:spPr bwMode="auto">
              <a:xfrm>
                <a:off x="3795" y="3936"/>
                <a:ext cx="495" cy="64"/>
              </a:xfrm>
              <a:prstGeom prst="rect">
                <a:avLst/>
              </a:prstGeom>
              <a:solidFill>
                <a:schemeClr val="tx1"/>
              </a:solidFill>
              <a:ln w="9525">
                <a:solidFill>
                  <a:srgbClr val="FFFFFF"/>
                </a:solidFill>
                <a:miter lim="800000"/>
              </a:ln>
            </p:spPr>
            <p:txBody>
              <a:bodyPr/>
              <a:lstStyle/>
              <a:p>
                <a:endParaRPr lang="zh-CN" altLang="en-US"/>
              </a:p>
            </p:txBody>
          </p:sp>
          <p:sp>
            <p:nvSpPr>
              <p:cNvPr id="34" name="Line 28"/>
              <p:cNvSpPr>
                <a:spLocks noChangeShapeType="1"/>
              </p:cNvSpPr>
              <p:nvPr/>
            </p:nvSpPr>
            <p:spPr bwMode="auto">
              <a:xfrm flipV="1">
                <a:off x="4686" y="3936"/>
                <a:ext cx="0" cy="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9"/>
              <p:cNvSpPr>
                <a:spLocks noChangeShapeType="1"/>
              </p:cNvSpPr>
              <p:nvPr/>
            </p:nvSpPr>
            <p:spPr bwMode="auto">
              <a:xfrm>
                <a:off x="4686" y="3936"/>
                <a:ext cx="297" cy="0"/>
              </a:xfrm>
              <a:prstGeom prst="line">
                <a:avLst/>
              </a:prstGeom>
              <a:noFill/>
              <a:ln w="952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30"/>
              <p:cNvSpPr>
                <a:spLocks noChangeShapeType="1"/>
              </p:cNvSpPr>
              <p:nvPr/>
            </p:nvSpPr>
            <p:spPr bwMode="auto">
              <a:xfrm flipV="1">
                <a:off x="2607" y="3936"/>
                <a:ext cx="0" cy="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31"/>
              <p:cNvSpPr>
                <a:spLocks noChangeShapeType="1"/>
              </p:cNvSpPr>
              <p:nvPr/>
            </p:nvSpPr>
            <p:spPr bwMode="auto">
              <a:xfrm flipH="1">
                <a:off x="2409" y="3936"/>
                <a:ext cx="198" cy="0"/>
              </a:xfrm>
              <a:prstGeom prst="line">
                <a:avLst/>
              </a:prstGeom>
              <a:noFill/>
              <a:ln w="952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8" name="Object 32"/>
              <p:cNvGraphicFramePr>
                <a:graphicFrameLocks noChangeAspect="1"/>
              </p:cNvGraphicFramePr>
              <p:nvPr/>
            </p:nvGraphicFramePr>
            <p:xfrm>
              <a:off x="3744" y="3744"/>
              <a:ext cx="528" cy="160"/>
            </p:xfrm>
            <a:graphic>
              <a:graphicData uri="http://schemas.openxmlformats.org/presentationml/2006/ole">
                <mc:AlternateContent xmlns:mc="http://schemas.openxmlformats.org/markup-compatibility/2006">
                  <mc:Choice xmlns:v="urn:schemas-microsoft-com:vml" Requires="v">
                    <p:oleObj spid="_x0000_s39" name="Equation" r:id="rId15" imgW="723900" imgH="215900" progId="Equation.DSMT4">
                      <p:embed/>
                    </p:oleObj>
                  </mc:Choice>
                  <mc:Fallback>
                    <p:oleObj name="Equation" r:id="rId15" imgW="723900" imgH="215900"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 y="3744"/>
                            <a:ext cx="528" cy="160"/>
                          </a:xfrm>
                          <a:prstGeom prst="rect">
                            <a:avLst/>
                          </a:prstGeom>
                          <a:solidFill>
                            <a:srgbClr val="FFFFFF"/>
                          </a:solidFill>
                          <a:ln w="9525">
                            <a:solidFill>
                              <a:srgbClr val="FFFFFF"/>
                            </a:solidFill>
                            <a:miter lim="800000"/>
                            <a:headEnd/>
                            <a:tailEnd/>
                          </a:ln>
                        </p:spPr>
                      </p:pic>
                    </p:oleObj>
                  </mc:Fallback>
                </mc:AlternateContent>
              </a:graphicData>
            </a:graphic>
          </p:graphicFrame>
          <p:graphicFrame>
            <p:nvGraphicFramePr>
              <p:cNvPr id="40" name="Object 33"/>
              <p:cNvGraphicFramePr>
                <a:graphicFrameLocks noChangeAspect="1"/>
              </p:cNvGraphicFramePr>
              <p:nvPr/>
            </p:nvGraphicFramePr>
            <p:xfrm>
              <a:off x="3024" y="3744"/>
              <a:ext cx="624" cy="190"/>
            </p:xfrm>
            <a:graphic>
              <a:graphicData uri="http://schemas.openxmlformats.org/presentationml/2006/ole">
                <mc:AlternateContent xmlns:mc="http://schemas.openxmlformats.org/markup-compatibility/2006">
                  <mc:Choice xmlns:v="urn:schemas-microsoft-com:vml" Requires="v">
                    <p:oleObj spid="_x0000_s41" name="Equation" r:id="rId16" imgW="749300" imgH="228600" progId="Equation.DSMT4">
                      <p:embed/>
                    </p:oleObj>
                  </mc:Choice>
                  <mc:Fallback>
                    <p:oleObj name="Equation" r:id="rId16" imgW="749300" imgH="228600" progId="Equation.DSMT4">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4" y="3744"/>
                            <a:ext cx="624" cy="190"/>
                          </a:xfrm>
                          <a:prstGeom prst="rect">
                            <a:avLst/>
                          </a:prstGeom>
                          <a:solidFill>
                            <a:srgbClr val="FFFFFF"/>
                          </a:solidFill>
                          <a:ln w="9525">
                            <a:solidFill>
                              <a:srgbClr val="FFFFFF"/>
                            </a:solidFill>
                            <a:miter lim="800000"/>
                            <a:headEnd/>
                            <a:tailEnd/>
                          </a:ln>
                        </p:spPr>
                      </p:pic>
                    </p:oleObj>
                  </mc:Fallback>
                </mc:AlternateContent>
              </a:graphicData>
            </a:graphic>
          </p:graphicFrame>
          <p:graphicFrame>
            <p:nvGraphicFramePr>
              <p:cNvPr id="42" name="Object 34"/>
              <p:cNvGraphicFramePr>
                <a:graphicFrameLocks noChangeAspect="1"/>
              </p:cNvGraphicFramePr>
              <p:nvPr/>
            </p:nvGraphicFramePr>
            <p:xfrm>
              <a:off x="4704" y="3744"/>
              <a:ext cx="384" cy="167"/>
            </p:xfrm>
            <a:graphic>
              <a:graphicData uri="http://schemas.openxmlformats.org/presentationml/2006/ole">
                <mc:AlternateContent xmlns:mc="http://schemas.openxmlformats.org/markup-compatibility/2006">
                  <mc:Choice xmlns:v="urn:schemas-microsoft-com:vml" Requires="v">
                    <p:oleObj spid="_x0000_s43" name="Equation" r:id="rId17" imgW="508000" imgH="215900" progId="Equation.DSMT4">
                      <p:embed/>
                    </p:oleObj>
                  </mc:Choice>
                  <mc:Fallback>
                    <p:oleObj name="Equation" r:id="rId17" imgW="508000" imgH="215900" progId="Equation.DSMT4">
                      <p:embed/>
                      <p:pic>
                        <p:nvPicPr>
                          <p:cNvPr id="0"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04" y="3744"/>
                            <a:ext cx="384" cy="167"/>
                          </a:xfrm>
                          <a:prstGeom prst="rect">
                            <a:avLst/>
                          </a:prstGeom>
                          <a:solidFill>
                            <a:srgbClr val="FFFFFF"/>
                          </a:solidFill>
                          <a:ln w="9525">
                            <a:solidFill>
                              <a:srgbClr val="FFFFFF"/>
                            </a:solidFill>
                            <a:miter lim="800000"/>
                            <a:headEnd/>
                            <a:tailEnd/>
                          </a:ln>
                        </p:spPr>
                      </p:pic>
                    </p:oleObj>
                  </mc:Fallback>
                </mc:AlternateContent>
              </a:graphicData>
            </a:graphic>
          </p:graphicFrame>
          <p:graphicFrame>
            <p:nvGraphicFramePr>
              <p:cNvPr id="44" name="Object 35"/>
              <p:cNvGraphicFramePr>
                <a:graphicFrameLocks noChangeAspect="1"/>
              </p:cNvGraphicFramePr>
              <p:nvPr/>
            </p:nvGraphicFramePr>
            <p:xfrm>
              <a:off x="2304" y="3744"/>
              <a:ext cx="384" cy="168"/>
            </p:xfrm>
            <a:graphic>
              <a:graphicData uri="http://schemas.openxmlformats.org/presentationml/2006/ole">
                <mc:AlternateContent xmlns:mc="http://schemas.openxmlformats.org/markup-compatibility/2006">
                  <mc:Choice xmlns:v="urn:schemas-microsoft-com:vml" Requires="v">
                    <p:oleObj spid="_x0000_s45" name="Equation" r:id="rId18" imgW="520700" imgH="228600" progId="Equation.DSMT4">
                      <p:embed/>
                    </p:oleObj>
                  </mc:Choice>
                  <mc:Fallback>
                    <p:oleObj name="Equation" r:id="rId18" imgW="520700" imgH="228600" progId="Equation.DSMT4">
                      <p:embed/>
                      <p:pic>
                        <p:nvPicPr>
                          <p:cNvPr id="0"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04" y="3744"/>
                            <a:ext cx="384" cy="168"/>
                          </a:xfrm>
                          <a:prstGeom prst="rect">
                            <a:avLst/>
                          </a:prstGeom>
                          <a:solidFill>
                            <a:srgbClr val="FFFFFF"/>
                          </a:solidFill>
                          <a:ln w="9525">
                            <a:solidFill>
                              <a:srgbClr val="FFFFFF"/>
                            </a:solidFill>
                            <a:miter lim="800000"/>
                            <a:headEnd/>
                            <a:tailEnd/>
                          </a:ln>
                        </p:spPr>
                      </p:pic>
                    </p:oleObj>
                  </mc:Fallback>
                </mc:AlternateContent>
              </a:graphicData>
            </a:graphic>
          </p:graphicFrame>
        </p:gr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anim calcmode="lin" valueType="num">
                                      <p:cBhvr additive="base">
                                        <p:cTn id="3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 calcmode="lin" valueType="num">
                                      <p:cBhvr additive="base">
                                        <p:cTn id="4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6" name="Rectangle 3"/>
          <p:cNvSpPr>
            <a:spLocks noGrp="1" noChangeArrowheads="1"/>
          </p:cNvSpPr>
          <p:nvPr/>
        </p:nvSpPr>
        <p:spPr>
          <a:xfrm>
            <a:off x="1370013" y="1827213"/>
            <a:ext cx="7313612"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t>提取</a:t>
            </a:r>
            <a:endParaRPr lang="zh-CN" altLang="en-US"/>
          </a:p>
          <a:p>
            <a:pPr lvl="1" eaLnBrk="1" hangingPunct="1"/>
            <a:r>
              <a:rPr lang="zh-CN" altLang="en-US">
                <a:latin typeface="宋体" panose="02010600030101010101" pitchFamily="2" charset="-122"/>
              </a:rPr>
              <a:t>判断每一个图像块黑色像素的百分比，如果大于     ，或者小于     ，则跳过这样的无效块</a:t>
            </a:r>
            <a:endParaRPr lang="zh-CN" altLang="en-US">
              <a:latin typeface="宋体" panose="02010600030101010101" pitchFamily="2" charset="-122"/>
            </a:endParaRPr>
          </a:p>
          <a:p>
            <a:pPr lvl="1" eaLnBrk="1" hangingPunct="1"/>
            <a:r>
              <a:rPr lang="zh-CN" altLang="en-US">
                <a:latin typeface="宋体" panose="02010600030101010101" pitchFamily="2" charset="-122"/>
              </a:rPr>
              <a:t>如果在        或者        的范围内，则正确提取出秘密信息</a:t>
            </a:r>
            <a:r>
              <a:rPr lang="zh-CN" altLang="en-US"/>
              <a:t>0或1</a:t>
            </a:r>
            <a:endParaRPr lang="zh-CN" altLang="en-US"/>
          </a:p>
        </p:txBody>
      </p:sp>
      <p:graphicFrame>
        <p:nvGraphicFramePr>
          <p:cNvPr id="17" name="Object 4"/>
          <p:cNvGraphicFramePr>
            <a:graphicFrameLocks noChangeAspect="1"/>
          </p:cNvGraphicFramePr>
          <p:nvPr/>
        </p:nvGraphicFramePr>
        <p:xfrm>
          <a:off x="2447925" y="2851150"/>
          <a:ext cx="838200" cy="363538"/>
        </p:xfrm>
        <a:graphic>
          <a:graphicData uri="http://schemas.openxmlformats.org/presentationml/2006/ole">
            <mc:AlternateContent xmlns:mc="http://schemas.openxmlformats.org/markup-compatibility/2006">
              <mc:Choice xmlns:v="urn:schemas-microsoft-com:vml" Requires="v">
                <p:oleObj spid="_x0000_s18" name="Equation" r:id="rId1" imgW="508000" imgH="215900" progId="Equation.DSMT4">
                  <p:embed/>
                </p:oleObj>
              </mc:Choice>
              <mc:Fallback>
                <p:oleObj name="Equation" r:id="rId1" imgW="508000" imgH="2159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7925" y="2851150"/>
                        <a:ext cx="838200" cy="3635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6"/>
          <p:cNvGraphicFramePr>
            <a:graphicFrameLocks noChangeAspect="1"/>
          </p:cNvGraphicFramePr>
          <p:nvPr/>
        </p:nvGraphicFramePr>
        <p:xfrm>
          <a:off x="4800600" y="2786063"/>
          <a:ext cx="914400" cy="398462"/>
        </p:xfrm>
        <a:graphic>
          <a:graphicData uri="http://schemas.openxmlformats.org/presentationml/2006/ole">
            <mc:AlternateContent xmlns:mc="http://schemas.openxmlformats.org/markup-compatibility/2006">
              <mc:Choice xmlns:v="urn:schemas-microsoft-com:vml" Requires="v">
                <p:oleObj spid="_x0000_s20" name="Equation" r:id="rId3" imgW="520700" imgH="228600" progId="Equation.DSMT4">
                  <p:embed/>
                </p:oleObj>
              </mc:Choice>
              <mc:Fallback>
                <p:oleObj name="Equation" r:id="rId3" imgW="5207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786063"/>
                        <a:ext cx="914400" cy="39846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8"/>
          <p:cNvGraphicFramePr>
            <a:graphicFrameLocks noChangeAspect="1"/>
          </p:cNvGraphicFramePr>
          <p:nvPr/>
        </p:nvGraphicFramePr>
        <p:xfrm>
          <a:off x="3133725" y="3643313"/>
          <a:ext cx="1295400" cy="392112"/>
        </p:xfrm>
        <a:graphic>
          <a:graphicData uri="http://schemas.openxmlformats.org/presentationml/2006/ole">
            <mc:AlternateContent xmlns:mc="http://schemas.openxmlformats.org/markup-compatibility/2006">
              <mc:Choice xmlns:v="urn:schemas-microsoft-com:vml" Requires="v">
                <p:oleObj spid="_x0000_s22" name="Equation" r:id="rId5" imgW="723900" imgH="215900" progId="Equation.DSMT4">
                  <p:embed/>
                </p:oleObj>
              </mc:Choice>
              <mc:Fallback>
                <p:oleObj name="Equation" r:id="rId5" imgW="723900" imgH="2159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3725" y="3643313"/>
                        <a:ext cx="1295400" cy="39211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10"/>
          <p:cNvGraphicFramePr>
            <a:graphicFrameLocks noChangeAspect="1"/>
          </p:cNvGraphicFramePr>
          <p:nvPr/>
        </p:nvGraphicFramePr>
        <p:xfrm>
          <a:off x="5153025" y="3643313"/>
          <a:ext cx="1219200" cy="369887"/>
        </p:xfrm>
        <a:graphic>
          <a:graphicData uri="http://schemas.openxmlformats.org/presentationml/2006/ole">
            <mc:AlternateContent xmlns:mc="http://schemas.openxmlformats.org/markup-compatibility/2006">
              <mc:Choice xmlns:v="urn:schemas-microsoft-com:vml" Requires="v">
                <p:oleObj spid="_x0000_s24" name="Equation" r:id="rId7" imgW="749300" imgH="228600" progId="Equation.DSMT4">
                  <p:embed/>
                </p:oleObj>
              </mc:Choice>
              <mc:Fallback>
                <p:oleObj name="Equation" r:id="rId7" imgW="7493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3025" y="3643313"/>
                        <a:ext cx="1219200" cy="36988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
                                            <p:txEl>
                                              <p:pRg st="2" end="2"/>
                                            </p:txEl>
                                          </p:spTgt>
                                        </p:tgtEl>
                                        <p:attrNameLst>
                                          <p:attrName>style.visibility</p:attrName>
                                        </p:attrNameLst>
                                      </p:cBhvr>
                                      <p:to>
                                        <p:strVal val="visible"/>
                                      </p:to>
                                    </p:set>
                                    <p:anim calcmode="lin" valueType="num">
                                      <p:cBhvr additive="base">
                                        <p:cTn id="27"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1631104" y="1484313"/>
            <a:ext cx="9751483" cy="4114800"/>
          </a:xfrm>
        </p:spPr>
        <p:txBody>
          <a:bodyPr>
            <a:normAutofit fontScale="92500" lnSpcReduction="10000"/>
          </a:bodyPr>
          <a:lstStyle/>
          <a:p>
            <a:pPr eaLnBrk="1" hangingPunct="1">
              <a:defRPr/>
            </a:pPr>
            <a:r>
              <a:rPr lang="zh-CN" altLang="en-US" dirty="0"/>
              <a:t>方法二</a:t>
            </a:r>
            <a:endParaRPr lang="en-US" altLang="zh-CN" dirty="0"/>
          </a:p>
          <a:p>
            <a:pPr lvl="1" eaLnBrk="1" hangingPunct="1">
              <a:defRPr/>
            </a:pPr>
            <a:r>
              <a:rPr lang="zh-CN" altLang="en-US" dirty="0"/>
              <a:t>基于游程编码的隐藏</a:t>
            </a:r>
            <a:endParaRPr lang="zh-CN" altLang="en-US" dirty="0"/>
          </a:p>
          <a:p>
            <a:pPr eaLnBrk="1" hangingPunct="1">
              <a:defRPr/>
            </a:pPr>
            <a:r>
              <a:rPr lang="zh-CN" altLang="en-US" dirty="0"/>
              <a:t>游程</a:t>
            </a:r>
            <a:endParaRPr lang="en-US" altLang="zh-CN" dirty="0"/>
          </a:p>
          <a:p>
            <a:pPr lvl="1" eaLnBrk="1" hangingPunct="1">
              <a:defRPr/>
            </a:pPr>
            <a:r>
              <a:rPr lang="zh-CN" altLang="en-US" dirty="0"/>
              <a:t>连续的黑色或白色像素称为一个游程</a:t>
            </a:r>
            <a:endParaRPr lang="en-US" altLang="zh-CN" dirty="0"/>
          </a:p>
          <a:p>
            <a:pPr lvl="1" eaLnBrk="1" hangingPunct="1">
              <a:defRPr/>
            </a:pPr>
            <a:r>
              <a:rPr lang="zh-CN" altLang="en-US" dirty="0"/>
              <a:t>用游程的起始位置和游程长度编码</a:t>
            </a:r>
            <a:endParaRPr lang="en-US" altLang="zh-CN" dirty="0"/>
          </a:p>
          <a:p>
            <a:pPr eaLnBrk="1" hangingPunct="1">
              <a:defRPr/>
            </a:pPr>
            <a:r>
              <a:rPr lang="zh-CN" altLang="en-US" dirty="0"/>
              <a:t>例</a:t>
            </a:r>
            <a:endParaRPr lang="en-US" altLang="zh-CN" dirty="0"/>
          </a:p>
          <a:p>
            <a:pPr lvl="1" eaLnBrk="1" hangingPunct="1">
              <a:defRPr/>
            </a:pPr>
            <a:r>
              <a:rPr lang="zh-CN" altLang="en-US" dirty="0"/>
              <a:t>如下像素可用游程编码为</a:t>
            </a:r>
            <a:endParaRPr lang="en-US" altLang="zh-CN" dirty="0"/>
          </a:p>
          <a:p>
            <a:pPr lvl="1" eaLnBrk="1" hangingPunct="1">
              <a:defRPr/>
            </a:pPr>
            <a:endParaRPr lang="en-US" altLang="zh-CN" dirty="0"/>
          </a:p>
          <a:p>
            <a:pPr lvl="1" eaLnBrk="1" hangingPunct="1">
              <a:defRPr/>
            </a:pPr>
            <a:endParaRPr lang="en-US" altLang="zh-CN" dirty="0"/>
          </a:p>
          <a:p>
            <a:pPr lvl="1" eaLnBrk="1" hangingPunct="1">
              <a:defRPr/>
            </a:pPr>
            <a:r>
              <a:rPr lang="zh-CN" altLang="en-US" dirty="0"/>
              <a:t>&lt; </a:t>
            </a:r>
            <a:r>
              <a:rPr lang="en-US" altLang="zh-CN" dirty="0"/>
              <a:t>a</a:t>
            </a:r>
            <a:r>
              <a:rPr lang="en-US" altLang="zh-CN" baseline="-30000" dirty="0"/>
              <a:t>0</a:t>
            </a:r>
            <a:r>
              <a:rPr lang="en-US" altLang="zh-CN" dirty="0"/>
              <a:t> ,3&gt;,&lt; a</a:t>
            </a:r>
            <a:r>
              <a:rPr lang="en-US" altLang="zh-CN" baseline="-30000" dirty="0"/>
              <a:t>1</a:t>
            </a:r>
            <a:r>
              <a:rPr lang="en-US" altLang="zh-CN" dirty="0"/>
              <a:t>,5&gt;&lt; a</a:t>
            </a:r>
            <a:r>
              <a:rPr lang="en-US" altLang="zh-CN" baseline="-30000" dirty="0"/>
              <a:t>2</a:t>
            </a:r>
            <a:r>
              <a:rPr lang="en-US" altLang="zh-CN" dirty="0"/>
              <a:t>,4&gt;&lt; a</a:t>
            </a:r>
            <a:r>
              <a:rPr lang="en-US" altLang="zh-CN" baseline="-30000" dirty="0"/>
              <a:t>3</a:t>
            </a:r>
            <a:r>
              <a:rPr lang="en-US" altLang="zh-CN" dirty="0"/>
              <a:t>,2&gt;&lt; a</a:t>
            </a:r>
            <a:r>
              <a:rPr lang="en-US" altLang="zh-CN" baseline="-30000" dirty="0"/>
              <a:t>4</a:t>
            </a:r>
            <a:r>
              <a:rPr lang="en-US" altLang="zh-CN" dirty="0"/>
              <a:t>,1&gt; </a:t>
            </a:r>
            <a:endParaRPr lang="zh-CN" altLang="en-US" dirty="0"/>
          </a:p>
        </p:txBody>
      </p:sp>
      <p:grpSp>
        <p:nvGrpSpPr>
          <p:cNvPr id="2" name="Group 35"/>
          <p:cNvGrpSpPr/>
          <p:nvPr/>
        </p:nvGrpSpPr>
        <p:grpSpPr bwMode="auto">
          <a:xfrm>
            <a:off x="2089785" y="4471035"/>
            <a:ext cx="6637655" cy="765810"/>
            <a:chOff x="2286000" y="3505206"/>
            <a:chExt cx="5341956" cy="781050"/>
          </a:xfrm>
        </p:grpSpPr>
        <p:grpSp>
          <p:nvGrpSpPr>
            <p:cNvPr id="51208" name="Group 5"/>
            <p:cNvGrpSpPr/>
            <p:nvPr/>
          </p:nvGrpSpPr>
          <p:grpSpPr bwMode="auto">
            <a:xfrm>
              <a:off x="2286000" y="3505206"/>
              <a:ext cx="5257800" cy="781050"/>
              <a:chOff x="2520" y="10020"/>
              <a:chExt cx="5760" cy="943"/>
            </a:xfrm>
          </p:grpSpPr>
          <p:grpSp>
            <p:nvGrpSpPr>
              <p:cNvPr id="51214" name="Group 6"/>
              <p:cNvGrpSpPr/>
              <p:nvPr/>
            </p:nvGrpSpPr>
            <p:grpSpPr bwMode="auto">
              <a:xfrm>
                <a:off x="2877" y="10020"/>
                <a:ext cx="5403" cy="471"/>
                <a:chOff x="2877" y="10020"/>
                <a:chExt cx="5403" cy="471"/>
              </a:xfrm>
            </p:grpSpPr>
            <p:sp>
              <p:nvSpPr>
                <p:cNvPr id="51220" name="Rectangle 7"/>
                <p:cNvSpPr>
                  <a:spLocks noChangeArrowheads="1"/>
                </p:cNvSpPr>
                <p:nvPr/>
              </p:nvSpPr>
              <p:spPr bwMode="auto">
                <a:xfrm>
                  <a:off x="288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21" name="Rectangle 8"/>
                <p:cNvSpPr>
                  <a:spLocks noChangeArrowheads="1"/>
                </p:cNvSpPr>
                <p:nvPr/>
              </p:nvSpPr>
              <p:spPr bwMode="auto">
                <a:xfrm>
                  <a:off x="324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22" name="Rectangle 9"/>
                <p:cNvSpPr>
                  <a:spLocks noChangeArrowheads="1"/>
                </p:cNvSpPr>
                <p:nvPr/>
              </p:nvSpPr>
              <p:spPr bwMode="auto">
                <a:xfrm>
                  <a:off x="360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23" name="Rectangle 10"/>
                <p:cNvSpPr>
                  <a:spLocks noChangeArrowheads="1"/>
                </p:cNvSpPr>
                <p:nvPr/>
              </p:nvSpPr>
              <p:spPr bwMode="auto">
                <a:xfrm>
                  <a:off x="396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24" name="Rectangle 11"/>
                <p:cNvSpPr>
                  <a:spLocks noChangeArrowheads="1"/>
                </p:cNvSpPr>
                <p:nvPr/>
              </p:nvSpPr>
              <p:spPr bwMode="auto">
                <a:xfrm>
                  <a:off x="432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25" name="Rectangle 12"/>
                <p:cNvSpPr>
                  <a:spLocks noChangeArrowheads="1"/>
                </p:cNvSpPr>
                <p:nvPr/>
              </p:nvSpPr>
              <p:spPr bwMode="auto">
                <a:xfrm>
                  <a:off x="468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26" name="Rectangle 13"/>
                <p:cNvSpPr>
                  <a:spLocks noChangeArrowheads="1"/>
                </p:cNvSpPr>
                <p:nvPr/>
              </p:nvSpPr>
              <p:spPr bwMode="auto">
                <a:xfrm>
                  <a:off x="504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27" name="Rectangle 14"/>
                <p:cNvSpPr>
                  <a:spLocks noChangeArrowheads="1"/>
                </p:cNvSpPr>
                <p:nvPr/>
              </p:nvSpPr>
              <p:spPr bwMode="auto">
                <a:xfrm>
                  <a:off x="540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28" name="Rectangle 15"/>
                <p:cNvSpPr>
                  <a:spLocks noChangeArrowheads="1"/>
                </p:cNvSpPr>
                <p:nvPr/>
              </p:nvSpPr>
              <p:spPr bwMode="auto">
                <a:xfrm>
                  <a:off x="576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29" name="Rectangle 16"/>
                <p:cNvSpPr>
                  <a:spLocks noChangeArrowheads="1"/>
                </p:cNvSpPr>
                <p:nvPr/>
              </p:nvSpPr>
              <p:spPr bwMode="auto">
                <a:xfrm>
                  <a:off x="612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30" name="Rectangle 17"/>
                <p:cNvSpPr>
                  <a:spLocks noChangeArrowheads="1"/>
                </p:cNvSpPr>
                <p:nvPr/>
              </p:nvSpPr>
              <p:spPr bwMode="auto">
                <a:xfrm>
                  <a:off x="648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31" name="Rectangle 18"/>
                <p:cNvSpPr>
                  <a:spLocks noChangeArrowheads="1"/>
                </p:cNvSpPr>
                <p:nvPr/>
              </p:nvSpPr>
              <p:spPr bwMode="auto">
                <a:xfrm>
                  <a:off x="684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32" name="Rectangle 19"/>
                <p:cNvSpPr>
                  <a:spLocks noChangeArrowheads="1"/>
                </p:cNvSpPr>
                <p:nvPr/>
              </p:nvSpPr>
              <p:spPr bwMode="auto">
                <a:xfrm>
                  <a:off x="7200" y="10023"/>
                  <a:ext cx="360" cy="468"/>
                </a:xfrm>
                <a:prstGeom prst="rect">
                  <a:avLst/>
                </a:prstGeom>
                <a:solidFill>
                  <a:srgbClr val="000000"/>
                </a:solidFill>
                <a:ln w="9525">
                  <a:solidFill>
                    <a:srgbClr val="000000"/>
                  </a:solidFill>
                  <a:miter lim="800000"/>
                </a:ln>
              </p:spPr>
              <p:txBody>
                <a:bodyPr/>
                <a:lstStyle/>
                <a:p>
                  <a:endParaRPr lang="zh-CN" altLang="en-US" sz="100"/>
                </a:p>
              </p:txBody>
            </p:sp>
            <p:sp>
              <p:nvSpPr>
                <p:cNvPr id="51233" name="Rectangle 20"/>
                <p:cNvSpPr>
                  <a:spLocks noChangeArrowheads="1"/>
                </p:cNvSpPr>
                <p:nvPr/>
              </p:nvSpPr>
              <p:spPr bwMode="auto">
                <a:xfrm>
                  <a:off x="7560" y="10023"/>
                  <a:ext cx="360" cy="468"/>
                </a:xfrm>
                <a:prstGeom prst="rect">
                  <a:avLst/>
                </a:prstGeom>
                <a:solidFill>
                  <a:srgbClr val="000000"/>
                </a:solidFill>
                <a:ln w="9525">
                  <a:solidFill>
                    <a:srgbClr val="FFFFFF"/>
                  </a:solidFill>
                  <a:miter lim="800000"/>
                </a:ln>
              </p:spPr>
              <p:txBody>
                <a:bodyPr/>
                <a:lstStyle/>
                <a:p>
                  <a:endParaRPr lang="zh-CN" altLang="en-US" sz="100"/>
                </a:p>
              </p:txBody>
            </p:sp>
            <p:sp>
              <p:nvSpPr>
                <p:cNvPr id="51234" name="Rectangle 21"/>
                <p:cNvSpPr>
                  <a:spLocks noChangeArrowheads="1"/>
                </p:cNvSpPr>
                <p:nvPr/>
              </p:nvSpPr>
              <p:spPr bwMode="auto">
                <a:xfrm>
                  <a:off x="7920" y="10020"/>
                  <a:ext cx="360" cy="468"/>
                </a:xfrm>
                <a:prstGeom prst="rect">
                  <a:avLst/>
                </a:prstGeom>
                <a:solidFill>
                  <a:srgbClr val="FFFFFF"/>
                </a:solidFill>
                <a:ln w="9525">
                  <a:solidFill>
                    <a:srgbClr val="000000"/>
                  </a:solidFill>
                  <a:miter lim="800000"/>
                </a:ln>
              </p:spPr>
              <p:txBody>
                <a:bodyPr/>
                <a:lstStyle/>
                <a:p>
                  <a:endParaRPr lang="zh-CN" altLang="en-US" sz="100"/>
                </a:p>
              </p:txBody>
            </p:sp>
            <p:sp>
              <p:nvSpPr>
                <p:cNvPr id="51235" name="Rectangle 22"/>
                <p:cNvSpPr>
                  <a:spLocks noChangeArrowheads="1"/>
                </p:cNvSpPr>
                <p:nvPr/>
              </p:nvSpPr>
              <p:spPr bwMode="auto">
                <a:xfrm>
                  <a:off x="2877" y="10023"/>
                  <a:ext cx="5400" cy="46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sz="100"/>
                </a:p>
              </p:txBody>
            </p:sp>
          </p:grpSp>
          <p:sp>
            <p:nvSpPr>
              <p:cNvPr id="51215" name="Text Box 23"/>
              <p:cNvSpPr txBox="1">
                <a:spLocks noChangeArrowheads="1"/>
              </p:cNvSpPr>
              <p:nvPr/>
            </p:nvSpPr>
            <p:spPr bwMode="auto">
              <a:xfrm flipV="1">
                <a:off x="2520" y="10332"/>
                <a:ext cx="703"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endParaRPr lang="zh-CN" altLang="en-US" sz="1335">
                  <a:latin typeface="Times New Roman" panose="02020603050405020304" charset="0"/>
                </a:endParaRPr>
              </a:p>
            </p:txBody>
          </p:sp>
          <p:sp>
            <p:nvSpPr>
              <p:cNvPr id="51216" name="Text Box 24"/>
              <p:cNvSpPr txBox="1">
                <a:spLocks noChangeArrowheads="1"/>
              </p:cNvSpPr>
              <p:nvPr/>
            </p:nvSpPr>
            <p:spPr bwMode="auto">
              <a:xfrm flipV="1">
                <a:off x="3600" y="10333"/>
                <a:ext cx="671"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endParaRPr lang="zh-CN" altLang="en-US" sz="1335">
                  <a:latin typeface="Times New Roman" panose="02020603050405020304" charset="0"/>
                </a:endParaRPr>
              </a:p>
            </p:txBody>
          </p:sp>
          <p:sp>
            <p:nvSpPr>
              <p:cNvPr id="51217" name="Text Box 25"/>
              <p:cNvSpPr txBox="1">
                <a:spLocks noChangeArrowheads="1"/>
              </p:cNvSpPr>
              <p:nvPr/>
            </p:nvSpPr>
            <p:spPr bwMode="auto">
              <a:xfrm flipV="1">
                <a:off x="5400" y="10333"/>
                <a:ext cx="703"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endParaRPr lang="zh-CN" altLang="en-US" sz="1335">
                  <a:latin typeface="Times New Roman" panose="02020603050405020304" charset="0"/>
                </a:endParaRPr>
              </a:p>
            </p:txBody>
          </p:sp>
          <p:sp>
            <p:nvSpPr>
              <p:cNvPr id="51218" name="Text Box 26"/>
              <p:cNvSpPr txBox="1">
                <a:spLocks noChangeArrowheads="1"/>
              </p:cNvSpPr>
              <p:nvPr/>
            </p:nvSpPr>
            <p:spPr bwMode="auto">
              <a:xfrm flipV="1">
                <a:off x="6840" y="10333"/>
                <a:ext cx="703"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endParaRPr lang="zh-CN" altLang="en-US" sz="1335">
                  <a:latin typeface="Times New Roman" panose="02020603050405020304" charset="0"/>
                </a:endParaRPr>
              </a:p>
            </p:txBody>
          </p:sp>
          <p:sp>
            <p:nvSpPr>
              <p:cNvPr id="51219" name="Text Box 27"/>
              <p:cNvSpPr txBox="1">
                <a:spLocks noChangeArrowheads="1"/>
              </p:cNvSpPr>
              <p:nvPr/>
            </p:nvSpPr>
            <p:spPr bwMode="auto">
              <a:xfrm flipV="1">
                <a:off x="7560" y="10333"/>
                <a:ext cx="703"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endParaRPr lang="zh-CN" altLang="en-US" sz="1335">
                  <a:latin typeface="Times New Roman" panose="02020603050405020304" charset="0"/>
                </a:endParaRPr>
              </a:p>
            </p:txBody>
          </p:sp>
        </p:grpSp>
        <p:graphicFrame>
          <p:nvGraphicFramePr>
            <p:cNvPr id="51209" name="Object 29"/>
            <p:cNvGraphicFramePr>
              <a:graphicFrameLocks noChangeAspect="1"/>
            </p:cNvGraphicFramePr>
            <p:nvPr/>
          </p:nvGraphicFramePr>
          <p:xfrm>
            <a:off x="2600314" y="3786190"/>
            <a:ext cx="400050" cy="457200"/>
          </p:xfrm>
          <a:graphic>
            <a:graphicData uri="http://schemas.openxmlformats.org/presentationml/2006/ole">
              <mc:AlternateContent xmlns:mc="http://schemas.openxmlformats.org/markup-compatibility/2006">
                <mc:Choice xmlns:v="urn:schemas-microsoft-com:vml" Requires="v">
                  <p:oleObj spid="_x0000_s131694" name="Equation" r:id="rId1" imgW="165100" imgH="228600" progId="Equation.DSMT4">
                    <p:embed/>
                  </p:oleObj>
                </mc:Choice>
                <mc:Fallback>
                  <p:oleObj name="Equation" r:id="rId1" imgW="165100" imgH="228600" progId="Equation.DSMT4">
                    <p:embed/>
                    <p:pic>
                      <p:nvPicPr>
                        <p:cNvPr id="0" name="Object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314" y="3786190"/>
                          <a:ext cx="40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10" name="Object 31"/>
            <p:cNvGraphicFramePr>
              <a:graphicFrameLocks noChangeAspect="1"/>
            </p:cNvGraphicFramePr>
            <p:nvPr/>
          </p:nvGraphicFramePr>
          <p:xfrm>
            <a:off x="3571868" y="3786190"/>
            <a:ext cx="384175" cy="457200"/>
          </p:xfrm>
          <a:graphic>
            <a:graphicData uri="http://schemas.openxmlformats.org/presentationml/2006/ole">
              <mc:AlternateContent xmlns:mc="http://schemas.openxmlformats.org/markup-compatibility/2006">
                <mc:Choice xmlns:v="urn:schemas-microsoft-com:vml" Requires="v">
                  <p:oleObj spid="_x0000_s131695" name="Equation" r:id="rId3" imgW="152400" imgH="215900" progId="Equation.DSMT4">
                    <p:embed/>
                  </p:oleObj>
                </mc:Choice>
                <mc:Fallback>
                  <p:oleObj name="Equation" r:id="rId3" imgW="152400" imgH="215900" progId="Equation.DSMT4">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68" y="3786190"/>
                          <a:ext cx="384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1" name="Object 33"/>
            <p:cNvGraphicFramePr>
              <a:graphicFrameLocks noChangeAspect="1"/>
            </p:cNvGraphicFramePr>
            <p:nvPr/>
          </p:nvGraphicFramePr>
          <p:xfrm>
            <a:off x="5245122" y="3786190"/>
            <a:ext cx="412750" cy="457200"/>
          </p:xfrm>
          <a:graphic>
            <a:graphicData uri="http://schemas.openxmlformats.org/presentationml/2006/ole">
              <mc:AlternateContent xmlns:mc="http://schemas.openxmlformats.org/markup-compatibility/2006">
                <mc:Choice xmlns:v="urn:schemas-microsoft-com:vml" Requires="v">
                  <p:oleObj spid="_x0000_s131696" name="Equation" r:id="rId5" imgW="165100" imgH="215900" progId="Equation.DSMT4">
                    <p:embed/>
                  </p:oleObj>
                </mc:Choice>
                <mc:Fallback>
                  <p:oleObj name="Equation" r:id="rId5" imgW="165100" imgH="215900"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5122" y="3786190"/>
                          <a:ext cx="412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2" name="Object 35"/>
            <p:cNvGraphicFramePr>
              <a:graphicFrameLocks noChangeAspect="1"/>
            </p:cNvGraphicFramePr>
            <p:nvPr/>
          </p:nvGraphicFramePr>
          <p:xfrm>
            <a:off x="6500826" y="3786190"/>
            <a:ext cx="400050" cy="457200"/>
          </p:xfrm>
          <a:graphic>
            <a:graphicData uri="http://schemas.openxmlformats.org/presentationml/2006/ole">
              <mc:AlternateContent xmlns:mc="http://schemas.openxmlformats.org/markup-compatibility/2006">
                <mc:Choice xmlns:v="urn:schemas-microsoft-com:vml" Requires="v">
                  <p:oleObj spid="_x0000_s131697" name="Equation" r:id="rId7" imgW="165100" imgH="228600" progId="Equation.DSMT4">
                    <p:embed/>
                  </p:oleObj>
                </mc:Choice>
                <mc:Fallback>
                  <p:oleObj name="Equation" r:id="rId7" imgW="165100" imgH="228600" progId="Equation.DSMT4">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0826" y="3786190"/>
                          <a:ext cx="400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3" name="Object 37"/>
            <p:cNvGraphicFramePr>
              <a:graphicFrameLocks noChangeAspect="1"/>
            </p:cNvGraphicFramePr>
            <p:nvPr/>
          </p:nvGraphicFramePr>
          <p:xfrm>
            <a:off x="7215206" y="3786190"/>
            <a:ext cx="412750" cy="457200"/>
          </p:xfrm>
          <a:graphic>
            <a:graphicData uri="http://schemas.openxmlformats.org/presentationml/2006/ole">
              <mc:AlternateContent xmlns:mc="http://schemas.openxmlformats.org/markup-compatibility/2006">
                <mc:Choice xmlns:v="urn:schemas-microsoft-com:vml" Requires="v">
                  <p:oleObj spid="_x0000_s131698" name="Equation" r:id="rId9" imgW="165100" imgH="215900" progId="Equation.DSMT4">
                    <p:embed/>
                  </p:oleObj>
                </mc:Choice>
                <mc:Fallback>
                  <p:oleObj name="Equation" r:id="rId9" imgW="165100" imgH="215900" progId="Equation.DSMT4">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15206" y="3786190"/>
                          <a:ext cx="412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anim calcmode="lin" valueType="num">
                                      <p:cBhvr additive="base">
                                        <p:cTn id="11"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 calcmode="lin" valueType="num">
                                      <p:cBhvr additive="base">
                                        <p:cTn id="17"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403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4035">
                                            <p:txEl>
                                              <p:pRg st="3" end="3"/>
                                            </p:txEl>
                                          </p:spTgt>
                                        </p:tgtEl>
                                        <p:attrNameLst>
                                          <p:attrName>style.visibility</p:attrName>
                                        </p:attrNameLst>
                                      </p:cBhvr>
                                      <p:to>
                                        <p:strVal val="visible"/>
                                      </p:to>
                                    </p:set>
                                    <p:anim calcmode="lin" valueType="num">
                                      <p:cBhvr additive="base">
                                        <p:cTn id="21"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403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4035">
                                            <p:txEl>
                                              <p:pRg st="4" end="4"/>
                                            </p:txEl>
                                          </p:spTgt>
                                        </p:tgtEl>
                                        <p:attrNameLst>
                                          <p:attrName>style.visibility</p:attrName>
                                        </p:attrNameLst>
                                      </p:cBhvr>
                                      <p:to>
                                        <p:strVal val="visible"/>
                                      </p:to>
                                    </p:set>
                                    <p:anim calcmode="lin" valueType="num">
                                      <p:cBhvr additive="base">
                                        <p:cTn id="25" dur="5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035">
                                            <p:txEl>
                                              <p:pRg st="5" end="5"/>
                                            </p:txEl>
                                          </p:spTgt>
                                        </p:tgtEl>
                                        <p:attrNameLst>
                                          <p:attrName>style.visibility</p:attrName>
                                        </p:attrNameLst>
                                      </p:cBhvr>
                                      <p:to>
                                        <p:strVal val="visible"/>
                                      </p:to>
                                    </p:set>
                                    <p:anim calcmode="lin" valueType="num">
                                      <p:cBhvr additive="base">
                                        <p:cTn id="31" dur="5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5">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4035">
                                            <p:txEl>
                                              <p:pRg st="6" end="6"/>
                                            </p:txEl>
                                          </p:spTgt>
                                        </p:tgtEl>
                                        <p:attrNameLst>
                                          <p:attrName>style.visibility</p:attrName>
                                        </p:attrNameLst>
                                      </p:cBhvr>
                                      <p:to>
                                        <p:strVal val="visible"/>
                                      </p:to>
                                    </p:set>
                                    <p:anim calcmode="lin" valueType="num">
                                      <p:cBhvr additive="base">
                                        <p:cTn id="35" dur="500" fill="hold"/>
                                        <p:tgtEl>
                                          <p:spTgt spid="4403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40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4035">
                                            <p:txEl>
                                              <p:pRg st="9" end="9"/>
                                            </p:txEl>
                                          </p:spTgt>
                                        </p:tgtEl>
                                        <p:attrNameLst>
                                          <p:attrName>style.visibility</p:attrName>
                                        </p:attrNameLst>
                                      </p:cBhvr>
                                      <p:to>
                                        <p:strVal val="visible"/>
                                      </p:to>
                                    </p:set>
                                    <p:anim calcmode="lin" valueType="num">
                                      <p:cBhvr additive="base">
                                        <p:cTn id="47" dur="500" fill="hold"/>
                                        <p:tgtEl>
                                          <p:spTgt spid="4403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40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1559349" y="1484313"/>
            <a:ext cx="9751483" cy="4114800"/>
          </a:xfrm>
        </p:spPr>
        <p:txBody>
          <a:bodyPr/>
          <a:lstStyle/>
          <a:p>
            <a:pPr eaLnBrk="1" hangingPunct="1"/>
            <a:r>
              <a:rPr lang="zh-CN" altLang="en-US"/>
              <a:t>嵌入</a:t>
            </a:r>
            <a:endParaRPr lang="en-US" altLang="zh-CN"/>
          </a:p>
          <a:p>
            <a:pPr lvl="1" eaLnBrk="1" hangingPunct="1"/>
            <a:r>
              <a:rPr lang="zh-CN" altLang="en-US">
                <a:latin typeface="宋体" panose="02010600030101010101" pitchFamily="2" charset="-122"/>
              </a:rPr>
              <a:t>修改二值图像的游程长度</a:t>
            </a:r>
            <a:endParaRPr lang="zh-CN" altLang="en-US"/>
          </a:p>
          <a:p>
            <a:pPr lvl="1" eaLnBrk="1" hangingPunct="1"/>
            <a:r>
              <a:rPr lang="zh-CN" altLang="en-US"/>
              <a:t>隐藏0：</a:t>
            </a:r>
            <a:r>
              <a:rPr lang="zh-CN" altLang="en-US">
                <a:latin typeface="宋体" panose="02010600030101010101" pitchFamily="2" charset="-122"/>
              </a:rPr>
              <a:t>修改该游程长度为偶数</a:t>
            </a:r>
            <a:endParaRPr lang="en-US" altLang="zh-CN">
              <a:latin typeface="宋体" panose="02010600030101010101" pitchFamily="2" charset="-122"/>
            </a:endParaRPr>
          </a:p>
          <a:p>
            <a:pPr lvl="1" eaLnBrk="1" hangingPunct="1"/>
            <a:r>
              <a:rPr lang="zh-CN" altLang="en-US"/>
              <a:t>隐藏1：</a:t>
            </a:r>
            <a:r>
              <a:rPr lang="zh-CN" altLang="en-US">
                <a:latin typeface="宋体" panose="02010600030101010101" pitchFamily="2" charset="-122"/>
              </a:rPr>
              <a:t>修改游程长度为奇数</a:t>
            </a:r>
            <a:endParaRPr lang="en-US" altLang="zh-CN">
              <a:latin typeface="宋体" panose="02010600030101010101" pitchFamily="2" charset="-122"/>
            </a:endParaRPr>
          </a:p>
          <a:p>
            <a:pPr lvl="1" eaLnBrk="1" hangingPunct="1"/>
            <a:r>
              <a:rPr lang="zh-CN" altLang="en-US">
                <a:latin typeface="宋体" panose="02010600030101010101" pitchFamily="2" charset="-122"/>
              </a:rPr>
              <a:t>若秘密信息的取值与游程长度的奇偶性相匹配，则不改变游程长度 </a:t>
            </a:r>
            <a:r>
              <a:rPr lang="zh-CN" altLang="en-US"/>
              <a:t> </a:t>
            </a:r>
            <a:endParaRPr lang="zh-CN" altLang="en-US"/>
          </a:p>
          <a:p>
            <a:pPr eaLnBrk="1" hangingPunct="1"/>
            <a:r>
              <a:rPr lang="zh-CN" altLang="en-US"/>
              <a:t>提取</a:t>
            </a:r>
            <a:endParaRPr lang="zh-CN" altLang="en-US"/>
          </a:p>
          <a:p>
            <a:pPr lvl="1" eaLnBrk="1" hangingPunct="1"/>
            <a:r>
              <a:rPr lang="zh-CN" altLang="en-US">
                <a:latin typeface="宋体" panose="02010600030101010101" pitchFamily="2" charset="-122"/>
              </a:rPr>
              <a:t>根据游程长度的奇偶性提取出秘密信息</a:t>
            </a:r>
            <a:r>
              <a:rPr lang="zh-CN" altLang="en-US"/>
              <a:t> </a:t>
            </a:r>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59">
                                            <p:txEl>
                                              <p:pRg st="3" end="3"/>
                                            </p:txEl>
                                          </p:spTgt>
                                        </p:tgtEl>
                                        <p:attrNameLst>
                                          <p:attrName>style.visibility</p:attrName>
                                        </p:attrNameLst>
                                      </p:cBhvr>
                                      <p:to>
                                        <p:strVal val="visible"/>
                                      </p:to>
                                    </p:set>
                                    <p:anim calcmode="lin" valueType="num">
                                      <p:cBhvr additive="base">
                                        <p:cTn id="25" dur="500" fill="hold"/>
                                        <p:tgtEl>
                                          <p:spTgt spid="450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0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 calcmode="lin" valueType="num">
                                      <p:cBhvr additive="base">
                                        <p:cTn id="31" dur="500" fill="hold"/>
                                        <p:tgtEl>
                                          <p:spTgt spid="450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0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5059">
                                            <p:txEl>
                                              <p:pRg st="5" end="5"/>
                                            </p:txEl>
                                          </p:spTgt>
                                        </p:tgtEl>
                                        <p:attrNameLst>
                                          <p:attrName>style.visibility</p:attrName>
                                        </p:attrNameLst>
                                      </p:cBhvr>
                                      <p:to>
                                        <p:strVal val="visible"/>
                                      </p:to>
                                    </p:set>
                                    <p:anim calcmode="lin" valueType="num">
                                      <p:cBhvr additive="base">
                                        <p:cTn id="37" dur="500" fill="hold"/>
                                        <p:tgtEl>
                                          <p:spTgt spid="450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50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5059">
                                            <p:txEl>
                                              <p:pRg st="6" end="6"/>
                                            </p:txEl>
                                          </p:spTgt>
                                        </p:tgtEl>
                                        <p:attrNameLst>
                                          <p:attrName>style.visibility</p:attrName>
                                        </p:attrNameLst>
                                      </p:cBhvr>
                                      <p:to>
                                        <p:strVal val="visible"/>
                                      </p:to>
                                    </p:set>
                                    <p:anim calcmode="lin" valueType="num">
                                      <p:cBhvr additive="base">
                                        <p:cTn id="43"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50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ldLvl="5"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1343449" y="1556703"/>
            <a:ext cx="9751483" cy="4114800"/>
          </a:xfrm>
        </p:spPr>
        <p:txBody>
          <a:bodyPr/>
          <a:lstStyle/>
          <a:p>
            <a:pPr eaLnBrk="1" hangingPunct="1"/>
            <a:r>
              <a:rPr lang="zh-CN" altLang="en-US" dirty="0"/>
              <a:t>例如：</a:t>
            </a:r>
            <a:endParaRPr lang="en-US" altLang="zh-CN" dirty="0"/>
          </a:p>
          <a:p>
            <a:pPr lvl="1" eaLnBrk="1" hangingPunct="1"/>
            <a:r>
              <a:rPr lang="zh-CN" altLang="en-US" dirty="0"/>
              <a:t>游程为： &lt; </a:t>
            </a:r>
            <a:r>
              <a:rPr lang="en-US" altLang="zh-CN" dirty="0"/>
              <a:t>a</a:t>
            </a:r>
            <a:r>
              <a:rPr lang="en-US" altLang="zh-CN" baseline="-30000" dirty="0"/>
              <a:t>0</a:t>
            </a:r>
            <a:r>
              <a:rPr lang="en-US" altLang="zh-CN" dirty="0"/>
              <a:t> ,3&gt;,&lt; a</a:t>
            </a:r>
            <a:r>
              <a:rPr lang="en-US" altLang="zh-CN" baseline="-30000" dirty="0"/>
              <a:t>1</a:t>
            </a:r>
            <a:r>
              <a:rPr lang="en-US" altLang="zh-CN" dirty="0"/>
              <a:t>,5&gt;&lt; a</a:t>
            </a:r>
            <a:r>
              <a:rPr lang="en-US" altLang="zh-CN" baseline="-30000" dirty="0"/>
              <a:t>2</a:t>
            </a:r>
            <a:r>
              <a:rPr lang="en-US" altLang="zh-CN" dirty="0"/>
              <a:t>,4&gt;&lt; a</a:t>
            </a:r>
            <a:r>
              <a:rPr lang="en-US" altLang="zh-CN" baseline="-30000" dirty="0"/>
              <a:t>3</a:t>
            </a:r>
            <a:r>
              <a:rPr lang="en-US" altLang="zh-CN" dirty="0"/>
              <a:t>,2&gt;&lt; a</a:t>
            </a:r>
            <a:r>
              <a:rPr lang="en-US" altLang="zh-CN" baseline="-30000" dirty="0"/>
              <a:t>4</a:t>
            </a:r>
            <a:r>
              <a:rPr lang="en-US" altLang="zh-CN" dirty="0"/>
              <a:t>,1&gt; </a:t>
            </a:r>
            <a:endParaRPr lang="en-US" altLang="zh-CN" dirty="0"/>
          </a:p>
          <a:p>
            <a:pPr lvl="1" eaLnBrk="1" hangingPunct="1"/>
            <a:r>
              <a:rPr lang="zh-CN" altLang="en-US" dirty="0"/>
              <a:t>若依次嵌入比特“</a:t>
            </a:r>
            <a:r>
              <a:rPr lang="en-US" altLang="zh-CN" dirty="0"/>
              <a:t>0</a:t>
            </a:r>
            <a:r>
              <a:rPr lang="zh-CN" altLang="en-US" dirty="0"/>
              <a:t>”、“</a:t>
            </a:r>
            <a:r>
              <a:rPr lang="en-US" altLang="zh-CN" dirty="0"/>
              <a:t>1</a:t>
            </a:r>
            <a:r>
              <a:rPr lang="zh-CN" altLang="en-US" dirty="0"/>
              <a:t>”，则</a:t>
            </a:r>
            <a:endParaRPr lang="en-US" altLang="zh-CN" dirty="0"/>
          </a:p>
          <a:p>
            <a:pPr lvl="2" eaLnBrk="1" hangingPunct="1"/>
            <a:r>
              <a:rPr lang="zh-CN" altLang="en-US" dirty="0"/>
              <a:t>游程&lt; </a:t>
            </a:r>
            <a:r>
              <a:rPr lang="en-US" altLang="zh-CN" dirty="0"/>
              <a:t>a</a:t>
            </a:r>
            <a:r>
              <a:rPr lang="en-US" altLang="zh-CN" baseline="-30000" dirty="0"/>
              <a:t>0</a:t>
            </a:r>
            <a:r>
              <a:rPr lang="en-US" altLang="zh-CN" dirty="0"/>
              <a:t> ,3&gt;</a:t>
            </a:r>
            <a:r>
              <a:rPr lang="zh-CN" altLang="en-US" dirty="0"/>
              <a:t>的长度为</a:t>
            </a:r>
            <a:r>
              <a:rPr lang="en-US" altLang="zh-CN" dirty="0"/>
              <a:t>3</a:t>
            </a:r>
            <a:r>
              <a:rPr lang="zh-CN" altLang="en-US" dirty="0"/>
              <a:t>，嵌入比特“</a:t>
            </a:r>
            <a:r>
              <a:rPr lang="en-US" altLang="zh-CN" dirty="0"/>
              <a:t>0</a:t>
            </a:r>
            <a:r>
              <a:rPr lang="zh-CN" altLang="en-US" dirty="0"/>
              <a:t>”，长度变为</a:t>
            </a:r>
            <a:r>
              <a:rPr lang="en-US" altLang="zh-CN" dirty="0"/>
              <a:t>2</a:t>
            </a:r>
            <a:r>
              <a:rPr lang="zh-CN" altLang="en-US" dirty="0"/>
              <a:t>，游程变为&lt; </a:t>
            </a:r>
            <a:r>
              <a:rPr lang="en-US" altLang="zh-CN" dirty="0"/>
              <a:t>a</a:t>
            </a:r>
            <a:r>
              <a:rPr lang="en-US" altLang="zh-CN" baseline="-30000" dirty="0"/>
              <a:t>0</a:t>
            </a:r>
            <a:r>
              <a:rPr lang="en-US" altLang="zh-CN" dirty="0"/>
              <a:t> ,2&gt;</a:t>
            </a:r>
            <a:r>
              <a:rPr lang="zh-CN" altLang="en-US" dirty="0"/>
              <a:t>，其后一个游程相应改变为</a:t>
            </a:r>
            <a:r>
              <a:rPr lang="en-US" altLang="zh-CN" dirty="0"/>
              <a:t>&lt; a</a:t>
            </a:r>
            <a:r>
              <a:rPr lang="en-US" altLang="zh-CN" baseline="-30000" dirty="0"/>
              <a:t>1</a:t>
            </a:r>
            <a:r>
              <a:rPr lang="en-US" altLang="zh-CN" dirty="0"/>
              <a:t>-1,6&gt;</a:t>
            </a:r>
            <a:r>
              <a:rPr lang="zh-CN" altLang="en-US" dirty="0"/>
              <a:t>，所以完整游程为： &lt; </a:t>
            </a:r>
            <a:r>
              <a:rPr lang="en-US" altLang="zh-CN" dirty="0"/>
              <a:t>a</a:t>
            </a:r>
            <a:r>
              <a:rPr lang="en-US" altLang="zh-CN" baseline="-30000" dirty="0"/>
              <a:t>0</a:t>
            </a:r>
            <a:r>
              <a:rPr lang="en-US" altLang="zh-CN" dirty="0"/>
              <a:t> ,2&gt;,&lt; a</a:t>
            </a:r>
            <a:r>
              <a:rPr lang="en-US" altLang="zh-CN" baseline="-30000" dirty="0"/>
              <a:t>1</a:t>
            </a:r>
            <a:r>
              <a:rPr lang="en-US" altLang="zh-CN" dirty="0"/>
              <a:t>-1,6&gt;&lt; a</a:t>
            </a:r>
            <a:r>
              <a:rPr lang="en-US" altLang="zh-CN" baseline="-30000" dirty="0"/>
              <a:t>2</a:t>
            </a:r>
            <a:r>
              <a:rPr lang="en-US" altLang="zh-CN" dirty="0"/>
              <a:t>,4&gt;&lt; a</a:t>
            </a:r>
            <a:r>
              <a:rPr lang="en-US" altLang="zh-CN" baseline="-30000" dirty="0"/>
              <a:t>3</a:t>
            </a:r>
            <a:r>
              <a:rPr lang="en-US" altLang="zh-CN" dirty="0"/>
              <a:t>,2&gt;&lt; a</a:t>
            </a:r>
            <a:r>
              <a:rPr lang="en-US" altLang="zh-CN" baseline="-30000" dirty="0"/>
              <a:t>4</a:t>
            </a:r>
            <a:r>
              <a:rPr lang="en-US" altLang="zh-CN" dirty="0"/>
              <a:t>,1&gt;</a:t>
            </a:r>
            <a:endParaRPr lang="en-US" altLang="zh-CN" dirty="0"/>
          </a:p>
          <a:p>
            <a:pPr lvl="2" eaLnBrk="1" hangingPunct="1"/>
            <a:r>
              <a:rPr lang="zh-CN" altLang="en-US" dirty="0"/>
              <a:t>在游程</a:t>
            </a:r>
            <a:r>
              <a:rPr lang="en-US" altLang="zh-CN" dirty="0"/>
              <a:t>&lt; a</a:t>
            </a:r>
            <a:r>
              <a:rPr lang="en-US" altLang="zh-CN" baseline="-30000" dirty="0"/>
              <a:t>1</a:t>
            </a:r>
            <a:r>
              <a:rPr lang="en-US" altLang="zh-CN" dirty="0"/>
              <a:t>-1,6&gt;</a:t>
            </a:r>
            <a:r>
              <a:rPr lang="zh-CN" altLang="en-US" dirty="0"/>
              <a:t>嵌入比特“</a:t>
            </a:r>
            <a:r>
              <a:rPr lang="en-US" altLang="zh-CN" dirty="0"/>
              <a:t>1</a:t>
            </a:r>
            <a:r>
              <a:rPr lang="zh-CN" altLang="en-US" dirty="0"/>
              <a:t>”，长度变为</a:t>
            </a:r>
            <a:r>
              <a:rPr lang="en-US" altLang="zh-CN" dirty="0"/>
              <a:t>7</a:t>
            </a:r>
            <a:r>
              <a:rPr lang="zh-CN" altLang="en-US" dirty="0"/>
              <a:t>，游程变为</a:t>
            </a:r>
            <a:r>
              <a:rPr lang="en-US" altLang="zh-CN" dirty="0"/>
              <a:t>&lt; a</a:t>
            </a:r>
            <a:r>
              <a:rPr lang="en-US" altLang="zh-CN" baseline="-30000" dirty="0"/>
              <a:t>1</a:t>
            </a:r>
            <a:r>
              <a:rPr lang="en-US" altLang="zh-CN" dirty="0"/>
              <a:t>-1,7&gt;</a:t>
            </a:r>
            <a:r>
              <a:rPr lang="zh-CN" altLang="en-US" dirty="0"/>
              <a:t>，后一个游程变为</a:t>
            </a:r>
            <a:r>
              <a:rPr lang="en-US" altLang="zh-CN" dirty="0"/>
              <a:t>&lt; a</a:t>
            </a:r>
            <a:r>
              <a:rPr lang="en-US" altLang="zh-CN" baseline="-30000" dirty="0"/>
              <a:t>2</a:t>
            </a:r>
            <a:r>
              <a:rPr lang="en-US" altLang="zh-CN" dirty="0"/>
              <a:t>+1,3&gt;</a:t>
            </a:r>
            <a:r>
              <a:rPr lang="zh-CN" altLang="en-US" dirty="0"/>
              <a:t>，所以完整游程为： &lt; </a:t>
            </a:r>
            <a:r>
              <a:rPr lang="en-US" altLang="zh-CN" dirty="0"/>
              <a:t>a</a:t>
            </a:r>
            <a:r>
              <a:rPr lang="en-US" altLang="zh-CN" baseline="-30000" dirty="0"/>
              <a:t>0</a:t>
            </a:r>
            <a:r>
              <a:rPr lang="en-US" altLang="zh-CN" dirty="0"/>
              <a:t> ,2&gt;,&lt; a</a:t>
            </a:r>
            <a:r>
              <a:rPr lang="en-US" altLang="zh-CN" baseline="-30000" dirty="0"/>
              <a:t>1</a:t>
            </a:r>
            <a:r>
              <a:rPr lang="en-US" altLang="zh-CN" dirty="0"/>
              <a:t>-1,7&gt;&lt; a</a:t>
            </a:r>
            <a:r>
              <a:rPr lang="en-US" altLang="zh-CN" baseline="-30000" dirty="0"/>
              <a:t>2</a:t>
            </a:r>
            <a:r>
              <a:rPr lang="en-US" altLang="zh-CN" dirty="0"/>
              <a:t>+1,3&gt;&lt; a</a:t>
            </a:r>
            <a:r>
              <a:rPr lang="en-US" altLang="zh-CN" baseline="-30000" dirty="0"/>
              <a:t>3</a:t>
            </a:r>
            <a:r>
              <a:rPr lang="en-US" altLang="zh-CN" dirty="0"/>
              <a:t>,2&gt;&lt; a</a:t>
            </a:r>
            <a:r>
              <a:rPr lang="en-US" altLang="zh-CN" baseline="-30000" dirty="0"/>
              <a:t>4</a:t>
            </a:r>
            <a:r>
              <a:rPr lang="en-US" altLang="zh-CN" dirty="0"/>
              <a:t>,1&gt;</a:t>
            </a:r>
            <a:endParaRPr lang="en-US" altLang="zh-CN"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59">
                                            <p:txEl>
                                              <p:pRg st="3" end="3"/>
                                            </p:txEl>
                                          </p:spTgt>
                                        </p:tgtEl>
                                        <p:attrNameLst>
                                          <p:attrName>style.visibility</p:attrName>
                                        </p:attrNameLst>
                                      </p:cBhvr>
                                      <p:to>
                                        <p:strVal val="visible"/>
                                      </p:to>
                                    </p:set>
                                    <p:anim calcmode="lin" valueType="num">
                                      <p:cBhvr additive="base">
                                        <p:cTn id="25" dur="500" fill="hold"/>
                                        <p:tgtEl>
                                          <p:spTgt spid="450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0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 calcmode="lin" valueType="num">
                                      <p:cBhvr additive="base">
                                        <p:cTn id="31" dur="500" fill="hold"/>
                                        <p:tgtEl>
                                          <p:spTgt spid="450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0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ldLvl="5"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Text Box 5"/>
          <p:cNvSpPr txBox="1">
            <a:spLocks noChangeArrowheads="1"/>
          </p:cNvSpPr>
          <p:nvPr/>
        </p:nvSpPr>
        <p:spPr bwMode="auto">
          <a:xfrm>
            <a:off x="8289290" y="2533015"/>
            <a:ext cx="8128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5865">
                <a:latin typeface="Verdana" panose="020B0604030504040204" pitchFamily="34" charset="0"/>
              </a:rPr>
              <a:t>+</a:t>
            </a:r>
            <a:endParaRPr kumimoji="1" lang="zh-CN" altLang="en-US" sz="5865">
              <a:latin typeface="Verdana" panose="020B0604030504040204" pitchFamily="34" charset="0"/>
            </a:endParaRPr>
          </a:p>
        </p:txBody>
      </p:sp>
      <p:sp>
        <p:nvSpPr>
          <p:cNvPr id="45062" name="Text Box 6"/>
          <p:cNvSpPr txBox="1">
            <a:spLocks noChangeArrowheads="1"/>
          </p:cNvSpPr>
          <p:nvPr/>
        </p:nvSpPr>
        <p:spPr bwMode="auto">
          <a:xfrm>
            <a:off x="7984490" y="3549015"/>
            <a:ext cx="162560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4265">
                <a:solidFill>
                  <a:srgbClr val="FF3300"/>
                </a:solidFill>
                <a:latin typeface="Verdana" panose="020B0604030504040204" pitchFamily="34" charset="0"/>
              </a:rPr>
              <a:t>0</a:t>
            </a:r>
            <a:r>
              <a:rPr kumimoji="1" lang="zh-CN" altLang="en-US" sz="4265">
                <a:latin typeface="Verdana" panose="020B0604030504040204" pitchFamily="34" charset="0"/>
              </a:rPr>
              <a:t>110</a:t>
            </a:r>
            <a:endParaRPr kumimoji="1" lang="zh-CN" altLang="en-US" sz="4265">
              <a:latin typeface="Verdana" panose="020B0604030504040204" pitchFamily="34" charset="0"/>
            </a:endParaRPr>
          </a:p>
        </p:txBody>
      </p:sp>
      <p:sp>
        <p:nvSpPr>
          <p:cNvPr id="45063" name="Text Box 7"/>
          <p:cNvSpPr txBox="1">
            <a:spLocks noChangeArrowheads="1"/>
          </p:cNvSpPr>
          <p:nvPr/>
        </p:nvSpPr>
        <p:spPr bwMode="auto">
          <a:xfrm>
            <a:off x="8390890" y="4158615"/>
            <a:ext cx="132080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4265">
                <a:latin typeface="Verdana" panose="020B0604030504040204" pitchFamily="34" charset="0"/>
              </a:rPr>
              <a:t>||</a:t>
            </a:r>
            <a:endParaRPr kumimoji="1" lang="zh-CN" altLang="en-US" sz="4265">
              <a:latin typeface="Verdana" panose="020B0604030504040204" pitchFamily="34" charset="0"/>
            </a:endParaRPr>
          </a:p>
        </p:txBody>
      </p:sp>
      <p:sp>
        <p:nvSpPr>
          <p:cNvPr id="45064" name="Rectangle 8"/>
          <p:cNvSpPr>
            <a:spLocks noChangeArrowheads="1"/>
          </p:cNvSpPr>
          <p:nvPr/>
        </p:nvSpPr>
        <p:spPr bwMode="auto">
          <a:xfrm>
            <a:off x="1343660" y="1484630"/>
            <a:ext cx="4457700" cy="66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folHlink"/>
              </a:buClr>
              <a:buSzPct val="75000"/>
              <a:buFont typeface="Wingdings" panose="05000000000000000000" pitchFamily="2" charset="2"/>
              <a:buNone/>
              <a:defRPr/>
            </a:pPr>
            <a:r>
              <a:rPr kumimoji="1" lang="zh-CN" altLang="en-US" sz="3735" dirty="0">
                <a:latin typeface="+mn-ea"/>
                <a:ea typeface="+mn-ea"/>
              </a:rPr>
              <a:t>例：游程修改隐藏法</a:t>
            </a:r>
            <a:endParaRPr kumimoji="1" lang="zh-CN" altLang="en-US" sz="3735" dirty="0">
              <a:latin typeface="+mn-ea"/>
              <a:ea typeface="+mn-ea"/>
            </a:endParaRPr>
          </a:p>
        </p:txBody>
      </p:sp>
      <p:sp>
        <p:nvSpPr>
          <p:cNvPr id="45065" name="Text Box 9"/>
          <p:cNvSpPr txBox="1">
            <a:spLocks noChangeArrowheads="1"/>
          </p:cNvSpPr>
          <p:nvPr/>
        </p:nvSpPr>
        <p:spPr bwMode="auto">
          <a:xfrm>
            <a:off x="6460490" y="1821815"/>
            <a:ext cx="1117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3200">
                <a:solidFill>
                  <a:schemeClr val="folHlink"/>
                </a:solidFill>
                <a:latin typeface="隶书" panose="02010509060101010101" pitchFamily="49" charset="-122"/>
                <a:ea typeface="隶书" panose="02010509060101010101" pitchFamily="49" charset="-122"/>
              </a:rPr>
              <a:t>游程为5</a:t>
            </a:r>
            <a:endParaRPr kumimoji="1" lang="zh-CN" altLang="en-US" sz="3200">
              <a:solidFill>
                <a:schemeClr val="folHlink"/>
              </a:solidFill>
              <a:latin typeface="隶书" panose="02010509060101010101" pitchFamily="49" charset="-122"/>
              <a:ea typeface="隶书" panose="02010509060101010101" pitchFamily="49" charset="-122"/>
            </a:endParaRPr>
          </a:p>
        </p:txBody>
      </p:sp>
      <p:sp>
        <p:nvSpPr>
          <p:cNvPr id="45066" name="Text Box 10"/>
          <p:cNvSpPr txBox="1">
            <a:spLocks noChangeArrowheads="1"/>
          </p:cNvSpPr>
          <p:nvPr/>
        </p:nvSpPr>
        <p:spPr bwMode="auto">
          <a:xfrm>
            <a:off x="6460490" y="4463415"/>
            <a:ext cx="1117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3200">
                <a:solidFill>
                  <a:schemeClr val="folHlink"/>
                </a:solidFill>
                <a:latin typeface="隶书" panose="02010509060101010101" pitchFamily="49" charset="-122"/>
                <a:ea typeface="隶书" panose="02010509060101010101" pitchFamily="49" charset="-122"/>
              </a:rPr>
              <a:t>游程为6</a:t>
            </a:r>
            <a:endParaRPr kumimoji="1" lang="zh-CN" altLang="en-US" sz="3200">
              <a:solidFill>
                <a:schemeClr val="folHlink"/>
              </a:solidFill>
              <a:latin typeface="隶书" panose="02010509060101010101" pitchFamily="49" charset="-122"/>
              <a:ea typeface="隶书" panose="02010509060101010101" pitchFamily="49" charset="-122"/>
            </a:endParaRPr>
          </a:p>
        </p:txBody>
      </p:sp>
      <p:sp>
        <p:nvSpPr>
          <p:cNvPr id="45067" name="AutoShape 11"/>
          <p:cNvSpPr>
            <a:spLocks noChangeArrowheads="1"/>
          </p:cNvSpPr>
          <p:nvPr/>
        </p:nvSpPr>
        <p:spPr bwMode="auto">
          <a:xfrm>
            <a:off x="6866890" y="3041015"/>
            <a:ext cx="203200" cy="1320800"/>
          </a:xfrm>
          <a:prstGeom prst="downArrow">
            <a:avLst>
              <a:gd name="adj1" fmla="val 50000"/>
              <a:gd name="adj2" fmla="val 162500"/>
            </a:avLst>
          </a:prstGeom>
          <a:solidFill>
            <a:srgbClr val="00FFFF"/>
          </a:solidFill>
          <a:ln w="9525">
            <a:solidFill>
              <a:schemeClr val="tx1"/>
            </a:solidFill>
            <a:miter lim="800000"/>
          </a:ln>
        </p:spPr>
        <p:txBody>
          <a:bodyPr wrap="none" anchor="ctr"/>
          <a:lstStyle/>
          <a:p>
            <a:endParaRPr lang="zh-CN" altLang="en-US" sz="100"/>
          </a:p>
        </p:txBody>
      </p:sp>
      <p:sp>
        <p:nvSpPr>
          <p:cNvPr id="45068" name="Text Box 12"/>
          <p:cNvSpPr txBox="1">
            <a:spLocks noChangeArrowheads="1"/>
          </p:cNvSpPr>
          <p:nvPr/>
        </p:nvSpPr>
        <p:spPr bwMode="auto">
          <a:xfrm>
            <a:off x="1775460" y="2493010"/>
            <a:ext cx="3251200" cy="169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defRPr/>
            </a:pPr>
            <a:r>
              <a:rPr kumimoji="1" lang="zh-CN" altLang="en-US" sz="3200" dirty="0">
                <a:latin typeface="+mn-ea"/>
                <a:ea typeface="+mn-ea"/>
              </a:rPr>
              <a:t>游程的奇偶代表秘密信息1或0</a:t>
            </a:r>
            <a:endParaRPr kumimoji="1" lang="zh-CN" altLang="en-US" sz="3200" dirty="0">
              <a:latin typeface="+mn-ea"/>
              <a:ea typeface="+mn-ea"/>
            </a:endParaRPr>
          </a:p>
          <a:p>
            <a:pPr eaLnBrk="1" hangingPunct="1">
              <a:spcBef>
                <a:spcPct val="50000"/>
              </a:spcBef>
              <a:defRPr/>
            </a:pPr>
            <a:endParaRPr kumimoji="1" lang="zh-CN" altLang="en-US" sz="2665" dirty="0">
              <a:latin typeface="隶书" panose="02010509060101010101" pitchFamily="49" charset="-122"/>
              <a:ea typeface="隶书" panose="02010509060101010101" pitchFamily="49" charset="-122"/>
            </a:endParaRPr>
          </a:p>
        </p:txBody>
      </p:sp>
      <p:pic>
        <p:nvPicPr>
          <p:cNvPr id="45069" name="Picture 13" descr="example_runlength_stego"/>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39474" y="5073015"/>
            <a:ext cx="2681816" cy="158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0" name="Text Box 14"/>
          <p:cNvSpPr txBox="1">
            <a:spLocks noChangeArrowheads="1"/>
          </p:cNvSpPr>
          <p:nvPr/>
        </p:nvSpPr>
        <p:spPr bwMode="auto">
          <a:xfrm>
            <a:off x="2743200" y="4445000"/>
            <a:ext cx="36576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kumimoji="1" lang="zh-CN" altLang="en-US" sz="3200">
              <a:solidFill>
                <a:srgbClr val="0000FF"/>
              </a:solidFill>
              <a:latin typeface="隶书" panose="02010509060101010101" pitchFamily="49" charset="-122"/>
              <a:ea typeface="隶书" panose="02010509060101010101" pitchFamily="49" charset="-122"/>
            </a:endParaRPr>
          </a:p>
        </p:txBody>
      </p:sp>
      <p:pic>
        <p:nvPicPr>
          <p:cNvPr id="45060" name="Picture 15" descr="example_runl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9690" y="907415"/>
            <a:ext cx="2681817" cy="158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4"/>
                                        </p:tgtEl>
                                        <p:attrNameLst>
                                          <p:attrName>style.visibility</p:attrName>
                                        </p:attrNameLst>
                                      </p:cBhvr>
                                      <p:to>
                                        <p:strVal val="visible"/>
                                      </p:to>
                                    </p:set>
                                    <p:anim calcmode="lin" valueType="num">
                                      <p:cBhvr additive="base">
                                        <p:cTn id="7" dur="500" fill="hold"/>
                                        <p:tgtEl>
                                          <p:spTgt spid="45064"/>
                                        </p:tgtEl>
                                        <p:attrNameLst>
                                          <p:attrName>ppt_x</p:attrName>
                                        </p:attrNameLst>
                                      </p:cBhvr>
                                      <p:tavLst>
                                        <p:tav tm="0">
                                          <p:val>
                                            <p:strVal val="#ppt_x"/>
                                          </p:val>
                                        </p:tav>
                                        <p:tav tm="100000">
                                          <p:val>
                                            <p:strVal val="#ppt_x"/>
                                          </p:val>
                                        </p:tav>
                                      </p:tavLst>
                                    </p:anim>
                                    <p:anim calcmode="lin" valueType="num">
                                      <p:cBhvr additive="base">
                                        <p:cTn id="8"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8"/>
                                        </p:tgtEl>
                                        <p:attrNameLst>
                                          <p:attrName>style.visibility</p:attrName>
                                        </p:attrNameLst>
                                      </p:cBhvr>
                                      <p:to>
                                        <p:strVal val="visible"/>
                                      </p:to>
                                    </p:set>
                                    <p:anim calcmode="lin" valueType="num">
                                      <p:cBhvr additive="base">
                                        <p:cTn id="13" dur="500" fill="hold"/>
                                        <p:tgtEl>
                                          <p:spTgt spid="45068"/>
                                        </p:tgtEl>
                                        <p:attrNameLst>
                                          <p:attrName>ppt_x</p:attrName>
                                        </p:attrNameLst>
                                      </p:cBhvr>
                                      <p:tavLst>
                                        <p:tav tm="0">
                                          <p:val>
                                            <p:strVal val="#ppt_x"/>
                                          </p:val>
                                        </p:tav>
                                        <p:tav tm="100000">
                                          <p:val>
                                            <p:strVal val="#ppt_x"/>
                                          </p:val>
                                        </p:tav>
                                      </p:tavLst>
                                    </p:anim>
                                    <p:anim calcmode="lin" valueType="num">
                                      <p:cBhvr additive="base">
                                        <p:cTn id="14" dur="500" fill="hold"/>
                                        <p:tgtEl>
                                          <p:spTgt spid="4506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060"/>
                                        </p:tgtEl>
                                        <p:attrNameLst>
                                          <p:attrName>style.visibility</p:attrName>
                                        </p:attrNameLst>
                                      </p:cBhvr>
                                      <p:to>
                                        <p:strVal val="visible"/>
                                      </p:to>
                                    </p:set>
                                    <p:anim calcmode="lin" valueType="num">
                                      <p:cBhvr additive="base">
                                        <p:cTn id="19" dur="500" fill="hold"/>
                                        <p:tgtEl>
                                          <p:spTgt spid="45060"/>
                                        </p:tgtEl>
                                        <p:attrNameLst>
                                          <p:attrName>ppt_x</p:attrName>
                                        </p:attrNameLst>
                                      </p:cBhvr>
                                      <p:tavLst>
                                        <p:tav tm="0">
                                          <p:val>
                                            <p:strVal val="#ppt_x"/>
                                          </p:val>
                                        </p:tav>
                                        <p:tav tm="100000">
                                          <p:val>
                                            <p:strVal val="#ppt_x"/>
                                          </p:val>
                                        </p:tav>
                                      </p:tavLst>
                                    </p:anim>
                                    <p:anim calcmode="lin" valueType="num">
                                      <p:cBhvr additive="base">
                                        <p:cTn id="20"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5"/>
                                        </p:tgtEl>
                                        <p:attrNameLst>
                                          <p:attrName>style.visibility</p:attrName>
                                        </p:attrNameLst>
                                      </p:cBhvr>
                                      <p:to>
                                        <p:strVal val="visible"/>
                                      </p:to>
                                    </p:set>
                                    <p:anim calcmode="lin" valueType="num">
                                      <p:cBhvr additive="base">
                                        <p:cTn id="25" dur="500" fill="hold"/>
                                        <p:tgtEl>
                                          <p:spTgt spid="45065"/>
                                        </p:tgtEl>
                                        <p:attrNameLst>
                                          <p:attrName>ppt_x</p:attrName>
                                        </p:attrNameLst>
                                      </p:cBhvr>
                                      <p:tavLst>
                                        <p:tav tm="0">
                                          <p:val>
                                            <p:strVal val="#ppt_x"/>
                                          </p:val>
                                        </p:tav>
                                        <p:tav tm="100000">
                                          <p:val>
                                            <p:strVal val="#ppt_x"/>
                                          </p:val>
                                        </p:tav>
                                      </p:tavLst>
                                    </p:anim>
                                    <p:anim calcmode="lin" valueType="num">
                                      <p:cBhvr additive="base">
                                        <p:cTn id="26"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061"/>
                                        </p:tgtEl>
                                        <p:attrNameLst>
                                          <p:attrName>style.visibility</p:attrName>
                                        </p:attrNameLst>
                                      </p:cBhvr>
                                      <p:to>
                                        <p:strVal val="visible"/>
                                      </p:to>
                                    </p:set>
                                    <p:anim calcmode="lin" valueType="num">
                                      <p:cBhvr additive="base">
                                        <p:cTn id="31" dur="500" fill="hold"/>
                                        <p:tgtEl>
                                          <p:spTgt spid="45061"/>
                                        </p:tgtEl>
                                        <p:attrNameLst>
                                          <p:attrName>ppt_x</p:attrName>
                                        </p:attrNameLst>
                                      </p:cBhvr>
                                      <p:tavLst>
                                        <p:tav tm="0">
                                          <p:val>
                                            <p:strVal val="#ppt_x"/>
                                          </p:val>
                                        </p:tav>
                                        <p:tav tm="100000">
                                          <p:val>
                                            <p:strVal val="#ppt_x"/>
                                          </p:val>
                                        </p:tav>
                                      </p:tavLst>
                                    </p:anim>
                                    <p:anim calcmode="lin" valueType="num">
                                      <p:cBhvr additive="base">
                                        <p:cTn id="32" dur="500" fill="hold"/>
                                        <p:tgtEl>
                                          <p:spTgt spid="4506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5062"/>
                                        </p:tgtEl>
                                        <p:attrNameLst>
                                          <p:attrName>style.visibility</p:attrName>
                                        </p:attrNameLst>
                                      </p:cBhvr>
                                      <p:to>
                                        <p:strVal val="visible"/>
                                      </p:to>
                                    </p:set>
                                    <p:anim calcmode="lin" valueType="num">
                                      <p:cBhvr additive="base">
                                        <p:cTn id="35" dur="500" fill="hold"/>
                                        <p:tgtEl>
                                          <p:spTgt spid="45062"/>
                                        </p:tgtEl>
                                        <p:attrNameLst>
                                          <p:attrName>ppt_x</p:attrName>
                                        </p:attrNameLst>
                                      </p:cBhvr>
                                      <p:tavLst>
                                        <p:tav tm="0">
                                          <p:val>
                                            <p:strVal val="#ppt_x"/>
                                          </p:val>
                                        </p:tav>
                                        <p:tav tm="100000">
                                          <p:val>
                                            <p:strVal val="#ppt_x"/>
                                          </p:val>
                                        </p:tav>
                                      </p:tavLst>
                                    </p:anim>
                                    <p:anim calcmode="lin" valueType="num">
                                      <p:cBhvr additive="base">
                                        <p:cTn id="36" dur="500" fill="hold"/>
                                        <p:tgtEl>
                                          <p:spTgt spid="4506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5063"/>
                                        </p:tgtEl>
                                        <p:attrNameLst>
                                          <p:attrName>style.visibility</p:attrName>
                                        </p:attrNameLst>
                                      </p:cBhvr>
                                      <p:to>
                                        <p:strVal val="visible"/>
                                      </p:to>
                                    </p:set>
                                    <p:anim calcmode="lin" valueType="num">
                                      <p:cBhvr additive="base">
                                        <p:cTn id="39" dur="500" fill="hold"/>
                                        <p:tgtEl>
                                          <p:spTgt spid="45063"/>
                                        </p:tgtEl>
                                        <p:attrNameLst>
                                          <p:attrName>ppt_x</p:attrName>
                                        </p:attrNameLst>
                                      </p:cBhvr>
                                      <p:tavLst>
                                        <p:tav tm="0">
                                          <p:val>
                                            <p:strVal val="#ppt_x"/>
                                          </p:val>
                                        </p:tav>
                                        <p:tav tm="100000">
                                          <p:val>
                                            <p:strVal val="#ppt_x"/>
                                          </p:val>
                                        </p:tav>
                                      </p:tavLst>
                                    </p:anim>
                                    <p:anim calcmode="lin" valueType="num">
                                      <p:cBhvr additive="base">
                                        <p:cTn id="40" dur="500" fill="hold"/>
                                        <p:tgtEl>
                                          <p:spTgt spid="4506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5067"/>
                                        </p:tgtEl>
                                        <p:attrNameLst>
                                          <p:attrName>style.visibility</p:attrName>
                                        </p:attrNameLst>
                                      </p:cBhvr>
                                      <p:to>
                                        <p:strVal val="visible"/>
                                      </p:to>
                                    </p:set>
                                    <p:anim calcmode="lin" valueType="num">
                                      <p:cBhvr additive="base">
                                        <p:cTn id="43" dur="500" fill="hold"/>
                                        <p:tgtEl>
                                          <p:spTgt spid="45067"/>
                                        </p:tgtEl>
                                        <p:attrNameLst>
                                          <p:attrName>ppt_x</p:attrName>
                                        </p:attrNameLst>
                                      </p:cBhvr>
                                      <p:tavLst>
                                        <p:tav tm="0">
                                          <p:val>
                                            <p:strVal val="#ppt_x"/>
                                          </p:val>
                                        </p:tav>
                                        <p:tav tm="100000">
                                          <p:val>
                                            <p:strVal val="#ppt_x"/>
                                          </p:val>
                                        </p:tav>
                                      </p:tavLst>
                                    </p:anim>
                                    <p:anim calcmode="lin" valueType="num">
                                      <p:cBhvr additive="base">
                                        <p:cTn id="44" dur="500" fill="hold"/>
                                        <p:tgtEl>
                                          <p:spTgt spid="4506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5069"/>
                                        </p:tgtEl>
                                        <p:attrNameLst>
                                          <p:attrName>style.visibility</p:attrName>
                                        </p:attrNameLst>
                                      </p:cBhvr>
                                      <p:to>
                                        <p:strVal val="visible"/>
                                      </p:to>
                                    </p:set>
                                    <p:anim calcmode="lin" valueType="num">
                                      <p:cBhvr additive="base">
                                        <p:cTn id="49" dur="500" fill="hold"/>
                                        <p:tgtEl>
                                          <p:spTgt spid="45069"/>
                                        </p:tgtEl>
                                        <p:attrNameLst>
                                          <p:attrName>ppt_x</p:attrName>
                                        </p:attrNameLst>
                                      </p:cBhvr>
                                      <p:tavLst>
                                        <p:tav tm="0">
                                          <p:val>
                                            <p:strVal val="#ppt_x"/>
                                          </p:val>
                                        </p:tav>
                                        <p:tav tm="100000">
                                          <p:val>
                                            <p:strVal val="#ppt_x"/>
                                          </p:val>
                                        </p:tav>
                                      </p:tavLst>
                                    </p:anim>
                                    <p:anim calcmode="lin" valueType="num">
                                      <p:cBhvr additive="base">
                                        <p:cTn id="50" dur="500" fill="hold"/>
                                        <p:tgtEl>
                                          <p:spTgt spid="4506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5066"/>
                                        </p:tgtEl>
                                        <p:attrNameLst>
                                          <p:attrName>style.visibility</p:attrName>
                                        </p:attrNameLst>
                                      </p:cBhvr>
                                      <p:to>
                                        <p:strVal val="visible"/>
                                      </p:to>
                                    </p:set>
                                    <p:anim calcmode="lin" valueType="num">
                                      <p:cBhvr additive="base">
                                        <p:cTn id="55" dur="500" fill="hold"/>
                                        <p:tgtEl>
                                          <p:spTgt spid="45066"/>
                                        </p:tgtEl>
                                        <p:attrNameLst>
                                          <p:attrName>ppt_x</p:attrName>
                                        </p:attrNameLst>
                                      </p:cBhvr>
                                      <p:tavLst>
                                        <p:tav tm="0">
                                          <p:val>
                                            <p:strVal val="#ppt_x"/>
                                          </p:val>
                                        </p:tav>
                                        <p:tav tm="100000">
                                          <p:val>
                                            <p:strVal val="#ppt_x"/>
                                          </p:val>
                                        </p:tav>
                                      </p:tavLst>
                                    </p:anim>
                                    <p:anim calcmode="lin" valueType="num">
                                      <p:cBhvr additive="base">
                                        <p:cTn id="56"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45062" grpId="0"/>
      <p:bldP spid="45063" grpId="0"/>
      <p:bldP spid="45064" grpId="0"/>
      <p:bldP spid="45065" grpId="0"/>
      <p:bldP spid="45066" grpId="0"/>
      <p:bldP spid="45067" grpId="0" bldLvl="0" animBg="1"/>
      <p:bldP spid="450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p:cNvSpPr>
            <a:spLocks noGrp="1"/>
          </p:cNvSpPr>
          <p:nvPr>
            <p:ph type="body" sz="half" idx="1"/>
          </p:nvPr>
        </p:nvSpPr>
        <p:spPr>
          <a:xfrm>
            <a:off x="767080" y="1371600"/>
            <a:ext cx="4927600" cy="4114800"/>
          </a:xfrm>
        </p:spPr>
        <p:txBody>
          <a:bodyPr/>
          <a:lstStyle/>
          <a:p>
            <a:r>
              <a:rPr kumimoji="1" lang="zh-CN" altLang="en-US" sz="3735">
                <a:latin typeface="宋体" panose="02010600030101010101" pitchFamily="2" charset="-122"/>
              </a:rPr>
              <a:t>方法三</a:t>
            </a:r>
            <a:endParaRPr kumimoji="1" lang="en-US" altLang="zh-CN" sz="3735">
              <a:latin typeface="宋体" panose="02010600030101010101" pitchFamily="2" charset="-122"/>
            </a:endParaRPr>
          </a:p>
          <a:p>
            <a:pPr lvl="1"/>
            <a:r>
              <a:rPr kumimoji="1" lang="zh-CN" altLang="en-US" sz="3200">
                <a:latin typeface="宋体" panose="02010600030101010101" pitchFamily="2" charset="-122"/>
              </a:rPr>
              <a:t>基于黑色像素个数奇偶性</a:t>
            </a:r>
            <a:endParaRPr kumimoji="1" lang="en-US" altLang="zh-CN" sz="3200">
              <a:latin typeface="宋体" panose="02010600030101010101" pitchFamily="2" charset="-122"/>
            </a:endParaRPr>
          </a:p>
          <a:p>
            <a:r>
              <a:rPr kumimoji="1" lang="zh-CN" altLang="en-US" sz="3735">
                <a:latin typeface="宋体" panose="02010600030101010101" pitchFamily="2" charset="-122"/>
              </a:rPr>
              <a:t>例</a:t>
            </a:r>
            <a:endParaRPr kumimoji="1" lang="en-US" altLang="zh-CN" sz="3735">
              <a:latin typeface="宋体" panose="02010600030101010101" pitchFamily="2" charset="-122"/>
            </a:endParaRPr>
          </a:p>
          <a:p>
            <a:pPr lvl="1"/>
            <a:r>
              <a:rPr kumimoji="1" lang="zh-CN" altLang="en-US" sz="3200">
                <a:latin typeface="宋体" panose="02010600030101010101" pitchFamily="2" charset="-122"/>
              </a:rPr>
              <a:t>8*8小块内黑色像素总个数的奇偶代表秘密信息0或1</a:t>
            </a:r>
            <a:endParaRPr kumimoji="1" lang="en-US" altLang="zh-CN" sz="3200">
              <a:latin typeface="宋体" panose="02010600030101010101" pitchFamily="2" charset="-122"/>
            </a:endParaRPr>
          </a:p>
          <a:p>
            <a:endParaRPr kumimoji="1" lang="zh-CN" altLang="en-US" sz="3735">
              <a:latin typeface="隶书" panose="02010509060101010101" pitchFamily="49" charset="-122"/>
              <a:ea typeface="隶书" panose="02010509060101010101" pitchFamily="49" charset="-122"/>
            </a:endParaRPr>
          </a:p>
          <a:p>
            <a:endParaRPr lang="zh-CN" altLang="en-US"/>
          </a:p>
        </p:txBody>
      </p:sp>
      <p:sp>
        <p:nvSpPr>
          <p:cNvPr id="46085" name="Text Box 6"/>
          <p:cNvSpPr txBox="1">
            <a:spLocks noChangeArrowheads="1"/>
          </p:cNvSpPr>
          <p:nvPr/>
        </p:nvSpPr>
        <p:spPr bwMode="auto">
          <a:xfrm>
            <a:off x="7919085" y="2212340"/>
            <a:ext cx="8128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5865">
                <a:latin typeface="Verdana" panose="020B0604030504040204" pitchFamily="34" charset="0"/>
              </a:rPr>
              <a:t>+</a:t>
            </a:r>
            <a:endParaRPr kumimoji="1" lang="zh-CN" altLang="en-US" sz="5865">
              <a:latin typeface="Verdana" panose="020B0604030504040204" pitchFamily="34" charset="0"/>
            </a:endParaRPr>
          </a:p>
        </p:txBody>
      </p:sp>
      <p:sp>
        <p:nvSpPr>
          <p:cNvPr id="46086" name="Text Box 7"/>
          <p:cNvSpPr txBox="1">
            <a:spLocks noChangeArrowheads="1"/>
          </p:cNvSpPr>
          <p:nvPr/>
        </p:nvSpPr>
        <p:spPr bwMode="auto">
          <a:xfrm>
            <a:off x="7614285" y="3228340"/>
            <a:ext cx="162560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4265">
                <a:solidFill>
                  <a:srgbClr val="FF3300"/>
                </a:solidFill>
                <a:latin typeface="Verdana" panose="020B0604030504040204" pitchFamily="34" charset="0"/>
              </a:rPr>
              <a:t>0</a:t>
            </a:r>
            <a:r>
              <a:rPr kumimoji="1" lang="zh-CN" altLang="en-US" sz="4265">
                <a:latin typeface="Verdana" panose="020B0604030504040204" pitchFamily="34" charset="0"/>
              </a:rPr>
              <a:t>110</a:t>
            </a:r>
            <a:endParaRPr kumimoji="1" lang="zh-CN" altLang="en-US" sz="4265">
              <a:latin typeface="Verdana" panose="020B0604030504040204" pitchFamily="34" charset="0"/>
            </a:endParaRPr>
          </a:p>
        </p:txBody>
      </p:sp>
      <p:grpSp>
        <p:nvGrpSpPr>
          <p:cNvPr id="2" name="Group 15"/>
          <p:cNvGrpSpPr/>
          <p:nvPr/>
        </p:nvGrpSpPr>
        <p:grpSpPr bwMode="auto">
          <a:xfrm>
            <a:off x="7032202" y="688340"/>
            <a:ext cx="2705100" cy="1585384"/>
            <a:chOff x="5697538" y="2133600"/>
            <a:chExt cx="2028825" cy="1189038"/>
          </a:xfrm>
        </p:grpSpPr>
        <p:pic>
          <p:nvPicPr>
            <p:cNvPr id="54288" name="Picture 5" descr="examp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5000" y="2133600"/>
              <a:ext cx="2011363"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9" name="Text Box 8"/>
            <p:cNvSpPr txBox="1">
              <a:spLocks noChangeArrowheads="1"/>
            </p:cNvSpPr>
            <p:nvPr/>
          </p:nvSpPr>
          <p:spPr bwMode="auto">
            <a:xfrm>
              <a:off x="5697538" y="2136775"/>
              <a:ext cx="762000" cy="745331"/>
            </a:xfrm>
            <a:prstGeom prst="rect">
              <a:avLst/>
            </a:prstGeom>
            <a:noFill/>
            <a:ln w="22225">
              <a:solidFill>
                <a:srgbClr val="FF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p:txBody>
        </p:sp>
      </p:grpSp>
      <p:sp>
        <p:nvSpPr>
          <p:cNvPr id="46089" name="Text Box 10"/>
          <p:cNvSpPr txBox="1">
            <a:spLocks noChangeArrowheads="1"/>
          </p:cNvSpPr>
          <p:nvPr/>
        </p:nvSpPr>
        <p:spPr bwMode="auto">
          <a:xfrm>
            <a:off x="8020685" y="3837940"/>
            <a:ext cx="132080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4265">
                <a:latin typeface="Verdana" panose="020B0604030504040204" pitchFamily="34" charset="0"/>
              </a:rPr>
              <a:t>||</a:t>
            </a:r>
            <a:endParaRPr kumimoji="1" lang="zh-CN" altLang="en-US" sz="4265">
              <a:latin typeface="Verdana" panose="020B0604030504040204" pitchFamily="34" charset="0"/>
            </a:endParaRPr>
          </a:p>
        </p:txBody>
      </p:sp>
      <p:pic>
        <p:nvPicPr>
          <p:cNvPr id="46090" name="Picture 11" descr="example_ste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8469" y="4752340"/>
            <a:ext cx="2681816" cy="158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2" name="Text Box 13"/>
          <p:cNvSpPr txBox="1">
            <a:spLocks noChangeArrowheads="1"/>
          </p:cNvSpPr>
          <p:nvPr/>
        </p:nvSpPr>
        <p:spPr bwMode="auto">
          <a:xfrm>
            <a:off x="7222702" y="4762924"/>
            <a:ext cx="1016000" cy="993775"/>
          </a:xfrm>
          <a:prstGeom prst="rect">
            <a:avLst/>
          </a:prstGeom>
          <a:noFill/>
          <a:ln w="22225">
            <a:solidFill>
              <a:srgbClr val="FF33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a:p>
            <a:pPr eaLnBrk="1" hangingPunct="1">
              <a:spcBef>
                <a:spcPct val="50000"/>
              </a:spcBef>
            </a:pPr>
            <a:endParaRPr kumimoji="1" lang="en-US" altLang="zh-CN" sz="1065">
              <a:latin typeface="Verdana" panose="020B0604030504040204" pitchFamily="34" charset="0"/>
            </a:endParaRPr>
          </a:p>
        </p:txBody>
      </p:sp>
      <p:sp>
        <p:nvSpPr>
          <p:cNvPr id="46093" name="Text Box 14"/>
          <p:cNvSpPr txBox="1">
            <a:spLocks noChangeArrowheads="1"/>
          </p:cNvSpPr>
          <p:nvPr/>
        </p:nvSpPr>
        <p:spPr bwMode="auto">
          <a:xfrm>
            <a:off x="6039485" y="1501140"/>
            <a:ext cx="1117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3200">
                <a:solidFill>
                  <a:schemeClr val="folHlink"/>
                </a:solidFill>
                <a:latin typeface="隶书" panose="02010509060101010101" pitchFamily="49" charset="-122"/>
                <a:ea typeface="隶书" panose="02010509060101010101" pitchFamily="49" charset="-122"/>
              </a:rPr>
              <a:t>17个黑点</a:t>
            </a:r>
            <a:endParaRPr kumimoji="1" lang="zh-CN" altLang="en-US" sz="3200">
              <a:solidFill>
                <a:schemeClr val="folHlink"/>
              </a:solidFill>
              <a:latin typeface="隶书" panose="02010509060101010101" pitchFamily="49" charset="-122"/>
              <a:ea typeface="隶书" panose="02010509060101010101" pitchFamily="49" charset="-122"/>
            </a:endParaRPr>
          </a:p>
        </p:txBody>
      </p:sp>
      <p:sp>
        <p:nvSpPr>
          <p:cNvPr id="46094" name="Text Box 15"/>
          <p:cNvSpPr txBox="1">
            <a:spLocks noChangeArrowheads="1"/>
          </p:cNvSpPr>
          <p:nvPr/>
        </p:nvSpPr>
        <p:spPr bwMode="auto">
          <a:xfrm>
            <a:off x="6039485" y="4142740"/>
            <a:ext cx="1117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kumimoji="1" lang="zh-CN" altLang="en-US" sz="3200">
                <a:solidFill>
                  <a:schemeClr val="folHlink"/>
                </a:solidFill>
                <a:latin typeface="隶书" panose="02010509060101010101" pitchFamily="49" charset="-122"/>
                <a:ea typeface="隶书" panose="02010509060101010101" pitchFamily="49" charset="-122"/>
              </a:rPr>
              <a:t>18个黑点</a:t>
            </a:r>
            <a:endParaRPr kumimoji="1" lang="zh-CN" altLang="en-US" sz="3200">
              <a:solidFill>
                <a:schemeClr val="folHlink"/>
              </a:solidFill>
              <a:latin typeface="隶书" panose="02010509060101010101" pitchFamily="49" charset="-122"/>
              <a:ea typeface="隶书" panose="02010509060101010101" pitchFamily="49" charset="-122"/>
            </a:endParaRPr>
          </a:p>
        </p:txBody>
      </p:sp>
      <p:sp>
        <p:nvSpPr>
          <p:cNvPr id="46095" name="AutoShape 16"/>
          <p:cNvSpPr>
            <a:spLocks noChangeArrowheads="1"/>
          </p:cNvSpPr>
          <p:nvPr/>
        </p:nvSpPr>
        <p:spPr bwMode="auto">
          <a:xfrm>
            <a:off x="6496685" y="2720340"/>
            <a:ext cx="203200" cy="1320800"/>
          </a:xfrm>
          <a:prstGeom prst="downArrow">
            <a:avLst>
              <a:gd name="adj1" fmla="val 50000"/>
              <a:gd name="adj2" fmla="val 162500"/>
            </a:avLst>
          </a:prstGeom>
          <a:solidFill>
            <a:srgbClr val="00FFFF"/>
          </a:solidFill>
          <a:ln w="9525">
            <a:solidFill>
              <a:schemeClr val="tx1"/>
            </a:solidFill>
            <a:miter lim="800000"/>
          </a:ln>
        </p:spPr>
        <p:txBody>
          <a:bodyPr wrap="none" anchor="ctr"/>
          <a:lstStyle/>
          <a:p>
            <a:endParaRPr lang="zh-CN" altLang="en-US" sz="100"/>
          </a:p>
        </p:txBody>
      </p:sp>
      <p:sp>
        <p:nvSpPr>
          <p:cNvPr id="3" name="矩形 2"/>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二值图像信息隐藏</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 calcmode="lin" valueType="num">
                                      <p:cBhvr additive="base">
                                        <p:cTn id="13"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anim calcmode="lin" valueType="num">
                                      <p:cBhvr additive="base">
                                        <p:cTn id="19"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xEl>
                                              <p:pRg st="3" end="3"/>
                                            </p:txEl>
                                          </p:spTgt>
                                        </p:tgtEl>
                                        <p:attrNameLst>
                                          <p:attrName>style.visibility</p:attrName>
                                        </p:attrNameLst>
                                      </p:cBhvr>
                                      <p:to>
                                        <p:strVal val="visible"/>
                                      </p:to>
                                    </p:set>
                                    <p:anim calcmode="lin" valueType="num">
                                      <p:cBhvr additive="base">
                                        <p:cTn id="25"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6093"/>
                                        </p:tgtEl>
                                        <p:attrNameLst>
                                          <p:attrName>style.visibility</p:attrName>
                                        </p:attrNameLst>
                                      </p:cBhvr>
                                      <p:to>
                                        <p:strVal val="visible"/>
                                      </p:to>
                                    </p:set>
                                    <p:anim calcmode="lin" valueType="num">
                                      <p:cBhvr additive="base">
                                        <p:cTn id="37" dur="500" fill="hold"/>
                                        <p:tgtEl>
                                          <p:spTgt spid="46093"/>
                                        </p:tgtEl>
                                        <p:attrNameLst>
                                          <p:attrName>ppt_x</p:attrName>
                                        </p:attrNameLst>
                                      </p:cBhvr>
                                      <p:tavLst>
                                        <p:tav tm="0">
                                          <p:val>
                                            <p:strVal val="#ppt_x"/>
                                          </p:val>
                                        </p:tav>
                                        <p:tav tm="100000">
                                          <p:val>
                                            <p:strVal val="#ppt_x"/>
                                          </p:val>
                                        </p:tav>
                                      </p:tavLst>
                                    </p:anim>
                                    <p:anim calcmode="lin" valueType="num">
                                      <p:cBhvr additive="base">
                                        <p:cTn id="38" dur="500" fill="hold"/>
                                        <p:tgtEl>
                                          <p:spTgt spid="4609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6095"/>
                                        </p:tgtEl>
                                        <p:attrNameLst>
                                          <p:attrName>style.visibility</p:attrName>
                                        </p:attrNameLst>
                                      </p:cBhvr>
                                      <p:to>
                                        <p:strVal val="visible"/>
                                      </p:to>
                                    </p:set>
                                    <p:anim calcmode="lin" valueType="num">
                                      <p:cBhvr additive="base">
                                        <p:cTn id="43" dur="500" fill="hold"/>
                                        <p:tgtEl>
                                          <p:spTgt spid="46095"/>
                                        </p:tgtEl>
                                        <p:attrNameLst>
                                          <p:attrName>ppt_x</p:attrName>
                                        </p:attrNameLst>
                                      </p:cBhvr>
                                      <p:tavLst>
                                        <p:tav tm="0">
                                          <p:val>
                                            <p:strVal val="#ppt_x"/>
                                          </p:val>
                                        </p:tav>
                                        <p:tav tm="100000">
                                          <p:val>
                                            <p:strVal val="#ppt_x"/>
                                          </p:val>
                                        </p:tav>
                                      </p:tavLst>
                                    </p:anim>
                                    <p:anim calcmode="lin" valueType="num">
                                      <p:cBhvr additive="base">
                                        <p:cTn id="44" dur="500" fill="hold"/>
                                        <p:tgtEl>
                                          <p:spTgt spid="4609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6085"/>
                                        </p:tgtEl>
                                        <p:attrNameLst>
                                          <p:attrName>style.visibility</p:attrName>
                                        </p:attrNameLst>
                                      </p:cBhvr>
                                      <p:to>
                                        <p:strVal val="visible"/>
                                      </p:to>
                                    </p:set>
                                    <p:anim calcmode="lin" valueType="num">
                                      <p:cBhvr additive="base">
                                        <p:cTn id="47" dur="500" fill="hold"/>
                                        <p:tgtEl>
                                          <p:spTgt spid="46085"/>
                                        </p:tgtEl>
                                        <p:attrNameLst>
                                          <p:attrName>ppt_x</p:attrName>
                                        </p:attrNameLst>
                                      </p:cBhvr>
                                      <p:tavLst>
                                        <p:tav tm="0">
                                          <p:val>
                                            <p:strVal val="#ppt_x"/>
                                          </p:val>
                                        </p:tav>
                                        <p:tav tm="100000">
                                          <p:val>
                                            <p:strVal val="#ppt_x"/>
                                          </p:val>
                                        </p:tav>
                                      </p:tavLst>
                                    </p:anim>
                                    <p:anim calcmode="lin" valueType="num">
                                      <p:cBhvr additive="base">
                                        <p:cTn id="48" dur="500" fill="hold"/>
                                        <p:tgtEl>
                                          <p:spTgt spid="4608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6086"/>
                                        </p:tgtEl>
                                        <p:attrNameLst>
                                          <p:attrName>style.visibility</p:attrName>
                                        </p:attrNameLst>
                                      </p:cBhvr>
                                      <p:to>
                                        <p:strVal val="visible"/>
                                      </p:to>
                                    </p:set>
                                    <p:anim calcmode="lin" valueType="num">
                                      <p:cBhvr additive="base">
                                        <p:cTn id="51" dur="500" fill="hold"/>
                                        <p:tgtEl>
                                          <p:spTgt spid="46086"/>
                                        </p:tgtEl>
                                        <p:attrNameLst>
                                          <p:attrName>ppt_x</p:attrName>
                                        </p:attrNameLst>
                                      </p:cBhvr>
                                      <p:tavLst>
                                        <p:tav tm="0">
                                          <p:val>
                                            <p:strVal val="#ppt_x"/>
                                          </p:val>
                                        </p:tav>
                                        <p:tav tm="100000">
                                          <p:val>
                                            <p:strVal val="#ppt_x"/>
                                          </p:val>
                                        </p:tav>
                                      </p:tavLst>
                                    </p:anim>
                                    <p:anim calcmode="lin" valueType="num">
                                      <p:cBhvr additive="base">
                                        <p:cTn id="52" dur="500" fill="hold"/>
                                        <p:tgtEl>
                                          <p:spTgt spid="4608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6089"/>
                                        </p:tgtEl>
                                        <p:attrNameLst>
                                          <p:attrName>style.visibility</p:attrName>
                                        </p:attrNameLst>
                                      </p:cBhvr>
                                      <p:to>
                                        <p:strVal val="visible"/>
                                      </p:to>
                                    </p:set>
                                    <p:anim calcmode="lin" valueType="num">
                                      <p:cBhvr additive="base">
                                        <p:cTn id="55" dur="500" fill="hold"/>
                                        <p:tgtEl>
                                          <p:spTgt spid="46089"/>
                                        </p:tgtEl>
                                        <p:attrNameLst>
                                          <p:attrName>ppt_x</p:attrName>
                                        </p:attrNameLst>
                                      </p:cBhvr>
                                      <p:tavLst>
                                        <p:tav tm="0">
                                          <p:val>
                                            <p:strVal val="#ppt_x"/>
                                          </p:val>
                                        </p:tav>
                                        <p:tav tm="100000">
                                          <p:val>
                                            <p:strVal val="#ppt_x"/>
                                          </p:val>
                                        </p:tav>
                                      </p:tavLst>
                                    </p:anim>
                                    <p:anim calcmode="lin" valueType="num">
                                      <p:cBhvr additive="base">
                                        <p:cTn id="56" dur="500" fill="hold"/>
                                        <p:tgtEl>
                                          <p:spTgt spid="4608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6092"/>
                                        </p:tgtEl>
                                        <p:attrNameLst>
                                          <p:attrName>style.visibility</p:attrName>
                                        </p:attrNameLst>
                                      </p:cBhvr>
                                      <p:to>
                                        <p:strVal val="visible"/>
                                      </p:to>
                                    </p:set>
                                    <p:anim calcmode="lin" valueType="num">
                                      <p:cBhvr additive="base">
                                        <p:cTn id="61" dur="500" fill="hold"/>
                                        <p:tgtEl>
                                          <p:spTgt spid="46092"/>
                                        </p:tgtEl>
                                        <p:attrNameLst>
                                          <p:attrName>ppt_x</p:attrName>
                                        </p:attrNameLst>
                                      </p:cBhvr>
                                      <p:tavLst>
                                        <p:tav tm="0">
                                          <p:val>
                                            <p:strVal val="#ppt_x"/>
                                          </p:val>
                                        </p:tav>
                                        <p:tav tm="100000">
                                          <p:val>
                                            <p:strVal val="#ppt_x"/>
                                          </p:val>
                                        </p:tav>
                                      </p:tavLst>
                                    </p:anim>
                                    <p:anim calcmode="lin" valueType="num">
                                      <p:cBhvr additive="base">
                                        <p:cTn id="62" dur="500" fill="hold"/>
                                        <p:tgtEl>
                                          <p:spTgt spid="46092"/>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6090"/>
                                        </p:tgtEl>
                                        <p:attrNameLst>
                                          <p:attrName>style.visibility</p:attrName>
                                        </p:attrNameLst>
                                      </p:cBhvr>
                                      <p:to>
                                        <p:strVal val="visible"/>
                                      </p:to>
                                    </p:set>
                                    <p:anim calcmode="lin" valueType="num">
                                      <p:cBhvr additive="base">
                                        <p:cTn id="65" dur="500" fill="hold"/>
                                        <p:tgtEl>
                                          <p:spTgt spid="46090"/>
                                        </p:tgtEl>
                                        <p:attrNameLst>
                                          <p:attrName>ppt_x</p:attrName>
                                        </p:attrNameLst>
                                      </p:cBhvr>
                                      <p:tavLst>
                                        <p:tav tm="0">
                                          <p:val>
                                            <p:strVal val="#ppt_x"/>
                                          </p:val>
                                        </p:tav>
                                        <p:tav tm="100000">
                                          <p:val>
                                            <p:strVal val="#ppt_x"/>
                                          </p:val>
                                        </p:tav>
                                      </p:tavLst>
                                    </p:anim>
                                    <p:anim calcmode="lin" valueType="num">
                                      <p:cBhvr additive="base">
                                        <p:cTn id="66" dur="500" fill="hold"/>
                                        <p:tgtEl>
                                          <p:spTgt spid="46090"/>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6094"/>
                                        </p:tgtEl>
                                        <p:attrNameLst>
                                          <p:attrName>style.visibility</p:attrName>
                                        </p:attrNameLst>
                                      </p:cBhvr>
                                      <p:to>
                                        <p:strVal val="visible"/>
                                      </p:to>
                                    </p:set>
                                    <p:anim calcmode="lin" valueType="num">
                                      <p:cBhvr additive="base">
                                        <p:cTn id="71" dur="500" fill="hold"/>
                                        <p:tgtEl>
                                          <p:spTgt spid="46094"/>
                                        </p:tgtEl>
                                        <p:attrNameLst>
                                          <p:attrName>ppt_x</p:attrName>
                                        </p:attrNameLst>
                                      </p:cBhvr>
                                      <p:tavLst>
                                        <p:tav tm="0">
                                          <p:val>
                                            <p:strVal val="#ppt_x"/>
                                          </p:val>
                                        </p:tav>
                                        <p:tav tm="100000">
                                          <p:val>
                                            <p:strVal val="#ppt_x"/>
                                          </p:val>
                                        </p:tav>
                                      </p:tavLst>
                                    </p:anim>
                                    <p:anim calcmode="lin" valueType="num">
                                      <p:cBhvr additive="base">
                                        <p:cTn id="72" dur="500" fill="hold"/>
                                        <p:tgtEl>
                                          <p:spTgt spid="460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5" build="p"/>
      <p:bldP spid="46085" grpId="0"/>
      <p:bldP spid="46086" grpId="0"/>
      <p:bldP spid="46089" grpId="0"/>
      <p:bldP spid="46092" grpId="0" bldLvl="0" animBg="1"/>
      <p:bldP spid="46093" grpId="0"/>
      <p:bldP spid="46094" grpId="0"/>
      <p:bldP spid="4609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980249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知识：了解二值图像的特点。</a:t>
            </a:r>
            <a:endParaRPr lang="zh-CN" altLang="en-US" sz="2500" dirty="0">
              <a:cs typeface="+mn-ea"/>
            </a:endParaRPr>
          </a:p>
          <a:p>
            <a:pPr lvl="1" algn="l">
              <a:lnSpc>
                <a:spcPct val="100000"/>
              </a:lnSpc>
              <a:buChar char="l"/>
            </a:pPr>
            <a:r>
              <a:rPr lang="zh-CN" altLang="en-US" sz="2500" dirty="0">
                <a:cs typeface="+mn-ea"/>
              </a:rPr>
              <a:t>技能：掌握根据二值图像中黑白像素点值的比较方法来隐藏秘密信息。</a:t>
            </a:r>
            <a:endParaRPr lang="zh-CN" altLang="en-US" sz="2500" dirty="0">
              <a:cs typeface="+mn-ea"/>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6</a:t>
            </a:r>
            <a:r>
              <a:rPr lang="zh-CN" altLang="en-US" dirty="0">
                <a:cs typeface="+mn-ea"/>
              </a:rPr>
              <a:t>中的实验内容。</a:t>
            </a:r>
            <a:endParaRPr lang="zh-CN" altLang="en-US" dirty="0">
              <a:cs typeface="+mn-ea"/>
            </a:endParaRPr>
          </a:p>
          <a:p>
            <a:pPr lvl="1" algn="l">
              <a:lnSpc>
                <a:spcPct val="100000"/>
              </a:lnSpc>
            </a:pPr>
            <a:r>
              <a:rPr lang="zh-CN" altLang="en-US" dirty="0">
                <a:cs typeface="+mn-ea"/>
              </a:rPr>
              <a:t>按实验指导书完成二值图像信息隐藏实验。</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a:t>
            </a:r>
            <a:r>
              <a:rPr lang="zh-CN" altLang="en-US" sz="2800" b="1" dirty="0">
                <a:solidFill>
                  <a:srgbClr val="023B8C"/>
                </a:solidFill>
                <a:latin typeface="微软雅黑" panose="020B0503020204020204" charset="-122"/>
                <a:ea typeface="微软雅黑" panose="020B0503020204020204" charset="-122"/>
              </a:rPr>
              <a:t>六：二值图像信息隐藏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942975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在二值图像中嵌入秘密信息。</a:t>
            </a:r>
            <a:endParaRPr lang="zh-CN" altLang="en-US" dirty="0">
              <a:cs typeface="+mn-ea"/>
            </a:endParaRPr>
          </a:p>
          <a:p>
            <a:pPr lvl="1" algn="l" latinLnBrk="0">
              <a:lnSpc>
                <a:spcPct val="150000"/>
              </a:lnSpc>
              <a:spcBef>
                <a:spcPts val="0"/>
              </a:spcBef>
            </a:pPr>
            <a:r>
              <a:rPr lang="zh-CN" altLang="en-US" dirty="0">
                <a:cs typeface="+mn-ea"/>
              </a:rPr>
              <a:t>通过隐藏秘密信息的数量值来对载体图像进行分块，并提取秘密信息。</a:t>
            </a:r>
            <a:endParaRPr lang="en-US" altLang="zh-CN"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实践案例六：二值图像信息隐藏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时域替换技术</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8200390" cy="1076325"/>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最低有效位嵌入	</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实践案例七：BMP图像的LSB信息隐藏	</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type="body" idx="1"/>
          </p:nvPr>
        </p:nvSpPr>
        <p:spPr>
          <a:xfrm>
            <a:off x="1271059" y="1772603"/>
            <a:ext cx="9751483" cy="4114800"/>
          </a:xfrm>
        </p:spPr>
        <p:txBody>
          <a:bodyPr/>
          <a:lstStyle/>
          <a:p>
            <a:pPr eaLnBrk="1" hangingPunct="1"/>
            <a:r>
              <a:rPr lang="zh-CN" altLang="en-US" dirty="0">
                <a:latin typeface="宋体" panose="02010600030101010101" pitchFamily="2" charset="-122"/>
              </a:rPr>
              <a:t>任何多媒体信息，在数字化时，都会产生物理随机噪声，而人的感官系统对这些随机噪声是不敏感的</a:t>
            </a:r>
            <a:endParaRPr lang="zh-CN" altLang="en-US" dirty="0">
              <a:latin typeface="宋体" panose="02010600030101010101" pitchFamily="2" charset="-122"/>
            </a:endParaRPr>
          </a:p>
          <a:p>
            <a:pPr eaLnBrk="1" hangingPunct="1"/>
            <a:r>
              <a:rPr lang="zh-CN" altLang="en-US" dirty="0">
                <a:latin typeface="宋体" panose="02010600030101010101" pitchFamily="2" charset="-122"/>
              </a:rPr>
              <a:t>替换技术就是利用这个原理，试图用秘密信息比特替换掉随机噪声，以达到隐藏秘密信息的目的</a:t>
            </a:r>
            <a:r>
              <a:rPr lang="zh-CN" altLang="en-US" dirty="0"/>
              <a:t> </a:t>
            </a:r>
            <a:endParaRPr lang="zh-CN" altLang="en-US" dirty="0"/>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type="body" idx="1"/>
          </p:nvPr>
        </p:nvSpPr>
        <p:spPr>
          <a:xfrm>
            <a:off x="1775249" y="1020763"/>
            <a:ext cx="9751483" cy="4114800"/>
          </a:xfrm>
        </p:spPr>
        <p:txBody>
          <a:bodyPr/>
          <a:lstStyle/>
          <a:p>
            <a:pPr eaLnBrk="1" hangingPunct="1"/>
            <a:r>
              <a:rPr lang="zh-CN" altLang="en-US"/>
              <a:t>图像的位平面概念</a:t>
            </a:r>
            <a:endParaRPr lang="zh-CN" altLang="en-US"/>
          </a:p>
        </p:txBody>
      </p:sp>
      <p:grpSp>
        <p:nvGrpSpPr>
          <p:cNvPr id="29701" name="Group 5"/>
          <p:cNvGrpSpPr/>
          <p:nvPr/>
        </p:nvGrpSpPr>
        <p:grpSpPr bwMode="auto">
          <a:xfrm>
            <a:off x="2110105" y="2444750"/>
            <a:ext cx="4419600" cy="3566584"/>
            <a:chOff x="2520" y="4560"/>
            <a:chExt cx="5220" cy="4212"/>
          </a:xfrm>
        </p:grpSpPr>
        <p:sp>
          <p:nvSpPr>
            <p:cNvPr id="29703" name="Line 6"/>
            <p:cNvSpPr>
              <a:spLocks noChangeShapeType="1"/>
            </p:cNvSpPr>
            <p:nvPr/>
          </p:nvSpPr>
          <p:spPr bwMode="auto">
            <a:xfrm>
              <a:off x="3060" y="8304"/>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4" name="Line 7"/>
            <p:cNvSpPr>
              <a:spLocks noChangeShapeType="1"/>
            </p:cNvSpPr>
            <p:nvPr/>
          </p:nvSpPr>
          <p:spPr bwMode="auto">
            <a:xfrm flipV="1">
              <a:off x="306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5" name="Line 8"/>
            <p:cNvSpPr>
              <a:spLocks noChangeShapeType="1"/>
            </p:cNvSpPr>
            <p:nvPr/>
          </p:nvSpPr>
          <p:spPr bwMode="auto">
            <a:xfrm flipV="1">
              <a:off x="342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6" name="Line 9"/>
            <p:cNvSpPr>
              <a:spLocks noChangeShapeType="1"/>
            </p:cNvSpPr>
            <p:nvPr/>
          </p:nvSpPr>
          <p:spPr bwMode="auto">
            <a:xfrm flipV="1">
              <a:off x="378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7" name="Line 10"/>
            <p:cNvSpPr>
              <a:spLocks noChangeShapeType="1"/>
            </p:cNvSpPr>
            <p:nvPr/>
          </p:nvSpPr>
          <p:spPr bwMode="auto">
            <a:xfrm flipV="1">
              <a:off x="414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8" name="Line 11"/>
            <p:cNvSpPr>
              <a:spLocks noChangeShapeType="1"/>
            </p:cNvSpPr>
            <p:nvPr/>
          </p:nvSpPr>
          <p:spPr bwMode="auto">
            <a:xfrm flipV="1">
              <a:off x="450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09" name="Line 12"/>
            <p:cNvSpPr>
              <a:spLocks noChangeShapeType="1"/>
            </p:cNvSpPr>
            <p:nvPr/>
          </p:nvSpPr>
          <p:spPr bwMode="auto">
            <a:xfrm flipV="1">
              <a:off x="594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0" name="Line 13"/>
            <p:cNvSpPr>
              <a:spLocks noChangeShapeType="1"/>
            </p:cNvSpPr>
            <p:nvPr/>
          </p:nvSpPr>
          <p:spPr bwMode="auto">
            <a:xfrm flipV="1">
              <a:off x="558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1" name="Line 14"/>
            <p:cNvSpPr>
              <a:spLocks noChangeShapeType="1"/>
            </p:cNvSpPr>
            <p:nvPr/>
          </p:nvSpPr>
          <p:spPr bwMode="auto">
            <a:xfrm flipV="1">
              <a:off x="522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2" name="Line 15"/>
            <p:cNvSpPr>
              <a:spLocks noChangeShapeType="1"/>
            </p:cNvSpPr>
            <p:nvPr/>
          </p:nvSpPr>
          <p:spPr bwMode="auto">
            <a:xfrm flipV="1">
              <a:off x="4860" y="580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3" name="Line 16"/>
            <p:cNvSpPr>
              <a:spLocks noChangeShapeType="1"/>
            </p:cNvSpPr>
            <p:nvPr/>
          </p:nvSpPr>
          <p:spPr bwMode="auto">
            <a:xfrm>
              <a:off x="3060" y="799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4" name="Line 17"/>
            <p:cNvSpPr>
              <a:spLocks noChangeShapeType="1"/>
            </p:cNvSpPr>
            <p:nvPr/>
          </p:nvSpPr>
          <p:spPr bwMode="auto">
            <a:xfrm>
              <a:off x="3060" y="768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5" name="Line 18"/>
            <p:cNvSpPr>
              <a:spLocks noChangeShapeType="1"/>
            </p:cNvSpPr>
            <p:nvPr/>
          </p:nvSpPr>
          <p:spPr bwMode="auto">
            <a:xfrm>
              <a:off x="3060" y="7368"/>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6" name="Line 19"/>
            <p:cNvSpPr>
              <a:spLocks noChangeShapeType="1"/>
            </p:cNvSpPr>
            <p:nvPr/>
          </p:nvSpPr>
          <p:spPr bwMode="auto">
            <a:xfrm>
              <a:off x="3060" y="7056"/>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7" name="Line 20"/>
            <p:cNvSpPr>
              <a:spLocks noChangeShapeType="1"/>
            </p:cNvSpPr>
            <p:nvPr/>
          </p:nvSpPr>
          <p:spPr bwMode="auto">
            <a:xfrm>
              <a:off x="3060" y="6744"/>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8" name="Line 21"/>
            <p:cNvSpPr>
              <a:spLocks noChangeShapeType="1"/>
            </p:cNvSpPr>
            <p:nvPr/>
          </p:nvSpPr>
          <p:spPr bwMode="auto">
            <a:xfrm>
              <a:off x="3060" y="643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19" name="Line 22"/>
            <p:cNvSpPr>
              <a:spLocks noChangeShapeType="1"/>
            </p:cNvSpPr>
            <p:nvPr/>
          </p:nvSpPr>
          <p:spPr bwMode="auto">
            <a:xfrm>
              <a:off x="3060" y="612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0" name="Line 23"/>
            <p:cNvSpPr>
              <a:spLocks noChangeShapeType="1"/>
            </p:cNvSpPr>
            <p:nvPr/>
          </p:nvSpPr>
          <p:spPr bwMode="auto">
            <a:xfrm>
              <a:off x="3060" y="5808"/>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1" name="Line 24"/>
            <p:cNvSpPr>
              <a:spLocks noChangeShapeType="1"/>
            </p:cNvSpPr>
            <p:nvPr/>
          </p:nvSpPr>
          <p:spPr bwMode="auto">
            <a:xfrm flipV="1">
              <a:off x="5940" y="7056"/>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2" name="Line 25"/>
            <p:cNvSpPr>
              <a:spLocks noChangeShapeType="1"/>
            </p:cNvSpPr>
            <p:nvPr/>
          </p:nvSpPr>
          <p:spPr bwMode="auto">
            <a:xfrm flipV="1">
              <a:off x="5940" y="6744"/>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3" name="Line 26"/>
            <p:cNvSpPr>
              <a:spLocks noChangeShapeType="1"/>
            </p:cNvSpPr>
            <p:nvPr/>
          </p:nvSpPr>
          <p:spPr bwMode="auto">
            <a:xfrm flipV="1">
              <a:off x="5940" y="6432"/>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4" name="Line 27"/>
            <p:cNvSpPr>
              <a:spLocks noChangeShapeType="1"/>
            </p:cNvSpPr>
            <p:nvPr/>
          </p:nvSpPr>
          <p:spPr bwMode="auto">
            <a:xfrm flipV="1">
              <a:off x="5940" y="612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5" name="Line 28"/>
            <p:cNvSpPr>
              <a:spLocks noChangeShapeType="1"/>
            </p:cNvSpPr>
            <p:nvPr/>
          </p:nvSpPr>
          <p:spPr bwMode="auto">
            <a:xfrm flipV="1">
              <a:off x="5940" y="5808"/>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6" name="Line 29"/>
            <p:cNvSpPr>
              <a:spLocks noChangeShapeType="1"/>
            </p:cNvSpPr>
            <p:nvPr/>
          </p:nvSpPr>
          <p:spPr bwMode="auto">
            <a:xfrm flipV="1">
              <a:off x="5940" y="5496"/>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7" name="Line 30"/>
            <p:cNvSpPr>
              <a:spLocks noChangeShapeType="1"/>
            </p:cNvSpPr>
            <p:nvPr/>
          </p:nvSpPr>
          <p:spPr bwMode="auto">
            <a:xfrm flipV="1">
              <a:off x="5940" y="5184"/>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8" name="Line 31"/>
            <p:cNvSpPr>
              <a:spLocks noChangeShapeType="1"/>
            </p:cNvSpPr>
            <p:nvPr/>
          </p:nvSpPr>
          <p:spPr bwMode="auto">
            <a:xfrm flipV="1">
              <a:off x="5940" y="4872"/>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29" name="Line 32"/>
            <p:cNvSpPr>
              <a:spLocks noChangeShapeType="1"/>
            </p:cNvSpPr>
            <p:nvPr/>
          </p:nvSpPr>
          <p:spPr bwMode="auto">
            <a:xfrm flipV="1">
              <a:off x="594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0" name="Line 33"/>
            <p:cNvSpPr>
              <a:spLocks noChangeShapeType="1"/>
            </p:cNvSpPr>
            <p:nvPr/>
          </p:nvSpPr>
          <p:spPr bwMode="auto">
            <a:xfrm flipV="1">
              <a:off x="6120" y="5652"/>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1" name="Line 34"/>
            <p:cNvSpPr>
              <a:spLocks noChangeShapeType="1"/>
            </p:cNvSpPr>
            <p:nvPr/>
          </p:nvSpPr>
          <p:spPr bwMode="auto">
            <a:xfrm flipV="1">
              <a:off x="6300" y="5496"/>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2" name="Line 35"/>
            <p:cNvSpPr>
              <a:spLocks noChangeShapeType="1"/>
            </p:cNvSpPr>
            <p:nvPr/>
          </p:nvSpPr>
          <p:spPr bwMode="auto">
            <a:xfrm flipV="1">
              <a:off x="6480" y="5340"/>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3" name="Line 36"/>
            <p:cNvSpPr>
              <a:spLocks noChangeShapeType="1"/>
            </p:cNvSpPr>
            <p:nvPr/>
          </p:nvSpPr>
          <p:spPr bwMode="auto">
            <a:xfrm flipV="1">
              <a:off x="6660" y="5184"/>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4" name="Line 37"/>
            <p:cNvSpPr>
              <a:spLocks noChangeShapeType="1"/>
            </p:cNvSpPr>
            <p:nvPr/>
          </p:nvSpPr>
          <p:spPr bwMode="auto">
            <a:xfrm flipV="1">
              <a:off x="6840" y="502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5" name="Line 38"/>
            <p:cNvSpPr>
              <a:spLocks noChangeShapeType="1"/>
            </p:cNvSpPr>
            <p:nvPr/>
          </p:nvSpPr>
          <p:spPr bwMode="auto">
            <a:xfrm flipV="1">
              <a:off x="7020" y="4872"/>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6" name="Line 39"/>
            <p:cNvSpPr>
              <a:spLocks noChangeShapeType="1"/>
            </p:cNvSpPr>
            <p:nvPr/>
          </p:nvSpPr>
          <p:spPr bwMode="auto">
            <a:xfrm flipV="1">
              <a:off x="7200" y="4716"/>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7" name="Line 40"/>
            <p:cNvSpPr>
              <a:spLocks noChangeShapeType="1"/>
            </p:cNvSpPr>
            <p:nvPr/>
          </p:nvSpPr>
          <p:spPr bwMode="auto">
            <a:xfrm flipV="1">
              <a:off x="7380" y="4560"/>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8" name="Line 41"/>
            <p:cNvSpPr>
              <a:spLocks noChangeShapeType="1"/>
            </p:cNvSpPr>
            <p:nvPr/>
          </p:nvSpPr>
          <p:spPr bwMode="auto">
            <a:xfrm flipV="1">
              <a:off x="558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39" name="Line 42"/>
            <p:cNvSpPr>
              <a:spLocks noChangeShapeType="1"/>
            </p:cNvSpPr>
            <p:nvPr/>
          </p:nvSpPr>
          <p:spPr bwMode="auto">
            <a:xfrm flipV="1">
              <a:off x="522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0" name="Line 43"/>
            <p:cNvSpPr>
              <a:spLocks noChangeShapeType="1"/>
            </p:cNvSpPr>
            <p:nvPr/>
          </p:nvSpPr>
          <p:spPr bwMode="auto">
            <a:xfrm flipV="1">
              <a:off x="486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1" name="Line 44"/>
            <p:cNvSpPr>
              <a:spLocks noChangeShapeType="1"/>
            </p:cNvSpPr>
            <p:nvPr/>
          </p:nvSpPr>
          <p:spPr bwMode="auto">
            <a:xfrm flipV="1">
              <a:off x="450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2" name="Line 45"/>
            <p:cNvSpPr>
              <a:spLocks noChangeShapeType="1"/>
            </p:cNvSpPr>
            <p:nvPr/>
          </p:nvSpPr>
          <p:spPr bwMode="auto">
            <a:xfrm flipV="1">
              <a:off x="414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3" name="Line 46"/>
            <p:cNvSpPr>
              <a:spLocks noChangeShapeType="1"/>
            </p:cNvSpPr>
            <p:nvPr/>
          </p:nvSpPr>
          <p:spPr bwMode="auto">
            <a:xfrm flipV="1">
              <a:off x="378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4" name="Line 47"/>
            <p:cNvSpPr>
              <a:spLocks noChangeShapeType="1"/>
            </p:cNvSpPr>
            <p:nvPr/>
          </p:nvSpPr>
          <p:spPr bwMode="auto">
            <a:xfrm flipV="1">
              <a:off x="342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5" name="Line 48"/>
            <p:cNvSpPr>
              <a:spLocks noChangeShapeType="1"/>
            </p:cNvSpPr>
            <p:nvPr/>
          </p:nvSpPr>
          <p:spPr bwMode="auto">
            <a:xfrm flipV="1">
              <a:off x="3060" y="4560"/>
              <a:ext cx="144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6" name="Line 49"/>
            <p:cNvSpPr>
              <a:spLocks noChangeShapeType="1"/>
            </p:cNvSpPr>
            <p:nvPr/>
          </p:nvSpPr>
          <p:spPr bwMode="auto">
            <a:xfrm>
              <a:off x="3240" y="565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7" name="Line 50"/>
            <p:cNvSpPr>
              <a:spLocks noChangeShapeType="1"/>
            </p:cNvSpPr>
            <p:nvPr/>
          </p:nvSpPr>
          <p:spPr bwMode="auto">
            <a:xfrm>
              <a:off x="3420" y="5496"/>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8" name="Line 51"/>
            <p:cNvSpPr>
              <a:spLocks noChangeShapeType="1"/>
            </p:cNvSpPr>
            <p:nvPr/>
          </p:nvSpPr>
          <p:spPr bwMode="auto">
            <a:xfrm>
              <a:off x="3600" y="534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49" name="Line 52"/>
            <p:cNvSpPr>
              <a:spLocks noChangeShapeType="1"/>
            </p:cNvSpPr>
            <p:nvPr/>
          </p:nvSpPr>
          <p:spPr bwMode="auto">
            <a:xfrm>
              <a:off x="3780" y="5184"/>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50" name="Line 53"/>
            <p:cNvSpPr>
              <a:spLocks noChangeShapeType="1"/>
            </p:cNvSpPr>
            <p:nvPr/>
          </p:nvSpPr>
          <p:spPr bwMode="auto">
            <a:xfrm>
              <a:off x="3960" y="5028"/>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51" name="Line 54"/>
            <p:cNvSpPr>
              <a:spLocks noChangeShapeType="1"/>
            </p:cNvSpPr>
            <p:nvPr/>
          </p:nvSpPr>
          <p:spPr bwMode="auto">
            <a:xfrm>
              <a:off x="4140" y="487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52" name="Line 55"/>
            <p:cNvSpPr>
              <a:spLocks noChangeShapeType="1"/>
            </p:cNvSpPr>
            <p:nvPr/>
          </p:nvSpPr>
          <p:spPr bwMode="auto">
            <a:xfrm>
              <a:off x="4320" y="4716"/>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53" name="Line 56"/>
            <p:cNvSpPr>
              <a:spLocks noChangeShapeType="1"/>
            </p:cNvSpPr>
            <p:nvPr/>
          </p:nvSpPr>
          <p:spPr bwMode="auto">
            <a:xfrm>
              <a:off x="4500" y="456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29754" name="Text Box 57"/>
            <p:cNvSpPr txBox="1">
              <a:spLocks noChangeArrowheads="1"/>
            </p:cNvSpPr>
            <p:nvPr/>
          </p:nvSpPr>
          <p:spPr bwMode="auto">
            <a:xfrm>
              <a:off x="3060" y="8304"/>
              <a:ext cx="36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2135">
                  <a:latin typeface="Times New Roman" panose="02020603050405020304" charset="0"/>
                </a:rPr>
                <a:t>1  2   3  4   5  6   7  8</a:t>
              </a:r>
              <a:endParaRPr lang="zh-CN" altLang="en-US" sz="2135">
                <a:latin typeface="Times New Roman" panose="02020603050405020304" charset="0"/>
              </a:endParaRPr>
            </a:p>
          </p:txBody>
        </p:sp>
        <p:sp>
          <p:nvSpPr>
            <p:cNvPr id="29755" name="Text Box 58"/>
            <p:cNvSpPr txBox="1">
              <a:spLocks noChangeArrowheads="1"/>
            </p:cNvSpPr>
            <p:nvPr/>
          </p:nvSpPr>
          <p:spPr bwMode="auto">
            <a:xfrm>
              <a:off x="2520" y="5808"/>
              <a:ext cx="540" cy="2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2135">
                  <a:latin typeface="Times New Roman" panose="02020603050405020304" charset="0"/>
                </a:rPr>
                <a:t>8</a:t>
              </a:r>
              <a:endParaRPr lang="zh-CN" altLang="en-US" sz="2135">
                <a:latin typeface="Times New Roman" panose="02020603050405020304" charset="0"/>
              </a:endParaRPr>
            </a:p>
            <a:p>
              <a:pPr algn="just"/>
              <a:r>
                <a:rPr lang="zh-CN" altLang="en-US" sz="2135">
                  <a:latin typeface="Times New Roman" panose="02020603050405020304" charset="0"/>
                </a:rPr>
                <a:t>7</a:t>
              </a:r>
              <a:endParaRPr lang="zh-CN" altLang="en-US" sz="2135">
                <a:latin typeface="Times New Roman" panose="02020603050405020304" charset="0"/>
              </a:endParaRPr>
            </a:p>
            <a:p>
              <a:pPr algn="just"/>
              <a:r>
                <a:rPr lang="zh-CN" altLang="en-US" sz="2135">
                  <a:latin typeface="Times New Roman" panose="02020603050405020304" charset="0"/>
                </a:rPr>
                <a:t>6</a:t>
              </a:r>
              <a:endParaRPr lang="zh-CN" altLang="en-US" sz="2135">
                <a:latin typeface="Times New Roman" panose="02020603050405020304" charset="0"/>
              </a:endParaRPr>
            </a:p>
            <a:p>
              <a:pPr algn="just"/>
              <a:r>
                <a:rPr lang="zh-CN" altLang="en-US" sz="2135">
                  <a:latin typeface="Times New Roman" panose="02020603050405020304" charset="0"/>
                </a:rPr>
                <a:t>5</a:t>
              </a:r>
              <a:endParaRPr lang="zh-CN" altLang="en-US" sz="2135">
                <a:latin typeface="Times New Roman" panose="02020603050405020304" charset="0"/>
              </a:endParaRPr>
            </a:p>
            <a:p>
              <a:pPr algn="just"/>
              <a:r>
                <a:rPr lang="zh-CN" altLang="en-US" sz="2135">
                  <a:latin typeface="Times New Roman" panose="02020603050405020304" charset="0"/>
                </a:rPr>
                <a:t>4</a:t>
              </a:r>
              <a:endParaRPr lang="zh-CN" altLang="en-US" sz="2135">
                <a:latin typeface="Times New Roman" panose="02020603050405020304" charset="0"/>
              </a:endParaRPr>
            </a:p>
            <a:p>
              <a:pPr algn="just"/>
              <a:r>
                <a:rPr lang="zh-CN" altLang="en-US" sz="2135">
                  <a:latin typeface="Times New Roman" panose="02020603050405020304" charset="0"/>
                </a:rPr>
                <a:t>3</a:t>
              </a:r>
              <a:endParaRPr lang="zh-CN" altLang="en-US" sz="2135">
                <a:latin typeface="Times New Roman" panose="02020603050405020304" charset="0"/>
              </a:endParaRPr>
            </a:p>
            <a:p>
              <a:pPr algn="just"/>
              <a:r>
                <a:rPr lang="zh-CN" altLang="en-US" sz="2135">
                  <a:latin typeface="Times New Roman" panose="02020603050405020304" charset="0"/>
                </a:rPr>
                <a:t>2</a:t>
              </a:r>
              <a:endParaRPr lang="zh-CN" altLang="en-US" sz="2135">
                <a:latin typeface="Times New Roman" panose="02020603050405020304" charset="0"/>
              </a:endParaRPr>
            </a:p>
            <a:p>
              <a:pPr algn="just"/>
              <a:r>
                <a:rPr lang="zh-CN" altLang="en-US" sz="2135">
                  <a:latin typeface="Times New Roman" panose="02020603050405020304" charset="0"/>
                </a:rPr>
                <a:t>1</a:t>
              </a:r>
              <a:endParaRPr lang="zh-CN" altLang="en-US" sz="2135">
                <a:latin typeface="Times New Roman" panose="02020603050405020304" charset="0"/>
              </a:endParaRPr>
            </a:p>
          </p:txBody>
        </p:sp>
        <p:sp>
          <p:nvSpPr>
            <p:cNvPr id="29756" name="Text Box 59"/>
            <p:cNvSpPr txBox="1">
              <a:spLocks noChangeArrowheads="1"/>
            </p:cNvSpPr>
            <p:nvPr/>
          </p:nvSpPr>
          <p:spPr bwMode="auto">
            <a:xfrm>
              <a:off x="5940" y="8148"/>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2135">
                  <a:latin typeface="Times New Roman" panose="02020603050405020304" charset="0"/>
                </a:rPr>
                <a:t>1</a:t>
              </a:r>
              <a:endParaRPr lang="zh-CN" altLang="en-US" sz="2135">
                <a:latin typeface="Times New Roman" panose="02020603050405020304" charset="0"/>
              </a:endParaRPr>
            </a:p>
          </p:txBody>
        </p:sp>
        <p:sp>
          <p:nvSpPr>
            <p:cNvPr id="29757" name="Text Box 60"/>
            <p:cNvSpPr txBox="1">
              <a:spLocks noChangeArrowheads="1"/>
            </p:cNvSpPr>
            <p:nvPr/>
          </p:nvSpPr>
          <p:spPr bwMode="auto">
            <a:xfrm>
              <a:off x="7200" y="705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2135">
                  <a:latin typeface="Times New Roman" panose="02020603050405020304" charset="0"/>
                </a:rPr>
                <a:t>8</a:t>
              </a:r>
              <a:endParaRPr lang="zh-CN" altLang="en-US" sz="2135">
                <a:latin typeface="Times New Roman" panose="02020603050405020304" charset="0"/>
              </a:endParaRPr>
            </a:p>
          </p:txBody>
        </p:sp>
      </p:grpSp>
      <p:sp>
        <p:nvSpPr>
          <p:cNvPr id="29702" name="Text Box 61"/>
          <p:cNvSpPr txBox="1">
            <a:spLocks noChangeArrowheads="1"/>
          </p:cNvSpPr>
          <p:nvPr/>
        </p:nvSpPr>
        <p:spPr bwMode="auto">
          <a:xfrm>
            <a:off x="3251200" y="6985000"/>
            <a:ext cx="4419600" cy="39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a:r>
              <a:rPr lang="zh-CN" altLang="en-US" sz="1865">
                <a:latin typeface="Times New Roman" panose="02020603050405020304" charset="0"/>
              </a:rPr>
              <a:t>图4－1，图像象素的灰度表示</a:t>
            </a:r>
            <a:endParaRPr lang="zh-CN" altLang="en-US" sz="1865">
              <a:latin typeface="Times New Roman" panose="02020603050405020304" charset="0"/>
            </a:endParaRPr>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31104" y="1772603"/>
            <a:ext cx="9751483" cy="4114800"/>
          </a:xfrm>
        </p:spPr>
        <p:txBody>
          <a:bodyPr/>
          <a:lstStyle/>
          <a:p>
            <a:r>
              <a:rPr lang="en-US" altLang="zh-CN" dirty="0"/>
              <a:t>LSB</a:t>
            </a:r>
            <a:r>
              <a:rPr lang="zh-CN" altLang="en-US" dirty="0"/>
              <a:t>（</a:t>
            </a:r>
            <a:r>
              <a:rPr lang="en-US" altLang="zh-CN" dirty="0"/>
              <a:t>Least Significant Bit)</a:t>
            </a:r>
            <a:r>
              <a:rPr lang="zh-CN" altLang="en-US" dirty="0"/>
              <a:t>算法</a:t>
            </a:r>
            <a:endParaRPr lang="en-US" altLang="zh-CN" dirty="0"/>
          </a:p>
          <a:p>
            <a:pPr lvl="1"/>
            <a:r>
              <a:rPr lang="zh-CN" altLang="en-US" dirty="0"/>
              <a:t>图像的低位权比特平面，即，由像素较低有效位组成的平面，对视觉影响较小，可将其替换为秘密信息。</a:t>
            </a:r>
            <a:endParaRPr lang="en-US" altLang="zh-CN" dirty="0"/>
          </a:p>
          <a:p>
            <a:pPr lvl="1"/>
            <a:r>
              <a:rPr lang="zh-CN" altLang="en-US" dirty="0"/>
              <a:t>接收方提取相同的比特平面就可以获取秘密信息。</a:t>
            </a:r>
            <a:endParaRPr lang="en-US" altLang="zh-CN" dirty="0"/>
          </a:p>
          <a:p>
            <a:pPr lvl="1"/>
            <a:r>
              <a:rPr lang="zh-CN" altLang="en-US" dirty="0"/>
              <a:t>为增强安全性，收发双方也可协商秘钥。发方使用密钥将像素位置置乱后，再隐藏信息。</a:t>
            </a:r>
            <a:endParaRPr lang="en-US" altLang="zh-CN" dirty="0"/>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982769" y="836613"/>
            <a:ext cx="9751483" cy="4114800"/>
          </a:xfrm>
        </p:spPr>
        <p:txBody>
          <a:bodyPr/>
          <a:lstStyle/>
          <a:p>
            <a:r>
              <a:rPr lang="en-US" altLang="zh-CN" dirty="0"/>
              <a:t>LSB</a:t>
            </a:r>
            <a:r>
              <a:rPr lang="zh-CN" altLang="en-US" dirty="0"/>
              <a:t>算法</a:t>
            </a:r>
            <a:endParaRPr lang="en-US" altLang="zh-CN" dirty="0">
              <a:latin typeface="宋体" panose="02010600030101010101" pitchFamily="2" charset="-122"/>
            </a:endParaRPr>
          </a:p>
          <a:p>
            <a:pPr lvl="1"/>
            <a:r>
              <a:rPr lang="en-US" altLang="zh-CN" dirty="0"/>
              <a:t>LSB</a:t>
            </a:r>
            <a:r>
              <a:rPr lang="zh-CN" altLang="en-US" dirty="0"/>
              <a:t>算法可应用于彩色图像。典型方法为：依次在彩色图像的各个颜色通道，使用</a:t>
            </a:r>
            <a:r>
              <a:rPr lang="en-US" altLang="zh-CN" dirty="0"/>
              <a:t>LSB</a:t>
            </a:r>
            <a:r>
              <a:rPr lang="zh-CN" altLang="en-US" dirty="0"/>
              <a:t>算法嵌入信息。</a:t>
            </a:r>
            <a:endParaRPr lang="en-US" altLang="zh-CN" dirty="0"/>
          </a:p>
          <a:p>
            <a:pPr lvl="1"/>
            <a:endParaRPr lang="zh-CN" altLang="en-US" dirty="0"/>
          </a:p>
        </p:txBody>
      </p:sp>
      <p:grpSp>
        <p:nvGrpSpPr>
          <p:cNvPr id="2" name="组合 1"/>
          <p:cNvGrpSpPr/>
          <p:nvPr/>
        </p:nvGrpSpPr>
        <p:grpSpPr>
          <a:xfrm>
            <a:off x="4511452" y="2205456"/>
            <a:ext cx="7119077" cy="4342479"/>
            <a:chOff x="1104900" y="1752600"/>
            <a:chExt cx="7848600" cy="4573588"/>
          </a:xfrm>
        </p:grpSpPr>
        <p:grpSp>
          <p:nvGrpSpPr>
            <p:cNvPr id="38917" name="Group 2063"/>
            <p:cNvGrpSpPr/>
            <p:nvPr/>
          </p:nvGrpSpPr>
          <p:grpSpPr bwMode="auto">
            <a:xfrm>
              <a:off x="1104900" y="1752600"/>
              <a:ext cx="7302500" cy="4573588"/>
              <a:chOff x="680" y="1151"/>
              <a:chExt cx="4600" cy="2881"/>
            </a:xfrm>
          </p:grpSpPr>
          <p:pic>
            <p:nvPicPr>
              <p:cNvPr id="38919" name="Picture 2064" descr="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5" y="1151"/>
                <a:ext cx="2623" cy="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Picture 2065" descr="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0" y="1296"/>
                <a:ext cx="2623" cy="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1" name="Picture 2066" descr="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 y="1488"/>
                <a:ext cx="2623" cy="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2" name="Picture 2067" descr="原图"/>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 y="1772"/>
                <a:ext cx="2627" cy="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3" name="AutoShape 2068"/>
              <p:cNvSpPr/>
              <p:nvPr/>
            </p:nvSpPr>
            <p:spPr bwMode="auto">
              <a:xfrm>
                <a:off x="3792" y="3792"/>
                <a:ext cx="672" cy="240"/>
              </a:xfrm>
              <a:prstGeom prst="borderCallout2">
                <a:avLst>
                  <a:gd name="adj1" fmla="val 30000"/>
                  <a:gd name="adj2" fmla="val -7144"/>
                  <a:gd name="adj3" fmla="val 30000"/>
                  <a:gd name="adj4" fmla="val -30060"/>
                  <a:gd name="adj5" fmla="val -31250"/>
                  <a:gd name="adj6" fmla="val -48361"/>
                </a:avLst>
              </a:prstGeom>
              <a:solidFill>
                <a:srgbClr val="FF0000"/>
              </a:solidFill>
              <a:ln w="22225">
                <a:solidFill>
                  <a:srgbClr val="00CC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135" b="1">
                    <a:latin typeface="Verdana" panose="020B0604030504040204" pitchFamily="34" charset="0"/>
                    <a:ea typeface="隶书" panose="02010509060101010101" pitchFamily="49" charset="-122"/>
                  </a:rPr>
                  <a:t>红色通道</a:t>
                </a:r>
                <a:endParaRPr kumimoji="1" lang="zh-CN" altLang="en-US" sz="2135" b="1">
                  <a:latin typeface="Verdana" panose="020B0604030504040204" pitchFamily="34" charset="0"/>
                  <a:ea typeface="隶书" panose="02010509060101010101" pitchFamily="49" charset="-122"/>
                </a:endParaRPr>
              </a:p>
            </p:txBody>
          </p:sp>
          <p:sp>
            <p:nvSpPr>
              <p:cNvPr id="38924" name="AutoShape 2069"/>
              <p:cNvSpPr/>
              <p:nvPr/>
            </p:nvSpPr>
            <p:spPr bwMode="auto">
              <a:xfrm>
                <a:off x="4608" y="3552"/>
                <a:ext cx="672" cy="240"/>
              </a:xfrm>
              <a:prstGeom prst="borderCallout2">
                <a:avLst>
                  <a:gd name="adj1" fmla="val 30000"/>
                  <a:gd name="adj2" fmla="val -7144"/>
                  <a:gd name="adj3" fmla="val 30000"/>
                  <a:gd name="adj4" fmla="val -37944"/>
                  <a:gd name="adj5" fmla="val -51250"/>
                  <a:gd name="adj6" fmla="val -62648"/>
                </a:avLst>
              </a:prstGeom>
              <a:solidFill>
                <a:srgbClr val="339966"/>
              </a:solidFill>
              <a:ln w="22225">
                <a:solidFill>
                  <a:srgbClr val="00CC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135" b="1">
                    <a:latin typeface="Verdana" panose="020B0604030504040204" pitchFamily="34" charset="0"/>
                    <a:ea typeface="隶书" panose="02010509060101010101" pitchFamily="49" charset="-122"/>
                  </a:rPr>
                  <a:t>绿色通道</a:t>
                </a:r>
                <a:endParaRPr kumimoji="1" lang="zh-CN" altLang="en-US" sz="2135" b="1">
                  <a:latin typeface="Verdana" panose="020B0604030504040204" pitchFamily="34" charset="0"/>
                  <a:ea typeface="隶书" panose="02010509060101010101" pitchFamily="49" charset="-122"/>
                </a:endParaRPr>
              </a:p>
            </p:txBody>
          </p:sp>
        </p:grpSp>
        <p:sp>
          <p:nvSpPr>
            <p:cNvPr id="38918" name="AutoShape 2070"/>
            <p:cNvSpPr/>
            <p:nvPr/>
          </p:nvSpPr>
          <p:spPr bwMode="auto">
            <a:xfrm>
              <a:off x="7886700" y="5114925"/>
              <a:ext cx="1066800" cy="381000"/>
            </a:xfrm>
            <a:prstGeom prst="borderCallout2">
              <a:avLst>
                <a:gd name="adj1" fmla="val 30000"/>
                <a:gd name="adj2" fmla="val -7144"/>
                <a:gd name="adj3" fmla="val 30000"/>
                <a:gd name="adj4" fmla="val -48810"/>
                <a:gd name="adj5" fmla="val -72500"/>
                <a:gd name="adj6" fmla="val -65181"/>
              </a:avLst>
            </a:prstGeom>
            <a:solidFill>
              <a:srgbClr val="0000FF"/>
            </a:solidFill>
            <a:ln w="22225">
              <a:solidFill>
                <a:srgbClr val="00CC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135" b="1">
                  <a:latin typeface="Verdana" panose="020B0604030504040204" pitchFamily="34" charset="0"/>
                  <a:ea typeface="隶书" panose="02010509060101010101" pitchFamily="49" charset="-122"/>
                </a:rPr>
                <a:t>蓝色通道</a:t>
              </a:r>
              <a:endParaRPr kumimoji="1" lang="zh-CN" altLang="en-US" sz="2135" b="1">
                <a:latin typeface="Verdana" panose="020B0604030504040204" pitchFamily="34" charset="0"/>
                <a:ea typeface="隶书" panose="02010509060101010101" pitchFamily="49" charset="-122"/>
              </a:endParaRPr>
            </a:p>
          </p:txBody>
        </p:sp>
      </p:grpSp>
      <p:sp>
        <p:nvSpPr>
          <p:cNvPr id="5" name="矩形 4"/>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15204" y="1772603"/>
            <a:ext cx="9751483" cy="4114800"/>
          </a:xfrm>
        </p:spPr>
        <p:txBody>
          <a:bodyPr/>
          <a:lstStyle/>
          <a:p>
            <a:r>
              <a:rPr lang="en-US" altLang="zh-CN" dirty="0"/>
              <a:t>LSB</a:t>
            </a:r>
            <a:r>
              <a:rPr lang="zh-CN" altLang="en-US" dirty="0"/>
              <a:t>改进算法</a:t>
            </a:r>
            <a:endParaRPr lang="en-US" altLang="zh-CN" dirty="0"/>
          </a:p>
          <a:p>
            <a:pPr lvl="1"/>
            <a:r>
              <a:rPr lang="zh-CN" altLang="en-US" dirty="0"/>
              <a:t>除最低比特平面外，图像其它低比特平面也可隐藏信息。替换多个图像比特平面隐藏信息的算法，称为</a:t>
            </a:r>
            <a:r>
              <a:rPr lang="en-US" altLang="zh-CN" dirty="0"/>
              <a:t>MLSB</a:t>
            </a:r>
            <a:r>
              <a:rPr lang="zh-CN" altLang="en-US" dirty="0"/>
              <a:t>（</a:t>
            </a:r>
            <a:r>
              <a:rPr lang="en-US" altLang="zh-CN" dirty="0"/>
              <a:t>Multiple Least Significant Bit</a:t>
            </a:r>
            <a:r>
              <a:rPr lang="zh-CN" altLang="en-US" dirty="0"/>
              <a:t>）算法。</a:t>
            </a:r>
            <a:endParaRPr lang="en-US" altLang="zh-CN" dirty="0"/>
          </a:p>
          <a:p>
            <a:pPr lvl="2"/>
            <a:r>
              <a:rPr lang="zh-CN" altLang="en-US" dirty="0"/>
              <a:t>把比特平面作为整体，用秘密信息替换各个比特平面，这种算法称为</a:t>
            </a:r>
            <a:r>
              <a:rPr lang="en-US" altLang="zh-CN" dirty="0"/>
              <a:t>IMLSB(Independent MLSB)</a:t>
            </a:r>
            <a:endParaRPr lang="en-US" altLang="zh-CN" dirty="0"/>
          </a:p>
          <a:p>
            <a:pPr lvl="2"/>
            <a:r>
              <a:rPr lang="zh-CN" altLang="en-US" dirty="0"/>
              <a:t>把各像素低</a:t>
            </a:r>
            <a:r>
              <a:rPr lang="en-US" altLang="zh-CN" i="1" dirty="0"/>
              <a:t>n</a:t>
            </a:r>
            <a:r>
              <a:rPr lang="zh-CN" altLang="en-US" dirty="0"/>
              <a:t>比特作为整体，依次用秘密信息替换，这种算法称为</a:t>
            </a:r>
            <a:r>
              <a:rPr lang="en-US" altLang="zh-CN" dirty="0"/>
              <a:t>TMLSB(Truss MLSB)</a:t>
            </a:r>
            <a:endParaRPr lang="en-US" altLang="zh-CN" dirty="0"/>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15204" y="1484313"/>
                <a:ext cx="9751483" cy="4114800"/>
              </a:xfrm>
            </p:spPr>
            <p:txBody>
              <a:bodyPr/>
              <a:lstStyle/>
              <a:p>
                <a:r>
                  <a:rPr lang="en-US" altLang="zh-CN" dirty="0"/>
                  <a:t>IMLSB</a:t>
                </a:r>
                <a:r>
                  <a:rPr lang="zh-CN" altLang="en-US" dirty="0"/>
                  <a:t>算法案例</a:t>
                </a:r>
                <a:endParaRPr lang="en-US" altLang="zh-CN" dirty="0"/>
              </a:p>
              <a:p>
                <a:pPr lvl="1"/>
                <a:r>
                  <a:rPr lang="zh-CN" altLang="en-US" dirty="0"/>
                  <a:t>已知某灰度图像，像素值用</a:t>
                </a:r>
                <a:r>
                  <a:rPr lang="en-US" altLang="zh-CN" dirty="0"/>
                  <a:t>4</a:t>
                </a:r>
                <a:r>
                  <a:rPr lang="zh-CN" altLang="en-US" dirty="0"/>
                  <a:t>比特表示，局部区域像素矩阵如下：</a:t>
                </a:r>
                <a:endParaRPr lang="en-US" altLang="zh-CN" dirty="0"/>
              </a:p>
              <a:p>
                <a:pPr lvl="1"/>
                <a14:m>
                  <m:oMath xmlns:m="http://schemas.openxmlformats.org/officeDocument/2006/math">
                    <m:r>
                      <a:rPr lang="en-US" altLang="zh-CN" b="0" i="1" smtClean="0">
                        <a:latin typeface="Cambria Math" panose="02040503050406030204" pitchFamily="18" charset="0"/>
                      </a:rPr>
                      <m:t>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11</m:t>
                                  </m:r>
                                </m:e>
                              </m:mr>
                              <m:mr>
                                <m:e>
                                  <m:r>
                                    <a:rPr lang="en-US" altLang="zh-CN" i="1">
                                      <a:latin typeface="Cambria Math" panose="02040503050406030204" pitchFamily="18" charset="0"/>
                                    </a:rPr>
                                    <m:t>12</m:t>
                                  </m:r>
                                </m:e>
                                <m:e>
                                  <m:r>
                                    <a:rPr lang="en-US" altLang="zh-CN" i="1">
                                      <a:latin typeface="Cambria Math" panose="02040503050406030204" pitchFamily="18" charset="0"/>
                                    </a:rPr>
                                    <m:t>13</m:t>
                                  </m:r>
                                </m:e>
                              </m:mr>
                            </m:m>
                          </m:e>
                        </m:d>
                      </m:e>
                      <m:sub>
                        <m:r>
                          <a:rPr lang="en-US" altLang="zh-CN" b="0" i="1" smtClean="0">
                            <a:latin typeface="Cambria Math" panose="02040503050406030204" pitchFamily="18" charset="0"/>
                          </a:rPr>
                          <m:t>𝐷</m:t>
                        </m:r>
                      </m:sub>
                    </m:sSub>
                  </m:oMath>
                </a14:m>
                <a:endParaRPr lang="en-US" altLang="zh-CN" b="0" dirty="0"/>
              </a:p>
              <a:p>
                <a:pPr lvl="1"/>
                <a:r>
                  <a:rPr lang="zh-CN" altLang="en-US" dirty="0"/>
                  <a:t>请问：</a:t>
                </a:r>
                <a:endParaRPr lang="en-US" altLang="zh-CN" dirty="0"/>
              </a:p>
              <a:p>
                <a:pPr lvl="2"/>
                <a:r>
                  <a:rPr lang="zh-CN" altLang="en-US" dirty="0"/>
                  <a:t>若要隐藏字符</a:t>
                </a:r>
                <a:r>
                  <a:rPr lang="en-US" altLang="zh-CN" dirty="0"/>
                  <a:t>‘0’</a:t>
                </a:r>
                <a:r>
                  <a:rPr lang="zh-CN" altLang="en-US" dirty="0"/>
                  <a:t>（</a:t>
                </a:r>
                <a:r>
                  <a:rPr lang="en-US" altLang="zh-CN" dirty="0"/>
                  <a:t> ASCII</a:t>
                </a:r>
                <a:r>
                  <a:rPr lang="zh-CN" altLang="en-US" dirty="0"/>
                  <a:t>码</a:t>
                </a:r>
                <a:r>
                  <a:rPr lang="en-US" altLang="zh-CN" dirty="0"/>
                  <a:t>0x30</a:t>
                </a:r>
                <a:r>
                  <a:rPr lang="zh-CN" altLang="en-US" dirty="0"/>
                  <a:t>），应该如何修改这些像素？（要求待隐藏的信息按列优先排列，先替换最低比特平面，再替换次低比特平面）</a:t>
                </a:r>
                <a:endParaRPr lang="en-US" altLang="zh-CN" dirty="0"/>
              </a:p>
              <a:p>
                <a:pPr lvl="2"/>
                <a:r>
                  <a:rPr lang="zh-CN" altLang="en-US" dirty="0"/>
                  <a:t>若约定像素位置扰乱方式为转置，要求先扰乱，再隐藏，则收发双方应该如何处理？</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15204" y="1484313"/>
                <a:ext cx="9751483" cy="4114800"/>
              </a:xfrm>
              <a:blipFill rotWithShape="1">
                <a:blip r:embed="rId1"/>
                <a:stretch>
                  <a:fillRect l="-4" t="-8" r="2" b="-7539"/>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11257" y="1196552"/>
                <a:ext cx="11338817" cy="6134993"/>
              </a:xfrm>
            </p:spPr>
            <p:txBody>
              <a:bodyPr/>
              <a:lstStyle/>
              <a:p>
                <a:r>
                  <a:rPr lang="en-US" altLang="zh-CN" dirty="0"/>
                  <a:t>IMLSB</a:t>
                </a:r>
                <a:r>
                  <a:rPr lang="zh-CN" altLang="en-US" dirty="0"/>
                  <a:t>算法案例</a:t>
                </a:r>
                <a:endParaRPr lang="en-US" altLang="zh-CN" dirty="0"/>
              </a:p>
              <a:p>
                <a:pPr lvl="1"/>
                <a:r>
                  <a:rPr lang="zh-CN" altLang="en-US" dirty="0"/>
                  <a:t>解：无扰乱方式处理步骤为：</a:t>
                </a:r>
                <a:endParaRPr lang="en-US" altLang="zh-CN" dirty="0"/>
              </a:p>
              <a:p>
                <a:pPr lvl="1"/>
                <a:r>
                  <a:rPr lang="zh-CN" altLang="en-US" dirty="0"/>
                  <a:t>第一：将字符转为比特串，并按像素矩阵尺寸排列：</a:t>
                </a:r>
                <a:endParaRPr lang="en-US" altLang="zh-CN" dirty="0"/>
              </a:p>
              <a:p>
                <a:pPr lvl="2"/>
                <a:r>
                  <a:rPr lang="en-US" altLang="zh-CN" dirty="0"/>
                  <a:t>’0’-&gt;X(30)-&gt;B(0011 0000)-〉</a:t>
                </a:r>
                <a:r>
                  <a:rPr lang="zh-CN" altLang="en-US" dirty="0"/>
                  <a:t>按列优先限排列</a:t>
                </a:r>
                <a:r>
                  <a:rPr lang="en-US" altLang="zh-CN" dirty="0"/>
                  <a:t>-〉</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0</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mr>
                        </m:m>
                      </m:e>
                    </m:d>
                  </m:oMath>
                </a14:m>
                <a:endParaRPr lang="en-US" altLang="zh-CN" dirty="0"/>
              </a:p>
              <a:p>
                <a:pPr lvl="1"/>
                <a:r>
                  <a:rPr lang="zh-CN" altLang="en-US" dirty="0"/>
                  <a:t>第二：按位权低高展开像素矩阵</a:t>
                </a:r>
                <a:r>
                  <a:rPr lang="en-US" altLang="zh-CN" dirty="0"/>
                  <a:t>	</a:t>
                </a:r>
                <a:endParaRPr lang="en-US" altLang="zh-CN" dirty="0"/>
              </a:p>
              <a:p>
                <a:pPr lvl="2"/>
                <a14:m>
                  <m:oMath xmlns:m="http://schemas.openxmlformats.org/officeDocument/2006/math">
                    <m:r>
                      <a:rPr lang="en-US" altLang="zh-CN" i="1">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11</m:t>
                                  </m:r>
                                </m:e>
                              </m:mr>
                              <m:mr>
                                <m:e>
                                  <m:r>
                                    <a:rPr lang="en-US" altLang="zh-CN" i="1">
                                      <a:latin typeface="Cambria Math" panose="02040503050406030204" pitchFamily="18" charset="0"/>
                                    </a:rPr>
                                    <m:t>12</m:t>
                                  </m:r>
                                </m:e>
                                <m:e>
                                  <m:r>
                                    <a:rPr lang="en-US" altLang="zh-CN" i="1">
                                      <a:latin typeface="Cambria Math" panose="02040503050406030204" pitchFamily="18" charset="0"/>
                                    </a:rPr>
                                    <m:t>13</m:t>
                                  </m:r>
                                </m:e>
                              </m:mr>
                            </m:m>
                          </m:e>
                        </m:d>
                      </m:e>
                      <m:sub>
                        <m:r>
                          <a:rPr lang="en-US" altLang="zh-CN" b="0" i="1" smtClean="0">
                            <a:latin typeface="Cambria Math" panose="02040503050406030204" pitchFamily="18" charset="0"/>
                          </a:rPr>
                          <m:t>𝐷</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smtClean="0">
                                  <a:latin typeface="Cambria Math" panose="02040503050406030204" pitchFamily="18" charset="0"/>
                                </a:rPr>
                                <m:t>1</m:t>
                              </m:r>
                              <m:r>
                                <a:rPr lang="en-US" altLang="zh-CN" i="1">
                                  <a:latin typeface="Cambria Math" panose="02040503050406030204" pitchFamily="18" charset="0"/>
                                </a:rPr>
                                <m:t>0</m:t>
                              </m:r>
                              <m:r>
                                <a:rPr lang="en-US" altLang="zh-CN" i="1" smtClean="0">
                                  <a:latin typeface="Cambria Math" panose="02040503050406030204" pitchFamily="18" charset="0"/>
                                </a:rPr>
                                <m:t>0</m:t>
                              </m:r>
                              <m:r>
                                <a:rPr lang="en-US" altLang="zh-CN" i="1">
                                  <a:latin typeface="Cambria Math" panose="02040503050406030204" pitchFamily="18" charset="0"/>
                                </a:rPr>
                                <m:t>1</m:t>
                              </m:r>
                            </m:e>
                            <m:e>
                              <m:r>
                                <a:rPr lang="en-US" altLang="zh-CN" i="1" smtClean="0">
                                  <a:latin typeface="Cambria Math" panose="02040503050406030204" pitchFamily="18" charset="0"/>
                                </a:rPr>
                                <m:t>1</m:t>
                              </m:r>
                              <m:r>
                                <a:rPr lang="en-US" altLang="zh-CN" i="1">
                                  <a:latin typeface="Cambria Math" panose="02040503050406030204" pitchFamily="18" charset="0"/>
                                </a:rPr>
                                <m:t>0</m:t>
                              </m:r>
                              <m:r>
                                <a:rPr lang="en-US" altLang="zh-CN" i="1" smtClean="0">
                                  <a:latin typeface="Cambria Math" panose="02040503050406030204" pitchFamily="18" charset="0"/>
                                </a:rPr>
                                <m:t>1</m:t>
                              </m:r>
                              <m:r>
                                <a:rPr lang="en-US" altLang="zh-CN" i="1">
                                  <a:latin typeface="Cambria Math" panose="02040503050406030204" pitchFamily="18" charset="0"/>
                                </a:rPr>
                                <m:t>1</m:t>
                              </m:r>
                            </m:e>
                          </m:mr>
                          <m:mr>
                            <m:e>
                              <m:r>
                                <a:rPr lang="en-US" altLang="zh-CN" i="1" smtClean="0">
                                  <a:latin typeface="Cambria Math" panose="02040503050406030204" pitchFamily="18" charset="0"/>
                                </a:rPr>
                                <m:t>1</m:t>
                              </m:r>
                              <m:r>
                                <a:rPr lang="en-US" altLang="zh-CN" i="1">
                                  <a:latin typeface="Cambria Math" panose="02040503050406030204" pitchFamily="18" charset="0"/>
                                </a:rPr>
                                <m:t>1</m:t>
                              </m:r>
                              <m:r>
                                <a:rPr lang="en-US" altLang="zh-CN" i="1" smtClean="0">
                                  <a:latin typeface="Cambria Math" panose="02040503050406030204" pitchFamily="18" charset="0"/>
                                </a:rPr>
                                <m:t>0</m:t>
                              </m:r>
                              <m:r>
                                <a:rPr lang="en-US" altLang="zh-CN" i="1">
                                  <a:latin typeface="Cambria Math" panose="02040503050406030204" pitchFamily="18" charset="0"/>
                                </a:rPr>
                                <m:t>0</m:t>
                              </m:r>
                            </m:e>
                            <m:e>
                              <m:r>
                                <a:rPr lang="en-US" altLang="zh-CN" i="1">
                                  <a:latin typeface="Cambria Math" panose="02040503050406030204" pitchFamily="18" charset="0"/>
                                </a:rPr>
                                <m:t>1</m:t>
                              </m:r>
                              <m:r>
                                <a:rPr lang="en-US" altLang="zh-CN" i="1" smtClean="0">
                                  <a:latin typeface="Cambria Math" panose="02040503050406030204" pitchFamily="18" charset="0"/>
                                </a:rPr>
                                <m:t>1</m:t>
                              </m:r>
                              <m:r>
                                <a:rPr lang="en-US" altLang="zh-CN" i="1">
                                  <a:latin typeface="Cambria Math" panose="02040503050406030204" pitchFamily="18" charset="0"/>
                                </a:rPr>
                                <m:t>0</m:t>
                              </m:r>
                              <m:r>
                                <a:rPr lang="en-US" altLang="zh-CN" i="1" smtClean="0">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m:t>
                              </m:r>
                            </m:e>
                            <m:e>
                              <m:r>
                                <a:rPr lang="en-US" altLang="zh-CN" i="1">
                                  <a:latin typeface="Cambria Math" panose="02040503050406030204" pitchFamily="18" charset="0"/>
                                </a:rPr>
                                <m:t>1</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oMath>
                </a14:m>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911257" y="1196552"/>
                <a:ext cx="11338817" cy="6134993"/>
              </a:xfrm>
              <a:blipFill rotWithShape="1">
                <a:blip r:embed="rId1"/>
                <a:stretch>
                  <a:fillRect t="-3" r="3"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1000"/>
                                        <p:tgtEl>
                                          <p:spTgt spid="3">
                                            <p:txEl>
                                              <p:pRg st="6" end="6"/>
                                            </p:txEl>
                                          </p:spTgt>
                                        </p:tgtEl>
                                      </p:cBhvr>
                                    </p:animEffect>
                                    <p:anim calcmode="lin" valueType="num">
                                      <p:cBhvr>
                                        <p:cTn id="4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15204" y="1412558"/>
                <a:ext cx="9751483" cy="4114800"/>
              </a:xfrm>
            </p:spPr>
            <p:txBody>
              <a:bodyPr/>
              <a:lstStyle/>
              <a:p>
                <a:r>
                  <a:rPr lang="en-US" altLang="zh-CN" dirty="0"/>
                  <a:t>IMLSB</a:t>
                </a:r>
                <a:r>
                  <a:rPr lang="zh-CN" altLang="en-US" dirty="0"/>
                  <a:t>算法案例</a:t>
                </a:r>
                <a:endParaRPr lang="en-US" altLang="zh-CN" dirty="0"/>
              </a:p>
              <a:p>
                <a:pPr lvl="1"/>
                <a:r>
                  <a:rPr lang="zh-CN" altLang="en-US" dirty="0"/>
                  <a:t>解：无扰乱方式处理步骤为：</a:t>
                </a:r>
                <a:endParaRPr lang="en-US" altLang="zh-CN" dirty="0"/>
              </a:p>
              <a:p>
                <a:pPr lvl="1"/>
                <a:r>
                  <a:rPr lang="zh-CN" altLang="en-US" dirty="0"/>
                  <a:t>第三：用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0</m:t>
                        </m:r>
                      </m:sub>
                    </m:sSub>
                  </m:oMath>
                </a14:m>
                <a:r>
                  <a:rPr lang="zh-CN" altLang="en-US" dirty="0"/>
                  <a:t>替换</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0</m:t>
                        </m:r>
                      </m:sub>
                    </m:sSub>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oMath>
                </a14:m>
                <a:r>
                  <a:rPr lang="zh-CN" altLang="en-US" dirty="0"/>
                  <a:t>替换</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zh-CN" altLang="en-US" dirty="0"/>
                  <a:t>，得到：</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m:t>
                              </m:r>
                            </m:e>
                            <m:e>
                              <m:r>
                                <a:rPr lang="en-US" altLang="zh-CN" i="1">
                                  <a:latin typeface="Cambria Math" panose="02040503050406030204" pitchFamily="18" charset="0"/>
                                </a:rPr>
                                <m:t>1</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oMath>
                </a14:m>
                <a:endParaRPr lang="en-US" altLang="zh-CN" dirty="0"/>
              </a:p>
              <a:p>
                <a:pPr lvl="2"/>
                <a:r>
                  <a:rPr lang="zh-CN" altLang="en-US" dirty="0"/>
                  <a:t>即隐藏前，像素为：</a:t>
                </a:r>
                <a14:m>
                  <m:oMath xmlns:m="http://schemas.openxmlformats.org/officeDocument/2006/math">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11</m:t>
                                  </m:r>
                                </m:e>
                              </m:mr>
                              <m:mr>
                                <m:e>
                                  <m:r>
                                    <a:rPr lang="en-US" altLang="zh-CN" i="1">
                                      <a:latin typeface="Cambria Math" panose="02040503050406030204" pitchFamily="18" charset="0"/>
                                    </a:rPr>
                                    <m:t>12</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oMath>
                </a14:m>
                <a:r>
                  <a:rPr lang="zh-CN" altLang="en-US" dirty="0"/>
                  <a:t>，隐藏后：</a:t>
                </a:r>
                <a14:m>
                  <m:oMath xmlns:m="http://schemas.openxmlformats.org/officeDocument/2006/math">
                    <m:r>
                      <m:rPr>
                        <m:sty m:val="p"/>
                      </m:rPr>
                      <a:rPr lang="en-US" altLang="zh-CN" b="0" i="0" smtClean="0">
                        <a:latin typeface="Cambria Math" panose="02040503050406030204" pitchFamily="18" charset="0"/>
                      </a:rPr>
                      <m:t>x</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i="1">
                                  <a:latin typeface="Cambria Math" panose="02040503050406030204" pitchFamily="18" charset="0"/>
                                </a:rPr>
                                <m:t>0</m:t>
                              </m:r>
                              <m:r>
                                <a:rPr lang="en-US" altLang="zh-CN" b="0" i="1" smtClean="0">
                                  <a:latin typeface="Cambria Math" panose="02040503050406030204" pitchFamily="18" charset="0"/>
                                </a:rPr>
                                <m:t>00</m:t>
                              </m:r>
                            </m:e>
                            <m:e>
                              <m:r>
                                <a:rPr lang="en-US" altLang="zh-CN" i="1">
                                  <a:latin typeface="Cambria Math" panose="02040503050406030204" pitchFamily="18" charset="0"/>
                                </a:rPr>
                                <m:t>1</m:t>
                              </m:r>
                              <m:r>
                                <a:rPr lang="en-US" altLang="zh-CN" b="0" i="1" smtClean="0">
                                  <a:latin typeface="Cambria Math" panose="02040503050406030204" pitchFamily="18" charset="0"/>
                                </a:rPr>
                                <m:t>001</m:t>
                              </m:r>
                            </m:e>
                          </m:mr>
                          <m:mr>
                            <m:e>
                              <m:r>
                                <a:rPr lang="en-US" altLang="zh-CN" b="0" i="1" smtClean="0">
                                  <a:latin typeface="Cambria Math" panose="02040503050406030204" pitchFamily="18" charset="0"/>
                                </a:rPr>
                                <m:t>11</m:t>
                              </m:r>
                              <m:r>
                                <a:rPr lang="en-US" altLang="zh-CN" i="1">
                                  <a:latin typeface="Cambria Math" panose="02040503050406030204" pitchFamily="18" charset="0"/>
                                </a:rPr>
                                <m:t>0</m:t>
                              </m:r>
                              <m:r>
                                <a:rPr lang="en-US" altLang="zh-CN" b="0" i="1" smtClean="0">
                                  <a:latin typeface="Cambria Math" panose="02040503050406030204" pitchFamily="18" charset="0"/>
                                </a:rPr>
                                <m:t>0</m:t>
                              </m:r>
                            </m:e>
                            <m:e>
                              <m:r>
                                <a:rPr lang="en-US" altLang="zh-CN" i="1">
                                  <a:latin typeface="Cambria Math" panose="02040503050406030204" pitchFamily="18" charset="0"/>
                                </a:rPr>
                                <m:t>1</m:t>
                              </m:r>
                              <m:r>
                                <a:rPr lang="en-US" altLang="zh-CN" b="0" i="1" smtClean="0">
                                  <a:latin typeface="Cambria Math" panose="02040503050406030204" pitchFamily="18" charset="0"/>
                                </a:rPr>
                                <m:t>101</m:t>
                              </m:r>
                            </m:e>
                          </m:mr>
                        </m:m>
                      </m:e>
                    </m:d>
                  </m:oMath>
                </a14:m>
                <a:r>
                  <a:rPr lang="en-US" altLang="zh-CN" b="0" dirty="0"/>
                  <a:t>=</a:t>
                </a:r>
                <a14:m>
                  <m:oMath xmlns:m="http://schemas.openxmlformats.org/officeDocument/2006/math">
                    <m:sSub>
                      <m:sSubPr>
                        <m:ctrlPr>
                          <a:rPr lang="en-US" altLang="zh-CN" i="1" smtClean="0">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8</m:t>
                                  </m:r>
                                </m:e>
                                <m:e>
                                  <m:r>
                                    <a:rPr lang="en-US" altLang="zh-CN" b="0" i="1" smtClean="0">
                                      <a:latin typeface="Cambria Math" panose="02040503050406030204" pitchFamily="18" charset="0"/>
                                    </a:rPr>
                                    <m:t>9</m:t>
                                  </m:r>
                                </m:e>
                              </m:mr>
                              <m:mr>
                                <m:e>
                                  <m:r>
                                    <a:rPr lang="en-US" altLang="zh-CN" b="0" i="1" smtClean="0">
                                      <a:latin typeface="Cambria Math" panose="02040503050406030204" pitchFamily="18" charset="0"/>
                                    </a:rPr>
                                    <m:t>12</m:t>
                                  </m:r>
                                </m:e>
                                <m:e>
                                  <m:r>
                                    <a:rPr lang="en-US" altLang="zh-CN" b="0" i="1" smtClean="0">
                                      <a:latin typeface="Cambria Math" panose="02040503050406030204" pitchFamily="18" charset="0"/>
                                    </a:rPr>
                                    <m:t>13</m:t>
                                  </m:r>
                                </m:e>
                              </m:mr>
                            </m:m>
                          </m:e>
                        </m:d>
                      </m:e>
                      <m:sub>
                        <m:r>
                          <a:rPr lang="en-US" altLang="zh-CN" b="0" i="1" smtClean="0">
                            <a:latin typeface="Cambria Math" panose="02040503050406030204" pitchFamily="18" charset="0"/>
                          </a:rPr>
                          <m:t>𝐷</m:t>
                        </m:r>
                      </m:sub>
                    </m:sSub>
                  </m:oMath>
                </a14:m>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15204" y="1412558"/>
                <a:ext cx="9751483" cy="4114800"/>
              </a:xfrm>
              <a:blipFill rotWithShape="1">
                <a:blip r:embed="rId1"/>
                <a:stretch>
                  <a:fillRect l="-4" t="-8" r="2"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86959" y="1484313"/>
                <a:ext cx="9751483" cy="4114800"/>
              </a:xfrm>
            </p:spPr>
            <p:txBody>
              <a:bodyPr/>
              <a:lstStyle/>
              <a:p>
                <a:r>
                  <a:rPr lang="en-US" altLang="zh-CN" dirty="0"/>
                  <a:t>IMLSB</a:t>
                </a:r>
                <a:r>
                  <a:rPr lang="zh-CN" altLang="en-US" dirty="0"/>
                  <a:t>算法案例</a:t>
                </a:r>
                <a:endParaRPr lang="en-US" altLang="zh-CN" dirty="0"/>
              </a:p>
              <a:p>
                <a:pPr lvl="1"/>
                <a:r>
                  <a:rPr lang="zh-CN" altLang="en-US" dirty="0"/>
                  <a:t>解：无扰乱方式处理步骤为：</a:t>
                </a:r>
                <a:endParaRPr lang="en-US" altLang="zh-CN" dirty="0"/>
              </a:p>
              <a:p>
                <a:pPr lvl="1"/>
                <a:r>
                  <a:rPr lang="zh-CN" altLang="en-US" dirty="0"/>
                  <a:t>第四：接收方拿到含秘密信息的图像块后：</a:t>
                </a:r>
                <a:endParaRPr lang="en-US" altLang="zh-CN" dirty="0"/>
              </a:p>
              <a:p>
                <a:pPr lvl="2"/>
                <a14:m>
                  <m:oMath xmlns:m="http://schemas.openxmlformats.org/officeDocument/2006/math">
                    <m:r>
                      <m:rPr>
                        <m:sty m:val="p"/>
                      </m:rPr>
                      <a:rPr lang="en-US" altLang="zh-CN">
                        <a:latin typeface="Cambria Math" panose="02040503050406030204" pitchFamily="18" charset="0"/>
                      </a:rPr>
                      <m:t>x</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m:rPr>
                        <m:nor/>
                      </m:rPr>
                      <a:rPr lang="en-US" altLang="zh-CN" dirty="0">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8</m:t>
                                  </m:r>
                                </m:e>
                                <m:e>
                                  <m:r>
                                    <a:rPr lang="en-US" altLang="zh-CN" i="1">
                                      <a:latin typeface="Cambria Math" panose="02040503050406030204" pitchFamily="18" charset="0"/>
                                    </a:rPr>
                                    <m:t>9</m:t>
                                  </m:r>
                                </m:e>
                              </m:mr>
                              <m:mr>
                                <m:e>
                                  <m:r>
                                    <a:rPr lang="en-US" altLang="zh-CN" i="1">
                                      <a:latin typeface="Cambria Math" panose="02040503050406030204" pitchFamily="18" charset="0"/>
                                    </a:rPr>
                                    <m:t>12</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r>
                                <a:rPr lang="en-US" altLang="zh-CN" i="1">
                                  <a:latin typeface="Cambria Math" panose="02040503050406030204" pitchFamily="18" charset="0"/>
                                </a:rPr>
                                <m:t>000</m:t>
                              </m:r>
                            </m:e>
                            <m:e>
                              <m:r>
                                <a:rPr lang="en-US" altLang="zh-CN" i="1">
                                  <a:latin typeface="Cambria Math" panose="02040503050406030204" pitchFamily="18" charset="0"/>
                                </a:rPr>
                                <m:t>1001</m:t>
                              </m:r>
                            </m:e>
                          </m:mr>
                          <m:mr>
                            <m:e>
                              <m:r>
                                <a:rPr lang="en-US" altLang="zh-CN" i="1">
                                  <a:latin typeface="Cambria Math" panose="02040503050406030204" pitchFamily="18" charset="0"/>
                                </a:rPr>
                                <m:t>1100</m:t>
                              </m:r>
                            </m:e>
                            <m:e>
                              <m:r>
                                <a:rPr lang="en-US" altLang="zh-CN" i="1">
                                  <a:latin typeface="Cambria Math" panose="02040503050406030204" pitchFamily="18" charset="0"/>
                                </a:rPr>
                                <m:t>1101</m:t>
                              </m:r>
                            </m:e>
                          </m:mr>
                        </m:m>
                      </m:e>
                    </m:d>
                  </m:oMath>
                </a14:m>
                <a:endParaRPr lang="en-US" altLang="zh-CN" dirty="0"/>
              </a:p>
              <a:p>
                <a:pPr lvl="1"/>
                <a:r>
                  <a:rPr lang="zh-CN" altLang="en-US" dirty="0"/>
                  <a:t>提取最低和次低比特平面：</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b</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mr>
                        </m:m>
                      </m:e>
                    </m:d>
                  </m:oMath>
                </a14:m>
                <a:endParaRPr lang="en-US" altLang="zh-CN" b="0" dirty="0"/>
              </a:p>
              <a:p>
                <a:pPr lvl="1"/>
                <a:r>
                  <a:rPr lang="zh-CN" altLang="en-US" dirty="0"/>
                  <a:t>按列优先排列，得到：</a:t>
                </a:r>
                <a:endParaRPr lang="en-US" altLang="zh-CN" dirty="0"/>
              </a:p>
              <a:p>
                <a:pPr lvl="2"/>
                <a:r>
                  <a:rPr lang="en-US" altLang="zh-CN" b="0" dirty="0"/>
                  <a:t>B(00110000)-&gt;X(30)-&gt;’0’</a:t>
                </a:r>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86959" y="1484313"/>
                <a:ext cx="9751483" cy="4114800"/>
              </a:xfrm>
              <a:blipFill rotWithShape="1">
                <a:blip r:embed="rId1"/>
                <a:stretch>
                  <a:fillRect l="-4" t="-8" r="2" b="-316"/>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1000"/>
                                        <p:tgtEl>
                                          <p:spTgt spid="3">
                                            <p:txEl>
                                              <p:pRg st="6" end="6"/>
                                            </p:txEl>
                                          </p:spTgt>
                                        </p:tgtEl>
                                      </p:cBhvr>
                                    </p:animEffect>
                                    <p:anim calcmode="lin" valueType="num">
                                      <p:cBhvr>
                                        <p:cTn id="4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86959" y="1772603"/>
                <a:ext cx="9751483" cy="4114800"/>
              </a:xfrm>
            </p:spPr>
            <p:txBody>
              <a:bodyPr/>
              <a:lstStyle/>
              <a:p>
                <a:r>
                  <a:rPr lang="en-US" altLang="zh-CN" dirty="0"/>
                  <a:t>IMLSB</a:t>
                </a:r>
                <a:r>
                  <a:rPr lang="zh-CN" altLang="en-US" dirty="0"/>
                  <a:t>算法案例</a:t>
                </a:r>
                <a:endParaRPr lang="en-US" altLang="zh-CN" dirty="0"/>
              </a:p>
              <a:p>
                <a:pPr lvl="1"/>
                <a:r>
                  <a:rPr lang="zh-CN" altLang="en-US" dirty="0"/>
                  <a:t>解：扰乱方式为转置时，处理步骤为：</a:t>
                </a:r>
                <a:endParaRPr lang="en-US" altLang="zh-CN" dirty="0"/>
              </a:p>
              <a:p>
                <a:pPr lvl="1"/>
                <a:r>
                  <a:rPr lang="zh-CN" altLang="en-US" dirty="0"/>
                  <a:t>第一：仍然将字符转为比特串，并按像素矩阵尺寸排列：</a:t>
                </a:r>
                <a:endParaRPr lang="en-US" altLang="zh-CN" dirty="0"/>
              </a:p>
              <a:p>
                <a:pPr lvl="2"/>
                <a:r>
                  <a:rPr lang="en-US" altLang="zh-CN" dirty="0"/>
                  <a:t>’0’-&gt;X(30)-&gt;B(0011 0000)-〉 </a:t>
                </a:r>
                <a:r>
                  <a:rPr lang="zh-CN" altLang="en-US" dirty="0"/>
                  <a:t>按列优先限排列</a:t>
                </a:r>
                <a:r>
                  <a:rPr lang="en-US" altLang="zh-CN" dirty="0"/>
                  <a:t>-〉</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0</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mr>
                        </m:m>
                      </m:e>
                    </m:d>
                  </m:oMath>
                </a14:m>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86959" y="1772603"/>
                <a:ext cx="9751483" cy="4114800"/>
              </a:xfrm>
              <a:blipFill rotWithShape="1">
                <a:blip r:embed="rId1"/>
                <a:stretch>
                  <a:fillRect l="-4" t="-8" r="2"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09600" y="1293284"/>
                <a:ext cx="11439061" cy="5486400"/>
              </a:xfrm>
            </p:spPr>
            <p:txBody>
              <a:bodyPr/>
              <a:lstStyle/>
              <a:p>
                <a:r>
                  <a:rPr lang="en-US" altLang="zh-CN" dirty="0"/>
                  <a:t>IMLSB</a:t>
                </a:r>
                <a:r>
                  <a:rPr lang="zh-CN" altLang="en-US" dirty="0"/>
                  <a:t>算法案例</a:t>
                </a:r>
                <a:endParaRPr lang="en-US" altLang="zh-CN" dirty="0"/>
              </a:p>
              <a:p>
                <a:pPr lvl="1"/>
                <a:r>
                  <a:rPr lang="zh-CN" altLang="en-US" dirty="0"/>
                  <a:t>解：扰乱方式为转置时，处理步骤为：</a:t>
                </a:r>
                <a:endParaRPr lang="en-US" altLang="zh-CN" dirty="0"/>
              </a:p>
              <a:p>
                <a:pPr lvl="1"/>
                <a:r>
                  <a:rPr lang="zh-CN" altLang="en-US" dirty="0"/>
                  <a:t>第二：嵌入前，先扰乱像素得到：</a:t>
                </a:r>
                <a:endParaRPr lang="en-US" altLang="zh-CN" dirty="0"/>
              </a:p>
              <a:p>
                <a:pPr lvl="2"/>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𝑥</m:t>
                        </m:r>
                      </m:e>
                      <m:sup>
                        <m:r>
                          <a:rPr lang="en-US" altLang="zh-CN" b="0" i="1" smtClean="0">
                            <a:latin typeface="Cambria Math" panose="02040503050406030204" pitchFamily="18" charset="0"/>
                          </a:rPr>
                          <m:t>𝑇</m:t>
                        </m:r>
                      </m:sup>
                    </m:s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9</m:t>
                                  </m:r>
                                </m:e>
                                <m:e>
                                  <m:r>
                                    <a:rPr lang="en-US" altLang="zh-CN" i="1">
                                      <a:latin typeface="Cambria Math" panose="02040503050406030204" pitchFamily="18" charset="0"/>
                                    </a:rPr>
                                    <m:t>11</m:t>
                                  </m:r>
                                </m:e>
                              </m:mr>
                              <m:mr>
                                <m:e>
                                  <m:r>
                                    <a:rPr lang="en-US" altLang="zh-CN" i="1">
                                      <a:latin typeface="Cambria Math" panose="02040503050406030204" pitchFamily="18" charset="0"/>
                                    </a:rPr>
                                    <m:t>12</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up>
                        <m:r>
                          <a:rPr lang="en-US" altLang="zh-CN" i="1">
                            <a:latin typeface="Cambria Math" panose="02040503050406030204" pitchFamily="18" charset="0"/>
                          </a:rPr>
                          <m:t>𝑇</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9</m:t>
                                  </m:r>
                                </m:e>
                                <m:e>
                                  <m:r>
                                    <a:rPr lang="en-US" altLang="zh-CN" i="1">
                                      <a:latin typeface="Cambria Math" panose="02040503050406030204" pitchFamily="18" charset="0"/>
                                    </a:rPr>
                                    <m:t>1</m:t>
                                  </m:r>
                                  <m:r>
                                    <a:rPr lang="en-US" altLang="zh-CN" b="0" i="1" smtClean="0">
                                      <a:latin typeface="Cambria Math" panose="02040503050406030204" pitchFamily="18" charset="0"/>
                                    </a:rPr>
                                    <m:t>2</m:t>
                                  </m:r>
                                </m:e>
                              </m:mr>
                              <m:mr>
                                <m:e>
                                  <m:r>
                                    <a:rPr lang="en-US" altLang="zh-CN" b="0" i="1" smtClean="0">
                                      <a:latin typeface="Cambria Math" panose="02040503050406030204" pitchFamily="18" charset="0"/>
                                    </a:rPr>
                                    <m:t>11</m:t>
                                  </m:r>
                                </m:e>
                                <m:e>
                                  <m:r>
                                    <a:rPr lang="en-US" altLang="zh-CN" i="1">
                                      <a:latin typeface="Cambria Math" panose="02040503050406030204" pitchFamily="18" charset="0"/>
                                    </a:rPr>
                                    <m:t>1</m:t>
                                  </m:r>
                                  <m:r>
                                    <a:rPr lang="en-US" altLang="zh-CN" b="0" i="1" smtClean="0">
                                      <a:latin typeface="Cambria Math" panose="02040503050406030204" pitchFamily="18" charset="0"/>
                                    </a:rPr>
                                    <m:t>3</m:t>
                                  </m:r>
                                </m:e>
                              </m:mr>
                            </m:m>
                          </m:e>
                        </m:d>
                      </m:e>
                      <m:sub>
                        <m:r>
                          <a:rPr lang="en-US" altLang="zh-CN" b="0" i="1" smtClean="0">
                            <a:latin typeface="Cambria Math" panose="02040503050406030204" pitchFamily="18" charset="0"/>
                          </a:rPr>
                          <m:t>𝐷</m:t>
                        </m:r>
                      </m:sub>
                    </m:sSub>
                  </m:oMath>
                </a14:m>
                <a:endParaRPr lang="en-US" altLang="zh-CN" dirty="0"/>
              </a:p>
              <a:p>
                <a:pPr lvl="1"/>
                <a:r>
                  <a:rPr lang="zh-CN" altLang="en-US" dirty="0"/>
                  <a:t>再按位权低高展开像素矩阵</a:t>
                </a:r>
                <a:r>
                  <a:rPr lang="en-US" altLang="zh-CN" dirty="0"/>
                  <a:t>	(9,11,12,13)</a:t>
                </a:r>
                <a:endParaRPr lang="en-US" altLang="zh-CN" dirty="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𝑇</m:t>
                        </m:r>
                      </m:sup>
                    </m:s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9</m:t>
                                  </m:r>
                                </m:e>
                                <m:e>
                                  <m:r>
                                    <a:rPr lang="en-US" altLang="zh-CN" i="1">
                                      <a:latin typeface="Cambria Math" panose="02040503050406030204" pitchFamily="18" charset="0"/>
                                    </a:rPr>
                                    <m:t>12</m:t>
                                  </m:r>
                                </m:e>
                              </m:mr>
                              <m:mr>
                                <m:e>
                                  <m:r>
                                    <a:rPr lang="en-US" altLang="zh-CN" i="1">
                                      <a:latin typeface="Cambria Math" panose="02040503050406030204" pitchFamily="18" charset="0"/>
                                    </a:rPr>
                                    <m:t>11</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1001</m:t>
                              </m:r>
                            </m:e>
                            <m:e>
                              <m:r>
                                <a:rPr lang="en-US" altLang="zh-CN" i="1">
                                  <a:latin typeface="Cambria Math" panose="02040503050406030204" pitchFamily="18" charset="0"/>
                                </a:rPr>
                                <m:t>1</m:t>
                              </m:r>
                              <m:r>
                                <a:rPr lang="en-US" altLang="zh-CN" b="0" i="1" smtClean="0">
                                  <a:latin typeface="Cambria Math" panose="02040503050406030204" pitchFamily="18" charset="0"/>
                                </a:rPr>
                                <m:t>100</m:t>
                              </m:r>
                            </m:e>
                          </m:mr>
                          <m:mr>
                            <m:e>
                              <m:r>
                                <a:rPr lang="en-US" altLang="zh-CN" i="1">
                                  <a:latin typeface="Cambria Math" panose="02040503050406030204" pitchFamily="18" charset="0"/>
                                </a:rPr>
                                <m:t>1</m:t>
                              </m:r>
                              <m:r>
                                <a:rPr lang="en-US" altLang="zh-CN" b="0" i="1" smtClean="0">
                                  <a:latin typeface="Cambria Math" panose="02040503050406030204" pitchFamily="18" charset="0"/>
                                </a:rPr>
                                <m:t>011</m:t>
                              </m:r>
                            </m:e>
                            <m:e>
                              <m:r>
                                <a:rPr lang="en-US" altLang="zh-CN" i="1">
                                  <a:latin typeface="Cambria Math" panose="02040503050406030204" pitchFamily="18" charset="0"/>
                                </a:rPr>
                                <m:t>1</m:t>
                              </m:r>
                              <m:r>
                                <a:rPr lang="en-US" altLang="zh-CN" b="0" i="1" smtClean="0">
                                  <a:latin typeface="Cambria Math" panose="02040503050406030204" pitchFamily="18" charset="0"/>
                                </a:rPr>
                                <m:t>101</m:t>
                              </m:r>
                            </m:e>
                          </m:mr>
                        </m:m>
                      </m:e>
                    </m:d>
                    <m:r>
                      <a:rPr lang="en-US" altLang="zh-CN" b="0" i="1" smtClean="0">
                        <a:latin typeface="Cambria Math" panose="02040503050406030204" pitchFamily="18" charset="0"/>
                      </a:rPr>
                      <m:t>−&gt;</m:t>
                    </m:r>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m:t>
                              </m:r>
                            </m:e>
                            <m:e>
                              <m:r>
                                <a:rPr lang="en-US" altLang="zh-CN" i="1">
                                  <a:latin typeface="Cambria Math" panose="02040503050406030204" pitchFamily="18" charset="0"/>
                                </a:rPr>
                                <m:t>1</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mr>
                        </m:m>
                      </m:e>
                    </m:d>
                  </m:oMath>
                </a14:m>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09600" y="1293284"/>
                <a:ext cx="11439061" cy="5486400"/>
              </a:xfrm>
              <a:blipFill rotWithShape="1">
                <a:blip r:embed="rId1"/>
                <a:stretch>
                  <a:fillRect t="-8" r="1"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342814" y="1628458"/>
                <a:ext cx="9751483" cy="4114800"/>
              </a:xfrm>
            </p:spPr>
            <p:txBody>
              <a:bodyPr/>
              <a:lstStyle/>
              <a:p>
                <a:r>
                  <a:rPr lang="en-US" altLang="zh-CN" dirty="0"/>
                  <a:t>IMLSB</a:t>
                </a:r>
                <a:r>
                  <a:rPr lang="zh-CN" altLang="en-US" dirty="0"/>
                  <a:t>算法案例</a:t>
                </a:r>
                <a:endParaRPr lang="en-US" altLang="zh-CN" dirty="0"/>
              </a:p>
              <a:p>
                <a:pPr lvl="1"/>
                <a:r>
                  <a:rPr lang="zh-CN" altLang="en-US" dirty="0"/>
                  <a:t>解：扰乱方式为转置时，处理步骤为：</a:t>
                </a:r>
                <a:endParaRPr lang="en-US" altLang="zh-CN" dirty="0"/>
              </a:p>
              <a:p>
                <a:pPr lvl="1"/>
                <a:r>
                  <a:rPr lang="zh-CN" altLang="en-US" dirty="0"/>
                  <a:t>第三：用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0</m:t>
                        </m:r>
                      </m:sub>
                    </m:sSub>
                  </m:oMath>
                </a14:m>
                <a:r>
                  <a:rPr lang="zh-CN" altLang="en-US" dirty="0"/>
                  <a:t>替换</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0</m:t>
                        </m:r>
                      </m:sub>
                    </m:sSub>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oMath>
                </a14:m>
                <a:r>
                  <a:rPr lang="zh-CN" altLang="en-US" dirty="0"/>
                  <a:t>替换</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oMath>
                </a14:m>
                <a:r>
                  <a:rPr lang="zh-CN" altLang="en-US" dirty="0"/>
                  <a:t>，得到：</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3</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m:t>
                              </m:r>
                            </m:e>
                            <m:e>
                              <m:r>
                                <a:rPr lang="en-US" altLang="zh-CN" i="1">
                                  <a:latin typeface="Cambria Math" panose="02040503050406030204" pitchFamily="18" charset="0"/>
                                </a:rPr>
                                <m:t>1</m:t>
                              </m:r>
                            </m:e>
                          </m:mr>
                          <m:mr>
                            <m:e>
                              <m:r>
                                <a:rPr lang="en-US" altLang="zh-CN" i="1">
                                  <a:latin typeface="Cambria Math" panose="02040503050406030204" pitchFamily="18" charset="0"/>
                                </a:rPr>
                                <m:t>1</m:t>
                              </m:r>
                            </m:e>
                            <m:e>
                              <m:r>
                                <a:rPr lang="en-US" altLang="zh-CN" i="1">
                                  <a:latin typeface="Cambria Math" panose="02040503050406030204" pitchFamily="18" charset="0"/>
                                </a:rPr>
                                <m:t>1</m:t>
                              </m:r>
                            </m:e>
                          </m:mr>
                        </m:m>
                      </m:e>
                    </m:d>
                  </m:oMath>
                </a14:m>
                <a:endParaRPr lang="en-US" altLang="zh-CN" dirty="0"/>
              </a:p>
              <a:p>
                <a:pPr lvl="2"/>
                <a:r>
                  <a:rPr lang="zh-CN" altLang="en-US" dirty="0"/>
                  <a:t>即隐藏后：</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𝑇</m:t>
                        </m:r>
                      </m:sup>
                    </m:s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m:t>
                              </m:r>
                              <m:r>
                                <a:rPr lang="en-US" altLang="zh-CN" b="0" i="1" smtClean="0">
                                  <a:latin typeface="Cambria Math" panose="02040503050406030204" pitchFamily="18" charset="0"/>
                                </a:rPr>
                                <m:t>000</m:t>
                              </m:r>
                            </m:e>
                            <m:e>
                              <m:r>
                                <a:rPr lang="en-US" altLang="zh-CN" i="1">
                                  <a:latin typeface="Cambria Math" panose="02040503050406030204" pitchFamily="18" charset="0"/>
                                </a:rPr>
                                <m:t>1</m:t>
                              </m:r>
                              <m:r>
                                <a:rPr lang="en-US" altLang="zh-CN" b="0" i="1" smtClean="0">
                                  <a:latin typeface="Cambria Math" panose="02040503050406030204" pitchFamily="18" charset="0"/>
                                </a:rPr>
                                <m:t>101</m:t>
                              </m:r>
                            </m:e>
                          </m:mr>
                          <m:mr>
                            <m:e>
                              <m:r>
                                <a:rPr lang="en-US" altLang="zh-CN" i="1">
                                  <a:latin typeface="Cambria Math" panose="02040503050406030204" pitchFamily="18" charset="0"/>
                                </a:rPr>
                                <m:t>1</m:t>
                              </m:r>
                              <m:r>
                                <a:rPr lang="en-US" altLang="zh-CN" b="0" i="1" smtClean="0">
                                  <a:latin typeface="Cambria Math" panose="02040503050406030204" pitchFamily="18" charset="0"/>
                                </a:rPr>
                                <m:t>000</m:t>
                              </m:r>
                            </m:e>
                            <m:e>
                              <m:r>
                                <a:rPr lang="en-US" altLang="zh-CN" i="1">
                                  <a:latin typeface="Cambria Math" panose="02040503050406030204" pitchFamily="18" charset="0"/>
                                </a:rPr>
                                <m:t>1</m:t>
                              </m:r>
                              <m:r>
                                <a:rPr lang="en-US" altLang="zh-CN" b="0" i="1" smtClean="0">
                                  <a:latin typeface="Cambria Math" panose="02040503050406030204" pitchFamily="18" charset="0"/>
                                </a:rPr>
                                <m:t>101</m:t>
                              </m:r>
                            </m:e>
                          </m:mr>
                        </m:m>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8</m:t>
                                  </m:r>
                                </m:e>
                                <m:e>
                                  <m:r>
                                    <a:rPr lang="en-US" altLang="zh-CN" i="1">
                                      <a:latin typeface="Cambria Math" panose="02040503050406030204" pitchFamily="18" charset="0"/>
                                    </a:rPr>
                                    <m:t>1</m:t>
                                  </m:r>
                                  <m:r>
                                    <a:rPr lang="en-US" altLang="zh-CN" b="0" i="1" smtClean="0">
                                      <a:latin typeface="Cambria Math" panose="02040503050406030204" pitchFamily="18" charset="0"/>
                                    </a:rPr>
                                    <m:t>3</m:t>
                                  </m:r>
                                </m:e>
                              </m:mr>
                              <m:mr>
                                <m:e>
                                  <m:r>
                                    <a:rPr lang="en-US" altLang="zh-CN" b="0" i="1" smtClean="0">
                                      <a:latin typeface="Cambria Math" panose="02040503050406030204" pitchFamily="18" charset="0"/>
                                    </a:rPr>
                                    <m:t>8</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oMath>
                </a14:m>
                <a:endParaRPr lang="en-US" altLang="zh-CN" dirty="0"/>
              </a:p>
              <a:p>
                <a:pPr lvl="2"/>
                <a:r>
                  <a:rPr lang="zh-CN" altLang="en-US" dirty="0"/>
                  <a:t>恢复原始排列顺序：</a:t>
                </a:r>
                <a:endParaRPr lang="en-US" altLang="zh-CN" dirty="0"/>
              </a:p>
              <a:p>
                <a:pPr lvl="2"/>
                <a14:m>
                  <m:oMath xmlns:m="http://schemas.openxmlformats.org/officeDocument/2006/math">
                    <m:r>
                      <a:rPr lang="en-US" altLang="zh-CN" i="1">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8</m:t>
                                  </m:r>
                                </m:e>
                                <m:e>
                                  <m:r>
                                    <a:rPr lang="en-US" altLang="zh-CN" i="1">
                                      <a:latin typeface="Cambria Math" panose="02040503050406030204" pitchFamily="18" charset="0"/>
                                    </a:rPr>
                                    <m:t>8</m:t>
                                  </m:r>
                                </m:e>
                              </m:mr>
                              <m:mr>
                                <m:e>
                                  <m:r>
                                    <a:rPr lang="en-US" altLang="zh-CN" i="1">
                                      <a:latin typeface="Cambria Math" panose="02040503050406030204" pitchFamily="18" charset="0"/>
                                    </a:rPr>
                                    <m:t>1</m:t>
                                  </m:r>
                                  <m:r>
                                    <a:rPr lang="en-US" altLang="zh-CN" i="1" smtClean="0">
                                      <a:latin typeface="Cambria Math" panose="02040503050406030204" pitchFamily="18" charset="0"/>
                                    </a:rPr>
                                    <m:t>3</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oMath>
                </a14:m>
                <a:endParaRPr lang="en-US" altLang="zh-CN" dirty="0"/>
              </a:p>
              <a:p>
                <a:pPr lvl="2"/>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342814" y="1628458"/>
                <a:ext cx="9751483" cy="4114800"/>
              </a:xfrm>
              <a:blipFill rotWithShape="1">
                <a:blip r:embed="rId1"/>
                <a:stretch>
                  <a:fillRect l="-4" t="-8" r="2" b="-5656"/>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15204" y="1412558"/>
                <a:ext cx="9751483" cy="4114800"/>
              </a:xfrm>
            </p:spPr>
            <p:txBody>
              <a:bodyPr/>
              <a:lstStyle/>
              <a:p>
                <a:r>
                  <a:rPr lang="en-US" altLang="zh-CN" dirty="0"/>
                  <a:t>IMLSB</a:t>
                </a:r>
                <a:r>
                  <a:rPr lang="zh-CN" altLang="en-US" dirty="0"/>
                  <a:t>算法案例</a:t>
                </a:r>
                <a:endParaRPr lang="en-US" altLang="zh-CN" dirty="0"/>
              </a:p>
              <a:p>
                <a:pPr lvl="1"/>
                <a:r>
                  <a:rPr lang="zh-CN" altLang="en-US" dirty="0"/>
                  <a:t>解：扰乱方式为转置时，处理步骤为：</a:t>
                </a:r>
                <a:endParaRPr lang="en-US" altLang="zh-CN" dirty="0"/>
              </a:p>
              <a:p>
                <a:pPr lvl="1"/>
                <a:r>
                  <a:rPr lang="zh-CN" altLang="en-US" dirty="0"/>
                  <a:t>第四：接收方拿到含秘密信息的图像块后，首先按约定好的方使扰乱图像块：</a:t>
                </a:r>
                <a:endParaRPr lang="en-US" altLang="zh-CN" dirty="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𝑇</m:t>
                        </m:r>
                      </m:sup>
                    </m:s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8</m:t>
                                  </m:r>
                                </m:e>
                                <m:e>
                                  <m:r>
                                    <a:rPr lang="en-US" altLang="zh-CN" i="1">
                                      <a:latin typeface="Cambria Math" panose="02040503050406030204" pitchFamily="18" charset="0"/>
                                    </a:rPr>
                                    <m:t>8</m:t>
                                  </m:r>
                                </m:e>
                              </m:mr>
                              <m:mr>
                                <m:e>
                                  <m:r>
                                    <a:rPr lang="en-US" altLang="zh-CN" i="1">
                                      <a:latin typeface="Cambria Math" panose="02040503050406030204" pitchFamily="18" charset="0"/>
                                    </a:rPr>
                                    <m:t>1</m:t>
                                  </m:r>
                                  <m:r>
                                    <a:rPr lang="en-US" altLang="zh-CN" i="1" smtClean="0">
                                      <a:latin typeface="Cambria Math" panose="02040503050406030204" pitchFamily="18" charset="0"/>
                                    </a:rPr>
                                    <m:t>3</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up>
                        <m:r>
                          <a:rPr lang="en-US" altLang="zh-CN" i="1">
                            <a:latin typeface="Cambria Math" panose="02040503050406030204" pitchFamily="18" charset="0"/>
                          </a:rPr>
                          <m:t>𝑇</m:t>
                        </m:r>
                      </m:sup>
                    </m:sSub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8</m:t>
                                  </m:r>
                                </m:e>
                                <m:e>
                                  <m:r>
                                    <a:rPr lang="en-US" altLang="zh-CN" i="1">
                                      <a:latin typeface="Cambria Math" panose="02040503050406030204" pitchFamily="18" charset="0"/>
                                    </a:rPr>
                                    <m:t>1</m:t>
                                  </m:r>
                                  <m:r>
                                    <a:rPr lang="en-US" altLang="zh-CN" b="0" i="1" smtClean="0">
                                      <a:latin typeface="Cambria Math" panose="02040503050406030204" pitchFamily="18" charset="0"/>
                                    </a:rPr>
                                    <m:t>3</m:t>
                                  </m:r>
                                </m:e>
                              </m:mr>
                              <m:mr>
                                <m:e>
                                  <m:r>
                                    <a:rPr lang="en-US" altLang="zh-CN" b="0" i="1" smtClean="0">
                                      <a:latin typeface="Cambria Math" panose="02040503050406030204" pitchFamily="18" charset="0"/>
                                    </a:rPr>
                                    <m:t>8</m:t>
                                  </m:r>
                                </m:e>
                                <m:e>
                                  <m:r>
                                    <a:rPr lang="en-US" altLang="zh-CN" i="1">
                                      <a:latin typeface="Cambria Math" panose="02040503050406030204" pitchFamily="18" charset="0"/>
                                    </a:rPr>
                                    <m:t>13</m:t>
                                  </m:r>
                                </m:e>
                              </m:mr>
                            </m:m>
                          </m:e>
                        </m:d>
                      </m:e>
                      <m:sub>
                        <m:r>
                          <a:rPr lang="en-US" altLang="zh-CN" i="1">
                            <a:latin typeface="Cambria Math" panose="02040503050406030204" pitchFamily="18" charset="0"/>
                          </a:rPr>
                          <m:t>𝐷</m:t>
                        </m:r>
                      </m:sub>
                    </m:sSub>
                    <m:r>
                      <a:rPr lang="en-US" altLang="zh-CN"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1000</m:t>
                              </m:r>
                            </m:e>
                            <m:e>
                              <m:r>
                                <a:rPr lang="en-US" altLang="zh-CN" i="1">
                                  <a:latin typeface="Cambria Math" panose="02040503050406030204" pitchFamily="18" charset="0"/>
                                </a:rPr>
                                <m:t>1101</m:t>
                              </m:r>
                            </m:e>
                          </m:mr>
                          <m:mr>
                            <m:e>
                              <m:r>
                                <a:rPr lang="en-US" altLang="zh-CN" i="1">
                                  <a:latin typeface="Cambria Math" panose="02040503050406030204" pitchFamily="18" charset="0"/>
                                </a:rPr>
                                <m:t>1000</m:t>
                              </m:r>
                            </m:e>
                            <m:e>
                              <m:r>
                                <a:rPr lang="en-US" altLang="zh-CN" i="1">
                                  <a:latin typeface="Cambria Math" panose="02040503050406030204" pitchFamily="18" charset="0"/>
                                </a:rPr>
                                <m:t>1101</m:t>
                              </m:r>
                            </m:e>
                          </m:mr>
                        </m:m>
                      </m:e>
                    </m:d>
                  </m:oMath>
                </a14:m>
                <a:endParaRPr lang="en-US" altLang="zh-CN" dirty="0"/>
              </a:p>
              <a:p>
                <a:pPr lvl="1"/>
                <a:r>
                  <a:rPr lang="zh-CN" altLang="en-US" dirty="0"/>
                  <a:t>提取最低和次低比特平面：</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b</m:t>
                        </m:r>
                      </m:e>
                      <m:sub>
                        <m:r>
                          <a:rPr lang="en-US" altLang="zh-CN" b="0" i="1" smtClean="0">
                            <a:latin typeface="Cambria Math" panose="02040503050406030204" pitchFamily="18" charset="0"/>
                          </a:rPr>
                          <m:t>0</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mr>
                        </m:m>
                      </m:e>
                    </m:d>
                  </m:oMath>
                </a14:m>
                <a:endParaRPr lang="en-US" altLang="zh-CN" b="0" dirty="0"/>
              </a:p>
              <a:p>
                <a:pPr lvl="1"/>
                <a:r>
                  <a:rPr lang="zh-CN" altLang="en-US" dirty="0"/>
                  <a:t>按列优先排列，得到：</a:t>
                </a:r>
                <a:endParaRPr lang="en-US" altLang="zh-CN" dirty="0"/>
              </a:p>
              <a:p>
                <a:pPr lvl="2"/>
                <a:r>
                  <a:rPr lang="en-US" altLang="zh-CN" b="0" dirty="0"/>
                  <a:t>B(00110000)-&gt;X(30)-&gt;’0’</a:t>
                </a:r>
                <a:endParaRPr lang="en-US" altLang="zh-CN"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415204" y="1412558"/>
                <a:ext cx="9751483" cy="4114800"/>
              </a:xfrm>
              <a:blipFill rotWithShape="1">
                <a:blip r:embed="rId1"/>
                <a:stretch>
                  <a:fillRect l="-4" t="-8" r="2" b="-11906"/>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最低有效位嵌入</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294967295" end="4294967295"/>
                                            </p:txEl>
                                          </p:spTgt>
                                        </p:tgtEl>
                                        <p:attrNameLst>
                                          <p:attrName>style.visibility</p:attrName>
                                        </p:attrNameLst>
                                      </p:cBhvr>
                                      <p:to>
                                        <p:strVal val="visible"/>
                                      </p:to>
                                    </p:set>
                                    <p:animEffect transition="in" filter="fade">
                                      <p:cBhvr>
                                        <p:cTn id="7" dur="1000"/>
                                        <p:tgtEl>
                                          <p:spTgt spid="3">
                                            <p:txEl>
                                              <p:pRg st="4294967295" end="4294967295"/>
                                            </p:txEl>
                                          </p:spTgt>
                                        </p:tgtEl>
                                      </p:cBhvr>
                                    </p:animEffect>
                                    <p:anim calcmode="lin" valueType="num">
                                      <p:cBhvr>
                                        <p:cTn id="8" dur="1000" fill="hold"/>
                                        <p:tgtEl>
                                          <p:spTgt spid="3">
                                            <p:txEl>
                                              <p:pRg st="4294967295" end="429496729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294967295" end="429496729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1018222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知识：掌握BMP图像最低有效位隐藏秘密信息的方法 。</a:t>
            </a:r>
            <a:endParaRPr lang="zh-CN" altLang="en-US" sz="2500" dirty="0">
              <a:cs typeface="+mn-ea"/>
            </a:endParaRPr>
          </a:p>
          <a:p>
            <a:pPr lvl="1" algn="l">
              <a:lnSpc>
                <a:spcPct val="100000"/>
              </a:lnSpc>
              <a:buChar char="l"/>
            </a:pPr>
            <a:r>
              <a:rPr lang="zh-CN" altLang="en-US" sz="2500" dirty="0">
                <a:cs typeface="+mn-ea"/>
              </a:rPr>
              <a:t>技能：学会用Python对BMP文件的最低有效位逐点隐藏比特信息。</a:t>
            </a:r>
            <a:endParaRPr lang="zh-CN" altLang="en-US" sz="2900" dirty="0">
              <a:cs typeface="+mn-cs"/>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7</a:t>
            </a:r>
            <a:r>
              <a:rPr lang="zh-CN" altLang="en-US" dirty="0">
                <a:cs typeface="+mn-ea"/>
              </a:rPr>
              <a:t>中的实验内容。</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a:t>
            </a:r>
            <a:r>
              <a:rPr lang="zh-CN" altLang="en-US" sz="2800" b="1" dirty="0">
                <a:solidFill>
                  <a:srgbClr val="023B8C"/>
                </a:solidFill>
                <a:latin typeface="微软雅黑" panose="020B0503020204020204" charset="-122"/>
                <a:ea typeface="微软雅黑" panose="020B0503020204020204" charset="-122"/>
              </a:rPr>
              <a:t>七：BMP图像的LSB信息隐藏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942975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1.完成BMP图像信息隐藏的嵌入和提取。</a:t>
            </a:r>
            <a:endParaRPr lang="zh-CN" altLang="en-US" dirty="0">
              <a:cs typeface="+mn-ea"/>
            </a:endParaRPr>
          </a:p>
          <a:p>
            <a:pPr lvl="1" algn="l" latinLnBrk="0">
              <a:lnSpc>
                <a:spcPct val="150000"/>
              </a:lnSpc>
              <a:spcBef>
                <a:spcPts val="0"/>
              </a:spcBef>
            </a:pPr>
            <a:r>
              <a:rPr lang="zh-CN" altLang="en-US" dirty="0">
                <a:cs typeface="+mn-ea"/>
              </a:rPr>
              <a:t>2.计算原始载体和携秘载体的峰值信噪比。</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实践案例七：BMP图像的LSB信息隐藏</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变换域技术</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076325"/>
          </a:xfrm>
          <a:prstGeom prst="rect">
            <a:avLst/>
          </a:prstGeom>
        </p:spPr>
        <p:txBody>
          <a:bodyPr wrap="square">
            <a:spAutoFit/>
          </a:bodyPr>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常用变换域水印算法</a:t>
            </a:r>
            <a:endParaRPr lang="zh-CN" altLang="en-US" sz="3200">
              <a:solidFill>
                <a:srgbClr val="023B8C"/>
              </a:solidFill>
              <a:latin typeface="Times New Roman" panose="02020603050405020304"/>
              <a:ea typeface="宋体" panose="02010600030101010101" pitchFamily="2" charset="-122"/>
            </a:endParaRP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实践案例八：DCT域的图像水印</a:t>
            </a:r>
            <a:endParaRPr lang="zh-CN" altLang="en-US" sz="3200">
              <a:solidFill>
                <a:srgbClr val="023B8C"/>
              </a:solidFill>
              <a:latin typeface="Times New Roman" panose="02020603050405020304"/>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1558714" y="980123"/>
            <a:ext cx="9751483" cy="4114800"/>
          </a:xfrm>
        </p:spPr>
        <p:txBody>
          <a:bodyPr/>
          <a:lstStyle/>
          <a:p>
            <a:pPr marL="0" indent="0" eaLnBrk="1" hangingPunct="1">
              <a:buNone/>
            </a:pPr>
            <a:endParaRPr lang="zh-CN" altLang="en-US"/>
          </a:p>
          <a:p>
            <a:pPr marL="342900" lvl="1" indent="-342900" algn="l" eaLnBrk="1" hangingPunct="1">
              <a:buChar char="¡"/>
            </a:pPr>
            <a:endParaRPr lang="zh-CN" altLang="en-US" sz="2900">
              <a:cs typeface="+mn-cs"/>
            </a:endParaRPr>
          </a:p>
          <a:p>
            <a:pPr marL="0" lvl="1" indent="-342900" algn="l" eaLnBrk="1" hangingPunct="1">
              <a:buChar char="¡"/>
            </a:pPr>
            <a:r>
              <a:rPr lang="zh-CN" altLang="en-US" sz="2900">
                <a:cs typeface="+mn-cs"/>
                <a:sym typeface="+mn-ea"/>
              </a:rPr>
              <a:t>离散傅立叶变换（DFT）</a:t>
            </a:r>
            <a:endParaRPr lang="zh-CN" altLang="en-US" sz="2900">
              <a:cs typeface="+mn-cs"/>
            </a:endParaRPr>
          </a:p>
          <a:p>
            <a:pPr marL="0" lvl="1" indent="-342900" algn="l" eaLnBrk="1" hangingPunct="1">
              <a:buChar char="¡"/>
            </a:pPr>
            <a:r>
              <a:rPr lang="zh-CN" altLang="en-US" sz="2900">
                <a:cs typeface="+mn-cs"/>
                <a:sym typeface="+mn-ea"/>
              </a:rPr>
              <a:t>离散小波变换（DWT）</a:t>
            </a:r>
            <a:endParaRPr lang="zh-CN" altLang="en-US" sz="2900">
              <a:cs typeface="+mn-cs"/>
            </a:endParaRPr>
          </a:p>
          <a:p>
            <a:pPr marL="342900" lvl="1" indent="-342900" algn="l" eaLnBrk="1" hangingPunct="1">
              <a:buChar char="¡"/>
            </a:pPr>
            <a:r>
              <a:rPr lang="zh-CN" altLang="en-US" sz="2900">
                <a:cs typeface="+mn-cs"/>
              </a:rPr>
              <a:t>离散余弦变换（DCT）</a:t>
            </a:r>
            <a:endParaRPr lang="zh-CN" altLang="en-US" sz="2900">
              <a:cs typeface="+mn-cs"/>
            </a:endParaRPr>
          </a:p>
          <a:p>
            <a:pPr marL="342900" lvl="1" indent="-342900" algn="l" eaLnBrk="1" hangingPunct="1">
              <a:buChar char="¡"/>
            </a:pPr>
            <a:r>
              <a:rPr lang="zh-CN" altLang="en-US" sz="2900">
                <a:cs typeface="+mn-cs"/>
              </a:rPr>
              <a:t>…</a:t>
            </a:r>
            <a:endParaRPr lang="zh-CN" altLang="en-US" sz="2900">
              <a:cs typeface="+mn-cs"/>
            </a:endParaRPr>
          </a:p>
        </p:txBody>
      </p:sp>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7347">
                                            <p:txEl>
                                              <p:pRg st="2" end="2"/>
                                            </p:txEl>
                                          </p:spTgt>
                                        </p:tgtEl>
                                        <p:attrNameLst>
                                          <p:attrName>style.visibility</p:attrName>
                                        </p:attrNameLst>
                                      </p:cBhvr>
                                      <p:to>
                                        <p:strVal val="visible"/>
                                      </p:to>
                                    </p:set>
                                    <p:anim calcmode="lin" valueType="num">
                                      <p:cBhvr additive="base">
                                        <p:cTn id="7"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7347">
                                            <p:txEl>
                                              <p:pRg st="3" end="3"/>
                                            </p:txEl>
                                          </p:spTgt>
                                        </p:tgtEl>
                                        <p:attrNameLst>
                                          <p:attrName>style.visibility</p:attrName>
                                        </p:attrNameLst>
                                      </p:cBhvr>
                                      <p:to>
                                        <p:strVal val="visible"/>
                                      </p:to>
                                    </p:set>
                                    <p:anim calcmode="lin" valueType="num">
                                      <p:cBhvr additive="base">
                                        <p:cTn id="11"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34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7347">
                                            <p:txEl>
                                              <p:pRg st="4" end="4"/>
                                            </p:txEl>
                                          </p:spTgt>
                                        </p:tgtEl>
                                        <p:attrNameLst>
                                          <p:attrName>style.visibility</p:attrName>
                                        </p:attrNameLst>
                                      </p:cBhvr>
                                      <p:to>
                                        <p:strVal val="visible"/>
                                      </p:to>
                                    </p:set>
                                    <p:anim calcmode="lin" valueType="num">
                                      <p:cBhvr additive="base">
                                        <p:cTn id="15" dur="500" fill="hold"/>
                                        <p:tgtEl>
                                          <p:spTgt spid="5734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7347">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7347">
                                            <p:txEl>
                                              <p:pRg st="5" end="5"/>
                                            </p:txEl>
                                          </p:spTgt>
                                        </p:tgtEl>
                                        <p:attrNameLst>
                                          <p:attrName>style.visibility</p:attrName>
                                        </p:attrNameLst>
                                      </p:cBhvr>
                                      <p:to>
                                        <p:strVal val="visible"/>
                                      </p:to>
                                    </p:set>
                                    <p:anim calcmode="lin" valueType="num">
                                      <p:cBhvr additive="base">
                                        <p:cTn id="19" dur="500" fill="hold"/>
                                        <p:tgtEl>
                                          <p:spTgt spid="5734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——离散傅立叶变换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220259" y="1700213"/>
            <a:ext cx="9751483" cy="4114800"/>
          </a:xfrm>
        </p:spPr>
        <p:txBody>
          <a:bodyPr/>
          <a:p>
            <a:pPr>
              <a:defRPr/>
            </a:pPr>
            <a:r>
              <a:rPr dirty="0"/>
              <a:t>目的</a:t>
            </a:r>
            <a:r>
              <a:rPr lang="zh-CN" dirty="0"/>
              <a:t>：</a:t>
            </a:r>
            <a:r>
              <a:rPr dirty="0"/>
              <a:t>将空间域信号转换为频率域信号，提供了信号的频谱能量分布和相位信息</a:t>
            </a:r>
            <a:endParaRPr dirty="0"/>
          </a:p>
          <a:p>
            <a:pPr>
              <a:defRPr/>
            </a:pPr>
            <a:r>
              <a:rPr dirty="0"/>
              <a:t>一个较为公认的离散傅立叶变换隐藏方法就是在声音信号相位中的隐藏，它是利用人耳对相位的不敏感性，来实现信息隐藏。</a:t>
            </a:r>
            <a:endParaRPr dirty="0"/>
          </a:p>
          <a:p>
            <a:pPr>
              <a:defRPr/>
            </a:pPr>
            <a:r>
              <a:rPr dirty="0"/>
              <a:t>同样，对于数字水印，也可采用类似的方法，在声音信号的相位中嵌入水印。</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algn="l" defTabSz="266700">
              <a:buClrTx/>
              <a:buSzTx/>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en-US" altLang="zh-CN"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220470" y="1700530"/>
            <a:ext cx="10262870" cy="4114800"/>
          </a:xfrm>
        </p:spPr>
        <p:txBody>
          <a:bodyPr/>
          <a:p>
            <a:pPr>
              <a:defRPr/>
            </a:pPr>
            <a:r>
              <a:rPr dirty="0"/>
              <a:t>将空间和时间信号，在多个不同的分辨率尺度下进行分解</a:t>
            </a:r>
            <a:r>
              <a:rPr lang="zh-CN" dirty="0"/>
              <a:t>。</a:t>
            </a:r>
            <a:endParaRPr lang="zh-CN" dirty="0"/>
          </a:p>
          <a:p>
            <a:pPr>
              <a:defRPr/>
            </a:pPr>
            <a:r>
              <a:rPr dirty="0"/>
              <a:t>可针对信号的不同分辨率尺度对信号进行处理。</a:t>
            </a:r>
            <a:endParaRPr dirty="0"/>
          </a:p>
          <a:p>
            <a:pPr>
              <a:defRPr/>
            </a:pPr>
            <a:r>
              <a:rPr dirty="0"/>
              <a:t>在小波变换域进行水印的嵌入，可提高数字水印鲁棒性。</a:t>
            </a:r>
            <a:endParaRPr dirty="0"/>
          </a:p>
          <a:p>
            <a:pPr>
              <a:defRPr/>
            </a:pPr>
            <a:r>
              <a:rPr lang="zh-CN" dirty="0"/>
              <a:t>例：</a:t>
            </a:r>
            <a:r>
              <a:rPr dirty="0"/>
              <a:t>邻近值算法</a:t>
            </a:r>
            <a:r>
              <a:rPr lang="en-US" dirty="0"/>
              <a:t>——</a:t>
            </a:r>
            <a:r>
              <a:rPr dirty="0">
                <a:sym typeface="+mn-ea"/>
              </a:rPr>
              <a:t>对小波系数进行编码的方式实现的数字水印算法</a:t>
            </a:r>
            <a:endParaRPr lang="en-US"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algn="l" defTabSz="266700">
              <a:buClrTx/>
              <a:buSzTx/>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en-US" altLang="zh-CN" sz="2800" b="1" dirty="0">
                <a:solidFill>
                  <a:srgbClr val="023B8C"/>
                </a:solidFill>
                <a:latin typeface="微软雅黑" panose="020B0503020204020204" charset="-122"/>
                <a:ea typeface="微软雅黑" panose="020B0503020204020204" charset="-122"/>
                <a:sym typeface="+mn-ea"/>
              </a:rPr>
              <a:t>小波变换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055370" y="980440"/>
            <a:ext cx="10262870" cy="4114800"/>
          </a:xfrm>
        </p:spPr>
        <p:txBody>
          <a:bodyPr/>
          <a:p>
            <a:pPr>
              <a:defRPr/>
            </a:pPr>
            <a:r>
              <a:rPr lang="en-US" dirty="0"/>
              <a:t>小波系数邻近值水印方案</a:t>
            </a:r>
            <a:endParaRPr lang="en-US" dirty="0"/>
          </a:p>
        </p:txBody>
      </p:sp>
      <p:pic>
        <p:nvPicPr>
          <p:cNvPr id="33815" name="图片 33815"/>
          <p:cNvPicPr>
            <a:picLocks noChangeAspect="1"/>
          </p:cNvPicPr>
          <p:nvPr/>
        </p:nvPicPr>
        <p:blipFill>
          <a:blip r:embed="rId1"/>
          <a:stretch>
            <a:fillRect/>
          </a:stretch>
        </p:blipFill>
        <p:spPr>
          <a:xfrm>
            <a:off x="1127760" y="1700530"/>
            <a:ext cx="6011545" cy="49923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220259" y="1700213"/>
            <a:ext cx="9751483" cy="4114800"/>
          </a:xfrm>
        </p:spPr>
        <p:txBody>
          <a:bodyPr/>
          <a:p>
            <a:pPr>
              <a:defRPr/>
            </a:pPr>
            <a:r>
              <a:rPr dirty="0"/>
              <a:t>主要思路</a:t>
            </a:r>
            <a:r>
              <a:rPr lang="zh-CN" dirty="0"/>
              <a:t>：</a:t>
            </a:r>
            <a:r>
              <a:rPr dirty="0"/>
              <a:t>在离散余弦变换的中频系数中嵌入水印，既保证水印的不可见性，又保证水印的鲁棒性，达到了一个平衡。</a:t>
            </a:r>
            <a:endParaRPr dirty="0"/>
          </a:p>
          <a:p>
            <a:pPr>
              <a:defRPr/>
            </a:pPr>
            <a:r>
              <a:rPr dirty="0"/>
              <a:t>算法充分利用离散余弦变换系数的特点，如直流分量和低频系数值较大，代表了图像的大部分能量，对它们做修改会影响图像的视觉效果；高频系数值很小，去掉它们基本不引起察觉；因此最好的水印嵌入区域就是在中频部分。</a:t>
            </a:r>
            <a:endParaRPr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623570" y="1484630"/>
            <a:ext cx="11073130" cy="4114800"/>
          </a:xfrm>
        </p:spPr>
        <p:txBody>
          <a:bodyPr/>
          <a:p>
            <a:pPr>
              <a:defRPr/>
            </a:pPr>
            <a:r>
              <a:rPr dirty="0"/>
              <a:t>考虑到嵌入的位置是离散余弦变换的中频系数，它们的值都比较接近，隐藏这类算法嵌入水印信息时对图像的修改很小，这样对图像质量的影响就较小。</a:t>
            </a:r>
            <a:endParaRPr dirty="0"/>
          </a:p>
          <a:p>
            <a:pPr>
              <a:defRPr/>
            </a:pPr>
            <a:r>
              <a:rPr dirty="0"/>
              <a:t>水印的检测是根据相应位置系数的大小关系来提取水印的，如果三元组系数之间的差别太小，当图像受到干扰时，则相应的系数关系就有可能改变，造成检测时发生误判，即鲁棒性较差。</a:t>
            </a:r>
            <a:endParaRPr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415415" y="1628775"/>
            <a:ext cx="8762365" cy="4114800"/>
          </a:xfrm>
        </p:spPr>
        <p:txBody>
          <a:bodyPr/>
          <a:p>
            <a:pPr>
              <a:defRPr/>
            </a:pPr>
            <a:r>
              <a:rPr dirty="0"/>
              <a:t>为此，应该先进行预处理</a:t>
            </a:r>
            <a:endParaRPr dirty="0"/>
          </a:p>
          <a:p>
            <a:pPr lvl="1" algn="l">
              <a:defRPr/>
            </a:pPr>
            <a:r>
              <a:rPr lang="zh-CN" dirty="0">
                <a:cs typeface="+mn-cs"/>
              </a:rPr>
              <a:t>当三个系数最大值和最小值的差别小于某一阈值时，则认为该三元组不适合嵌入水印，该组置为无效。</a:t>
            </a:r>
            <a:endParaRPr lang="zh-CN" dirty="0">
              <a:cs typeface="+mn-cs"/>
            </a:endParaRPr>
          </a:p>
          <a:p>
            <a:pPr lvl="1" algn="l">
              <a:defRPr/>
            </a:pPr>
            <a:r>
              <a:rPr lang="zh-CN" dirty="0">
                <a:cs typeface="+mn-cs"/>
              </a:rPr>
              <a:t>当三个系数最大值和最小值的差别太大时，也不适合进行系数修改，因为修改后有可能产生视觉差异，这样的组也应置为无效。</a:t>
            </a:r>
            <a:endParaRPr lang="zh-CN" dirty="0">
              <a:cs typeface="+mn-cs"/>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479425" y="908685"/>
            <a:ext cx="11551920" cy="2517140"/>
          </a:xfrm>
        </p:spPr>
        <p:txBody>
          <a:bodyPr/>
          <a:p>
            <a:pPr>
              <a:defRPr/>
            </a:pPr>
            <a:r>
              <a:rPr sz="2800" dirty="0"/>
              <a:t>离散余弦变换是目前使用最多的图像压缩系统（JPEG压缩）的核心</a:t>
            </a:r>
            <a:r>
              <a:rPr lang="zh-CN" sz="2800" dirty="0"/>
              <a:t>。</a:t>
            </a:r>
            <a:endParaRPr sz="2800" dirty="0"/>
          </a:p>
          <a:p>
            <a:pPr>
              <a:defRPr/>
            </a:pPr>
            <a:r>
              <a:rPr sz="2800" dirty="0"/>
              <a:t>JPEG（Joint Photographic Experts Group）压缩是将图像的像素分为8×8的块，对所有块进行离散余弦变换，然后对离散余弦系数进行量化</a:t>
            </a:r>
            <a:r>
              <a:rPr lang="zh-CN" sz="2800" dirty="0"/>
              <a:t>。</a:t>
            </a:r>
            <a:endParaRPr lang="zh-CN" sz="2800" dirty="0"/>
          </a:p>
          <a:p>
            <a:pPr>
              <a:defRPr/>
            </a:pPr>
            <a:r>
              <a:rPr sz="2800" dirty="0"/>
              <a:t>量化时，先对所有的离散余弦系数除以一组量化值</a:t>
            </a:r>
            <a:r>
              <a:rPr lang="zh-CN" sz="2800" dirty="0"/>
              <a:t>（</a:t>
            </a:r>
            <a:r>
              <a:rPr lang="zh-CN" sz="2800" dirty="0"/>
              <a:t>如下表）</a:t>
            </a:r>
            <a:r>
              <a:rPr sz="2800" dirty="0"/>
              <a:t>，并取最接近的整数。</a:t>
            </a:r>
            <a:endParaRPr sz="2800" dirty="0"/>
          </a:p>
        </p:txBody>
      </p:sp>
      <p:pic>
        <p:nvPicPr>
          <p:cNvPr id="4" name="图片 3"/>
          <p:cNvPicPr>
            <a:picLocks noChangeAspect="1"/>
          </p:cNvPicPr>
          <p:nvPr/>
        </p:nvPicPr>
        <p:blipFill>
          <a:blip r:embed="rId1"/>
          <a:stretch>
            <a:fillRect/>
          </a:stretch>
        </p:blipFill>
        <p:spPr>
          <a:xfrm>
            <a:off x="3215640" y="2997200"/>
            <a:ext cx="6800850" cy="3755390"/>
          </a:xfrm>
          <a:prstGeom prst="rect">
            <a:avLst/>
          </a:prstGeom>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271270" y="981075"/>
            <a:ext cx="10325100" cy="4114800"/>
          </a:xfrm>
        </p:spPr>
        <p:txBody>
          <a:bodyPr/>
          <a:p>
            <a:pPr>
              <a:defRPr/>
            </a:pPr>
            <a:r>
              <a:rPr dirty="0"/>
              <a:t>压缩中采用ZigZag扫描方式，将8×8的离散余弦系数变为一维序列，这种扫描方式也表示了图像的频率成分，左上角为直流成分，然后顺序为低频成分，中频成分和高频成分。</a:t>
            </a:r>
            <a:endParaRPr dirty="0"/>
          </a:p>
        </p:txBody>
      </p:sp>
      <p:pic>
        <p:nvPicPr>
          <p:cNvPr id="4" name="图片 3"/>
          <p:cNvPicPr>
            <a:picLocks noChangeAspect="1"/>
          </p:cNvPicPr>
          <p:nvPr/>
        </p:nvPicPr>
        <p:blipFill>
          <a:blip r:embed="rId1"/>
          <a:stretch>
            <a:fillRect/>
          </a:stretch>
        </p:blipFill>
        <p:spPr>
          <a:xfrm>
            <a:off x="1199515" y="2565400"/>
            <a:ext cx="8247380" cy="3726815"/>
          </a:xfrm>
          <a:prstGeom prst="rect">
            <a:avLst/>
          </a:prstGeom>
        </p:spPr>
      </p:pic>
      <p:pic>
        <p:nvPicPr>
          <p:cNvPr id="10" name="图片 9"/>
          <p:cNvPicPr>
            <a:picLocks noChangeAspect="1"/>
          </p:cNvPicPr>
          <p:nvPr/>
        </p:nvPicPr>
        <p:blipFill>
          <a:blip r:embed="rId2"/>
          <a:stretch>
            <a:fillRect/>
          </a:stretch>
        </p:blipFill>
        <p:spPr>
          <a:xfrm>
            <a:off x="6096000" y="2565400"/>
            <a:ext cx="4945380" cy="38379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3379" y="249350"/>
            <a:ext cx="9470058" cy="521970"/>
          </a:xfrm>
          <a:prstGeom prst="rect">
            <a:avLst/>
          </a:prstGeom>
        </p:spPr>
        <p:txBody>
          <a:bodyPr wrap="square">
            <a:spAutoFit/>
          </a:bodyPr>
          <a:p>
            <a:pPr marL="304800" indent="0" defTabSz="266700">
              <a:buFont typeface="Arial" panose="020B0604020202020204" pitchFamily="34" charset="0"/>
              <a:buNone/>
            </a:pPr>
            <a:r>
              <a:rPr lang="zh-CN" altLang="en-US" sz="2800" b="1" dirty="0">
                <a:solidFill>
                  <a:srgbClr val="023B8C"/>
                </a:solidFill>
                <a:latin typeface="微软雅黑" panose="020B0503020204020204" charset="-122"/>
                <a:ea typeface="微软雅黑" panose="020B0503020204020204" charset="-122"/>
                <a:sym typeface="+mn-ea"/>
              </a:rPr>
              <a:t>常用变换域水印算法</a:t>
            </a:r>
            <a:r>
              <a:rPr lang="en-US" altLang="zh-CN" sz="2800" b="1" dirty="0">
                <a:solidFill>
                  <a:srgbClr val="023B8C"/>
                </a:solidFill>
                <a:latin typeface="微软雅黑" panose="020B0503020204020204" charset="-122"/>
                <a:ea typeface="微软雅黑" panose="020B0503020204020204" charset="-122"/>
                <a:sym typeface="+mn-ea"/>
              </a:rPr>
              <a:t>——离散</a:t>
            </a:r>
            <a:r>
              <a:rPr lang="zh-CN" altLang="en-US" sz="2800" b="1" dirty="0">
                <a:solidFill>
                  <a:srgbClr val="023B8C"/>
                </a:solidFill>
                <a:latin typeface="微软雅黑" panose="020B0503020204020204" charset="-122"/>
                <a:ea typeface="微软雅黑" panose="020B0503020204020204" charset="-122"/>
                <a:sym typeface="+mn-ea"/>
              </a:rPr>
              <a:t>余弦</a:t>
            </a:r>
            <a:r>
              <a:rPr lang="en-US" altLang="zh-CN" sz="2800" b="1" dirty="0">
                <a:solidFill>
                  <a:srgbClr val="023B8C"/>
                </a:solidFill>
                <a:latin typeface="微软雅黑" panose="020B0503020204020204" charset="-122"/>
                <a:ea typeface="微软雅黑" panose="020B0503020204020204" charset="-122"/>
                <a:sym typeface="+mn-ea"/>
              </a:rPr>
              <a:t>变换</a:t>
            </a:r>
            <a:endParaRPr lang="en-US" altLang="zh-CN"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Content Placeholder 2"/>
          <p:cNvSpPr>
            <a:spLocks noGrp="1"/>
          </p:cNvSpPr>
          <p:nvPr>
            <p:ph idx="1"/>
          </p:nvPr>
        </p:nvSpPr>
        <p:spPr>
          <a:xfrm>
            <a:off x="1056005" y="1052830"/>
            <a:ext cx="10438765" cy="4114800"/>
          </a:xfrm>
        </p:spPr>
        <p:txBody>
          <a:bodyPr/>
          <a:p>
            <a:pPr>
              <a:defRPr/>
            </a:pPr>
            <a:r>
              <a:rPr dirty="0">
                <a:sym typeface="+mn-ea"/>
              </a:rPr>
              <a:t>盲水印算法</a:t>
            </a:r>
            <a:r>
              <a:rPr lang="zh-CN" dirty="0">
                <a:sym typeface="+mn-ea"/>
              </a:rPr>
              <a:t>：</a:t>
            </a:r>
            <a:r>
              <a:rPr dirty="0"/>
              <a:t>提取秘密信息的时候不需要原始图</a:t>
            </a:r>
            <a:r>
              <a:rPr lang="zh-CN" dirty="0"/>
              <a:t>像</a:t>
            </a:r>
            <a:endParaRPr lang="zh-CN" dirty="0"/>
          </a:p>
          <a:p>
            <a:pPr>
              <a:defRPr/>
            </a:pPr>
            <a:r>
              <a:rPr dirty="0"/>
              <a:t>算法思想</a:t>
            </a:r>
            <a:r>
              <a:rPr lang="zh-CN" dirty="0"/>
              <a:t>：</a:t>
            </a:r>
            <a:r>
              <a:rPr dirty="0"/>
              <a:t>利用载体中两个特定DCT系数的相对大小来表示隐藏的信息。</a:t>
            </a:r>
            <a:endParaRPr dirty="0"/>
          </a:p>
          <a:p>
            <a:pPr>
              <a:defRPr/>
            </a:pPr>
            <a:r>
              <a:rPr dirty="0"/>
              <a:t>载体图像分为8×8分块，分块采用行优先分块法，即分块完毕后进行二维DCT变换，分别选择其中的两个位置，比如用(u1,v1)和(u2,v2)代表所选定的两个系数的坐标。</a:t>
            </a:r>
            <a:endParaRPr dirty="0"/>
          </a:p>
          <a:p>
            <a:pPr lvl="1" algn="l">
              <a:defRPr/>
            </a:pPr>
            <a:r>
              <a:rPr lang="zh-CN" dirty="0">
                <a:cs typeface="+mn-cs"/>
              </a:rPr>
              <a:t>如果</a:t>
            </a:r>
            <a:r>
              <a:rPr lang="en-US" altLang="zh-CN" dirty="0">
                <a:cs typeface="+mn-cs"/>
              </a:rPr>
              <a:t>                          </a:t>
            </a:r>
            <a:r>
              <a:rPr lang="zh-CN" dirty="0">
                <a:cs typeface="+mn-cs"/>
              </a:rPr>
              <a:t>，代表隐藏1，如果相反，则交换两系数。</a:t>
            </a:r>
            <a:endParaRPr lang="zh-CN" dirty="0">
              <a:cs typeface="+mn-cs"/>
            </a:endParaRPr>
          </a:p>
          <a:p>
            <a:pPr lvl="1" algn="l">
              <a:defRPr/>
            </a:pPr>
            <a:r>
              <a:rPr lang="zh-CN" dirty="0">
                <a:cs typeface="+mn-cs"/>
              </a:rPr>
              <a:t>如果</a:t>
            </a:r>
            <a:r>
              <a:rPr lang="en-US" altLang="zh-CN" dirty="0">
                <a:cs typeface="+mn-cs"/>
              </a:rPr>
              <a:t>                          </a:t>
            </a:r>
            <a:r>
              <a:rPr lang="zh-CN" altLang="en-US" dirty="0">
                <a:cs typeface="+mn-cs"/>
              </a:rPr>
              <a:t>，</a:t>
            </a:r>
            <a:r>
              <a:rPr lang="zh-CN" dirty="0">
                <a:cs typeface="+mn-cs"/>
              </a:rPr>
              <a:t>代表隐藏0，如果相反，则交换两系数。</a:t>
            </a:r>
            <a:endParaRPr lang="zh-CN" dirty="0">
              <a:cs typeface="+mn-cs"/>
            </a:endParaRPr>
          </a:p>
          <a:p>
            <a:pPr>
              <a:defRPr/>
            </a:pPr>
            <a:r>
              <a:rPr dirty="0"/>
              <a:t>提取的时候接收者对包含水印的图像文件进行二维DCT变换，比较每一块中约定位置的DCT系数值，根据其相对大小，得到隐藏信息的比特串，从而恢复出秘密信息。</a:t>
            </a:r>
            <a:endParaRPr dirty="0"/>
          </a:p>
        </p:txBody>
      </p:sp>
      <p:pic>
        <p:nvPicPr>
          <p:cNvPr id="385" name="图片 385"/>
          <p:cNvPicPr>
            <a:picLocks noChangeAspect="1"/>
          </p:cNvPicPr>
          <p:nvPr/>
        </p:nvPicPr>
        <p:blipFill>
          <a:blip r:embed="rId1"/>
          <a:stretch>
            <a:fillRect/>
          </a:stretch>
        </p:blipFill>
        <p:spPr>
          <a:xfrm>
            <a:off x="2567305" y="4005580"/>
            <a:ext cx="2031365" cy="356870"/>
          </a:xfrm>
          <a:prstGeom prst="rect">
            <a:avLst/>
          </a:prstGeom>
        </p:spPr>
      </p:pic>
      <p:pic>
        <p:nvPicPr>
          <p:cNvPr id="386" name="图片 386"/>
          <p:cNvPicPr>
            <a:picLocks noChangeAspect="1"/>
          </p:cNvPicPr>
          <p:nvPr/>
        </p:nvPicPr>
        <p:blipFill>
          <a:blip r:embed="rId2"/>
          <a:stretch>
            <a:fillRect/>
          </a:stretch>
        </p:blipFill>
        <p:spPr>
          <a:xfrm>
            <a:off x="2529205" y="4509135"/>
            <a:ext cx="2069465" cy="3638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10182225" cy="2941320"/>
          </a:xfrm>
        </p:spPr>
        <p:txBody>
          <a:bodyPr/>
          <a:lstStyle/>
          <a:p>
            <a:pPr marL="342900" lvl="1" indent="-342900" algn="l">
              <a:lnSpc>
                <a:spcPct val="100000"/>
              </a:lnSpc>
              <a:buChar char="¡"/>
            </a:pPr>
            <a:r>
              <a:rPr lang="zh-CN" altLang="en-US" sz="2900" dirty="0">
                <a:cs typeface="+mn-cs"/>
              </a:rPr>
              <a:t>学习目标</a:t>
            </a:r>
            <a:endParaRPr lang="zh-CN" altLang="en-US" sz="2900" dirty="0">
              <a:cs typeface="+mn-cs"/>
            </a:endParaRPr>
          </a:p>
          <a:p>
            <a:pPr lvl="1" algn="l">
              <a:lnSpc>
                <a:spcPct val="100000"/>
              </a:lnSpc>
              <a:buChar char="l"/>
            </a:pPr>
            <a:r>
              <a:rPr lang="zh-CN" altLang="en-US" sz="2500" dirty="0">
                <a:cs typeface="+mn-ea"/>
              </a:rPr>
              <a:t>知识：了解图像水印的特点，掌握基于DCT系数关系的图像水印算法原理。</a:t>
            </a:r>
            <a:endParaRPr lang="zh-CN" altLang="en-US" sz="2500" dirty="0">
              <a:cs typeface="+mn-ea"/>
            </a:endParaRPr>
          </a:p>
          <a:p>
            <a:pPr lvl="1" algn="l">
              <a:lnSpc>
                <a:spcPct val="100000"/>
              </a:lnSpc>
              <a:buChar char="l"/>
            </a:pPr>
            <a:r>
              <a:rPr lang="zh-CN" altLang="en-US" sz="2500" dirty="0">
                <a:cs typeface="+mn-ea"/>
              </a:rPr>
              <a:t>技能：掌握嵌入二值图像水印信息，掌握水印图像的归一化函数的计算方法，掌握提取攻击后的水印二值图像，计算NC的值。</a:t>
            </a:r>
            <a:endParaRPr lang="zh-CN" altLang="en-US" sz="2500" dirty="0">
              <a:cs typeface="+mn-ea"/>
            </a:endParaRPr>
          </a:p>
          <a:p>
            <a:pPr algn="l">
              <a:lnSpc>
                <a:spcPct val="100000"/>
              </a:lnSpc>
            </a:pPr>
            <a:r>
              <a:rPr lang="zh-CN" altLang="en-US" dirty="0"/>
              <a:t>学习任务单</a:t>
            </a:r>
            <a:endParaRPr lang="zh-CN" altLang="en-US" dirty="0"/>
          </a:p>
          <a:p>
            <a:pPr lvl="1" algn="l">
              <a:lnSpc>
                <a:spcPct val="100000"/>
              </a:lnSpc>
            </a:pPr>
            <a:r>
              <a:rPr lang="zh-CN" altLang="en-US" dirty="0">
                <a:cs typeface="+mn-ea"/>
              </a:rPr>
              <a:t>学习实验指导书</a:t>
            </a:r>
            <a:r>
              <a:rPr lang="en-US" altLang="zh-CN" dirty="0">
                <a:cs typeface="+mn-ea"/>
              </a:rPr>
              <a:t>8</a:t>
            </a:r>
            <a:r>
              <a:rPr lang="zh-CN" altLang="en-US" dirty="0">
                <a:cs typeface="+mn-ea"/>
              </a:rPr>
              <a:t>中的实验内容。</a:t>
            </a:r>
            <a:endParaRPr lang="zh-CN" altLang="en-US" dirty="0">
              <a:cs typeface="+mn-ea"/>
            </a:endParaRPr>
          </a:p>
          <a:p>
            <a:pPr lvl="1" algn="l">
              <a:lnSpc>
                <a:spcPct val="100000"/>
              </a:lnSpc>
            </a:pPr>
            <a:r>
              <a:rPr lang="zh-CN" altLang="en-US" dirty="0">
                <a:cs typeface="+mn-ea"/>
              </a:rPr>
              <a:t>按实验指导书8完成对图像分块，完成图像中秘密信息的嵌入和提取。完成对携秘图像进行高斯噪声攻击，提取攻击后的水印信息。</a:t>
            </a:r>
            <a:endParaRPr lang="zh-CN" altLang="en-US" dirty="0">
              <a:cs typeface="+mn-ea"/>
            </a:endParaRPr>
          </a:p>
          <a:p>
            <a:pPr lvl="1" algn="l">
              <a:lnSpc>
                <a:spcPct val="100000"/>
              </a:lnSpc>
            </a:pPr>
            <a:r>
              <a:rPr lang="zh-CN" altLang="en-US" dirty="0">
                <a:cs typeface="+mn-ea"/>
              </a:rPr>
              <a:t>参考实验指导书按照实验作业要求完成实验作业。</a:t>
            </a:r>
            <a:endParaRPr lang="zh-CN" altLang="en-US" dirty="0">
              <a:cs typeface="+mn-ea"/>
            </a:endParaRPr>
          </a:p>
          <a:p>
            <a:pPr lvl="1" algn="l">
              <a:lnSpc>
                <a:spcPct val="100000"/>
              </a:lnSpc>
            </a:pPr>
            <a:r>
              <a:rPr lang="zh-CN" altLang="en-US" dirty="0">
                <a:cs typeface="+mn-ea"/>
              </a:rPr>
              <a:t>参考实验报告模板完成实验报告。</a:t>
            </a:r>
            <a:endParaRPr lang="zh-CN" altLang="en-US" dirty="0">
              <a:cs typeface="+mn-ea"/>
            </a:endParaRPr>
          </a:p>
          <a:p>
            <a:pPr lvl="1" algn="l">
              <a:lnSpc>
                <a:spcPct val="100000"/>
              </a:lnSpc>
            </a:pPr>
            <a:r>
              <a:rPr lang="zh-CN" altLang="en-US" dirty="0">
                <a:cs typeface="+mn-ea"/>
              </a:rPr>
              <a:t>按时提交实验报告。</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rPr>
              <a:t>实践案例八：DCT域的图像水印</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983615" y="1052830"/>
            <a:ext cx="10901680" cy="2941320"/>
          </a:xfrm>
        </p:spPr>
        <p:txBody>
          <a:bodyPr/>
          <a:lstStyle/>
          <a:p>
            <a:pPr marL="342900" lvl="1" indent="-342900" algn="l">
              <a:lnSpc>
                <a:spcPct val="100000"/>
              </a:lnSpc>
              <a:buChar char="¡"/>
            </a:pPr>
            <a:r>
              <a:rPr lang="zh-CN" altLang="en-US" sz="2900" dirty="0">
                <a:cs typeface="+mn-cs"/>
              </a:rPr>
              <a:t>学习内容</a:t>
            </a:r>
            <a:endParaRPr lang="zh-CN" altLang="en-US" sz="2900" dirty="0">
              <a:cs typeface="+mn-cs"/>
            </a:endParaRPr>
          </a:p>
          <a:p>
            <a:pPr lvl="1" algn="l" latinLnBrk="0">
              <a:lnSpc>
                <a:spcPct val="150000"/>
              </a:lnSpc>
              <a:spcBef>
                <a:spcPts val="0"/>
              </a:spcBef>
            </a:pPr>
            <a:r>
              <a:rPr lang="zh-CN" altLang="en-US" dirty="0">
                <a:cs typeface="+mn-ea"/>
              </a:rPr>
              <a:t>利用文件夹中的彩色图片在R颜色通道嵌入秘密信息。输出并观察嵌入前后图像对比。</a:t>
            </a:r>
            <a:endParaRPr lang="zh-CN" altLang="en-US" dirty="0">
              <a:cs typeface="+mn-ea"/>
            </a:endParaRPr>
          </a:p>
          <a:p>
            <a:pPr lvl="1" algn="l" latinLnBrk="0">
              <a:lnSpc>
                <a:spcPct val="150000"/>
              </a:lnSpc>
              <a:spcBef>
                <a:spcPts val="0"/>
              </a:spcBef>
            </a:pPr>
            <a:r>
              <a:rPr lang="zh-CN" altLang="en-US" dirty="0">
                <a:cs typeface="+mn-ea"/>
              </a:rPr>
              <a:t>计算嵌入秘密信息后峰值信噪比，输出峰值信噪比。取小数点后三位。</a:t>
            </a:r>
            <a:endParaRPr lang="zh-CN" altLang="en-US" dirty="0">
              <a:cs typeface="+mn-ea"/>
            </a:endParaRPr>
          </a:p>
          <a:p>
            <a:pPr lvl="1" algn="l" latinLnBrk="0">
              <a:lnSpc>
                <a:spcPct val="150000"/>
              </a:lnSpc>
              <a:spcBef>
                <a:spcPts val="0"/>
              </a:spcBef>
            </a:pPr>
            <a:r>
              <a:rPr lang="zh-CN" altLang="en-US" dirty="0">
                <a:cs typeface="+mn-ea"/>
              </a:rPr>
              <a:t>在没有任何攻击的情况下提取水印二值图像，计算归一化函数的NC值。</a:t>
            </a:r>
            <a:endParaRPr lang="zh-CN" altLang="en-US" dirty="0">
              <a:cs typeface="+mn-ea"/>
            </a:endParaRPr>
          </a:p>
          <a:p>
            <a:pPr lvl="1" algn="l" latinLnBrk="0">
              <a:lnSpc>
                <a:spcPct val="150000"/>
              </a:lnSpc>
              <a:spcBef>
                <a:spcPts val="0"/>
              </a:spcBef>
            </a:pPr>
            <a:r>
              <a:rPr lang="zh-CN" altLang="en-US" dirty="0">
                <a:cs typeface="+mn-ea"/>
              </a:rPr>
              <a:t>将原始水印信息和没有任何攻击后提取的水印信息输出并进行比较。</a:t>
            </a:r>
            <a:endParaRPr lang="zh-CN" altLang="en-US" dirty="0">
              <a:cs typeface="+mn-ea"/>
            </a:endParaRPr>
          </a:p>
          <a:p>
            <a:pPr lvl="1" algn="l" latinLnBrk="0">
              <a:lnSpc>
                <a:spcPct val="150000"/>
              </a:lnSpc>
              <a:spcBef>
                <a:spcPts val="0"/>
              </a:spcBef>
            </a:pPr>
            <a:r>
              <a:rPr lang="zh-CN" altLang="en-US" dirty="0">
                <a:cs typeface="+mn-ea"/>
              </a:rPr>
              <a:t>在图像中添加白噪声模拟高斯噪声攻击。从添加白噪声后的携密图像中提取水印二值图像，计算的归一化函数的NC值。观察水印信息和NC值的变化。</a:t>
            </a:r>
            <a:endParaRPr lang="zh-CN" altLang="en-US" dirty="0">
              <a:cs typeface="+mn-ea"/>
            </a:endParaRPr>
          </a:p>
        </p:txBody>
      </p:sp>
      <p:sp>
        <p:nvSpPr>
          <p:cNvPr id="3" name="矩形 2"/>
          <p:cNvSpPr/>
          <p:nvPr/>
        </p:nvSpPr>
        <p:spPr>
          <a:xfrm>
            <a:off x="839404" y="249350"/>
            <a:ext cx="9470058" cy="521970"/>
          </a:xfrm>
          <a:prstGeom prst="rect">
            <a:avLst/>
          </a:prstGeom>
        </p:spPr>
        <p:txBody>
          <a:bodyPr wrap="square">
            <a:spAutoFit/>
          </a:bodyPr>
          <a:p>
            <a:r>
              <a:rPr lang="zh-CN" altLang="en-US" sz="2800" b="1" dirty="0">
                <a:solidFill>
                  <a:srgbClr val="023B8C"/>
                </a:solidFill>
                <a:latin typeface="微软雅黑" panose="020B0503020204020204" charset="-122"/>
                <a:ea typeface="微软雅黑" panose="020B0503020204020204" charset="-122"/>
                <a:sym typeface="+mn-ea"/>
              </a:rPr>
              <a:t>实践案例八：DCT域的图像水印</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ldLvl="5"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87594" y="1484313"/>
            <a:ext cx="9751483" cy="4114800"/>
          </a:xfrm>
        </p:spPr>
        <p:txBody>
          <a:bodyPr/>
          <a:lstStyle/>
          <a:p>
            <a:r>
              <a:rPr lang="zh-CN" altLang="en-US" dirty="0"/>
              <a:t>本章主要介绍图像信息隐藏与数字水印技术。</a:t>
            </a:r>
            <a:endParaRPr lang="zh-CN" altLang="en-US" dirty="0"/>
          </a:p>
          <a:p>
            <a:r>
              <a:rPr lang="zh-CN" altLang="en-US" dirty="0"/>
              <a:t>需要掌握以下知识点：</a:t>
            </a:r>
            <a:endParaRPr lang="zh-CN" altLang="en-US" dirty="0"/>
          </a:p>
          <a:p>
            <a:pPr lvl="1" algn="l">
              <a:lnSpc>
                <a:spcPct val="150000"/>
              </a:lnSpc>
              <a:spcBef>
                <a:spcPts val="0"/>
              </a:spcBef>
            </a:pPr>
            <a:r>
              <a:rPr lang="zh-CN" altLang="en-US" dirty="0">
                <a:cs typeface="+mn-ea"/>
              </a:rPr>
              <a:t>掌握经典的最低有效位信息隐藏算法，通过实验掌握如何实现最低有效位隐藏算法以及各种改进的最低有效位隐藏算法。</a:t>
            </a:r>
            <a:endParaRPr lang="zh-CN" altLang="en-US" dirty="0">
              <a:cs typeface="+mn-ea"/>
            </a:endParaRPr>
          </a:p>
          <a:p>
            <a:pPr lvl="1" algn="l">
              <a:lnSpc>
                <a:spcPct val="150000"/>
              </a:lnSpc>
              <a:spcBef>
                <a:spcPts val="0"/>
              </a:spcBef>
            </a:pPr>
            <a:r>
              <a:rPr lang="zh-CN" altLang="en-US" dirty="0">
                <a:cs typeface="+mn-ea"/>
              </a:rPr>
              <a:t>掌握如何使用游程编码实现在二值图像中隐藏秘密信息。</a:t>
            </a:r>
            <a:endParaRPr lang="zh-CN" altLang="en-US" dirty="0">
              <a:cs typeface="+mn-ea"/>
            </a:endParaRPr>
          </a:p>
          <a:p>
            <a:pPr lvl="1" algn="l">
              <a:lnSpc>
                <a:spcPct val="150000"/>
              </a:lnSpc>
              <a:spcBef>
                <a:spcPts val="0"/>
              </a:spcBef>
            </a:pPr>
            <a:r>
              <a:rPr lang="zh-CN" altLang="en-US" dirty="0">
                <a:cs typeface="+mn-ea"/>
              </a:rPr>
              <a:t>掌握离散余弦变换域的图像信息隐藏方法，掌握ZigZag变换的方法，通过实践掌握利用两个离散余弦变换系数之间的关系或者三个离散余弦变换系数之间的关系嵌入秘密信息的方法。</a:t>
            </a:r>
            <a:endParaRPr lang="zh-CN" altLang="en-US" dirty="0">
              <a:cs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本章小结</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1486959" y="1484313"/>
            <a:ext cx="9751483" cy="4114800"/>
          </a:xfrm>
        </p:spPr>
        <p:txBody>
          <a:bodyPr/>
          <a:lstStyle/>
          <a:p>
            <a:pPr eaLnBrk="1" hangingPunct="1"/>
            <a:r>
              <a:rPr lang="zh-CN" altLang="en-US" dirty="0"/>
              <a:t>【简答题】</a:t>
            </a:r>
            <a:endParaRPr lang="zh-CN" altLang="en-US" dirty="0"/>
          </a:p>
          <a:p>
            <a:pPr lvl="1" algn="l">
              <a:lnSpc>
                <a:spcPct val="150000"/>
              </a:lnSpc>
              <a:spcBef>
                <a:spcPts val="0"/>
              </a:spcBef>
            </a:pPr>
            <a:r>
              <a:rPr lang="zh-CN" altLang="en-US" dirty="0">
                <a:cs typeface="+mn-ea"/>
              </a:rPr>
              <a:t>1.什么水印算法是盲水印算法？</a:t>
            </a:r>
            <a:endParaRPr lang="zh-CN" altLang="en-US" dirty="0">
              <a:cs typeface="+mn-ea"/>
            </a:endParaRPr>
          </a:p>
          <a:p>
            <a:pPr lvl="1" algn="l">
              <a:lnSpc>
                <a:spcPct val="150000"/>
              </a:lnSpc>
              <a:spcBef>
                <a:spcPts val="0"/>
              </a:spcBef>
            </a:pPr>
            <a:r>
              <a:rPr lang="zh-CN" altLang="en-US" dirty="0">
                <a:cs typeface="+mn-ea"/>
              </a:rPr>
              <a:t>2.512*512的彩色图像使用LSB算法最多能隐藏多少秘密信息？</a:t>
            </a:r>
            <a:endParaRPr lang="zh-CN" altLang="en-US" dirty="0">
              <a:cs typeface="+mn-ea"/>
            </a:endParaRPr>
          </a:p>
          <a:p>
            <a:pPr lvl="1" algn="l">
              <a:lnSpc>
                <a:spcPct val="150000"/>
              </a:lnSpc>
              <a:spcBef>
                <a:spcPts val="0"/>
              </a:spcBef>
            </a:pPr>
            <a:r>
              <a:rPr lang="zh-CN" altLang="en-US" dirty="0">
                <a:cs typeface="+mn-ea"/>
              </a:rPr>
              <a:t>3.常见的变换域方法有哪些？</a:t>
            </a:r>
            <a:endParaRPr lang="zh-CN" altLang="en-US" dirty="0">
              <a:cs typeface="+mn-ea"/>
            </a:endParaRPr>
          </a:p>
          <a:p>
            <a:pPr lvl="1" algn="l">
              <a:lnSpc>
                <a:spcPct val="150000"/>
              </a:lnSpc>
              <a:spcBef>
                <a:spcPts val="0"/>
              </a:spcBef>
            </a:pPr>
            <a:r>
              <a:rPr lang="zh-CN" altLang="en-US" dirty="0">
                <a:cs typeface="+mn-ea"/>
              </a:rPr>
              <a:t>4.水印嵌入位置选择应考虑哪些问题？</a:t>
            </a:r>
            <a:endParaRPr lang="zh-CN" altLang="en-US" dirty="0">
              <a:cs typeface="+mn-ea"/>
            </a:endParaRPr>
          </a:p>
          <a:p>
            <a:pPr lvl="1" algn="l">
              <a:lnSpc>
                <a:spcPct val="150000"/>
              </a:lnSpc>
              <a:spcBef>
                <a:spcPts val="0"/>
              </a:spcBef>
            </a:pPr>
            <a:r>
              <a:rPr lang="zh-CN" altLang="en-US" dirty="0">
                <a:cs typeface="+mn-ea"/>
              </a:rPr>
              <a:t>5.替换技术运用什么原理达到隐藏秘密信息的目的？</a:t>
            </a:r>
            <a:endParaRPr lang="zh-CN" altLang="en-US" dirty="0">
              <a:cs typeface="+mn-ea"/>
            </a:endParaRPr>
          </a:p>
        </p:txBody>
      </p:sp>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2522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6" name="图片 5"/>
          <p:cNvPicPr>
            <a:picLocks noChangeAspect="1"/>
          </p:cNvPicPr>
          <p:nvPr/>
        </p:nvPicPr>
        <p:blipFill>
          <a:blip r:embed="rId1"/>
          <a:srcRect b="6316"/>
          <a:stretch>
            <a:fillRect/>
          </a:stretch>
        </p:blipFill>
        <p:spPr>
          <a:xfrm>
            <a:off x="1631315" y="1701165"/>
            <a:ext cx="7780020" cy="49352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25220"/>
            <a:ext cx="6096000" cy="537210"/>
          </a:xfrm>
          <a:prstGeom prst="rect">
            <a:avLst/>
          </a:prstGeom>
          <a:noFill/>
        </p:spPr>
        <p:txBody>
          <a:bodyPr wrap="square" rtlCol="0" anchor="t">
            <a:spAutoFit/>
          </a:bodyPr>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a:t>
            </a:r>
            <a:r>
              <a:rPr lang="zh-CN" altLang="en-US" sz="2900" kern="0" dirty="0">
                <a:latin typeface="+mn-lt"/>
                <a:ea typeface="+mn-ea"/>
                <a:sym typeface="+mn-ea"/>
              </a:rPr>
              <a:t>填空题】</a:t>
            </a:r>
            <a:endParaRPr lang="zh-CN" altLang="en-US" sz="2900" kern="0" dirty="0">
              <a:latin typeface="+mn-lt"/>
              <a:ea typeface="+mn-ea"/>
              <a:sym typeface="+mn-ea"/>
            </a:endParaRPr>
          </a:p>
        </p:txBody>
      </p:sp>
      <p:pic>
        <p:nvPicPr>
          <p:cNvPr id="2" name="图片 1"/>
          <p:cNvPicPr>
            <a:picLocks noChangeAspect="1"/>
          </p:cNvPicPr>
          <p:nvPr/>
        </p:nvPicPr>
        <p:blipFill>
          <a:blip r:embed="rId1"/>
          <a:srcRect t="48045" b="3893"/>
          <a:stretch>
            <a:fillRect/>
          </a:stretch>
        </p:blipFill>
        <p:spPr>
          <a:xfrm>
            <a:off x="1631315" y="1628775"/>
            <a:ext cx="7377430" cy="493903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6.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7.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8.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19.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0.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1.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2.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3.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4.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5.xml><?xml version="1.0" encoding="utf-8"?>
<p:tagLst xmlns:p="http://schemas.openxmlformats.org/presentationml/2006/main">
  <p:tag name="KSO_WM_DIAGRAM_VIRTUALLY_FRAME" val="{&quot;height&quot;:439.6638582677166,&quot;left&quot;:43.5075590551181,&quot;top&quot;:79.78755905511812,&quot;width&quot;:635.2499999999998}"/>
</p:tagLst>
</file>

<file path=ppt/tags/tag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p="http://schemas.openxmlformats.org/presentationml/2006/main">
  <p:tag name="commondata" val="eyJoZGlkIjoiZmJkYjc5YTllNzJiNTY4M2VjMDk1Zjg3MmJhYTFlYmQifQ=="/>
</p:tagLst>
</file>

<file path=ppt/theme/theme1.xml><?xml version="1.0" encoding="utf-8"?>
<a:theme xmlns:a="http://schemas.openxmlformats.org/drawingml/2006/main" name="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自定义-华文楷体">
      <a:majorFont>
        <a:latin typeface="Calibri"/>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Green</Template>
  <TotalTime>0</TotalTime>
  <Words>6439</Words>
  <Application>WPS 演示</Application>
  <PresentationFormat>全屏显示(4:3)</PresentationFormat>
  <Paragraphs>434</Paragraphs>
  <Slides>48</Slides>
  <Notes>112</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22</vt:i4>
      </vt:variant>
      <vt:variant>
        <vt:lpstr>幻灯片标题</vt:lpstr>
      </vt:variant>
      <vt:variant>
        <vt:i4>48</vt:i4>
      </vt:variant>
    </vt:vector>
  </HeadingPairs>
  <TitlesOfParts>
    <vt:vector size="94" baseType="lpstr">
      <vt:lpstr>Arial</vt:lpstr>
      <vt:lpstr>宋体</vt:lpstr>
      <vt:lpstr>Wingdings</vt:lpstr>
      <vt:lpstr>Tahoma</vt:lpstr>
      <vt:lpstr>Verdana</vt:lpstr>
      <vt:lpstr>Calibri</vt:lpstr>
      <vt:lpstr>华文楷体</vt:lpstr>
      <vt:lpstr>Times New Roman</vt:lpstr>
      <vt:lpstr>楷体</vt:lpstr>
      <vt:lpstr>Arial Black</vt:lpstr>
      <vt:lpstr>黑体</vt:lpstr>
      <vt:lpstr>微软雅黑</vt:lpstr>
      <vt:lpstr>Impact</vt:lpstr>
      <vt:lpstr>Times New Roman</vt:lpstr>
      <vt:lpstr>Arial Unicode MS</vt:lpstr>
      <vt:lpstr>隶书</vt:lpstr>
      <vt:lpstr>Cambria Math</vt:lpstr>
      <vt:lpstr>TimesNewRomanPS-ItalicMT</vt:lpstr>
      <vt:lpstr>Segoe Print</vt:lpstr>
      <vt:lpstr>TimesNewRomanPSMT</vt:lpstr>
      <vt:lpstr>SymbolMT</vt:lpstr>
      <vt:lpstr>Symbol</vt:lpstr>
      <vt:lpstr>Cambria Math</vt:lpstr>
      <vt:lpstr>Green</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c:creator>
  <cp:lastModifiedBy>BUPT</cp:lastModifiedBy>
  <cp:revision>1209</cp:revision>
  <dcterms:created xsi:type="dcterms:W3CDTF">2113-01-01T00:00:00Z</dcterms:created>
  <dcterms:modified xsi:type="dcterms:W3CDTF">2024-07-27T13:12:35Z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9F233AE41F9546FDA8F85FCC36A99836_13</vt:lpwstr>
  </property>
</Properties>
</file>