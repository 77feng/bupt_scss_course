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0" r:id="rId2"/>
    <p:sldId id="261" r:id="rId3"/>
    <p:sldId id="262" r:id="rId4"/>
    <p:sldId id="263" r:id="rId5"/>
    <p:sldId id="264" r:id="rId6"/>
    <p:sldId id="267" r:id="rId7"/>
    <p:sldId id="268" r:id="rId8"/>
    <p:sldId id="270" r:id="rId9"/>
    <p:sldId id="282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1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Microsoft Office" initials="Office" lastIdx="1" clrIdx="0"/>
  <p:cmAuthor id="2" name="Administrator" initials="A" lastIdx="1" clrIdx="1"/>
  <p:cmAuthor id="3" name="1033406563@qq.com" initials="1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校徽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85971" y="96644"/>
            <a:ext cx="2706029" cy="715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Content="1" isInverted="1"/>
      </p:transition>
    </mc:Choice>
    <mc:Fallback xmlns="">
      <p:transition spd="slow"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684" y="301625"/>
            <a:ext cx="9751483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26684" y="1827213"/>
            <a:ext cx="9751483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6684" y="3960813"/>
            <a:ext cx="9751483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BDA9F-4E65-4594-82BA-76A9502D94EF}" type="datetime1">
              <a:rPr lang="zh-CN" altLang="en-US"/>
              <a:t>2024/12/6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信息隐藏和数字水印</a:t>
            </a: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A2536-3320-4BEB-81ED-F08D55969BE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advTm="641">
    <p:dissolve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982" r="14708" b="10728"/>
          <a:stretch>
            <a:fillRect/>
          </a:stretch>
        </p:blipFill>
        <p:spPr>
          <a:xfrm>
            <a:off x="1793132" y="1"/>
            <a:ext cx="10398868" cy="6857999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1" y="0"/>
            <a:ext cx="6524428" cy="6858000"/>
          </a:xfrm>
          <a:prstGeom prst="rect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平行四边形 45"/>
          <p:cNvSpPr/>
          <p:nvPr/>
        </p:nvSpPr>
        <p:spPr>
          <a:xfrm>
            <a:off x="3829260" y="-1"/>
            <a:ext cx="5496125" cy="6857999"/>
          </a:xfrm>
          <a:prstGeom prst="parallelogram">
            <a:avLst>
              <a:gd name="adj" fmla="val 48894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7" name="组合 46"/>
          <p:cNvGrpSpPr/>
          <p:nvPr/>
        </p:nvGrpSpPr>
        <p:grpSpPr>
          <a:xfrm>
            <a:off x="7088833" y="2515197"/>
            <a:ext cx="2198451" cy="2198451"/>
            <a:chOff x="5437761" y="2329774"/>
            <a:chExt cx="2198451" cy="2198451"/>
          </a:xfrm>
        </p:grpSpPr>
        <p:sp>
          <p:nvSpPr>
            <p:cNvPr id="30" name="椭圆 29"/>
            <p:cNvSpPr/>
            <p:nvPr/>
          </p:nvSpPr>
          <p:spPr>
            <a:xfrm>
              <a:off x="5437761" y="2329774"/>
              <a:ext cx="2198451" cy="21984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5307" y="2417320"/>
              <a:ext cx="2023358" cy="2023358"/>
            </a:xfrm>
            <a:prstGeom prst="rect">
              <a:avLst/>
            </a:prstGeom>
          </p:spPr>
        </p:pic>
      </p:grpSp>
      <p:sp>
        <p:nvSpPr>
          <p:cNvPr id="33" name="文本框 32"/>
          <p:cNvSpPr txBox="1"/>
          <p:nvPr/>
        </p:nvSpPr>
        <p:spPr>
          <a:xfrm>
            <a:off x="836706" y="1587039"/>
            <a:ext cx="77809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基于LSB的隐写与隐写分析</a:t>
            </a:r>
          </a:p>
        </p:txBody>
      </p:sp>
      <p:cxnSp>
        <p:nvCxnSpPr>
          <p:cNvPr id="35" name="直接连接符 34"/>
          <p:cNvCxnSpPr/>
          <p:nvPr/>
        </p:nvCxnSpPr>
        <p:spPr>
          <a:xfrm flipV="1">
            <a:off x="745453" y="1595814"/>
            <a:ext cx="0" cy="249514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093153" y="4390073"/>
            <a:ext cx="5431155" cy="1608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algn="ctr">
              <a:spcBef>
                <a:spcPct val="20000"/>
              </a:spcBef>
              <a:buClr>
                <a:srgbClr val="006666"/>
              </a:buClr>
              <a:buSzPct val="70000"/>
              <a:buFont typeface="Wingdings" panose="05000000000000000000" pitchFamily="2" charset="2"/>
            </a:pPr>
            <a:r>
              <a:rPr lang="zh-CN" altLang="en-US" sz="290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charset="-122"/>
                <a:sym typeface="华文楷体" panose="02010600040101010101" charset="-122"/>
              </a:rPr>
              <a:t>雷敏</a:t>
            </a:r>
            <a:endParaRPr lang="zh-CN" altLang="en-US">
              <a:solidFill>
                <a:srgbClr val="FFFFFF"/>
              </a:solidFill>
            </a:endParaRPr>
          </a:p>
          <a:p>
            <a:pPr algn="ctr">
              <a:spcBef>
                <a:spcPct val="20000"/>
              </a:spcBef>
              <a:buClr>
                <a:srgbClr val="006666"/>
              </a:buClr>
              <a:buSzPct val="70000"/>
              <a:buFont typeface="Wingdings" panose="05000000000000000000" pitchFamily="2" charset="2"/>
            </a:pPr>
            <a:r>
              <a:rPr lang="zh-CN" altLang="en-US" sz="29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charset="-122"/>
                <a:sym typeface="华文楷体" panose="02010600040101010101" charset="-122"/>
              </a:rPr>
              <a:t>北京邮电大学 网络空间安全学院</a:t>
            </a:r>
            <a:endParaRPr lang="zh-CN" altLang="en-US" dirty="0">
              <a:solidFill>
                <a:srgbClr val="FFFFFF"/>
              </a:solidFill>
            </a:endParaRPr>
          </a:p>
          <a:p>
            <a:pPr algn="ctr">
              <a:spcBef>
                <a:spcPct val="20000"/>
              </a:spcBef>
              <a:buClr>
                <a:srgbClr val="006666"/>
              </a:buClr>
              <a:buSzPct val="70000"/>
              <a:buFont typeface="Wingdings" panose="05000000000000000000" pitchFamily="2" charset="2"/>
            </a:pPr>
            <a:r>
              <a:rPr lang="en-US" altLang="zh-CN" sz="29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charset="-122"/>
                <a:sym typeface="华文楷体" panose="02010600040101010101" charset="-122"/>
              </a:rPr>
              <a:t>leimin@bupt.edu.cn</a:t>
            </a:r>
            <a:endParaRPr lang="en-US" altLang="zh-CN" sz="2900" b="1" dirty="0">
              <a:solidFill>
                <a:srgbClr val="FFFFFF"/>
              </a:solidFill>
              <a:latin typeface="Times New Roman" panose="02020603050405020304" pitchFamily="18" charset="0"/>
              <a:ea typeface="华文楷体" panose="02010600040101010101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LSB隐写的特点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4541"/>
            <a:chOff x="2215144" y="982844"/>
            <a:chExt cx="1258238" cy="914746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5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 bwMode="auto">
          <a:xfrm>
            <a:off x="559776" y="958284"/>
            <a:ext cx="10408920" cy="5246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 dirty="0"/>
              <a:t>研究最早</a:t>
            </a:r>
          </a:p>
          <a:p>
            <a:pPr eaLnBrk="1" hangingPunct="1"/>
            <a:r>
              <a:rPr lang="zh-CN" altLang="en-US" dirty="0"/>
              <a:t>算法简单</a:t>
            </a:r>
          </a:p>
          <a:p>
            <a:pPr eaLnBrk="1" hangingPunct="1"/>
            <a:r>
              <a:rPr lang="zh-CN" altLang="en-US" dirty="0"/>
              <a:t>隐藏量大</a:t>
            </a:r>
          </a:p>
          <a:p>
            <a:pPr eaLnBrk="1" hangingPunct="1"/>
            <a:r>
              <a:rPr lang="zh-CN" altLang="en-US" dirty="0"/>
              <a:t>应用广泛</a:t>
            </a:r>
          </a:p>
          <a:p>
            <a:pPr marL="0" indent="0" eaLnBrk="1" hangingPunct="1">
              <a:buNone/>
            </a:pPr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LSB</a:t>
            </a:r>
            <a:r>
              <a:rPr lang="zh-CN" altLang="en-US" dirty="0"/>
              <a:t>隐写算法的透明性比较好，但是鲁棒性比较差？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LSB</a:t>
            </a:r>
            <a:r>
              <a:rPr lang="zh-CN" altLang="en-US" dirty="0"/>
              <a:t>隐写算法的透明性比较好，但是鲁棒性比较差。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512*512</a:t>
            </a:r>
            <a:r>
              <a:rPr lang="zh-CN" altLang="en-US" dirty="0"/>
              <a:t>的</a:t>
            </a:r>
            <a:r>
              <a:rPr lang="en-US" altLang="zh-CN" dirty="0"/>
              <a:t>RGB</a:t>
            </a:r>
            <a:r>
              <a:rPr lang="zh-CN" altLang="en-US" dirty="0"/>
              <a:t>能隐藏</a:t>
            </a:r>
            <a:r>
              <a:rPr lang="en-US" altLang="zh-CN" dirty="0"/>
              <a:t>512*512*3</a:t>
            </a:r>
            <a:r>
              <a:rPr lang="zh-CN" altLang="en-US" dirty="0"/>
              <a:t>（隐藏容量）。</a:t>
            </a:r>
          </a:p>
          <a:p>
            <a:pPr marL="0" indent="0" eaLnBrk="1" hangingPunct="1">
              <a:buNone/>
            </a:pPr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LSB</a:t>
            </a:r>
            <a:r>
              <a:rPr lang="zh-CN" altLang="en-US" dirty="0"/>
              <a:t>隐写算法的应用范围较为广泛，载体可以是图像，音频，视频，载体可以是二值图像？可以利用二值图像来作为载体实现</a:t>
            </a:r>
            <a:r>
              <a:rPr lang="en-US" altLang="zh-CN" dirty="0"/>
              <a:t>LSB</a:t>
            </a:r>
            <a:r>
              <a:rPr lang="zh-CN" altLang="en-US" dirty="0"/>
              <a:t>信息隐藏吗？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载体不能是二值图像，会影响透明。可以作为水印。</a:t>
            </a:r>
          </a:p>
          <a:p>
            <a:pPr marL="0" indent="0" eaLnBrk="1" hangingPunct="1">
              <a:buNone/>
            </a:pP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LSB隐写的原理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123" name="Rectangle 2"/>
          <p:cNvSpPr>
            <a:spLocks noGrp="1" noChangeArrowheads="1"/>
          </p:cNvSpPr>
          <p:nvPr/>
        </p:nvSpPr>
        <p:spPr bwMode="auto">
          <a:xfrm>
            <a:off x="1245659" y="154623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/>
        </p:nvSpPr>
        <p:spPr bwMode="auto">
          <a:xfrm>
            <a:off x="1245659" y="1680211"/>
            <a:ext cx="975148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r>
              <a:rPr lang="zh-CN" altLang="en-US" sz="3335" dirty="0">
                <a:latin typeface="宋体" panose="02010600030101010101" pitchFamily="2" charset="-122"/>
              </a:rPr>
              <a:t>位平面与视觉效果的关系</a:t>
            </a:r>
          </a:p>
          <a:p>
            <a:r>
              <a:rPr lang="zh-CN" altLang="en-US" sz="3335" dirty="0">
                <a:latin typeface="宋体" panose="02010600030101010101" pitchFamily="2" charset="-122"/>
              </a:rPr>
              <a:t>隐写技术</a:t>
            </a:r>
            <a:r>
              <a:rPr lang="en-US" altLang="zh-CN" sz="3335" dirty="0">
                <a:latin typeface="Arial" panose="020B0604020202020204" pitchFamily="34" charset="0"/>
              </a:rPr>
              <a:t>——</a:t>
            </a:r>
            <a:r>
              <a:rPr lang="zh-CN" altLang="en-US" sz="3335" dirty="0">
                <a:latin typeface="宋体" panose="02010600030101010101" pitchFamily="2" charset="-122"/>
              </a:rPr>
              <a:t>替换</a:t>
            </a:r>
            <a:endParaRPr lang="en-US" altLang="zh-CN" sz="3335" dirty="0">
              <a:latin typeface="宋体" panose="02010600030101010101" pitchFamily="2" charset="-122"/>
            </a:endParaRP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1624542" y="6596698"/>
            <a:ext cx="2931584" cy="106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00"/>
              <a:t>原图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6713008" y="6596698"/>
            <a:ext cx="2931584" cy="106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00"/>
              <a:t>隐写后图像</a:t>
            </a:r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368" y="3106420"/>
            <a:ext cx="2608262" cy="260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643" y="3106103"/>
            <a:ext cx="2592387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654175" y="5915025"/>
            <a:ext cx="219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原图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470525" y="5915025"/>
            <a:ext cx="219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隐写后图像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LSB隐写步骤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147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" name="Rectangle 3"/>
          <p:cNvSpPr>
            <a:spLocks noGrp="1" noChangeArrowheads="1"/>
          </p:cNvSpPr>
          <p:nvPr/>
        </p:nvSpPr>
        <p:spPr bwMode="auto">
          <a:xfrm>
            <a:off x="579755" y="1477010"/>
            <a:ext cx="1039241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/>
              <a:t>将秘密信息转化为比特流</a:t>
            </a:r>
          </a:p>
          <a:p>
            <a:pPr eaLnBrk="1" hangingPunct="1"/>
            <a:r>
              <a:rPr lang="zh-CN" altLang="en-US"/>
              <a:t>将比特流进行加密或置乱（用密钥）</a:t>
            </a:r>
          </a:p>
          <a:p>
            <a:pPr eaLnBrk="1" hangingPunct="1"/>
            <a:r>
              <a:rPr lang="zh-CN" altLang="en-US"/>
              <a:t>逐行</a:t>
            </a:r>
            <a:r>
              <a:rPr lang="en-US" altLang="zh-CN"/>
              <a:t>/</a:t>
            </a:r>
            <a:r>
              <a:rPr lang="zh-CN" altLang="en-US"/>
              <a:t>或逐列</a:t>
            </a:r>
            <a:r>
              <a:rPr lang="en-US" altLang="zh-CN"/>
              <a:t>/</a:t>
            </a:r>
            <a:r>
              <a:rPr lang="zh-CN" altLang="en-US"/>
              <a:t>或随机游走的方式替换载体图像的最低比特位</a:t>
            </a:r>
          </a:p>
          <a:p>
            <a:pPr eaLnBrk="1" hangingPunct="1"/>
            <a:r>
              <a:rPr lang="zh-CN" altLang="en-US"/>
              <a:t>接收者提取最低比特位，恢复秘密信息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思考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71" name="Rectangle 1026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4" name="Rectangle 1027"/>
          <p:cNvSpPr>
            <a:spLocks noGrp="1" noChangeArrowheads="1"/>
          </p:cNvSpPr>
          <p:nvPr/>
        </p:nvSpPr>
        <p:spPr bwMode="auto">
          <a:xfrm>
            <a:off x="698500" y="1420495"/>
            <a:ext cx="10273665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/>
              <a:t>特征分析法对</a:t>
            </a:r>
            <a:r>
              <a:rPr lang="en-US" altLang="zh-CN"/>
              <a:t>LSB</a:t>
            </a:r>
            <a:r>
              <a:rPr lang="zh-CN" altLang="en-US"/>
              <a:t>隐写有效吗？</a:t>
            </a:r>
            <a:endParaRPr lang="en-US" altLang="zh-CN"/>
          </a:p>
          <a:p>
            <a:pPr lvl="1" eaLnBrk="1" hangingPunct="1"/>
            <a:r>
              <a:rPr lang="zh-CN" altLang="en-US"/>
              <a:t>隐写软件现有版本已经逐渐去除特征码</a:t>
            </a:r>
            <a:endParaRPr lang="en-US" altLang="zh-CN"/>
          </a:p>
          <a:p>
            <a:pPr eaLnBrk="1" hangingPunct="1"/>
            <a:r>
              <a:rPr lang="zh-CN" altLang="en-US"/>
              <a:t>通过感观分析能够检测</a:t>
            </a:r>
            <a:r>
              <a:rPr lang="en-US" altLang="zh-CN"/>
              <a:t>LSB</a:t>
            </a:r>
            <a:r>
              <a:rPr lang="zh-CN" altLang="en-US"/>
              <a:t>隐写吗？</a:t>
            </a:r>
            <a:endParaRPr lang="en-US" altLang="zh-CN"/>
          </a:p>
          <a:p>
            <a:pPr lvl="1" eaLnBrk="1" hangingPunct="1"/>
            <a:r>
              <a:rPr lang="zh-CN" altLang="en-US"/>
              <a:t>有效：最低比特平面不具有随机性</a:t>
            </a:r>
            <a:endParaRPr lang="en-US" altLang="zh-CN"/>
          </a:p>
          <a:p>
            <a:pPr lvl="1" eaLnBrk="1" hangingPunct="1"/>
            <a:r>
              <a:rPr lang="zh-CN" altLang="en-US"/>
              <a:t>一般情况，隐写前后感观质量不下降</a:t>
            </a:r>
            <a:endParaRPr lang="en-US" altLang="zh-CN"/>
          </a:p>
          <a:p>
            <a:pPr eaLnBrk="1" hangingPunct="1"/>
            <a:r>
              <a:rPr lang="zh-CN" altLang="en-US"/>
              <a:t>统计分析对</a:t>
            </a:r>
            <a:r>
              <a:rPr lang="en-US" altLang="zh-CN"/>
              <a:t>LSB</a:t>
            </a:r>
            <a:r>
              <a:rPr lang="zh-CN" altLang="en-US"/>
              <a:t>隐写有效吗？</a:t>
            </a:r>
            <a:endParaRPr lang="en-US" altLang="zh-CN"/>
          </a:p>
          <a:p>
            <a:pPr lvl="1" eaLnBrk="1" hangingPunct="1"/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95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/>
        </p:nvSpPr>
        <p:spPr bwMode="auto">
          <a:xfrm>
            <a:off x="411480" y="1386205"/>
            <a:ext cx="10560685" cy="430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设图像中灰度值为j的像素数为，其中0≤ j ≤255。如果载体图像未经隐写，和的值会相差得很远。</a:t>
            </a:r>
          </a:p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秘密信息在嵌入之前往往经过加密，可以看作是0、1 随机分布的比特流，而且值为0与1 的可能性都是1/2。</a:t>
            </a:r>
          </a:p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如果秘密信息完全替代载体图像的最低位（也就是说嵌入率必须是100%），那么和的值会比较接近，可以根据这个性质判断图像是否经过隐写。</a:t>
            </a:r>
          </a:p>
        </p:txBody>
      </p:sp>
      <p:sp>
        <p:nvSpPr>
          <p:cNvPr id="2" name="矩形 1"/>
          <p:cNvSpPr/>
          <p:nvPr/>
        </p:nvSpPr>
        <p:spPr>
          <a:xfrm>
            <a:off x="995614" y="117270"/>
            <a:ext cx="947005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Symbol" panose="05050102010706020507" pitchFamily="18" charset="2"/>
              </a:rPr>
              <a:t>卡方</a:t>
            </a:r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+mn-ea"/>
              </a:rPr>
              <a:t>分析</a:t>
            </a:r>
            <a:endParaRPr lang="zh-CN" altLang="en-US" sz="3600" b="1" dirty="0">
              <a:solidFill>
                <a:srgbClr val="023B8C"/>
              </a:solidFill>
              <a:latin typeface="+mj-ea"/>
              <a:ea typeface="+mj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95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/>
        </p:nvSpPr>
        <p:spPr bwMode="auto">
          <a:xfrm>
            <a:off x="579120" y="1257300"/>
            <a:ext cx="10392410" cy="431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t>下图是原始灰度图像sea的灰度直方图的局部。下图中，以像素值为30的像素点为例，像素值为30的像素点有将近6000个，像素值为31的为4000多，相差得比较远。</a:t>
            </a:r>
          </a:p>
          <a:p>
            <a:pPr eaLnBrk="1" hangingPunct="1"/>
            <a:endParaRPr/>
          </a:p>
        </p:txBody>
      </p:sp>
      <p:sp>
        <p:nvSpPr>
          <p:cNvPr id="2" name="矩形 1"/>
          <p:cNvSpPr/>
          <p:nvPr/>
        </p:nvSpPr>
        <p:spPr>
          <a:xfrm>
            <a:off x="995614" y="117270"/>
            <a:ext cx="947005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Symbol" panose="05050102010706020507" pitchFamily="18" charset="2"/>
              </a:rPr>
              <a:t>卡方</a:t>
            </a:r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+mn-ea"/>
              </a:rPr>
              <a:t>分析</a:t>
            </a:r>
            <a:endParaRPr lang="zh-CN" altLang="en-US" sz="3600" b="1" dirty="0">
              <a:solidFill>
                <a:srgbClr val="023B8C"/>
              </a:solidFill>
              <a:latin typeface="+mj-ea"/>
              <a:ea typeface="+mj-ea"/>
              <a:cs typeface="+mn-ea"/>
              <a:sym typeface="+mn-ea"/>
            </a:endParaRPr>
          </a:p>
        </p:txBody>
      </p:sp>
      <p:pic>
        <p:nvPicPr>
          <p:cNvPr id="123" name="图片 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708275"/>
            <a:ext cx="10673080" cy="362712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243" name="Rectangle 2"/>
          <p:cNvSpPr>
            <a:spLocks noGrp="1" noChangeArrowheads="1"/>
          </p:cNvSpPr>
          <p:nvPr/>
        </p:nvSpPr>
        <p:spPr bwMode="auto">
          <a:xfrm>
            <a:off x="1220259" y="1001713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/>
          </a:p>
        </p:txBody>
      </p:sp>
      <p:sp>
        <p:nvSpPr>
          <p:cNvPr id="10244" name="Rectangle 3"/>
          <p:cNvSpPr>
            <a:spLocks noGrp="1" noChangeArrowheads="1"/>
          </p:cNvSpPr>
          <p:nvPr/>
        </p:nvSpPr>
        <p:spPr bwMode="auto">
          <a:xfrm>
            <a:off x="995680" y="1002665"/>
            <a:ext cx="9976485" cy="4318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/>
              <a:t>嵌入了秘密信息以后，灰度值为2i和2i+1的像素出现的频率趋于相等。像素值为30和像素值为31的像素点的总个数比较接近。其他的像素值的点的个数也比较接近。下图是隐写图像sea的局部灰度直方图。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102929" y="249350"/>
            <a:ext cx="947005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Symbol" panose="05050102010706020507" pitchFamily="18" charset="2"/>
              </a:rPr>
              <a:t>卡方</a:t>
            </a:r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+mn-ea"/>
              </a:rPr>
              <a:t>分析——值对翻转统计效果示例</a:t>
            </a:r>
          </a:p>
        </p:txBody>
      </p:sp>
      <p:pic>
        <p:nvPicPr>
          <p:cNvPr id="124" name="图片 3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" y="2928620"/>
            <a:ext cx="10854690" cy="378206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95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/>
        </p:nvSpPr>
        <p:spPr bwMode="auto">
          <a:xfrm>
            <a:off x="635" y="782955"/>
            <a:ext cx="12191365" cy="4973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marL="457200" lvl="1" indent="0" eaLnBrk="1" hangingPunct="1"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en-US" altLang="zh-CN" sz="2800" dirty="0">
                <a:latin typeface="宋体" panose="02010600030101010101" pitchFamily="2" charset="-122"/>
              </a:rPr>
              <a:t>嵌入的时候，如果秘密信息和嵌入位置灰度值的最低比特位相同，不改变最低比特位。反之，则改变最低有效位。</a:t>
            </a:r>
          </a:p>
          <a:p>
            <a:pPr marL="457200" lvl="1" indent="0" eaLnBrk="1" hangingPunct="1"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en-US" altLang="zh-CN" sz="2800" dirty="0">
                <a:latin typeface="宋体" panose="02010600030101010101" pitchFamily="2" charset="-122"/>
              </a:rPr>
              <a:t>原始像素值为35，二进制为00100011，嵌入秘密信息0，二进制为00100010，十进制为34。</a:t>
            </a:r>
          </a:p>
          <a:p>
            <a:pPr marL="457200" lvl="1" indent="0" eaLnBrk="1" hangingPunct="1"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en-US" altLang="zh-CN" sz="2800" dirty="0">
                <a:latin typeface="宋体" panose="02010600030101010101" pitchFamily="2" charset="-122"/>
              </a:rPr>
              <a:t>隐藏秘密信息的时候，像素值转化的时候，一般是2i和2i+1之间转换，不存在2i和2i-1之间转换，也不存在2i+1和2i+2之间转换。也就是说只可能在34&lt;-&gt;35之间转换，不存在34和33之间转换，也不存在35和36之间转换。</a:t>
            </a:r>
          </a:p>
          <a:p>
            <a:pPr marL="457200" lvl="1" indent="0" eaLnBrk="1" hangingPunct="1"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4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en-US" altLang="zh-CN" sz="2800" dirty="0">
                <a:latin typeface="宋体" panose="02010600030101010101" pitchFamily="2" charset="-122"/>
              </a:rPr>
              <a:t>如果原始像素值的最后一位为0，像素值就是2i，如果嵌入秘密信息1，则最后一位为1，像素值转为2i+1；如果原始像素值的最低比特位为1，像素值为2i+1，嵌入秘密信息1，像素值不变。如果嵌入秘密信息0，像素值转为2i。</a:t>
            </a:r>
          </a:p>
          <a:p>
            <a:pPr marL="457200" lvl="1" indent="0" eaLnBrk="1" hangingPunct="1">
              <a:buNone/>
            </a:pPr>
            <a:r>
              <a:rPr lang="zh-CN" altLang="en-US" sz="2800">
                <a:sym typeface="+mn-ea"/>
              </a:rPr>
              <a:t>结论：</a:t>
            </a:r>
            <a:r>
              <a:rPr lang="zh-CN" altLang="en-US" sz="2800" b="1">
                <a:sym typeface="+mn-ea"/>
              </a:rPr>
              <a:t>嵌入秘密信息后，灰度值为2i和2i+1的像素出现的频率趋于相等。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5614" y="117270"/>
            <a:ext cx="947005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Symbol" panose="05050102010706020507" pitchFamily="18" charset="2"/>
              </a:rPr>
              <a:t>卡方</a:t>
            </a:r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+mn-ea"/>
              </a:rPr>
              <a:t>分析</a:t>
            </a:r>
            <a:endParaRPr lang="zh-CN" altLang="en-US" sz="3600" b="1" dirty="0">
              <a:solidFill>
                <a:srgbClr val="023B8C"/>
              </a:solidFill>
              <a:latin typeface="+mj-ea"/>
              <a:ea typeface="+mj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95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Rectangle 3"/>
              <p:cNvSpPr>
                <a:spLocks noGrp="1" noChangeArrowheads="1"/>
              </p:cNvSpPr>
              <p:nvPr/>
            </p:nvSpPr>
            <p:spPr bwMode="auto">
              <a:xfrm>
                <a:off x="394970" y="1544955"/>
                <a:ext cx="10577195" cy="4704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  <a:cs typeface="+mn-ea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CCCC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CCCC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宋体" panose="02010600030101010101" pitchFamily="2" charset="-122"/>
                  </a:rPr>
                  <a:t>结论：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如果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图像</a:t>
                </a:r>
                <a:r>
                  <a:rPr lang="en-US" altLang="zh-CN" dirty="0">
                    <a:latin typeface="宋体" panose="02010600030101010101" pitchFamily="2" charset="-122"/>
                  </a:rPr>
                  <a:t>LSB</a:t>
                </a:r>
                <a:r>
                  <a:rPr lang="zh-CN" altLang="en-US" dirty="0">
                    <a:latin typeface="宋体" panose="02010600030101010101" pitchFamily="2" charset="-122"/>
                  </a:rPr>
                  <a:t>隐写，那么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一致。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eaLnBrk="1" hangingPunct="1"/>
                <a:r>
                  <a:rPr lang="zh-CN" altLang="en-US" dirty="0">
                    <a:latin typeface="宋体" panose="02010600030101010101" pitchFamily="2" charset="-122"/>
                  </a:rPr>
                  <a:t>问题：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的关系如何，可认为一致？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endParaRPr lang="en-US" altLang="zh-CN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2292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970" y="1544955"/>
                <a:ext cx="10577195" cy="47040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995614" y="117270"/>
            <a:ext cx="947005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Symbol" panose="05050102010706020507" pitchFamily="18" charset="2"/>
              </a:rPr>
              <a:t>卡方</a:t>
            </a:r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+mn-ea"/>
              </a:rPr>
              <a:t>分析</a:t>
            </a:r>
            <a:endParaRPr lang="zh-CN" altLang="en-US" sz="3600" b="1" dirty="0">
              <a:solidFill>
                <a:srgbClr val="023B8C"/>
              </a:solidFill>
              <a:latin typeface="+mj-ea"/>
              <a:ea typeface="+mj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26479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243" name="Rectangle 2"/>
          <p:cNvSpPr>
            <a:spLocks noGrp="1" noChangeArrowheads="1"/>
          </p:cNvSpPr>
          <p:nvPr/>
        </p:nvSpPr>
        <p:spPr bwMode="auto">
          <a:xfrm>
            <a:off x="2066711" y="-873334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/>
          </a:p>
        </p:txBody>
      </p:sp>
      <p:sp>
        <p:nvSpPr>
          <p:cNvPr id="7" name="椭圆 6"/>
          <p:cNvSpPr/>
          <p:nvPr/>
        </p:nvSpPr>
        <p:spPr bwMode="auto">
          <a:xfrm>
            <a:off x="2066711" y="4942340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2591611" y="4577745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3023408" y="3925118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567942" y="621860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6462399" y="1075036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7488155" y="2158030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10944539" y="3192338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4449019" y="1651100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849627" y="1651100"/>
            <a:ext cx="2606080" cy="602941"/>
          </a:xfrm>
          <a:prstGeom prst="wedgeRoundRectCallout">
            <a:avLst/>
          </a:prstGeom>
          <a:solidFill>
            <a:srgbClr val="FFFFFF"/>
          </a:solidFill>
          <a:ln w="19050" cap="flat" cmpd="sng" algn="ctr">
            <a:solidFill>
              <a:srgbClr val="33CCCC"/>
            </a:solidFill>
            <a:prstDash val="solid"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观测值符合期望</a:t>
            </a:r>
          </a:p>
        </p:txBody>
      </p:sp>
      <p:cxnSp>
        <p:nvCxnSpPr>
          <p:cNvPr id="10" name="直接箭头连接符 9"/>
          <p:cNvCxnSpPr>
            <a:stCxn id="9" idx="3"/>
            <a:endCxn id="20" idx="2"/>
          </p:cNvCxnSpPr>
          <p:nvPr/>
        </p:nvCxnSpPr>
        <p:spPr bwMode="auto">
          <a:xfrm flipV="1">
            <a:off x="3455707" y="1795116"/>
            <a:ext cx="993312" cy="157455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" name="直接箭头连接符 15"/>
          <p:cNvCxnSpPr>
            <a:stCxn id="9" idx="4"/>
            <a:endCxn id="13" idx="0"/>
          </p:cNvCxnSpPr>
          <p:nvPr/>
        </p:nvCxnSpPr>
        <p:spPr bwMode="auto">
          <a:xfrm>
            <a:off x="1609743" y="2329409"/>
            <a:ext cx="1772127" cy="1595709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3" name="直接箭头连接符 22"/>
          <p:cNvCxnSpPr>
            <a:stCxn id="9" idx="4"/>
            <a:endCxn id="12" idx="0"/>
          </p:cNvCxnSpPr>
          <p:nvPr/>
        </p:nvCxnSpPr>
        <p:spPr bwMode="auto">
          <a:xfrm>
            <a:off x="1609743" y="2329409"/>
            <a:ext cx="1340329" cy="2248336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6" name="直接箭头连接符 25"/>
          <p:cNvCxnSpPr>
            <a:stCxn id="9" idx="4"/>
            <a:endCxn id="7" idx="0"/>
          </p:cNvCxnSpPr>
          <p:nvPr/>
        </p:nvCxnSpPr>
        <p:spPr bwMode="auto">
          <a:xfrm>
            <a:off x="1609743" y="2329409"/>
            <a:ext cx="815429" cy="2612931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9" name="圆角矩形标注 38"/>
          <p:cNvSpPr/>
          <p:nvPr/>
        </p:nvSpPr>
        <p:spPr bwMode="auto">
          <a:xfrm>
            <a:off x="8844707" y="1219386"/>
            <a:ext cx="3155949" cy="602941"/>
          </a:xfrm>
          <a:prstGeom prst="wedgeRoundRectCallout">
            <a:avLst/>
          </a:prstGeom>
          <a:solidFill>
            <a:srgbClr val="FFFFFF"/>
          </a:solidFill>
          <a:ln w="19050" cap="flat" cmpd="sng" algn="ctr">
            <a:solidFill>
              <a:srgbClr val="33CCCC"/>
            </a:solidFill>
            <a:prstDash val="solid"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观测值与期望有偏差</a:t>
            </a:r>
          </a:p>
        </p:txBody>
      </p:sp>
      <p:cxnSp>
        <p:nvCxnSpPr>
          <p:cNvPr id="10248" name="肘形连接符 10247" hidden="1"/>
          <p:cNvCxnSpPr>
            <a:stCxn id="39" idx="0"/>
            <a:endCxn id="8" idx="0"/>
          </p:cNvCxnSpPr>
          <p:nvPr/>
        </p:nvCxnSpPr>
        <p:spPr bwMode="auto">
          <a:xfrm rot="16200000" flipV="1">
            <a:off x="7816533" y="-1387157"/>
            <a:ext cx="597535" cy="4615180"/>
          </a:xfrm>
          <a:prstGeom prst="bentConnector3">
            <a:avLst>
              <a:gd name="adj1" fmla="val 139904"/>
            </a:avLst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250" name="肘形连接符 10249"/>
          <p:cNvCxnSpPr>
            <a:stCxn id="39" idx="0"/>
            <a:endCxn id="17" idx="0"/>
          </p:cNvCxnSpPr>
          <p:nvPr/>
        </p:nvCxnSpPr>
        <p:spPr bwMode="auto">
          <a:xfrm rot="16200000" flipV="1">
            <a:off x="8490379" y="-712916"/>
            <a:ext cx="144351" cy="3720256"/>
          </a:xfrm>
          <a:prstGeom prst="bentConnector3">
            <a:avLst>
              <a:gd name="adj1" fmla="val 311152"/>
            </a:avLst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252" name="肘形连接符 10251"/>
          <p:cNvCxnSpPr>
            <a:stCxn id="39" idx="4"/>
            <a:endCxn id="18" idx="3"/>
          </p:cNvCxnSpPr>
          <p:nvPr/>
        </p:nvCxnSpPr>
        <p:spPr bwMode="auto">
          <a:xfrm rot="5400000">
            <a:off x="8520515" y="1345389"/>
            <a:ext cx="692383" cy="1796995"/>
          </a:xfrm>
          <a:prstGeom prst="bentConnector2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255" name="肘形连接符 10254"/>
          <p:cNvCxnSpPr>
            <a:stCxn id="39" idx="4"/>
            <a:endCxn id="19" idx="0"/>
          </p:cNvCxnSpPr>
          <p:nvPr/>
        </p:nvCxnSpPr>
        <p:spPr bwMode="auto">
          <a:xfrm rot="5400000" flipV="1">
            <a:off x="9827895" y="1835785"/>
            <a:ext cx="1294130" cy="1418590"/>
          </a:xfrm>
          <a:prstGeom prst="bentConnector3">
            <a:avLst>
              <a:gd name="adj1" fmla="val 47105"/>
            </a:avLst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5" name="Rectangle 3"/>
          <p:cNvSpPr>
            <a:spLocks noGrp="1" noChangeArrowheads="1"/>
          </p:cNvSpPr>
          <p:nvPr/>
        </p:nvSpPr>
        <p:spPr>
          <a:xfrm>
            <a:off x="1826684" y="1198563"/>
            <a:ext cx="9751483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 dirty="0"/>
              <a:t>在测试图像的所有最低位上嵌入秘密信息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76875" y="-95241"/>
            <a:ext cx="15265696" cy="762898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23658" y="8806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2" name="椭圆 21"/>
          <p:cNvSpPr/>
          <p:nvPr/>
        </p:nvSpPr>
        <p:spPr bwMode="auto">
          <a:xfrm>
            <a:off x="1826684" y="5488649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102929" y="-95455"/>
                <a:ext cx="9470058" cy="14033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fontAlgn="base">
                  <a:buClrTx/>
                  <a:buSzTx/>
                  <a:buFontTx/>
                </a:pPr>
                <a:r>
                  <a:rPr lang="zh-CN" altLang="en-US" sz="3600" b="1" dirty="0">
                    <a:solidFill>
                      <a:srgbClr val="023B8C"/>
                    </a:solidFill>
                    <a:latin typeface="+mj-ea"/>
                    <a:ea typeface="+mj-ea"/>
                    <a:sym typeface="Symbol" panose="05050102010706020507" pitchFamily="18" charset="2"/>
                  </a:rPr>
                  <a:t>卡方</a:t>
                </a:r>
                <a:r>
                  <a:rPr lang="zh-CN" altLang="en-US" sz="3600" b="1" dirty="0">
                    <a:solidFill>
                      <a:srgbClr val="023B8C"/>
                    </a:solidFill>
                    <a:latin typeface="+mj-ea"/>
                    <a:ea typeface="+mj-ea"/>
                    <a:sym typeface="+mn-ea"/>
                  </a:rPr>
                  <a:t>分析——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3600" b="1" i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sz="3600" b="1" i="1" dirty="0">
                                <a:solidFill>
                                  <a:srgbClr val="023B8C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zh-CN" altLang="en-US" sz="3600" b="1" dirty="0">
                                <a:solidFill>
                                  <a:srgbClr val="023B8C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sz="3600" b="1" dirty="0">
                                <a:solidFill>
                                  <a:srgbClr val="023B8C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𝑠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zh-CN" altLang="en-US" sz="3600" b="1" i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zh-CN" altLang="en-US" sz="3600" b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  <m:r>
                          <a:rPr lang="zh-CN" altLang="en-US" sz="3600" b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sz="3600" b="1" dirty="0">
                    <a:solidFill>
                      <a:srgbClr val="023B8C"/>
                    </a:solidFill>
                    <a:latin typeface="+mj-ea"/>
                    <a:ea typeface="+mj-ea"/>
                    <a:sym typeface="+mn-ea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600" b="1" i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zh-CN" altLang="en-US" sz="3600" b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𝑇</m:t>
                        </m:r>
                      </m:e>
                      <m:sub>
                        <m:r>
                          <a:rPr lang="zh-CN" altLang="en-US" sz="3600" b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sz="3600" b="1" i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zh-CN" altLang="en-US" sz="3600" b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  <m:r>
                          <a:rPr lang="zh-CN" altLang="en-US" sz="3600" b="1" dirty="0">
                            <a:solidFill>
                              <a:srgbClr val="023B8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e>
                    </m:d>
                  </m:oMath>
                </a14:m>
                <a:endParaRPr lang="zh-CN" altLang="en-US" sz="3600" b="1" dirty="0">
                  <a:solidFill>
                    <a:srgbClr val="023B8C"/>
                  </a:solidFill>
                  <a:latin typeface="+mj-ea"/>
                  <a:ea typeface="+mj-ea"/>
                </a:endParaRPr>
              </a:p>
              <a:p>
                <a:pPr algn="l" fontAlgn="base"/>
                <a:endParaRPr lang="zh-CN" altLang="en-US" sz="3600" b="1" dirty="0">
                  <a:solidFill>
                    <a:srgbClr val="023B8C"/>
                  </a:solidFill>
                  <a:latin typeface="+mj-ea"/>
                  <a:ea typeface="+mj-ea"/>
                  <a:cs typeface="+mn-ea"/>
                  <a:sym typeface="+mn-ea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929" y="-95455"/>
                <a:ext cx="9470058" cy="1403350"/>
              </a:xfrm>
              <a:prstGeom prst="rect">
                <a:avLst/>
              </a:prstGeom>
              <a:blipFill rotWithShape="1">
                <a:blip r:embed="rId5"/>
                <a:stretch>
                  <a:fillRect l="-6" t="15" r="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椭圆 23"/>
          <p:cNvSpPr/>
          <p:nvPr/>
        </p:nvSpPr>
        <p:spPr bwMode="auto">
          <a:xfrm>
            <a:off x="2351584" y="5124054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/>
        </p:nvSpPr>
        <p:spPr bwMode="auto">
          <a:xfrm>
            <a:off x="242570" y="629920"/>
            <a:ext cx="4605655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 dirty="0"/>
              <a:t>在测试图像的所有最低位上嵌入秘密信息</a:t>
            </a:r>
          </a:p>
        </p:txBody>
      </p:sp>
      <p:sp>
        <p:nvSpPr>
          <p:cNvPr id="25" name="椭圆 24"/>
          <p:cNvSpPr/>
          <p:nvPr/>
        </p:nvSpPr>
        <p:spPr bwMode="auto">
          <a:xfrm>
            <a:off x="2783381" y="4471427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327915" y="1168169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6222372" y="1621345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7248128" y="2704339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0704512" y="3751347"/>
            <a:ext cx="480053" cy="864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4208992" y="2197409"/>
            <a:ext cx="716921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圆角矩形标注 31"/>
          <p:cNvSpPr/>
          <p:nvPr/>
        </p:nvSpPr>
        <p:spPr bwMode="auto">
          <a:xfrm>
            <a:off x="609600" y="2197409"/>
            <a:ext cx="2606080" cy="602941"/>
          </a:xfrm>
          <a:prstGeom prst="wedgeRoundRectCallout">
            <a:avLst/>
          </a:prstGeom>
          <a:solidFill>
            <a:srgbClr val="FFFFFF"/>
          </a:solidFill>
          <a:ln w="19050" cap="flat" cmpd="sng" algn="ctr">
            <a:solidFill>
              <a:srgbClr val="33CCCC"/>
            </a:solidFill>
            <a:prstDash val="solid"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观测值符合期望</a:t>
            </a:r>
          </a:p>
        </p:txBody>
      </p:sp>
      <p:cxnSp>
        <p:nvCxnSpPr>
          <p:cNvPr id="33" name="直接箭头连接符 32"/>
          <p:cNvCxnSpPr>
            <a:stCxn id="32" idx="3"/>
            <a:endCxn id="31" idx="2"/>
          </p:cNvCxnSpPr>
          <p:nvPr/>
        </p:nvCxnSpPr>
        <p:spPr bwMode="auto">
          <a:xfrm flipV="1">
            <a:off x="3215680" y="2341425"/>
            <a:ext cx="993312" cy="157455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4" name="直接箭头连接符 33"/>
          <p:cNvCxnSpPr>
            <a:stCxn id="32" idx="4"/>
            <a:endCxn id="25" idx="0"/>
          </p:cNvCxnSpPr>
          <p:nvPr/>
        </p:nvCxnSpPr>
        <p:spPr bwMode="auto">
          <a:xfrm>
            <a:off x="1369716" y="2875718"/>
            <a:ext cx="1772127" cy="1595709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5" name="直接箭头连接符 34"/>
          <p:cNvCxnSpPr>
            <a:stCxn id="32" idx="4"/>
            <a:endCxn id="24" idx="0"/>
          </p:cNvCxnSpPr>
          <p:nvPr/>
        </p:nvCxnSpPr>
        <p:spPr bwMode="auto">
          <a:xfrm>
            <a:off x="1369716" y="2875718"/>
            <a:ext cx="1340329" cy="2248336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6" name="直接箭头连接符 35"/>
          <p:cNvCxnSpPr>
            <a:stCxn id="32" idx="4"/>
            <a:endCxn id="22" idx="0"/>
          </p:cNvCxnSpPr>
          <p:nvPr/>
        </p:nvCxnSpPr>
        <p:spPr bwMode="auto">
          <a:xfrm>
            <a:off x="1369716" y="2875718"/>
            <a:ext cx="815429" cy="2612931"/>
          </a:xfrm>
          <a:prstGeom prst="straightConnector1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7" name="圆角矩形标注 36"/>
          <p:cNvSpPr/>
          <p:nvPr/>
        </p:nvSpPr>
        <p:spPr bwMode="auto">
          <a:xfrm>
            <a:off x="8604680" y="1765695"/>
            <a:ext cx="3155949" cy="602941"/>
          </a:xfrm>
          <a:prstGeom prst="wedgeRoundRectCallout">
            <a:avLst/>
          </a:prstGeom>
          <a:solidFill>
            <a:srgbClr val="FFFFFF"/>
          </a:solidFill>
          <a:ln w="19050" cap="flat" cmpd="sng" algn="ctr">
            <a:solidFill>
              <a:srgbClr val="33CCCC"/>
            </a:solidFill>
            <a:prstDash val="solid"/>
            <a:headEnd type="none" w="sm" len="sm"/>
            <a:tailEnd type="none" w="sm" len="sm"/>
          </a:ln>
          <a:effectLst/>
        </p:spPr>
        <p:txBody>
          <a:bodyPr vert="horz" wrap="none" lIns="121920" tIns="60960" rIns="121920" bIns="6096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观测值与期望有偏差</a:t>
            </a:r>
          </a:p>
        </p:txBody>
      </p:sp>
      <p:cxnSp>
        <p:nvCxnSpPr>
          <p:cNvPr id="38" name="肘形连接符 37"/>
          <p:cNvCxnSpPr>
            <a:stCxn id="37" idx="0"/>
            <a:endCxn id="27" idx="0"/>
          </p:cNvCxnSpPr>
          <p:nvPr/>
        </p:nvCxnSpPr>
        <p:spPr bwMode="auto">
          <a:xfrm rot="16200000" flipV="1">
            <a:off x="7576536" y="-840425"/>
            <a:ext cx="597527" cy="4614713"/>
          </a:xfrm>
          <a:prstGeom prst="bentConnector3">
            <a:avLst>
              <a:gd name="adj1" fmla="val 151010"/>
            </a:avLst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0" name="肘形连接符 39"/>
          <p:cNvCxnSpPr>
            <a:stCxn id="37" idx="0"/>
            <a:endCxn id="28" idx="0"/>
          </p:cNvCxnSpPr>
          <p:nvPr/>
        </p:nvCxnSpPr>
        <p:spPr bwMode="auto">
          <a:xfrm rot="16200000" flipV="1">
            <a:off x="8250352" y="-166607"/>
            <a:ext cx="144351" cy="3720256"/>
          </a:xfrm>
          <a:prstGeom prst="bentConnector3">
            <a:avLst>
              <a:gd name="adj1" fmla="val 311152"/>
            </a:avLst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1" name="肘形连接符 40"/>
          <p:cNvCxnSpPr>
            <a:stCxn id="37" idx="4"/>
            <a:endCxn id="29" idx="3"/>
          </p:cNvCxnSpPr>
          <p:nvPr/>
        </p:nvCxnSpPr>
        <p:spPr bwMode="auto">
          <a:xfrm rot="5400000">
            <a:off x="8280488" y="1891698"/>
            <a:ext cx="692383" cy="1796995"/>
          </a:xfrm>
          <a:prstGeom prst="bentConnector2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2" name="肘形连接符 41"/>
          <p:cNvCxnSpPr>
            <a:stCxn id="37" idx="4"/>
            <a:endCxn id="30" idx="0"/>
          </p:cNvCxnSpPr>
          <p:nvPr/>
        </p:nvCxnSpPr>
        <p:spPr bwMode="auto">
          <a:xfrm rot="16200000" flipH="1">
            <a:off x="9581187" y="2387994"/>
            <a:ext cx="1307343" cy="1419363"/>
          </a:xfrm>
          <a:prstGeom prst="bentConnector3">
            <a:avLst/>
          </a:prstGeom>
          <a:solidFill>
            <a:srgbClr val="33CCCC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95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Rectangle 3"/>
              <p:cNvSpPr>
                <a:spLocks noGrp="1" noChangeArrowheads="1"/>
              </p:cNvSpPr>
              <p:nvPr/>
            </p:nvSpPr>
            <p:spPr bwMode="auto">
              <a:xfrm>
                <a:off x="495300" y="1751965"/>
                <a:ext cx="10476865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  <a:cs typeface="+mn-ea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CCCC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CCCC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宋体" panose="02010600030101010101" pitchFamily="2" charset="-122"/>
                  </a:rPr>
                  <a:t>卡方检验：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如果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图像</a:t>
                </a:r>
                <a:r>
                  <a:rPr lang="en-US" altLang="zh-CN" dirty="0">
                    <a:latin typeface="宋体" panose="02010600030101010101" pitchFamily="2" charset="-122"/>
                  </a:rPr>
                  <a:t>LSB</a:t>
                </a:r>
                <a:r>
                  <a:rPr lang="zh-CN" altLang="en-US" dirty="0">
                    <a:latin typeface="宋体" panose="02010600030101010101" pitchFamily="2" charset="-122"/>
                  </a:rPr>
                  <a:t>隐写，那么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一致。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可以用卡方检验来检测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的一致性。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由卡方检验原理可知，统计量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/>
                  <a:t>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acc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服从自由度为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的卡方分布（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分布）。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endParaRPr lang="en-US" altLang="zh-CN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2292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1751965"/>
                <a:ext cx="10476865" cy="41148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995614" y="117270"/>
            <a:ext cx="947005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Symbol" panose="05050102010706020507" pitchFamily="18" charset="2"/>
              </a:rPr>
              <a:t>卡方</a:t>
            </a:r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+mn-ea"/>
              </a:rPr>
              <a:t>分析</a:t>
            </a:r>
            <a:endParaRPr lang="zh-CN" altLang="en-US" sz="3600" b="1" dirty="0">
              <a:solidFill>
                <a:srgbClr val="023B8C"/>
              </a:solidFill>
              <a:latin typeface="+mj-ea"/>
              <a:ea typeface="+mj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>
                <a:spLocks noGrp="1" noChangeArrowheads="1"/>
              </p:cNvSpPr>
              <p:nvPr/>
            </p:nvSpPr>
            <p:spPr bwMode="auto">
              <a:xfrm>
                <a:off x="1218989" y="1752124"/>
                <a:ext cx="9751483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  <a:cs typeface="+mn-ea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CCCC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CCCC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宋体" panose="02010600030101010101" pitchFamily="2" charset="-122"/>
                  </a:rPr>
                  <a:t>隐写分析：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计算待检测图像统计量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的值越小，意味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越一致</a:t>
                </a:r>
                <a:r>
                  <a:rPr lang="en-US" altLang="zh-CN" dirty="0">
                    <a:latin typeface="宋体" panose="02010600030101010101" pitchFamily="2" charset="-122"/>
                  </a:rPr>
                  <a:t>,</a:t>
                </a:r>
                <a:r>
                  <a:rPr lang="zh-CN" altLang="en-US" dirty="0">
                    <a:latin typeface="宋体" panose="02010600030101010101" pitchFamily="2" charset="-122"/>
                  </a:rPr>
                  <a:t>也就是说待检测图像是隐写图像的概率越高；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反之，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的值越大，意味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差异越大</a:t>
                </a:r>
                <a:r>
                  <a:rPr lang="en-US" altLang="zh-CN" dirty="0">
                    <a:latin typeface="宋体" panose="02010600030101010101" pitchFamily="2" charset="-122"/>
                  </a:rPr>
                  <a:t>,</a:t>
                </a:r>
                <a:r>
                  <a:rPr lang="zh-CN" altLang="en-US" dirty="0">
                    <a:latin typeface="宋体" panose="02010600030101010101" pitchFamily="2" charset="-122"/>
                  </a:rPr>
                  <a:t>也就是说待检测图像是隐写的概率越低；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通常计算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值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来判别。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如果图像没隐写，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很大，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近似于</a:t>
                </a:r>
                <a:r>
                  <a:rPr lang="en-US" altLang="zh-CN" dirty="0">
                    <a:latin typeface="宋体" panose="02010600030101010101" pitchFamily="2" charset="-122"/>
                  </a:rPr>
                  <a:t>0</a:t>
                </a:r>
                <a:r>
                  <a:rPr lang="zh-CN" altLang="en-US" dirty="0">
                    <a:latin typeface="宋体" panose="02010600030101010101" pitchFamily="2" charset="-122"/>
                  </a:rPr>
                  <a:t>；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lvl="1" eaLnBrk="1" hangingPunct="1"/>
                <a:r>
                  <a:rPr lang="zh-CN" altLang="en-US" dirty="0">
                    <a:latin typeface="宋体" panose="02010600030101010101" pitchFamily="2" charset="-122"/>
                  </a:rPr>
                  <a:t>实际应用中，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，即认为图像包含秘密信息。</a:t>
                </a:r>
                <a:endParaRPr lang="en-US" altLang="zh-CN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8989" y="1752124"/>
                <a:ext cx="9751483" cy="4114800"/>
              </a:xfrm>
              <a:prstGeom prst="rect">
                <a:avLst/>
              </a:prstGeom>
              <a:blipFill rotWithShape="1">
                <a:blip r:embed="rId4"/>
                <a:stretch>
                  <a:fillRect l="-4" t="-4" r="2" b="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995614" y="117270"/>
            <a:ext cx="947005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Symbol" panose="05050102010706020507" pitchFamily="18" charset="2"/>
              </a:rPr>
              <a:t>卡方</a:t>
            </a:r>
            <a:r>
              <a:rPr lang="zh-CN" altLang="en-US" sz="3600" b="1" dirty="0">
                <a:solidFill>
                  <a:srgbClr val="023B8C"/>
                </a:solidFill>
                <a:latin typeface="+mj-ea"/>
                <a:ea typeface="+mj-ea"/>
                <a:sym typeface="+mn-ea"/>
              </a:rPr>
              <a:t>分析</a:t>
            </a:r>
            <a:endParaRPr lang="zh-CN" altLang="en-US" sz="3600" b="1" dirty="0">
              <a:solidFill>
                <a:srgbClr val="023B8C"/>
              </a:solidFill>
              <a:latin typeface="+mj-ea"/>
              <a:ea typeface="+mj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实验结果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06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363" name="Rectangle 2"/>
          <p:cNvSpPr>
            <a:spLocks noGrp="1" noChangeArrowheads="1"/>
          </p:cNvSpPr>
          <p:nvPr/>
        </p:nvSpPr>
        <p:spPr bwMode="auto">
          <a:xfrm>
            <a:off x="913342" y="189971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Rectangle 3"/>
          <p:cNvSpPr>
            <a:spLocks noGrp="1" noChangeArrowheads="1"/>
          </p:cNvSpPr>
          <p:nvPr/>
        </p:nvSpPr>
        <p:spPr bwMode="auto">
          <a:xfrm>
            <a:off x="913765" y="1791335"/>
            <a:ext cx="317690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/>
              <a:t>对灰度图像的上半部分进行</a:t>
            </a:r>
            <a:r>
              <a:rPr lang="en-US" altLang="zh-CN"/>
              <a:t>LSB</a:t>
            </a:r>
            <a:r>
              <a:rPr lang="zh-CN" altLang="en-US"/>
              <a:t>隐写，计算</a:t>
            </a:r>
            <a:r>
              <a:rPr lang="en-US" altLang="zh-CN"/>
              <a:t>p</a:t>
            </a:r>
            <a:r>
              <a:rPr lang="zh-CN" altLang="en-US"/>
              <a:t>值</a:t>
            </a: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458" y="1488546"/>
            <a:ext cx="7188200" cy="513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存在的问题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07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411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6" name="Rectangle 3"/>
          <p:cNvSpPr>
            <a:spLocks noGrp="1" noChangeArrowheads="1"/>
          </p:cNvSpPr>
          <p:nvPr/>
        </p:nvSpPr>
        <p:spPr bwMode="auto">
          <a:xfrm>
            <a:off x="1220259" y="2134394"/>
            <a:ext cx="975148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zh-CN" altLang="en-US"/>
              <a:t>在下述情况下，卡方检测难以奏效</a:t>
            </a:r>
            <a:endParaRPr lang="en-US" altLang="zh-CN"/>
          </a:p>
          <a:p>
            <a:pPr lvl="1" eaLnBrk="1" hangingPunct="1"/>
            <a:r>
              <a:rPr lang="zh-CN" altLang="en-US"/>
              <a:t>不是连续嵌入</a:t>
            </a:r>
          </a:p>
          <a:p>
            <a:pPr lvl="1" eaLnBrk="1" hangingPunct="1"/>
            <a:r>
              <a:rPr lang="zh-CN" altLang="en-US"/>
              <a:t>隐写率较低</a:t>
            </a:r>
          </a:p>
          <a:p>
            <a:pPr eaLnBrk="1" hangingPunct="1"/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08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434" name="Title 1"/>
          <p:cNvSpPr>
            <a:spLocks noGrp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435" name="Content Placeholder 2"/>
          <p:cNvSpPr>
            <a:spLocks noGrp="1"/>
          </p:cNvSpPr>
          <p:nvPr/>
        </p:nvSpPr>
        <p:spPr bwMode="auto">
          <a:xfrm>
            <a:off x="1220259" y="2134394"/>
            <a:ext cx="975148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r>
              <a:rPr lang="zh-CN" altLang="en-US"/>
              <a:t>根据卡方检测的原理，如何改进算法使其能够抵抗卡方分析？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直方图补偿隐写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09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459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08" name="Rectangle 3"/>
          <p:cNvSpPr>
            <a:spLocks noGrp="1" noChangeArrowheads="1"/>
          </p:cNvSpPr>
          <p:nvPr/>
        </p:nvSpPr>
        <p:spPr bwMode="auto">
          <a:xfrm>
            <a:off x="893445" y="1055370"/>
            <a:ext cx="10078720" cy="519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eaLnBrk="1" hangingPunct="1"/>
            <a:r>
              <a:rPr lang="en-US" altLang="zh-CN">
                <a:latin typeface="SymbolMT" charset="-122"/>
                <a:sym typeface="Symbol" panose="05050102010706020507" pitchFamily="18" charset="2"/>
              </a:rPr>
              <a:t>卡方</a:t>
            </a:r>
            <a:r>
              <a:rPr lang="zh-CN" altLang="en-US">
                <a:latin typeface="宋体" panose="02010600030101010101" pitchFamily="2" charset="-122"/>
              </a:rPr>
              <a:t>法关键：隐写后直方图改变</a:t>
            </a:r>
          </a:p>
          <a:p>
            <a:pPr eaLnBrk="1" hangingPunct="1"/>
            <a:r>
              <a:rPr lang="zh-CN" altLang="en-US"/>
              <a:t>为提高隐写的安全性，设计的隐写算法要保持直方图不改变</a:t>
            </a:r>
          </a:p>
          <a:p>
            <a:pPr eaLnBrk="1" hangingPunct="1"/>
            <a:r>
              <a:rPr lang="zh-CN" altLang="en-US"/>
              <a:t>对隐写后的图像进行额外操作，补偿直方图失真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93379" y="249350"/>
            <a:ext cx="947005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23B8C"/>
                </a:solidFill>
                <a:latin typeface="+mj-ea"/>
                <a:ea typeface="+mj-ea"/>
              </a:rPr>
              <a:t>本章小结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3658" y="249350"/>
            <a:ext cx="979109" cy="533291"/>
            <a:chOff x="2215144" y="982844"/>
            <a:chExt cx="1258238" cy="912607"/>
          </a:xfrm>
        </p:grpSpPr>
        <p:sp>
          <p:nvSpPr>
            <p:cNvPr id="4" name="平行四边形 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2392846" y="1002217"/>
              <a:ext cx="1080536" cy="89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10</a:t>
              </a:r>
            </a:p>
          </p:txBody>
        </p:sp>
      </p:grp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459" name="Rectangle 2"/>
          <p:cNvSpPr>
            <a:spLocks noGrp="1" noChangeArrowheads="1"/>
          </p:cNvSpPr>
          <p:nvPr/>
        </p:nvSpPr>
        <p:spPr bwMode="auto">
          <a:xfrm>
            <a:off x="1220259" y="608806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08" name="Rectangle 3"/>
          <p:cNvSpPr>
            <a:spLocks noGrp="1" noChangeArrowheads="1"/>
          </p:cNvSpPr>
          <p:nvPr/>
        </p:nvSpPr>
        <p:spPr bwMode="auto">
          <a:xfrm>
            <a:off x="1220259" y="2134394"/>
            <a:ext cx="975148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pPr marL="0" indent="0" eaLnBrk="1" hangingPunct="1">
              <a:buNone/>
            </a:pPr>
            <a:endParaRPr lang="zh-CN" altLang="en-US"/>
          </a:p>
        </p:txBody>
      </p:sp>
      <p:sp>
        <p:nvSpPr>
          <p:cNvPr id="57346" name="Title 1"/>
          <p:cNvSpPr>
            <a:spLocks noGrp="1"/>
          </p:cNvSpPr>
          <p:nvPr/>
        </p:nvSpPr>
        <p:spPr bwMode="auto">
          <a:xfrm>
            <a:off x="1828801" y="189759"/>
            <a:ext cx="97514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  <a:cs typeface="+mn-e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Calibri" panose="020F0502020204030204" charset="0"/>
                <a:ea typeface="华文楷体" panose="0201060004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7347" name="Content Placeholder 2"/>
          <p:cNvSpPr>
            <a:spLocks noGrp="1"/>
          </p:cNvSpPr>
          <p:nvPr/>
        </p:nvSpPr>
        <p:spPr bwMode="auto">
          <a:xfrm>
            <a:off x="611717" y="1181841"/>
            <a:ext cx="1096856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CC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</a:defRPr>
            </a:lvl9pPr>
          </a:lstStyle>
          <a:p>
            <a:r>
              <a:rPr lang="zh-CN" altLang="en-US"/>
              <a:t>隐写分析分类中专用隐写分析和通用隐写分析。</a:t>
            </a:r>
          </a:p>
          <a:p>
            <a:r>
              <a:rPr lang="zh-CN" altLang="en-US"/>
              <a:t>隐写分析的三个层次。</a:t>
            </a:r>
          </a:p>
          <a:p>
            <a:r>
              <a:rPr lang="zh-CN" altLang="en-US">
                <a:latin typeface="TimesNewRomanPSMT" charset="0"/>
              </a:rPr>
              <a:t>隐写分析方法：</a:t>
            </a:r>
            <a:r>
              <a:rPr lang="zh-CN" altLang="en-US"/>
              <a:t>感观分析，特征分析，统计分析。</a:t>
            </a:r>
            <a:endParaRPr lang="en-US" altLang="zh-CN"/>
          </a:p>
          <a:p>
            <a:pPr eaLnBrk="1" hangingPunct="1"/>
            <a:r>
              <a:rPr lang="zh-CN" altLang="en-US">
                <a:sym typeface="华文楷体" panose="02010600040101010101" charset="-122"/>
              </a:rPr>
              <a:t>卡方分析</a:t>
            </a:r>
            <a:endParaRPr lang="en-US" altLang="zh-CN"/>
          </a:p>
          <a:p>
            <a:pPr lvl="1"/>
            <a:r>
              <a:rPr lang="zh-CN" altLang="en-US">
                <a:sym typeface="华文楷体" panose="02010600040101010101" charset="-122"/>
              </a:rPr>
              <a:t>直方图统计特性变化</a:t>
            </a:r>
            <a:endParaRPr lang="en-US" altLang="zh-CN"/>
          </a:p>
          <a:p>
            <a:pPr lvl="1"/>
            <a:r>
              <a:rPr lang="zh-CN" altLang="en-US">
                <a:sym typeface="华文楷体" panose="02010600040101010101" charset="-122"/>
              </a:rPr>
              <a:t>灰度值为</a:t>
            </a:r>
            <a:r>
              <a:rPr lang="en-US" altLang="zh-CN">
                <a:sym typeface="华文楷体" panose="02010600040101010101" charset="-122"/>
              </a:rPr>
              <a:t>2i</a:t>
            </a:r>
            <a:r>
              <a:rPr lang="zh-CN" altLang="en-US">
                <a:sym typeface="华文楷体" panose="02010600040101010101" charset="-122"/>
              </a:rPr>
              <a:t>和</a:t>
            </a:r>
            <a:r>
              <a:rPr lang="en-US" altLang="zh-CN">
                <a:sym typeface="华文楷体" panose="02010600040101010101" charset="-122"/>
              </a:rPr>
              <a:t>2i+1</a:t>
            </a:r>
            <a:r>
              <a:rPr lang="zh-CN" altLang="en-US">
                <a:sym typeface="华文楷体" panose="02010600040101010101" charset="-122"/>
              </a:rPr>
              <a:t>的像素出现频率趋于相等</a:t>
            </a:r>
          </a:p>
          <a:p>
            <a:pPr lvl="1"/>
            <a:r>
              <a:rPr lang="zh-CN" altLang="en-US">
                <a:sym typeface="华文楷体" panose="02010600040101010101" charset="-122"/>
              </a:rPr>
              <a:t>隐写分析的结果反过来促进隐写技术的提高</a:t>
            </a:r>
            <a:endParaRPr lang="zh-CN" altLang="en-US"/>
          </a:p>
          <a:p>
            <a:pPr lvl="1"/>
            <a:endParaRPr lang="en-US" altLang="zh-CN" sz="3865"/>
          </a:p>
          <a:p>
            <a:pPr eaLnBrk="1" hangingPunct="1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FjMDI4OTdkZTQyNDUxMWExMzgzMzc4ODA2NDYxO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1003</Words>
  <Application>Microsoft Office PowerPoint</Application>
  <PresentationFormat>宽屏</PresentationFormat>
  <Paragraphs>111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SymbolMT</vt:lpstr>
      <vt:lpstr>TimesNewRomanPSMT</vt:lpstr>
      <vt:lpstr>华文楷体</vt:lpstr>
      <vt:lpstr>楷体</vt:lpstr>
      <vt:lpstr>宋体</vt:lpstr>
      <vt:lpstr>Arial</vt:lpstr>
      <vt:lpstr>Calibri</vt:lpstr>
      <vt:lpstr>Cambria Math</vt:lpstr>
      <vt:lpstr>Impact</vt:lpstr>
      <vt:lpstr>Times New Roman</vt:lpstr>
      <vt:lpstr>Verdana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 BUPT</dc:creator>
  <cp:lastModifiedBy>枫 项</cp:lastModifiedBy>
  <cp:revision>18</cp:revision>
  <dcterms:created xsi:type="dcterms:W3CDTF">2023-08-09T12:44:00Z</dcterms:created>
  <dcterms:modified xsi:type="dcterms:W3CDTF">2024-12-06T02:24:16Z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2052-12.1.0.17147</vt:lpwstr>
  </property>
</Properties>
</file>