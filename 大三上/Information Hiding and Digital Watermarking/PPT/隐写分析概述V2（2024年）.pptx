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7" r:id="rId2"/>
    <p:sldId id="258" r:id="rId3"/>
    <p:sldId id="264" r:id="rId4"/>
    <p:sldId id="269" r:id="rId5"/>
    <p:sldId id="290" r:id="rId6"/>
    <p:sldId id="291" r:id="rId7"/>
    <p:sldId id="270" r:id="rId8"/>
    <p:sldId id="271" r:id="rId9"/>
    <p:sldId id="272" r:id="rId10"/>
    <p:sldId id="276" r:id="rId11"/>
    <p:sldId id="275" r:id="rId12"/>
    <p:sldId id="299" r:id="rId13"/>
    <p:sldId id="300" r:id="rId14"/>
    <p:sldId id="293" r:id="rId15"/>
    <p:sldId id="295" r:id="rId16"/>
    <p:sldId id="294" r:id="rId17"/>
    <p:sldId id="296" r:id="rId18"/>
    <p:sldId id="298" r:id="rId19"/>
    <p:sldId id="297"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 id="2" name="Administrator" initials="A" lastIdx="1" clrIdx="1"/>
  <p:cmAuthor id="3" name="1033406563@qq.com" initials="1"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100"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校徽右上">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9485971" y="96644"/>
            <a:ext cx="2706029" cy="7153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Click="0" advTm="3000">
        <p14:prism isContent="1" isInverted="1"/>
      </p:transition>
    </mc:Choice>
    <mc:Fallback xmlns="">
      <p:transition spd="slow" advClick="0"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1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tags" Target="../tags/tag18.x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rotWithShape="1">
          <a:blip r:embed="rId3" cstate="print">
            <a:extLst>
              <a:ext uri="{BEBA8EAE-BF5A-486C-A8C5-ECC9F3942E4B}">
                <a14:imgProps xmlns:a14="http://schemas.microsoft.com/office/drawing/2010/main">
                  <a14:imgLayer r:embed="rId4">
                    <a14:imgEffect>
                      <a14:artisticWatercolorSponge/>
                    </a14:imgEffect>
                  </a14:imgLayer>
                </a14:imgProps>
              </a:ext>
              <a:ext uri="{28A0092B-C50C-407E-A947-70E740481C1C}">
                <a14:useLocalDpi xmlns:a14="http://schemas.microsoft.com/office/drawing/2010/main" val="0"/>
              </a:ext>
            </a:extLst>
          </a:blip>
          <a:srcRect t="4982" r="14708" b="10728"/>
          <a:stretch>
            <a:fillRect/>
          </a:stretch>
        </p:blipFill>
        <p:spPr>
          <a:xfrm>
            <a:off x="1793132" y="1"/>
            <a:ext cx="10398868" cy="6857999"/>
          </a:xfrm>
          <a:prstGeom prst="rect">
            <a:avLst/>
          </a:prstGeom>
        </p:spPr>
      </p:pic>
      <p:sp>
        <p:nvSpPr>
          <p:cNvPr id="28" name="矩形 27"/>
          <p:cNvSpPr/>
          <p:nvPr/>
        </p:nvSpPr>
        <p:spPr>
          <a:xfrm>
            <a:off x="1" y="0"/>
            <a:ext cx="6524428" cy="6858000"/>
          </a:xfrm>
          <a:prstGeom prst="rect">
            <a:avLst/>
          </a:prstGeom>
          <a:solidFill>
            <a:srgbClr val="00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平行四边形 45"/>
          <p:cNvSpPr/>
          <p:nvPr/>
        </p:nvSpPr>
        <p:spPr>
          <a:xfrm>
            <a:off x="3829260" y="-1"/>
            <a:ext cx="5496125" cy="6857999"/>
          </a:xfrm>
          <a:prstGeom prst="parallelogram">
            <a:avLst>
              <a:gd name="adj" fmla="val 48894"/>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088833" y="2515197"/>
            <a:ext cx="2198451" cy="2198451"/>
            <a:chOff x="5437761" y="2329774"/>
            <a:chExt cx="2198451" cy="2198451"/>
          </a:xfrm>
        </p:grpSpPr>
        <p:sp>
          <p:nvSpPr>
            <p:cNvPr id="30" name="椭圆 29"/>
            <p:cNvSpPr/>
            <p:nvPr/>
          </p:nvSpPr>
          <p:spPr>
            <a:xfrm>
              <a:off x="5437761" y="2329774"/>
              <a:ext cx="2198451" cy="219845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25307" y="2417320"/>
              <a:ext cx="2023358" cy="2023358"/>
            </a:xfrm>
            <a:prstGeom prst="rect">
              <a:avLst/>
            </a:prstGeom>
          </p:spPr>
        </p:pic>
      </p:grpSp>
      <p:sp>
        <p:nvSpPr>
          <p:cNvPr id="33" name="文本框 32"/>
          <p:cNvSpPr txBox="1"/>
          <p:nvPr/>
        </p:nvSpPr>
        <p:spPr>
          <a:xfrm>
            <a:off x="1093246" y="2243629"/>
            <a:ext cx="7780920" cy="1198880"/>
          </a:xfrm>
          <a:prstGeom prst="rect">
            <a:avLst/>
          </a:prstGeom>
          <a:noFill/>
        </p:spPr>
        <p:txBody>
          <a:bodyPr wrap="square" rtlCol="0">
            <a:spAutoFit/>
          </a:bodyPr>
          <a:lstStyle/>
          <a:p>
            <a:r>
              <a:rPr lang="zh-CN" altLang="en-US" sz="7200" dirty="0">
                <a:solidFill>
                  <a:schemeClr val="bg1"/>
                </a:solidFill>
                <a:latin typeface="楷体" panose="02010609060101010101" pitchFamily="49" charset="-122"/>
                <a:ea typeface="楷体" panose="02010609060101010101" pitchFamily="49" charset="-122"/>
              </a:rPr>
              <a:t>隐写分析</a:t>
            </a:r>
          </a:p>
        </p:txBody>
      </p:sp>
      <p:cxnSp>
        <p:nvCxnSpPr>
          <p:cNvPr id="35" name="直接连接符 34"/>
          <p:cNvCxnSpPr/>
          <p:nvPr/>
        </p:nvCxnSpPr>
        <p:spPr>
          <a:xfrm flipV="1">
            <a:off x="745453" y="1595814"/>
            <a:ext cx="0" cy="249514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93153" y="4390073"/>
            <a:ext cx="5431155" cy="1608455"/>
          </a:xfrm>
          <a:prstGeom prst="rect">
            <a:avLst/>
          </a:prstGeom>
          <a:noFill/>
        </p:spPr>
        <p:txBody>
          <a:bodyPr wrap="none" rtlCol="0">
            <a:spAutoFit/>
          </a:bodyPr>
          <a:lstStyle>
            <a:defPPr>
              <a:defRPr lang="zh-CN"/>
            </a:defPPr>
            <a:lvl1pPr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1pPr>
            <a:lvl2pPr marL="4572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2pPr>
            <a:lvl3pPr marL="9144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3pPr>
            <a:lvl4pPr marL="13716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4pPr>
            <a:lvl5pPr marL="18288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9pPr>
          </a:lstStyle>
          <a:p>
            <a:pPr algn="ctr">
              <a:spcBef>
                <a:spcPct val="20000"/>
              </a:spcBef>
              <a:buClr>
                <a:srgbClr val="006666"/>
              </a:buClr>
              <a:buSzPct val="70000"/>
              <a:buFont typeface="Wingdings" panose="05000000000000000000" pitchFamily="2" charset="2"/>
            </a:pPr>
            <a:r>
              <a:rPr lang="zh-CN" altLang="en-US" sz="2900">
                <a:solidFill>
                  <a:srgbClr val="FFFFFF"/>
                </a:solidFill>
                <a:latin typeface="Times New Roman" panose="02020603050405020304" pitchFamily="18" charset="0"/>
                <a:ea typeface="华文楷体" panose="02010600040101010101" charset="-122"/>
                <a:sym typeface="华文楷体" panose="02010600040101010101" charset="-122"/>
              </a:rPr>
              <a:t>雷敏</a:t>
            </a:r>
            <a:endParaRPr lang="zh-CN" altLang="en-US">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北京邮电大学 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rPr>
              <a:t>leimin@bupt.edu.cn</a:t>
            </a:r>
            <a:endParaRPr lang="en-US" altLang="zh-CN" sz="2900" b="1" dirty="0">
              <a:solidFill>
                <a:srgbClr val="FFFFFF"/>
              </a:solidFill>
              <a:latin typeface="Times New Roman" panose="02020603050405020304" pitchFamily="18" charset="0"/>
              <a:ea typeface="华文楷体" panose="02010600040101010101" charset="-122"/>
              <a:sym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课前一讲</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00</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7" name="Rectangle 3"/>
          <p:cNvSpPr>
            <a:spLocks noGrp="1"/>
          </p:cNvSpPr>
          <p:nvPr/>
        </p:nvSpPr>
        <p:spPr>
          <a:xfrm>
            <a:off x="701040" y="1260475"/>
            <a:ext cx="10505440" cy="49530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723900" lvl="0" indent="-723900" eaLnBrk="1" hangingPunct="1">
              <a:lnSpc>
                <a:spcPct val="130000"/>
              </a:lnSpc>
              <a:buNone/>
            </a:pPr>
            <a:r>
              <a:rPr lang="zh-CN" sz="2400" b="1">
                <a:latin typeface="宋体" panose="02010600030101010101" pitchFamily="2" charset="-122"/>
                <a:sym typeface="华文楷体" panose="02010600040101010101" charset="-122"/>
              </a:rPr>
              <a:t>（</a:t>
            </a:r>
            <a:r>
              <a:rPr lang="en-US" altLang="zh-CN" sz="2400" b="1">
                <a:latin typeface="宋体" panose="02010600030101010101" pitchFamily="2" charset="-122"/>
                <a:sym typeface="华文楷体" panose="02010600040101010101" charset="-122"/>
              </a:rPr>
              <a:t>1</a:t>
            </a:r>
            <a:r>
              <a:rPr lang="zh-CN" altLang="en-US" sz="2400" b="1">
                <a:latin typeface="宋体" panose="02010600030101010101" pitchFamily="2" charset="-122"/>
                <a:sym typeface="华文楷体" panose="02010600040101010101" charset="-122"/>
              </a:rPr>
              <a:t>）是大学规划了您，还是您规划了大学？大学的目标就是找到一个亮点，照亮自己的人生？学习的过程就是逐步找到自己的人生亮点的过程。</a:t>
            </a:r>
          </a:p>
          <a:p>
            <a:pPr marL="723900" lvl="0" indent="-723900" eaLnBrk="1" hangingPunct="1">
              <a:lnSpc>
                <a:spcPct val="130000"/>
              </a:lnSpc>
              <a:buNone/>
            </a:pPr>
            <a:r>
              <a:rPr lang="zh-CN" altLang="en-US" sz="2400" b="1" dirty="0">
                <a:latin typeface="宋体" panose="02010600030101010101" pitchFamily="2" charset="-122"/>
                <a:sym typeface="华文楷体" panose="02010600040101010101" charset="-122"/>
              </a:rPr>
              <a:t>（</a:t>
            </a:r>
            <a:r>
              <a:rPr lang="en-US" altLang="zh-CN" sz="2400" b="1" dirty="0">
                <a:latin typeface="宋体" panose="02010600030101010101" pitchFamily="2" charset="-122"/>
                <a:sym typeface="华文楷体" panose="02010600040101010101" charset="-122"/>
              </a:rPr>
              <a:t>2</a:t>
            </a:r>
            <a:r>
              <a:rPr lang="zh-CN" altLang="en-US" sz="2400" b="1" dirty="0">
                <a:latin typeface="宋体" panose="02010600030101010101" pitchFamily="2" charset="-122"/>
                <a:sym typeface="华文楷体" panose="02010600040101010101" charset="-122"/>
              </a:rPr>
              <a:t>）如何度过今年寒假？</a:t>
            </a:r>
          </a:p>
          <a:p>
            <a:pPr marL="723900" lvl="0" indent="-723900" eaLnBrk="1" hangingPunct="1">
              <a:lnSpc>
                <a:spcPct val="130000"/>
              </a:lnSpc>
              <a:buNone/>
            </a:pPr>
            <a:r>
              <a:rPr lang="zh-CN" altLang="en-US" sz="2400" b="1" dirty="0">
                <a:latin typeface="宋体" panose="02010600030101010101" pitchFamily="2" charset="-122"/>
                <a:sym typeface="华文楷体" panose="02010600040101010101" charset="-122"/>
              </a:rPr>
              <a:t>（</a:t>
            </a:r>
            <a:r>
              <a:rPr lang="en-US" altLang="zh-CN" sz="2400" b="1" dirty="0">
                <a:latin typeface="宋体" panose="02010600030101010101" pitchFamily="2" charset="-122"/>
                <a:sym typeface="华文楷体" panose="02010600040101010101" charset="-122"/>
              </a:rPr>
              <a:t>3</a:t>
            </a:r>
            <a:r>
              <a:rPr lang="zh-CN" altLang="en-US" sz="2400" b="1" dirty="0">
                <a:latin typeface="宋体" panose="02010600030101010101" pitchFamily="2" charset="-122"/>
                <a:sym typeface="华文楷体" panose="02010600040101010101" charset="-122"/>
              </a:rPr>
              <a:t>）如何提升自己的能力？</a:t>
            </a:r>
          </a:p>
          <a:p>
            <a:pPr marL="723900" lvl="0" indent="-723900" eaLnBrk="1" hangingPunct="1">
              <a:lnSpc>
                <a:spcPct val="130000"/>
              </a:lnSpc>
              <a:buNone/>
            </a:pPr>
            <a:r>
              <a:rPr lang="zh-CN" altLang="en-US" sz="2400" b="1" dirty="0">
                <a:latin typeface="宋体" panose="02010600030101010101" pitchFamily="2" charset="-122"/>
                <a:sym typeface="华文楷体" panose="02010600040101010101" charset="-122"/>
              </a:rPr>
              <a:t>不要三天打鱼，两天晒网，坚持去做一个事情</a:t>
            </a:r>
          </a:p>
          <a:p>
            <a:pPr marL="723900" lvl="0" indent="-723900" eaLnBrk="1" hangingPunct="1">
              <a:lnSpc>
                <a:spcPct val="130000"/>
              </a:lnSpc>
              <a:buNone/>
            </a:pPr>
            <a:r>
              <a:rPr lang="zh-CN" altLang="en-US" sz="2400" b="1" dirty="0">
                <a:latin typeface="宋体" panose="02010600030101010101" pitchFamily="2" charset="-122"/>
                <a:sym typeface="华文楷体" panose="02010600040101010101" charset="-122"/>
              </a:rPr>
              <a:t>（</a:t>
            </a:r>
            <a:r>
              <a:rPr lang="en-US" altLang="zh-CN" sz="2400" b="1" dirty="0">
                <a:latin typeface="宋体" panose="02010600030101010101" pitchFamily="2" charset="-122"/>
                <a:sym typeface="华文楷体" panose="02010600040101010101" charset="-122"/>
              </a:rPr>
              <a:t>4</a:t>
            </a:r>
            <a:r>
              <a:rPr lang="zh-CN" altLang="en-US" sz="2400" b="1" dirty="0">
                <a:latin typeface="宋体" panose="02010600030101010101" pitchFamily="2" charset="-122"/>
                <a:sym typeface="华文楷体" panose="02010600040101010101" charset="-122"/>
              </a:rPr>
              <a:t>）如何为将来做准备？</a:t>
            </a:r>
          </a:p>
          <a:p>
            <a:pPr marL="723900" lvl="0" indent="-723900" eaLnBrk="1" hangingPunct="1">
              <a:lnSpc>
                <a:spcPct val="130000"/>
              </a:lnSpc>
              <a:buNone/>
            </a:pPr>
            <a:r>
              <a:rPr lang="zh-CN" altLang="en-US" sz="2400" b="1" dirty="0">
                <a:latin typeface="宋体" panose="02010600030101010101" pitchFamily="2" charset="-122"/>
                <a:sym typeface="华文楷体" panose="02010600040101010101" charset="-122"/>
              </a:rPr>
              <a:t>自己的职业规划，看看自己想要什么</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概念</a:t>
            </a:r>
          </a:p>
        </p:txBody>
      </p:sp>
      <p:sp>
        <p:nvSpPr>
          <p:cNvPr id="4" name="平行四边形 3"/>
          <p:cNvSpPr/>
          <p:nvPr/>
        </p:nvSpPr>
        <p:spPr>
          <a:xfrm>
            <a:off x="123825" y="249555"/>
            <a:ext cx="872490" cy="49276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62255" y="260985"/>
            <a:ext cx="840740" cy="521970"/>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4100" name="Rectangle 3"/>
          <p:cNvSpPr>
            <a:spLocks noGrp="1" noChangeArrowheads="1"/>
          </p:cNvSpPr>
          <p:nvPr/>
        </p:nvSpPr>
        <p:spPr>
          <a:xfrm>
            <a:off x="123825" y="782955"/>
            <a:ext cx="10751820" cy="478853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r>
              <a:rPr lang="zh-CN" altLang="en-US" sz="2800"/>
              <a:t>隐写（</a:t>
            </a:r>
            <a:r>
              <a:rPr lang="en-US" altLang="zh-CN" sz="2800"/>
              <a:t>steganography）</a:t>
            </a:r>
            <a:r>
              <a:rPr lang="zh-CN" altLang="en-US" sz="2800"/>
              <a:t>：</a:t>
            </a:r>
            <a:r>
              <a:rPr lang="zh-CN" altLang="en-US" sz="2800">
                <a:latin typeface="宋体" panose="02010600030101010101" pitchFamily="2" charset="-122"/>
              </a:rPr>
              <a:t>以表面正常的数字载体如</a:t>
            </a:r>
            <a:r>
              <a:rPr lang="en-US" altLang="zh-CN" sz="2800">
                <a:sym typeface="+mn-ea"/>
              </a:rPr>
              <a:t>图像</a:t>
            </a:r>
            <a:r>
              <a:rPr lang="zh-CN" altLang="en-US" sz="2800">
                <a:latin typeface="宋体" panose="02010600030101010101" pitchFamily="2" charset="-122"/>
              </a:rPr>
              <a:t>、音频和视频等作为掩护，在其中隐藏秘密信息。额外数据的嵌入既不改变载体信号的视、听觉效果，也不改变计算机文件的大小和格式（包括文件头），使隐蔽信息能以不为人知的方式进行传输。</a:t>
            </a:r>
          </a:p>
          <a:p>
            <a:pPr eaLnBrk="1" hangingPunct="1"/>
            <a:r>
              <a:rPr lang="zh-CN" altLang="en-US" sz="2800"/>
              <a:t>隐写分析（</a:t>
            </a:r>
            <a:r>
              <a:rPr lang="en-US" altLang="zh-CN" sz="2800"/>
              <a:t>steganalysis）</a:t>
            </a:r>
            <a:r>
              <a:rPr lang="zh-CN" altLang="en-US" sz="2800"/>
              <a:t>：</a:t>
            </a:r>
            <a:r>
              <a:rPr lang="en-US" altLang="zh-CN" sz="2800"/>
              <a:t>隐写分析是指对可疑的载体信息进行攻击以达到检测、破坏，甚至提取秘密信息的技术，它的主要目标是揭示载体中隐蔽信息的存在性，或是指出载体中存在秘密信息的可能性。</a:t>
            </a:r>
          </a:p>
          <a:p>
            <a:pPr eaLnBrk="1" hangingPunct="1"/>
            <a:r>
              <a:rPr sz="2800"/>
              <a:t>隐写术和隐写分析技术从本质上来说类似矛和盾，两者实际上又相互促进</a:t>
            </a:r>
            <a:r>
              <a:rPr lang="zh-CN" sz="2800"/>
              <a:t>，</a:t>
            </a:r>
            <a:r>
              <a:rPr lang="zh-CN" altLang="en-US" sz="2800">
                <a:sym typeface="+mn-ea"/>
              </a:rPr>
              <a:t>类似密码编码算法和密码分析算法。</a:t>
            </a:r>
            <a:endParaRPr lang="en-US" altLang="zh-CN" sz="280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anim calcmode="lin" valueType="num">
                                      <p:cBhvr additive="base">
                                        <p:cTn id="7" dur="500" fill="hold"/>
                                        <p:tgtEl>
                                          <p:spTgt spid="41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0">
                                            <p:txEl>
                                              <p:pRg st="1" end="1"/>
                                            </p:txEl>
                                          </p:spTgt>
                                        </p:tgtEl>
                                        <p:attrNameLst>
                                          <p:attrName>style.visibility</p:attrName>
                                        </p:attrNameLst>
                                      </p:cBhvr>
                                      <p:to>
                                        <p:strVal val="visible"/>
                                      </p:to>
                                    </p:set>
                                    <p:anim calcmode="lin" valueType="num">
                                      <p:cBhvr additive="base">
                                        <p:cTn id="13" dur="500" fill="hold"/>
                                        <p:tgtEl>
                                          <p:spTgt spid="41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00">
                                            <p:txEl>
                                              <p:pRg st="2" end="2"/>
                                            </p:txEl>
                                          </p:spTgt>
                                        </p:tgtEl>
                                        <p:attrNameLst>
                                          <p:attrName>style.visibility</p:attrName>
                                        </p:attrNameLst>
                                      </p:cBhvr>
                                      <p:to>
                                        <p:strVal val="visible"/>
                                      </p:to>
                                    </p:set>
                                    <p:anim calcmode="lin" valueType="num">
                                      <p:cBhvr additive="base">
                                        <p:cTn id="19" dur="500" fill="hold"/>
                                        <p:tgtEl>
                                          <p:spTgt spid="410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0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概念</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3825" y="1371600"/>
            <a:ext cx="1128458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12292" name="Rectangle 3"/>
          <p:cNvSpPr>
            <a:spLocks noGrp="1" noChangeArrowheads="1"/>
          </p:cNvSpPr>
          <p:nvPr/>
        </p:nvSpPr>
        <p:spPr>
          <a:xfrm>
            <a:off x="758825" y="1097280"/>
            <a:ext cx="10648950" cy="484505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r>
              <a:rPr lang="zh-CN" altLang="en-US" dirty="0">
                <a:latin typeface="宋体" panose="02010600030101010101" pitchFamily="2" charset="-122"/>
              </a:rPr>
              <a:t>隐写和隐写分析在军事、情报、国家安全方面的重要意义是不言而喻的</a:t>
            </a:r>
          </a:p>
          <a:p>
            <a:pPr eaLnBrk="1" hangingPunct="1"/>
            <a:r>
              <a:rPr lang="zh-CN" altLang="en-US" dirty="0">
                <a:latin typeface="宋体" panose="02010600030101010101" pitchFamily="2" charset="-122"/>
              </a:rPr>
              <a:t>设计高度安全的隐写方法是一项富于挑战性的课题</a:t>
            </a:r>
          </a:p>
          <a:p>
            <a:pPr eaLnBrk="1" hangingPunct="1"/>
            <a:r>
              <a:rPr lang="zh-CN" altLang="en-US" dirty="0">
                <a:latin typeface="宋体" panose="02010600030101010101" pitchFamily="2" charset="-122"/>
              </a:rPr>
              <a:t>对隐写的准确分析往往比隐写本身更加困难</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anim calcmode="lin" valueType="num">
                                      <p:cBhvr additive="base">
                                        <p:cTn id="7" dur="500" fill="hold"/>
                                        <p:tgtEl>
                                          <p:spTgt spid="122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anim calcmode="lin" valueType="num">
                                      <p:cBhvr additive="base">
                                        <p:cTn id="13" dur="5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2">
                                            <p:txEl>
                                              <p:pRg st="2" end="2"/>
                                            </p:txEl>
                                          </p:spTgt>
                                        </p:tgtEl>
                                        <p:attrNameLst>
                                          <p:attrName>style.visibility</p:attrName>
                                        </p:attrNameLst>
                                      </p:cBhvr>
                                      <p:to>
                                        <p:strVal val="visible"/>
                                      </p:to>
                                    </p:set>
                                    <p:anim calcmode="lin" valueType="num">
                                      <p:cBhvr additive="base">
                                        <p:cTn id="19" dur="5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隐写分析分类</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14340" name="Rectangle 3"/>
          <p:cNvSpPr>
            <a:spLocks noGrp="1" noChangeArrowheads="1"/>
          </p:cNvSpPr>
          <p:nvPr/>
        </p:nvSpPr>
        <p:spPr>
          <a:xfrm>
            <a:off x="262255" y="972185"/>
            <a:ext cx="11411585" cy="497014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lnSpc>
                <a:spcPct val="90000"/>
              </a:lnSpc>
            </a:pPr>
            <a:r>
              <a:rPr lang="zh-CN" altLang="en-US">
                <a:sym typeface="+mn-ea"/>
              </a:rPr>
              <a:t>根据适用性分为</a:t>
            </a:r>
            <a:r>
              <a:rPr lang="zh-CN" altLang="en-US"/>
              <a:t>专用隐写分析（Specific Steganalysis）和通用隐写分析（Universal Steganalysis）。</a:t>
            </a:r>
          </a:p>
          <a:p>
            <a:pPr eaLnBrk="1" hangingPunct="1">
              <a:lnSpc>
                <a:spcPct val="90000"/>
              </a:lnSpc>
            </a:pPr>
            <a:r>
              <a:rPr lang="zh-CN" altLang="en-US"/>
              <a:t>专用隐写分析算法是针对特定隐写技术或研究对象的特点进行设计，这类算法的检测率较高，针对性强，但专用隐写分析算法只能针对某一种隐写算法。比如针对</a:t>
            </a:r>
            <a:r>
              <a:rPr lang="en-US" altLang="zh-CN"/>
              <a:t>LSB</a:t>
            </a:r>
            <a:r>
              <a:rPr lang="zh-CN" altLang="en-US"/>
              <a:t>图像隐写分析的卡方分析方法就是一种专用隐写分析方法。</a:t>
            </a:r>
          </a:p>
          <a:p>
            <a:pPr eaLnBrk="1" hangingPunct="1">
              <a:lnSpc>
                <a:spcPct val="90000"/>
              </a:lnSpc>
            </a:pPr>
            <a:r>
              <a:rPr lang="zh-CN" altLang="en-US"/>
              <a:t>通用隐写分析，就是不针对某一种隐写工具或者隐写算法的盲分析。一般来说</a:t>
            </a:r>
            <a:r>
              <a:rPr lang="zh-CN" altLang="en-US">
                <a:sym typeface="+mn-ea"/>
              </a:rPr>
              <a:t>专用隐写分析的准确率要高于通用隐写分析算法。</a:t>
            </a:r>
          </a:p>
          <a:p>
            <a:pPr eaLnBrk="1" hangingPunct="1">
              <a:lnSpc>
                <a:spcPct val="90000"/>
              </a:lnSpc>
            </a:pPr>
            <a:endParaRPr lang="zh-CN" altLang="en-US"/>
          </a:p>
          <a:p>
            <a:pPr eaLnBrk="1" hangingPunct="1">
              <a:lnSpc>
                <a:spcPct val="90000"/>
              </a:lnSpc>
            </a:pP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 calcmode="lin" valueType="num">
                                      <p:cBhvr additive="base">
                                        <p:cTn id="7" dur="500" fill="hold"/>
                                        <p:tgtEl>
                                          <p:spTgt spid="143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0">
                                            <p:txEl>
                                              <p:pRg st="1" end="1"/>
                                            </p:txEl>
                                          </p:spTgt>
                                        </p:tgtEl>
                                        <p:attrNameLst>
                                          <p:attrName>style.visibility</p:attrName>
                                        </p:attrNameLst>
                                      </p:cBhvr>
                                      <p:to>
                                        <p:strVal val="visible"/>
                                      </p:to>
                                    </p:set>
                                    <p:anim calcmode="lin" valueType="num">
                                      <p:cBhvr additive="base">
                                        <p:cTn id="13" dur="500" fill="hold"/>
                                        <p:tgtEl>
                                          <p:spTgt spid="143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0">
                                            <p:txEl>
                                              <p:pRg st="2" end="2"/>
                                            </p:txEl>
                                          </p:spTgt>
                                        </p:tgtEl>
                                        <p:attrNameLst>
                                          <p:attrName>style.visibility</p:attrName>
                                        </p:attrNameLst>
                                      </p:cBhvr>
                                      <p:to>
                                        <p:strVal val="visible"/>
                                      </p:to>
                                    </p:set>
                                    <p:anim calcmode="lin" valueType="num">
                                      <p:cBhvr additive="base">
                                        <p:cTn id="19" dur="500" fill="hold"/>
                                        <p:tgtEl>
                                          <p:spTgt spid="143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4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隐写分析分类</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14340" name="Rectangle 3"/>
          <p:cNvSpPr>
            <a:spLocks noGrp="1" noChangeArrowheads="1"/>
          </p:cNvSpPr>
          <p:nvPr/>
        </p:nvSpPr>
        <p:spPr>
          <a:xfrm>
            <a:off x="262255" y="972185"/>
            <a:ext cx="11411585" cy="497014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lnSpc>
                <a:spcPct val="90000"/>
              </a:lnSpc>
            </a:pPr>
            <a:r>
              <a:rPr lang="zh-CN" altLang="en-US" sz="2600"/>
              <a:t>根据已知消息：在信息隐藏分析中，可类似于密码分析，</a:t>
            </a:r>
            <a:r>
              <a:rPr lang="zh-CN" altLang="en-US" sz="2600">
                <a:sym typeface="+mn-ea"/>
              </a:rPr>
              <a:t>根据已知消息</a:t>
            </a:r>
            <a:r>
              <a:rPr lang="zh-CN" altLang="en-US" sz="2600"/>
              <a:t>定义隐藏分析方法。</a:t>
            </a:r>
          </a:p>
          <a:p>
            <a:pPr eaLnBrk="1" hangingPunct="1">
              <a:lnSpc>
                <a:spcPct val="90000"/>
              </a:lnSpc>
            </a:pPr>
            <a:r>
              <a:rPr lang="zh-CN" altLang="en-US" sz="2600"/>
              <a:t>1.仅知伪装对象攻击：只能得到伪装对象进行分析，也就是仅能得到携密隐写载体。</a:t>
            </a:r>
          </a:p>
          <a:p>
            <a:pPr eaLnBrk="1" hangingPunct="1">
              <a:lnSpc>
                <a:spcPct val="90000"/>
              </a:lnSpc>
            </a:pPr>
            <a:r>
              <a:rPr lang="zh-CN" altLang="en-US" sz="2600"/>
              <a:t>2.已知载体攻击：可得到原始载体和伪装对象（携密载体）进行分析。</a:t>
            </a:r>
          </a:p>
          <a:p>
            <a:pPr eaLnBrk="1" hangingPunct="1">
              <a:lnSpc>
                <a:spcPct val="90000"/>
              </a:lnSpc>
            </a:pPr>
            <a:r>
              <a:rPr lang="zh-CN" altLang="en-US" sz="2600"/>
              <a:t>3.已知消息攻击：攻击者可获得隐藏的消息。即使这样，攻击同样是非常困难的，甚至可认为难度等同于仅知伪装对象（携密载体）攻击。</a:t>
            </a:r>
          </a:p>
          <a:p>
            <a:pPr eaLnBrk="1" hangingPunct="1">
              <a:lnSpc>
                <a:spcPct val="90000"/>
              </a:lnSpc>
            </a:pPr>
            <a:r>
              <a:rPr lang="zh-CN" altLang="en-US" sz="2600"/>
              <a:t>4.选择伪装对象攻击：已知隐藏算法和伪装对象（携密载体）进行攻击。</a:t>
            </a:r>
          </a:p>
          <a:p>
            <a:pPr eaLnBrk="1" hangingPunct="1">
              <a:lnSpc>
                <a:spcPct val="90000"/>
              </a:lnSpc>
            </a:pPr>
            <a:r>
              <a:rPr lang="zh-CN" altLang="en-US" sz="2600"/>
              <a:t>5.选择消息攻击：攻击者可用某个隐藏算法对一个选择的消息产生伪装对象（携密载体），然后分析伪装对象（携密载体）中产生的模式特征。它可用来指出在隐藏中具体使用的隐藏算法。</a:t>
            </a:r>
          </a:p>
          <a:p>
            <a:pPr eaLnBrk="1" hangingPunct="1">
              <a:lnSpc>
                <a:spcPct val="90000"/>
              </a:lnSpc>
            </a:pPr>
            <a:r>
              <a:rPr lang="zh-CN" altLang="en-US" sz="2600"/>
              <a:t>6.已知隐藏算法、载体和伪装对象（携密载体）攻击：已知隐藏算法和伪装对象（携密载体），并且能得到原始载体情况下的攻击。</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 calcmode="lin" valueType="num">
                                      <p:cBhvr additive="base">
                                        <p:cTn id="7" dur="500" fill="hold"/>
                                        <p:tgtEl>
                                          <p:spTgt spid="143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0">
                                            <p:txEl>
                                              <p:pRg st="1" end="1"/>
                                            </p:txEl>
                                          </p:spTgt>
                                        </p:tgtEl>
                                        <p:attrNameLst>
                                          <p:attrName>style.visibility</p:attrName>
                                        </p:attrNameLst>
                                      </p:cBhvr>
                                      <p:to>
                                        <p:strVal val="visible"/>
                                      </p:to>
                                    </p:set>
                                    <p:anim calcmode="lin" valueType="num">
                                      <p:cBhvr additive="base">
                                        <p:cTn id="13" dur="500" fill="hold"/>
                                        <p:tgtEl>
                                          <p:spTgt spid="143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0">
                                            <p:txEl>
                                              <p:pRg st="2" end="2"/>
                                            </p:txEl>
                                          </p:spTgt>
                                        </p:tgtEl>
                                        <p:attrNameLst>
                                          <p:attrName>style.visibility</p:attrName>
                                        </p:attrNameLst>
                                      </p:cBhvr>
                                      <p:to>
                                        <p:strVal val="visible"/>
                                      </p:to>
                                    </p:set>
                                    <p:anim calcmode="lin" valueType="num">
                                      <p:cBhvr additive="base">
                                        <p:cTn id="19" dur="500" fill="hold"/>
                                        <p:tgtEl>
                                          <p:spTgt spid="143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40">
                                            <p:txEl>
                                              <p:pRg st="3" end="3"/>
                                            </p:txEl>
                                          </p:spTgt>
                                        </p:tgtEl>
                                        <p:attrNameLst>
                                          <p:attrName>style.visibility</p:attrName>
                                        </p:attrNameLst>
                                      </p:cBhvr>
                                      <p:to>
                                        <p:strVal val="visible"/>
                                      </p:to>
                                    </p:set>
                                    <p:anim calcmode="lin" valueType="num">
                                      <p:cBhvr additive="base">
                                        <p:cTn id="25" dur="500" fill="hold"/>
                                        <p:tgtEl>
                                          <p:spTgt spid="143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4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40">
                                            <p:txEl>
                                              <p:pRg st="4" end="4"/>
                                            </p:txEl>
                                          </p:spTgt>
                                        </p:tgtEl>
                                        <p:attrNameLst>
                                          <p:attrName>style.visibility</p:attrName>
                                        </p:attrNameLst>
                                      </p:cBhvr>
                                      <p:to>
                                        <p:strVal val="visible"/>
                                      </p:to>
                                    </p:set>
                                    <p:anim calcmode="lin" valueType="num">
                                      <p:cBhvr additive="base">
                                        <p:cTn id="31" dur="500" fill="hold"/>
                                        <p:tgtEl>
                                          <p:spTgt spid="1434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4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340">
                                            <p:txEl>
                                              <p:pRg st="5" end="5"/>
                                            </p:txEl>
                                          </p:spTgt>
                                        </p:tgtEl>
                                        <p:attrNameLst>
                                          <p:attrName>style.visibility</p:attrName>
                                        </p:attrNameLst>
                                      </p:cBhvr>
                                      <p:to>
                                        <p:strVal val="visible"/>
                                      </p:to>
                                    </p:set>
                                    <p:anim calcmode="lin" valueType="num">
                                      <p:cBhvr additive="base">
                                        <p:cTn id="37" dur="500" fill="hold"/>
                                        <p:tgtEl>
                                          <p:spTgt spid="1434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34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340">
                                            <p:txEl>
                                              <p:pRg st="6" end="6"/>
                                            </p:txEl>
                                          </p:spTgt>
                                        </p:tgtEl>
                                        <p:attrNameLst>
                                          <p:attrName>style.visibility</p:attrName>
                                        </p:attrNameLst>
                                      </p:cBhvr>
                                      <p:to>
                                        <p:strVal val="visible"/>
                                      </p:to>
                                    </p:set>
                                    <p:anim calcmode="lin" valueType="num">
                                      <p:cBhvr additive="base">
                                        <p:cTn id="43" dur="500" fill="hold"/>
                                        <p:tgtEl>
                                          <p:spTgt spid="1434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34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隐写分析分类</a:t>
            </a:r>
          </a:p>
        </p:txBody>
      </p:sp>
      <p:sp>
        <p:nvSpPr>
          <p:cNvPr id="4" name="平行四边形 3"/>
          <p:cNvSpPr/>
          <p:nvPr/>
        </p:nvSpPr>
        <p:spPr>
          <a:xfrm>
            <a:off x="123825" y="249555"/>
            <a:ext cx="872490" cy="49276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62255" y="260985"/>
            <a:ext cx="840740" cy="521970"/>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356870" y="1079500"/>
            <a:ext cx="10615295"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7" name="Content Placeholder 2"/>
          <p:cNvSpPr>
            <a:spLocks noGrp="1"/>
          </p:cNvSpPr>
          <p:nvPr/>
        </p:nvSpPr>
        <p:spPr>
          <a:xfrm>
            <a:off x="356870" y="1176655"/>
            <a:ext cx="11143615" cy="476567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0" indent="0">
              <a:buNone/>
            </a:pPr>
            <a:r>
              <a:rPr lang="zh-CN" altLang="en-US"/>
              <a:t>根据采用的分析方法</a:t>
            </a:r>
          </a:p>
          <a:p>
            <a:pPr lvl="1"/>
            <a:r>
              <a:rPr lang="zh-CN" altLang="en-US"/>
              <a:t>感观分析：利用人类感知能力来对数字载体进行分析检测，准确性较低。</a:t>
            </a:r>
            <a:r>
              <a:rPr lang="zh-CN" altLang="en-US" sz="2900">
                <a:sym typeface="+mn-ea"/>
              </a:rPr>
              <a:t>优点是简单、直观，缺点是自动化程度弱，可靠性弱。</a:t>
            </a:r>
            <a:endParaRPr lang="en-US" altLang="zh-CN"/>
          </a:p>
          <a:p>
            <a:r>
              <a:rPr lang="zh-CN" altLang="en-US">
                <a:sym typeface="+mn-ea"/>
              </a:rPr>
              <a:t>统计分析</a:t>
            </a:r>
            <a:r>
              <a:rPr lang="zh-CN" altLang="en-US"/>
              <a:t>：将原始载体的理论期望频率分布和从可能是隐秘载体中检测到的样本分布进行比较，从而找出差别的一种检测方法。统计分析的关键问题在于如何得到原始载体数据的理论期望频率分布。</a:t>
            </a:r>
          </a:p>
          <a:p>
            <a:r>
              <a:rPr lang="zh-CN" altLang="en-US"/>
              <a:t>特征分析：由于进行隐写操作使得载体产生变化而产生独有特征，这种特征可能是感官、统计或可度量的特征。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sym typeface="+mn-ea"/>
              </a:rPr>
              <a:t>隐写分析方法</a:t>
            </a:r>
            <a:r>
              <a:rPr lang="en-US" altLang="zh-CN" sz="2800" b="1" dirty="0">
                <a:solidFill>
                  <a:srgbClr val="023B8C"/>
                </a:solidFill>
                <a:latin typeface="+mj-ea"/>
                <a:ea typeface="+mj-ea"/>
                <a:sym typeface="+mn-ea"/>
              </a:rPr>
              <a:t>——</a:t>
            </a:r>
            <a:r>
              <a:rPr lang="zh-CN" altLang="en-US" sz="2800" b="1" dirty="0">
                <a:solidFill>
                  <a:srgbClr val="023B8C"/>
                </a:solidFill>
                <a:latin typeface="+mj-ea"/>
                <a:ea typeface="+mj-ea"/>
              </a:rPr>
              <a:t>感观分析</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pic>
        <p:nvPicPr>
          <p:cNvPr id="7"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950085" y="1371600"/>
            <a:ext cx="5904865" cy="4739640"/>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sym typeface="+mn-ea"/>
              </a:rPr>
              <a:t>隐写分析方法</a:t>
            </a:r>
            <a:r>
              <a:rPr lang="en-US" altLang="zh-CN" sz="2800" b="1" dirty="0">
                <a:solidFill>
                  <a:srgbClr val="023B8C"/>
                </a:solidFill>
                <a:latin typeface="+mj-ea"/>
                <a:ea typeface="+mj-ea"/>
                <a:sym typeface="+mn-ea"/>
              </a:rPr>
              <a:t>——</a:t>
            </a:r>
            <a:r>
              <a:rPr lang="zh-CN" altLang="en-US" sz="2800" b="1" dirty="0">
                <a:solidFill>
                  <a:srgbClr val="023B8C"/>
                </a:solidFill>
                <a:latin typeface="+mj-ea"/>
                <a:ea typeface="+mj-ea"/>
                <a:sym typeface="+mn-ea"/>
              </a:rPr>
              <a:t>感观分析</a:t>
            </a:r>
            <a:endParaRPr lang="zh-CN" altLang="en-US" sz="2800" b="1" dirty="0">
              <a:solidFill>
                <a:srgbClr val="023B8C"/>
              </a:solidFill>
              <a:latin typeface="+mj-ea"/>
              <a:ea typeface="+mj-ea"/>
            </a:endParaRP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680" y="827405"/>
            <a:ext cx="6654165" cy="5834380"/>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5F5F5F"/>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sym typeface="+mn-ea"/>
              </a:rPr>
              <a:t>隐写分析方法</a:t>
            </a:r>
            <a:r>
              <a:rPr lang="en-US" altLang="zh-CN" sz="2800" b="1" dirty="0">
                <a:solidFill>
                  <a:srgbClr val="023B8C"/>
                </a:solidFill>
                <a:latin typeface="+mj-ea"/>
                <a:ea typeface="+mj-ea"/>
                <a:sym typeface="+mn-ea"/>
              </a:rPr>
              <a:t>——</a:t>
            </a:r>
            <a:r>
              <a:rPr lang="zh-CN" altLang="en-US" sz="2800" b="1" dirty="0">
                <a:solidFill>
                  <a:srgbClr val="023B8C"/>
                </a:solidFill>
                <a:latin typeface="+mj-ea"/>
                <a:ea typeface="+mj-ea"/>
              </a:rPr>
              <a:t>统计分析</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1507" name="Content Placeholder 2"/>
          <p:cNvSpPr>
            <a:spLocks noGrp="1"/>
          </p:cNvSpPr>
          <p:nvPr/>
        </p:nvSpPr>
        <p:spPr>
          <a:xfrm>
            <a:off x="596265" y="1254125"/>
            <a:ext cx="10999470"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r>
              <a:rPr lang="zh-CN" altLang="en-US"/>
              <a:t>载体感观效果没有变化，但</a:t>
            </a:r>
            <a:r>
              <a:rPr lang="zh-CN"/>
              <a:t>统计特征</a:t>
            </a:r>
            <a:r>
              <a:rPr lang="zh-CN" altLang="en-US"/>
              <a:t>改变</a:t>
            </a:r>
            <a:endParaRPr lang="en-US" altLang="zh-CN"/>
          </a:p>
          <a:p>
            <a:r>
              <a:rPr lang="zh-CN"/>
              <a:t>分析待检测载体的统计特征，可以判断载体是否经过隐写</a:t>
            </a:r>
            <a:endParaRPr lang="en-US" altLang="zh-CN"/>
          </a:p>
          <a:p>
            <a:r>
              <a:rPr lang="zh-CN" altLang="en-US"/>
              <a:t>典型方法：</a:t>
            </a:r>
            <a:endParaRPr lang="en-US" altLang="zh-CN"/>
          </a:p>
          <a:p>
            <a:pPr lvl="1"/>
            <a:r>
              <a:rPr lang="en-US" altLang="zh-CN"/>
              <a:t>LSB</a:t>
            </a:r>
            <a:r>
              <a:rPr lang="zh-CN" altLang="en-US"/>
              <a:t>隐写分析的卡方、</a:t>
            </a:r>
            <a:r>
              <a:rPr lang="en-US" altLang="zh-CN"/>
              <a:t>RS</a:t>
            </a:r>
            <a:r>
              <a:rPr lang="zh-CN" altLang="en-US"/>
              <a:t>检测等</a:t>
            </a:r>
            <a:endParaRPr lang="en-US" altLang="zh-CN"/>
          </a:p>
          <a:p>
            <a:pPr lvl="1"/>
            <a:r>
              <a:rPr lang="en-US" altLang="zh-CN"/>
              <a:t>JPEG</a:t>
            </a:r>
            <a:r>
              <a:rPr lang="zh-CN" altLang="en-US"/>
              <a:t>检测等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507">
                                            <p:txEl>
                                              <p:pRg st="3" end="3"/>
                                            </p:txEl>
                                          </p:spTgt>
                                        </p:tgtEl>
                                        <p:attrNameLst>
                                          <p:attrName>style.visibility</p:attrName>
                                        </p:attrNameLst>
                                      </p:cBhvr>
                                      <p:to>
                                        <p:strVal val="visible"/>
                                      </p:to>
                                    </p:set>
                                    <p:anim calcmode="lin" valueType="num">
                                      <p:cBhvr additive="base">
                                        <p:cTn id="23" dur="5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50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 calcmode="lin" valueType="num">
                                      <p:cBhvr additive="base">
                                        <p:cTn id="27"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sym typeface="+mn-ea"/>
              </a:rPr>
              <a:t>隐写分析方法</a:t>
            </a:r>
            <a:r>
              <a:rPr lang="en-US" altLang="zh-CN" sz="2800" b="1" dirty="0">
                <a:solidFill>
                  <a:srgbClr val="023B8C"/>
                </a:solidFill>
                <a:latin typeface="+mj-ea"/>
                <a:ea typeface="+mj-ea"/>
                <a:sym typeface="+mn-ea"/>
              </a:rPr>
              <a:t>——</a:t>
            </a:r>
            <a:r>
              <a:rPr lang="zh-CN" altLang="en-US" sz="2800" b="1" dirty="0">
                <a:solidFill>
                  <a:srgbClr val="023B8C"/>
                </a:solidFill>
                <a:latin typeface="+mj-ea"/>
                <a:ea typeface="+mj-ea"/>
                <a:sym typeface="+mn-ea"/>
              </a:rPr>
              <a:t>特征分析</a:t>
            </a:r>
            <a:endParaRPr lang="zh-CN" altLang="en-US" sz="2800" b="1" dirty="0">
              <a:solidFill>
                <a:srgbClr val="023B8C"/>
              </a:solidFill>
              <a:latin typeface="+mj-ea"/>
              <a:ea typeface="+mj-ea"/>
            </a:endParaRP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pic>
        <p:nvPicPr>
          <p:cNvPr id="19460" name="Picture 2" descr="the third eye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474028" y="1568133"/>
            <a:ext cx="8428037" cy="3357562"/>
          </a:xfrm>
          <a:prstGeom prst="rect">
            <a:avLst/>
          </a:prstGeom>
          <a:noFill/>
          <a:ln>
            <a:noFill/>
          </a:ln>
        </p:spPr>
      </p:pic>
      <p:sp>
        <p:nvSpPr>
          <p:cNvPr id="19461" name="TextBox 8"/>
          <p:cNvSpPr txBox="1">
            <a:spLocks noChangeArrowheads="1"/>
          </p:cNvSpPr>
          <p:nvPr/>
        </p:nvSpPr>
        <p:spPr bwMode="auto">
          <a:xfrm>
            <a:off x="262890" y="4966970"/>
            <a:ext cx="11782425"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rgbClr val="000000"/>
                </a:solidFill>
                <a:latin typeface="Verdana" panose="020B0604030504040204" pitchFamily="34" charset="0"/>
                <a:ea typeface="宋体" panose="02010600030101010101" pitchFamily="2" charset="-122"/>
              </a:defRPr>
            </a:lvl1pPr>
            <a:lvl2pPr marL="742950" indent="-285750" eaLnBrk="0" hangingPunct="0">
              <a:defRPr>
                <a:solidFill>
                  <a:srgbClr val="000000"/>
                </a:solidFill>
                <a:latin typeface="Verdana" panose="020B0604030504040204" pitchFamily="34" charset="0"/>
                <a:ea typeface="宋体" panose="02010600030101010101" pitchFamily="2" charset="-122"/>
              </a:defRPr>
            </a:lvl2pPr>
            <a:lvl3pPr marL="1143000" indent="-228600" eaLnBrk="0" hangingPunct="0">
              <a:defRPr>
                <a:solidFill>
                  <a:srgbClr val="000000"/>
                </a:solidFill>
                <a:latin typeface="Verdana" panose="020B0604030504040204" pitchFamily="34" charset="0"/>
                <a:ea typeface="宋体" panose="02010600030101010101" pitchFamily="2" charset="-122"/>
              </a:defRPr>
            </a:lvl3pPr>
            <a:lvl4pPr marL="1600200" indent="-228600" eaLnBrk="0" hangingPunct="0">
              <a:defRPr>
                <a:solidFill>
                  <a:srgbClr val="000000"/>
                </a:solidFill>
                <a:latin typeface="Verdana" panose="020B0604030504040204" pitchFamily="34" charset="0"/>
                <a:ea typeface="宋体" panose="02010600030101010101" pitchFamily="2" charset="-122"/>
              </a:defRPr>
            </a:lvl4pPr>
            <a:lvl5pPr marL="2057400" indent="-228600" eaLnBrk="0" hangingPunct="0">
              <a:defRPr>
                <a:solidFill>
                  <a:srgbClr val="000000"/>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rgbClr val="000000"/>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rgbClr val="000000"/>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rgbClr val="000000"/>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rgbClr val="000000"/>
                </a:solidFill>
                <a:latin typeface="Verdana" panose="020B0604030504040204" pitchFamily="34" charset="0"/>
                <a:ea typeface="宋体" panose="02010600030101010101" pitchFamily="2" charset="-122"/>
              </a:defRPr>
            </a:lvl9pPr>
          </a:lstStyle>
          <a:p>
            <a:pPr marL="457200" lvl="1" indent="0" algn="l" fontAlgn="base">
              <a:spcBef>
                <a:spcPct val="20000"/>
              </a:spcBef>
              <a:buClr>
                <a:srgbClr val="99CCCC"/>
              </a:buClr>
              <a:buSzPct val="70000"/>
              <a:buFont typeface="Wingdings" panose="05000000000000000000" pitchFamily="2" charset="2"/>
              <a:buNone/>
            </a:pPr>
            <a:r>
              <a:rPr lang="zh-CN" altLang="en-US" sz="2500">
                <a:latin typeface="Times New Roman" panose="02020603050405020304" pitchFamily="18" charset="0"/>
                <a:ea typeface="华文楷体" panose="02010600040101010101" charset="-122"/>
              </a:rPr>
              <a:t>比如：隐写软件TheThirdEye的隐写标记：www.binary-techNologies.com</a:t>
            </a:r>
          </a:p>
          <a:p>
            <a:pPr marL="457200" lvl="1" indent="0" algn="l" fontAlgn="base">
              <a:spcBef>
                <a:spcPct val="20000"/>
              </a:spcBef>
              <a:buClr>
                <a:srgbClr val="99CCCC"/>
              </a:buClr>
              <a:buSzPct val="70000"/>
              <a:buFont typeface="Wingdings" panose="05000000000000000000" pitchFamily="2" charset="2"/>
              <a:buNone/>
            </a:pPr>
            <a:r>
              <a:rPr lang="zh-CN" altLang="en-US" sz="2500">
                <a:sym typeface="+mn-ea"/>
              </a:rPr>
              <a:t>比如：隐写软件</a:t>
            </a:r>
            <a:r>
              <a:rPr lang="en-US" altLang="zh-CN" sz="2500">
                <a:sym typeface="+mn-ea"/>
              </a:rPr>
              <a:t>Securengin3.0</a:t>
            </a:r>
            <a:r>
              <a:rPr lang="zh-CN" altLang="en-US" sz="2500">
                <a:sym typeface="+mn-ea"/>
              </a:rPr>
              <a:t>特征码</a:t>
            </a:r>
            <a:endParaRPr lang="en-US" altLang="zh-CN" sz="2500"/>
          </a:p>
          <a:p>
            <a:pPr lvl="1"/>
            <a:r>
              <a:rPr lang="en-US" altLang="zh-CN" sz="2500">
                <a:sym typeface="+mn-ea"/>
              </a:rPr>
              <a:t>0111 0000 1101 1110 1011 0010 0100 0110 1101 1010 1110 1111</a:t>
            </a:r>
            <a:endParaRPr lang="en-US" altLang="zh-CN" sz="2500"/>
          </a:p>
          <a:p>
            <a:pPr lvl="1"/>
            <a:r>
              <a:rPr lang="en-US" altLang="zh-CN" sz="2500">
                <a:sym typeface="+mn-ea"/>
              </a:rPr>
              <a:t>1111 0111 0100 0110 0011 1101 0010 0100 0001 1110 1010 1000</a:t>
            </a:r>
            <a:endParaRPr lang="en-US" altLang="zh-CN" sz="2500"/>
          </a:p>
          <a:p>
            <a:pPr marL="457200" lvl="1" indent="0" algn="l" fontAlgn="base">
              <a:spcBef>
                <a:spcPct val="20000"/>
              </a:spcBef>
              <a:buClr>
                <a:srgbClr val="99CCCC"/>
              </a:buClr>
              <a:buSzPct val="70000"/>
              <a:buFont typeface="Wingdings" panose="05000000000000000000" pitchFamily="2" charset="2"/>
              <a:buNone/>
            </a:pPr>
            <a:endParaRPr lang="zh-CN" altLang="en-US" sz="2500">
              <a:latin typeface="Times New Roman" panose="02020603050405020304" pitchFamily="18" charset="0"/>
              <a:ea typeface="华文楷体" panose="02010600040101010101" charset="-122"/>
            </a:endParaRPr>
          </a:p>
        </p:txBody>
      </p:sp>
      <p:sp>
        <p:nvSpPr>
          <p:cNvPr id="7" name="Content Placeholder 2"/>
          <p:cNvSpPr>
            <a:spLocks noGrp="1"/>
          </p:cNvSpPr>
          <p:nvPr/>
        </p:nvSpPr>
        <p:spPr>
          <a:xfrm>
            <a:off x="626110" y="782955"/>
            <a:ext cx="10757535" cy="74422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8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4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0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8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8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8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8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8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800">
                <a:solidFill>
                  <a:srgbClr val="000000"/>
                </a:solidFill>
                <a:latin typeface="Times New Roman" panose="02020603050405020304" pitchFamily="18" charset="0"/>
                <a:ea typeface="华文楷体" panose="02010600040101010101" charset="-122"/>
              </a:defRPr>
            </a:lvl9pPr>
          </a:lstStyle>
          <a:p>
            <a:r>
              <a:rPr lang="zh-CN" altLang="en-US"/>
              <a:t>隐写软件特征，比如比如早期F5算法总插入 “JPEG Encoder Copyright 1998, James R. Weeks and BioElectroMech”</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ppt_x"/>
                                          </p:val>
                                        </p:tav>
                                        <p:tav tm="100000">
                                          <p:val>
                                            <p:strVal val="#ppt_x"/>
                                          </p:val>
                                        </p:tav>
                                      </p:tavLst>
                                    </p:anim>
                                    <p:anim calcmode="lin" valueType="num">
                                      <p:cBhvr additive="base">
                                        <p:cTn id="14"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sym typeface="+mn-ea"/>
              </a:rPr>
              <a:t>隐写分析方法</a:t>
            </a:r>
            <a:r>
              <a:rPr lang="en-US" altLang="zh-CN" sz="2800" b="1" dirty="0">
                <a:solidFill>
                  <a:srgbClr val="023B8C"/>
                </a:solidFill>
                <a:latin typeface="+mj-ea"/>
                <a:ea typeface="+mj-ea"/>
                <a:sym typeface="+mn-ea"/>
              </a:rPr>
              <a:t>——</a:t>
            </a:r>
            <a:r>
              <a:rPr lang="zh-CN" altLang="en-US" sz="2800" b="1" dirty="0">
                <a:solidFill>
                  <a:srgbClr val="023B8C"/>
                </a:solidFill>
                <a:latin typeface="+mj-ea"/>
                <a:ea typeface="+mj-ea"/>
              </a:rPr>
              <a:t>统计分析</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1507" name="Content Placeholder 2"/>
          <p:cNvSpPr>
            <a:spLocks noGrp="1"/>
          </p:cNvSpPr>
          <p:nvPr/>
        </p:nvSpPr>
        <p:spPr>
          <a:xfrm>
            <a:off x="596265" y="1254125"/>
            <a:ext cx="10999470"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r>
              <a:rPr lang="zh-CN" altLang="en-US"/>
              <a:t>载体感观效果没有变化，但</a:t>
            </a:r>
            <a:r>
              <a:rPr lang="zh-CN"/>
              <a:t>统计特征</a:t>
            </a:r>
            <a:r>
              <a:rPr lang="zh-CN" altLang="en-US"/>
              <a:t>改变</a:t>
            </a:r>
            <a:endParaRPr lang="en-US" altLang="zh-CN"/>
          </a:p>
          <a:p>
            <a:r>
              <a:rPr lang="zh-CN"/>
              <a:t>分析待检测载体的统计特征，可以判断载体是否经过隐写</a:t>
            </a:r>
            <a:endParaRPr lang="en-US" altLang="zh-CN"/>
          </a:p>
          <a:p>
            <a:r>
              <a:rPr lang="zh-CN" altLang="en-US"/>
              <a:t>典型方法：</a:t>
            </a:r>
            <a:endParaRPr lang="en-US" altLang="zh-CN"/>
          </a:p>
          <a:p>
            <a:pPr lvl="1"/>
            <a:r>
              <a:rPr lang="en-US" altLang="zh-CN"/>
              <a:t>LSB</a:t>
            </a:r>
            <a:r>
              <a:rPr lang="zh-CN" altLang="en-US"/>
              <a:t>隐写分析的卡方、</a:t>
            </a:r>
            <a:r>
              <a:rPr lang="en-US" altLang="zh-CN"/>
              <a:t>RS</a:t>
            </a:r>
            <a:r>
              <a:rPr lang="zh-CN" altLang="en-US"/>
              <a:t>检测等</a:t>
            </a:r>
            <a:endParaRPr lang="en-US" altLang="zh-CN"/>
          </a:p>
          <a:p>
            <a:pPr lvl="1"/>
            <a:r>
              <a:rPr lang="en-US" altLang="zh-CN"/>
              <a:t>JPEG</a:t>
            </a:r>
            <a:r>
              <a:rPr lang="zh-CN" altLang="en-US"/>
              <a:t>检测等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507">
                                            <p:txEl>
                                              <p:pRg st="3" end="3"/>
                                            </p:txEl>
                                          </p:spTgt>
                                        </p:tgtEl>
                                        <p:attrNameLst>
                                          <p:attrName>style.visibility</p:attrName>
                                        </p:attrNameLst>
                                      </p:cBhvr>
                                      <p:to>
                                        <p:strVal val="visible"/>
                                      </p:to>
                                    </p:set>
                                    <p:anim calcmode="lin" valueType="num">
                                      <p:cBhvr additive="base">
                                        <p:cTn id="23" dur="5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50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 calcmode="lin" valueType="num">
                                      <p:cBhvr additive="base">
                                        <p:cTn id="27"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隐写分析分类</a:t>
            </a:r>
          </a:p>
        </p:txBody>
      </p:sp>
      <p:sp>
        <p:nvSpPr>
          <p:cNvPr id="4" name="平行四边形 3"/>
          <p:cNvSpPr/>
          <p:nvPr/>
        </p:nvSpPr>
        <p:spPr>
          <a:xfrm>
            <a:off x="123825" y="249555"/>
            <a:ext cx="872490" cy="49276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62255" y="260985"/>
            <a:ext cx="840740" cy="521970"/>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356870" y="1079500"/>
            <a:ext cx="10615295"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7" name="Content Placeholder 2"/>
          <p:cNvSpPr>
            <a:spLocks noGrp="1"/>
          </p:cNvSpPr>
          <p:nvPr/>
        </p:nvSpPr>
        <p:spPr>
          <a:xfrm>
            <a:off x="356870" y="1176655"/>
            <a:ext cx="11396345" cy="476567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0" indent="0">
              <a:buNone/>
            </a:pPr>
            <a:r>
              <a:rPr lang="zh-CN" altLang="en-US" sz="2800"/>
              <a:t>根据最终的效果</a:t>
            </a:r>
          </a:p>
          <a:p>
            <a:pPr lvl="1"/>
            <a:r>
              <a:rPr lang="zh-CN" altLang="en-US" sz="2800"/>
              <a:t>隐写分析根据最终效果可分为两种，一种是被动隐写分析（Passive steganalysis），一种是主动隐写分析（Active steganalysis）。</a:t>
            </a:r>
          </a:p>
          <a:p>
            <a:pPr lvl="1"/>
            <a:r>
              <a:rPr lang="zh-CN" altLang="en-US" sz="2800"/>
              <a:t>被动隐写分析仅仅判断多媒体数据中是否存在秘密信息，有一些被动隐写分析算法会尝试判断携密隐写载体所采用的算法。主动隐写分析的目标是估算隐藏信息的长度、估计隐藏信息的位置、猜测隐藏算法使用的密钥、猜测隐藏算法所使用的某一些参数，主动隐写分析的终极目标是提取隐藏的秘密信息。</a:t>
            </a:r>
          </a:p>
          <a:p>
            <a:pPr lvl="1"/>
            <a:r>
              <a:rPr lang="zh-CN" altLang="en-US" sz="2800"/>
              <a:t>目前隐写分析的研究主要集中在被动隐写分析技术上，主动隐写分析技术难度较大，至今未有深入的研究成果。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953135"/>
          </a:xfrm>
          <a:prstGeom prst="rect">
            <a:avLst/>
          </a:prstGeom>
        </p:spPr>
        <p:txBody>
          <a:bodyPr wrap="square">
            <a:spAutoFit/>
          </a:bodyPr>
          <a:lstStyle/>
          <a:p>
            <a:r>
              <a:rPr lang="zh-CN" altLang="en-US" sz="2800" b="1" dirty="0">
                <a:solidFill>
                  <a:srgbClr val="023B8C"/>
                </a:solidFill>
                <a:latin typeface="+mj-ea"/>
                <a:ea typeface="+mj-ea"/>
              </a:rPr>
              <a:t>隐写分析的三个层次</a:t>
            </a:r>
          </a:p>
          <a:p>
            <a:endParaRPr lang="zh-CN" altLang="en-US" sz="2800" b="1" dirty="0">
              <a:solidFill>
                <a:srgbClr val="023B8C"/>
              </a:solidFill>
              <a:latin typeface="+mj-ea"/>
              <a:ea typeface="+mj-ea"/>
            </a:endParaRP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14340" name="Rectangle 3"/>
          <p:cNvSpPr>
            <a:spLocks noGrp="1" noChangeArrowheads="1"/>
          </p:cNvSpPr>
          <p:nvPr/>
        </p:nvSpPr>
        <p:spPr>
          <a:xfrm>
            <a:off x="431800" y="1005840"/>
            <a:ext cx="10730230" cy="493649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0" indent="0" eaLnBrk="1" hangingPunct="1">
              <a:lnSpc>
                <a:spcPct val="90000"/>
              </a:lnSpc>
              <a:buNone/>
            </a:pPr>
            <a:r>
              <a:rPr lang="zh-CN" altLang="en-US"/>
              <a:t>（</a:t>
            </a:r>
            <a:r>
              <a:rPr lang="en-US" altLang="zh-CN"/>
              <a:t>1</a:t>
            </a:r>
            <a:r>
              <a:rPr lang="zh-CN" altLang="en-US"/>
              <a:t>）</a:t>
            </a:r>
            <a:r>
              <a:rPr lang="zh-CN" altLang="en-US" b="1"/>
              <a:t>发现隐藏信息</a:t>
            </a:r>
            <a:r>
              <a:rPr lang="zh-CN" altLang="en-US"/>
              <a:t>：判断载体是否隐藏秘密信息，或者判断隐藏了秘密信息的可能性。本章的实验</a:t>
            </a:r>
            <a:r>
              <a:rPr lang="en-US" altLang="zh-CN"/>
              <a:t>LSB</a:t>
            </a:r>
            <a:r>
              <a:rPr lang="zh-CN" altLang="en-US"/>
              <a:t>的图像卡法隐写分析就是判断载体是否隐藏了秘密信息。也就是隐写分析的第一层次。</a:t>
            </a:r>
          </a:p>
          <a:p>
            <a:pPr marL="0" indent="0" eaLnBrk="1" hangingPunct="1">
              <a:lnSpc>
                <a:spcPct val="90000"/>
              </a:lnSpc>
              <a:buNone/>
            </a:pPr>
            <a:r>
              <a:rPr lang="zh-CN" altLang="en-US" b="1">
                <a:latin typeface="宋体" panose="02010600030101010101" pitchFamily="2" charset="-122"/>
              </a:rPr>
              <a:t>（</a:t>
            </a:r>
            <a:r>
              <a:rPr lang="en-US" altLang="zh-CN" b="1">
                <a:latin typeface="宋体" panose="02010600030101010101" pitchFamily="2" charset="-122"/>
              </a:rPr>
              <a:t>2</a:t>
            </a:r>
            <a:r>
              <a:rPr lang="zh-CN" altLang="en-US" b="1">
                <a:latin typeface="宋体" panose="02010600030101010101" pitchFamily="2" charset="-122"/>
              </a:rPr>
              <a:t>）提取隐藏信息</a:t>
            </a:r>
            <a:r>
              <a:rPr lang="zh-CN" altLang="en-US">
                <a:latin typeface="宋体" panose="02010600030101010101" pitchFamily="2" charset="-122"/>
              </a:rPr>
              <a:t>：如果察觉到载体中隐藏有信息，那么接下来的任务就是试图提取秘密信息。提取信息是更加困难的一步。</a:t>
            </a:r>
          </a:p>
          <a:p>
            <a:pPr marL="0" indent="0" eaLnBrk="1" hangingPunct="1">
              <a:lnSpc>
                <a:spcPct val="90000"/>
              </a:lnSpc>
              <a:buNone/>
            </a:pPr>
            <a:r>
              <a:rPr lang="zh-CN" altLang="en-US">
                <a:latin typeface="宋体" panose="02010600030101010101" pitchFamily="2" charset="-122"/>
              </a:rPr>
              <a:t>问题：提取隐藏的秘密的信息存在哪些困难？隐藏的秘密信息是否可以加密后再隐藏？</a:t>
            </a:r>
          </a:p>
          <a:p>
            <a:pPr marL="0" indent="0" eaLnBrk="1" hangingPunct="1">
              <a:lnSpc>
                <a:spcPct val="90000"/>
              </a:lnSpc>
              <a:buNone/>
            </a:pPr>
            <a:r>
              <a:rPr lang="zh-CN" altLang="en-US" b="1">
                <a:latin typeface="宋体" panose="02010600030101010101" pitchFamily="2" charset="-122"/>
              </a:rPr>
              <a:t>（</a:t>
            </a:r>
            <a:r>
              <a:rPr lang="en-US" altLang="zh-CN" b="1">
                <a:latin typeface="宋体" panose="02010600030101010101" pitchFamily="2" charset="-122"/>
              </a:rPr>
              <a:t>3</a:t>
            </a:r>
            <a:r>
              <a:rPr lang="zh-CN" altLang="en-US" b="1">
                <a:latin typeface="宋体" panose="02010600030101010101" pitchFamily="2" charset="-122"/>
              </a:rPr>
              <a:t>）破坏隐藏信息：如发现有可疑文件在传输，但又无法提取出秘密信息，这时可让伪装对象（携密载体）在信道上通过，但破坏掉其中有可能嵌入的信息，同时对携密载体不产生感观上的破坏，使得接收方能够收到携密载体，但无法正确提取出秘密信息。这样也能够达到破坏非法信息秘密传递的目的。</a:t>
            </a:r>
          </a:p>
          <a:p>
            <a:pPr eaLnBrk="1" hangingPunct="1">
              <a:lnSpc>
                <a:spcPct val="90000"/>
              </a:lnSpc>
            </a:pPr>
            <a:endParaRPr lang="zh-CN" altLang="en-US">
              <a:latin typeface="宋体" panose="02010600030101010101" pitchFamily="2" charset="-122"/>
            </a:endParaRPr>
          </a:p>
          <a:p>
            <a:pPr eaLnBrk="1" hangingPunct="1">
              <a:lnSpc>
                <a:spcPct val="90000"/>
              </a:lnSpc>
            </a:pP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 calcmode="lin" valueType="num">
                                      <p:cBhvr additive="base">
                                        <p:cTn id="7" dur="500" fill="hold"/>
                                        <p:tgtEl>
                                          <p:spTgt spid="143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0">
                                            <p:txEl>
                                              <p:pRg st="1" end="1"/>
                                            </p:txEl>
                                          </p:spTgt>
                                        </p:tgtEl>
                                        <p:attrNameLst>
                                          <p:attrName>style.visibility</p:attrName>
                                        </p:attrNameLst>
                                      </p:cBhvr>
                                      <p:to>
                                        <p:strVal val="visible"/>
                                      </p:to>
                                    </p:set>
                                    <p:anim calcmode="lin" valueType="num">
                                      <p:cBhvr additive="base">
                                        <p:cTn id="13" dur="500" fill="hold"/>
                                        <p:tgtEl>
                                          <p:spTgt spid="143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0">
                                            <p:txEl>
                                              <p:pRg st="2" end="2"/>
                                            </p:txEl>
                                          </p:spTgt>
                                        </p:tgtEl>
                                        <p:attrNameLst>
                                          <p:attrName>style.visibility</p:attrName>
                                        </p:attrNameLst>
                                      </p:cBhvr>
                                      <p:to>
                                        <p:strVal val="visible"/>
                                      </p:to>
                                    </p:set>
                                    <p:anim calcmode="lin" valueType="num">
                                      <p:cBhvr additive="base">
                                        <p:cTn id="19" dur="500" fill="hold"/>
                                        <p:tgtEl>
                                          <p:spTgt spid="143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40">
                                            <p:txEl>
                                              <p:pRg st="3" end="3"/>
                                            </p:txEl>
                                          </p:spTgt>
                                        </p:tgtEl>
                                        <p:attrNameLst>
                                          <p:attrName>style.visibility</p:attrName>
                                        </p:attrNameLst>
                                      </p:cBhvr>
                                      <p:to>
                                        <p:strVal val="visible"/>
                                      </p:to>
                                    </p:set>
                                    <p:anim calcmode="lin" valueType="num">
                                      <p:cBhvr additive="base">
                                        <p:cTn id="25" dur="500" fill="hold"/>
                                        <p:tgtEl>
                                          <p:spTgt spid="143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4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隐写分析算法四个性能指标</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2531" name="Content Placeholder 2"/>
          <p:cNvSpPr>
            <a:spLocks noGrp="1"/>
          </p:cNvSpPr>
          <p:nvPr/>
        </p:nvSpPr>
        <p:spPr>
          <a:xfrm>
            <a:off x="261620" y="782955"/>
            <a:ext cx="11929745" cy="534606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0" indent="0">
              <a:buNone/>
            </a:pPr>
            <a:r>
              <a:rPr lang="zh-CN" altLang="en-US" dirty="0"/>
              <a:t>（</a:t>
            </a:r>
            <a:r>
              <a:rPr lang="en-US" altLang="zh-CN" dirty="0"/>
              <a:t>1</a:t>
            </a:r>
            <a:r>
              <a:rPr lang="zh-CN" altLang="en-US" dirty="0"/>
              <a:t>）</a:t>
            </a:r>
            <a:r>
              <a:rPr lang="zh-CN" altLang="en-US" b="1" dirty="0"/>
              <a:t>准确性</a:t>
            </a:r>
            <a:r>
              <a:rPr lang="zh-CN" altLang="en-US" dirty="0"/>
              <a:t>是指检测准确程度，是衡量隐写分析算法的一种评价指标。</a:t>
            </a:r>
          </a:p>
          <a:p>
            <a:pPr marL="0" indent="0">
              <a:buNone/>
            </a:pPr>
            <a:r>
              <a:rPr lang="zh-CN" altLang="en-US" dirty="0"/>
              <a:t>（</a:t>
            </a:r>
            <a:r>
              <a:rPr lang="en-US" altLang="zh-CN" dirty="0"/>
              <a:t>2</a:t>
            </a:r>
            <a:r>
              <a:rPr lang="zh-CN" altLang="en-US" dirty="0"/>
              <a:t>）</a:t>
            </a:r>
            <a:r>
              <a:rPr lang="zh-CN" altLang="en-US" b="1" dirty="0"/>
              <a:t>适用性</a:t>
            </a:r>
            <a:r>
              <a:rPr lang="zh-CN" altLang="en-US" dirty="0"/>
              <a:t>是指隐写分析算法对不同隐写算法的有效性。适用性可由检测算法能有效地检测多少种和多少类隐写算法来衡量。</a:t>
            </a:r>
          </a:p>
          <a:p>
            <a:pPr marL="0" indent="0">
              <a:buNone/>
            </a:pPr>
            <a:r>
              <a:rPr lang="zh-CN" altLang="en-US" dirty="0"/>
              <a:t>（</a:t>
            </a:r>
            <a:r>
              <a:rPr lang="en-US" altLang="zh-CN" dirty="0"/>
              <a:t>3</a:t>
            </a:r>
            <a:r>
              <a:rPr lang="zh-CN" altLang="en-US" dirty="0"/>
              <a:t>）</a:t>
            </a:r>
            <a:r>
              <a:rPr lang="zh-CN" altLang="en-US" b="1" dirty="0"/>
              <a:t>实用性</a:t>
            </a:r>
            <a:r>
              <a:rPr lang="zh-CN" altLang="en-US" dirty="0"/>
              <a:t>是指分析算法可实际推广应用的程度，可由实现条件是否允许、分析结果是否稳定、自动化程度的高低和实时性等进行衡量。</a:t>
            </a:r>
          </a:p>
          <a:p>
            <a:pPr marL="0" indent="0">
              <a:buNone/>
            </a:pPr>
            <a:r>
              <a:rPr lang="zh-CN" altLang="en-US" dirty="0"/>
              <a:t>（</a:t>
            </a:r>
            <a:r>
              <a:rPr lang="en-US" altLang="zh-CN" dirty="0"/>
              <a:t>4</a:t>
            </a:r>
            <a:r>
              <a:rPr lang="zh-CN" altLang="en-US" dirty="0"/>
              <a:t>）复杂度是针对隐写分析算法本身而言的，可由隐写分析算法实现需要的资源开销和软硬件条件来衡量。</a:t>
            </a:r>
          </a:p>
          <a:p>
            <a:pPr marL="0" indent="0">
              <a:buNone/>
            </a:pPr>
            <a:r>
              <a:rPr lang="zh-CN" altLang="en-US" dirty="0"/>
              <a:t>这四个性能指标之间相互制约。</a:t>
            </a:r>
            <a:r>
              <a:rPr lang="zh-CN" altLang="en-US" b="1" dirty="0"/>
              <a:t>准确性和适用性之间就相互制约</a:t>
            </a:r>
            <a:r>
              <a:rPr lang="zh-CN" altLang="en-US" dirty="0"/>
              <a:t>，当某一个算法的准确性较高时候，这种算法或许只能是针对某一种者某几种隐写算法，适用性较差。当某一种算法适用性较好时，这种算法的准确性可能就较差。</a:t>
            </a:r>
          </a:p>
          <a:p>
            <a:pPr marL="0" indent="0">
              <a:buNone/>
            </a:pPr>
            <a:r>
              <a:rPr lang="zh-CN" altLang="en-US" dirty="0"/>
              <a:t>问题：专用隐写分析算法的适用性比</a:t>
            </a:r>
            <a:r>
              <a:rPr lang="zh-CN" altLang="en-US" b="1" dirty="0"/>
              <a:t>通用隐写分析算法的适用性好</a:t>
            </a:r>
            <a:r>
              <a:rPr lang="zh-CN" altLang="en-US" dirty="0"/>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531">
                                            <p:txEl>
                                              <p:pRg st="4" end="4"/>
                                            </p:txEl>
                                          </p:spTgt>
                                        </p:tgtEl>
                                        <p:attrNameLst>
                                          <p:attrName>style.visibility</p:attrName>
                                        </p:attrNameLst>
                                      </p:cBhvr>
                                      <p:to>
                                        <p:strVal val="visible"/>
                                      </p:to>
                                    </p:set>
                                    <p:anim calcmode="lin" valueType="num">
                                      <p:cBhvr additive="base">
                                        <p:cTn id="31"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 calcmode="lin" valueType="num">
                                      <p:cBhvr additive="base">
                                        <p:cTn id="37" dur="5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5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隐写分析算法性能指标</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2531" name="Content Placeholder 2"/>
          <p:cNvSpPr>
            <a:spLocks noGrp="1"/>
          </p:cNvSpPr>
          <p:nvPr/>
        </p:nvSpPr>
        <p:spPr>
          <a:xfrm>
            <a:off x="434340" y="1236980"/>
            <a:ext cx="11555730" cy="489204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r>
              <a:rPr lang="zh-CN" altLang="en-US"/>
              <a:t>隐写分析算法正确性的性能指标可以使用准确率，漏判率和误判率来衡量。</a:t>
            </a:r>
          </a:p>
          <a:p>
            <a:r>
              <a:rPr lang="zh-CN" altLang="en-US"/>
              <a:t>准确率是把原始载体判定为原始载体，把隐写载体判定为隐写载体的比例。</a:t>
            </a:r>
          </a:p>
          <a:p>
            <a:r>
              <a:rPr lang="zh-CN" altLang="en-US" b="1"/>
              <a:t>误判率</a:t>
            </a:r>
            <a:r>
              <a:rPr lang="zh-CN" altLang="en-US"/>
              <a:t>是将原始载体（没有隐藏秘密信息的载体）判定为隐写载体的比例。</a:t>
            </a:r>
          </a:p>
          <a:p>
            <a:r>
              <a:rPr lang="zh-CN" altLang="en-US" b="1"/>
              <a:t>漏判率</a:t>
            </a:r>
            <a:r>
              <a:rPr lang="zh-CN" altLang="en-US"/>
              <a:t>是把隐写载体判定为原始载体（没有隐藏秘密信息的载体）的比例。</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隐写分析算法性能指标</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2531" name="Content Placeholder 2"/>
          <p:cNvSpPr>
            <a:spLocks noGrp="1"/>
          </p:cNvSpPr>
          <p:nvPr/>
        </p:nvSpPr>
        <p:spPr>
          <a:xfrm>
            <a:off x="262255" y="1085850"/>
            <a:ext cx="11727815" cy="504317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r>
              <a:rPr lang="en-US" altLang="zh-CN" dirty="0"/>
              <a:t>N</a:t>
            </a:r>
            <a:r>
              <a:rPr lang="zh-CN" altLang="en-US" dirty="0"/>
              <a:t>为一次测试的样本集大小（原始载体数和隐写载体数之和）；</a:t>
            </a:r>
          </a:p>
          <a:p>
            <a:pPr marL="0" indent="0">
              <a:buNone/>
            </a:pPr>
            <a:r>
              <a:rPr lang="zh-CN" altLang="en-US" dirty="0"/>
              <a:t>正确率为正确判决次数，也就是将自然载体判为自然载体，将隐写载体判为隐写载体；</a:t>
            </a:r>
          </a:p>
          <a:p>
            <a:r>
              <a:rPr lang="zh-CN" altLang="en-US" b="1" dirty="0">
                <a:sym typeface="+mn-ea"/>
              </a:rPr>
              <a:t>误判率</a:t>
            </a:r>
            <a:r>
              <a:rPr lang="zh-CN" altLang="en-US" dirty="0"/>
              <a:t>为虚警次数（将自然载体错误判决为隐写载体的次数）；</a:t>
            </a:r>
            <a:r>
              <a:rPr lang="zh-CN" altLang="en-US" b="1" dirty="0">
                <a:sym typeface="+mn-ea"/>
              </a:rPr>
              <a:t>漏判率</a:t>
            </a:r>
            <a:r>
              <a:rPr lang="zh-CN" altLang="en-US" dirty="0"/>
              <a:t>为漏检次数（将隐写载体错误判决为自然载体的次数），</a:t>
            </a:r>
          </a:p>
          <a:p>
            <a:r>
              <a:rPr lang="zh-CN" altLang="en-US" dirty="0"/>
              <a:t>问题：隐写分析中</a:t>
            </a:r>
            <a:r>
              <a:rPr lang="zh-CN" altLang="en-US" b="1" dirty="0">
                <a:sym typeface="+mn-ea"/>
              </a:rPr>
              <a:t>误判率</a:t>
            </a:r>
            <a:r>
              <a:rPr lang="zh-CN" altLang="en-US" dirty="0"/>
              <a:t>和</a:t>
            </a:r>
            <a:r>
              <a:rPr lang="zh-CN" altLang="en-US" b="1" dirty="0">
                <a:sym typeface="+mn-ea"/>
              </a:rPr>
              <a:t>漏判率</a:t>
            </a:r>
            <a:r>
              <a:rPr lang="zh-CN" altLang="en-US" dirty="0"/>
              <a:t>是否是两个相互制约的指标，这两个指标是否可以同时达到最优化？</a:t>
            </a:r>
          </a:p>
          <a:p>
            <a:r>
              <a:rPr lang="zh-CN" altLang="en-US" dirty="0"/>
              <a:t>问题：取得最佳检测正确率前提下，在虚警率和漏检率的减少无法兼顾的情况下，首先减少漏检率？</a:t>
            </a:r>
            <a:endParaRPr lang="en-US" altLang="zh-CN" dirty="0"/>
          </a:p>
          <a:p>
            <a:r>
              <a:rPr lang="zh-CN" altLang="en-US" dirty="0"/>
              <a:t>误判率和漏判率矛盾时，</a:t>
            </a:r>
            <a:r>
              <a:rPr lang="zh-CN" altLang="en-US" b="1" dirty="0"/>
              <a:t>提高</a:t>
            </a:r>
            <a:r>
              <a:rPr lang="zh-CN" altLang="en-US" b="1"/>
              <a:t>误判率。</a:t>
            </a:r>
            <a:endParaRPr lang="zh-CN" altLang="en-US" b="1" dirty="0"/>
          </a:p>
          <a:p>
            <a:pPr marL="0" indent="0">
              <a:buNone/>
            </a:pP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531">
                                            <p:txEl>
                                              <p:pRg st="4" end="4"/>
                                            </p:txEl>
                                          </p:spTgt>
                                        </p:tgtEl>
                                        <p:attrNameLst>
                                          <p:attrName>style.visibility</p:attrName>
                                        </p:attrNameLst>
                                      </p:cBhvr>
                                      <p:to>
                                        <p:strVal val="visible"/>
                                      </p:to>
                                    </p:set>
                                    <p:anim calcmode="lin" valueType="num">
                                      <p:cBhvr additive="base">
                                        <p:cTn id="31"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 calcmode="lin" valueType="num">
                                      <p:cBhvr additive="base">
                                        <p:cTn id="37" dur="5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5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隐写分析算法性能指标</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2531" name="Content Placeholder 2"/>
          <p:cNvSpPr>
            <a:spLocks noGrp="1"/>
          </p:cNvSpPr>
          <p:nvPr/>
        </p:nvSpPr>
        <p:spPr>
          <a:xfrm>
            <a:off x="262255" y="1085850"/>
            <a:ext cx="11727815" cy="504317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0" indent="0">
              <a:buNone/>
            </a:pPr>
            <a:endParaRPr lang="zh-CN" altLang="en-US"/>
          </a:p>
        </p:txBody>
      </p:sp>
      <p:graphicFrame>
        <p:nvGraphicFramePr>
          <p:cNvPr id="7" name="对象 6"/>
          <p:cNvGraphicFramePr/>
          <p:nvPr/>
        </p:nvGraphicFramePr>
        <p:xfrm>
          <a:off x="262255" y="1085850"/>
          <a:ext cx="11527155" cy="5445125"/>
        </p:xfrm>
        <a:graphic>
          <a:graphicData uri="http://schemas.openxmlformats.org/presentationml/2006/ole">
            <mc:AlternateContent xmlns:mc="http://schemas.openxmlformats.org/markup-compatibility/2006">
              <mc:Choice xmlns:v="urn:schemas-microsoft-com:vml" Requires="v">
                <p:oleObj r:id="rId4" imgW="6629400" imgH="3810000" progId="Paint.Picture">
                  <p:embed/>
                </p:oleObj>
              </mc:Choice>
              <mc:Fallback>
                <p:oleObj r:id="rId4" imgW="6629400" imgH="3810000" progId="Paint.Picture">
                  <p:embed/>
                  <p:pic>
                    <p:nvPicPr>
                      <p:cNvPr id="0" name="图片 7"/>
                      <p:cNvPicPr/>
                      <p:nvPr/>
                    </p:nvPicPr>
                    <p:blipFill>
                      <a:blip r:embed="rId5"/>
                      <a:stretch>
                        <a:fillRect/>
                      </a:stretch>
                    </p:blipFill>
                    <p:spPr>
                      <a:xfrm>
                        <a:off x="262255" y="1085850"/>
                        <a:ext cx="11527155" cy="5445125"/>
                      </a:xfrm>
                      <a:prstGeom prst="rect">
                        <a:avLst/>
                      </a:prstGeom>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mj-ea"/>
                <a:ea typeface="+mj-ea"/>
              </a:rPr>
              <a:t>隐写分析算法性能指标</a:t>
            </a:r>
          </a:p>
        </p:txBody>
      </p:sp>
      <p:grpSp>
        <p:nvGrpSpPr>
          <p:cNvPr id="3" name="组合 2"/>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p>
          </p:txBody>
        </p:sp>
      </p:grpSp>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Rectangle 3"/>
          <p:cNvSpPr>
            <a:spLocks noGrp="1" noChangeArrowheads="1"/>
          </p:cNvSpPr>
          <p:nvPr/>
        </p:nvSpPr>
        <p:spPr bwMode="auto">
          <a:xfrm>
            <a:off x="1220259" y="1371600"/>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eaLnBrk="1" hangingPunct="1"/>
            <a:endParaRPr lang="zh-CN" altLang="en-US"/>
          </a:p>
        </p:txBody>
      </p:sp>
      <p:sp>
        <p:nvSpPr>
          <p:cNvPr id="22531" name="Content Placeholder 2"/>
          <p:cNvSpPr>
            <a:spLocks noGrp="1"/>
          </p:cNvSpPr>
          <p:nvPr/>
        </p:nvSpPr>
        <p:spPr>
          <a:xfrm>
            <a:off x="262255" y="1085850"/>
            <a:ext cx="11727815" cy="504317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6666"/>
              </a:buClr>
              <a:buSzPct val="70000"/>
              <a:buFont typeface="Wingdings" panose="05000000000000000000" pitchFamily="2" charset="2"/>
              <a:buChar char="¡"/>
              <a:defRPr sz="2900">
                <a:solidFill>
                  <a:srgbClr val="000000"/>
                </a:solidFill>
                <a:latin typeface="Times New Roman" panose="02020603050405020304" pitchFamily="18" charset="0"/>
                <a:ea typeface="华文楷体" panose="02010600040101010101" charset="-122"/>
                <a:cs typeface="+mn-ea"/>
              </a:defRPr>
            </a:lvl1pPr>
            <a:lvl2pPr marL="742950" indent="-285750" algn="l" rtl="0" eaLnBrk="0" fontAlgn="base" hangingPunct="0">
              <a:spcBef>
                <a:spcPct val="20000"/>
              </a:spcBef>
              <a:spcAft>
                <a:spcPct val="0"/>
              </a:spcAft>
              <a:buClr>
                <a:srgbClr val="99CCCC"/>
              </a:buClr>
              <a:buSzPct val="70000"/>
              <a:buFont typeface="Wingdings" panose="05000000000000000000" pitchFamily="2" charset="2"/>
              <a:buChar char="l"/>
              <a:defRPr sz="2500">
                <a:solidFill>
                  <a:srgbClr val="000000"/>
                </a:solidFill>
                <a:latin typeface="Times New Roman" panose="02020603050405020304" pitchFamily="18" charset="0"/>
                <a:ea typeface="华文楷体" panose="02010600040101010101" charset="-122"/>
              </a:defRPr>
            </a:lvl2pPr>
            <a:lvl3pPr marL="1143000" indent="-228600" algn="l" rtl="0" eaLnBrk="0" fontAlgn="base" hangingPunct="0">
              <a:spcBef>
                <a:spcPct val="20000"/>
              </a:spcBef>
              <a:spcAft>
                <a:spcPct val="0"/>
              </a:spcAft>
              <a:buClr>
                <a:srgbClr val="006666"/>
              </a:buClr>
              <a:buSzPct val="65000"/>
              <a:buFont typeface="Wingdings" panose="05000000000000000000" pitchFamily="2" charset="2"/>
              <a:buChar char="¡"/>
              <a:defRPr sz="2200">
                <a:solidFill>
                  <a:srgbClr val="000000"/>
                </a:solidFill>
                <a:latin typeface="Times New Roman" panose="02020603050405020304" pitchFamily="18" charset="0"/>
                <a:ea typeface="华文楷体" panose="02010600040101010101" charset="-122"/>
              </a:defRPr>
            </a:lvl3pPr>
            <a:lvl4pPr marL="1600200" indent="-228600" algn="l" rtl="0" eaLnBrk="0" fontAlgn="base" hangingPunct="0">
              <a:spcBef>
                <a:spcPct val="20000"/>
              </a:spcBef>
              <a:spcAft>
                <a:spcPct val="0"/>
              </a:spcAft>
              <a:buClr>
                <a:srgbClr val="99CCCC"/>
              </a:buClr>
              <a:buSzPct val="70000"/>
              <a:buFont typeface="Wingdings" panose="05000000000000000000" pitchFamily="2" charset="2"/>
              <a:buChar char="l"/>
              <a:defRPr sz="1900">
                <a:solidFill>
                  <a:srgbClr val="000000"/>
                </a:solidFill>
                <a:latin typeface="Times New Roman" panose="02020603050405020304" pitchFamily="18" charset="0"/>
                <a:ea typeface="华文楷体" panose="02010600040101010101" charset="-122"/>
              </a:defRPr>
            </a:lvl4pPr>
            <a:lvl5pPr marL="2057400" indent="-228600" algn="l" rtl="0" eaLnBrk="0" fontAlgn="base" hangingPunct="0">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5pPr>
            <a:lvl6pPr marL="25146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6pPr>
            <a:lvl7pPr marL="29718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7pPr>
            <a:lvl8pPr marL="34290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8pPr>
            <a:lvl9pPr marL="3886200" indent="-228600" algn="l" rtl="0" fontAlgn="base">
              <a:spcBef>
                <a:spcPct val="20000"/>
              </a:spcBef>
              <a:spcAft>
                <a:spcPct val="0"/>
              </a:spcAft>
              <a:buClr>
                <a:srgbClr val="006666"/>
              </a:buClr>
              <a:buSzPct val="60000"/>
              <a:buFont typeface="Wingdings" panose="05000000000000000000" pitchFamily="2" charset="2"/>
              <a:buChar char="¡"/>
              <a:defRPr sz="1900">
                <a:solidFill>
                  <a:srgbClr val="000000"/>
                </a:solidFill>
                <a:latin typeface="Times New Roman" panose="02020603050405020304" pitchFamily="18" charset="0"/>
                <a:ea typeface="华文楷体" panose="02010600040101010101" charset="-122"/>
              </a:defRPr>
            </a:lvl9pPr>
          </a:lstStyle>
          <a:p>
            <a:pPr marL="0" indent="0">
              <a:buNone/>
            </a:pPr>
            <a:r>
              <a:rPr lang="zh-CN" altLang="en-US"/>
              <a:t>例：有一图像测试样本集为</a:t>
            </a:r>
            <a:r>
              <a:rPr lang="en-US" altLang="zh-CN"/>
              <a:t>100</a:t>
            </a:r>
            <a:r>
              <a:rPr lang="zh-CN" altLang="en-US"/>
              <a:t>个图像，其中原始载体（自然载体）</a:t>
            </a:r>
            <a:r>
              <a:rPr lang="en-US" altLang="zh-CN"/>
              <a:t>90</a:t>
            </a:r>
            <a:r>
              <a:rPr lang="zh-CN" altLang="en-US"/>
              <a:t>个，隐写载体</a:t>
            </a:r>
            <a:r>
              <a:rPr lang="en-US" altLang="zh-CN"/>
              <a:t>10</a:t>
            </a:r>
            <a:r>
              <a:rPr lang="zh-CN" altLang="en-US"/>
              <a:t>个。某隐写分析算法检测后，判定</a:t>
            </a:r>
            <a:r>
              <a:rPr lang="en-US" altLang="zh-CN"/>
              <a:t>89</a:t>
            </a:r>
            <a:r>
              <a:rPr lang="zh-CN" altLang="en-US"/>
              <a:t>个载体为原始载体</a:t>
            </a:r>
            <a:r>
              <a:rPr lang="zh-CN" altLang="en-US">
                <a:sym typeface="+mn-ea"/>
              </a:rPr>
              <a:t>（自然载体）</a:t>
            </a:r>
            <a:r>
              <a:rPr lang="zh-CN" altLang="en-US"/>
              <a:t>，</a:t>
            </a:r>
            <a:r>
              <a:rPr lang="en-US" altLang="zh-CN"/>
              <a:t>11</a:t>
            </a:r>
            <a:r>
              <a:rPr lang="zh-CN" altLang="en-US"/>
              <a:t>个为隐写载体。隐写分析算法判定出来的这</a:t>
            </a:r>
            <a:r>
              <a:rPr lang="en-US" altLang="zh-CN"/>
              <a:t>89</a:t>
            </a:r>
            <a:r>
              <a:rPr lang="zh-CN" altLang="en-US"/>
              <a:t>个原始载体</a:t>
            </a:r>
            <a:r>
              <a:rPr lang="zh-CN" altLang="en-US">
                <a:sym typeface="+mn-ea"/>
              </a:rPr>
              <a:t>（自然载体）</a:t>
            </a:r>
            <a:r>
              <a:rPr lang="zh-CN" altLang="en-US"/>
              <a:t>中实际上只有</a:t>
            </a:r>
            <a:r>
              <a:rPr lang="en-US" altLang="zh-CN"/>
              <a:t>86</a:t>
            </a:r>
            <a:r>
              <a:rPr lang="zh-CN" altLang="en-US"/>
              <a:t>个为真正的原始载体</a:t>
            </a:r>
            <a:r>
              <a:rPr lang="zh-CN" altLang="en-US">
                <a:sym typeface="+mn-ea"/>
              </a:rPr>
              <a:t>（自然载体）</a:t>
            </a:r>
            <a:r>
              <a:rPr lang="zh-CN" altLang="en-US"/>
              <a:t>，其中</a:t>
            </a:r>
            <a:r>
              <a:rPr lang="en-US" altLang="zh-CN"/>
              <a:t>3</a:t>
            </a:r>
            <a:r>
              <a:rPr lang="zh-CN" altLang="en-US"/>
              <a:t>个是将隐写载体判定为原始载体</a:t>
            </a:r>
            <a:r>
              <a:rPr lang="zh-CN" altLang="en-US">
                <a:sym typeface="+mn-ea"/>
              </a:rPr>
              <a:t>（自然载体）</a:t>
            </a:r>
            <a:r>
              <a:rPr lang="zh-CN" altLang="en-US"/>
              <a:t>。隐写算法判定出来的这</a:t>
            </a:r>
            <a:r>
              <a:rPr lang="en-US" altLang="zh-CN"/>
              <a:t>11</a:t>
            </a:r>
            <a:r>
              <a:rPr lang="zh-CN" altLang="en-US"/>
              <a:t>个隐写载体中只有</a:t>
            </a:r>
            <a:r>
              <a:rPr lang="en-US" altLang="zh-CN"/>
              <a:t>7</a:t>
            </a:r>
            <a:r>
              <a:rPr lang="zh-CN" altLang="en-US"/>
              <a:t>个是真正的隐写载体，将</a:t>
            </a:r>
            <a:r>
              <a:rPr lang="en-US" altLang="zh-CN"/>
              <a:t>4</a:t>
            </a:r>
            <a:r>
              <a:rPr lang="zh-CN" altLang="en-US"/>
              <a:t>个是原始载体</a:t>
            </a:r>
            <a:r>
              <a:rPr lang="zh-CN" altLang="en-US">
                <a:sym typeface="+mn-ea"/>
              </a:rPr>
              <a:t>（自然载体）误判为隐写载体</a:t>
            </a:r>
            <a:r>
              <a:rPr lang="zh-CN" altLang="en-US"/>
              <a:t>。</a:t>
            </a:r>
          </a:p>
          <a:p>
            <a:pPr marL="0" indent="0">
              <a:buNone/>
            </a:pPr>
            <a:r>
              <a:rPr lang="zh-CN" altLang="en-US"/>
              <a:t>请计算：</a:t>
            </a:r>
          </a:p>
          <a:p>
            <a:pPr marL="0" indent="0">
              <a:buNone/>
            </a:pPr>
            <a:r>
              <a:rPr lang="zh-CN" altLang="en-US"/>
              <a:t>隐写分析算法的正确率：（</a:t>
            </a:r>
            <a:r>
              <a:rPr lang="en-US" altLang="zh-CN"/>
              <a:t>86+7</a:t>
            </a:r>
            <a:r>
              <a:rPr lang="zh-CN" altLang="en-US"/>
              <a:t>）</a:t>
            </a:r>
            <a:r>
              <a:rPr lang="en-US" altLang="zh-CN"/>
              <a:t>/100=93%</a:t>
            </a:r>
            <a:endParaRPr lang="zh-CN" altLang="en-US"/>
          </a:p>
          <a:p>
            <a:pPr marL="0" indent="0">
              <a:buNone/>
            </a:pPr>
            <a:r>
              <a:rPr lang="zh-CN" altLang="en-US"/>
              <a:t>隐写分析算法的误判率（虚警率）：</a:t>
            </a:r>
            <a:r>
              <a:rPr lang="en-US" altLang="zh-CN"/>
              <a:t>4/100=4%</a:t>
            </a:r>
            <a:endParaRPr lang="zh-CN" altLang="en-US"/>
          </a:p>
          <a:p>
            <a:pPr marL="0" indent="0">
              <a:buNone/>
            </a:pPr>
            <a:r>
              <a:rPr lang="zh-CN" altLang="en-US"/>
              <a:t>隐写分析算法的漏判率（漏检率）：</a:t>
            </a:r>
            <a:r>
              <a:rPr lang="en-US" altLang="zh-CN"/>
              <a:t>3/100=3%</a:t>
            </a:r>
            <a:endParaRPr lang="zh-CN" altLang="en-US"/>
          </a:p>
          <a:p>
            <a:pPr marL="0" indent="0">
              <a:buNone/>
            </a:pP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531">
                                            <p:txEl>
                                              <p:pRg st="4" end="4"/>
                                            </p:txEl>
                                          </p:spTgt>
                                        </p:tgtEl>
                                        <p:attrNameLst>
                                          <p:attrName>style.visibility</p:attrName>
                                        </p:attrNameLst>
                                      </p:cBhvr>
                                      <p:to>
                                        <p:strVal val="visible"/>
                                      </p:to>
                                    </p:set>
                                    <p:anim calcmode="lin" valueType="num">
                                      <p:cBhvr additive="base">
                                        <p:cTn id="31"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FjMDI4OTdkZTQyNDUxMWExMzgzMzc4ODA2NDYxOTYifQ=="/>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1967</Words>
  <Application>Microsoft Office PowerPoint</Application>
  <PresentationFormat>宽屏</PresentationFormat>
  <Paragraphs>111</Paragraphs>
  <Slides>19</Slides>
  <Notes>19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28" baseType="lpstr">
      <vt:lpstr>楷体</vt:lpstr>
      <vt:lpstr>宋体</vt:lpstr>
      <vt:lpstr>Arial</vt:lpstr>
      <vt:lpstr>Calibri</vt:lpstr>
      <vt:lpstr>Impact</vt:lpstr>
      <vt:lpstr>Times New Roman</vt:lpstr>
      <vt:lpstr>Wingdings</vt:lpstr>
      <vt:lpstr>WPS</vt:lpstr>
      <vt:lpstr>Paintbrush 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 BUPT</dc:creator>
  <cp:lastModifiedBy>枫 项</cp:lastModifiedBy>
  <cp:revision>39</cp:revision>
  <dcterms:created xsi:type="dcterms:W3CDTF">2023-08-09T12:44:00Z</dcterms:created>
  <dcterms:modified xsi:type="dcterms:W3CDTF">2024-12-06T02:16:34Z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2052-12.1.0.17147</vt:lpwstr>
  </property>
</Properties>
</file>