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xml" ContentType="application/vnd.openxmlformats-officedocument.presentationml.notesSlide+xml"/>
  <Override PartName="/ppt/tags/tag2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23.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heme/themeOverride1.xml" ContentType="application/vnd.openxmlformats-officedocument.themeOverride+xml"/>
  <Override PartName="/ppt/notesSlides/notesSlide42.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2"/>
  </p:notesMasterIdLst>
  <p:sldIdLst>
    <p:sldId id="557" r:id="rId2"/>
    <p:sldId id="656" r:id="rId3"/>
    <p:sldId id="657" r:id="rId4"/>
    <p:sldId id="679" r:id="rId5"/>
    <p:sldId id="795" r:id="rId6"/>
    <p:sldId id="671" r:id="rId7"/>
    <p:sldId id="672" r:id="rId8"/>
    <p:sldId id="673" r:id="rId9"/>
    <p:sldId id="674" r:id="rId10"/>
    <p:sldId id="675" r:id="rId11"/>
    <p:sldId id="676" r:id="rId12"/>
    <p:sldId id="677" r:id="rId13"/>
    <p:sldId id="678" r:id="rId14"/>
    <p:sldId id="440" r:id="rId15"/>
    <p:sldId id="747" r:id="rId16"/>
    <p:sldId id="374" r:id="rId17"/>
    <p:sldId id="281" r:id="rId18"/>
    <p:sldId id="367" r:id="rId19"/>
    <p:sldId id="356" r:id="rId20"/>
    <p:sldId id="748" r:id="rId21"/>
    <p:sldId id="290" r:id="rId22"/>
    <p:sldId id="291" r:id="rId23"/>
    <p:sldId id="293" r:id="rId24"/>
    <p:sldId id="294" r:id="rId25"/>
    <p:sldId id="298" r:id="rId26"/>
    <p:sldId id="361" r:id="rId27"/>
    <p:sldId id="408" r:id="rId28"/>
    <p:sldId id="414" r:id="rId29"/>
    <p:sldId id="299" r:id="rId30"/>
    <p:sldId id="301" r:id="rId31"/>
    <p:sldId id="296" r:id="rId32"/>
    <p:sldId id="749" r:id="rId33"/>
    <p:sldId id="751" r:id="rId34"/>
    <p:sldId id="658" r:id="rId35"/>
    <p:sldId id="664" r:id="rId36"/>
    <p:sldId id="754" r:id="rId37"/>
    <p:sldId id="666" r:id="rId38"/>
    <p:sldId id="667" r:id="rId39"/>
    <p:sldId id="531" r:id="rId40"/>
    <p:sldId id="500" r:id="rId41"/>
    <p:sldId id="535" r:id="rId42"/>
    <p:sldId id="533" r:id="rId43"/>
    <p:sldId id="502" r:id="rId44"/>
    <p:sldId id="537" r:id="rId45"/>
    <p:sldId id="680" r:id="rId46"/>
    <p:sldId id="681" r:id="rId47"/>
    <p:sldId id="682" r:id="rId48"/>
    <p:sldId id="683" r:id="rId49"/>
    <p:sldId id="684" r:id="rId50"/>
    <p:sldId id="685" r:id="rId51"/>
    <p:sldId id="686" r:id="rId52"/>
    <p:sldId id="687" r:id="rId53"/>
    <p:sldId id="688" r:id="rId54"/>
    <p:sldId id="755" r:id="rId55"/>
    <p:sldId id="753" r:id="rId56"/>
    <p:sldId id="790" r:id="rId57"/>
    <p:sldId id="451" r:id="rId58"/>
    <p:sldId id="698" r:id="rId59"/>
    <p:sldId id="791" r:id="rId60"/>
    <p:sldId id="792" r:id="rId61"/>
  </p:sldIdLst>
  <p:sldSz cx="12192000" cy="6858000"/>
  <p:notesSz cx="6858000" cy="9144000"/>
  <p:custDataLst>
    <p:tags r:id="rId63"/>
  </p:custDataLst>
  <p:defaultTextStyle>
    <a:defPPr>
      <a:defRPr lang="zh-CN"/>
    </a:defPPr>
    <a:lvl1pPr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CA84258A-209C-497F-A36F-EBC2101D8238}">
          <p14:sldIdLst>
            <p14:sldId id="557"/>
            <p14:sldId id="656"/>
          </p14:sldIdLst>
        </p14:section>
        <p14:section name="人类听觉特点和语音质量评价" id="{A2DBD50F-31C4-4091-B357-4F973BB5B5EA}">
          <p14:sldIdLst>
            <p14:sldId id="657"/>
            <p14:sldId id="679"/>
            <p14:sldId id="795"/>
            <p14:sldId id="671"/>
            <p14:sldId id="672"/>
            <p14:sldId id="673"/>
            <p14:sldId id="674"/>
            <p14:sldId id="675"/>
            <p14:sldId id="676"/>
            <p14:sldId id="677"/>
            <p14:sldId id="678"/>
            <p14:sldId id="440"/>
            <p14:sldId id="747"/>
            <p14:sldId id="374"/>
            <p14:sldId id="281"/>
            <p14:sldId id="367"/>
            <p14:sldId id="356"/>
            <p14:sldId id="748"/>
            <p14:sldId id="290"/>
            <p14:sldId id="291"/>
            <p14:sldId id="293"/>
            <p14:sldId id="294"/>
            <p14:sldId id="298"/>
            <p14:sldId id="361"/>
            <p14:sldId id="408"/>
            <p14:sldId id="414"/>
            <p14:sldId id="299"/>
            <p14:sldId id="301"/>
            <p14:sldId id="296"/>
            <p14:sldId id="749"/>
            <p14:sldId id="751"/>
          </p14:sldIdLst>
        </p14:section>
        <p14:section name="人类视觉特点与图像质量评价" id="{F9FEE524-139D-4111-8408-AF35EBA54212}">
          <p14:sldIdLst>
            <p14:sldId id="658"/>
            <p14:sldId id="664"/>
            <p14:sldId id="754"/>
            <p14:sldId id="666"/>
            <p14:sldId id="667"/>
            <p14:sldId id="531"/>
            <p14:sldId id="500"/>
            <p14:sldId id="535"/>
            <p14:sldId id="533"/>
            <p14:sldId id="502"/>
            <p14:sldId id="537"/>
            <p14:sldId id="680"/>
            <p14:sldId id="681"/>
            <p14:sldId id="682"/>
            <p14:sldId id="683"/>
            <p14:sldId id="684"/>
            <p14:sldId id="685"/>
            <p14:sldId id="686"/>
            <p14:sldId id="687"/>
            <p14:sldId id="688"/>
            <p14:sldId id="755"/>
            <p14:sldId id="753"/>
            <p14:sldId id="790"/>
          </p14:sldIdLst>
        </p14:section>
        <p14:section name="本章小结" id="{E9B874F7-3B49-4240-9D1A-DFED42605CE9}">
          <p14:sldIdLst>
            <p14:sldId id="451"/>
          </p14:sldIdLst>
        </p14:section>
        <p14:section name="课后习题" id="{512BA2FF-EE58-418D-A285-A1CE78159BAC}">
          <p14:sldIdLst>
            <p14:sldId id="698"/>
            <p14:sldId id="791"/>
            <p14:sldId id="79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пользователь Microsoft Office" initials="Office" lastIdx="1" clrIdx="0"/>
  <p:cmAuthor id="2" name="Administrator" initials="A" lastIdx="1" clrIdx="1"/>
  <p:cmAuthor id="3" name="1033406563@qq.com" initials="1"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23B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76034" autoAdjust="0"/>
  </p:normalViewPr>
  <p:slideViewPr>
    <p:cSldViewPr showGuides="1">
      <p:cViewPr varScale="1">
        <p:scale>
          <a:sx n="48" d="100"/>
          <a:sy n="48" d="100"/>
        </p:scale>
        <p:origin x="1136" y="32"/>
      </p:cViewPr>
      <p:guideLst>
        <p:guide orient="horz" pos="2160"/>
        <p:guide pos="3840"/>
      </p:guideLst>
    </p:cSldViewPr>
  </p:slideViewPr>
  <p:outlineViewPr>
    <p:cViewPr>
      <p:scale>
        <a:sx n="33" d="100"/>
        <a:sy n="33" d="100"/>
      </p:scale>
      <p:origin x="0" y="414"/>
    </p:cViewPr>
  </p:outlineViewPr>
  <p:notesTextViewPr>
    <p:cViewPr>
      <p:scale>
        <a:sx n="100" d="100"/>
        <a:sy n="100" d="100"/>
      </p:scale>
      <p:origin x="0" y="0"/>
    </p:cViewPr>
  </p:notesTextViewPr>
  <p:sorterViewPr>
    <p:cViewPr>
      <p:scale>
        <a:sx n="66" d="100"/>
        <a:sy n="66" d="100"/>
      </p:scale>
      <p:origin x="0" y="49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gs" Target="tags/tag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defRPr>
            </a:lvl1pPr>
          </a:lstStyle>
          <a:p>
            <a:pPr>
              <a:defRPr/>
            </a:pPr>
            <a:endParaRPr lang="en-US" altLang="zh-CN"/>
          </a:p>
        </p:txBody>
      </p:sp>
      <p:sp>
        <p:nvSpPr>
          <p:cNvPr id="2457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pPr>
              <a:defRPr/>
            </a:pPr>
            <a:endParaRPr lang="en-US" altLang="zh-CN"/>
          </a:p>
        </p:txBody>
      </p:sp>
      <p:sp>
        <p:nvSpPr>
          <p:cNvPr id="9830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458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defRPr>
            </a:lvl1pPr>
          </a:lstStyle>
          <a:p>
            <a:pPr>
              <a:defRPr/>
            </a:pPr>
            <a:endParaRPr lang="en-US" altLang="zh-CN"/>
          </a:p>
        </p:txBody>
      </p:sp>
      <p:sp>
        <p:nvSpPr>
          <p:cNvPr id="2458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panose="020B0604020202020204" pitchFamily="34" charset="0"/>
              </a:defRPr>
            </a:lvl1pPr>
          </a:lstStyle>
          <a:p>
            <a:pPr>
              <a:defRPr/>
            </a:pPr>
            <a:fld id="{56D2EF3E-3DE6-4487-A63C-750754BADAEF}"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zh-CN" altLang="en-US" dirty="0"/>
              <a:t>信息隐藏与数字水印的本质：人类的感官</a:t>
            </a:r>
            <a:r>
              <a:rPr lang="zh-CN" altLang="en-US"/>
              <a:t>存在局限性</a:t>
            </a:r>
            <a:endParaRPr lang="zh-CN" altLang="en-US" dirty="0"/>
          </a:p>
        </p:txBody>
      </p:sp>
      <p:sp>
        <p:nvSpPr>
          <p:cNvPr id="4" name="灯片编号占位符 3"/>
          <p:cNvSpPr>
            <a:spLocks noGrp="1"/>
          </p:cNvSpPr>
          <p:nvPr>
            <p:ph type="sldNum" sz="quarter" idx="5"/>
          </p:nvPr>
        </p:nvSpPr>
        <p:spPr/>
        <p:txBody>
          <a:bodyPr/>
          <a:lstStyle/>
          <a:p>
            <a:pPr>
              <a:defRPr/>
            </a:pPr>
            <a:fld id="{56D2EF3E-3DE6-4487-A63C-750754BADAEF}" type="slidenum">
              <a:rPr lang="en-US" altLang="zh-CN" smtClean="0"/>
              <a:t>2</a:t>
            </a:fld>
            <a:endParaRPr lang="en-US" altLang="zh-CN"/>
          </a:p>
        </p:txBody>
      </p:sp>
    </p:spTree>
    <p:extLst>
      <p:ext uri="{BB962C8B-B14F-4D97-AF65-F5344CB8AC3E}">
        <p14:creationId xmlns:p14="http://schemas.microsoft.com/office/powerpoint/2010/main" val="1842628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语音和视觉信号使用变换域处理的原因是为了更有效地分析、压缩和处理信号的特性。时域信号直接表示随时间变化的波形，但在很多应用中，信号的频率或其他特征往往比时域信息更重要。通过变换域处理，信号被转化到频率域或其他表示域中，便于特征提取、降噪、压缩等操作。</a:t>
            </a:r>
            <a:endParaRPr lang="en-US" altLang="zh-CN" dirty="0"/>
          </a:p>
          <a:p>
            <a:endParaRPr lang="zh-CN" altLang="en-US" b="1" dirty="0"/>
          </a:p>
          <a:p>
            <a:pPr>
              <a:buFont typeface="Arial" panose="020B0604020202020204" pitchFamily="34" charset="0"/>
              <a:buChar char="•"/>
            </a:pPr>
            <a:r>
              <a:rPr lang="en-US" altLang="zh-CN" b="1" dirty="0"/>
              <a:t>DFT</a:t>
            </a:r>
            <a:r>
              <a:rPr lang="zh-CN" altLang="en-US" dirty="0"/>
              <a:t> 强调频域信息，适合周期性信号分析。</a:t>
            </a:r>
          </a:p>
          <a:p>
            <a:pPr>
              <a:buFont typeface="Arial" panose="020B0604020202020204" pitchFamily="34" charset="0"/>
              <a:buChar char="•"/>
            </a:pPr>
            <a:r>
              <a:rPr lang="en-US" altLang="zh-CN" b="1" dirty="0"/>
              <a:t>DCT</a:t>
            </a:r>
            <a:r>
              <a:rPr lang="zh-CN" altLang="en-US" dirty="0"/>
              <a:t> 强调信号的压缩性能，常用于信号压缩。</a:t>
            </a:r>
          </a:p>
          <a:p>
            <a:pPr>
              <a:buFont typeface="Arial" panose="020B0604020202020204" pitchFamily="34" charset="0"/>
              <a:buChar char="•"/>
            </a:pPr>
            <a:r>
              <a:rPr lang="en-US" altLang="zh-CN" b="1" dirty="0"/>
              <a:t>DWT</a:t>
            </a:r>
            <a:r>
              <a:rPr lang="zh-CN" altLang="en-US" dirty="0"/>
              <a:t> 提供时频联合分析，适合非平稳信号处理，具备多分辨率能力。</a:t>
            </a:r>
          </a:p>
          <a:p>
            <a:r>
              <a:rPr lang="zh-CN" altLang="en-US" dirty="0"/>
              <a:t>根据处理任务的不同，选择合适的变换方法能够更高效地完成信号处理目标。</a:t>
            </a:r>
          </a:p>
          <a:p>
            <a:endParaRPr lang="zh-CN" altLang="en-US" dirty="0"/>
          </a:p>
        </p:txBody>
      </p:sp>
      <p:sp>
        <p:nvSpPr>
          <p:cNvPr id="4" name="灯片编号占位符 3"/>
          <p:cNvSpPr>
            <a:spLocks noGrp="1"/>
          </p:cNvSpPr>
          <p:nvPr>
            <p:ph type="sldNum" sz="quarter" idx="5"/>
          </p:nvPr>
        </p:nvSpPr>
        <p:spPr/>
        <p:txBody>
          <a:bodyPr/>
          <a:lstStyle/>
          <a:p>
            <a:pPr>
              <a:defRPr/>
            </a:pPr>
            <a:fld id="{56D2EF3E-3DE6-4487-A63C-750754BADAEF}" type="slidenum">
              <a:rPr lang="en-US" altLang="zh-CN" smtClean="0"/>
              <a:t>6</a:t>
            </a:fld>
            <a:endParaRPr lang="en-US" altLang="zh-CN"/>
          </a:p>
        </p:txBody>
      </p:sp>
    </p:spTree>
    <p:extLst>
      <p:ext uri="{BB962C8B-B14F-4D97-AF65-F5344CB8AC3E}">
        <p14:creationId xmlns:p14="http://schemas.microsoft.com/office/powerpoint/2010/main" val="1550999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 DFT</a:t>
            </a:r>
            <a:r>
              <a:rPr lang="zh-CN" altLang="en-US" b="1" dirty="0"/>
              <a:t>（离散傅里叶变换）</a:t>
            </a:r>
          </a:p>
          <a:p>
            <a:pPr>
              <a:buFont typeface="Arial" panose="020B0604020202020204" pitchFamily="34" charset="0"/>
              <a:buChar char="•"/>
            </a:pPr>
            <a:r>
              <a:rPr lang="zh-CN" altLang="en-US" b="1" dirty="0"/>
              <a:t>原理</a:t>
            </a:r>
            <a:r>
              <a:rPr lang="zh-CN" altLang="en-US" dirty="0"/>
              <a:t>：</a:t>
            </a:r>
            <a:r>
              <a:rPr lang="en-US" altLang="zh-CN" dirty="0"/>
              <a:t>DFT</a:t>
            </a:r>
            <a:r>
              <a:rPr lang="zh-CN" altLang="en-US" dirty="0"/>
              <a:t>将时域信号转换为频域信号，用于分析信号的频率成分。通过傅里叶级数，将信号分解成不同频率的正弦波和余弦波。</a:t>
            </a:r>
          </a:p>
          <a:p>
            <a:pPr>
              <a:buFont typeface="Arial" panose="020B0604020202020204" pitchFamily="34" charset="0"/>
              <a:buChar char="•"/>
            </a:pPr>
            <a:r>
              <a:rPr lang="zh-CN" altLang="en-US" b="1" dirty="0"/>
              <a:t>优点</a:t>
            </a:r>
            <a:r>
              <a:rPr lang="zh-CN" altLang="en-US" dirty="0"/>
              <a:t>：适合分析周期性信号或频率成分明确的信号，如语音信号和图像中的纹理。</a:t>
            </a:r>
          </a:p>
          <a:p>
            <a:pPr>
              <a:buFont typeface="Arial" panose="020B0604020202020204" pitchFamily="34" charset="0"/>
              <a:buChar char="•"/>
            </a:pPr>
            <a:r>
              <a:rPr lang="zh-CN" altLang="en-US" b="1" dirty="0"/>
              <a:t>应用</a:t>
            </a:r>
            <a:r>
              <a:rPr lang="zh-CN" altLang="en-US" dirty="0"/>
              <a:t>：信号分析、滤波、频率特征提取。常用于语音信号处理、图像频率域处理、数字通信等。</a:t>
            </a:r>
          </a:p>
          <a:p>
            <a:pPr>
              <a:buFont typeface="Arial" panose="020B0604020202020204" pitchFamily="34" charset="0"/>
              <a:buChar char="•"/>
            </a:pPr>
            <a:r>
              <a:rPr lang="zh-CN" altLang="en-US" b="1" dirty="0"/>
              <a:t>特点</a:t>
            </a:r>
            <a:r>
              <a:rPr lang="zh-CN" altLang="en-US" dirty="0"/>
              <a:t>：频率分辨率高，但不具备时域局部化能力，不能很好地描述信号随时间的变化。</a:t>
            </a:r>
          </a:p>
        </p:txBody>
      </p:sp>
      <p:sp>
        <p:nvSpPr>
          <p:cNvPr id="4" name="灯片编号占位符 3"/>
          <p:cNvSpPr>
            <a:spLocks noGrp="1"/>
          </p:cNvSpPr>
          <p:nvPr>
            <p:ph type="sldNum" sz="quarter" idx="10"/>
          </p:nvPr>
        </p:nvSpPr>
        <p:spPr/>
        <p:txBody>
          <a:bodyPr/>
          <a:lstStyle/>
          <a:p>
            <a:pPr>
              <a:defRPr/>
            </a:pPr>
            <a:fld id="{56D2EF3E-3DE6-4487-A63C-750754BADAEF}" type="slidenum">
              <a:rPr lang="en-US" altLang="zh-CN" smtClean="0"/>
              <a:t>7</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DCT</a:t>
            </a:r>
            <a:r>
              <a:rPr lang="zh-CN" altLang="en-US" b="1" dirty="0"/>
              <a:t>（离散余弦变换）</a:t>
            </a:r>
          </a:p>
          <a:p>
            <a:pPr>
              <a:buFont typeface="Arial" panose="020B0604020202020204" pitchFamily="34" charset="0"/>
              <a:buChar char="•"/>
            </a:pPr>
            <a:r>
              <a:rPr lang="zh-CN" altLang="en-US" b="1" dirty="0"/>
              <a:t>原理</a:t>
            </a:r>
            <a:r>
              <a:rPr lang="zh-CN" altLang="en-US" dirty="0"/>
              <a:t>：</a:t>
            </a:r>
            <a:r>
              <a:rPr lang="en-US" altLang="zh-CN" dirty="0"/>
              <a:t>DCT</a:t>
            </a:r>
            <a:r>
              <a:rPr lang="zh-CN" altLang="en-US" dirty="0"/>
              <a:t>是</a:t>
            </a:r>
            <a:r>
              <a:rPr lang="en-US" altLang="zh-CN" dirty="0"/>
              <a:t>DFT</a:t>
            </a:r>
            <a:r>
              <a:rPr lang="zh-CN" altLang="en-US" dirty="0"/>
              <a:t>的简化形式，它只使用余弦波来表示信号。相比于</a:t>
            </a:r>
            <a:r>
              <a:rPr lang="en-US" altLang="zh-CN" dirty="0"/>
              <a:t>DFT</a:t>
            </a:r>
            <a:r>
              <a:rPr lang="zh-CN" altLang="en-US" dirty="0"/>
              <a:t>，</a:t>
            </a:r>
            <a:r>
              <a:rPr lang="en-US" altLang="zh-CN" dirty="0"/>
              <a:t>DCT</a:t>
            </a:r>
            <a:r>
              <a:rPr lang="zh-CN" altLang="en-US" dirty="0"/>
              <a:t>更适合用于压缩，因为其变换结果往往有更集中的能量分布，适合丢弃较小的高频分量。</a:t>
            </a:r>
          </a:p>
          <a:p>
            <a:pPr>
              <a:buFont typeface="Arial" panose="020B0604020202020204" pitchFamily="34" charset="0"/>
              <a:buChar char="•"/>
            </a:pPr>
            <a:r>
              <a:rPr lang="zh-CN" altLang="en-US" b="1" dirty="0"/>
              <a:t>优点</a:t>
            </a:r>
            <a:r>
              <a:rPr lang="zh-CN" altLang="en-US" dirty="0"/>
              <a:t>：信号压缩性能较好，能量集中在低频部分，更容易去除高频噪声或冗余信息。</a:t>
            </a:r>
          </a:p>
          <a:p>
            <a:pPr>
              <a:buFont typeface="Arial" panose="020B0604020202020204" pitchFamily="34" charset="0"/>
              <a:buChar char="•"/>
            </a:pPr>
            <a:r>
              <a:rPr lang="zh-CN" altLang="en-US" b="1" dirty="0"/>
              <a:t>应用</a:t>
            </a:r>
            <a:r>
              <a:rPr lang="zh-CN" altLang="en-US" dirty="0"/>
              <a:t>：</a:t>
            </a:r>
            <a:r>
              <a:rPr lang="en-US" altLang="zh-CN" dirty="0"/>
              <a:t>JPEG</a:t>
            </a:r>
            <a:r>
              <a:rPr lang="zh-CN" altLang="en-US" dirty="0"/>
              <a:t>图像压缩、视频压缩（如</a:t>
            </a:r>
            <a:r>
              <a:rPr lang="en-US" altLang="zh-CN" dirty="0"/>
              <a:t>MPEG</a:t>
            </a:r>
            <a:r>
              <a:rPr lang="zh-CN" altLang="en-US" dirty="0"/>
              <a:t>）。</a:t>
            </a:r>
            <a:r>
              <a:rPr lang="en-US" altLang="zh-CN" dirty="0"/>
              <a:t>DCT</a:t>
            </a:r>
            <a:r>
              <a:rPr lang="zh-CN" altLang="en-US" dirty="0"/>
              <a:t>能有效减少存储空间，并保持较好的图像和语音质量。</a:t>
            </a:r>
          </a:p>
          <a:p>
            <a:pPr>
              <a:buFont typeface="Arial" panose="020B0604020202020204" pitchFamily="34" charset="0"/>
              <a:buChar char="•"/>
            </a:pPr>
            <a:r>
              <a:rPr lang="zh-CN" altLang="en-US" b="1" dirty="0"/>
              <a:t>特点</a:t>
            </a:r>
            <a:r>
              <a:rPr lang="zh-CN" altLang="en-US" dirty="0"/>
              <a:t>：主要用于压缩领域，能量集中度高，但不适合时频联合分析。</a:t>
            </a:r>
          </a:p>
          <a:p>
            <a:endParaRPr lang="zh-CN" altLang="en-US" dirty="0"/>
          </a:p>
        </p:txBody>
      </p:sp>
      <p:sp>
        <p:nvSpPr>
          <p:cNvPr id="4" name="灯片编号占位符 3"/>
          <p:cNvSpPr>
            <a:spLocks noGrp="1"/>
          </p:cNvSpPr>
          <p:nvPr>
            <p:ph type="sldNum" sz="quarter" idx="10"/>
          </p:nvPr>
        </p:nvSpPr>
        <p:spPr/>
        <p:txBody>
          <a:bodyPr/>
          <a:lstStyle/>
          <a:p>
            <a:pPr>
              <a:defRPr/>
            </a:pPr>
            <a:fld id="{56D2EF3E-3DE6-4487-A63C-750754BADAEF}" type="slidenum">
              <a:rPr lang="en-US" altLang="zh-CN" smtClean="0"/>
              <a:t>8</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DWT</a:t>
            </a:r>
            <a:r>
              <a:rPr lang="zh-CN" altLang="en-US" b="1" dirty="0"/>
              <a:t>（离散小波变换）</a:t>
            </a:r>
          </a:p>
          <a:p>
            <a:pPr>
              <a:buFont typeface="Arial" panose="020B0604020202020204" pitchFamily="34" charset="0"/>
              <a:buChar char="•"/>
            </a:pPr>
            <a:r>
              <a:rPr lang="zh-CN" altLang="en-US" b="1" dirty="0"/>
              <a:t>原理</a:t>
            </a:r>
            <a:r>
              <a:rPr lang="zh-CN" altLang="en-US" dirty="0"/>
              <a:t>：</a:t>
            </a:r>
            <a:r>
              <a:rPr lang="en-US" altLang="zh-CN" dirty="0"/>
              <a:t>DWT</a:t>
            </a:r>
            <a:r>
              <a:rPr lang="zh-CN" altLang="en-US" dirty="0"/>
              <a:t>将信号分解为一系列不同尺度和频率的子带，通过小波函数实现时域和频域的联合表示。相比</a:t>
            </a:r>
            <a:r>
              <a:rPr lang="en-US" altLang="zh-CN" dirty="0"/>
              <a:t>DFT</a:t>
            </a:r>
            <a:r>
              <a:rPr lang="zh-CN" altLang="en-US" dirty="0"/>
              <a:t>和</a:t>
            </a:r>
            <a:r>
              <a:rPr lang="en-US" altLang="zh-CN" dirty="0"/>
              <a:t>DCT</a:t>
            </a:r>
            <a:r>
              <a:rPr lang="zh-CN" altLang="en-US" dirty="0"/>
              <a:t>，</a:t>
            </a:r>
            <a:r>
              <a:rPr lang="en-US" altLang="zh-CN" dirty="0"/>
              <a:t>DWT</a:t>
            </a:r>
            <a:r>
              <a:rPr lang="zh-CN" altLang="en-US" dirty="0"/>
              <a:t>能够提供更好的时频局部化信息。</a:t>
            </a:r>
          </a:p>
          <a:p>
            <a:pPr>
              <a:buFont typeface="Arial" panose="020B0604020202020204" pitchFamily="34" charset="0"/>
              <a:buChar char="•"/>
            </a:pPr>
            <a:r>
              <a:rPr lang="zh-CN" altLang="en-US" b="1" dirty="0"/>
              <a:t>优点</a:t>
            </a:r>
            <a:r>
              <a:rPr lang="zh-CN" altLang="en-US" dirty="0"/>
              <a:t>：能同时提供信号的时域和频域信息，适合分析非平稳信号（如突然变化的信号），特别适合用于信号的多分辨率分析。</a:t>
            </a:r>
          </a:p>
          <a:p>
            <a:pPr>
              <a:buFont typeface="Arial" panose="020B0604020202020204" pitchFamily="34" charset="0"/>
              <a:buChar char="•"/>
            </a:pPr>
            <a:r>
              <a:rPr lang="zh-CN" altLang="en-US" b="1" dirty="0"/>
              <a:t>应用</a:t>
            </a:r>
            <a:r>
              <a:rPr lang="zh-CN" altLang="en-US" dirty="0"/>
              <a:t>：图像压缩（</a:t>
            </a:r>
            <a:r>
              <a:rPr lang="en-US" altLang="zh-CN" dirty="0"/>
              <a:t>JPEG2000</a:t>
            </a:r>
            <a:r>
              <a:rPr lang="zh-CN" altLang="en-US" dirty="0"/>
              <a:t>）、语音信号处理、医学影像处理、边缘检测。</a:t>
            </a:r>
            <a:r>
              <a:rPr lang="en-US" altLang="zh-CN" dirty="0"/>
              <a:t>DWT</a:t>
            </a:r>
            <a:r>
              <a:rPr lang="zh-CN" altLang="en-US" dirty="0"/>
              <a:t>在多分辨率分析中表现优越，适合处理复杂的图像和语音信号。</a:t>
            </a:r>
          </a:p>
          <a:p>
            <a:pPr>
              <a:buFont typeface="Arial" panose="020B0604020202020204" pitchFamily="34" charset="0"/>
              <a:buChar char="•"/>
            </a:pPr>
            <a:r>
              <a:rPr lang="zh-CN" altLang="en-US" b="1" dirty="0"/>
              <a:t>特点</a:t>
            </a:r>
            <a:r>
              <a:rPr lang="zh-CN" altLang="en-US" dirty="0"/>
              <a:t>：适合处理非平稳信号，能够在不同尺度上观察信号的特性，同时具备时域和频域的良好分辨率。</a:t>
            </a:r>
            <a:endParaRPr lang="en-US" altLang="zh-CN" dirty="0"/>
          </a:p>
          <a:p>
            <a:pPr>
              <a:buFont typeface="Arial" panose="020B0604020202020204" pitchFamily="34" charset="0"/>
              <a:buChar char="•"/>
            </a:pPr>
            <a:endParaRPr lang="en-US" altLang="zh-CN" dirty="0"/>
          </a:p>
          <a:p>
            <a:r>
              <a:rPr lang="en-US" altLang="zh-CN" b="1" dirty="0"/>
              <a:t>DWT</a:t>
            </a:r>
            <a:r>
              <a:rPr lang="zh-CN" altLang="en-US" b="1" dirty="0"/>
              <a:t>的基本实现步骤</a:t>
            </a:r>
          </a:p>
          <a:p>
            <a:pPr>
              <a:buFont typeface="+mj-lt"/>
              <a:buAutoNum type="arabicPeriod"/>
            </a:pPr>
            <a:r>
              <a:rPr lang="zh-CN" altLang="en-US" b="1" dirty="0"/>
              <a:t>选择小波基函数</a:t>
            </a:r>
            <a:endParaRPr lang="zh-CN" altLang="en-US" dirty="0"/>
          </a:p>
          <a:p>
            <a:pPr marL="742950" lvl="1" indent="-285750">
              <a:buFont typeface="+mj-lt"/>
              <a:buAutoNum type="arabicPeriod"/>
            </a:pPr>
            <a:r>
              <a:rPr lang="zh-CN" altLang="en-US" dirty="0"/>
              <a:t>小波变换使用的核心是小波基函数，不同的小波基函数具有不同的时间和频率特性。常见的小波基函数包括</a:t>
            </a:r>
            <a:r>
              <a:rPr lang="en-US" altLang="zh-CN" dirty="0" err="1"/>
              <a:t>Haar</a:t>
            </a:r>
            <a:r>
              <a:rPr lang="zh-CN" altLang="en-US" dirty="0"/>
              <a:t>小波、</a:t>
            </a:r>
            <a:r>
              <a:rPr lang="en-US" altLang="zh-CN" dirty="0"/>
              <a:t>Daubechies</a:t>
            </a:r>
            <a:r>
              <a:rPr lang="zh-CN" altLang="en-US" dirty="0"/>
              <a:t>小波、</a:t>
            </a:r>
            <a:r>
              <a:rPr lang="en-US" altLang="zh-CN" dirty="0" err="1"/>
              <a:t>Coiflets</a:t>
            </a:r>
            <a:r>
              <a:rPr lang="zh-CN" altLang="en-US" dirty="0"/>
              <a:t>小波、</a:t>
            </a:r>
            <a:r>
              <a:rPr lang="en-US" altLang="zh-CN" dirty="0" err="1"/>
              <a:t>Symlets</a:t>
            </a:r>
            <a:r>
              <a:rPr lang="zh-CN" altLang="en-US" dirty="0"/>
              <a:t>小波等。</a:t>
            </a:r>
          </a:p>
          <a:p>
            <a:pPr marL="742950" lvl="1" indent="-285750">
              <a:buFont typeface="+mj-lt"/>
              <a:buAutoNum type="arabicPeriod"/>
            </a:pPr>
            <a:r>
              <a:rPr lang="zh-CN" altLang="en-US" dirty="0"/>
              <a:t>小波基函数是一个局部化的函数，具有时域和频域的良好分辨率。</a:t>
            </a:r>
          </a:p>
          <a:p>
            <a:pPr>
              <a:buFont typeface="+mj-lt"/>
              <a:buAutoNum type="arabicPeriod"/>
            </a:pPr>
            <a:r>
              <a:rPr lang="zh-CN" altLang="en-US" b="1" dirty="0"/>
              <a:t>信号分解</a:t>
            </a:r>
            <a:endParaRPr lang="zh-CN" altLang="en-US" dirty="0"/>
          </a:p>
          <a:p>
            <a:pPr marL="742950" lvl="1" indent="-285750">
              <a:buFont typeface="+mj-lt"/>
              <a:buAutoNum type="arabicPeriod"/>
            </a:pPr>
            <a:r>
              <a:rPr lang="zh-CN" altLang="en-US" dirty="0"/>
              <a:t>将输入信号通过一对滤波器组：</a:t>
            </a:r>
            <a:r>
              <a:rPr lang="zh-CN" altLang="en-US" b="1" dirty="0"/>
              <a:t>低通滤波器</a:t>
            </a:r>
            <a:r>
              <a:rPr lang="zh-CN" altLang="en-US" dirty="0"/>
              <a:t>和</a:t>
            </a:r>
            <a:r>
              <a:rPr lang="zh-CN" altLang="en-US" b="1" dirty="0"/>
              <a:t>高通滤波器</a:t>
            </a:r>
            <a:r>
              <a:rPr lang="zh-CN" altLang="en-US" dirty="0"/>
              <a:t>，分别提取信号的低频和高频分量。</a:t>
            </a:r>
          </a:p>
          <a:p>
            <a:pPr marL="1143000" lvl="2" indent="-228600">
              <a:buFont typeface="+mj-lt"/>
              <a:buAutoNum type="arabicPeriod"/>
            </a:pPr>
            <a:r>
              <a:rPr lang="zh-CN" altLang="en-US" b="1" dirty="0"/>
              <a:t>低频分量</a:t>
            </a:r>
            <a:r>
              <a:rPr lang="zh-CN" altLang="en-US" dirty="0"/>
              <a:t>：包含信号的总体轮廓信息，称为“近似系数”。</a:t>
            </a:r>
          </a:p>
          <a:p>
            <a:pPr marL="1143000" lvl="2" indent="-228600">
              <a:buFont typeface="+mj-lt"/>
              <a:buAutoNum type="arabicPeriod"/>
            </a:pPr>
            <a:r>
              <a:rPr lang="zh-CN" altLang="en-US" b="1" dirty="0"/>
              <a:t>高频分量</a:t>
            </a:r>
            <a:r>
              <a:rPr lang="zh-CN" altLang="en-US" dirty="0"/>
              <a:t>：包含信号的细节或边缘信息，称为“细节系数”。</a:t>
            </a:r>
          </a:p>
          <a:p>
            <a:pPr marL="742950" lvl="1" indent="-285750">
              <a:buFont typeface="+mj-lt"/>
              <a:buAutoNum type="arabicPeriod"/>
            </a:pPr>
            <a:r>
              <a:rPr lang="zh-CN" altLang="en-US" dirty="0"/>
              <a:t>通过下采样操作（将数据点数减半，通常丢弃偶数位），减少信号的采样率，使信号的长度保持不变。</a:t>
            </a:r>
          </a:p>
          <a:p>
            <a:pPr>
              <a:buFont typeface="+mj-lt"/>
              <a:buAutoNum type="arabicPeriod"/>
            </a:pPr>
            <a:r>
              <a:rPr lang="zh-CN" altLang="en-US" b="1" dirty="0"/>
              <a:t>多层递归分解</a:t>
            </a:r>
            <a:endParaRPr lang="zh-CN" altLang="en-US" dirty="0"/>
          </a:p>
          <a:p>
            <a:pPr marL="742950" lvl="1" indent="-285750">
              <a:buFont typeface="+mj-lt"/>
              <a:buAutoNum type="arabicPeriod"/>
            </a:pPr>
            <a:r>
              <a:rPr lang="zh-CN" altLang="en-US" dirty="0"/>
              <a:t>对低频分量继续进行同样的分解（再通过一对低通和高通滤波器），逐层提取不同分辨率的近似和细节信息。</a:t>
            </a:r>
          </a:p>
          <a:p>
            <a:pPr marL="742950" lvl="1" indent="-285750">
              <a:buFont typeface="+mj-lt"/>
              <a:buAutoNum type="arabicPeriod"/>
            </a:pPr>
            <a:r>
              <a:rPr lang="zh-CN" altLang="en-US" dirty="0"/>
              <a:t>这种递归分解可以生成信号的多分辨率表示，每一层对应一个不同的尺度，直到达到所需的分辨率层数。</a:t>
            </a:r>
          </a:p>
          <a:p>
            <a:pPr>
              <a:buFont typeface="+mj-lt"/>
              <a:buAutoNum type="arabicPeriod"/>
            </a:pPr>
            <a:r>
              <a:rPr lang="zh-CN" altLang="en-US" b="1" dirty="0"/>
              <a:t>信号重构（可选）</a:t>
            </a:r>
            <a:endParaRPr lang="zh-CN" altLang="en-US" dirty="0"/>
          </a:p>
          <a:p>
            <a:pPr marL="742950" lvl="1" indent="-285750">
              <a:buFont typeface="+mj-lt"/>
              <a:buAutoNum type="arabicPeriod"/>
            </a:pPr>
            <a:r>
              <a:rPr lang="zh-CN" altLang="en-US" dirty="0"/>
              <a:t>信号的重构过程是分解的逆过程，通过将各层分解的近似和细节系数重新组合，使用逆小波变换（</a:t>
            </a:r>
            <a:r>
              <a:rPr lang="en-US" altLang="zh-CN" dirty="0"/>
              <a:t>IDWT</a:t>
            </a:r>
            <a:r>
              <a:rPr lang="zh-CN" altLang="en-US" dirty="0"/>
              <a:t>），将分解后的系数还原为原始信号或近似信号。</a:t>
            </a:r>
          </a:p>
          <a:p>
            <a:pPr marL="742950" lvl="1" indent="-285750">
              <a:buFont typeface="+mj-lt"/>
              <a:buAutoNum type="arabicPeriod"/>
            </a:pPr>
            <a:r>
              <a:rPr lang="zh-CN" altLang="en-US" dirty="0"/>
              <a:t>重构过程中，逆滤波器组恢复信号中的各个频率成分，并通过上采样恢复信号的采样率。</a:t>
            </a:r>
          </a:p>
          <a:p>
            <a:pPr>
              <a:buFont typeface="Arial" panose="020B0604020202020204" pitchFamily="34" charset="0"/>
              <a:buChar char="•"/>
            </a:pPr>
            <a:endParaRPr lang="zh-CN" altLang="en-US" dirty="0"/>
          </a:p>
        </p:txBody>
      </p:sp>
      <p:sp>
        <p:nvSpPr>
          <p:cNvPr id="4" name="灯片编号占位符 3"/>
          <p:cNvSpPr>
            <a:spLocks noGrp="1"/>
          </p:cNvSpPr>
          <p:nvPr>
            <p:ph type="sldNum" sz="quarter" idx="10"/>
          </p:nvPr>
        </p:nvSpPr>
        <p:spPr/>
        <p:txBody>
          <a:bodyPr/>
          <a:lstStyle/>
          <a:p>
            <a:pPr>
              <a:defRPr/>
            </a:pPr>
            <a:fld id="{56D2EF3E-3DE6-4487-A63C-750754BADAEF}" type="slidenum">
              <a:rPr lang="en-US" altLang="zh-CN" smtClean="0"/>
              <a:t>9</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6D2EF3E-3DE6-4487-A63C-750754BADAEF}" type="slidenum">
              <a:rPr lang="en-US" altLang="zh-CN" smtClean="0"/>
              <a:t>12</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语音信号处理</a:t>
            </a:r>
            <a:r>
              <a:rPr lang="zh-CN" altLang="en-US" dirty="0"/>
              <a:t>：</a:t>
            </a:r>
            <a:r>
              <a:rPr lang="en-US" altLang="zh-CN" dirty="0"/>
              <a:t>DWT</a:t>
            </a:r>
            <a:r>
              <a:rPr lang="zh-CN" altLang="en-US" dirty="0"/>
              <a:t>常用于语音去噪、语音增强等任务，能够提取语音信号中的不同频段特征。</a:t>
            </a:r>
          </a:p>
        </p:txBody>
      </p:sp>
      <p:sp>
        <p:nvSpPr>
          <p:cNvPr id="4" name="灯片编号占位符 3"/>
          <p:cNvSpPr>
            <a:spLocks noGrp="1"/>
          </p:cNvSpPr>
          <p:nvPr>
            <p:ph type="sldNum" sz="quarter" idx="10"/>
          </p:nvPr>
        </p:nvSpPr>
        <p:spPr/>
        <p:txBody>
          <a:bodyPr/>
          <a:lstStyle/>
          <a:p>
            <a:pPr>
              <a:defRPr/>
            </a:pPr>
            <a:fld id="{56D2EF3E-3DE6-4487-A63C-750754BADAEF}" type="slidenum">
              <a:rPr lang="en-US" altLang="zh-CN" smtClean="0"/>
              <a:t>13</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p:sp>
      <p:sp>
        <p:nvSpPr>
          <p:cNvPr id="1146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1469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1F64982-D65D-49DF-8651-9265D6A7EC19}" type="slidenum">
              <a:rPr lang="en-US" altLang="zh-CN" smtClean="0">
                <a:latin typeface="Arial" panose="020B0604020202020204" pitchFamily="34" charset="0"/>
              </a:rPr>
              <a:t>14</a:t>
            </a:fld>
            <a:endParaRPr lang="en-US" altLang="zh-CN">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p:sp>
      <p:sp>
        <p:nvSpPr>
          <p:cNvPr id="1146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1469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1F64982-D65D-49DF-8651-9265D6A7EC19}" type="slidenum">
              <a:rPr lang="en-US" altLang="zh-CN" smtClean="0">
                <a:latin typeface="Arial" panose="020B0604020202020204" pitchFamily="34" charset="0"/>
              </a:rPr>
              <a:t>15</a:t>
            </a:fld>
            <a:endParaRPr lang="en-US" altLang="zh-CN">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p:sp>
      <p:sp>
        <p:nvSpPr>
          <p:cNvPr id="1167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心理声学实验表明，人耳难以感知位于强信号附近的弱信号，这种声音心理学现象称为掩蔽。强信号称之为掩蔽音，弱信号称之为被掩蔽音。掩蔽音和被掩蔽音同时存在所产生的掩蔽效应称为同时掩蔽或频域掩蔽，否则称之为异时掩蔽或时域掩蔽。异时掩蔽（时域掩蔽）又分为超前掩蔽</a:t>
            </a:r>
            <a:r>
              <a:rPr lang="en-US" altLang="zh-CN" dirty="0">
                <a:latin typeface="Arial" panose="020B0604020202020204" pitchFamily="34" charset="0"/>
              </a:rPr>
              <a:t>(pre-masking)</a:t>
            </a:r>
            <a:r>
              <a:rPr lang="zh-CN" altLang="en-US" dirty="0">
                <a:latin typeface="Arial" panose="020B0604020202020204" pitchFamily="34" charset="0"/>
              </a:rPr>
              <a:t>和滞后掩蔽</a:t>
            </a:r>
            <a:r>
              <a:rPr lang="en-US" altLang="zh-CN" dirty="0">
                <a:latin typeface="Arial" panose="020B0604020202020204" pitchFamily="34" charset="0"/>
              </a:rPr>
              <a:t>(post-masking)</a:t>
            </a:r>
            <a:r>
              <a:rPr lang="zh-CN" altLang="en-US" dirty="0">
                <a:latin typeface="Arial" panose="020B0604020202020204" pitchFamily="34" charset="0"/>
              </a:rPr>
              <a:t>，超前掩蔽指掩蔽效应发生在掩蔽音开始之前，滞后掩蔽则指掩蔽效应发生在掩蔽音结束之后。</a:t>
            </a:r>
          </a:p>
        </p:txBody>
      </p:sp>
      <p:sp>
        <p:nvSpPr>
          <p:cNvPr id="1167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788B9E21-58E0-4A60-9A6E-91AAEE8868E8}" type="slidenum">
              <a:rPr lang="en-US" altLang="zh-CN" smtClean="0">
                <a:latin typeface="Arial" panose="020B0604020202020204" pitchFamily="34" charset="0"/>
              </a:rPr>
              <a:t>16</a:t>
            </a:fld>
            <a:endParaRPr lang="en-US" altLang="zh-CN">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p:sp>
      <p:sp>
        <p:nvSpPr>
          <p:cNvPr id="11776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从图中可以看出，异时掩蔽，包括超前和滞后掩蔽，其掩蔽效应衰减较快，超前掩蔽的持续时间约</a:t>
            </a:r>
            <a:r>
              <a:rPr lang="en-US" altLang="zh-CN" dirty="0">
                <a:latin typeface="Arial" panose="020B0604020202020204" pitchFamily="34" charset="0"/>
              </a:rPr>
              <a:t>60</a:t>
            </a:r>
            <a:r>
              <a:rPr lang="zh-CN" altLang="en-US" dirty="0">
                <a:latin typeface="Arial" panose="020B0604020202020204" pitchFamily="34" charset="0"/>
              </a:rPr>
              <a:t>毫秒左右，滞后掩蔽持续时间长一些，达到</a:t>
            </a:r>
            <a:r>
              <a:rPr lang="en-US" altLang="zh-CN" dirty="0">
                <a:latin typeface="Arial" panose="020B0604020202020204" pitchFamily="34" charset="0"/>
              </a:rPr>
              <a:t>140</a:t>
            </a:r>
            <a:r>
              <a:rPr lang="zh-CN" altLang="en-US" dirty="0">
                <a:latin typeface="Arial" panose="020B0604020202020204" pitchFamily="34" charset="0"/>
              </a:rPr>
              <a:t>毫秒左右。而同时掩蔽的掩蔽效应则在掩蔽音的整个生命期内都有效。在掩蔽音出现</a:t>
            </a:r>
            <a:r>
              <a:rPr lang="en-US" altLang="zh-CN" dirty="0">
                <a:latin typeface="Arial" panose="020B0604020202020204" pitchFamily="34" charset="0"/>
              </a:rPr>
              <a:t>0~200</a:t>
            </a:r>
            <a:r>
              <a:rPr lang="zh-CN" altLang="en-US" dirty="0">
                <a:latin typeface="Arial" panose="020B0604020202020204" pitchFamily="34" charset="0"/>
              </a:rPr>
              <a:t>毫秒区域内，产生同时掩蔽；前</a:t>
            </a:r>
            <a:r>
              <a:rPr lang="en-US" altLang="zh-CN" dirty="0">
                <a:latin typeface="Arial" panose="020B0604020202020204" pitchFamily="34" charset="0"/>
              </a:rPr>
              <a:t>60</a:t>
            </a:r>
            <a:r>
              <a:rPr lang="zh-CN" altLang="en-US" dirty="0">
                <a:latin typeface="Arial" panose="020B0604020202020204" pitchFamily="34" charset="0"/>
              </a:rPr>
              <a:t>毫秒，发生超前掩蔽效应；后</a:t>
            </a:r>
            <a:r>
              <a:rPr lang="en-US" altLang="zh-CN" dirty="0">
                <a:latin typeface="Arial" panose="020B0604020202020204" pitchFamily="34" charset="0"/>
              </a:rPr>
              <a:t>140</a:t>
            </a:r>
            <a:r>
              <a:rPr lang="zh-CN" altLang="en-US" dirty="0">
                <a:latin typeface="Arial" panose="020B0604020202020204" pitchFamily="34" charset="0"/>
              </a:rPr>
              <a:t>毫秒发生滞后掩蔽效应。</a:t>
            </a:r>
          </a:p>
          <a:p>
            <a:r>
              <a:rPr lang="zh-CN" altLang="en-US" dirty="0">
                <a:latin typeface="Arial" panose="020B0604020202020204" pitchFamily="34" charset="0"/>
              </a:rPr>
              <a:t>产生时域掩蔽是因为，大脑分析处理信号要花一些时间。</a:t>
            </a:r>
            <a:endParaRPr lang="en-US" altLang="zh-CN" dirty="0">
              <a:latin typeface="Arial" panose="020B0604020202020204" pitchFamily="34" charset="0"/>
            </a:endParaRPr>
          </a:p>
        </p:txBody>
      </p:sp>
      <p:sp>
        <p:nvSpPr>
          <p:cNvPr id="11776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8634808-8510-4D5C-A0D8-D0FF38AEF495}" type="slidenum">
              <a:rPr lang="en-US" altLang="zh-CN" smtClean="0">
                <a:latin typeface="Arial" panose="020B0604020202020204" pitchFamily="34" charset="0"/>
              </a:rPr>
              <a:t>17</a:t>
            </a:fld>
            <a:endParaRPr lang="en-US" altLang="zh-CN">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p:sp>
      <p:sp>
        <p:nvSpPr>
          <p:cNvPr id="1187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latin typeface="Arial" panose="020B0604020202020204" pitchFamily="34" charset="0"/>
              </a:rPr>
              <a:t>答：</a:t>
            </a:r>
            <a:endParaRPr lang="en-US" altLang="zh-CN" dirty="0">
              <a:latin typeface="Arial" panose="020B0604020202020204" pitchFamily="34" charset="0"/>
            </a:endParaRPr>
          </a:p>
          <a:p>
            <a:r>
              <a:rPr lang="zh-CN" altLang="en-US" dirty="0">
                <a:latin typeface="Arial" panose="020B0604020202020204" pitchFamily="34" charset="0"/>
              </a:rPr>
              <a:t>第一问中，弱信号在强信号之前出现，属于超前掩蔽。根据曲线，</a:t>
            </a:r>
            <a:r>
              <a:rPr lang="en-US" altLang="zh-CN" dirty="0">
                <a:latin typeface="Arial" panose="020B0604020202020204" pitchFamily="34" charset="0"/>
              </a:rPr>
              <a:t>80dB</a:t>
            </a:r>
            <a:r>
              <a:rPr lang="zh-CN" altLang="en-US" dirty="0">
                <a:latin typeface="Arial" panose="020B0604020202020204" pitchFamily="34" charset="0"/>
              </a:rPr>
              <a:t>的强信号，能掩盖在它之前</a:t>
            </a:r>
            <a:r>
              <a:rPr lang="en-US" altLang="zh-CN" dirty="0">
                <a:latin typeface="Arial" panose="020B0604020202020204" pitchFamily="34" charset="0"/>
              </a:rPr>
              <a:t>20ms</a:t>
            </a:r>
            <a:r>
              <a:rPr lang="zh-CN" altLang="en-US" dirty="0">
                <a:latin typeface="Arial" panose="020B0604020202020204" pitchFamily="34" charset="0"/>
              </a:rPr>
              <a:t>出现的，声强级小于</a:t>
            </a:r>
            <a:r>
              <a:rPr lang="en-US" altLang="zh-CN" dirty="0">
                <a:latin typeface="Arial" panose="020B0604020202020204" pitchFamily="34" charset="0"/>
              </a:rPr>
              <a:t>40dB</a:t>
            </a:r>
            <a:r>
              <a:rPr lang="zh-CN" altLang="en-US" dirty="0">
                <a:latin typeface="Arial" panose="020B0604020202020204" pitchFamily="34" charset="0"/>
              </a:rPr>
              <a:t>的信号。本例中，弱信号的声强级高于</a:t>
            </a:r>
            <a:r>
              <a:rPr lang="en-US" altLang="zh-CN" dirty="0">
                <a:latin typeface="Arial" panose="020B0604020202020204" pitchFamily="34" charset="0"/>
              </a:rPr>
              <a:t>40dB</a:t>
            </a:r>
            <a:r>
              <a:rPr lang="zh-CN" altLang="en-US" dirty="0">
                <a:latin typeface="Arial" panose="020B0604020202020204" pitchFamily="34" charset="0"/>
              </a:rPr>
              <a:t>，超出了强信号的掩蔽能力，所以人耳可以分辨出两个信号。</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latin typeface="Arial" panose="020B0604020202020204" pitchFamily="34" charset="0"/>
              </a:rPr>
              <a:t>第二问中，弱信号在强信号之后出现，属于滞后掩蔽。根据曲线，</a:t>
            </a:r>
            <a:r>
              <a:rPr lang="en-US" altLang="zh-CN" dirty="0">
                <a:latin typeface="Arial" panose="020B0604020202020204" pitchFamily="34" charset="0"/>
              </a:rPr>
              <a:t>80dB</a:t>
            </a:r>
            <a:r>
              <a:rPr lang="zh-CN" altLang="en-US" dirty="0">
                <a:latin typeface="Arial" panose="020B0604020202020204" pitchFamily="34" charset="0"/>
              </a:rPr>
              <a:t>的强信号，能掩盖在它之后</a:t>
            </a:r>
            <a:r>
              <a:rPr lang="en-US" altLang="zh-CN" dirty="0">
                <a:latin typeface="Arial" panose="020B0604020202020204" pitchFamily="34" charset="0"/>
              </a:rPr>
              <a:t>20ms</a:t>
            </a:r>
            <a:r>
              <a:rPr lang="zh-CN" altLang="en-US" dirty="0">
                <a:latin typeface="Arial" panose="020B0604020202020204" pitchFamily="34" charset="0"/>
              </a:rPr>
              <a:t>出现的，声强级小于</a:t>
            </a:r>
            <a:r>
              <a:rPr lang="en-US" altLang="zh-CN" dirty="0">
                <a:latin typeface="Arial" panose="020B0604020202020204" pitchFamily="34" charset="0"/>
              </a:rPr>
              <a:t>70dB</a:t>
            </a:r>
            <a:r>
              <a:rPr lang="zh-CN" altLang="en-US" dirty="0">
                <a:latin typeface="Arial" panose="020B0604020202020204" pitchFamily="34" charset="0"/>
              </a:rPr>
              <a:t>的信号。本例中，弱信号的声强级小于</a:t>
            </a:r>
            <a:r>
              <a:rPr lang="en-US" altLang="zh-CN" dirty="0">
                <a:latin typeface="Arial" panose="020B0604020202020204" pitchFamily="34" charset="0"/>
              </a:rPr>
              <a:t>70dB</a:t>
            </a:r>
            <a:r>
              <a:rPr lang="zh-CN" altLang="en-US" dirty="0">
                <a:latin typeface="Arial" panose="020B0604020202020204" pitchFamily="34" charset="0"/>
              </a:rPr>
              <a:t>，在强信号的掩蔽范畴内，所以听起来，只有一个信号存在。</a:t>
            </a:r>
            <a:endParaRPr lang="en-US" altLang="zh-CN" dirty="0">
              <a:latin typeface="Arial" panose="020B0604020202020204" pitchFamily="34" charset="0"/>
            </a:endParaRPr>
          </a:p>
          <a:p>
            <a:endParaRPr lang="en-US" altLang="zh-CN" dirty="0">
              <a:latin typeface="Arial" panose="020B0604020202020204" pitchFamily="34" charset="0"/>
            </a:endParaRPr>
          </a:p>
          <a:p>
            <a:r>
              <a:rPr lang="zh-CN" altLang="en-US" dirty="0"/>
              <a:t>演示异时掩蔽效应</a:t>
            </a:r>
            <a:endParaRPr lang="en-US" altLang="zh-CN" dirty="0"/>
          </a:p>
          <a:p>
            <a:pPr lvl="1"/>
            <a:r>
              <a:rPr lang="en-US" altLang="zh-CN" dirty="0"/>
              <a:t>echo_sensible.wav</a:t>
            </a:r>
            <a:r>
              <a:rPr lang="zh-CN" altLang="en-US" dirty="0"/>
              <a:t>，被掩蔽音出现在掩蔽效应持续时间范围外。</a:t>
            </a:r>
            <a:endParaRPr lang="en-US" altLang="zh-CN" dirty="0"/>
          </a:p>
          <a:p>
            <a:pPr lvl="1"/>
            <a:r>
              <a:rPr lang="en-US" altLang="zh-CN" dirty="0"/>
              <a:t>echo_insensible_bwd.wav</a:t>
            </a:r>
            <a:r>
              <a:rPr lang="zh-CN" altLang="en-US" dirty="0"/>
              <a:t>，被掩蔽音出现在掩蔽效应持续时间范围之内且在掩蔽音之后</a:t>
            </a:r>
            <a:endParaRPr lang="en-US" altLang="zh-CN" dirty="0"/>
          </a:p>
          <a:p>
            <a:pPr lvl="1"/>
            <a:r>
              <a:rPr lang="en-US" altLang="zh-CN" dirty="0"/>
              <a:t>echo_insensible_fwd.wav</a:t>
            </a:r>
            <a:r>
              <a:rPr lang="zh-CN" altLang="en-US" dirty="0"/>
              <a:t>，被掩蔽音出现在掩蔽效应持续时间范围之内且在掩蔽音之前</a:t>
            </a:r>
          </a:p>
          <a:p>
            <a:endParaRPr lang="zh-CN" altLang="en-US" dirty="0">
              <a:latin typeface="Arial" panose="020B0604020202020204" pitchFamily="34" charset="0"/>
            </a:endParaRPr>
          </a:p>
        </p:txBody>
      </p:sp>
      <p:sp>
        <p:nvSpPr>
          <p:cNvPr id="11878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EC277B4A-377C-4C52-865F-403DCF2F5EBD}" type="slidenum">
              <a:rPr lang="en-US" altLang="zh-CN" smtClean="0">
                <a:latin typeface="Arial" panose="020B0604020202020204" pitchFamily="34" charset="0"/>
              </a:rPr>
              <a:t>18</a:t>
            </a:fld>
            <a:endParaRPr lang="en-US" altLang="zh-CN">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p:sp>
      <p:sp>
        <p:nvSpPr>
          <p:cNvPr id="1208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演示同时掩蔽效应</a:t>
            </a:r>
            <a:endParaRPr lang="en-US" altLang="zh-CN" dirty="0"/>
          </a:p>
          <a:p>
            <a:pPr lvl="1"/>
            <a:r>
              <a:rPr lang="en-US" altLang="zh-CN" dirty="0"/>
              <a:t>600Hz</a:t>
            </a:r>
            <a:r>
              <a:rPr lang="zh-CN" altLang="en-US" dirty="0"/>
              <a:t>单音</a:t>
            </a:r>
            <a:r>
              <a:rPr lang="en-US" altLang="zh-CN" dirty="0"/>
              <a:t>: pich_600Hz.wav</a:t>
            </a:r>
          </a:p>
          <a:p>
            <a:pPr lvl="1"/>
            <a:r>
              <a:rPr lang="en-US" altLang="zh-CN" dirty="0"/>
              <a:t>1000Hz</a:t>
            </a:r>
            <a:r>
              <a:rPr lang="zh-CN" altLang="en-US" dirty="0"/>
              <a:t>单音 </a:t>
            </a:r>
            <a:r>
              <a:rPr lang="en-US" altLang="zh-CN" dirty="0"/>
              <a:t>: pich_1000Hz.wav</a:t>
            </a:r>
          </a:p>
          <a:p>
            <a:pPr lvl="1"/>
            <a:r>
              <a:rPr lang="zh-CN" altLang="en-US" dirty="0"/>
              <a:t>混合音频</a:t>
            </a:r>
            <a:r>
              <a:rPr lang="en-US" altLang="zh-CN" dirty="0"/>
              <a:t>:mixer.wav</a:t>
            </a:r>
            <a:r>
              <a:rPr lang="zh-CN" altLang="en-US" dirty="0"/>
              <a:t>（频域掩蔽）</a:t>
            </a:r>
            <a:endParaRPr lang="en-US" altLang="zh-CN" dirty="0"/>
          </a:p>
          <a:p>
            <a:pPr lvl="1"/>
            <a:r>
              <a:rPr lang="zh-CN" altLang="en-US" dirty="0"/>
              <a:t>混合音频</a:t>
            </a:r>
            <a:r>
              <a:rPr lang="en-US" altLang="zh-CN" dirty="0"/>
              <a:t>:mixer_sensible_-20dB.wav</a:t>
            </a:r>
            <a:r>
              <a:rPr lang="zh-CN" altLang="en-US" dirty="0"/>
              <a:t>（可感知）</a:t>
            </a:r>
            <a:endParaRPr lang="en-US" altLang="zh-CN" dirty="0"/>
          </a:p>
          <a:p>
            <a:pPr lvl="1"/>
            <a:endParaRPr lang="zh-CN" altLang="en-US" dirty="0"/>
          </a:p>
          <a:p>
            <a:pPr>
              <a:buFont typeface="Wingdings" panose="05000000000000000000" pitchFamily="2" charset="2"/>
              <a:buNone/>
            </a:pPr>
            <a:endParaRPr lang="zh-CN" altLang="en-US" dirty="0"/>
          </a:p>
          <a:p>
            <a:endParaRPr lang="zh-CN" altLang="en-US" dirty="0">
              <a:latin typeface="Arial" panose="020B0604020202020204" pitchFamily="34" charset="0"/>
            </a:endParaRPr>
          </a:p>
        </p:txBody>
      </p:sp>
      <p:sp>
        <p:nvSpPr>
          <p:cNvPr id="12083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EAF4E0D1-F95D-40A4-AC50-5302D194692A}" type="slidenum">
              <a:rPr lang="en-US" altLang="zh-CN" smtClean="0">
                <a:latin typeface="Arial" panose="020B0604020202020204" pitchFamily="34" charset="0"/>
              </a:rPr>
              <a:t>19</a:t>
            </a:fld>
            <a:endParaRPr lang="en-US" altLang="zh-CN">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p:sp>
      <p:sp>
        <p:nvSpPr>
          <p:cNvPr id="1146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1469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1F64982-D65D-49DF-8651-9265D6A7EC19}" type="slidenum">
              <a:rPr lang="en-US" altLang="zh-CN" smtClean="0">
                <a:latin typeface="Arial" panose="020B0604020202020204" pitchFamily="34" charset="0"/>
              </a:rPr>
              <a:t>20</a:t>
            </a:fld>
            <a:endParaRPr lang="en-US" altLang="zh-CN">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p:sp>
      <p:sp>
        <p:nvSpPr>
          <p:cNvPr id="12697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26980"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C2D90C88-86D3-45B6-A0F7-6D13676FD9CF}" type="slidenum">
              <a:rPr lang="en-US" altLang="zh-CN" smtClean="0">
                <a:latin typeface="Arial" panose="020B0604020202020204" pitchFamily="34" charset="0"/>
              </a:rPr>
              <a:t>21</a:t>
            </a:fld>
            <a:endParaRPr lang="en-US" altLang="zh-CN">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p:sp>
      <p:sp>
        <p:nvSpPr>
          <p:cNvPr id="12800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2800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56B0BFED-6573-49C5-9C19-C6C9E6F517A4}" type="slidenum">
              <a:rPr lang="en-US" altLang="zh-CN" smtClean="0">
                <a:latin typeface="Arial" panose="020B0604020202020204" pitchFamily="34" charset="0"/>
              </a:rPr>
              <a:t>22</a:t>
            </a:fld>
            <a:endParaRPr lang="en-US" altLang="zh-CN">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p:sp>
      <p:sp>
        <p:nvSpPr>
          <p:cNvPr id="12902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2902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72BF6125-FB62-418F-9870-FCF11E32D88C}" type="slidenum">
              <a:rPr lang="en-US" altLang="zh-CN" smtClean="0">
                <a:latin typeface="Arial" panose="020B0604020202020204" pitchFamily="34" charset="0"/>
              </a:rPr>
              <a:t>24</a:t>
            </a:fld>
            <a:endParaRPr lang="en-US" altLang="zh-CN">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信噪比（</a:t>
            </a:r>
            <a:r>
              <a:rPr lang="en-US" altLang="zh-CN" b="1" dirty="0"/>
              <a:t>SNR, Signal-to-Noise Ratio</a:t>
            </a:r>
            <a:r>
              <a:rPr lang="zh-CN" altLang="en-US" b="1" dirty="0"/>
              <a:t>）</a:t>
            </a:r>
            <a:r>
              <a:rPr lang="zh-CN" altLang="en-US" dirty="0"/>
              <a:t> 是衡量信号质量的一个常用指标，用来表示信号的强度相对于噪声的强度。</a:t>
            </a:r>
            <a:r>
              <a:rPr lang="en-US" altLang="zh-CN" dirty="0"/>
              <a:t>SNR</a:t>
            </a:r>
            <a:r>
              <a:rPr lang="zh-CN" altLang="en-US" dirty="0"/>
              <a:t>用于评估信号中的有用信息（信号）与无用干扰（噪声）的比例，</a:t>
            </a:r>
            <a:r>
              <a:rPr lang="en-US" altLang="zh-CN" dirty="0"/>
              <a:t>SNR</a:t>
            </a:r>
            <a:r>
              <a:rPr lang="zh-CN" altLang="en-US" dirty="0"/>
              <a:t>越大，信号的质量越好，噪声对信号的影响越小。</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信噪比的定义为信号功率与噪声功率之比，通常用分贝（</a:t>
            </a:r>
            <a:r>
              <a:rPr lang="en-US" altLang="zh-CN" dirty="0"/>
              <a:t>dB</a:t>
            </a:r>
            <a:r>
              <a:rPr lang="zh-CN" altLang="en-US" dirty="0"/>
              <a:t>）表示，</a:t>
            </a:r>
          </a:p>
          <a:p>
            <a:r>
              <a:rPr lang="en-US" altLang="zh-CN" dirty="0" err="1"/>
              <a:t>Psignal</a:t>
            </a:r>
            <a:r>
              <a:rPr lang="zh-CN" altLang="en-US" dirty="0"/>
              <a:t>是信号的功率、</a:t>
            </a:r>
            <a:r>
              <a:rPr lang="en-US" altLang="zh-CN" dirty="0" err="1"/>
              <a:t>Pnoise</a:t>
            </a:r>
            <a:r>
              <a:rPr lang="zh-CN" altLang="en-US" dirty="0"/>
              <a:t>是噪声的功率</a:t>
            </a:r>
          </a:p>
          <a:p>
            <a:r>
              <a:rPr lang="zh-CN" altLang="en-US" dirty="0"/>
              <a:t>当信号的功率远大于噪声时，</a:t>
            </a:r>
            <a:r>
              <a:rPr lang="en-US" altLang="zh-CN" dirty="0"/>
              <a:t>SNR</a:t>
            </a:r>
            <a:r>
              <a:rPr lang="zh-CN" altLang="en-US" dirty="0"/>
              <a:t>值较高；反之，当噪声占据较大比例时，</a:t>
            </a:r>
            <a:r>
              <a:rPr lang="en-US" altLang="zh-CN" dirty="0"/>
              <a:t>SNR</a:t>
            </a:r>
            <a:r>
              <a:rPr lang="zh-CN" altLang="en-US" dirty="0"/>
              <a:t>值较低。</a:t>
            </a:r>
            <a:endParaRPr lang="en-US" altLang="zh-CN" dirty="0"/>
          </a:p>
          <a:p>
            <a:r>
              <a:rPr lang="zh-CN" altLang="en-US" dirty="0"/>
              <a:t>如果</a:t>
            </a:r>
            <a:r>
              <a:rPr lang="en-US" altLang="zh-CN" dirty="0"/>
              <a:t>SNR</a:t>
            </a:r>
            <a:r>
              <a:rPr lang="zh-CN" altLang="en-US" dirty="0"/>
              <a:t>为</a:t>
            </a:r>
            <a:r>
              <a:rPr lang="en-US" altLang="zh-CN" dirty="0"/>
              <a:t>0 dB</a:t>
            </a:r>
            <a:r>
              <a:rPr lang="zh-CN" altLang="en-US" dirty="0"/>
              <a:t>，表示信号强度和噪声强度相等。</a:t>
            </a:r>
            <a:endParaRPr lang="en-US" altLang="zh-CN" dirty="0"/>
          </a:p>
          <a:p>
            <a:r>
              <a:rPr lang="zh-CN" altLang="en-US" dirty="0"/>
              <a:t>如果</a:t>
            </a:r>
            <a:r>
              <a:rPr lang="en-US" altLang="zh-CN" dirty="0"/>
              <a:t>SNR</a:t>
            </a:r>
            <a:r>
              <a:rPr lang="zh-CN" altLang="en-US" dirty="0"/>
              <a:t>为</a:t>
            </a:r>
            <a:r>
              <a:rPr lang="en-US" altLang="zh-CN" dirty="0"/>
              <a:t>10 dB</a:t>
            </a:r>
            <a:r>
              <a:rPr lang="zh-CN" altLang="en-US" dirty="0"/>
              <a:t>，表示信号强度是噪声的</a:t>
            </a:r>
            <a:r>
              <a:rPr lang="en-US" altLang="zh-CN" dirty="0"/>
              <a:t>10</a:t>
            </a:r>
            <a:r>
              <a:rPr lang="zh-CN" altLang="en-US" dirty="0"/>
              <a:t>倍。</a:t>
            </a:r>
            <a:endParaRPr lang="en-US" altLang="zh-CN" dirty="0"/>
          </a:p>
          <a:p>
            <a:r>
              <a:rPr lang="zh-CN" altLang="en-US" dirty="0"/>
              <a:t>如果</a:t>
            </a:r>
            <a:r>
              <a:rPr lang="en-US" altLang="zh-CN" dirty="0"/>
              <a:t>SNR</a:t>
            </a:r>
            <a:r>
              <a:rPr lang="zh-CN" altLang="en-US" dirty="0"/>
              <a:t>为</a:t>
            </a:r>
            <a:r>
              <a:rPr lang="en-US" altLang="zh-CN" dirty="0"/>
              <a:t>20 dB</a:t>
            </a:r>
            <a:r>
              <a:rPr lang="zh-CN" altLang="en-US" dirty="0"/>
              <a:t>，表示信号强度是噪声的</a:t>
            </a:r>
            <a:r>
              <a:rPr lang="en-US" altLang="zh-CN" dirty="0"/>
              <a:t>100</a:t>
            </a:r>
            <a:r>
              <a:rPr lang="zh-CN" altLang="en-US" dirty="0"/>
              <a:t>倍。</a:t>
            </a:r>
            <a:endParaRPr lang="en-US" altLang="zh-CN" dirty="0"/>
          </a:p>
          <a:p>
            <a:r>
              <a:rPr lang="zh-CN" altLang="en-US" dirty="0"/>
              <a:t>信号和噪声的功率可以通过其</a:t>
            </a:r>
            <a:r>
              <a:rPr lang="zh-CN" altLang="en-US" u="sng" dirty="0"/>
              <a:t>均方值</a:t>
            </a:r>
            <a:r>
              <a:rPr lang="zh-CN" altLang="en-US" dirty="0"/>
              <a:t>来计算</a:t>
            </a:r>
          </a:p>
          <a:p>
            <a:endParaRPr lang="zh-CN" altLang="en-US" dirty="0"/>
          </a:p>
        </p:txBody>
      </p:sp>
      <p:sp>
        <p:nvSpPr>
          <p:cNvPr id="4" name="灯片编号占位符 3"/>
          <p:cNvSpPr>
            <a:spLocks noGrp="1"/>
          </p:cNvSpPr>
          <p:nvPr>
            <p:ph type="sldNum" sz="quarter" idx="5"/>
          </p:nvPr>
        </p:nvSpPr>
        <p:spPr/>
        <p:txBody>
          <a:bodyPr/>
          <a:lstStyle/>
          <a:p>
            <a:pPr>
              <a:defRPr/>
            </a:pPr>
            <a:fld id="{56D2EF3E-3DE6-4487-A63C-750754BADAEF}" type="slidenum">
              <a:rPr lang="en-US" altLang="zh-CN" smtClean="0"/>
              <a:t>25</a:t>
            </a:fld>
            <a:endParaRPr lang="en-US" altLang="zh-CN"/>
          </a:p>
        </p:txBody>
      </p:sp>
    </p:spTree>
    <p:extLst>
      <p:ext uri="{BB962C8B-B14F-4D97-AF65-F5344CB8AC3E}">
        <p14:creationId xmlns:p14="http://schemas.microsoft.com/office/powerpoint/2010/main" val="5009180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p:cNvSpPr>
            <a:spLocks noGrp="1" noRot="1" noChangeAspect="1" noTextEdit="1"/>
          </p:cNvSpPr>
          <p:nvPr>
            <p:ph type="sldImg"/>
          </p:nvPr>
        </p:nvSpPr>
        <p:spPr/>
      </p:sp>
      <p:sp>
        <p:nvSpPr>
          <p:cNvPr id="13005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30052"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3E2545-B745-495D-B31F-F95F50EFE28C}" type="slidenum">
              <a:rPr lang="en-US" altLang="zh-CN" smtClean="0">
                <a:latin typeface="Arial" panose="020B0604020202020204" pitchFamily="34" charset="0"/>
              </a:rPr>
              <a:t>26</a:t>
            </a:fld>
            <a:endParaRPr lang="en-US" altLang="zh-CN">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t>SNR</a:t>
            </a:r>
            <a:r>
              <a:rPr lang="zh-CN" altLang="en-US" b="1" dirty="0"/>
              <a:t>的分贝</a:t>
            </a:r>
            <a:r>
              <a:rPr lang="zh-CN" altLang="en-US" dirty="0"/>
              <a:t>：表示信号相对于噪声的比值，是一种相对值，用于衡量信号质量。</a:t>
            </a:r>
            <a:r>
              <a:rPr lang="zh-CN" altLang="en-US" b="1" dirty="0"/>
              <a:t>声音的分贝</a:t>
            </a:r>
            <a:r>
              <a:rPr lang="zh-CN" altLang="en-US" dirty="0"/>
              <a:t>：表示声音的绝对响度（声压级），是指声音的物理强度。</a:t>
            </a:r>
          </a:p>
        </p:txBody>
      </p:sp>
      <p:sp>
        <p:nvSpPr>
          <p:cNvPr id="4" name="灯片编号占位符 3"/>
          <p:cNvSpPr>
            <a:spLocks noGrp="1"/>
          </p:cNvSpPr>
          <p:nvPr>
            <p:ph type="sldNum" sz="quarter" idx="10"/>
          </p:nvPr>
        </p:nvSpPr>
        <p:spPr/>
        <p:txBody>
          <a:bodyPr/>
          <a:lstStyle/>
          <a:p>
            <a:pPr>
              <a:defRPr/>
            </a:pPr>
            <a:fld id="{56D2EF3E-3DE6-4487-A63C-750754BADAEF}" type="slidenum">
              <a:rPr lang="en-US" altLang="zh-CN" smtClean="0"/>
              <a:t>28</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6D2EF3E-3DE6-4487-A63C-750754BADAEF}" type="slidenum">
              <a:rPr lang="en-US" altLang="zh-CN" smtClean="0"/>
              <a:t>30</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t>31</a:t>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t>32</a:t>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t>33</a:t>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4215DA7-AE92-49BD-ABC9-2A4D9BD71FAC}" type="slidenum">
              <a:rPr lang="zh-CN" altLang="en-US" smtClean="0"/>
              <a:t>35</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4215DA7-AE92-49BD-ABC9-2A4D9BD71FAC}" type="slidenum">
              <a:rPr lang="zh-CN" altLang="en-US" smtClean="0"/>
              <a:t>36</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6E29F73-D6E4-43FE-AAA9-9E797ECA0796}" type="slidenum">
              <a:rPr lang="zh-CN" altLang="en-US" smtClean="0">
                <a:latin typeface="Times New Roman" panose="02020603050405020304" pitchFamily="18" charset="0"/>
              </a:rPr>
              <a:t>37</a:t>
            </a:fld>
            <a:endParaRPr lang="en-US" altLang="zh-CN">
              <a:latin typeface="Times New Roman" panose="02020603050405020304" pitchFamily="18" charset="0"/>
            </a:endParaRPr>
          </a:p>
        </p:txBody>
      </p:sp>
      <p:sp>
        <p:nvSpPr>
          <p:cNvPr id="88067" name="Rectangle 2"/>
          <p:cNvSpPr>
            <a:spLocks noGrp="1" noRot="1" noChangeAspect="1" noChangeArrowheads="1" noTextEdit="1"/>
          </p:cNvSpPr>
          <p:nvPr>
            <p:ph type="sldImg"/>
          </p:nvPr>
        </p:nvSpPr>
        <p:spPr/>
      </p:sp>
      <p:sp>
        <p:nvSpPr>
          <p:cNvPr id="880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12270842-05B4-F1AB-F74D-C3ED1E1A72B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备注占位符 2">
            <a:extLst>
              <a:ext uri="{FF2B5EF4-FFF2-40B4-BE49-F238E27FC236}">
                <a16:creationId xmlns:a16="http://schemas.microsoft.com/office/drawing/2014/main" id="{482B84BE-8630-A746-BE6D-DE36486CEFA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计算机能看到什么是人决定的</a:t>
            </a:r>
          </a:p>
        </p:txBody>
      </p:sp>
      <p:sp>
        <p:nvSpPr>
          <p:cNvPr id="15364" name="灯片编号占位符 3">
            <a:extLst>
              <a:ext uri="{FF2B5EF4-FFF2-40B4-BE49-F238E27FC236}">
                <a16:creationId xmlns:a16="http://schemas.microsoft.com/office/drawing/2014/main" id="{94DC8C63-D093-8BFF-FA88-B098EA95CF5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6000">
                <a:solidFill>
                  <a:schemeClr val="tx1"/>
                </a:solidFill>
                <a:latin typeface="Arial" panose="020B0604020202020204" pitchFamily="34" charset="0"/>
                <a:ea typeface="宋体" panose="02010600030101010101" pitchFamily="2" charset="-122"/>
              </a:defRPr>
            </a:lvl1pPr>
            <a:lvl2pPr marL="742950" indent="-285750">
              <a:defRPr sz="6000">
                <a:solidFill>
                  <a:schemeClr val="tx1"/>
                </a:solidFill>
                <a:latin typeface="Arial" panose="020B0604020202020204" pitchFamily="34" charset="0"/>
                <a:ea typeface="宋体" panose="02010600030101010101" pitchFamily="2" charset="-122"/>
              </a:defRPr>
            </a:lvl2pPr>
            <a:lvl3pPr marL="1143000" indent="-228600">
              <a:defRPr sz="6000">
                <a:solidFill>
                  <a:schemeClr val="tx1"/>
                </a:solidFill>
                <a:latin typeface="Arial" panose="020B0604020202020204" pitchFamily="34" charset="0"/>
                <a:ea typeface="宋体" panose="02010600030101010101" pitchFamily="2" charset="-122"/>
              </a:defRPr>
            </a:lvl3pPr>
            <a:lvl4pPr marL="1600200" indent="-228600">
              <a:defRPr sz="6000">
                <a:solidFill>
                  <a:schemeClr val="tx1"/>
                </a:solidFill>
                <a:latin typeface="Arial" panose="020B0604020202020204" pitchFamily="34" charset="0"/>
                <a:ea typeface="宋体" panose="02010600030101010101" pitchFamily="2" charset="-122"/>
              </a:defRPr>
            </a:lvl4pPr>
            <a:lvl5pPr marL="2057400" indent="-228600">
              <a:defRPr sz="6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6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6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6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6000">
                <a:solidFill>
                  <a:schemeClr val="tx1"/>
                </a:solidFill>
                <a:latin typeface="Arial" panose="020B0604020202020204" pitchFamily="34" charset="0"/>
                <a:ea typeface="宋体" panose="02010600030101010101" pitchFamily="2" charset="-122"/>
              </a:defRPr>
            </a:lvl9pPr>
          </a:lstStyle>
          <a:p>
            <a:fld id="{71FC9E11-321E-4653-AF30-269DC424A519}" type="slidenum">
              <a:rPr lang="zh-CN" altLang="en-US" sz="1200" smtClean="0"/>
              <a:pPr/>
              <a:t>40</a:t>
            </a:fld>
            <a:endParaRPr lang="zh-CN" altLang="en-US"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DA992E07-43F3-7C32-B6BD-764DCBDDAE2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a:extLst>
              <a:ext uri="{FF2B5EF4-FFF2-40B4-BE49-F238E27FC236}">
                <a16:creationId xmlns:a16="http://schemas.microsoft.com/office/drawing/2014/main" id="{2E95933C-F5FF-6449-922B-AA91000BB6C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采集和生成</a:t>
            </a:r>
          </a:p>
        </p:txBody>
      </p:sp>
      <p:sp>
        <p:nvSpPr>
          <p:cNvPr id="21508" name="灯片编号占位符 3">
            <a:extLst>
              <a:ext uri="{FF2B5EF4-FFF2-40B4-BE49-F238E27FC236}">
                <a16:creationId xmlns:a16="http://schemas.microsoft.com/office/drawing/2014/main" id="{7C3CE857-97E3-74F4-4B53-75672B7B13D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6000">
                <a:solidFill>
                  <a:schemeClr val="tx1"/>
                </a:solidFill>
                <a:latin typeface="Arial" panose="020B0604020202020204" pitchFamily="34" charset="0"/>
                <a:ea typeface="宋体" panose="02010600030101010101" pitchFamily="2" charset="-122"/>
              </a:defRPr>
            </a:lvl1pPr>
            <a:lvl2pPr marL="742950" indent="-285750">
              <a:defRPr sz="6000">
                <a:solidFill>
                  <a:schemeClr val="tx1"/>
                </a:solidFill>
                <a:latin typeface="Arial" panose="020B0604020202020204" pitchFamily="34" charset="0"/>
                <a:ea typeface="宋体" panose="02010600030101010101" pitchFamily="2" charset="-122"/>
              </a:defRPr>
            </a:lvl2pPr>
            <a:lvl3pPr marL="1143000" indent="-228600">
              <a:defRPr sz="6000">
                <a:solidFill>
                  <a:schemeClr val="tx1"/>
                </a:solidFill>
                <a:latin typeface="Arial" panose="020B0604020202020204" pitchFamily="34" charset="0"/>
                <a:ea typeface="宋体" panose="02010600030101010101" pitchFamily="2" charset="-122"/>
              </a:defRPr>
            </a:lvl3pPr>
            <a:lvl4pPr marL="1600200" indent="-228600">
              <a:defRPr sz="6000">
                <a:solidFill>
                  <a:schemeClr val="tx1"/>
                </a:solidFill>
                <a:latin typeface="Arial" panose="020B0604020202020204" pitchFamily="34" charset="0"/>
                <a:ea typeface="宋体" panose="02010600030101010101" pitchFamily="2" charset="-122"/>
              </a:defRPr>
            </a:lvl4pPr>
            <a:lvl5pPr marL="2057400" indent="-228600">
              <a:defRPr sz="6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6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6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6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6000">
                <a:solidFill>
                  <a:schemeClr val="tx1"/>
                </a:solidFill>
                <a:latin typeface="Arial" panose="020B0604020202020204" pitchFamily="34" charset="0"/>
                <a:ea typeface="宋体" panose="02010600030101010101" pitchFamily="2" charset="-122"/>
              </a:defRPr>
            </a:lvl9pPr>
          </a:lstStyle>
          <a:p>
            <a:fld id="{8398155D-3A54-4C53-925F-7C8787E1D709}" type="slidenum">
              <a:rPr lang="zh-CN" altLang="en-US" sz="1200" smtClean="0"/>
              <a:pPr/>
              <a:t>41</a:t>
            </a:fld>
            <a:endParaRPr lang="zh-CN" altLang="en-US" sz="1200"/>
          </a:p>
        </p:txBody>
      </p:sp>
    </p:spTree>
    <p:extLst>
      <p:ext uri="{BB962C8B-B14F-4D97-AF65-F5344CB8AC3E}">
        <p14:creationId xmlns:p14="http://schemas.microsoft.com/office/powerpoint/2010/main" val="8587259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4F69B297-6FFA-D1CE-BA8F-C190D4F0DE0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18AAF242-2A91-897E-E65F-9CD15644745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采集或生成</a:t>
            </a:r>
            <a:endParaRPr lang="en-US" altLang="zh-CN"/>
          </a:p>
          <a:p>
            <a:r>
              <a:rPr lang="zh-CN" altLang="en-US"/>
              <a:t>常见的各种照片、 图片、海报、广告画等均属模拟图像，要将模拟图像数字化后生成数字图像，需要利用数字化设备。目前，将模拟图像数字化的主要设备是扫描仪，将视频画面数字化的设备有图像采集卡。当然，也可以利用数码照相机直接拍摄以数字格式存放的数字图像。模拟图像经扫描仪进行数字化或由数码照相机拍摄的自然景物图像，在计算机中均是以数字格式存储的。既然是数字， 计算机当然可以方便地进行各种处理，以达到视觉效果和特殊效果。 </a:t>
            </a:r>
          </a:p>
        </p:txBody>
      </p:sp>
      <p:sp>
        <p:nvSpPr>
          <p:cNvPr id="17412" name="灯片编号占位符 3">
            <a:extLst>
              <a:ext uri="{FF2B5EF4-FFF2-40B4-BE49-F238E27FC236}">
                <a16:creationId xmlns:a16="http://schemas.microsoft.com/office/drawing/2014/main" id="{BA1EB15C-CB52-A66E-5ACC-85796E83D89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6000">
                <a:solidFill>
                  <a:schemeClr val="tx1"/>
                </a:solidFill>
                <a:latin typeface="Arial" panose="020B0604020202020204" pitchFamily="34" charset="0"/>
                <a:ea typeface="宋体" panose="02010600030101010101" pitchFamily="2" charset="-122"/>
              </a:defRPr>
            </a:lvl1pPr>
            <a:lvl2pPr marL="742950" indent="-285750">
              <a:defRPr sz="6000">
                <a:solidFill>
                  <a:schemeClr val="tx1"/>
                </a:solidFill>
                <a:latin typeface="Arial" panose="020B0604020202020204" pitchFamily="34" charset="0"/>
                <a:ea typeface="宋体" panose="02010600030101010101" pitchFamily="2" charset="-122"/>
              </a:defRPr>
            </a:lvl2pPr>
            <a:lvl3pPr marL="1143000" indent="-228600">
              <a:defRPr sz="6000">
                <a:solidFill>
                  <a:schemeClr val="tx1"/>
                </a:solidFill>
                <a:latin typeface="Arial" panose="020B0604020202020204" pitchFamily="34" charset="0"/>
                <a:ea typeface="宋体" panose="02010600030101010101" pitchFamily="2" charset="-122"/>
              </a:defRPr>
            </a:lvl3pPr>
            <a:lvl4pPr marL="1600200" indent="-228600">
              <a:defRPr sz="6000">
                <a:solidFill>
                  <a:schemeClr val="tx1"/>
                </a:solidFill>
                <a:latin typeface="Arial" panose="020B0604020202020204" pitchFamily="34" charset="0"/>
                <a:ea typeface="宋体" panose="02010600030101010101" pitchFamily="2" charset="-122"/>
              </a:defRPr>
            </a:lvl4pPr>
            <a:lvl5pPr marL="2057400" indent="-228600">
              <a:defRPr sz="6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6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6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6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6000">
                <a:solidFill>
                  <a:schemeClr val="tx1"/>
                </a:solidFill>
                <a:latin typeface="Arial" panose="020B0604020202020204" pitchFamily="34" charset="0"/>
                <a:ea typeface="宋体" panose="02010600030101010101" pitchFamily="2" charset="-122"/>
              </a:defRPr>
            </a:lvl9pPr>
          </a:lstStyle>
          <a:p>
            <a:fld id="{DD2A8B94-3FDB-4821-87EB-CCA9402D51F2}" type="slidenum">
              <a:rPr lang="zh-CN" altLang="en-US" sz="1200" smtClean="0"/>
              <a:pPr/>
              <a:t>42</a:t>
            </a:fld>
            <a:endParaRPr lang="zh-CN" altLang="en-US"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FF0000"/>
                </a:solidFill>
              </a:rPr>
              <a:t>采用等距离矩形网格采样</a:t>
            </a:r>
            <a:endParaRPr lang="en-US" altLang="zh-CN" sz="1200" dirty="0">
              <a:solidFill>
                <a:srgbClr val="FF0000"/>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FF0000"/>
                </a:solidFill>
              </a:rPr>
              <a:t>一个被采样和量化后的二维函数</a:t>
            </a:r>
            <a:endParaRPr lang="en-US" altLang="zh-CN" sz="1200" dirty="0">
              <a:solidFill>
                <a:srgbClr val="FF0000"/>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FF0000"/>
                </a:solidFill>
              </a:rPr>
              <a:t>对幅度进行等间隔量化</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dirty="0">
              <a:solidFill>
                <a:srgbClr val="FF0000"/>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dirty="0">
              <a:solidFill>
                <a:srgbClr val="FF0000"/>
              </a:solidFill>
            </a:endParaRPr>
          </a:p>
          <a:p>
            <a:endParaRPr lang="zh-CN" altLang="en-US" dirty="0"/>
          </a:p>
        </p:txBody>
      </p:sp>
      <p:sp>
        <p:nvSpPr>
          <p:cNvPr id="4" name="灯片编号占位符 3"/>
          <p:cNvSpPr>
            <a:spLocks noGrp="1"/>
          </p:cNvSpPr>
          <p:nvPr>
            <p:ph type="sldNum" sz="quarter" idx="5"/>
          </p:nvPr>
        </p:nvSpPr>
        <p:spPr/>
        <p:txBody>
          <a:bodyPr/>
          <a:lstStyle/>
          <a:p>
            <a:pPr>
              <a:defRPr/>
            </a:pPr>
            <a:fld id="{56D2EF3E-3DE6-4487-A63C-750754BADAEF}" type="slidenum">
              <a:rPr lang="en-US" altLang="zh-CN" smtClean="0"/>
              <a:t>43</a:t>
            </a:fld>
            <a:endParaRPr lang="en-US" altLang="zh-CN"/>
          </a:p>
        </p:txBody>
      </p:sp>
    </p:spTree>
    <p:extLst>
      <p:ext uri="{BB962C8B-B14F-4D97-AF65-F5344CB8AC3E}">
        <p14:creationId xmlns:p14="http://schemas.microsoft.com/office/powerpoint/2010/main" val="36382827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6D2EF3E-3DE6-4487-A63C-750754BADAEF}" type="slidenum">
              <a:rPr lang="en-US" altLang="zh-CN" smtClean="0"/>
              <a:t>44</a:t>
            </a:fld>
            <a:endParaRPr lang="en-US" altLang="zh-CN"/>
          </a:p>
        </p:txBody>
      </p:sp>
    </p:spTree>
    <p:extLst>
      <p:ext uri="{BB962C8B-B14F-4D97-AF65-F5344CB8AC3E}">
        <p14:creationId xmlns:p14="http://schemas.microsoft.com/office/powerpoint/2010/main" val="24624581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p:sp>
      <p:sp>
        <p:nvSpPr>
          <p:cNvPr id="901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011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A285185-D742-47E2-959F-9715F68B502D}" type="slidenum">
              <a:rPr lang="zh-CN" altLang="en-US" smtClean="0">
                <a:latin typeface="Times New Roman" panose="02020603050405020304" pitchFamily="18" charset="0"/>
              </a:rPr>
              <a:t>45</a:t>
            </a:fld>
            <a:endParaRPr lang="en-US" altLang="zh-CN">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p:sp>
      <p:sp>
        <p:nvSpPr>
          <p:cNvPr id="9113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114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977DFFE-E393-47ED-83BA-79FA94E7FA5C}" type="slidenum">
              <a:rPr lang="zh-CN" altLang="en-US" smtClean="0">
                <a:latin typeface="Times New Roman" panose="02020603050405020304" pitchFamily="18" charset="0"/>
              </a:rPr>
              <a:t>46</a:t>
            </a:fld>
            <a:endParaRPr lang="en-US" altLang="zh-CN">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21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817D723-A2D9-4C0D-84DE-16AC732307FC}" type="slidenum">
              <a:rPr lang="zh-CN" altLang="en-US" smtClean="0">
                <a:latin typeface="Times New Roman" panose="02020603050405020304" pitchFamily="18" charset="0"/>
              </a:rPr>
              <a:t>48</a:t>
            </a:fld>
            <a:endParaRPr lang="en-US" altLang="zh-CN">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21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817D723-A2D9-4C0D-84DE-16AC732307FC}" type="slidenum">
              <a:rPr lang="zh-CN" altLang="en-US" smtClean="0">
                <a:latin typeface="Times New Roman" panose="02020603050405020304" pitchFamily="18" charset="0"/>
              </a:rPr>
              <a:t>49</a:t>
            </a:fld>
            <a:endParaRPr lang="en-US" altLang="zh-CN">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6D2EF3E-3DE6-4487-A63C-750754BADAEF}" type="slidenum">
              <a:rPr lang="en-US" altLang="zh-CN" smtClean="0"/>
              <a:t>51</a:t>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t>55</a:t>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0A8BB498-D968-4DC0-B27C-675F472D3E2D}" type="slidenum">
              <a:rPr lang="en-US" altLang="zh-CN" smtClean="0">
                <a:latin typeface="Arial" panose="020B0604020202020204" pitchFamily="34" charset="0"/>
              </a:rPr>
              <a:t>56</a:t>
            </a:fld>
            <a:endParaRPr lang="en-US" altLang="zh-CN">
              <a:latin typeface="Arial" panose="020B0604020202020204" pitchFamily="34" charset="0"/>
            </a:endParaRPr>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p:nvPr/>
        </p:nvGrpSpPr>
        <p:grpSpPr bwMode="auto">
          <a:xfrm>
            <a:off x="-4296833" y="304800"/>
            <a:ext cx="15879233" cy="4724400"/>
            <a:chOff x="-2030" y="192"/>
            <a:chExt cx="7502" cy="2976"/>
          </a:xfrm>
        </p:grpSpPr>
        <p:sp>
          <p:nvSpPr>
            <p:cNvPr id="5" name="Line 3"/>
            <p:cNvSpPr>
              <a:spLocks noChangeShapeType="1"/>
            </p:cNvSpPr>
            <p:nvPr/>
          </p:nvSpPr>
          <p:spPr bwMode="auto">
            <a:xfrm>
              <a:off x="912" y="1584"/>
              <a:ext cx="456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sz="100"/>
            </a:p>
          </p:txBody>
        </p:sp>
        <p:sp>
          <p:nvSpPr>
            <p:cNvPr id="6" name="AutoShape 4"/>
            <p:cNvSpPr>
              <a:spLocks noChangeArrowheads="1"/>
            </p:cNvSpPr>
            <p:nvPr/>
          </p:nvSpPr>
          <p:spPr bwMode="auto">
            <a:xfrm>
              <a:off x="-1584" y="864"/>
              <a:ext cx="2304" cy="2304"/>
            </a:xfrm>
            <a:custGeom>
              <a:avLst/>
              <a:gdLst>
                <a:gd name="T0" fmla="*/ 2 w 64000"/>
                <a:gd name="T1" fmla="*/ 0 h 64000"/>
                <a:gd name="T2" fmla="*/ 3 w 64000"/>
                <a:gd name="T3" fmla="*/ 1 h 64000"/>
                <a:gd name="T4" fmla="*/ 2 w 64000"/>
                <a:gd name="T5" fmla="*/ 3 h 64000"/>
                <a:gd name="T6" fmla="*/ 2 w 64000"/>
                <a:gd name="T7" fmla="*/ 3 h 64000"/>
                <a:gd name="T8" fmla="*/ 2 w 64000"/>
                <a:gd name="T9" fmla="*/ 3 h 64000"/>
                <a:gd name="T10" fmla="*/ 2 w 64000"/>
                <a:gd name="T11" fmla="*/ 3 h 64000"/>
                <a:gd name="T12" fmla="*/ 2 w 64000"/>
                <a:gd name="T13" fmla="*/ 0 h 64000"/>
                <a:gd name="T14" fmla="*/ 2 w 64000"/>
                <a:gd name="T15" fmla="*/ 0 h 64000"/>
                <a:gd name="T16" fmla="*/ 2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00"/>
            </a:p>
          </p:txBody>
        </p:sp>
        <p:sp>
          <p:nvSpPr>
            <p:cNvPr id="7" name="AutoShape 5"/>
            <p:cNvSpPr>
              <a:spLocks noChangeArrowheads="1"/>
            </p:cNvSpPr>
            <p:nvPr/>
          </p:nvSpPr>
          <p:spPr bwMode="auto">
            <a:xfrm>
              <a:off x="-2030" y="192"/>
              <a:ext cx="2544" cy="2544"/>
            </a:xfrm>
            <a:custGeom>
              <a:avLst/>
              <a:gdLst>
                <a:gd name="T0" fmla="*/ 3 w 64000"/>
                <a:gd name="T1" fmla="*/ 0 h 64000"/>
                <a:gd name="T2" fmla="*/ 4 w 64000"/>
                <a:gd name="T3" fmla="*/ 2 h 64000"/>
                <a:gd name="T4" fmla="*/ 3 w 64000"/>
                <a:gd name="T5" fmla="*/ 4 h 64000"/>
                <a:gd name="T6" fmla="*/ 3 w 64000"/>
                <a:gd name="T7" fmla="*/ 4 h 64000"/>
                <a:gd name="T8" fmla="*/ 3 w 64000"/>
                <a:gd name="T9" fmla="*/ 4 h 64000"/>
                <a:gd name="T10" fmla="*/ 3 w 64000"/>
                <a:gd name="T11" fmla="*/ 4 h 64000"/>
                <a:gd name="T12" fmla="*/ 3 w 64000"/>
                <a:gd name="T13" fmla="*/ 0 h 64000"/>
                <a:gd name="T14" fmla="*/ 3 w 64000"/>
                <a:gd name="T15" fmla="*/ 0 h 64000"/>
                <a:gd name="T16" fmla="*/ 3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00"/>
            </a:p>
          </p:txBody>
        </p:sp>
      </p:grpSp>
      <p:sp>
        <p:nvSpPr>
          <p:cNvPr id="84998" name="Rectangle 6"/>
          <p:cNvSpPr>
            <a:spLocks noGrp="1" noChangeArrowheads="1"/>
          </p:cNvSpPr>
          <p:nvPr>
            <p:ph type="ctrTitle"/>
          </p:nvPr>
        </p:nvSpPr>
        <p:spPr>
          <a:xfrm>
            <a:off x="1924051" y="985838"/>
            <a:ext cx="9652000" cy="1444625"/>
          </a:xfrm>
        </p:spPr>
        <p:txBody>
          <a:bodyPr/>
          <a:lstStyle>
            <a:lvl1pPr>
              <a:defRPr sz="4000"/>
            </a:lvl1pPr>
          </a:lstStyle>
          <a:p>
            <a:r>
              <a:rPr lang="en-US" altLang="zh-CN"/>
              <a:t>Click to edit Master title style</a:t>
            </a:r>
            <a:endParaRPr lang="zh-CN" altLang="en-US"/>
          </a:p>
        </p:txBody>
      </p:sp>
      <p:sp>
        <p:nvSpPr>
          <p:cNvPr id="84999" name="Rectangle 7"/>
          <p:cNvSpPr>
            <a:spLocks noGrp="1" noChangeArrowheads="1"/>
          </p:cNvSpPr>
          <p:nvPr>
            <p:ph type="subTitle" idx="1"/>
          </p:nvPr>
        </p:nvSpPr>
        <p:spPr>
          <a:xfrm>
            <a:off x="1924051" y="3427413"/>
            <a:ext cx="9652000" cy="1752600"/>
          </a:xfrm>
        </p:spPr>
        <p:txBody>
          <a:bodyPr/>
          <a:lstStyle>
            <a:lvl1pPr marL="0" indent="0">
              <a:buFont typeface="Wingdings" panose="05000000000000000000" pitchFamily="2" charset="2"/>
              <a:buNone/>
              <a:defRPr/>
            </a:lvl1pPr>
          </a:lstStyle>
          <a:p>
            <a:r>
              <a:rPr lang="en-US" altLang="zh-CN"/>
              <a:t>Click to edit Master subtitle style</a:t>
            </a:r>
            <a:endParaRPr lang="zh-CN" altLang="en-US"/>
          </a:p>
        </p:txBody>
      </p:sp>
      <p:sp>
        <p:nvSpPr>
          <p:cNvPr id="8" name="Rectangle 8"/>
          <p:cNvSpPr>
            <a:spLocks noGrp="1" noChangeArrowheads="1"/>
          </p:cNvSpPr>
          <p:nvPr>
            <p:ph type="dt" sz="half" idx="10"/>
          </p:nvPr>
        </p:nvSpPr>
        <p:spPr/>
        <p:txBody>
          <a:bodyPr/>
          <a:lstStyle>
            <a:lvl1pPr>
              <a:defRPr/>
            </a:lvl1pPr>
          </a:lstStyle>
          <a:p>
            <a:pPr>
              <a:defRPr/>
            </a:pPr>
            <a:fld id="{A927AE57-9662-46D4-840C-50BCBFC7D763}" type="datetime1">
              <a:rPr lang="zh-CN" altLang="en-US" smtClean="0"/>
              <a:t>2024/9/25</a:t>
            </a:fld>
            <a:endParaRPr lang="en-US" altLang="zh-CN"/>
          </a:p>
        </p:txBody>
      </p:sp>
      <p:sp>
        <p:nvSpPr>
          <p:cNvPr id="9" name="Rectangle 9"/>
          <p:cNvSpPr>
            <a:spLocks noGrp="1" noChangeArrowheads="1"/>
          </p:cNvSpPr>
          <p:nvPr>
            <p:ph type="ftr" sz="quarter" idx="11"/>
          </p:nvPr>
        </p:nvSpPr>
        <p:spPr/>
        <p:txBody>
          <a:bodyPr/>
          <a:lstStyle>
            <a:lvl1pPr>
              <a:defRPr/>
            </a:lvl1pPr>
          </a:lstStyle>
          <a:p>
            <a:pPr>
              <a:defRPr/>
            </a:pPr>
            <a:r>
              <a:rPr lang="zh-CN" altLang="en-US"/>
              <a:t>信息隐藏和数字水印</a:t>
            </a:r>
            <a:endParaRPr lang="en-US" altLang="zh-CN"/>
          </a:p>
        </p:txBody>
      </p:sp>
      <p:sp>
        <p:nvSpPr>
          <p:cNvPr id="10" name="Rectangle 10"/>
          <p:cNvSpPr>
            <a:spLocks noGrp="1" noChangeArrowheads="1"/>
          </p:cNvSpPr>
          <p:nvPr>
            <p:ph type="sldNum" sz="quarter" idx="12"/>
          </p:nvPr>
        </p:nvSpPr>
        <p:spPr/>
        <p:txBody>
          <a:bodyPr/>
          <a:lstStyle>
            <a:lvl1pPr>
              <a:defRPr/>
            </a:lvl1pPr>
          </a:lstStyle>
          <a:p>
            <a:pPr>
              <a:defRPr/>
            </a:pPr>
            <a:fld id="{22A84A4A-8E8F-4363-A4F0-9502907A9A09}" type="slidenum">
              <a:rPr lang="en-US" altLang="zh-CN"/>
              <a:t>‹#›</a:t>
            </a:fld>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C819D98A-B070-4560-911A-6D7A47071497}" type="datetime1">
              <a:rPr lang="zh-CN" altLang="en-US" smtClean="0"/>
              <a:t>2024/9/25</a:t>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信息隐藏和数字水印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9C59D760-1E34-4067-BAD8-1E1ED86B9E11}" type="slidenum">
              <a:rPr lang="en-US" altLang="zh-CN"/>
              <a:t>‹#›</a:t>
            </a:fld>
            <a:endParaRPr lang="en-US" alt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
        <p:nvSpPr>
          <p:cNvPr id="4" name="Rectangle 8"/>
          <p:cNvSpPr>
            <a:spLocks noGrp="1" noChangeArrowheads="1"/>
          </p:cNvSpPr>
          <p:nvPr>
            <p:ph type="dt" sz="half" idx="10"/>
          </p:nvPr>
        </p:nvSpPr>
        <p:spPr/>
        <p:txBody>
          <a:bodyPr/>
          <a:lstStyle>
            <a:lvl1pPr>
              <a:defRPr/>
            </a:lvl1pPr>
          </a:lstStyle>
          <a:p>
            <a:pPr>
              <a:defRPr/>
            </a:pPr>
            <a:fld id="{5A8F2FBA-0F53-4A8E-8BDC-918B0F33EE0B}" type="datetime1">
              <a:rPr lang="zh-CN" altLang="en-US" smtClean="0"/>
              <a:t>2024/9/25</a:t>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信息隐藏和数字水印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45547D06-48D3-4EFB-B32B-20B4DCCABC4D}" type="slidenum">
              <a:rPr lang="en-US" altLang="zh-CN"/>
              <a:t>‹#›</a:t>
            </a:fld>
            <a:endParaRPr lang="en-US" alt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C6F8849A-1402-4E9A-BF82-8354623D7888}" type="datetime1">
              <a:rPr lang="zh-CN" altLang="en-US" smtClean="0"/>
              <a:t>2024/9/25</a:t>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信息隐藏和数字水印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3E7AD61A-3902-4729-B394-2113B451B454}" type="slidenum">
              <a:rPr lang="en-US" altLang="zh-CN"/>
              <a:t>‹#›</a:t>
            </a:fld>
            <a:endParaRPr lang="en-US" alt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Rectangle 8"/>
          <p:cNvSpPr>
            <a:spLocks noGrp="1" noChangeArrowheads="1"/>
          </p:cNvSpPr>
          <p:nvPr>
            <p:ph type="dt" sz="half" idx="10"/>
          </p:nvPr>
        </p:nvSpPr>
        <p:spPr/>
        <p:txBody>
          <a:bodyPr/>
          <a:lstStyle>
            <a:lvl1pPr>
              <a:defRPr/>
            </a:lvl1pPr>
          </a:lstStyle>
          <a:p>
            <a:pPr>
              <a:defRPr/>
            </a:pPr>
            <a:fld id="{8E9A0F45-9AD4-4F9A-B403-1588B86E68E8}" type="datetime1">
              <a:rPr lang="zh-CN" altLang="en-US" smtClean="0"/>
              <a:t>2024/9/25</a:t>
            </a:fld>
            <a:endParaRPr lang="en-US" altLang="zh-CN"/>
          </a:p>
        </p:txBody>
      </p:sp>
      <p:sp>
        <p:nvSpPr>
          <p:cNvPr id="8" name="Rectangle 9"/>
          <p:cNvSpPr>
            <a:spLocks noGrp="1" noChangeArrowheads="1"/>
          </p:cNvSpPr>
          <p:nvPr>
            <p:ph type="ftr" sz="quarter" idx="11"/>
          </p:nvPr>
        </p:nvSpPr>
        <p:spPr/>
        <p:txBody>
          <a:bodyPr/>
          <a:lstStyle>
            <a:lvl1pPr>
              <a:defRPr/>
            </a:lvl1pPr>
          </a:lstStyle>
          <a:p>
            <a:pPr>
              <a:defRPr/>
            </a:pPr>
            <a:r>
              <a:rPr lang="zh-CN" altLang="en-US"/>
              <a:t>信息隐藏和数字水印</a:t>
            </a:r>
            <a:endParaRPr lang="en-US" altLang="zh-CN"/>
          </a:p>
        </p:txBody>
      </p:sp>
      <p:sp>
        <p:nvSpPr>
          <p:cNvPr id="9" name="Rectangle 10"/>
          <p:cNvSpPr>
            <a:spLocks noGrp="1" noChangeArrowheads="1"/>
          </p:cNvSpPr>
          <p:nvPr>
            <p:ph type="sldNum" sz="quarter" idx="12"/>
          </p:nvPr>
        </p:nvSpPr>
        <p:spPr/>
        <p:txBody>
          <a:bodyPr/>
          <a:lstStyle>
            <a:lvl1pPr>
              <a:defRPr/>
            </a:lvl1pPr>
          </a:lstStyle>
          <a:p>
            <a:pPr>
              <a:defRPr/>
            </a:pPr>
            <a:fld id="{3BF7CD32-9E0E-4225-A8F0-038AD57B9011}" type="slidenum">
              <a:rPr lang="en-US" altLang="zh-CN"/>
              <a:t>‹#›</a:t>
            </a:fld>
            <a:endParaRPr lang="en-US" alt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8"/>
          <p:cNvSpPr>
            <a:spLocks noGrp="1" noChangeArrowheads="1"/>
          </p:cNvSpPr>
          <p:nvPr>
            <p:ph type="dt" sz="half" idx="10"/>
          </p:nvPr>
        </p:nvSpPr>
        <p:spPr/>
        <p:txBody>
          <a:bodyPr/>
          <a:lstStyle>
            <a:lvl1pPr>
              <a:defRPr/>
            </a:lvl1pPr>
          </a:lstStyle>
          <a:p>
            <a:pPr>
              <a:defRPr/>
            </a:pPr>
            <a:fld id="{E614E338-89BF-4025-8A01-3AB9753A871E}" type="datetime1">
              <a:rPr lang="zh-CN" altLang="en-US" smtClean="0"/>
              <a:t>2024/9/25</a:t>
            </a:fld>
            <a:endParaRPr lang="en-US" altLang="zh-CN"/>
          </a:p>
        </p:txBody>
      </p:sp>
      <p:sp>
        <p:nvSpPr>
          <p:cNvPr id="4" name="Rectangle 9"/>
          <p:cNvSpPr>
            <a:spLocks noGrp="1" noChangeArrowheads="1"/>
          </p:cNvSpPr>
          <p:nvPr>
            <p:ph type="ftr" sz="quarter" idx="11"/>
          </p:nvPr>
        </p:nvSpPr>
        <p:spPr/>
        <p:txBody>
          <a:bodyPr/>
          <a:lstStyle>
            <a:lvl1pPr>
              <a:defRPr/>
            </a:lvl1pPr>
          </a:lstStyle>
          <a:p>
            <a:pPr>
              <a:defRPr/>
            </a:pPr>
            <a:r>
              <a:rPr lang="zh-CN" altLang="en-US"/>
              <a:t>信息隐藏和数字水印</a:t>
            </a:r>
            <a:endParaRPr lang="en-US" altLang="zh-CN"/>
          </a:p>
        </p:txBody>
      </p:sp>
      <p:sp>
        <p:nvSpPr>
          <p:cNvPr id="5" name="Rectangle 10"/>
          <p:cNvSpPr>
            <a:spLocks noGrp="1" noChangeArrowheads="1"/>
          </p:cNvSpPr>
          <p:nvPr>
            <p:ph type="sldNum" sz="quarter" idx="12"/>
          </p:nvPr>
        </p:nvSpPr>
        <p:spPr/>
        <p:txBody>
          <a:bodyPr/>
          <a:lstStyle>
            <a:lvl1pPr>
              <a:defRPr/>
            </a:lvl1pPr>
          </a:lstStyle>
          <a:p>
            <a:pPr>
              <a:defRPr/>
            </a:pPr>
            <a:fld id="{93684D44-2C25-4B87-BC5C-5C9A682BCB05}" type="slidenum">
              <a:rPr lang="en-US" altLang="zh-CN"/>
              <a:t>‹#›</a:t>
            </a:fld>
            <a:endParaRPr lang="en-US" alt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fld id="{060BA283-8D3A-4F61-8E4E-3BB790F68D52}" type="datetime1">
              <a:rPr lang="zh-CN" altLang="en-US" smtClean="0"/>
              <a:t>2024/9/25</a:t>
            </a:fld>
            <a:endParaRPr lang="en-US" altLang="zh-CN"/>
          </a:p>
        </p:txBody>
      </p:sp>
      <p:sp>
        <p:nvSpPr>
          <p:cNvPr id="3" name="Rectangle 9"/>
          <p:cNvSpPr>
            <a:spLocks noGrp="1" noChangeArrowheads="1"/>
          </p:cNvSpPr>
          <p:nvPr>
            <p:ph type="ftr" sz="quarter" idx="11"/>
          </p:nvPr>
        </p:nvSpPr>
        <p:spPr/>
        <p:txBody>
          <a:bodyPr/>
          <a:lstStyle>
            <a:lvl1pPr>
              <a:defRPr/>
            </a:lvl1pPr>
          </a:lstStyle>
          <a:p>
            <a:pPr>
              <a:defRPr/>
            </a:pPr>
            <a:r>
              <a:rPr lang="zh-CN" altLang="en-US"/>
              <a:t>信息隐藏和数字水印</a:t>
            </a:r>
            <a:endParaRPr lang="en-US" altLang="zh-CN"/>
          </a:p>
        </p:txBody>
      </p:sp>
      <p:sp>
        <p:nvSpPr>
          <p:cNvPr id="4" name="Rectangle 10"/>
          <p:cNvSpPr>
            <a:spLocks noGrp="1" noChangeArrowheads="1"/>
          </p:cNvSpPr>
          <p:nvPr>
            <p:ph type="sldNum" sz="quarter" idx="12"/>
          </p:nvPr>
        </p:nvSpPr>
        <p:spPr/>
        <p:txBody>
          <a:bodyPr/>
          <a:lstStyle>
            <a:lvl1pPr>
              <a:defRPr/>
            </a:lvl1pPr>
          </a:lstStyle>
          <a:p>
            <a:pPr>
              <a:defRPr/>
            </a:pPr>
            <a:fld id="{23FB94C0-2879-4296-9F61-C3AE061BA62A}" type="slidenum">
              <a:rPr lang="en-US" altLang="zh-CN"/>
              <a:t>‹#›</a:t>
            </a:fld>
            <a:endParaRPr lang="en-US" alt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lstStyle>
            <a:lvl1pPr algn="l">
              <a:defRPr sz="2000" b="1"/>
            </a:lvl1pPr>
          </a:lstStyle>
          <a:p>
            <a:r>
              <a:rPr lang="en-US" altLang="zh-CN"/>
              <a:t>Click to edit Master title style</a:t>
            </a:r>
            <a:endParaRPr lang="zh-CN" altLang="en-US"/>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Rectangle 8"/>
          <p:cNvSpPr>
            <a:spLocks noGrp="1" noChangeArrowheads="1"/>
          </p:cNvSpPr>
          <p:nvPr>
            <p:ph type="dt" sz="half" idx="10"/>
          </p:nvPr>
        </p:nvSpPr>
        <p:spPr/>
        <p:txBody>
          <a:bodyPr/>
          <a:lstStyle>
            <a:lvl1pPr>
              <a:defRPr/>
            </a:lvl1pPr>
          </a:lstStyle>
          <a:p>
            <a:pPr>
              <a:defRPr/>
            </a:pPr>
            <a:fld id="{462808B9-0115-40D9-BF3D-97F818EEAC99}" type="datetime1">
              <a:rPr lang="zh-CN" altLang="en-US" smtClean="0"/>
              <a:t>2024/9/25</a:t>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信息隐藏和数字水印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71C91EEF-1267-4C03-9DA4-EEC307902B35}" type="slidenum">
              <a:rPr lang="en-US" altLang="zh-CN"/>
              <a:t>‹#›</a:t>
            </a:fld>
            <a:endParaRPr lang="en-US" alt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Click icon to add picture</a:t>
            </a:r>
            <a:endParaRPr lang="zh-CN" alt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Rectangle 8"/>
          <p:cNvSpPr>
            <a:spLocks noGrp="1" noChangeArrowheads="1"/>
          </p:cNvSpPr>
          <p:nvPr>
            <p:ph type="dt" sz="half" idx="10"/>
          </p:nvPr>
        </p:nvSpPr>
        <p:spPr/>
        <p:txBody>
          <a:bodyPr/>
          <a:lstStyle>
            <a:lvl1pPr>
              <a:defRPr/>
            </a:lvl1pPr>
          </a:lstStyle>
          <a:p>
            <a:pPr>
              <a:defRPr/>
            </a:pPr>
            <a:fld id="{2CD5942F-FA6B-4055-BD95-79D94E0A87D4}" type="datetime1">
              <a:rPr lang="zh-CN" altLang="en-US" smtClean="0"/>
              <a:t>2024/9/25</a:t>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信息隐藏和数字水印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787D89A1-C079-4891-A58B-D278734A018B}" type="slidenum">
              <a:rPr lang="en-US" altLang="zh-CN"/>
              <a:t>‹#›</a:t>
            </a:fld>
            <a:endParaRPr lang="en-US" alt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901BD04A-3712-4053-B02A-469DFA3D3DE6}" type="datetime1">
              <a:rPr lang="zh-CN" altLang="en-US" smtClean="0"/>
              <a:t>2024/9/25</a:t>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信息隐藏和数字水印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462EB96D-2576-4273-A74F-DC5B9857A980}" type="slidenum">
              <a:rPr lang="en-US" altLang="zh-CN"/>
              <a:t>‹#›</a:t>
            </a:fld>
            <a:endParaRPr lang="en-US" alt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96E1C0C8-4E18-446E-8FB7-F3BD04AB5987}" type="datetime1">
              <a:rPr lang="zh-CN" altLang="en-US" smtClean="0"/>
              <a:t>2024/9/25</a:t>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信息隐藏和数字水印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3FADC735-FCD0-4668-826E-7A207AA5E8EB}" type="slidenum">
              <a:rPr lang="en-US" altLang="zh-CN"/>
              <a:t>‹#›</a:t>
            </a:fld>
            <a:endParaRPr lang="en-US" alt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826684" y="301625"/>
            <a:ext cx="9751483" cy="1143000"/>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1826684" y="1827213"/>
            <a:ext cx="9751483" cy="19812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1826684" y="3960813"/>
            <a:ext cx="9751483" cy="19812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3E9EF954-B897-4865-BA2E-32CFA7EF2BE7}" type="datetime1">
              <a:rPr lang="zh-CN" altLang="en-US" smtClean="0"/>
              <a:t>2024/9/25</a:t>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信息隐藏和数字水印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D18630FC-9BEB-4D7E-B911-EDCB3C0EC99D}" type="slidenum">
              <a:rPr lang="en-US" altLang="zh-CN"/>
              <a:t>‹#›</a:t>
            </a:fld>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826684" y="301625"/>
            <a:ext cx="9751483" cy="1143000"/>
          </a:xfrm>
        </p:spPr>
        <p:txBody>
          <a:bodyPr/>
          <a:lstStyle/>
          <a:p>
            <a:r>
              <a:rPr lang="en-US" altLang="zh-CN"/>
              <a:t>Click to edit Master title style</a:t>
            </a:r>
            <a:endParaRPr lang="zh-CN" altLang="en-US"/>
          </a:p>
        </p:txBody>
      </p:sp>
      <p:sp>
        <p:nvSpPr>
          <p:cNvPr id="3" name="Content Placeholder 2"/>
          <p:cNvSpPr>
            <a:spLocks noGrp="1"/>
          </p:cNvSpPr>
          <p:nvPr>
            <p:ph sz="quarter" idx="1"/>
          </p:nvPr>
        </p:nvSpPr>
        <p:spPr>
          <a:xfrm>
            <a:off x="1826684" y="1827213"/>
            <a:ext cx="4773083" cy="19812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quarter" idx="2"/>
          </p:nvPr>
        </p:nvSpPr>
        <p:spPr>
          <a:xfrm>
            <a:off x="6802967" y="1827213"/>
            <a:ext cx="4775200" cy="19812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half" idx="3"/>
          </p:nvPr>
        </p:nvSpPr>
        <p:spPr>
          <a:xfrm>
            <a:off x="1826684" y="3960813"/>
            <a:ext cx="9751483" cy="19812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Rectangle 8"/>
          <p:cNvSpPr>
            <a:spLocks noGrp="1" noChangeArrowheads="1"/>
          </p:cNvSpPr>
          <p:nvPr>
            <p:ph type="dt" sz="half" idx="10"/>
          </p:nvPr>
        </p:nvSpPr>
        <p:spPr/>
        <p:txBody>
          <a:bodyPr/>
          <a:lstStyle>
            <a:lvl1pPr>
              <a:defRPr/>
            </a:lvl1pPr>
          </a:lstStyle>
          <a:p>
            <a:pPr>
              <a:defRPr/>
            </a:pPr>
            <a:fld id="{4FD73A19-86D8-4C15-A1A5-6E6EB63C5D59}" type="datetime1">
              <a:rPr lang="zh-CN" altLang="en-US" smtClean="0"/>
              <a:t>2024/9/25</a:t>
            </a:fld>
            <a:endParaRPr lang="en-US" altLang="zh-CN"/>
          </a:p>
        </p:txBody>
      </p:sp>
      <p:sp>
        <p:nvSpPr>
          <p:cNvPr id="7" name="Rectangle 9"/>
          <p:cNvSpPr>
            <a:spLocks noGrp="1" noChangeArrowheads="1"/>
          </p:cNvSpPr>
          <p:nvPr>
            <p:ph type="ftr" sz="quarter" idx="11"/>
          </p:nvPr>
        </p:nvSpPr>
        <p:spPr/>
        <p:txBody>
          <a:bodyPr/>
          <a:lstStyle>
            <a:lvl1pPr>
              <a:defRPr/>
            </a:lvl1pPr>
          </a:lstStyle>
          <a:p>
            <a:pPr>
              <a:defRPr/>
            </a:pPr>
            <a:r>
              <a:rPr lang="zh-CN" altLang="en-US"/>
              <a:t>信息隐藏和数字水印</a:t>
            </a:r>
            <a:endParaRPr lang="en-US" altLang="zh-CN"/>
          </a:p>
        </p:txBody>
      </p:sp>
      <p:sp>
        <p:nvSpPr>
          <p:cNvPr id="8" name="Rectangle 10"/>
          <p:cNvSpPr>
            <a:spLocks noGrp="1" noChangeArrowheads="1"/>
          </p:cNvSpPr>
          <p:nvPr>
            <p:ph type="sldNum" sz="quarter" idx="12"/>
          </p:nvPr>
        </p:nvSpPr>
        <p:spPr/>
        <p:txBody>
          <a:bodyPr/>
          <a:lstStyle>
            <a:lvl1pPr>
              <a:defRPr/>
            </a:lvl1pPr>
          </a:lstStyle>
          <a:p>
            <a:pPr>
              <a:defRPr/>
            </a:pPr>
            <a:fld id="{B5F3468D-5303-4E5D-8B5D-74F28583DA47}" type="slidenum">
              <a:rPr lang="en-US" altLang="zh-CN"/>
              <a:t>‹#›</a:t>
            </a:fld>
            <a:endParaRPr lang="en-US" altLang="zh-CN"/>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22400" y="304800"/>
            <a:ext cx="10058400" cy="1431925"/>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1422400" y="1981200"/>
            <a:ext cx="4927600" cy="41148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6553200" y="1981200"/>
            <a:ext cx="4927600" cy="411480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256E6ED1-9E1D-4B69-B1AF-9C0C29F11941}" type="datetime1">
              <a:rPr lang="zh-CN" altLang="en-US" smtClean="0"/>
              <a:t>2024/9/25</a:t>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信息隐藏和数字水印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F3597708-D6A7-4D88-B216-B820B60954BE}" type="slidenum">
              <a:rPr lang="en-US" altLang="zh-CN"/>
              <a:t>‹#›</a:t>
            </a:fld>
            <a:endParaRPr lang="en-US" altLang="zh-CN"/>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校徽右上">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60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6"/>
          <p:cNvSpPr>
            <a:spLocks noGrp="1" noChangeArrowheads="1"/>
          </p:cNvSpPr>
          <p:nvPr>
            <p:ph type="title"/>
          </p:nvPr>
        </p:nvSpPr>
        <p:spPr bwMode="auto">
          <a:xfrm>
            <a:off x="1826684" y="301625"/>
            <a:ext cx="975148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028" name="Rectangle 7"/>
          <p:cNvSpPr>
            <a:spLocks noGrp="1" noChangeArrowheads="1"/>
          </p:cNvSpPr>
          <p:nvPr>
            <p:ph type="body" idx="1"/>
          </p:nvPr>
        </p:nvSpPr>
        <p:spPr bwMode="auto">
          <a:xfrm>
            <a:off x="1826684" y="1827213"/>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3976" name="Rectangle 8"/>
          <p:cNvSpPr>
            <a:spLocks noGrp="1" noChangeArrowheads="1"/>
          </p:cNvSpPr>
          <p:nvPr>
            <p:ph type="dt" sz="half" idx="2"/>
          </p:nvPr>
        </p:nvSpPr>
        <p:spPr bwMode="auto">
          <a:xfrm>
            <a:off x="609600" y="6248400"/>
            <a:ext cx="2844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a:defRPr/>
            </a:pPr>
            <a:fld id="{EEF1857B-537E-43D7-99A5-556FC0EE4273}" type="datetime1">
              <a:rPr lang="zh-CN" altLang="en-US" smtClean="0"/>
              <a:t>2024/9/25</a:t>
            </a:fld>
            <a:endParaRPr lang="en-US" altLang="zh-CN"/>
          </a:p>
        </p:txBody>
      </p:sp>
      <p:sp>
        <p:nvSpPr>
          <p:cNvPr id="83977" name="Rectangle 9"/>
          <p:cNvSpPr>
            <a:spLocks noGrp="1" noChangeArrowheads="1"/>
          </p:cNvSpPr>
          <p:nvPr>
            <p:ph type="ftr" sz="quarter" idx="3"/>
          </p:nvPr>
        </p:nvSpPr>
        <p:spPr bwMode="auto">
          <a:xfrm>
            <a:off x="4165600" y="6248400"/>
            <a:ext cx="3860800" cy="457200"/>
          </a:xfrm>
          <a:prstGeom prst="rect">
            <a:avLst/>
          </a:prstGeom>
          <a:noFill/>
          <a:ln w="9525">
            <a:noFill/>
            <a:miter lim="800000"/>
          </a:ln>
          <a:effectLst/>
        </p:spPr>
        <p:txBody>
          <a:bodyPr vert="horz" wrap="square" lIns="91440" tIns="45720" rIns="91440" bIns="45720" numCol="1" anchor="b" anchorCtr="0" compatLnSpc="1"/>
          <a:lstStyle>
            <a:lvl1pPr algn="ctr">
              <a:defRPr sz="1200"/>
            </a:lvl1pPr>
          </a:lstStyle>
          <a:p>
            <a:pPr>
              <a:defRPr/>
            </a:pPr>
            <a:r>
              <a:rPr lang="zh-CN" altLang="en-US"/>
              <a:t>信息隐藏和数字水印</a:t>
            </a:r>
            <a:endParaRPr lang="en-US" altLang="zh-CN"/>
          </a:p>
        </p:txBody>
      </p:sp>
      <p:sp>
        <p:nvSpPr>
          <p:cNvPr id="83978" name="Rectangle 10"/>
          <p:cNvSpPr>
            <a:spLocks noGrp="1" noChangeArrowheads="1"/>
          </p:cNvSpPr>
          <p:nvPr>
            <p:ph type="sldNum" sz="quarter" idx="4"/>
          </p:nvPr>
        </p:nvSpPr>
        <p:spPr bwMode="auto">
          <a:xfrm>
            <a:off x="8737600" y="6248400"/>
            <a:ext cx="2844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pPr>
              <a:defRPr/>
            </a:pPr>
            <a:fld id="{27CB5DD5-B607-4403-B83F-82C52E6D2D55}"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3" Type="http://schemas.openxmlformats.org/officeDocument/2006/relationships/tags" Target="../tags/tag4.xml"/><Relationship Id="rId21" Type="http://schemas.openxmlformats.org/officeDocument/2006/relationships/slideLayout" Target="../slideLayouts/slideLayout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image" Target="../media/image5.jpeg"/><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image" Target="../media/image4.svg"/><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image" Target="../media/image3.png"/><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tags" Target="../tags/tag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image" Target="../media/image6.png"/><Relationship Id="rId7"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8.wmf"/><Relationship Id="rId5" Type="http://schemas.openxmlformats.org/officeDocument/2006/relationships/oleObject" Target="../embeddings/oleObject1.bin"/><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6.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wmf"/></Relationships>
</file>

<file path=ppt/slides/_rels/slide26.xml.rels><?xml version="1.0" encoding="UTF-8" standalone="yes"?>
<Relationships xmlns="http://schemas.openxmlformats.org/package/2006/relationships"><Relationship Id="rId3" Type="http://schemas.openxmlformats.org/officeDocument/2006/relationships/hyperlink" Target="../&#35821;&#38899;&#23458;&#35266;&#35780;&#20272;&#25351;&#26631;.doc"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28.wmf"/><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5.wmf"/><Relationship Id="rId11" Type="http://schemas.openxmlformats.org/officeDocument/2006/relationships/oleObject" Target="../embeddings/oleObject8.bin"/><Relationship Id="rId5" Type="http://schemas.openxmlformats.org/officeDocument/2006/relationships/oleObject" Target="../embeddings/oleObject5.bin"/><Relationship Id="rId10" Type="http://schemas.openxmlformats.org/officeDocument/2006/relationships/image" Target="../media/image27.wmf"/><Relationship Id="rId4" Type="http://schemas.openxmlformats.org/officeDocument/2006/relationships/image" Target="../media/image24.wmf"/><Relationship Id="rId9" Type="http://schemas.openxmlformats.org/officeDocument/2006/relationships/oleObject" Target="../embeddings/oleObject7.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5.xml"/><Relationship Id="rId1" Type="http://schemas.openxmlformats.org/officeDocument/2006/relationships/tags" Target="../tags/tag2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2.wmf"/></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60.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rotWithShape="1">
          <a:blip r:embed="rId3" cstate="print">
            <a:extLst>
              <a:ext uri="{BEBA8EAE-BF5A-486C-A8C5-ECC9F3942E4B}">
                <a14:imgProps xmlns:a14="http://schemas.microsoft.com/office/drawing/2010/main">
                  <a14:imgLayer r:embed="rId4">
                    <a14:imgEffect>
                      <a14:artisticWatercolorSponge/>
                    </a14:imgEffect>
                  </a14:imgLayer>
                </a14:imgProps>
              </a:ext>
              <a:ext uri="{28A0092B-C50C-407E-A947-70E740481C1C}">
                <a14:useLocalDpi xmlns:a14="http://schemas.microsoft.com/office/drawing/2010/main" val="0"/>
              </a:ext>
            </a:extLst>
          </a:blip>
          <a:srcRect t="4982" r="14708" b="10728"/>
          <a:stretch>
            <a:fillRect/>
          </a:stretch>
        </p:blipFill>
        <p:spPr>
          <a:xfrm>
            <a:off x="1793132" y="1"/>
            <a:ext cx="10398868" cy="6857999"/>
          </a:xfrm>
          <a:prstGeom prst="rect">
            <a:avLst/>
          </a:prstGeom>
        </p:spPr>
      </p:pic>
      <p:sp>
        <p:nvSpPr>
          <p:cNvPr id="28" name="矩形 27"/>
          <p:cNvSpPr/>
          <p:nvPr/>
        </p:nvSpPr>
        <p:spPr>
          <a:xfrm>
            <a:off x="1" y="0"/>
            <a:ext cx="6524428" cy="6858000"/>
          </a:xfrm>
          <a:prstGeom prst="rect">
            <a:avLst/>
          </a:prstGeom>
          <a:solidFill>
            <a:srgbClr val="0033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平行四边形 45"/>
          <p:cNvSpPr/>
          <p:nvPr/>
        </p:nvSpPr>
        <p:spPr>
          <a:xfrm>
            <a:off x="3829260" y="-1"/>
            <a:ext cx="5496125" cy="6857999"/>
          </a:xfrm>
          <a:prstGeom prst="parallelogram">
            <a:avLst>
              <a:gd name="adj" fmla="val 48894"/>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7" name="组合 46"/>
          <p:cNvGrpSpPr/>
          <p:nvPr/>
        </p:nvGrpSpPr>
        <p:grpSpPr>
          <a:xfrm>
            <a:off x="7088833" y="2515197"/>
            <a:ext cx="2198451" cy="2198451"/>
            <a:chOff x="5437761" y="2329774"/>
            <a:chExt cx="2198451" cy="2198451"/>
          </a:xfrm>
        </p:grpSpPr>
        <p:sp>
          <p:nvSpPr>
            <p:cNvPr id="30" name="椭圆 29"/>
            <p:cNvSpPr/>
            <p:nvPr/>
          </p:nvSpPr>
          <p:spPr>
            <a:xfrm>
              <a:off x="5437761" y="2329774"/>
              <a:ext cx="2198451" cy="2198451"/>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25307" y="2417320"/>
              <a:ext cx="2023358" cy="2023358"/>
            </a:xfrm>
            <a:prstGeom prst="rect">
              <a:avLst/>
            </a:prstGeom>
          </p:spPr>
        </p:pic>
      </p:grpSp>
      <p:sp>
        <p:nvSpPr>
          <p:cNvPr id="33" name="文本框 32"/>
          <p:cNvSpPr txBox="1"/>
          <p:nvPr/>
        </p:nvSpPr>
        <p:spPr>
          <a:xfrm>
            <a:off x="1080135" y="2204720"/>
            <a:ext cx="5761990" cy="1198880"/>
          </a:xfrm>
          <a:prstGeom prst="rect">
            <a:avLst/>
          </a:prstGeom>
          <a:noFill/>
        </p:spPr>
        <p:txBody>
          <a:bodyPr wrap="square" rtlCol="0">
            <a:spAutoFit/>
          </a:bodyPr>
          <a:lstStyle/>
          <a:p>
            <a:r>
              <a:rPr lang="zh-CN" altLang="en-US" sz="7200" dirty="0">
                <a:solidFill>
                  <a:schemeClr val="bg1"/>
                </a:solidFill>
                <a:latin typeface="楷体" panose="02010609060101010101" pitchFamily="49" charset="-122"/>
                <a:ea typeface="楷体" panose="02010609060101010101" pitchFamily="49" charset="-122"/>
              </a:rPr>
              <a:t>基础知识</a:t>
            </a:r>
          </a:p>
        </p:txBody>
      </p:sp>
      <p:cxnSp>
        <p:nvCxnSpPr>
          <p:cNvPr id="35" name="直接连接符 34"/>
          <p:cNvCxnSpPr/>
          <p:nvPr/>
        </p:nvCxnSpPr>
        <p:spPr>
          <a:xfrm flipV="1">
            <a:off x="745453" y="1595814"/>
            <a:ext cx="0" cy="2495144"/>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1066634" y="4390073"/>
            <a:ext cx="5484194" cy="2145203"/>
          </a:xfrm>
          <a:prstGeom prst="rect">
            <a:avLst/>
          </a:prstGeom>
          <a:noFill/>
        </p:spPr>
        <p:txBody>
          <a:bodyPr wrap="none" rtlCol="0">
            <a:spAutoFit/>
          </a:bodyPr>
          <a:lstStyle>
            <a:defPPr>
              <a:defRPr lang="zh-CN"/>
            </a:defPPr>
            <a:lvl1pPr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1pPr>
            <a:lvl2pPr marL="4572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2pPr>
            <a:lvl3pPr marL="9144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3pPr>
            <a:lvl4pPr marL="13716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4pPr>
            <a:lvl5pPr marL="1828800" algn="l" rtl="0" fontAlgn="base">
              <a:spcBef>
                <a:spcPct val="0"/>
              </a:spcBef>
              <a:spcAft>
                <a:spcPct val="0"/>
              </a:spcAft>
              <a:defRPr kern="1200">
                <a:solidFill>
                  <a:srgbClr val="000000"/>
                </a:solidFill>
                <a:latin typeface="Verdana" panose="020B0604030504040204" pitchFamily="34" charset="0"/>
                <a:ea typeface="宋体" panose="02010600030101010101" pitchFamily="2" charset="-122"/>
                <a:cs typeface="+mn-ea"/>
              </a:defRPr>
            </a:lvl5pPr>
            <a:lvl6pPr marL="22860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6pPr>
            <a:lvl7pPr marL="27432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7pPr>
            <a:lvl8pPr marL="32004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8pPr>
            <a:lvl9pPr marL="3657600" algn="l" defTabSz="914400" rtl="0" eaLnBrk="1" latinLnBrk="0" hangingPunct="1">
              <a:defRPr kern="1200">
                <a:solidFill>
                  <a:srgbClr val="000000"/>
                </a:solidFill>
                <a:latin typeface="Verdana" panose="020B0604030504040204" pitchFamily="34" charset="0"/>
                <a:ea typeface="宋体" panose="02010600030101010101" pitchFamily="2" charset="-122"/>
                <a:cs typeface="+mn-ea"/>
              </a:defRPr>
            </a:lvl9pPr>
          </a:lstStyle>
          <a:p>
            <a:pPr algn="ctr">
              <a:spcBef>
                <a:spcPct val="20000"/>
              </a:spcBef>
              <a:buClr>
                <a:srgbClr val="006666"/>
              </a:buClr>
              <a:buSzPct val="70000"/>
              <a:buFont typeface="Wingdings" panose="05000000000000000000" pitchFamily="2" charset="2"/>
            </a:pPr>
            <a:r>
              <a:rPr lang="zh-CN" altLang="en-US" sz="2900" dirty="0">
                <a:solidFill>
                  <a:srgbClr val="FFFFFF"/>
                </a:solidFill>
                <a:latin typeface="Times New Roman" panose="02020603050405020304" pitchFamily="18" charset="0"/>
                <a:ea typeface="华文楷体" panose="02010600040101010101" charset="-122"/>
                <a:sym typeface="华文楷体" panose="02010600040101010101" charset="-122"/>
              </a:rPr>
              <a:t>雷敏 尤玮珂</a:t>
            </a:r>
            <a:endParaRPr lang="zh-CN" altLang="en-US" dirty="0">
              <a:solidFill>
                <a:srgbClr val="FFFFFF"/>
              </a:solidFill>
            </a:endParaRPr>
          </a:p>
          <a:p>
            <a:pPr algn="ctr">
              <a:spcBef>
                <a:spcPct val="20000"/>
              </a:spcBef>
              <a:buClr>
                <a:srgbClr val="006666"/>
              </a:buClr>
              <a:buSzPct val="70000"/>
              <a:buFont typeface="Wingdings" panose="05000000000000000000" pitchFamily="2" charset="2"/>
            </a:pPr>
            <a:r>
              <a:rPr lang="zh-CN" altLang="en-US" sz="2900" dirty="0">
                <a:solidFill>
                  <a:srgbClr val="FFFFFF"/>
                </a:solidFill>
                <a:latin typeface="Times New Roman" panose="02020603050405020304" pitchFamily="18" charset="0"/>
                <a:ea typeface="华文楷体" panose="02010600040101010101" charset="-122"/>
                <a:sym typeface="华文楷体" panose="02010600040101010101" charset="-122"/>
              </a:rPr>
              <a:t>北京邮电大学 网络空间安全学院</a:t>
            </a:r>
            <a:endParaRPr lang="zh-CN" altLang="en-US" dirty="0">
              <a:solidFill>
                <a:srgbClr val="FFFFFF"/>
              </a:solidFill>
            </a:endParaRPr>
          </a:p>
          <a:p>
            <a:pPr algn="ctr">
              <a:spcBef>
                <a:spcPct val="20000"/>
              </a:spcBef>
              <a:buClr>
                <a:srgbClr val="006666"/>
              </a:buClr>
              <a:buSzPct val="70000"/>
              <a:buFont typeface="Wingdings" panose="05000000000000000000" pitchFamily="2" charset="2"/>
            </a:pPr>
            <a:r>
              <a:rPr lang="en-US" altLang="zh-CN" sz="2900" dirty="0">
                <a:solidFill>
                  <a:srgbClr val="FFFFFF"/>
                </a:solidFill>
                <a:latin typeface="Times New Roman" panose="02020603050405020304" pitchFamily="18" charset="0"/>
                <a:ea typeface="华文楷体" panose="02010600040101010101" charset="-122"/>
                <a:sym typeface="华文楷体" panose="02010600040101010101" charset="-122"/>
              </a:rPr>
              <a:t>leimin@bupt.edu.cn</a:t>
            </a:r>
          </a:p>
          <a:p>
            <a:pPr algn="ctr">
              <a:spcBef>
                <a:spcPct val="20000"/>
              </a:spcBef>
              <a:buClr>
                <a:srgbClr val="006666"/>
              </a:buClr>
              <a:buSzPct val="70000"/>
              <a:buFont typeface="Wingdings" panose="05000000000000000000" pitchFamily="2" charset="2"/>
            </a:pPr>
            <a:r>
              <a:rPr lang="en-US" altLang="zh-CN" sz="2900" dirty="0">
                <a:solidFill>
                  <a:srgbClr val="FFFFFF"/>
                </a:solidFill>
                <a:latin typeface="Times New Roman" panose="02020603050405020304" pitchFamily="18" charset="0"/>
                <a:ea typeface="华文楷体" panose="02010600040101010101" charset="-122"/>
                <a:sym typeface="华文楷体" panose="02010600040101010101" charset="-122"/>
              </a:rPr>
              <a:t>ywk@bupt.edu.cn</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6935816" y="-663036"/>
            <a:ext cx="5680997" cy="8189088"/>
            <a:chOff x="6922851" y="0"/>
            <a:chExt cx="5269149" cy="6858000"/>
          </a:xfrm>
          <a:solidFill>
            <a:srgbClr val="003399"/>
          </a:solidFill>
        </p:grpSpPr>
        <p:sp>
          <p:nvSpPr>
            <p:cNvPr id="8" name="椭圆 7"/>
            <p:cNvSpPr/>
            <p:nvPr/>
          </p:nvSpPr>
          <p:spPr>
            <a:xfrm>
              <a:off x="6922851" y="0"/>
              <a:ext cx="4030494" cy="685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949447" y="0"/>
              <a:ext cx="3242553"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形 2" descr="太阳系"/>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2069272" y="1621197"/>
            <a:ext cx="6154721" cy="6154721"/>
          </a:xfrm>
          <a:prstGeom prst="rect">
            <a:avLst/>
          </a:prstGeom>
        </p:spPr>
      </p:pic>
      <p:grpSp>
        <p:nvGrpSpPr>
          <p:cNvPr id="44" name="组合 43"/>
          <p:cNvGrpSpPr/>
          <p:nvPr>
            <p:custDataLst>
              <p:tags r:id="rId1"/>
            </p:custDataLst>
          </p:nvPr>
        </p:nvGrpSpPr>
        <p:grpSpPr>
          <a:xfrm>
            <a:off x="584296" y="1301592"/>
            <a:ext cx="7192010" cy="769161"/>
            <a:chOff x="2424136" y="1811320"/>
            <a:chExt cx="7192010" cy="769161"/>
          </a:xfrm>
        </p:grpSpPr>
        <p:grpSp>
          <p:nvGrpSpPr>
            <p:cNvPr id="24" name="组合 23"/>
            <p:cNvGrpSpPr/>
            <p:nvPr/>
          </p:nvGrpSpPr>
          <p:grpSpPr>
            <a:xfrm>
              <a:off x="2424136" y="1811320"/>
              <a:ext cx="6779902" cy="769161"/>
              <a:chOff x="2629986" y="1459214"/>
              <a:chExt cx="8597473" cy="975360"/>
            </a:xfrm>
          </p:grpSpPr>
          <p:grpSp>
            <p:nvGrpSpPr>
              <p:cNvPr id="13" name="组合 12"/>
              <p:cNvGrpSpPr/>
              <p:nvPr/>
            </p:nvGrpSpPr>
            <p:grpSpPr>
              <a:xfrm>
                <a:off x="2629986" y="1459214"/>
                <a:ext cx="8597473" cy="975360"/>
                <a:chOff x="1166287" y="1249680"/>
                <a:chExt cx="8597473" cy="975360"/>
              </a:xfrm>
              <a:solidFill>
                <a:srgbClr val="003399"/>
              </a:solidFill>
            </p:grpSpPr>
            <p:sp>
              <p:nvSpPr>
                <p:cNvPr id="11" name="椭圆 10"/>
                <p:cNvSpPr/>
                <p:nvPr>
                  <p:custDataLst>
                    <p:tags r:id="rId19"/>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custDataLst>
                    <p:tags r:id="rId20"/>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椭圆 22"/>
              <p:cNvSpPr/>
              <p:nvPr>
                <p:custDataLst>
                  <p:tags r:id="rId18"/>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1</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40" name="文本框 39"/>
            <p:cNvSpPr txBox="1"/>
            <p:nvPr>
              <p:custDataLst>
                <p:tags r:id="rId17"/>
              </p:custDataLst>
            </p:nvPr>
          </p:nvSpPr>
          <p:spPr>
            <a:xfrm>
              <a:off x="3038816" y="1850690"/>
              <a:ext cx="6577330" cy="645160"/>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人类听觉特点和语音质量评价</a:t>
              </a:r>
            </a:p>
          </p:txBody>
        </p:sp>
      </p:grpSp>
      <p:grpSp>
        <p:nvGrpSpPr>
          <p:cNvPr id="45" name="组合 44"/>
          <p:cNvGrpSpPr/>
          <p:nvPr>
            <p:custDataLst>
              <p:tags r:id="rId2"/>
            </p:custDataLst>
          </p:nvPr>
        </p:nvGrpSpPr>
        <p:grpSpPr>
          <a:xfrm>
            <a:off x="584296" y="2553535"/>
            <a:ext cx="7364730" cy="769161"/>
            <a:chOff x="2424136" y="1811320"/>
            <a:chExt cx="7364730" cy="769161"/>
          </a:xfrm>
        </p:grpSpPr>
        <p:grpSp>
          <p:nvGrpSpPr>
            <p:cNvPr id="46" name="组合 45"/>
            <p:cNvGrpSpPr/>
            <p:nvPr/>
          </p:nvGrpSpPr>
          <p:grpSpPr>
            <a:xfrm>
              <a:off x="2424136" y="1811320"/>
              <a:ext cx="6779902" cy="769161"/>
              <a:chOff x="2629986" y="1459214"/>
              <a:chExt cx="8597473" cy="975360"/>
            </a:xfrm>
          </p:grpSpPr>
          <p:grpSp>
            <p:nvGrpSpPr>
              <p:cNvPr id="48" name="组合 47"/>
              <p:cNvGrpSpPr/>
              <p:nvPr/>
            </p:nvGrpSpPr>
            <p:grpSpPr>
              <a:xfrm>
                <a:off x="2629986" y="1459214"/>
                <a:ext cx="8597473" cy="975360"/>
                <a:chOff x="1166287" y="1249680"/>
                <a:chExt cx="8597473" cy="975360"/>
              </a:xfrm>
              <a:solidFill>
                <a:srgbClr val="003399"/>
              </a:solidFill>
            </p:grpSpPr>
            <p:sp>
              <p:nvSpPr>
                <p:cNvPr id="50" name="椭圆 49"/>
                <p:cNvSpPr/>
                <p:nvPr>
                  <p:custDataLst>
                    <p:tags r:id="rId15"/>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custDataLst>
                    <p:tags r:id="rId16"/>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椭圆 48"/>
              <p:cNvSpPr/>
              <p:nvPr>
                <p:custDataLst>
                  <p:tags r:id="rId14"/>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2</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47" name="文本框 46"/>
            <p:cNvSpPr txBox="1"/>
            <p:nvPr>
              <p:custDataLst>
                <p:tags r:id="rId13"/>
              </p:custDataLst>
            </p:nvPr>
          </p:nvSpPr>
          <p:spPr>
            <a:xfrm>
              <a:off x="3038816" y="1890695"/>
              <a:ext cx="6750050" cy="645160"/>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人类视觉特点与图像质量评价</a:t>
              </a:r>
            </a:p>
          </p:txBody>
        </p:sp>
      </p:grpSp>
      <p:grpSp>
        <p:nvGrpSpPr>
          <p:cNvPr id="59" name="组合 58"/>
          <p:cNvGrpSpPr/>
          <p:nvPr>
            <p:custDataLst>
              <p:tags r:id="rId3"/>
            </p:custDataLst>
          </p:nvPr>
        </p:nvGrpSpPr>
        <p:grpSpPr>
          <a:xfrm>
            <a:off x="584296" y="5036233"/>
            <a:ext cx="6779902" cy="769161"/>
            <a:chOff x="2424136" y="1811320"/>
            <a:chExt cx="6779902" cy="769161"/>
          </a:xfrm>
        </p:grpSpPr>
        <p:grpSp>
          <p:nvGrpSpPr>
            <p:cNvPr id="60" name="组合 59"/>
            <p:cNvGrpSpPr/>
            <p:nvPr/>
          </p:nvGrpSpPr>
          <p:grpSpPr>
            <a:xfrm>
              <a:off x="2424136" y="1811320"/>
              <a:ext cx="6779902" cy="769161"/>
              <a:chOff x="2629986" y="1459214"/>
              <a:chExt cx="8597473" cy="975360"/>
            </a:xfrm>
          </p:grpSpPr>
          <p:grpSp>
            <p:nvGrpSpPr>
              <p:cNvPr id="62" name="组合 61"/>
              <p:cNvGrpSpPr/>
              <p:nvPr/>
            </p:nvGrpSpPr>
            <p:grpSpPr>
              <a:xfrm>
                <a:off x="2629986" y="1459214"/>
                <a:ext cx="8597473" cy="975360"/>
                <a:chOff x="1166287" y="1249680"/>
                <a:chExt cx="8597473" cy="975360"/>
              </a:xfrm>
              <a:solidFill>
                <a:srgbClr val="003399"/>
              </a:solidFill>
            </p:grpSpPr>
            <p:sp>
              <p:nvSpPr>
                <p:cNvPr id="64" name="椭圆 63"/>
                <p:cNvSpPr/>
                <p:nvPr>
                  <p:custDataLst>
                    <p:tags r:id="rId11"/>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custDataLst>
                    <p:tags r:id="rId12"/>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椭圆 62"/>
              <p:cNvSpPr/>
              <p:nvPr>
                <p:custDataLst>
                  <p:tags r:id="rId10"/>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4</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61" name="文本框 60"/>
            <p:cNvSpPr txBox="1"/>
            <p:nvPr>
              <p:custDataLst>
                <p:tags r:id="rId9"/>
              </p:custDataLst>
            </p:nvPr>
          </p:nvSpPr>
          <p:spPr>
            <a:xfrm>
              <a:off x="3193281" y="1860980"/>
              <a:ext cx="2590800" cy="645160"/>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课后习题</a:t>
              </a:r>
            </a:p>
          </p:txBody>
        </p:sp>
      </p:grpSp>
      <p:grpSp>
        <p:nvGrpSpPr>
          <p:cNvPr id="6" name="组合 5"/>
          <p:cNvGrpSpPr/>
          <p:nvPr/>
        </p:nvGrpSpPr>
        <p:grpSpPr>
          <a:xfrm>
            <a:off x="7744444" y="0"/>
            <a:ext cx="4447556" cy="6858000"/>
            <a:chOff x="6922851" y="0"/>
            <a:chExt cx="5269149" cy="6858000"/>
          </a:xfrm>
          <a:blipFill dpi="0" rotWithShape="1">
            <a:blip r:embed="rId25">
              <a:extLst>
                <a:ext uri="{28A0092B-C50C-407E-A947-70E740481C1C}">
                  <a14:useLocalDpi xmlns:a14="http://schemas.microsoft.com/office/drawing/2010/main" val="0"/>
                </a:ext>
              </a:extLst>
            </a:blip>
            <a:srcRect/>
            <a:stretch>
              <a:fillRect l="-50000" r="-50000"/>
            </a:stretch>
          </a:blipFill>
        </p:grpSpPr>
        <p:sp>
          <p:nvSpPr>
            <p:cNvPr id="4" name="椭圆 3"/>
            <p:cNvSpPr/>
            <p:nvPr/>
          </p:nvSpPr>
          <p:spPr>
            <a:xfrm>
              <a:off x="6922851" y="0"/>
              <a:ext cx="4030494" cy="685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8949447" y="0"/>
              <a:ext cx="3242553"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8" name="文本框 67"/>
          <p:cNvSpPr txBox="1"/>
          <p:nvPr/>
        </p:nvSpPr>
        <p:spPr>
          <a:xfrm flipH="1">
            <a:off x="938039" y="166642"/>
            <a:ext cx="1998316" cy="707886"/>
          </a:xfrm>
          <a:prstGeom prst="rect">
            <a:avLst/>
          </a:prstGeom>
          <a:noFill/>
        </p:spPr>
        <p:txBody>
          <a:bodyPr wrap="square" rtlCol="0">
            <a:spAutoFit/>
          </a:bodyPr>
          <a:lstStyle/>
          <a:p>
            <a:r>
              <a:rPr lang="zh-CN" altLang="en-US" sz="4000" dirty="0">
                <a:solidFill>
                  <a:srgbClr val="003399"/>
                </a:solidFill>
                <a:latin typeface="黑体" panose="02010609060101010101" pitchFamily="49" charset="-122"/>
                <a:ea typeface="黑体" panose="02010609060101010101" pitchFamily="49" charset="-122"/>
              </a:rPr>
              <a:t>目录</a:t>
            </a:r>
          </a:p>
        </p:txBody>
      </p:sp>
      <p:grpSp>
        <p:nvGrpSpPr>
          <p:cNvPr id="82" name="组合 81"/>
          <p:cNvGrpSpPr/>
          <p:nvPr/>
        </p:nvGrpSpPr>
        <p:grpSpPr>
          <a:xfrm>
            <a:off x="320172" y="274706"/>
            <a:ext cx="540000" cy="540000"/>
            <a:chOff x="328496" y="364706"/>
            <a:chExt cx="540000" cy="540000"/>
          </a:xfrm>
        </p:grpSpPr>
        <p:sp>
          <p:nvSpPr>
            <p:cNvPr id="80" name="矩形 79"/>
            <p:cNvSpPr/>
            <p:nvPr/>
          </p:nvSpPr>
          <p:spPr>
            <a:xfrm>
              <a:off x="508496" y="544706"/>
              <a:ext cx="360000" cy="360000"/>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328496" y="364706"/>
              <a:ext cx="180000" cy="180000"/>
            </a:xfrm>
            <a:prstGeom prst="rect">
              <a:avLst/>
            </a:prstGeom>
            <a:solidFill>
              <a:srgbClr val="0033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custDataLst>
              <p:tags r:id="rId4"/>
            </p:custDataLst>
          </p:nvPr>
        </p:nvGrpSpPr>
        <p:grpSpPr>
          <a:xfrm>
            <a:off x="584296" y="3808725"/>
            <a:ext cx="6779902" cy="769161"/>
            <a:chOff x="2424136" y="1811320"/>
            <a:chExt cx="6779902" cy="769161"/>
          </a:xfrm>
        </p:grpSpPr>
        <p:grpSp>
          <p:nvGrpSpPr>
            <p:cNvPr id="10" name="组合 9"/>
            <p:cNvGrpSpPr/>
            <p:nvPr/>
          </p:nvGrpSpPr>
          <p:grpSpPr>
            <a:xfrm>
              <a:off x="2424136" y="1811320"/>
              <a:ext cx="6779902" cy="769161"/>
              <a:chOff x="2629986" y="1459214"/>
              <a:chExt cx="8597473" cy="975360"/>
            </a:xfrm>
          </p:grpSpPr>
          <p:grpSp>
            <p:nvGrpSpPr>
              <p:cNvPr id="15" name="组合 14"/>
              <p:cNvGrpSpPr/>
              <p:nvPr/>
            </p:nvGrpSpPr>
            <p:grpSpPr>
              <a:xfrm>
                <a:off x="2629986" y="1459214"/>
                <a:ext cx="8597473" cy="975360"/>
                <a:chOff x="1166287" y="1249680"/>
                <a:chExt cx="8597473" cy="975360"/>
              </a:xfrm>
              <a:solidFill>
                <a:srgbClr val="003399"/>
              </a:solidFill>
            </p:grpSpPr>
            <p:sp>
              <p:nvSpPr>
                <p:cNvPr id="18" name="矩形 17"/>
                <p:cNvSpPr/>
                <p:nvPr>
                  <p:custDataLst>
                    <p:tags r:id="rId7"/>
                  </p:custDataLst>
                </p:nvPr>
              </p:nvSpPr>
              <p:spPr>
                <a:xfrm>
                  <a:off x="1651545" y="1249680"/>
                  <a:ext cx="8112215" cy="9753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custDataLst>
                    <p:tags r:id="rId8"/>
                  </p:custDataLst>
                </p:nvPr>
              </p:nvSpPr>
              <p:spPr>
                <a:xfrm>
                  <a:off x="1166287" y="1249680"/>
                  <a:ext cx="975360" cy="97536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椭圆 15"/>
              <p:cNvSpPr/>
              <p:nvPr>
                <p:custDataLst>
                  <p:tags r:id="rId6"/>
                </p:custDataLst>
              </p:nvPr>
            </p:nvSpPr>
            <p:spPr>
              <a:xfrm>
                <a:off x="2754944" y="1562181"/>
                <a:ext cx="769426" cy="769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400" dirty="0">
                    <a:solidFill>
                      <a:srgbClr val="003399"/>
                    </a:solidFill>
                    <a:latin typeface="Arial Black" panose="020B0A04020102020204" pitchFamily="34" charset="0"/>
                    <a:ea typeface="黑体" panose="02010609060101010101" pitchFamily="49" charset="-122"/>
                  </a:rPr>
                  <a:t>3</a:t>
                </a:r>
                <a:endParaRPr lang="zh-CN" altLang="en-US" sz="4400" dirty="0">
                  <a:solidFill>
                    <a:srgbClr val="003399"/>
                  </a:solidFill>
                  <a:latin typeface="Arial Black" panose="020B0A04020102020204" pitchFamily="34" charset="0"/>
                  <a:ea typeface="黑体" panose="02010609060101010101" pitchFamily="49" charset="-122"/>
                </a:endParaRPr>
              </a:p>
            </p:txBody>
          </p:sp>
        </p:grpSp>
        <p:sp>
          <p:nvSpPr>
            <p:cNvPr id="14" name="文本框 13"/>
            <p:cNvSpPr txBox="1"/>
            <p:nvPr>
              <p:custDataLst>
                <p:tags r:id="rId5"/>
              </p:custDataLst>
            </p:nvPr>
          </p:nvSpPr>
          <p:spPr>
            <a:xfrm>
              <a:off x="3192925" y="1859454"/>
              <a:ext cx="4791920" cy="645160"/>
            </a:xfrm>
            <a:prstGeom prst="rect">
              <a:avLst/>
            </a:prstGeom>
            <a:noFill/>
          </p:spPr>
          <p:txBody>
            <a:bodyPr wrap="square" rtlCol="0">
              <a:spAutoFit/>
            </a:bodyPr>
            <a:lstStyle/>
            <a:p>
              <a:r>
                <a:rPr lang="zh-CN" altLang="en-US" sz="3600" dirty="0">
                  <a:solidFill>
                    <a:schemeClr val="bg1"/>
                  </a:solidFill>
                  <a:latin typeface="黑体" panose="02010609060101010101" pitchFamily="49" charset="-122"/>
                  <a:ea typeface="黑体" panose="02010609060101010101" pitchFamily="49" charset="-122"/>
                </a:rPr>
                <a:t>本章小结</a:t>
              </a:r>
            </a:p>
          </p:txBody>
        </p:sp>
      </p:gr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人类听觉特点和语音质量评价</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
        <p:nvSpPr>
          <p:cNvPr id="11" name="文本框 10"/>
          <p:cNvSpPr txBox="1"/>
          <p:nvPr/>
        </p:nvSpPr>
        <p:spPr>
          <a:xfrm>
            <a:off x="995680" y="1772920"/>
            <a:ext cx="7063740" cy="3046095"/>
          </a:xfrm>
          <a:prstGeom prst="rect">
            <a:avLst/>
          </a:prstGeom>
        </p:spPr>
        <p:txBody>
          <a:bodyPr wrap="square">
            <a:spAutoFit/>
          </a:bodyPr>
          <a:lstStyle/>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语音产生的过程</a:t>
            </a: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语音信号产生的数字模型</a:t>
            </a: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常用语音信号变换</a:t>
            </a: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听觉系统和语音感知	</a:t>
            </a: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语音的质量评价</a:t>
            </a: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	实践案例二：音频信号处理基础</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语音产生的过程</a:t>
            </a: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8"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
        <p:nvSpPr>
          <p:cNvPr id="2" name="文本框 1"/>
          <p:cNvSpPr txBox="1"/>
          <p:nvPr/>
        </p:nvSpPr>
        <p:spPr>
          <a:xfrm>
            <a:off x="1919605" y="1988820"/>
            <a:ext cx="7918450" cy="1996440"/>
          </a:xfrm>
          <a:prstGeom prst="rect">
            <a:avLst/>
          </a:prstGeom>
        </p:spPr>
        <p:txBody>
          <a:bodyPr wrap="square">
            <a:spAutoFit/>
          </a:bodyPr>
          <a:lstStyle/>
          <a:p>
            <a:pPr marL="342900" indent="-342900" algn="l" eaLnBrk="0" hangingPunct="0">
              <a:lnSpc>
                <a:spcPct val="100000"/>
              </a:lnSpc>
              <a:spcBef>
                <a:spcPct val="20000"/>
              </a:spcBef>
              <a:buClr>
                <a:schemeClr val="tx2"/>
              </a:buClr>
              <a:buSzPct val="70000"/>
              <a:buFont typeface="Wingdings" panose="05000000000000000000" pitchFamily="2" charset="2"/>
              <a:buChar char="¡"/>
            </a:pPr>
            <a:r>
              <a:rPr lang="zh-CN" altLang="en-US" sz="2900" kern="0" dirty="0">
                <a:latin typeface="+mn-lt"/>
                <a:ea typeface="+mn-ea"/>
              </a:rPr>
              <a:t>第一步：决定想传达给对方的内容是什么。</a:t>
            </a:r>
          </a:p>
          <a:p>
            <a:pPr marL="342900" indent="-342900" algn="l" eaLnBrk="0" hangingPunct="0">
              <a:lnSpc>
                <a:spcPct val="100000"/>
              </a:lnSpc>
              <a:spcBef>
                <a:spcPct val="20000"/>
              </a:spcBef>
              <a:buClr>
                <a:schemeClr val="tx2"/>
              </a:buClr>
              <a:buSzPct val="70000"/>
              <a:buFont typeface="Wingdings" panose="05000000000000000000" pitchFamily="2" charset="2"/>
              <a:buChar char="¡"/>
            </a:pPr>
            <a:r>
              <a:rPr lang="zh-CN" altLang="en-US" sz="2900" kern="0" dirty="0">
                <a:latin typeface="+mn-lt"/>
                <a:ea typeface="+mn-ea"/>
              </a:rPr>
              <a:t>第二步：将内容转化成语言的形式。</a:t>
            </a:r>
          </a:p>
          <a:p>
            <a:pPr marL="742950" lvl="1" indent="-285750" algn="l" eaLnBrk="0" hangingPunct="0">
              <a:lnSpc>
                <a:spcPct val="100000"/>
              </a:lnSpc>
              <a:spcBef>
                <a:spcPct val="20000"/>
              </a:spcBef>
              <a:buClr>
                <a:schemeClr val="accent2"/>
              </a:buClr>
              <a:buSzPct val="70000"/>
              <a:buFont typeface="Wingdings" panose="05000000000000000000" pitchFamily="2" charset="2"/>
              <a:buChar char="l"/>
            </a:pPr>
            <a:r>
              <a:rPr lang="en-US" altLang="zh-CN" sz="2500" kern="0" dirty="0">
                <a:latin typeface="+mn-lt"/>
                <a:ea typeface="+mn-ea"/>
                <a:cs typeface="+mn-ea"/>
              </a:rPr>
              <a:t>选择表现其内容的适当语句</a:t>
            </a:r>
          </a:p>
          <a:p>
            <a:pPr marL="742950" lvl="1" indent="-285750" algn="l" eaLnBrk="0" hangingPunct="0">
              <a:lnSpc>
                <a:spcPct val="100000"/>
              </a:lnSpc>
              <a:spcBef>
                <a:spcPct val="20000"/>
              </a:spcBef>
              <a:buClr>
                <a:schemeClr val="accent2"/>
              </a:buClr>
              <a:buSzPct val="70000"/>
              <a:buFont typeface="Wingdings" panose="05000000000000000000" pitchFamily="2" charset="2"/>
              <a:buChar char="l"/>
            </a:pPr>
            <a:r>
              <a:rPr lang="en-US" altLang="zh-CN" sz="2500" kern="0" dirty="0">
                <a:latin typeface="+mn-lt"/>
                <a:ea typeface="+mn-ea"/>
                <a:cs typeface="+mn-ea"/>
              </a:rPr>
              <a:t>将其按语法规则排列，便能构成语言的形式</a:t>
            </a:r>
            <a:r>
              <a:rPr lang="zh-CN" altLang="en-US" sz="2500" kern="0" dirty="0">
                <a:latin typeface="+mn-lt"/>
                <a:ea typeface="+mn-ea"/>
                <a:cs typeface="+mn-ea"/>
              </a:rPr>
              <a:t>。</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语音信号产生的数字模型</a:t>
            </a: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8"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
        <p:nvSpPr>
          <p:cNvPr id="2" name="文本框 1"/>
          <p:cNvSpPr txBox="1"/>
          <p:nvPr/>
        </p:nvSpPr>
        <p:spPr>
          <a:xfrm>
            <a:off x="1102995" y="1700530"/>
            <a:ext cx="9798685" cy="3393440"/>
          </a:xfrm>
          <a:prstGeom prst="rect">
            <a:avLst/>
          </a:prstGeom>
        </p:spPr>
        <p:txBody>
          <a:bodyPr wrap="square">
            <a:spAutoFit/>
          </a:bodyPr>
          <a:lstStyle/>
          <a:p>
            <a:pPr marL="342900" indent="-342900" algn="l" eaLnBrk="0" hangingPunct="0">
              <a:lnSpc>
                <a:spcPct val="100000"/>
              </a:lnSpc>
              <a:spcBef>
                <a:spcPct val="20000"/>
              </a:spcBef>
              <a:buClr>
                <a:schemeClr val="tx2"/>
              </a:buClr>
              <a:buSzPct val="70000"/>
              <a:buFont typeface="Wingdings" panose="05000000000000000000" pitchFamily="2" charset="2"/>
              <a:buChar char="¡"/>
            </a:pPr>
            <a:r>
              <a:rPr lang="zh-CN" altLang="en-US" sz="2900" kern="0" dirty="0">
                <a:latin typeface="+mn-lt"/>
                <a:ea typeface="+mn-ea"/>
              </a:rPr>
              <a:t>人体的发音器官能发出一系列声波，而对应的数字模型就能产生与此声波相对应的信号序列。</a:t>
            </a:r>
          </a:p>
          <a:p>
            <a:pPr marL="342900" indent="-342900" algn="l" eaLnBrk="0" hangingPunct="0">
              <a:lnSpc>
                <a:spcPct val="100000"/>
              </a:lnSpc>
              <a:spcBef>
                <a:spcPct val="20000"/>
              </a:spcBef>
              <a:buClr>
                <a:schemeClr val="tx2"/>
              </a:buClr>
              <a:buSzPct val="70000"/>
              <a:buFont typeface="Wingdings" panose="05000000000000000000" pitchFamily="2" charset="2"/>
              <a:buChar char="¡"/>
            </a:pPr>
            <a:r>
              <a:rPr lang="zh-CN" altLang="en-US" sz="2900" kern="0" dirty="0">
                <a:latin typeface="+mn-lt"/>
                <a:ea typeface="+mn-ea"/>
              </a:rPr>
              <a:t>这种模型是一种线性系统，选定一组参数，就可使得系统输出所希望的语音信号。为表示数字化语音信号，这里采用了离散时间模型。</a:t>
            </a:r>
          </a:p>
          <a:p>
            <a:pPr marL="342900" indent="-342900" algn="l" eaLnBrk="0" hangingPunct="0">
              <a:lnSpc>
                <a:spcPct val="100000"/>
              </a:lnSpc>
              <a:spcBef>
                <a:spcPct val="20000"/>
              </a:spcBef>
              <a:buClr>
                <a:schemeClr val="tx2"/>
              </a:buClr>
              <a:buSzPct val="70000"/>
              <a:buFont typeface="Wingdings" panose="05000000000000000000" pitchFamily="2" charset="2"/>
              <a:buChar char="¡"/>
            </a:pPr>
            <a:r>
              <a:rPr lang="zh-CN" altLang="en-US" sz="2900" kern="0" dirty="0">
                <a:latin typeface="+mn-lt"/>
                <a:ea typeface="+mn-ea"/>
              </a:rPr>
              <a:t>语音的数字模型是一个缓慢时变的线性系统，这个系统的参数在10-20ms时间内近似不变。</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常用变换域操作</a:t>
            </a:r>
            <a:endParaRPr lang="en-US" altLang="zh-CN" dirty="0"/>
          </a:p>
          <a:p>
            <a:pPr lvl="1"/>
            <a:r>
              <a:rPr lang="en-US" altLang="zh-CN" dirty="0"/>
              <a:t>DFT</a:t>
            </a:r>
            <a:r>
              <a:rPr lang="zh-CN" altLang="en-US" dirty="0"/>
              <a:t>：离散傅里叶变换</a:t>
            </a:r>
            <a:endParaRPr lang="en-US" altLang="zh-CN" dirty="0"/>
          </a:p>
          <a:p>
            <a:pPr lvl="1"/>
            <a:r>
              <a:rPr lang="en-US" altLang="zh-CN" dirty="0"/>
              <a:t>DCT</a:t>
            </a:r>
            <a:r>
              <a:rPr lang="zh-CN" altLang="en-US" dirty="0"/>
              <a:t>：离散余弦变换</a:t>
            </a:r>
            <a:endParaRPr lang="en-US" altLang="zh-CN" dirty="0"/>
          </a:p>
          <a:p>
            <a:pPr lvl="1"/>
            <a:r>
              <a:rPr lang="en-US" altLang="zh-CN" dirty="0"/>
              <a:t>DWT</a:t>
            </a:r>
            <a:r>
              <a:rPr lang="zh-CN" altLang="en-US" dirty="0"/>
              <a:t>：离散小波变换</a:t>
            </a:r>
          </a:p>
        </p:txBody>
      </p:sp>
      <p:sp>
        <p:nvSpPr>
          <p:cNvPr id="4" name="矩形 3"/>
          <p:cNvSpPr/>
          <p:nvPr/>
        </p:nvSpPr>
        <p:spPr>
          <a:xfrm>
            <a:off x="893379" y="249350"/>
            <a:ext cx="9470058" cy="521970"/>
          </a:xfrm>
          <a:prstGeom prst="rect">
            <a:avLst/>
          </a:prstGeom>
        </p:spPr>
        <p:txBody>
          <a:bodyPr wrap="square">
            <a:spAutoFit/>
          </a:bodyPr>
          <a:lstStyle/>
          <a:p>
            <a:pPr algn="l" eaLnBrk="0" hangingPunct="0">
              <a:buClrTx/>
              <a:buSzTx/>
              <a:buFontTx/>
            </a:pPr>
            <a:r>
              <a:rPr lang="zh-CN" altLang="en-US" sz="2800" b="1" dirty="0">
                <a:solidFill>
                  <a:srgbClr val="023B8C"/>
                </a:solidFill>
                <a:latin typeface="微软雅黑" panose="020B0503020204020204" charset="-122"/>
                <a:ea typeface="微软雅黑" panose="020B0503020204020204" charset="-122"/>
                <a:sym typeface="+mn-ea"/>
              </a:rPr>
              <a:t>常用语音信号变换</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8"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
        <p:nvSpPr>
          <p:cNvPr id="5" name="标题 1"/>
          <p:cNvSpPr>
            <a:spLocks noGrp="1"/>
          </p:cNvSpPr>
          <p:nvPr/>
        </p:nvSpPr>
        <p:spPr>
          <a:xfrm>
            <a:off x="1953684" y="747395"/>
            <a:ext cx="9751483" cy="1143000"/>
          </a:xfrm>
          <a:prstGeom prst="rect">
            <a:avLst/>
          </a:prstGeom>
          <a:noFill/>
          <a:ln>
            <a:noFill/>
          </a:ln>
        </p:spPr>
        <p:txBody>
          <a:bodyPr vert="horz" wrap="square" lIns="91440" tIns="45720" rIns="91440" bIns="45720" numCol="1" anchor="b" anchorCtr="0" compatLnSpc="1"/>
          <a:lst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9pPr>
          </a:lstStyle>
          <a:p>
            <a:endParaRPr lang="zh-CN" altLang="en-US" dirty="0">
              <a:solidFill>
                <a:srgbClr val="023B8C"/>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idx="1"/>
          </p:nvPr>
        </p:nvSpPr>
        <p:spPr>
          <a:xfrm>
            <a:off x="609600" y="741363"/>
            <a:ext cx="5386917" cy="639762"/>
          </a:xfrm>
        </p:spPr>
        <p:txBody>
          <a:bodyPr/>
          <a:lstStyle/>
          <a:p>
            <a:r>
              <a:rPr lang="zh-CN" altLang="en-US" dirty="0"/>
              <a:t>音频（时域）</a:t>
            </a:r>
          </a:p>
        </p:txBody>
      </p:sp>
      <p:sp>
        <p:nvSpPr>
          <p:cNvPr id="9" name="文本占位符 8"/>
          <p:cNvSpPr>
            <a:spLocks noGrp="1"/>
          </p:cNvSpPr>
          <p:nvPr>
            <p:ph type="body" sz="quarter" idx="3"/>
          </p:nvPr>
        </p:nvSpPr>
        <p:spPr>
          <a:xfrm>
            <a:off x="6167967" y="782638"/>
            <a:ext cx="5389033" cy="639762"/>
          </a:xfrm>
        </p:spPr>
        <p:txBody>
          <a:bodyPr/>
          <a:lstStyle/>
          <a:p>
            <a:r>
              <a:rPr lang="zh-CN" altLang="en-US" dirty="0"/>
              <a:t>音频（</a:t>
            </a:r>
            <a:r>
              <a:rPr lang="en-US" altLang="zh-CN" dirty="0"/>
              <a:t>DFT</a:t>
            </a:r>
            <a:r>
              <a:rPr lang="zh-CN" altLang="en-US" dirty="0"/>
              <a:t>）</a:t>
            </a:r>
          </a:p>
        </p:txBody>
      </p:sp>
      <p:pic>
        <p:nvPicPr>
          <p:cNvPr id="11" name="图片 10"/>
          <p:cNvPicPr>
            <a:picLocks noChangeAspect="1"/>
          </p:cNvPicPr>
          <p:nvPr/>
        </p:nvPicPr>
        <p:blipFill>
          <a:blip r:embed="rId3"/>
          <a:stretch>
            <a:fillRect/>
          </a:stretch>
        </p:blipFill>
        <p:spPr>
          <a:xfrm>
            <a:off x="387350" y="2832735"/>
            <a:ext cx="5217795" cy="3913505"/>
          </a:xfrm>
          <a:prstGeom prst="rect">
            <a:avLst/>
          </a:prstGeom>
        </p:spPr>
      </p:pic>
      <p:pic>
        <p:nvPicPr>
          <p:cNvPr id="12" name="图片 11"/>
          <p:cNvPicPr>
            <a:picLocks noChangeAspect="1"/>
          </p:cNvPicPr>
          <p:nvPr/>
        </p:nvPicPr>
        <p:blipFill>
          <a:blip r:embed="rId4"/>
          <a:stretch>
            <a:fillRect/>
          </a:stretch>
        </p:blipFill>
        <p:spPr>
          <a:xfrm>
            <a:off x="6193155" y="2832735"/>
            <a:ext cx="5218430" cy="3914140"/>
          </a:xfrm>
          <a:prstGeom prst="rect">
            <a:avLst/>
          </a:prstGeom>
        </p:spPr>
      </p:pic>
      <p:graphicFrame>
        <p:nvGraphicFramePr>
          <p:cNvPr id="13" name="Object 2"/>
          <p:cNvGraphicFramePr>
            <a:graphicFrameLocks noChangeAspect="1"/>
          </p:cNvGraphicFramePr>
          <p:nvPr/>
        </p:nvGraphicFramePr>
        <p:xfrm>
          <a:off x="5996305" y="1436581"/>
          <a:ext cx="5657056" cy="1381577"/>
        </p:xfrm>
        <a:graphic>
          <a:graphicData uri="http://schemas.openxmlformats.org/presentationml/2006/ole">
            <mc:AlternateContent xmlns:mc="http://schemas.openxmlformats.org/markup-compatibility/2006">
              <mc:Choice xmlns:v="urn:schemas-microsoft-com:vml" Requires="v">
                <p:oleObj name="Equation" r:id="rId5" imgW="1485900" imgH="431800" progId="Equation.DSMT4">
                  <p:embed/>
                </p:oleObj>
              </mc:Choice>
              <mc:Fallback>
                <p:oleObj name="Equation" r:id="rId5" imgW="1485900" imgH="431800" progId="Equation.DSMT4">
                  <p:embed/>
                  <p:pic>
                    <p:nvPicPr>
                      <p:cNvPr id="0" name="图片 9355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96305" y="1436581"/>
                        <a:ext cx="5657056" cy="1381577"/>
                      </a:xfrm>
                      <a:prstGeom prst="rect">
                        <a:avLst/>
                      </a:prstGeom>
                      <a:noFill/>
                      <a:ln>
                        <a:noFill/>
                      </a:ln>
                    </p:spPr>
                  </p:pic>
                </p:oleObj>
              </mc:Fallback>
            </mc:AlternateContent>
          </a:graphicData>
        </a:graphic>
      </p:graphicFrame>
      <p:graphicFrame>
        <p:nvGraphicFramePr>
          <p:cNvPr id="14" name="Object 3"/>
          <p:cNvGraphicFramePr>
            <a:graphicFrameLocks noChangeAspect="1"/>
          </p:cNvGraphicFramePr>
          <p:nvPr/>
        </p:nvGraphicFramePr>
        <p:xfrm>
          <a:off x="387317" y="1485253"/>
          <a:ext cx="5260373" cy="1347655"/>
        </p:xfrm>
        <a:graphic>
          <a:graphicData uri="http://schemas.openxmlformats.org/presentationml/2006/ole">
            <mc:AlternateContent xmlns:mc="http://schemas.openxmlformats.org/markup-compatibility/2006">
              <mc:Choice xmlns:v="urn:schemas-microsoft-com:vml" Requires="v">
                <p:oleObj name="Equation" r:id="rId7" imgW="1574800" imgH="431800" progId="Equation.DSMT4">
                  <p:embed/>
                </p:oleObj>
              </mc:Choice>
              <mc:Fallback>
                <p:oleObj name="Equation" r:id="rId7" imgW="1574800" imgH="431800" progId="Equation.DSMT4">
                  <p:embed/>
                  <p:pic>
                    <p:nvPicPr>
                      <p:cNvPr id="0" name="图片 9355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7317" y="1485253"/>
                        <a:ext cx="5260373" cy="1347655"/>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5" name="文本框 4"/>
              <p:cNvSpPr txBox="1"/>
              <p:nvPr/>
            </p:nvSpPr>
            <p:spPr>
              <a:xfrm>
                <a:off x="2725440" y="3219295"/>
                <a:ext cx="2880320" cy="1212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00" b="0" i="1" smtClean="0">
                          <a:latin typeface="Cambria Math" panose="02040503050406030204" pitchFamily="18" charset="0"/>
                        </a:rPr>
                        <m:t>𝑛</m:t>
                      </m:r>
                      <m:r>
                        <a:rPr lang="en-US" altLang="zh-CN" sz="100" b="0" i="1" smtClean="0">
                          <a:latin typeface="Cambria Math" panose="02040503050406030204" pitchFamily="18" charset="0"/>
                        </a:rPr>
                        <m:t>:</m:t>
                      </m:r>
                      <m:r>
                        <a:rPr lang="en-US" altLang="zh-CN" sz="100" b="0" i="1" smtClean="0">
                          <a:latin typeface="Cambria Math" panose="02040503050406030204" pitchFamily="18" charset="0"/>
                        </a:rPr>
                        <m:t>𝑛</m:t>
                      </m:r>
                      <m:r>
                        <a:rPr lang="en-US" altLang="zh-CN" sz="100" b="0" i="1" smtClean="0">
                          <a:latin typeface="Cambria Math" panose="02040503050406030204" pitchFamily="18" charset="0"/>
                        </a:rPr>
                        <m:t>∗</m:t>
                      </m:r>
                      <m:f>
                        <m:fPr>
                          <m:ctrlPr>
                            <a:rPr lang="en-US" altLang="zh-CN" sz="100" b="0" i="1" smtClean="0">
                              <a:latin typeface="Cambria Math" panose="02040503050406030204" pitchFamily="18" charset="0"/>
                            </a:rPr>
                          </m:ctrlPr>
                        </m:fPr>
                        <m:num>
                          <m:r>
                            <a:rPr lang="en-US" altLang="zh-CN" sz="100" b="0" i="1" smtClean="0">
                              <a:latin typeface="Cambria Math" panose="02040503050406030204" pitchFamily="18" charset="0"/>
                            </a:rPr>
                            <m:t>1</m:t>
                          </m:r>
                        </m:num>
                        <m:den>
                          <m:sSub>
                            <m:sSubPr>
                              <m:ctrlPr>
                                <a:rPr lang="en-US" altLang="zh-CN" sz="100" b="0" i="1" smtClean="0">
                                  <a:latin typeface="Cambria Math" panose="02040503050406030204" pitchFamily="18" charset="0"/>
                                </a:rPr>
                              </m:ctrlPr>
                            </m:sSubPr>
                            <m:e>
                              <m:r>
                                <a:rPr lang="en-US" altLang="zh-CN" sz="100" b="0" i="1" smtClean="0">
                                  <a:latin typeface="Cambria Math" panose="02040503050406030204" pitchFamily="18" charset="0"/>
                                </a:rPr>
                                <m:t>𝐹</m:t>
                              </m:r>
                            </m:e>
                            <m:sub>
                              <m:r>
                                <a:rPr lang="en-US" altLang="zh-CN" sz="100" b="0" i="1" smtClean="0">
                                  <a:latin typeface="Cambria Math" panose="02040503050406030204" pitchFamily="18" charset="0"/>
                                </a:rPr>
                                <m:t>𝑠</m:t>
                              </m:r>
                            </m:sub>
                          </m:sSub>
                        </m:den>
                      </m:f>
                      <m:r>
                        <a:rPr lang="en-US" altLang="zh-CN" sz="100" b="0" i="1" smtClean="0">
                          <a:latin typeface="Cambria Math" panose="02040503050406030204" pitchFamily="18" charset="0"/>
                        </a:rPr>
                        <m:t>(</m:t>
                      </m:r>
                      <m:r>
                        <a:rPr lang="en-US" altLang="zh-CN" sz="100" b="0" i="1" smtClean="0">
                          <a:latin typeface="Cambria Math" panose="02040503050406030204" pitchFamily="18" charset="0"/>
                        </a:rPr>
                        <m:t>𝑠𝑒𝑐𝑜𝑛𝑑</m:t>
                      </m:r>
                      <m:r>
                        <a:rPr lang="en-US" altLang="zh-CN" sz="100" b="0" i="1" smtClean="0">
                          <a:latin typeface="Cambria Math" panose="02040503050406030204" pitchFamily="18" charset="0"/>
                        </a:rPr>
                        <m:t>)</m:t>
                      </m:r>
                    </m:oMath>
                  </m:oMathPara>
                </a14:m>
                <a:endParaRPr lang="zh-CN" altLang="en-US" sz="100" dirty="0"/>
              </a:p>
            </p:txBody>
          </p:sp>
        </mc:Choice>
        <mc:Fallback xmlns="">
          <p:sp>
            <p:nvSpPr>
              <p:cNvPr id="5" name="文本框 4"/>
              <p:cNvSpPr txBox="1">
                <a:spLocks noRot="1" noChangeAspect="1" noMove="1" noResize="1" noEditPoints="1" noAdjustHandles="1" noChangeArrowheads="1" noChangeShapeType="1" noTextEdit="1"/>
              </p:cNvSpPr>
              <p:nvPr/>
            </p:nvSpPr>
            <p:spPr>
              <a:xfrm>
                <a:off x="2725440" y="3219295"/>
                <a:ext cx="2880320" cy="121285"/>
              </a:xfrm>
              <a:prstGeom prst="rect">
                <a:avLst/>
              </a:prstGeom>
              <a:blipFill rotWithShape="1">
                <a:blip r:embed="rId9"/>
                <a:stretch>
                  <a:fillRect l="-1" t="-396" r="21" b="3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p:cNvSpPr txBox="1"/>
              <p:nvPr/>
            </p:nvSpPr>
            <p:spPr>
              <a:xfrm>
                <a:off x="7484368" y="3807197"/>
                <a:ext cx="2880320" cy="1187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00" b="0" i="1" smtClean="0">
                          <a:latin typeface="Cambria Math" panose="02040503050406030204" pitchFamily="18" charset="0"/>
                        </a:rPr>
                        <m:t>𝑘</m:t>
                      </m:r>
                      <m:r>
                        <a:rPr lang="en-US" altLang="zh-CN" sz="100" b="0" i="1" smtClean="0">
                          <a:latin typeface="Cambria Math" panose="02040503050406030204" pitchFamily="18" charset="0"/>
                        </a:rPr>
                        <m:t>:</m:t>
                      </m:r>
                      <m:r>
                        <a:rPr lang="en-US" altLang="zh-CN" sz="100" b="0" i="1" smtClean="0">
                          <a:latin typeface="Cambria Math" panose="02040503050406030204" pitchFamily="18" charset="0"/>
                        </a:rPr>
                        <m:t>𝑘</m:t>
                      </m:r>
                      <m:r>
                        <a:rPr lang="en-US" altLang="zh-CN" sz="100" b="0" i="1" smtClean="0">
                          <a:latin typeface="Cambria Math" panose="02040503050406030204" pitchFamily="18" charset="0"/>
                        </a:rPr>
                        <m:t>∗</m:t>
                      </m:r>
                      <m:f>
                        <m:fPr>
                          <m:ctrlPr>
                            <a:rPr lang="en-US" altLang="zh-CN" sz="100" b="0" i="1" smtClean="0">
                              <a:latin typeface="Cambria Math" panose="02040503050406030204" pitchFamily="18" charset="0"/>
                            </a:rPr>
                          </m:ctrlPr>
                        </m:fPr>
                        <m:num>
                          <m:sSub>
                            <m:sSubPr>
                              <m:ctrlPr>
                                <a:rPr lang="en-US" altLang="zh-CN" sz="100" b="0" i="1" smtClean="0">
                                  <a:latin typeface="Cambria Math" panose="02040503050406030204" pitchFamily="18" charset="0"/>
                                </a:rPr>
                              </m:ctrlPr>
                            </m:sSubPr>
                            <m:e>
                              <m:r>
                                <a:rPr lang="en-US" altLang="zh-CN" sz="100" b="0" i="1" smtClean="0">
                                  <a:latin typeface="Cambria Math" panose="02040503050406030204" pitchFamily="18" charset="0"/>
                                </a:rPr>
                                <m:t>𝐹</m:t>
                              </m:r>
                            </m:e>
                            <m:sub>
                              <m:r>
                                <a:rPr lang="en-US" altLang="zh-CN" sz="100" b="0" i="1" smtClean="0">
                                  <a:latin typeface="Cambria Math" panose="02040503050406030204" pitchFamily="18" charset="0"/>
                                </a:rPr>
                                <m:t>𝑠</m:t>
                              </m:r>
                            </m:sub>
                          </m:sSub>
                        </m:num>
                        <m:den>
                          <m:r>
                            <a:rPr lang="en-US" altLang="zh-CN" sz="100" b="0" i="1" smtClean="0">
                              <a:latin typeface="Cambria Math" panose="02040503050406030204" pitchFamily="18" charset="0"/>
                            </a:rPr>
                            <m:t>𝑁</m:t>
                          </m:r>
                        </m:den>
                      </m:f>
                      <m:r>
                        <a:rPr lang="en-US" altLang="zh-CN" sz="100" b="0" i="1" smtClean="0">
                          <a:latin typeface="Cambria Math" panose="02040503050406030204" pitchFamily="18" charset="0"/>
                        </a:rPr>
                        <m:t>(</m:t>
                      </m:r>
                      <m:r>
                        <a:rPr lang="en-US" altLang="zh-CN" sz="100" b="0" i="1" smtClean="0">
                          <a:latin typeface="Cambria Math" panose="02040503050406030204" pitchFamily="18" charset="0"/>
                        </a:rPr>
                        <m:t>𝐻𝑧</m:t>
                      </m:r>
                      <m:r>
                        <a:rPr lang="en-US" altLang="zh-CN" sz="100" b="0" i="1" smtClean="0">
                          <a:latin typeface="Cambria Math" panose="02040503050406030204" pitchFamily="18" charset="0"/>
                        </a:rPr>
                        <m:t>)</m:t>
                      </m:r>
                    </m:oMath>
                  </m:oMathPara>
                </a14:m>
                <a:endParaRPr lang="zh-CN" altLang="en-US" sz="100" dirty="0"/>
              </a:p>
            </p:txBody>
          </p:sp>
        </mc:Choice>
        <mc:Fallback xmlns="">
          <p:sp>
            <p:nvSpPr>
              <p:cNvPr id="16" name="文本框 15"/>
              <p:cNvSpPr txBox="1">
                <a:spLocks noRot="1" noChangeAspect="1" noMove="1" noResize="1" noEditPoints="1" noAdjustHandles="1" noChangeArrowheads="1" noChangeShapeType="1" noTextEdit="1"/>
              </p:cNvSpPr>
              <p:nvPr/>
            </p:nvSpPr>
            <p:spPr>
              <a:xfrm>
                <a:off x="7484368" y="3807197"/>
                <a:ext cx="2880320" cy="118745"/>
              </a:xfrm>
              <a:prstGeom prst="rect">
                <a:avLst/>
              </a:prstGeom>
              <a:blipFill rotWithShape="1">
                <a:blip r:embed="rId10"/>
                <a:stretch>
                  <a:fillRect l="-9" t="-313" r="8" b="313"/>
                </a:stretch>
              </a:blipFill>
            </p:spPr>
            <p:txBody>
              <a:bodyPr/>
              <a:lstStyle/>
              <a:p>
                <a:r>
                  <a:rPr lang="zh-CN" altLang="en-US">
                    <a:noFill/>
                  </a:rPr>
                  <a:t> </a:t>
                </a:r>
              </a:p>
            </p:txBody>
          </p:sp>
        </mc:Fallback>
      </mc:AlternateContent>
      <p:sp>
        <p:nvSpPr>
          <p:cNvPr id="6" name="矩形 5"/>
          <p:cNvSpPr/>
          <p:nvPr/>
        </p:nvSpPr>
        <p:spPr>
          <a:xfrm>
            <a:off x="893379" y="249350"/>
            <a:ext cx="9470058" cy="521970"/>
          </a:xfrm>
          <a:prstGeom prst="rect">
            <a:avLst/>
          </a:prstGeom>
        </p:spPr>
        <p:txBody>
          <a:bodyPr wrap="square">
            <a:spAutoFit/>
          </a:bodyPr>
          <a:lstStyle/>
          <a:p>
            <a:pPr algn="l" eaLnBrk="0" hangingPunct="0">
              <a:buClrTx/>
              <a:buSzTx/>
              <a:buFontTx/>
            </a:pPr>
            <a:r>
              <a:rPr lang="zh-CN" altLang="en-US" sz="2800" b="1" dirty="0">
                <a:solidFill>
                  <a:srgbClr val="023B8C"/>
                </a:solidFill>
                <a:latin typeface="微软雅黑" panose="020B0503020204020204" charset="-122"/>
                <a:ea typeface="微软雅黑" panose="020B0503020204020204" charset="-122"/>
                <a:sym typeface="+mn-ea"/>
              </a:rPr>
              <a:t>常用语音信号变换</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7" name="组合 6"/>
          <p:cNvGrpSpPr/>
          <p:nvPr/>
        </p:nvGrpSpPr>
        <p:grpSpPr>
          <a:xfrm>
            <a:off x="123658" y="249350"/>
            <a:ext cx="979109" cy="533291"/>
            <a:chOff x="2215144" y="982844"/>
            <a:chExt cx="1258238" cy="912607"/>
          </a:xfrm>
        </p:grpSpPr>
        <p:sp>
          <p:nvSpPr>
            <p:cNvPr id="10" name="平行四边形 9"/>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15"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idx="1"/>
          </p:nvPr>
        </p:nvSpPr>
        <p:spPr>
          <a:xfrm>
            <a:off x="767715" y="908368"/>
            <a:ext cx="5386917" cy="639762"/>
          </a:xfrm>
        </p:spPr>
        <p:txBody>
          <a:bodyPr/>
          <a:lstStyle/>
          <a:p>
            <a:r>
              <a:rPr lang="zh-CN" altLang="en-US" dirty="0"/>
              <a:t>音频（时域）</a:t>
            </a:r>
          </a:p>
        </p:txBody>
      </p:sp>
      <mc:AlternateContent xmlns:mc="http://schemas.openxmlformats.org/markup-compatibility/2006" xmlns:a14="http://schemas.microsoft.com/office/drawing/2010/main">
        <mc:Choice Requires="a14">
          <p:sp>
            <p:nvSpPr>
              <p:cNvPr id="3" name="内容占位符 2"/>
              <p:cNvSpPr>
                <a:spLocks noGrp="1"/>
              </p:cNvSpPr>
              <p:nvPr>
                <p:ph sz="half" idx="2"/>
              </p:nvPr>
            </p:nvSpPr>
            <p:spPr>
              <a:xfrm>
                <a:off x="636270" y="1673860"/>
                <a:ext cx="5386917" cy="3951288"/>
              </a:xfrm>
            </p:spPr>
            <p:txBody>
              <a:bodyPr/>
              <a:lstStyle/>
              <a:p>
                <a14:m>
                  <m:oMath xmlns:m="http://schemas.openxmlformats.org/officeDocument/2006/math">
                    <m:r>
                      <a:rPr lang="en-US" altLang="zh-CN" b="0" i="1" smtClean="0">
                        <a:latin typeface="Cambria Math" panose="02040503050406030204" pitchFamily="18" charset="0"/>
                      </a:rPr>
                      <m:t>𝑥</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𝑁</m:t>
                            </m:r>
                          </m:e>
                        </m:rad>
                      </m:den>
                    </m:f>
                    <m:r>
                      <a:rPr lang="en-US" altLang="zh-CN" b="0" i="1" smtClean="0">
                        <a:latin typeface="Cambria Math" panose="02040503050406030204" pitchFamily="18" charset="0"/>
                      </a:rPr>
                      <m:t>𝑋</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num>
                          <m:den>
                            <m:r>
                              <a:rPr lang="en-US" altLang="zh-CN" b="0" i="1" smtClean="0">
                                <a:latin typeface="Cambria Math" panose="02040503050406030204" pitchFamily="18" charset="0"/>
                              </a:rPr>
                              <m:t>𝑁</m:t>
                            </m:r>
                          </m:den>
                        </m:f>
                      </m:e>
                    </m:rad>
                    <m:nary>
                      <m:naryPr>
                        <m:chr m:val="∑"/>
                        <m:limLoc m:val="subSup"/>
                        <m:ctrlPr>
                          <a:rPr lang="en-US" altLang="zh-CN" b="0" i="1" smtClean="0">
                            <a:latin typeface="Cambria Math" panose="02040503050406030204" pitchFamily="18" charset="0"/>
                          </a:rPr>
                        </m:ctrlPr>
                      </m:naryPr>
                      <m:sub>
                        <m:r>
                          <m:rPr>
                            <m:brk m:alnAt="25"/>
                          </m:rP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𝑁</m:t>
                        </m:r>
                        <m:r>
                          <a:rPr lang="en-US" altLang="zh-CN" b="0" i="1" smtClean="0">
                            <a:latin typeface="Cambria Math" panose="02040503050406030204" pitchFamily="18" charset="0"/>
                          </a:rPr>
                          <m:t>−1</m:t>
                        </m:r>
                      </m:sup>
                      <m:e>
                        <m:r>
                          <a:rPr lang="en-US" altLang="zh-CN" b="0" i="1" smtClean="0">
                            <a:latin typeface="Cambria Math" panose="02040503050406030204" pitchFamily="18" charset="0"/>
                          </a:rPr>
                          <m:t>𝑋</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𝑘</m:t>
                            </m:r>
                          </m:e>
                        </m:d>
                        <m:r>
                          <a:rPr lang="en-US" altLang="zh-CN" b="0" i="1" smtClean="0">
                            <a:latin typeface="Cambria Math" panose="02040503050406030204" pitchFamily="18" charset="0"/>
                          </a:rPr>
                          <m:t>𝑐𝑜𝑠</m:t>
                        </m:r>
                        <m:f>
                          <m:fPr>
                            <m:ctrlPr>
                              <a:rPr lang="en-US" altLang="zh-CN" b="0" i="1" smtClean="0">
                                <a:latin typeface="Cambria Math" panose="02040503050406030204" pitchFamily="18" charset="0"/>
                              </a:rPr>
                            </m:ctrlPr>
                          </m:fPr>
                          <m:num>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2</m:t>
                                </m:r>
                                <m:r>
                                  <a:rPr lang="en-US" altLang="zh-CN" b="0" i="1" smtClean="0">
                                    <a:latin typeface="Cambria Math" panose="02040503050406030204" pitchFamily="18" charset="0"/>
                                  </a:rPr>
                                  <m:t>𝑛</m:t>
                                </m:r>
                                <m:r>
                                  <a:rPr lang="en-US" altLang="zh-CN" b="0" i="1" smtClean="0">
                                    <a:latin typeface="Cambria Math" panose="02040503050406030204" pitchFamily="18" charset="0"/>
                                  </a:rPr>
                                  <m:t>+1</m:t>
                                </m:r>
                              </m:e>
                            </m:d>
                            <m:r>
                              <a:rPr lang="en-US" altLang="zh-CN" b="0" i="1" smtClean="0">
                                <a:latin typeface="Cambria Math" panose="02040503050406030204" pitchFamily="18" charset="0"/>
                              </a:rPr>
                              <m:t>𝑘</m:t>
                            </m:r>
                            <m:r>
                              <a:rPr lang="zh-CN" altLang="en-US" b="0" i="1" smtClean="0">
                                <a:latin typeface="Cambria Math" panose="02040503050406030204" pitchFamily="18" charset="0"/>
                              </a:rPr>
                              <m:t>𝜋</m:t>
                            </m:r>
                          </m:num>
                          <m:den>
                            <m:r>
                              <a:rPr lang="en-US" altLang="zh-CN" b="0" i="1" smtClean="0">
                                <a:latin typeface="Cambria Math" panose="02040503050406030204" pitchFamily="18" charset="0"/>
                              </a:rPr>
                              <m:t>2</m:t>
                            </m:r>
                            <m:r>
                              <a:rPr lang="en-US" altLang="zh-CN" b="0" i="1" smtClean="0">
                                <a:latin typeface="Cambria Math" panose="02040503050406030204" pitchFamily="18" charset="0"/>
                              </a:rPr>
                              <m:t>𝑁</m:t>
                            </m:r>
                          </m:den>
                        </m:f>
                      </m:e>
                    </m:nary>
                  </m:oMath>
                </a14:m>
                <a:endParaRPr lang="zh-CN" altLang="en-US" dirty="0"/>
              </a:p>
            </p:txBody>
          </p:sp>
        </mc:Choice>
        <mc:Fallback xmlns="">
          <p:sp>
            <p:nvSpPr>
              <p:cNvPr id="3" name="内容占位符 2"/>
              <p:cNvSpPr>
                <a:spLocks noRot="1" noChangeAspect="1" noMove="1" noResize="1" noEditPoints="1" noAdjustHandles="1" noChangeArrowheads="1" noChangeShapeType="1" noTextEdit="1"/>
              </p:cNvSpPr>
              <p:nvPr>
                <p:ph sz="half" idx="2"/>
              </p:nvPr>
            </p:nvSpPr>
            <p:spPr>
              <a:xfrm>
                <a:off x="636270" y="1673860"/>
                <a:ext cx="5386917" cy="3951288"/>
              </a:xfrm>
              <a:blipFill rotWithShape="1">
                <a:blip r:embed="rId3"/>
                <a:stretch>
                  <a:fillRect r="4" b="8"/>
                </a:stretch>
              </a:blipFill>
            </p:spPr>
            <p:txBody>
              <a:bodyPr/>
              <a:lstStyle/>
              <a:p>
                <a:r>
                  <a:rPr lang="zh-CN" altLang="en-US">
                    <a:noFill/>
                  </a:rPr>
                  <a:t> </a:t>
                </a:r>
              </a:p>
            </p:txBody>
          </p:sp>
        </mc:Fallback>
      </mc:AlternateContent>
      <p:sp>
        <p:nvSpPr>
          <p:cNvPr id="9" name="文本占位符 8"/>
          <p:cNvSpPr>
            <a:spLocks noGrp="1"/>
          </p:cNvSpPr>
          <p:nvPr>
            <p:ph type="body" sz="quarter" idx="3"/>
          </p:nvPr>
        </p:nvSpPr>
        <p:spPr>
          <a:xfrm>
            <a:off x="6167967" y="908368"/>
            <a:ext cx="5389033" cy="639762"/>
          </a:xfrm>
        </p:spPr>
        <p:txBody>
          <a:bodyPr/>
          <a:lstStyle/>
          <a:p>
            <a:r>
              <a:rPr lang="zh-CN" altLang="en-US" dirty="0"/>
              <a:t>音频（</a:t>
            </a:r>
            <a:r>
              <a:rPr lang="en-US" altLang="zh-CN" dirty="0"/>
              <a:t>DCT</a:t>
            </a:r>
            <a:r>
              <a:rPr lang="zh-CN" altLang="en-US" dirty="0"/>
              <a:t>）</a:t>
            </a:r>
          </a:p>
        </p:txBody>
      </p:sp>
      <mc:AlternateContent xmlns:mc="http://schemas.openxmlformats.org/markup-compatibility/2006" xmlns:a14="http://schemas.microsoft.com/office/drawing/2010/main">
        <mc:Choice Requires="a14">
          <p:sp>
            <p:nvSpPr>
              <p:cNvPr id="10" name="内容占位符 9"/>
              <p:cNvSpPr>
                <a:spLocks noGrp="1"/>
              </p:cNvSpPr>
              <p:nvPr>
                <p:ph sz="quarter" idx="4"/>
              </p:nvPr>
            </p:nvSpPr>
            <p:spPr>
              <a:xfrm>
                <a:off x="6022982" y="1589683"/>
                <a:ext cx="6431359" cy="5268384"/>
              </a:xfrm>
            </p:spPr>
            <p:txBody>
              <a:bodyPr/>
              <a:lstStyle/>
              <a:p>
                <a14:m>
                  <m:oMath xmlns:m="http://schemas.openxmlformats.org/officeDocument/2006/math">
                    <m:r>
                      <a:rPr lang="en-US" altLang="zh-CN" b="0" i="1" smtClean="0">
                        <a:latin typeface="Cambria Math" panose="02040503050406030204" pitchFamily="18" charset="0"/>
                      </a:rPr>
                      <m:t>𝑋</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ad>
                          <m:radPr>
                            <m:degHide m:val="on"/>
                            <m:ctrlPr>
                              <a:rPr lang="en-US" altLang="zh-CN" i="1">
                                <a:latin typeface="Cambria Math" panose="02040503050406030204" pitchFamily="18" charset="0"/>
                              </a:rPr>
                            </m:ctrlPr>
                          </m:radPr>
                          <m:deg/>
                          <m:e>
                            <m:r>
                              <a:rPr lang="en-US" altLang="zh-CN" i="1">
                                <a:latin typeface="Cambria Math" panose="02040503050406030204" pitchFamily="18" charset="0"/>
                              </a:rPr>
                              <m:t>𝑁</m:t>
                            </m:r>
                          </m:e>
                        </m:rad>
                      </m:den>
                    </m:f>
                    <m:nary>
                      <m:naryPr>
                        <m:chr m:val="∑"/>
                        <m:limLoc m:val="subSup"/>
                        <m:ctrlPr>
                          <a:rPr lang="en-US" altLang="zh-CN" i="1">
                            <a:latin typeface="Cambria Math" panose="02040503050406030204" pitchFamily="18" charset="0"/>
                          </a:rPr>
                        </m:ctrlPr>
                      </m:naryPr>
                      <m:sub>
                        <m:r>
                          <a:rPr lang="en-US" altLang="zh-CN" b="0" i="1" smtClean="0">
                            <a:latin typeface="Cambria Math" panose="02040503050406030204" pitchFamily="18" charset="0"/>
                          </a:rPr>
                          <m:t>𝑛</m:t>
                        </m:r>
                        <m:r>
                          <a:rPr lang="en-US" altLang="zh-CN" i="1">
                            <a:latin typeface="Cambria Math" panose="02040503050406030204" pitchFamily="18" charset="0"/>
                          </a:rPr>
                          <m:t>=</m:t>
                        </m:r>
                        <m:r>
                          <a:rPr lang="en-US" altLang="zh-CN" b="0" i="1" smtClean="0">
                            <a:latin typeface="Cambria Math" panose="02040503050406030204" pitchFamily="18" charset="0"/>
                          </a:rPr>
                          <m:t>0</m:t>
                        </m:r>
                      </m:sub>
                      <m:sup>
                        <m:r>
                          <a:rPr lang="en-US" altLang="zh-CN" i="1">
                            <a:latin typeface="Cambria Math" panose="02040503050406030204" pitchFamily="18" charset="0"/>
                          </a:rPr>
                          <m:t>𝑁</m:t>
                        </m:r>
                        <m:r>
                          <a:rPr lang="en-US" altLang="zh-CN" i="1">
                            <a:latin typeface="Cambria Math" panose="02040503050406030204" pitchFamily="18" charset="0"/>
                          </a:rPr>
                          <m:t>−1</m:t>
                        </m:r>
                      </m:sup>
                      <m:e>
                        <m:r>
                          <a:rPr lang="en-US" altLang="zh-CN" b="0" i="1" smtClean="0">
                            <a:latin typeface="Cambria Math" panose="02040503050406030204" pitchFamily="18" charset="0"/>
                          </a:rPr>
                          <m:t>𝑥</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𝑛</m:t>
                            </m:r>
                          </m:e>
                        </m:d>
                      </m:e>
                    </m:nary>
                  </m:oMath>
                </a14:m>
                <a:endParaRPr lang="en-US" altLang="zh-CN" dirty="0"/>
              </a:p>
              <a:p>
                <a14:m>
                  <m:oMath xmlns:m="http://schemas.openxmlformats.org/officeDocument/2006/math">
                    <m:r>
                      <a:rPr lang="en-US" altLang="zh-CN" b="0" i="1" smtClean="0">
                        <a:latin typeface="Cambria Math" panose="02040503050406030204" pitchFamily="18" charset="0"/>
                      </a:rPr>
                      <m:t>𝑋</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𝑘</m:t>
                        </m:r>
                      </m:e>
                    </m:d>
                    <m:r>
                      <a:rPr lang="en-US" altLang="zh-CN" i="1">
                        <a:latin typeface="Cambria Math" panose="02040503050406030204" pitchFamily="18" charset="0"/>
                      </a:rPr>
                      <m:t>=</m:t>
                    </m:r>
                    <m:rad>
                      <m:radPr>
                        <m:degHide m:val="on"/>
                        <m:ctrlPr>
                          <a:rPr lang="en-US" altLang="zh-CN" i="1">
                            <a:latin typeface="Cambria Math" panose="02040503050406030204" pitchFamily="18" charset="0"/>
                          </a:rPr>
                        </m:ctrlPr>
                      </m:radPr>
                      <m:deg/>
                      <m:e>
                        <m:f>
                          <m:fPr>
                            <m:ctrlPr>
                              <a:rPr lang="en-US" altLang="zh-CN" i="1">
                                <a:latin typeface="Cambria Math" panose="02040503050406030204" pitchFamily="18" charset="0"/>
                              </a:rPr>
                            </m:ctrlPr>
                          </m:fPr>
                          <m:num>
                            <m:r>
                              <a:rPr lang="en-US" altLang="zh-CN" i="1">
                                <a:latin typeface="Cambria Math" panose="02040503050406030204" pitchFamily="18" charset="0"/>
                              </a:rPr>
                              <m:t>2</m:t>
                            </m:r>
                          </m:num>
                          <m:den>
                            <m:r>
                              <a:rPr lang="en-US" altLang="zh-CN" i="1">
                                <a:latin typeface="Cambria Math" panose="02040503050406030204" pitchFamily="18" charset="0"/>
                              </a:rPr>
                              <m:t>𝑁</m:t>
                            </m:r>
                          </m:den>
                        </m:f>
                      </m:e>
                    </m:rad>
                    <m:nary>
                      <m:naryPr>
                        <m:chr m:val="∑"/>
                        <m:limLoc m:val="subSup"/>
                        <m:ctrlPr>
                          <a:rPr lang="en-US" altLang="zh-CN" i="1">
                            <a:latin typeface="Cambria Math" panose="02040503050406030204" pitchFamily="18" charset="0"/>
                          </a:rPr>
                        </m:ctrlPr>
                      </m:naryPr>
                      <m:sub>
                        <m:r>
                          <a:rPr lang="en-US" altLang="zh-CN" b="0" i="1" smtClean="0">
                            <a:latin typeface="Cambria Math" panose="02040503050406030204" pitchFamily="18" charset="0"/>
                          </a:rPr>
                          <m:t>𝑛</m:t>
                        </m:r>
                        <m:r>
                          <a:rPr lang="en-US" altLang="zh-CN" i="1">
                            <a:latin typeface="Cambria Math" panose="02040503050406030204" pitchFamily="18" charset="0"/>
                          </a:rPr>
                          <m:t>=</m:t>
                        </m:r>
                        <m:r>
                          <a:rPr lang="en-US" altLang="zh-CN" b="0" i="1" smtClean="0">
                            <a:latin typeface="Cambria Math" panose="02040503050406030204" pitchFamily="18" charset="0"/>
                          </a:rPr>
                          <m:t>0</m:t>
                        </m:r>
                      </m:sub>
                      <m:sup>
                        <m:r>
                          <a:rPr lang="en-US" altLang="zh-CN" i="1">
                            <a:latin typeface="Cambria Math" panose="02040503050406030204" pitchFamily="18" charset="0"/>
                          </a:rPr>
                          <m:t>𝑁</m:t>
                        </m:r>
                        <m:r>
                          <a:rPr lang="en-US" altLang="zh-CN" i="1">
                            <a:latin typeface="Cambria Math" panose="02040503050406030204" pitchFamily="18" charset="0"/>
                          </a:rPr>
                          <m:t>−1</m:t>
                        </m:r>
                      </m:sup>
                      <m:e>
                        <m:r>
                          <a:rPr lang="en-US" altLang="zh-CN" b="0" i="1" smtClean="0">
                            <a:latin typeface="Cambria Math" panose="02040503050406030204" pitchFamily="18" charset="0"/>
                          </a:rPr>
                          <m:t>𝑥</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𝑛</m:t>
                            </m:r>
                          </m:e>
                        </m:d>
                        <m:r>
                          <a:rPr lang="en-US" altLang="zh-CN" i="1">
                            <a:latin typeface="Cambria Math" panose="02040503050406030204" pitchFamily="18" charset="0"/>
                          </a:rPr>
                          <m:t>𝑐𝑜𝑠</m:t>
                        </m:r>
                        <m:f>
                          <m:fPr>
                            <m:ctrlPr>
                              <a:rPr lang="en-US" altLang="zh-CN" i="1">
                                <a:latin typeface="Cambria Math" panose="02040503050406030204" pitchFamily="18" charset="0"/>
                              </a:rPr>
                            </m:ctrlPr>
                          </m:fPr>
                          <m:num>
                            <m:d>
                              <m:dPr>
                                <m:ctrlPr>
                                  <a:rPr lang="en-US" altLang="zh-CN" i="1">
                                    <a:latin typeface="Cambria Math" panose="02040503050406030204" pitchFamily="18" charset="0"/>
                                  </a:rPr>
                                </m:ctrlPr>
                              </m:dPr>
                              <m:e>
                                <m:r>
                                  <a:rPr lang="en-US" altLang="zh-CN" i="1">
                                    <a:latin typeface="Cambria Math" panose="02040503050406030204" pitchFamily="18" charset="0"/>
                                  </a:rPr>
                                  <m:t>2</m:t>
                                </m:r>
                                <m:r>
                                  <a:rPr lang="en-US" altLang="zh-CN" i="1">
                                    <a:latin typeface="Cambria Math" panose="02040503050406030204" pitchFamily="18" charset="0"/>
                                  </a:rPr>
                                  <m:t>𝑛</m:t>
                                </m:r>
                                <m:r>
                                  <a:rPr lang="en-US" altLang="zh-CN" i="1">
                                    <a:latin typeface="Cambria Math" panose="02040503050406030204" pitchFamily="18" charset="0"/>
                                  </a:rPr>
                                  <m:t>+1</m:t>
                                </m:r>
                              </m:e>
                            </m:d>
                            <m:r>
                              <a:rPr lang="en-US" altLang="zh-CN" i="1">
                                <a:latin typeface="Cambria Math" panose="02040503050406030204" pitchFamily="18" charset="0"/>
                              </a:rPr>
                              <m:t>𝑘</m:t>
                            </m:r>
                            <m:r>
                              <a:rPr lang="zh-CN" altLang="en-US" i="1">
                                <a:latin typeface="Cambria Math" panose="02040503050406030204" pitchFamily="18" charset="0"/>
                              </a:rPr>
                              <m:t>𝜋</m:t>
                            </m:r>
                          </m:num>
                          <m:den>
                            <m:r>
                              <a:rPr lang="en-US" altLang="zh-CN" i="1">
                                <a:latin typeface="Cambria Math" panose="02040503050406030204" pitchFamily="18" charset="0"/>
                              </a:rPr>
                              <m:t>2</m:t>
                            </m:r>
                            <m:r>
                              <a:rPr lang="en-US" altLang="zh-CN" i="1">
                                <a:latin typeface="Cambria Math" panose="02040503050406030204" pitchFamily="18" charset="0"/>
                              </a:rPr>
                              <m:t>𝑁</m:t>
                            </m:r>
                          </m:den>
                        </m:f>
                      </m:e>
                    </m:nary>
                  </m:oMath>
                </a14:m>
                <a:endParaRPr lang="zh-CN" altLang="en-US" dirty="0"/>
              </a:p>
            </p:txBody>
          </p:sp>
        </mc:Choice>
        <mc:Fallback xmlns="">
          <p:sp>
            <p:nvSpPr>
              <p:cNvPr id="10" name="内容占位符 9"/>
              <p:cNvSpPr>
                <a:spLocks noRot="1" noChangeAspect="1" noMove="1" noResize="1" noEditPoints="1" noAdjustHandles="1" noChangeArrowheads="1" noChangeShapeType="1" noTextEdit="1"/>
              </p:cNvSpPr>
              <p:nvPr>
                <p:ph sz="quarter" idx="4"/>
              </p:nvPr>
            </p:nvSpPr>
            <p:spPr>
              <a:xfrm>
                <a:off x="6022982" y="1589683"/>
                <a:ext cx="6431359" cy="5268384"/>
              </a:xfrm>
              <a:blipFill rotWithShape="1">
                <a:blip r:embed="rId4"/>
                <a:stretch>
                  <a:fillRect t="-5" r="1" b="1"/>
                </a:stretch>
              </a:blipFill>
            </p:spPr>
            <p:txBody>
              <a:bodyPr/>
              <a:lstStyle/>
              <a:p>
                <a:r>
                  <a:rPr lang="zh-CN" altLang="en-US">
                    <a:noFill/>
                  </a:rPr>
                  <a:t> </a:t>
                </a:r>
              </a:p>
            </p:txBody>
          </p:sp>
        </mc:Fallback>
      </mc:AlternateContent>
      <p:pic>
        <p:nvPicPr>
          <p:cNvPr id="11" name="图片 10"/>
          <p:cNvPicPr>
            <a:picLocks noChangeAspect="1"/>
          </p:cNvPicPr>
          <p:nvPr/>
        </p:nvPicPr>
        <p:blipFill>
          <a:blip r:embed="rId5"/>
          <a:stretch>
            <a:fillRect/>
          </a:stretch>
        </p:blipFill>
        <p:spPr>
          <a:xfrm>
            <a:off x="695325" y="3213100"/>
            <a:ext cx="4417695" cy="3313430"/>
          </a:xfrm>
          <a:prstGeom prst="rect">
            <a:avLst/>
          </a:prstGeom>
        </p:spPr>
      </p:pic>
      <p:pic>
        <p:nvPicPr>
          <p:cNvPr id="7" name="图片 6"/>
          <p:cNvPicPr>
            <a:picLocks noChangeAspect="1"/>
          </p:cNvPicPr>
          <p:nvPr/>
        </p:nvPicPr>
        <p:blipFill>
          <a:blip r:embed="rId6"/>
          <a:stretch>
            <a:fillRect/>
          </a:stretch>
        </p:blipFill>
        <p:spPr>
          <a:xfrm>
            <a:off x="6239510" y="3213100"/>
            <a:ext cx="4418330" cy="3313430"/>
          </a:xfrm>
          <a:prstGeom prst="rect">
            <a:avLst/>
          </a:prstGeom>
        </p:spPr>
      </p:pic>
      <mc:AlternateContent xmlns:mc="http://schemas.openxmlformats.org/markup-compatibility/2006" xmlns:a14="http://schemas.microsoft.com/office/drawing/2010/main">
        <mc:Choice Requires="a14">
          <p:sp>
            <p:nvSpPr>
              <p:cNvPr id="12" name="文本框 11"/>
              <p:cNvSpPr txBox="1"/>
              <p:nvPr/>
            </p:nvSpPr>
            <p:spPr>
              <a:xfrm>
                <a:off x="2735627" y="3987380"/>
                <a:ext cx="2880320" cy="1212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00" b="0" i="1" smtClean="0">
                          <a:latin typeface="Cambria Math" panose="02040503050406030204" pitchFamily="18" charset="0"/>
                        </a:rPr>
                        <m:t>𝑛</m:t>
                      </m:r>
                      <m:r>
                        <a:rPr lang="en-US" altLang="zh-CN" sz="100" b="0" i="1" smtClean="0">
                          <a:latin typeface="Cambria Math" panose="02040503050406030204" pitchFamily="18" charset="0"/>
                        </a:rPr>
                        <m:t>:</m:t>
                      </m:r>
                      <m:r>
                        <a:rPr lang="en-US" altLang="zh-CN" sz="100" b="0" i="1" smtClean="0">
                          <a:latin typeface="Cambria Math" panose="02040503050406030204" pitchFamily="18" charset="0"/>
                        </a:rPr>
                        <m:t>𝑛</m:t>
                      </m:r>
                      <m:r>
                        <a:rPr lang="en-US" altLang="zh-CN" sz="100" b="0" i="1" smtClean="0">
                          <a:latin typeface="Cambria Math" panose="02040503050406030204" pitchFamily="18" charset="0"/>
                        </a:rPr>
                        <m:t>∗</m:t>
                      </m:r>
                      <m:f>
                        <m:fPr>
                          <m:ctrlPr>
                            <a:rPr lang="en-US" altLang="zh-CN" sz="100" b="0" i="1" smtClean="0">
                              <a:latin typeface="Cambria Math" panose="02040503050406030204" pitchFamily="18" charset="0"/>
                            </a:rPr>
                          </m:ctrlPr>
                        </m:fPr>
                        <m:num>
                          <m:r>
                            <a:rPr lang="en-US" altLang="zh-CN" sz="100" b="0" i="1" smtClean="0">
                              <a:latin typeface="Cambria Math" panose="02040503050406030204" pitchFamily="18" charset="0"/>
                            </a:rPr>
                            <m:t>1</m:t>
                          </m:r>
                        </m:num>
                        <m:den>
                          <m:sSub>
                            <m:sSubPr>
                              <m:ctrlPr>
                                <a:rPr lang="en-US" altLang="zh-CN" sz="100" b="0" i="1" smtClean="0">
                                  <a:latin typeface="Cambria Math" panose="02040503050406030204" pitchFamily="18" charset="0"/>
                                </a:rPr>
                              </m:ctrlPr>
                            </m:sSubPr>
                            <m:e>
                              <m:r>
                                <a:rPr lang="en-US" altLang="zh-CN" sz="100" b="0" i="1" smtClean="0">
                                  <a:latin typeface="Cambria Math" panose="02040503050406030204" pitchFamily="18" charset="0"/>
                                </a:rPr>
                                <m:t>𝐹</m:t>
                              </m:r>
                            </m:e>
                            <m:sub>
                              <m:r>
                                <a:rPr lang="en-US" altLang="zh-CN" sz="100" b="0" i="1" smtClean="0">
                                  <a:latin typeface="Cambria Math" panose="02040503050406030204" pitchFamily="18" charset="0"/>
                                </a:rPr>
                                <m:t>𝑠</m:t>
                              </m:r>
                            </m:sub>
                          </m:sSub>
                        </m:den>
                      </m:f>
                      <m:r>
                        <a:rPr lang="en-US" altLang="zh-CN" sz="100" b="0" i="1" smtClean="0">
                          <a:latin typeface="Cambria Math" panose="02040503050406030204" pitchFamily="18" charset="0"/>
                        </a:rPr>
                        <m:t>(</m:t>
                      </m:r>
                      <m:r>
                        <a:rPr lang="en-US" altLang="zh-CN" sz="100" b="0" i="1" smtClean="0">
                          <a:latin typeface="Cambria Math" panose="02040503050406030204" pitchFamily="18" charset="0"/>
                        </a:rPr>
                        <m:t>𝑠𝑒𝑐𝑜𝑛𝑑</m:t>
                      </m:r>
                      <m:r>
                        <a:rPr lang="en-US" altLang="zh-CN" sz="100" b="0" i="1" smtClean="0">
                          <a:latin typeface="Cambria Math" panose="02040503050406030204" pitchFamily="18" charset="0"/>
                        </a:rPr>
                        <m:t>)</m:t>
                      </m:r>
                    </m:oMath>
                  </m:oMathPara>
                </a14:m>
                <a:endParaRPr lang="zh-CN" altLang="en-US" sz="100" dirty="0"/>
              </a:p>
            </p:txBody>
          </p:sp>
        </mc:Choice>
        <mc:Fallback xmlns="">
          <p:sp>
            <p:nvSpPr>
              <p:cNvPr id="12" name="文本框 11"/>
              <p:cNvSpPr txBox="1">
                <a:spLocks noRot="1" noChangeAspect="1" noMove="1" noResize="1" noEditPoints="1" noAdjustHandles="1" noChangeArrowheads="1" noChangeShapeType="1" noTextEdit="1"/>
              </p:cNvSpPr>
              <p:nvPr/>
            </p:nvSpPr>
            <p:spPr>
              <a:xfrm>
                <a:off x="2735627" y="3987380"/>
                <a:ext cx="2880320" cy="121285"/>
              </a:xfrm>
              <a:prstGeom prst="rect">
                <a:avLst/>
              </a:prstGeom>
              <a:blipFill rotWithShape="1">
                <a:blip r:embed="rId7"/>
                <a:stretch>
                  <a:fillRect l="-2" t="-177" b="1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8400256" y="4005064"/>
                <a:ext cx="2880320" cy="11874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00" b="0" i="1" smtClean="0">
                          <a:latin typeface="Cambria Math" panose="02040503050406030204" pitchFamily="18" charset="0"/>
                        </a:rPr>
                        <m:t>𝑘</m:t>
                      </m:r>
                      <m:r>
                        <a:rPr lang="en-US" altLang="zh-CN" sz="100" b="0" i="1" smtClean="0">
                          <a:latin typeface="Cambria Math" panose="02040503050406030204" pitchFamily="18" charset="0"/>
                        </a:rPr>
                        <m:t>:</m:t>
                      </m:r>
                      <m:r>
                        <a:rPr lang="en-US" altLang="zh-CN" sz="100" b="0" i="1" smtClean="0">
                          <a:latin typeface="Cambria Math" panose="02040503050406030204" pitchFamily="18" charset="0"/>
                        </a:rPr>
                        <m:t>𝑘</m:t>
                      </m:r>
                      <m:r>
                        <a:rPr lang="en-US" altLang="zh-CN" sz="100" b="0" i="1" smtClean="0">
                          <a:latin typeface="Cambria Math" panose="02040503050406030204" pitchFamily="18" charset="0"/>
                        </a:rPr>
                        <m:t>∗</m:t>
                      </m:r>
                      <m:f>
                        <m:fPr>
                          <m:ctrlPr>
                            <a:rPr lang="en-US" altLang="zh-CN" sz="100" b="0" i="1" smtClean="0">
                              <a:latin typeface="Cambria Math" panose="02040503050406030204" pitchFamily="18" charset="0"/>
                            </a:rPr>
                          </m:ctrlPr>
                        </m:fPr>
                        <m:num>
                          <m:sSub>
                            <m:sSubPr>
                              <m:ctrlPr>
                                <a:rPr lang="en-US" altLang="zh-CN" sz="100" b="0" i="1" smtClean="0">
                                  <a:latin typeface="Cambria Math" panose="02040503050406030204" pitchFamily="18" charset="0"/>
                                </a:rPr>
                              </m:ctrlPr>
                            </m:sSubPr>
                            <m:e>
                              <m:r>
                                <a:rPr lang="en-US" altLang="zh-CN" sz="100" b="0" i="1" smtClean="0">
                                  <a:latin typeface="Cambria Math" panose="02040503050406030204" pitchFamily="18" charset="0"/>
                                </a:rPr>
                                <m:t>𝐹</m:t>
                              </m:r>
                            </m:e>
                            <m:sub>
                              <m:r>
                                <a:rPr lang="en-US" altLang="zh-CN" sz="100" b="0" i="1" smtClean="0">
                                  <a:latin typeface="Cambria Math" panose="02040503050406030204" pitchFamily="18" charset="0"/>
                                </a:rPr>
                                <m:t>𝑠</m:t>
                              </m:r>
                            </m:sub>
                          </m:sSub>
                        </m:num>
                        <m:den>
                          <m:r>
                            <a:rPr lang="en-US" altLang="zh-CN" sz="100" b="0" i="1" smtClean="0">
                              <a:latin typeface="Cambria Math" panose="02040503050406030204" pitchFamily="18" charset="0"/>
                            </a:rPr>
                            <m:t>2</m:t>
                          </m:r>
                          <m:r>
                            <a:rPr lang="en-US" altLang="zh-CN" sz="100" b="0" i="1" smtClean="0">
                              <a:latin typeface="Cambria Math" panose="02040503050406030204" pitchFamily="18" charset="0"/>
                            </a:rPr>
                            <m:t>𝑁</m:t>
                          </m:r>
                        </m:den>
                      </m:f>
                      <m:r>
                        <a:rPr lang="en-US" altLang="zh-CN" sz="100" b="0" i="1" smtClean="0">
                          <a:latin typeface="Cambria Math" panose="02040503050406030204" pitchFamily="18" charset="0"/>
                        </a:rPr>
                        <m:t>(</m:t>
                      </m:r>
                      <m:r>
                        <a:rPr lang="en-US" altLang="zh-CN" sz="100" b="0" i="1" smtClean="0">
                          <a:latin typeface="Cambria Math" panose="02040503050406030204" pitchFamily="18" charset="0"/>
                        </a:rPr>
                        <m:t>𝐻𝑧</m:t>
                      </m:r>
                      <m:r>
                        <a:rPr lang="en-US" altLang="zh-CN" sz="100" b="0" i="1" smtClean="0">
                          <a:latin typeface="Cambria Math" panose="02040503050406030204" pitchFamily="18" charset="0"/>
                        </a:rPr>
                        <m:t>)</m:t>
                      </m:r>
                    </m:oMath>
                  </m:oMathPara>
                </a14:m>
                <a:endParaRPr lang="zh-CN" altLang="en-US" sz="100" dirty="0"/>
              </a:p>
            </p:txBody>
          </p:sp>
        </mc:Choice>
        <mc:Fallback xmlns="">
          <p:sp>
            <p:nvSpPr>
              <p:cNvPr id="13" name="文本框 12"/>
              <p:cNvSpPr txBox="1">
                <a:spLocks noRot="1" noChangeAspect="1" noMove="1" noResize="1" noEditPoints="1" noAdjustHandles="1" noChangeArrowheads="1" noChangeShapeType="1" noTextEdit="1"/>
              </p:cNvSpPr>
              <p:nvPr/>
            </p:nvSpPr>
            <p:spPr>
              <a:xfrm>
                <a:off x="8400256" y="4005064"/>
                <a:ext cx="2880320" cy="118745"/>
              </a:xfrm>
              <a:prstGeom prst="rect">
                <a:avLst/>
              </a:prstGeom>
              <a:blipFill rotWithShape="1">
                <a:blip r:embed="rId8"/>
                <a:stretch>
                  <a:fillRect l="-17" t="-100" r="15" b="100"/>
                </a:stretch>
              </a:blipFill>
            </p:spPr>
            <p:txBody>
              <a:bodyPr/>
              <a:lstStyle/>
              <a:p>
                <a:r>
                  <a:rPr lang="zh-CN" altLang="en-US">
                    <a:noFill/>
                  </a:rPr>
                  <a:t> </a:t>
                </a:r>
              </a:p>
            </p:txBody>
          </p:sp>
        </mc:Fallback>
      </mc:AlternateContent>
      <p:sp>
        <p:nvSpPr>
          <p:cNvPr id="4" name="矩形 3"/>
          <p:cNvSpPr/>
          <p:nvPr/>
        </p:nvSpPr>
        <p:spPr>
          <a:xfrm>
            <a:off x="893379" y="249350"/>
            <a:ext cx="9470058" cy="521970"/>
          </a:xfrm>
          <a:prstGeom prst="rect">
            <a:avLst/>
          </a:prstGeom>
        </p:spPr>
        <p:txBody>
          <a:bodyPr wrap="square">
            <a:spAutoFit/>
          </a:bodyPr>
          <a:lstStyle/>
          <a:p>
            <a:pPr algn="l" eaLnBrk="0" hangingPunct="0">
              <a:buClrTx/>
              <a:buSzTx/>
              <a:buFontTx/>
            </a:pPr>
            <a:r>
              <a:rPr lang="zh-CN" altLang="en-US" sz="2800" b="1" dirty="0">
                <a:solidFill>
                  <a:srgbClr val="023B8C"/>
                </a:solidFill>
                <a:latin typeface="微软雅黑" panose="020B0503020204020204" charset="-122"/>
                <a:ea typeface="微软雅黑" panose="020B0503020204020204" charset="-122"/>
                <a:sym typeface="+mn-ea"/>
              </a:rPr>
              <a:t>常用语音信号变换</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5" name="平行四边形 4"/>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14"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7"/>
          <p:cNvSpPr>
            <a:spLocks noGrp="1"/>
          </p:cNvSpPr>
          <p:nvPr>
            <p:ph type="body" idx="1"/>
          </p:nvPr>
        </p:nvSpPr>
        <p:spPr/>
        <p:txBody>
          <a:bodyPr/>
          <a:lstStyle/>
          <a:p>
            <a:r>
              <a:rPr lang="en-US" altLang="zh-CN" dirty="0"/>
              <a:t>DWT</a:t>
            </a:r>
            <a:r>
              <a:rPr lang="zh-CN" altLang="en-US" dirty="0"/>
              <a:t>原理和系数</a:t>
            </a:r>
          </a:p>
        </p:txBody>
      </p:sp>
      <p:sp>
        <p:nvSpPr>
          <p:cNvPr id="9" name="文本占位符 8"/>
          <p:cNvSpPr>
            <a:spLocks noGrp="1"/>
          </p:cNvSpPr>
          <p:nvPr>
            <p:ph type="body" sz="quarter" idx="3"/>
          </p:nvPr>
        </p:nvSpPr>
        <p:spPr>
          <a:xfrm>
            <a:off x="5520267" y="1527493"/>
            <a:ext cx="5389033" cy="639762"/>
          </a:xfrm>
        </p:spPr>
        <p:txBody>
          <a:bodyPr/>
          <a:lstStyle/>
          <a:p>
            <a:r>
              <a:rPr lang="zh-CN" altLang="en-US" dirty="0"/>
              <a:t>音频（</a:t>
            </a:r>
            <a:r>
              <a:rPr lang="en-US" altLang="zh-CN" dirty="0"/>
              <a:t>DWT</a:t>
            </a:r>
            <a:r>
              <a:rPr lang="zh-CN" altLang="en-US" dirty="0"/>
              <a:t>）</a:t>
            </a:r>
          </a:p>
        </p:txBody>
      </p:sp>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3535" y="2564765"/>
            <a:ext cx="5168900"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8547" t="6112" r="7907" b="6922"/>
          <a:stretch>
            <a:fillRect/>
          </a:stretch>
        </p:blipFill>
        <p:spPr bwMode="auto">
          <a:xfrm>
            <a:off x="5520055" y="2277110"/>
            <a:ext cx="6583045" cy="368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893379" y="249350"/>
            <a:ext cx="9470058" cy="521970"/>
          </a:xfrm>
          <a:prstGeom prst="rect">
            <a:avLst/>
          </a:prstGeom>
        </p:spPr>
        <p:txBody>
          <a:bodyPr wrap="square">
            <a:spAutoFit/>
          </a:bodyPr>
          <a:lstStyle/>
          <a:p>
            <a:pPr algn="l" eaLnBrk="0" hangingPunct="0">
              <a:buClrTx/>
              <a:buSzTx/>
              <a:buFontTx/>
            </a:pPr>
            <a:r>
              <a:rPr lang="zh-CN" altLang="en-US" sz="2800" b="1" dirty="0">
                <a:solidFill>
                  <a:srgbClr val="023B8C"/>
                </a:solidFill>
                <a:latin typeface="微软雅黑" panose="020B0503020204020204" charset="-122"/>
                <a:ea typeface="微软雅黑" panose="020B0503020204020204" charset="-122"/>
                <a:sym typeface="+mn-ea"/>
              </a:rPr>
              <a:t>常用语音信号变换</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42814" y="1628458"/>
            <a:ext cx="9751483" cy="4114800"/>
          </a:xfrm>
        </p:spPr>
        <p:txBody>
          <a:bodyPr/>
          <a:lstStyle/>
          <a:p>
            <a:r>
              <a:rPr lang="zh-CN" altLang="en-US" dirty="0"/>
              <a:t>案例二：</a:t>
            </a:r>
            <a:r>
              <a:rPr lang="en-US" altLang="zh-CN" dirty="0"/>
              <a:t>DWT</a:t>
            </a:r>
            <a:r>
              <a:rPr lang="zh-CN" altLang="en-US" dirty="0"/>
              <a:t>系数特性研究</a:t>
            </a:r>
            <a:endParaRPr lang="en-US" altLang="zh-CN" dirty="0"/>
          </a:p>
          <a:p>
            <a:pPr lvl="1"/>
            <a:r>
              <a:rPr lang="en-US" altLang="zh-CN" dirty="0"/>
              <a:t>DWT</a:t>
            </a:r>
            <a:r>
              <a:rPr lang="zh-CN" altLang="en-US" dirty="0"/>
              <a:t>可迭代地对信号进行多层次分解，其中近似系数反映信号的平缓变换情况，可视为信号低频成份，细节系数反映信号剧烈变换情况，可视为信号高频成份。</a:t>
            </a:r>
            <a:endParaRPr lang="en-US" altLang="zh-CN" dirty="0"/>
          </a:p>
          <a:p>
            <a:pPr lvl="1"/>
            <a:r>
              <a:rPr lang="zh-CN" altLang="en-US" dirty="0"/>
              <a:t>案例尝试修改语音信号</a:t>
            </a:r>
            <a:r>
              <a:rPr lang="en-US" altLang="zh-CN" dirty="0"/>
              <a:t>DWT</a:t>
            </a:r>
            <a:r>
              <a:rPr lang="zh-CN" altLang="en-US" dirty="0"/>
              <a:t>细节系数，观察修改前后语音质量变换情况。</a:t>
            </a:r>
          </a:p>
        </p:txBody>
      </p:sp>
      <p:sp>
        <p:nvSpPr>
          <p:cNvPr id="5" name="矩形 4"/>
          <p:cNvSpPr/>
          <p:nvPr/>
        </p:nvSpPr>
        <p:spPr>
          <a:xfrm>
            <a:off x="893379" y="249350"/>
            <a:ext cx="9470058" cy="521970"/>
          </a:xfrm>
          <a:prstGeom prst="rect">
            <a:avLst/>
          </a:prstGeom>
        </p:spPr>
        <p:txBody>
          <a:bodyPr wrap="square">
            <a:spAutoFit/>
          </a:bodyPr>
          <a:lstStyle/>
          <a:p>
            <a:pPr algn="l" eaLnBrk="0" hangingPunct="0">
              <a:buClrTx/>
              <a:buSzTx/>
              <a:buFontTx/>
            </a:pPr>
            <a:r>
              <a:rPr lang="zh-CN" altLang="en-US" sz="2800" b="1" dirty="0">
                <a:solidFill>
                  <a:srgbClr val="023B8C"/>
                </a:solidFill>
                <a:latin typeface="微软雅黑" panose="020B0503020204020204" charset="-122"/>
                <a:ea typeface="微软雅黑" panose="020B0503020204020204" charset="-122"/>
                <a:sym typeface="+mn-ea"/>
              </a:rPr>
              <a:t>常用语音信号变换</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8"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15204" y="1412558"/>
            <a:ext cx="9751483" cy="4114800"/>
          </a:xfrm>
        </p:spPr>
        <p:txBody>
          <a:bodyPr/>
          <a:lstStyle/>
          <a:p>
            <a:r>
              <a:rPr lang="zh-CN" altLang="en-US" dirty="0"/>
              <a:t>案例二：</a:t>
            </a:r>
            <a:r>
              <a:rPr lang="en-US" altLang="zh-CN" dirty="0"/>
              <a:t>DWT</a:t>
            </a:r>
            <a:r>
              <a:rPr lang="zh-CN" altLang="en-US" dirty="0"/>
              <a:t>系数特性研究</a:t>
            </a:r>
            <a:endParaRPr lang="en-US" altLang="zh-CN" dirty="0"/>
          </a:p>
          <a:p>
            <a:pPr lvl="1"/>
            <a:r>
              <a:rPr lang="en-US" altLang="zh-CN" dirty="0"/>
              <a:t>1. </a:t>
            </a:r>
            <a:r>
              <a:rPr lang="zh-CN" altLang="en-US" dirty="0"/>
              <a:t>准备语音信号</a:t>
            </a:r>
            <a:endParaRPr lang="en-US" altLang="zh-CN" dirty="0"/>
          </a:p>
          <a:p>
            <a:pPr marL="457200" lvl="1" indent="0">
              <a:buNone/>
            </a:pPr>
            <a:endParaRPr lang="en-US" altLang="zh-CN" dirty="0"/>
          </a:p>
          <a:p>
            <a:pPr marL="914400" lvl="1" indent="-457200">
              <a:buFont typeface="+mj-lt"/>
              <a:buAutoNum type="arabicPeriod"/>
            </a:pPr>
            <a:endParaRPr lang="zh-CN" altLang="en-US" dirty="0"/>
          </a:p>
        </p:txBody>
      </p:sp>
      <p:pic>
        <p:nvPicPr>
          <p:cNvPr id="7" name="图片 6"/>
          <p:cNvPicPr>
            <a:picLocks noChangeAspect="1"/>
          </p:cNvPicPr>
          <p:nvPr/>
        </p:nvPicPr>
        <p:blipFill>
          <a:blip r:embed="rId2"/>
          <a:stretch>
            <a:fillRect/>
          </a:stretch>
        </p:blipFill>
        <p:spPr>
          <a:xfrm>
            <a:off x="2279650" y="2637155"/>
            <a:ext cx="4450080" cy="3336925"/>
          </a:xfrm>
          <a:prstGeom prst="rect">
            <a:avLst/>
          </a:prstGeom>
        </p:spPr>
      </p:pic>
      <p:sp>
        <p:nvSpPr>
          <p:cNvPr id="4" name="矩形 3"/>
          <p:cNvSpPr/>
          <p:nvPr/>
        </p:nvSpPr>
        <p:spPr>
          <a:xfrm>
            <a:off x="893379" y="249350"/>
            <a:ext cx="9470058" cy="521970"/>
          </a:xfrm>
          <a:prstGeom prst="rect">
            <a:avLst/>
          </a:prstGeom>
        </p:spPr>
        <p:txBody>
          <a:bodyPr wrap="square">
            <a:spAutoFit/>
          </a:bodyPr>
          <a:lstStyle/>
          <a:p>
            <a:pPr algn="l" eaLnBrk="0" hangingPunct="0">
              <a:buClrTx/>
              <a:buSzTx/>
              <a:buFontTx/>
            </a:pPr>
            <a:r>
              <a:rPr lang="zh-CN" altLang="en-US" sz="2800" b="1" dirty="0">
                <a:solidFill>
                  <a:srgbClr val="023B8C"/>
                </a:solidFill>
                <a:latin typeface="微软雅黑" panose="020B0503020204020204" charset="-122"/>
                <a:ea typeface="微软雅黑" panose="020B0503020204020204" charset="-122"/>
                <a:sym typeface="+mn-ea"/>
              </a:rPr>
              <a:t>常用语音信号变换</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5" name="平行四边形 4"/>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8"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4871720" y="1772920"/>
            <a:ext cx="6274435" cy="4705985"/>
          </a:xfrm>
          <a:prstGeom prst="rect">
            <a:avLst/>
          </a:prstGeom>
        </p:spPr>
      </p:pic>
      <p:sp>
        <p:nvSpPr>
          <p:cNvPr id="3" name="内容占位符 2"/>
          <p:cNvSpPr>
            <a:spLocks noGrp="1"/>
          </p:cNvSpPr>
          <p:nvPr>
            <p:ph idx="1"/>
          </p:nvPr>
        </p:nvSpPr>
        <p:spPr>
          <a:xfrm>
            <a:off x="982980" y="782955"/>
            <a:ext cx="9010015" cy="1828165"/>
          </a:xfrm>
        </p:spPr>
        <p:txBody>
          <a:bodyPr/>
          <a:lstStyle/>
          <a:p>
            <a:r>
              <a:rPr lang="zh-CN" altLang="en-US" dirty="0"/>
              <a:t>案例二：</a:t>
            </a:r>
            <a:r>
              <a:rPr lang="en-US" altLang="zh-CN" dirty="0"/>
              <a:t>DWT</a:t>
            </a:r>
            <a:r>
              <a:rPr lang="zh-CN" altLang="en-US" dirty="0"/>
              <a:t>系数特性研究</a:t>
            </a:r>
            <a:endParaRPr lang="en-US" altLang="zh-CN" dirty="0"/>
          </a:p>
          <a:p>
            <a:pPr lvl="1"/>
            <a:r>
              <a:rPr lang="en-US" altLang="zh-CN" dirty="0"/>
              <a:t>2. </a:t>
            </a:r>
            <a:r>
              <a:rPr lang="zh-CN" altLang="en-US" dirty="0"/>
              <a:t>对语音信号进行</a:t>
            </a:r>
            <a:r>
              <a:rPr lang="en-US" altLang="zh-CN" dirty="0"/>
              <a:t>2</a:t>
            </a:r>
            <a:r>
              <a:rPr lang="zh-CN" altLang="en-US" dirty="0"/>
              <a:t>级小波分解，得到各级小波系数。</a:t>
            </a:r>
            <a:endParaRPr lang="en-US" altLang="zh-CN" dirty="0"/>
          </a:p>
          <a:p>
            <a:pPr marL="914400" lvl="1" indent="-457200">
              <a:buFont typeface="+mj-lt"/>
              <a:buAutoNum type="arabicPeriod"/>
            </a:pPr>
            <a:endParaRPr lang="zh-CN" altLang="en-US" dirty="0"/>
          </a:p>
        </p:txBody>
      </p:sp>
      <p:sp>
        <p:nvSpPr>
          <p:cNvPr id="9" name="线形标注 2 8"/>
          <p:cNvSpPr/>
          <p:nvPr/>
        </p:nvSpPr>
        <p:spPr bwMode="auto">
          <a:xfrm>
            <a:off x="1199205" y="1958598"/>
            <a:ext cx="1967515" cy="576064"/>
          </a:xfrm>
          <a:prstGeom prst="borderCallout2">
            <a:avLst>
              <a:gd name="adj1" fmla="val 43649"/>
              <a:gd name="adj2" fmla="val 97549"/>
              <a:gd name="adj3" fmla="val 35350"/>
              <a:gd name="adj4" fmla="val 178291"/>
              <a:gd name="adj5" fmla="val 75151"/>
              <a:gd name="adj6" fmla="val 202131"/>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vert="horz" wrap="none" lIns="121920" tIns="60960" rIns="121920" bIns="6096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2</a:t>
            </a:r>
            <a:r>
              <a:rPr kumimoji="0" lang="zh-CN" altLang="en-US" sz="24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级近似系数</a:t>
            </a:r>
          </a:p>
        </p:txBody>
      </p:sp>
      <p:sp>
        <p:nvSpPr>
          <p:cNvPr id="10" name="线形标注 2 9"/>
          <p:cNvSpPr/>
          <p:nvPr/>
        </p:nvSpPr>
        <p:spPr bwMode="auto">
          <a:xfrm>
            <a:off x="1199528" y="3494769"/>
            <a:ext cx="1967515" cy="576064"/>
          </a:xfrm>
          <a:prstGeom prst="borderCallout2">
            <a:avLst>
              <a:gd name="adj1" fmla="val 43649"/>
              <a:gd name="adj2" fmla="val 97549"/>
              <a:gd name="adj3" fmla="val 35350"/>
              <a:gd name="adj4" fmla="val 178291"/>
              <a:gd name="adj5" fmla="val 83451"/>
              <a:gd name="adj6" fmla="val 205776"/>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vert="horz" wrap="none" lIns="121920" tIns="60960" rIns="121920" bIns="6096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2</a:t>
            </a:r>
            <a:r>
              <a:rPr kumimoji="0" lang="zh-CN" altLang="en-US" sz="24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级细节系数</a:t>
            </a:r>
          </a:p>
        </p:txBody>
      </p:sp>
      <p:sp>
        <p:nvSpPr>
          <p:cNvPr id="12" name="线形标注 2 11"/>
          <p:cNvSpPr/>
          <p:nvPr/>
        </p:nvSpPr>
        <p:spPr bwMode="auto">
          <a:xfrm>
            <a:off x="1199301" y="4954712"/>
            <a:ext cx="1788649" cy="576064"/>
          </a:xfrm>
          <a:prstGeom prst="borderCallout2">
            <a:avLst>
              <a:gd name="adj1" fmla="val 43649"/>
              <a:gd name="adj2" fmla="val 97549"/>
              <a:gd name="adj3" fmla="val 35350"/>
              <a:gd name="adj4" fmla="val 178291"/>
              <a:gd name="adj5" fmla="val 62702"/>
              <a:gd name="adj6" fmla="val 237367"/>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vert="horz" wrap="none" lIns="121920" tIns="60960" rIns="121920" bIns="6096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1</a:t>
            </a:r>
            <a:r>
              <a:rPr kumimoji="0" lang="zh-CN" altLang="en-US" sz="24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级细节系数</a:t>
            </a:r>
          </a:p>
        </p:txBody>
      </p:sp>
      <p:sp>
        <p:nvSpPr>
          <p:cNvPr id="4" name="矩形 3"/>
          <p:cNvSpPr/>
          <p:nvPr/>
        </p:nvSpPr>
        <p:spPr>
          <a:xfrm>
            <a:off x="893379" y="249350"/>
            <a:ext cx="9470058" cy="521970"/>
          </a:xfrm>
          <a:prstGeom prst="rect">
            <a:avLst/>
          </a:prstGeom>
        </p:spPr>
        <p:txBody>
          <a:bodyPr wrap="square">
            <a:spAutoFit/>
          </a:bodyPr>
          <a:lstStyle/>
          <a:p>
            <a:pPr algn="l" eaLnBrk="0" hangingPunct="0">
              <a:buClrTx/>
              <a:buSzTx/>
              <a:buFontTx/>
            </a:pPr>
            <a:r>
              <a:rPr lang="zh-CN" altLang="en-US" sz="2800" b="1" dirty="0">
                <a:solidFill>
                  <a:srgbClr val="023B8C"/>
                </a:solidFill>
                <a:latin typeface="微软雅黑" panose="020B0503020204020204" charset="-122"/>
                <a:ea typeface="微软雅黑" panose="020B0503020204020204" charset="-122"/>
                <a:sym typeface="+mn-ea"/>
              </a:rPr>
              <a:t>常用语音信号变换</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5" name="平行四边形 4"/>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8"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a:fillRect/>
          </a:stretch>
        </p:blipFill>
        <p:spPr>
          <a:xfrm>
            <a:off x="4943475" y="2637155"/>
            <a:ext cx="5330825" cy="3998595"/>
          </a:xfrm>
          <a:prstGeom prst="rect">
            <a:avLst/>
          </a:prstGeom>
        </p:spPr>
      </p:pic>
      <p:sp>
        <p:nvSpPr>
          <p:cNvPr id="3" name="内容占位符 2"/>
          <p:cNvSpPr>
            <a:spLocks noGrp="1"/>
          </p:cNvSpPr>
          <p:nvPr>
            <p:ph idx="1"/>
          </p:nvPr>
        </p:nvSpPr>
        <p:spPr>
          <a:xfrm>
            <a:off x="995680" y="836930"/>
            <a:ext cx="8507095" cy="2212340"/>
          </a:xfrm>
        </p:spPr>
        <p:txBody>
          <a:bodyPr/>
          <a:lstStyle/>
          <a:p>
            <a:r>
              <a:rPr lang="zh-CN" altLang="en-US" sz="2400" dirty="0"/>
              <a:t>案例二：</a:t>
            </a:r>
            <a:r>
              <a:rPr lang="en-US" altLang="zh-CN" sz="2400" dirty="0"/>
              <a:t>DWT</a:t>
            </a:r>
            <a:r>
              <a:rPr lang="zh-CN" altLang="en-US" sz="2400" dirty="0"/>
              <a:t>系数特性研究</a:t>
            </a:r>
            <a:endParaRPr lang="en-US" altLang="zh-CN" sz="2400" dirty="0"/>
          </a:p>
          <a:p>
            <a:pPr lvl="1"/>
            <a:r>
              <a:rPr lang="en-US" altLang="zh-CN" sz="2400" dirty="0"/>
              <a:t>3. </a:t>
            </a:r>
            <a:r>
              <a:rPr lang="zh-CN" altLang="en-US" sz="2400" dirty="0"/>
              <a:t>分别用两组系数重构语音。</a:t>
            </a:r>
          </a:p>
          <a:p>
            <a:pPr lvl="1"/>
            <a:r>
              <a:rPr lang="zh-CN" altLang="en-US" sz="2400" dirty="0"/>
              <a:t>第一组：原始系数</a:t>
            </a:r>
          </a:p>
          <a:p>
            <a:pPr lvl="1"/>
            <a:r>
              <a:rPr lang="zh-CN" altLang="en-US" sz="2400" dirty="0"/>
              <a:t>第二组：一半</a:t>
            </a:r>
            <a:r>
              <a:rPr lang="en-US" altLang="zh-CN" sz="2400" dirty="0"/>
              <a:t>2</a:t>
            </a:r>
            <a:r>
              <a:rPr lang="zh-CN" altLang="en-US" sz="2400" dirty="0"/>
              <a:t>级细节系数置零。</a:t>
            </a:r>
            <a:endParaRPr lang="en-US" altLang="zh-CN" sz="2400" dirty="0"/>
          </a:p>
          <a:p>
            <a:pPr marL="914400" lvl="1" indent="-457200">
              <a:buFont typeface="+mj-lt"/>
              <a:buAutoNum type="arabicPeriod"/>
            </a:pPr>
            <a:endParaRPr lang="en-US" altLang="zh-CN" sz="2400" dirty="0"/>
          </a:p>
        </p:txBody>
      </p:sp>
      <p:sp>
        <p:nvSpPr>
          <p:cNvPr id="9" name="线形标注 2 8"/>
          <p:cNvSpPr/>
          <p:nvPr/>
        </p:nvSpPr>
        <p:spPr bwMode="auto">
          <a:xfrm>
            <a:off x="1270960" y="2865378"/>
            <a:ext cx="1967515" cy="576064"/>
          </a:xfrm>
          <a:prstGeom prst="borderCallout2">
            <a:avLst>
              <a:gd name="adj1" fmla="val 43649"/>
              <a:gd name="adj2" fmla="val 97549"/>
              <a:gd name="adj3" fmla="val 35350"/>
              <a:gd name="adj4" fmla="val 178291"/>
              <a:gd name="adj5" fmla="val 75151"/>
              <a:gd name="adj6" fmla="val 202131"/>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vert="horz" wrap="none" lIns="121920" tIns="60960" rIns="121920" bIns="6096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原始音频</a:t>
            </a:r>
          </a:p>
        </p:txBody>
      </p:sp>
      <p:sp>
        <p:nvSpPr>
          <p:cNvPr id="10" name="线形标注 2 9"/>
          <p:cNvSpPr/>
          <p:nvPr/>
        </p:nvSpPr>
        <p:spPr bwMode="auto">
          <a:xfrm>
            <a:off x="1277633" y="4077062"/>
            <a:ext cx="2735600" cy="632735"/>
          </a:xfrm>
          <a:prstGeom prst="borderCallout2">
            <a:avLst>
              <a:gd name="adj1" fmla="val 43649"/>
              <a:gd name="adj2" fmla="val 97549"/>
              <a:gd name="adj3" fmla="val 20237"/>
              <a:gd name="adj4" fmla="val 117993"/>
              <a:gd name="adj5" fmla="val 60782"/>
              <a:gd name="adj6" fmla="val 150721"/>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vert="horz" wrap="none" lIns="121920" tIns="60960" rIns="121920" bIns="6096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原始系数重构音频</a:t>
            </a:r>
          </a:p>
        </p:txBody>
      </p:sp>
      <p:sp>
        <p:nvSpPr>
          <p:cNvPr id="12" name="线形标注 2 11"/>
          <p:cNvSpPr/>
          <p:nvPr/>
        </p:nvSpPr>
        <p:spPr bwMode="auto">
          <a:xfrm>
            <a:off x="1271056" y="5373357"/>
            <a:ext cx="2742177" cy="509707"/>
          </a:xfrm>
          <a:prstGeom prst="borderCallout2">
            <a:avLst>
              <a:gd name="adj1" fmla="val 43649"/>
              <a:gd name="adj2" fmla="val 97549"/>
              <a:gd name="adj3" fmla="val 53988"/>
              <a:gd name="adj4" fmla="val 132086"/>
              <a:gd name="adj5" fmla="val 75127"/>
              <a:gd name="adj6" fmla="val 158906"/>
            </a:avLst>
          </a:prstGeom>
          <a:ln>
            <a:headEnd type="none" w="sm" len="sm"/>
            <a:tailEnd type="none" w="sm" len="sm"/>
          </a:ln>
        </p:spPr>
        <p:style>
          <a:lnRef idx="2">
            <a:schemeClr val="accent1"/>
          </a:lnRef>
          <a:fillRef idx="1">
            <a:schemeClr val="lt1"/>
          </a:fillRef>
          <a:effectRef idx="0">
            <a:schemeClr val="accent1"/>
          </a:effectRef>
          <a:fontRef idx="minor">
            <a:schemeClr val="dk1"/>
          </a:fontRef>
        </p:style>
        <p:txBody>
          <a:bodyPr vert="horz" wrap="none" lIns="121920" tIns="60960" rIns="121920" bIns="6096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Verdana" panose="020B0604030504040204" pitchFamily="34" charset="0"/>
                <a:ea typeface="宋体" panose="02010600030101010101" pitchFamily="2" charset="-122"/>
              </a:rPr>
              <a:t>修改系数重构音频</a:t>
            </a:r>
          </a:p>
        </p:txBody>
      </p:sp>
      <p:sp>
        <p:nvSpPr>
          <p:cNvPr id="4" name="矩形 3"/>
          <p:cNvSpPr/>
          <p:nvPr/>
        </p:nvSpPr>
        <p:spPr>
          <a:xfrm>
            <a:off x="893379" y="249350"/>
            <a:ext cx="9470058" cy="521970"/>
          </a:xfrm>
          <a:prstGeom prst="rect">
            <a:avLst/>
          </a:prstGeom>
        </p:spPr>
        <p:txBody>
          <a:bodyPr wrap="square">
            <a:spAutoFit/>
          </a:bodyPr>
          <a:lstStyle/>
          <a:p>
            <a:pPr algn="l" eaLnBrk="0" hangingPunct="0">
              <a:buClrTx/>
              <a:buSzTx/>
              <a:buFontTx/>
            </a:pPr>
            <a:r>
              <a:rPr lang="zh-CN" altLang="en-US" sz="2800" b="1" dirty="0">
                <a:solidFill>
                  <a:srgbClr val="023B8C"/>
                </a:solidFill>
                <a:latin typeface="微软雅黑" panose="020B0503020204020204" charset="-122"/>
                <a:ea typeface="微软雅黑" panose="020B0503020204020204" charset="-122"/>
                <a:sym typeface="+mn-ea"/>
              </a:rPr>
              <a:t>常用语音信号变换</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5" name="平行四边形 4"/>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7"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6"/>
          <p:cNvSpPr>
            <a:spLocks noGrp="1"/>
          </p:cNvSpPr>
          <p:nvPr>
            <p:ph type="title"/>
          </p:nvPr>
        </p:nvSpPr>
        <p:spPr>
          <a:xfrm>
            <a:off x="1775249" y="548640"/>
            <a:ext cx="9751483" cy="1143000"/>
          </a:xfrm>
        </p:spPr>
        <p:txBody>
          <a:bodyPr/>
          <a:lstStyle/>
          <a:p>
            <a:pPr eaLnBrk="1" hangingPunct="1"/>
            <a:r>
              <a:rPr lang="zh-CN" altLang="en-US">
                <a:solidFill>
                  <a:srgbClr val="023B8C"/>
                </a:solidFill>
              </a:rPr>
              <a:t>人的听觉范围</a:t>
            </a:r>
          </a:p>
        </p:txBody>
      </p:sp>
      <p:sp>
        <p:nvSpPr>
          <p:cNvPr id="8" name="Content Placeholder 7"/>
          <p:cNvSpPr>
            <a:spLocks noGrp="1"/>
          </p:cNvSpPr>
          <p:nvPr>
            <p:ph idx="1"/>
          </p:nvPr>
        </p:nvSpPr>
        <p:spPr/>
        <p:txBody>
          <a:bodyPr/>
          <a:lstStyle/>
          <a:p>
            <a:pPr eaLnBrk="1" hangingPunct="1"/>
            <a:r>
              <a:rPr lang="zh-CN" altLang="en-US" dirty="0"/>
              <a:t>人类能感知声音的频率范围</a:t>
            </a:r>
            <a:r>
              <a:rPr lang="en-US" altLang="zh-CN" dirty="0"/>
              <a:t>16Hz-16kHz</a:t>
            </a:r>
          </a:p>
          <a:p>
            <a:pPr eaLnBrk="1" hangingPunct="1"/>
            <a:r>
              <a:rPr lang="zh-CN" altLang="en-US" dirty="0"/>
              <a:t>年轻人，</a:t>
            </a:r>
            <a:r>
              <a:rPr lang="en-US" altLang="zh-CN" dirty="0"/>
              <a:t>20kHz</a:t>
            </a:r>
          </a:p>
          <a:p>
            <a:pPr eaLnBrk="1" hangingPunct="1"/>
            <a:r>
              <a:rPr lang="zh-CN" altLang="en-US" dirty="0"/>
              <a:t>老年人，</a:t>
            </a:r>
            <a:r>
              <a:rPr lang="en-US" altLang="zh-CN" dirty="0"/>
              <a:t>10kHz</a:t>
            </a:r>
          </a:p>
        </p:txBody>
      </p:sp>
      <p:sp>
        <p:nvSpPr>
          <p:cNvPr id="2" name="矩形 1"/>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听觉系统和语音感知</a:t>
            </a: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3"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6"/>
          <p:cNvSpPr>
            <a:spLocks noGrp="1"/>
          </p:cNvSpPr>
          <p:nvPr>
            <p:ph type="title"/>
          </p:nvPr>
        </p:nvSpPr>
        <p:spPr>
          <a:xfrm>
            <a:off x="1775249" y="548640"/>
            <a:ext cx="9751483" cy="1143000"/>
          </a:xfrm>
        </p:spPr>
        <p:txBody>
          <a:bodyPr/>
          <a:lstStyle/>
          <a:p>
            <a:pPr eaLnBrk="1" hangingPunct="1"/>
            <a:r>
              <a:rPr lang="zh-CN" altLang="en-US">
                <a:solidFill>
                  <a:srgbClr val="023B8C"/>
                </a:solidFill>
              </a:rPr>
              <a:t>音调</a:t>
            </a:r>
          </a:p>
        </p:txBody>
      </p:sp>
      <p:sp>
        <p:nvSpPr>
          <p:cNvPr id="8" name="Content Placeholder 7"/>
          <p:cNvSpPr>
            <a:spLocks noGrp="1"/>
          </p:cNvSpPr>
          <p:nvPr>
            <p:ph idx="1"/>
          </p:nvPr>
        </p:nvSpPr>
        <p:spPr/>
        <p:txBody>
          <a:bodyPr/>
          <a:lstStyle/>
          <a:p>
            <a:pPr eaLnBrk="1" hangingPunct="1"/>
            <a:r>
              <a:rPr dirty="0"/>
              <a:t>人类分辨声音高低时，用音调来描述。</a:t>
            </a:r>
          </a:p>
          <a:p>
            <a:pPr eaLnBrk="1" hangingPunct="1"/>
            <a:r>
              <a:rPr dirty="0"/>
              <a:t>对于频率低的声音，听起来感觉它的音调 “低”</a:t>
            </a:r>
            <a:r>
              <a:rPr lang="zh-CN" dirty="0"/>
              <a:t>；</a:t>
            </a:r>
            <a:r>
              <a:rPr dirty="0"/>
              <a:t>而频率高的声音，听起来感觉它的音调 “高”。</a:t>
            </a:r>
          </a:p>
          <a:p>
            <a:pPr eaLnBrk="1" hangingPunct="1"/>
            <a:r>
              <a:rPr dirty="0"/>
              <a:t>但音调与声音的频率并不成严格的正比关系，它还与声音的强度及波形有关。</a:t>
            </a:r>
          </a:p>
        </p:txBody>
      </p:sp>
      <p:sp>
        <p:nvSpPr>
          <p:cNvPr id="2" name="矩形 1"/>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听觉系统和语音感知</a:t>
            </a: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3"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1919394" y="1844358"/>
            <a:ext cx="4773083" cy="4114800"/>
          </a:xfrm>
        </p:spPr>
        <p:txBody>
          <a:bodyPr/>
          <a:lstStyle/>
          <a:p>
            <a:r>
              <a:rPr lang="zh-CN" altLang="en-US" dirty="0"/>
              <a:t>什么是掩蔽效应？</a:t>
            </a:r>
            <a:endParaRPr lang="en-US" altLang="zh-CN" dirty="0"/>
          </a:p>
        </p:txBody>
      </p:sp>
      <p:sp>
        <p:nvSpPr>
          <p:cNvPr id="2" name="矩形 1"/>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听觉系统和语音感知</a:t>
            </a: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4"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
        <p:nvSpPr>
          <p:cNvPr id="5" name="内容占位符 8">
            <a:extLst>
              <a:ext uri="{FF2B5EF4-FFF2-40B4-BE49-F238E27FC236}">
                <a16:creationId xmlns:a16="http://schemas.microsoft.com/office/drawing/2014/main" id="{6934C993-1D70-D6AE-4C10-EC25A38883EA}"/>
              </a:ext>
            </a:extLst>
          </p:cNvPr>
          <p:cNvSpPr txBox="1">
            <a:spLocks/>
          </p:cNvSpPr>
          <p:nvPr/>
        </p:nvSpPr>
        <p:spPr bwMode="auto">
          <a:xfrm>
            <a:off x="1919394" y="3016478"/>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4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0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8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8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8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8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8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800">
                <a:solidFill>
                  <a:schemeClr val="tx1"/>
                </a:solidFill>
                <a:latin typeface="+mn-lt"/>
                <a:ea typeface="+mn-ea"/>
              </a:defRPr>
            </a:lvl9pPr>
          </a:lstStyle>
          <a:p>
            <a:r>
              <a:rPr lang="zh-CN" altLang="en-US" kern="0"/>
              <a:t>掩蔽效应</a:t>
            </a:r>
            <a:endParaRPr lang="en-US" altLang="zh-CN" kern="0"/>
          </a:p>
          <a:p>
            <a:pPr lvl="1"/>
            <a:r>
              <a:rPr lang="zh-CN" altLang="en-US" kern="0"/>
              <a:t>心理声学实验表明：人耳难以感知位于强信号附近的弱信号。</a:t>
            </a:r>
            <a:endParaRPr lang="en-US" altLang="zh-CN" kern="0"/>
          </a:p>
          <a:p>
            <a:pPr lvl="1"/>
            <a:r>
              <a:rPr lang="zh-CN" altLang="en-US" kern="0"/>
              <a:t>这种声音心理学现象称为掩蔽。</a:t>
            </a:r>
            <a:endParaRPr lang="en-US" altLang="zh-CN" kern="0"/>
          </a:p>
          <a:p>
            <a:pPr lvl="1"/>
            <a:r>
              <a:rPr lang="zh-CN" altLang="en-US" kern="0"/>
              <a:t>强信号称之为掩蔽音，弱信号称之为被掩蔽音</a:t>
            </a:r>
            <a:endParaRPr lang="en-US" altLang="zh-CN" kern="0"/>
          </a:p>
          <a:p>
            <a:pPr lvl="1"/>
            <a:r>
              <a:rPr lang="zh-CN" altLang="en-US" kern="0"/>
              <a:t>掩蔽音和被掩蔽音同时出现所产生的掩蔽效应称为同时掩蔽或频域掩蔽，</a:t>
            </a:r>
            <a:endParaRPr lang="en-US" altLang="zh-CN" kern="0"/>
          </a:p>
          <a:p>
            <a:pPr lvl="1"/>
            <a:r>
              <a:rPr lang="zh-CN" altLang="en-US" kern="0"/>
              <a:t>否则称之为异时掩蔽或时域掩蔽。</a:t>
            </a:r>
            <a:endParaRPr lang="zh-CN" altLang="en-US" kern="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 calcmode="lin" valueType="num">
                                      <p:cBhvr additive="base">
                                        <p:cTn id="2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 calcmode="lin" valueType="num">
                                      <p:cBhvr additive="base">
                                        <p:cTn id="3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 calcmode="lin" valueType="num">
                                      <p:cBhvr additive="base">
                                        <p:cTn id="3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anim calcmode="lin" valueType="num">
                                      <p:cBhvr additive="base">
                                        <p:cTn id="4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8" name="Picture 4" descr="Image298"/>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407671" y="1844675"/>
            <a:ext cx="6953249" cy="3824817"/>
          </a:xfrm>
          <a:noFill/>
        </p:spPr>
      </p:pic>
      <p:sp>
        <p:nvSpPr>
          <p:cNvPr id="30723" name="Rectangle 3"/>
          <p:cNvSpPr>
            <a:spLocks noGrp="1" noChangeArrowheads="1"/>
          </p:cNvSpPr>
          <p:nvPr>
            <p:ph sz="half" idx="2"/>
          </p:nvPr>
        </p:nvSpPr>
        <p:spPr>
          <a:xfrm>
            <a:off x="6960447" y="1916748"/>
            <a:ext cx="4775200" cy="4114800"/>
          </a:xfrm>
        </p:spPr>
        <p:txBody>
          <a:bodyPr/>
          <a:lstStyle/>
          <a:p>
            <a:pPr eaLnBrk="1" hangingPunct="1"/>
            <a:r>
              <a:rPr lang="zh-CN" altLang="en-US"/>
              <a:t>同时（频域）掩蔽</a:t>
            </a:r>
            <a:endParaRPr lang="en-US" altLang="zh-CN" sz="3200"/>
          </a:p>
          <a:p>
            <a:pPr lvl="1" eaLnBrk="1" hangingPunct="1"/>
            <a:r>
              <a:rPr lang="zh-CN" altLang="en-US">
                <a:latin typeface="宋体" panose="02010600030101010101" pitchFamily="2" charset="-122"/>
              </a:rPr>
              <a:t>低音容易掩蔽高音，而高音掩蔽低音较难。</a:t>
            </a:r>
            <a:endParaRPr lang="en-US" altLang="zh-CN"/>
          </a:p>
          <a:p>
            <a:pPr eaLnBrk="1" hangingPunct="1"/>
            <a:r>
              <a:rPr lang="zh-CN" altLang="en-US"/>
              <a:t>异时（时域）掩蔽</a:t>
            </a:r>
            <a:endParaRPr lang="en-US" altLang="zh-CN"/>
          </a:p>
          <a:p>
            <a:pPr lvl="1" eaLnBrk="1" hangingPunct="1"/>
            <a:r>
              <a:rPr lang="zh-CN" altLang="en-US"/>
              <a:t>超前掩蔽</a:t>
            </a:r>
            <a:r>
              <a:rPr lang="en-US" altLang="zh-CN"/>
              <a:t>(pre-masking) </a:t>
            </a:r>
          </a:p>
          <a:p>
            <a:pPr lvl="1" eaLnBrk="1" hangingPunct="1"/>
            <a:r>
              <a:rPr lang="zh-CN" altLang="en-US"/>
              <a:t>滞后掩蔽</a:t>
            </a:r>
            <a:r>
              <a:rPr lang="en-US" altLang="zh-CN"/>
              <a:t>(post-masking) </a:t>
            </a:r>
          </a:p>
        </p:txBody>
      </p:sp>
      <p:sp>
        <p:nvSpPr>
          <p:cNvPr id="2" name="矩形 1"/>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听觉系统和语音感知</a:t>
            </a:r>
            <a:r>
              <a:rPr lang="en-US" altLang="zh-CN" sz="2800" b="1" dirty="0">
                <a:solidFill>
                  <a:srgbClr val="023B8C"/>
                </a:solidFill>
                <a:latin typeface="微软雅黑" panose="020B0503020204020204" charset="-122"/>
                <a:ea typeface="微软雅黑" panose="020B0503020204020204" charset="-122"/>
              </a:rPr>
              <a:t>——</a:t>
            </a:r>
            <a:r>
              <a:rPr lang="zh-CN" altLang="en-US" sz="2800" b="1" dirty="0">
                <a:solidFill>
                  <a:srgbClr val="023B8C"/>
                </a:solidFill>
                <a:latin typeface="微软雅黑" panose="020B0503020204020204" charset="-122"/>
                <a:ea typeface="微软雅黑" panose="020B0503020204020204" charset="-122"/>
              </a:rPr>
              <a:t>掩蔽效应</a:t>
            </a: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3"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8"/>
                                        </p:tgtEl>
                                        <p:attrNameLst>
                                          <p:attrName>style.visibility</p:attrName>
                                        </p:attrNameLst>
                                      </p:cBhvr>
                                      <p:to>
                                        <p:strVal val="visible"/>
                                      </p:to>
                                    </p:set>
                                    <p:anim calcmode="lin" valueType="num">
                                      <p:cBhvr additive="base">
                                        <p:cTn id="7" dur="500" fill="hold"/>
                                        <p:tgtEl>
                                          <p:spTgt spid="26628"/>
                                        </p:tgtEl>
                                        <p:attrNameLst>
                                          <p:attrName>ppt_x</p:attrName>
                                        </p:attrNameLst>
                                      </p:cBhvr>
                                      <p:tavLst>
                                        <p:tav tm="0">
                                          <p:val>
                                            <p:strVal val="#ppt_x"/>
                                          </p:val>
                                        </p:tav>
                                        <p:tav tm="100000">
                                          <p:val>
                                            <p:strVal val="#ppt_x"/>
                                          </p:val>
                                        </p:tav>
                                      </p:tavLst>
                                    </p:anim>
                                    <p:anim calcmode="lin" valueType="num">
                                      <p:cBhvr additive="base">
                                        <p:cTn id="8" dur="500" fill="hold"/>
                                        <p:tgtEl>
                                          <p:spTgt spid="266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23">
                                            <p:txEl>
                                              <p:pRg st="0" end="0"/>
                                            </p:txEl>
                                          </p:spTgt>
                                        </p:tgtEl>
                                        <p:attrNameLst>
                                          <p:attrName>style.visibility</p:attrName>
                                        </p:attrNameLst>
                                      </p:cBhvr>
                                      <p:to>
                                        <p:strVal val="visible"/>
                                      </p:to>
                                    </p:set>
                                    <p:anim calcmode="lin" valueType="num">
                                      <p:cBhvr additive="base">
                                        <p:cTn id="13" dur="500" fill="hold"/>
                                        <p:tgtEl>
                                          <p:spTgt spid="3072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723">
                                            <p:txEl>
                                              <p:pRg st="1" end="1"/>
                                            </p:txEl>
                                          </p:spTgt>
                                        </p:tgtEl>
                                        <p:attrNameLst>
                                          <p:attrName>style.visibility</p:attrName>
                                        </p:attrNameLst>
                                      </p:cBhvr>
                                      <p:to>
                                        <p:strVal val="visible"/>
                                      </p:to>
                                    </p:set>
                                    <p:anim calcmode="lin" valueType="num">
                                      <p:cBhvr additive="base">
                                        <p:cTn id="19" dur="500" fill="hold"/>
                                        <p:tgtEl>
                                          <p:spTgt spid="3072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723">
                                            <p:txEl>
                                              <p:pRg st="2" end="2"/>
                                            </p:txEl>
                                          </p:spTgt>
                                        </p:tgtEl>
                                        <p:attrNameLst>
                                          <p:attrName>style.visibility</p:attrName>
                                        </p:attrNameLst>
                                      </p:cBhvr>
                                      <p:to>
                                        <p:strVal val="visible"/>
                                      </p:to>
                                    </p:set>
                                    <p:anim calcmode="lin" valueType="num">
                                      <p:cBhvr additive="base">
                                        <p:cTn id="25" dur="500" fill="hold"/>
                                        <p:tgtEl>
                                          <p:spTgt spid="3072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0723">
                                            <p:txEl>
                                              <p:pRg st="3" end="3"/>
                                            </p:txEl>
                                          </p:spTgt>
                                        </p:tgtEl>
                                        <p:attrNameLst>
                                          <p:attrName>style.visibility</p:attrName>
                                        </p:attrNameLst>
                                      </p:cBhvr>
                                      <p:to>
                                        <p:strVal val="visible"/>
                                      </p:to>
                                    </p:set>
                                    <p:anim calcmode="lin" valueType="num">
                                      <p:cBhvr additive="base">
                                        <p:cTn id="31" dur="500" fill="hold"/>
                                        <p:tgtEl>
                                          <p:spTgt spid="3072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7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0723">
                                            <p:txEl>
                                              <p:pRg st="4" end="4"/>
                                            </p:txEl>
                                          </p:spTgt>
                                        </p:tgtEl>
                                        <p:attrNameLst>
                                          <p:attrName>style.visibility</p:attrName>
                                        </p:attrNameLst>
                                      </p:cBhvr>
                                      <p:to>
                                        <p:strVal val="visible"/>
                                      </p:to>
                                    </p:set>
                                    <p:anim calcmode="lin" valueType="num">
                                      <p:cBhvr additive="base">
                                        <p:cTn id="37" dur="500" fill="hold"/>
                                        <p:tgtEl>
                                          <p:spTgt spid="3072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072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8" name="Picture 4" descr="Image298"/>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335281" y="1844675"/>
            <a:ext cx="6953249" cy="3824817"/>
          </a:xfrm>
          <a:noFill/>
        </p:spPr>
      </p:pic>
      <p:sp>
        <p:nvSpPr>
          <p:cNvPr id="30723" name="Rectangle 3"/>
          <p:cNvSpPr>
            <a:spLocks noGrp="1" noChangeArrowheads="1"/>
          </p:cNvSpPr>
          <p:nvPr>
            <p:ph sz="half" idx="2"/>
          </p:nvPr>
        </p:nvSpPr>
        <p:spPr>
          <a:xfrm>
            <a:off x="6888692" y="2060258"/>
            <a:ext cx="4775200" cy="4114800"/>
          </a:xfrm>
        </p:spPr>
        <p:txBody>
          <a:bodyPr/>
          <a:lstStyle/>
          <a:p>
            <a:pPr eaLnBrk="1" hangingPunct="1"/>
            <a:r>
              <a:rPr lang="zh-CN" altLang="en-US"/>
              <a:t>练习</a:t>
            </a:r>
            <a:endParaRPr lang="en-US" altLang="zh-CN"/>
          </a:p>
          <a:p>
            <a:pPr lvl="1" eaLnBrk="1" hangingPunct="1"/>
            <a:r>
              <a:rPr lang="zh-CN" altLang="en-US"/>
              <a:t>若时刻</a:t>
            </a:r>
            <a:r>
              <a:rPr lang="en-US" altLang="zh-CN"/>
              <a:t>0</a:t>
            </a:r>
            <a:r>
              <a:rPr lang="zh-CN" altLang="en-US"/>
              <a:t>时，有一个</a:t>
            </a:r>
            <a:r>
              <a:rPr lang="en-US" altLang="zh-CN"/>
              <a:t>50dB</a:t>
            </a:r>
            <a:r>
              <a:rPr lang="zh-CN" altLang="en-US"/>
              <a:t>声强级的单音，</a:t>
            </a:r>
            <a:r>
              <a:rPr lang="en-US" altLang="zh-CN"/>
              <a:t>20</a:t>
            </a:r>
            <a:r>
              <a:rPr lang="zh-CN" altLang="en-US"/>
              <a:t>毫秒后，有一个</a:t>
            </a:r>
            <a:r>
              <a:rPr lang="en-US" altLang="zh-CN"/>
              <a:t>80dB</a:t>
            </a:r>
            <a:r>
              <a:rPr lang="zh-CN" altLang="en-US"/>
              <a:t>声强级的单音，则人耳能区分出几个声音？</a:t>
            </a:r>
            <a:endParaRPr lang="en-US" altLang="zh-CN"/>
          </a:p>
          <a:p>
            <a:pPr lvl="1" eaLnBrk="1" hangingPunct="1"/>
            <a:r>
              <a:rPr lang="zh-CN" altLang="en-US"/>
              <a:t>若两者出现顺序对调，结果如何？</a:t>
            </a:r>
            <a:endParaRPr lang="en-US" altLang="zh-CN"/>
          </a:p>
        </p:txBody>
      </p:sp>
      <p:sp>
        <p:nvSpPr>
          <p:cNvPr id="2" name="矩形 1"/>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听觉系统和语音感知——掩蔽效应</a:t>
            </a: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3"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8"/>
                                        </p:tgtEl>
                                        <p:attrNameLst>
                                          <p:attrName>style.visibility</p:attrName>
                                        </p:attrNameLst>
                                      </p:cBhvr>
                                      <p:to>
                                        <p:strVal val="visible"/>
                                      </p:to>
                                    </p:set>
                                    <p:anim calcmode="lin" valueType="num">
                                      <p:cBhvr additive="base">
                                        <p:cTn id="7" dur="500" fill="hold"/>
                                        <p:tgtEl>
                                          <p:spTgt spid="26628"/>
                                        </p:tgtEl>
                                        <p:attrNameLst>
                                          <p:attrName>ppt_x</p:attrName>
                                        </p:attrNameLst>
                                      </p:cBhvr>
                                      <p:tavLst>
                                        <p:tav tm="0">
                                          <p:val>
                                            <p:strVal val="#ppt_x"/>
                                          </p:val>
                                        </p:tav>
                                        <p:tav tm="100000">
                                          <p:val>
                                            <p:strVal val="#ppt_x"/>
                                          </p:val>
                                        </p:tav>
                                      </p:tavLst>
                                    </p:anim>
                                    <p:anim calcmode="lin" valueType="num">
                                      <p:cBhvr additive="base">
                                        <p:cTn id="8" dur="500" fill="hold"/>
                                        <p:tgtEl>
                                          <p:spTgt spid="266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723">
                                            <p:txEl>
                                              <p:pRg st="0" end="0"/>
                                            </p:txEl>
                                          </p:spTgt>
                                        </p:tgtEl>
                                        <p:attrNameLst>
                                          <p:attrName>style.visibility</p:attrName>
                                        </p:attrNameLst>
                                      </p:cBhvr>
                                      <p:to>
                                        <p:strVal val="visible"/>
                                      </p:to>
                                    </p:set>
                                    <p:anim calcmode="lin" valueType="num">
                                      <p:cBhvr additive="base">
                                        <p:cTn id="13" dur="500" fill="hold"/>
                                        <p:tgtEl>
                                          <p:spTgt spid="3072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723">
                                            <p:txEl>
                                              <p:pRg st="1" end="1"/>
                                            </p:txEl>
                                          </p:spTgt>
                                        </p:tgtEl>
                                        <p:attrNameLst>
                                          <p:attrName>style.visibility</p:attrName>
                                        </p:attrNameLst>
                                      </p:cBhvr>
                                      <p:to>
                                        <p:strVal val="visible"/>
                                      </p:to>
                                    </p:set>
                                    <p:anim calcmode="lin" valueType="num">
                                      <p:cBhvr additive="base">
                                        <p:cTn id="19" dur="500" fill="hold"/>
                                        <p:tgtEl>
                                          <p:spTgt spid="3072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723">
                                            <p:txEl>
                                              <p:pRg st="2" end="2"/>
                                            </p:txEl>
                                          </p:spTgt>
                                        </p:tgtEl>
                                        <p:attrNameLst>
                                          <p:attrName>style.visibility</p:attrName>
                                        </p:attrNameLst>
                                      </p:cBhvr>
                                      <p:to>
                                        <p:strVal val="visible"/>
                                      </p:to>
                                    </p:set>
                                    <p:anim calcmode="lin" valueType="num">
                                      <p:cBhvr additive="base">
                                        <p:cTn id="25" dur="500" fill="hold"/>
                                        <p:tgtEl>
                                          <p:spTgt spid="3072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2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bldLvl="5"/>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1" name="Picture 2" descr="Image29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36127" y="2060310"/>
            <a:ext cx="10968567" cy="4415367"/>
          </a:xfrm>
          <a:noFill/>
        </p:spPr>
      </p:pic>
      <p:sp>
        <p:nvSpPr>
          <p:cNvPr id="7" name="TextBox 6"/>
          <p:cNvSpPr txBox="1">
            <a:spLocks noChangeArrowheads="1"/>
          </p:cNvSpPr>
          <p:nvPr/>
        </p:nvSpPr>
        <p:spPr bwMode="auto">
          <a:xfrm>
            <a:off x="2279650" y="1557020"/>
            <a:ext cx="979805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lnSpc>
                <a:spcPct val="150000"/>
              </a:lnSpc>
              <a:buFont typeface="Arial" panose="020B0604020202020204" pitchFamily="34" charset="0"/>
              <a:buChar char="•"/>
            </a:pPr>
            <a:r>
              <a:rPr lang="zh-CN" altLang="en-US" sz="2800" dirty="0"/>
              <a:t>虚线所示曲线为听阈。</a:t>
            </a:r>
            <a:endParaRPr lang="en-US" altLang="zh-CN" sz="2800" dirty="0"/>
          </a:p>
          <a:p>
            <a:pPr eaLnBrk="1" hangingPunct="1">
              <a:lnSpc>
                <a:spcPct val="150000"/>
              </a:lnSpc>
              <a:buFont typeface="Arial" panose="020B0604020202020204" pitchFamily="34" charset="0"/>
              <a:buChar char="•"/>
            </a:pPr>
            <a:r>
              <a:rPr lang="zh-CN" altLang="en-US" sz="2800" dirty="0"/>
              <a:t>强信号附近的听阈发生了变化</a:t>
            </a:r>
            <a:r>
              <a:rPr lang="en-US" altLang="zh-CN" sz="2800" dirty="0"/>
              <a:t>——</a:t>
            </a:r>
            <a:r>
              <a:rPr lang="zh-CN" altLang="en-US" sz="2800" dirty="0"/>
              <a:t>听阈提高。</a:t>
            </a:r>
            <a:endParaRPr lang="en-US" altLang="zh-CN" sz="2800" dirty="0"/>
          </a:p>
          <a:p>
            <a:pPr eaLnBrk="1" hangingPunct="1">
              <a:lnSpc>
                <a:spcPct val="150000"/>
              </a:lnSpc>
              <a:buFont typeface="Arial" panose="020B0604020202020204" pitchFamily="34" charset="0"/>
              <a:buChar char="•"/>
            </a:pPr>
            <a:r>
              <a:rPr lang="zh-CN" altLang="en-US" sz="2800" dirty="0"/>
              <a:t>安静环境，</a:t>
            </a:r>
            <a:r>
              <a:rPr lang="en-US" altLang="zh-CN" sz="2800" dirty="0"/>
              <a:t>2000Hz</a:t>
            </a:r>
            <a:r>
              <a:rPr lang="zh-CN" altLang="en-US" sz="2800" dirty="0"/>
              <a:t>，声强级</a:t>
            </a:r>
            <a:r>
              <a:rPr lang="en-US" altLang="zh-CN" sz="2800" dirty="0"/>
              <a:t>10dB</a:t>
            </a:r>
            <a:r>
              <a:rPr lang="zh-CN" altLang="en-US" sz="2800" dirty="0"/>
              <a:t>左右的声音就可以被感知；</a:t>
            </a:r>
            <a:endParaRPr lang="en-US" altLang="zh-CN" sz="2800" dirty="0"/>
          </a:p>
          <a:p>
            <a:pPr eaLnBrk="1" hangingPunct="1">
              <a:lnSpc>
                <a:spcPct val="150000"/>
              </a:lnSpc>
              <a:buFont typeface="Arial" panose="020B0604020202020204" pitchFamily="34" charset="0"/>
              <a:buChar char="•"/>
            </a:pPr>
            <a:r>
              <a:rPr lang="zh-CN" altLang="en-US" sz="2800" dirty="0"/>
              <a:t>存在</a:t>
            </a:r>
            <a:r>
              <a:rPr lang="en-US" altLang="zh-CN" sz="2800" dirty="0"/>
              <a:t>1000Hz</a:t>
            </a:r>
            <a:r>
              <a:rPr lang="zh-CN" altLang="en-US" sz="2800" dirty="0"/>
              <a:t>，声强级</a:t>
            </a:r>
            <a:r>
              <a:rPr lang="en-US" altLang="zh-CN" sz="2800" dirty="0"/>
              <a:t>60dB</a:t>
            </a:r>
            <a:r>
              <a:rPr lang="zh-CN" altLang="en-US" sz="2800" dirty="0"/>
              <a:t>掩蔽音时，人却听不到上述声音了。</a:t>
            </a:r>
          </a:p>
        </p:txBody>
      </p:sp>
      <p:sp>
        <p:nvSpPr>
          <p:cNvPr id="2" name="矩形 1"/>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听觉系统和语音感知</a:t>
            </a: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掩蔽效应</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3" name="平行四边形 2"/>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4"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6"/>
          <p:cNvSpPr>
            <a:spLocks noGrp="1"/>
          </p:cNvSpPr>
          <p:nvPr>
            <p:ph type="title"/>
          </p:nvPr>
        </p:nvSpPr>
        <p:spPr>
          <a:xfrm>
            <a:off x="1775249" y="548640"/>
            <a:ext cx="9751483" cy="1143000"/>
          </a:xfrm>
        </p:spPr>
        <p:txBody>
          <a:bodyPr/>
          <a:lstStyle/>
          <a:p>
            <a:pPr eaLnBrk="1" hangingPunct="1"/>
            <a:r>
              <a:rPr lang="zh-CN" altLang="en-US">
                <a:solidFill>
                  <a:srgbClr val="023B8C"/>
                </a:solidFill>
              </a:rPr>
              <a:t>语音感知与理解</a:t>
            </a:r>
          </a:p>
        </p:txBody>
      </p:sp>
      <p:sp>
        <p:nvSpPr>
          <p:cNvPr id="8" name="Content Placeholder 7"/>
          <p:cNvSpPr>
            <a:spLocks noGrp="1"/>
          </p:cNvSpPr>
          <p:nvPr>
            <p:ph idx="1"/>
          </p:nvPr>
        </p:nvSpPr>
        <p:spPr/>
        <p:txBody>
          <a:bodyPr/>
          <a:lstStyle/>
          <a:p>
            <a:pPr eaLnBrk="1" hangingPunct="1"/>
            <a:r>
              <a:rPr dirty="0"/>
              <a:t>包含自下而上和自上而下的过程</a:t>
            </a:r>
          </a:p>
          <a:p>
            <a:pPr eaLnBrk="1" hangingPunct="1"/>
            <a:r>
              <a:rPr dirty="0"/>
              <a:t>前者在于收集语音信号中所含有的信息，但光靠这些信息还不足以进行语言理解，还要由收听者根据语法和句法知识对语音信息进行理解。</a:t>
            </a:r>
          </a:p>
          <a:p>
            <a:pPr eaLnBrk="1" hangingPunct="1"/>
            <a:r>
              <a:rPr lang="zh-CN" dirty="0"/>
              <a:t>例如，对言语清晰度有影响的一些因素</a:t>
            </a:r>
          </a:p>
          <a:p>
            <a:pPr lvl="1" algn="l"/>
            <a:r>
              <a:rPr lang="zh-CN" altLang="en-US" dirty="0">
                <a:cs typeface="+mn-ea"/>
              </a:rPr>
              <a:t>语音强度对清晰度的影响</a:t>
            </a:r>
          </a:p>
          <a:p>
            <a:pPr lvl="1" algn="l"/>
            <a:r>
              <a:rPr lang="zh-CN" altLang="en-US" dirty="0">
                <a:cs typeface="+mn-ea"/>
              </a:rPr>
              <a:t>对语音的掩蔽作用</a:t>
            </a:r>
          </a:p>
          <a:p>
            <a:pPr lvl="1" algn="l"/>
            <a:r>
              <a:rPr lang="zh-CN" altLang="en-US" dirty="0">
                <a:cs typeface="+mn-ea"/>
              </a:rPr>
              <a:t>频率选择性</a:t>
            </a:r>
          </a:p>
          <a:p>
            <a:pPr lvl="1" algn="l"/>
            <a:r>
              <a:rPr lang="zh-CN" altLang="en-US" dirty="0">
                <a:cs typeface="+mn-ea"/>
              </a:rPr>
              <a:t>限幅的影响</a:t>
            </a:r>
            <a:endParaRPr dirty="0"/>
          </a:p>
        </p:txBody>
      </p:sp>
      <p:sp>
        <p:nvSpPr>
          <p:cNvPr id="2" name="矩形 1"/>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听觉系统和语音感知</a:t>
            </a: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3"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 calcmode="lin" valueType="num">
                                      <p:cBhvr additive="base">
                                        <p:cTn id="2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xEl>
                                              <p:pRg st="4" end="4"/>
                                            </p:txEl>
                                          </p:spTgt>
                                        </p:tgtEl>
                                        <p:attrNameLst>
                                          <p:attrName>style.visibility</p:attrName>
                                        </p:attrNameLst>
                                      </p:cBhvr>
                                      <p:to>
                                        <p:strVal val="visible"/>
                                      </p:to>
                                    </p:set>
                                    <p:anim calcmode="lin" valueType="num">
                                      <p:cBhvr additive="base">
                                        <p:cTn id="31"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 calcmode="lin" valueType="num">
                                      <p:cBhvr additive="base">
                                        <p:cTn id="37"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xEl>
                                              <p:pRg st="6" end="6"/>
                                            </p:txEl>
                                          </p:spTgt>
                                        </p:tgtEl>
                                        <p:attrNameLst>
                                          <p:attrName>style.visibility</p:attrName>
                                        </p:attrNameLst>
                                      </p:cBhvr>
                                      <p:to>
                                        <p:strVal val="visible"/>
                                      </p:to>
                                    </p:set>
                                    <p:anim calcmode="lin" valueType="num">
                                      <p:cBhvr additive="base">
                                        <p:cTn id="43"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1342814" y="1412558"/>
            <a:ext cx="9751483" cy="4114800"/>
          </a:xfrm>
        </p:spPr>
        <p:txBody>
          <a:bodyPr/>
          <a:lstStyle/>
          <a:p>
            <a:pPr eaLnBrk="1" hangingPunct="1">
              <a:lnSpc>
                <a:spcPct val="150000"/>
              </a:lnSpc>
            </a:pPr>
            <a:r>
              <a:rPr lang="zh-CN" altLang="en-US" dirty="0">
                <a:latin typeface="宋体" panose="02010600030101010101" pitchFamily="2" charset="-122"/>
              </a:rPr>
              <a:t>主观评价</a:t>
            </a:r>
            <a:endParaRPr lang="en-US" altLang="zh-CN" dirty="0">
              <a:latin typeface="宋体" panose="02010600030101010101" pitchFamily="2" charset="-122"/>
            </a:endParaRPr>
          </a:p>
          <a:p>
            <a:pPr lvl="1" eaLnBrk="1" hangingPunct="1">
              <a:lnSpc>
                <a:spcPct val="150000"/>
              </a:lnSpc>
            </a:pPr>
            <a:r>
              <a:rPr lang="zh-CN" altLang="en-US" dirty="0"/>
              <a:t>主观评价由人来对语音的质量进行评价。</a:t>
            </a:r>
          </a:p>
          <a:p>
            <a:pPr eaLnBrk="1" hangingPunct="1">
              <a:lnSpc>
                <a:spcPct val="150000"/>
              </a:lnSpc>
            </a:pPr>
            <a:r>
              <a:rPr lang="zh-CN" altLang="en-US" dirty="0">
                <a:latin typeface="宋体" panose="02010600030101010101" pitchFamily="2" charset="-122"/>
              </a:rPr>
              <a:t>客观评价</a:t>
            </a:r>
            <a:endParaRPr lang="en-US" altLang="zh-CN" dirty="0">
              <a:latin typeface="宋体" panose="02010600030101010101" pitchFamily="2" charset="-122"/>
            </a:endParaRPr>
          </a:p>
          <a:p>
            <a:pPr lvl="1" eaLnBrk="1" hangingPunct="1">
              <a:lnSpc>
                <a:spcPct val="150000"/>
              </a:lnSpc>
            </a:pPr>
            <a:r>
              <a:rPr lang="zh-CN" altLang="en-US" dirty="0"/>
              <a:t>客观评价不以人为主体。</a:t>
            </a:r>
            <a:endParaRPr lang="en-US" altLang="zh-CN" dirty="0"/>
          </a:p>
          <a:p>
            <a:pPr lvl="1" eaLnBrk="1" hangingPunct="1">
              <a:lnSpc>
                <a:spcPct val="150000"/>
              </a:lnSpc>
            </a:pPr>
            <a:r>
              <a:rPr lang="zh-CN" altLang="en-US" dirty="0"/>
              <a:t>通常提取处理前后的语音的某类特征参量，根据某种规则计算这两组参量之间的差别，是一种“误差”度量。</a:t>
            </a:r>
          </a:p>
        </p:txBody>
      </p:sp>
      <p:sp>
        <p:nvSpPr>
          <p:cNvPr id="2" name="矩形 1"/>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语音的质量评价</a:t>
            </a: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8"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 calcmode="lin" valueType="num">
                                      <p:cBhvr additive="base">
                                        <p:cTn id="7" dur="500" fill="hold"/>
                                        <p:tgtEl>
                                          <p:spTgt spid="3993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3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939">
                                            <p:txEl>
                                              <p:pRg st="1" end="1"/>
                                            </p:txEl>
                                          </p:spTgt>
                                        </p:tgtEl>
                                        <p:attrNameLst>
                                          <p:attrName>style.visibility</p:attrName>
                                        </p:attrNameLst>
                                      </p:cBhvr>
                                      <p:to>
                                        <p:strVal val="visible"/>
                                      </p:to>
                                    </p:set>
                                    <p:anim calcmode="lin" valueType="num">
                                      <p:cBhvr additive="base">
                                        <p:cTn id="13" dur="500" fill="hold"/>
                                        <p:tgtEl>
                                          <p:spTgt spid="3993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9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9939">
                                            <p:txEl>
                                              <p:pRg st="2" end="2"/>
                                            </p:txEl>
                                          </p:spTgt>
                                        </p:tgtEl>
                                        <p:attrNameLst>
                                          <p:attrName>style.visibility</p:attrName>
                                        </p:attrNameLst>
                                      </p:cBhvr>
                                      <p:to>
                                        <p:strVal val="visible"/>
                                      </p:to>
                                    </p:set>
                                    <p:anim calcmode="lin" valueType="num">
                                      <p:cBhvr additive="base">
                                        <p:cTn id="19" dur="500" fill="hold"/>
                                        <p:tgtEl>
                                          <p:spTgt spid="3993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99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9939">
                                            <p:txEl>
                                              <p:pRg st="3" end="3"/>
                                            </p:txEl>
                                          </p:spTgt>
                                        </p:tgtEl>
                                        <p:attrNameLst>
                                          <p:attrName>style.visibility</p:attrName>
                                        </p:attrNameLst>
                                      </p:cBhvr>
                                      <p:to>
                                        <p:strVal val="visible"/>
                                      </p:to>
                                    </p:set>
                                    <p:anim calcmode="lin" valueType="num">
                                      <p:cBhvr additive="base">
                                        <p:cTn id="25" dur="500" fill="hold"/>
                                        <p:tgtEl>
                                          <p:spTgt spid="3993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9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9939">
                                            <p:txEl>
                                              <p:pRg st="4" end="4"/>
                                            </p:txEl>
                                          </p:spTgt>
                                        </p:tgtEl>
                                        <p:attrNameLst>
                                          <p:attrName>style.visibility</p:attrName>
                                        </p:attrNameLst>
                                      </p:cBhvr>
                                      <p:to>
                                        <p:strVal val="visible"/>
                                      </p:to>
                                    </p:set>
                                    <p:anim calcmode="lin" valueType="num">
                                      <p:cBhvr additive="base">
                                        <p:cTn id="31" dur="500" fill="hold"/>
                                        <p:tgtEl>
                                          <p:spTgt spid="3993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993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bldLvl="5"/>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a:xfrm>
            <a:off x="1055371" y="1484630"/>
            <a:ext cx="10261600" cy="5486400"/>
          </a:xfrm>
        </p:spPr>
        <p:txBody>
          <a:bodyPr/>
          <a:lstStyle/>
          <a:p>
            <a:pPr eaLnBrk="1" hangingPunct="1"/>
            <a:r>
              <a:rPr lang="zh-CN" altLang="en-US" dirty="0">
                <a:latin typeface="宋体" panose="02010600030101010101" pitchFamily="2" charset="-122"/>
              </a:rPr>
              <a:t>平均意见分（</a:t>
            </a:r>
            <a:r>
              <a:rPr lang="en-US" altLang="zh-CN" dirty="0"/>
              <a:t>MOS</a:t>
            </a:r>
            <a:r>
              <a:rPr lang="zh-CN" altLang="en-US" dirty="0">
                <a:latin typeface="宋体" panose="02010600030101010101" pitchFamily="2" charset="-122"/>
              </a:rPr>
              <a:t>：</a:t>
            </a:r>
            <a:r>
              <a:rPr lang="en-US" altLang="zh-CN" dirty="0"/>
              <a:t>Mean Opinion Score</a:t>
            </a:r>
            <a:r>
              <a:rPr lang="zh-CN" altLang="en-US" dirty="0">
                <a:latin typeface="宋体" panose="02010600030101010101" pitchFamily="2" charset="-122"/>
              </a:rPr>
              <a:t>）</a:t>
            </a:r>
          </a:p>
          <a:p>
            <a:pPr lvl="1" eaLnBrk="1" hangingPunct="1"/>
            <a:r>
              <a:rPr lang="zh-CN" altLang="en-US" dirty="0">
                <a:latin typeface="宋体" panose="02010600030101010101" pitchFamily="2" charset="-122"/>
              </a:rPr>
              <a:t>用</a:t>
            </a:r>
            <a:r>
              <a:rPr lang="en-US" altLang="zh-CN" dirty="0"/>
              <a:t>5</a:t>
            </a:r>
            <a:r>
              <a:rPr lang="zh-CN" altLang="en-US" dirty="0">
                <a:latin typeface="宋体" panose="02010600030101010101" pitchFamily="2" charset="-122"/>
              </a:rPr>
              <a:t>级评分标准来评价语音的质量。</a:t>
            </a:r>
            <a:endParaRPr lang="en-US" altLang="zh-CN" dirty="0">
              <a:latin typeface="宋体" panose="02010600030101010101" pitchFamily="2" charset="-122"/>
            </a:endParaRPr>
          </a:p>
          <a:p>
            <a:pPr lvl="1" eaLnBrk="1" hangingPunct="1"/>
            <a:endParaRPr lang="en-US" altLang="zh-CN" dirty="0">
              <a:latin typeface="宋体" panose="02010600030101010101" pitchFamily="2" charset="-122"/>
            </a:endParaRPr>
          </a:p>
          <a:p>
            <a:pPr lvl="1" eaLnBrk="1" hangingPunct="1"/>
            <a:endParaRPr lang="en-US" altLang="zh-CN" dirty="0">
              <a:latin typeface="宋体" panose="02010600030101010101" pitchFamily="2" charset="-122"/>
            </a:endParaRPr>
          </a:p>
          <a:p>
            <a:pPr lvl="1" eaLnBrk="1" hangingPunct="1"/>
            <a:endParaRPr lang="en-US" altLang="zh-CN" dirty="0">
              <a:latin typeface="宋体" panose="02010600030101010101" pitchFamily="2" charset="-122"/>
            </a:endParaRPr>
          </a:p>
          <a:p>
            <a:pPr lvl="1" eaLnBrk="1" hangingPunct="1"/>
            <a:endParaRPr lang="en-US" altLang="zh-CN" dirty="0">
              <a:latin typeface="宋体" panose="02010600030101010101" pitchFamily="2" charset="-122"/>
            </a:endParaRPr>
          </a:p>
          <a:p>
            <a:pPr lvl="1" eaLnBrk="1" hangingPunct="1"/>
            <a:endParaRPr lang="en-US" altLang="zh-CN" dirty="0">
              <a:latin typeface="宋体" panose="02010600030101010101" pitchFamily="2" charset="-122"/>
            </a:endParaRPr>
          </a:p>
          <a:p>
            <a:pPr lvl="1" eaLnBrk="1" hangingPunct="1"/>
            <a:r>
              <a:rPr lang="zh-CN" altLang="en-US" dirty="0">
                <a:latin typeface="宋体" panose="02010600030101010101" pitchFamily="2" charset="-122"/>
              </a:rPr>
              <a:t>实验者的分别打分评价语音质量。</a:t>
            </a:r>
            <a:endParaRPr lang="en-US" altLang="zh-CN" dirty="0">
              <a:latin typeface="宋体" panose="02010600030101010101" pitchFamily="2" charset="-122"/>
            </a:endParaRPr>
          </a:p>
          <a:p>
            <a:pPr lvl="1" eaLnBrk="1" hangingPunct="1"/>
            <a:r>
              <a:rPr lang="zh-CN" altLang="en-US" dirty="0">
                <a:latin typeface="宋体" panose="02010600030101010101" pitchFamily="2" charset="-122"/>
              </a:rPr>
              <a:t>全体实验者的平均分就是所测语音质量的</a:t>
            </a:r>
            <a:r>
              <a:rPr lang="en-US" altLang="zh-CN" dirty="0"/>
              <a:t>MOS</a:t>
            </a:r>
            <a:r>
              <a:rPr lang="zh-CN" altLang="en-US" dirty="0">
                <a:latin typeface="宋体" panose="02010600030101010101" pitchFamily="2" charset="-122"/>
              </a:rPr>
              <a:t>分。</a:t>
            </a:r>
            <a:endParaRPr lang="en-US" altLang="zh-CN" dirty="0">
              <a:latin typeface="宋体" panose="02010600030101010101" pitchFamily="2" charset="-122"/>
            </a:endParaRPr>
          </a:p>
          <a:p>
            <a:pPr lvl="1" eaLnBrk="1" hangingPunct="1">
              <a:buFont typeface="Wingdings" panose="05000000000000000000" pitchFamily="2" charset="2"/>
              <a:buNone/>
            </a:pPr>
            <a:endParaRPr lang="en-US" altLang="zh-CN" dirty="0">
              <a:latin typeface="宋体" panose="02010600030101010101" pitchFamily="2" charset="-122"/>
            </a:endParaRPr>
          </a:p>
        </p:txBody>
      </p:sp>
      <p:graphicFrame>
        <p:nvGraphicFramePr>
          <p:cNvPr id="64" name="Table 63"/>
          <p:cNvGraphicFramePr>
            <a:graphicFrameLocks noGrp="1"/>
          </p:cNvGraphicFramePr>
          <p:nvPr/>
        </p:nvGraphicFramePr>
        <p:xfrm>
          <a:off x="263526" y="2708910"/>
          <a:ext cx="11715115" cy="292608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7143115">
                  <a:extLst>
                    <a:ext uri="{9D8B030D-6E8A-4147-A177-3AD203B41FA5}">
                      <a16:colId xmlns:a16="http://schemas.microsoft.com/office/drawing/2014/main" val="20002"/>
                    </a:ext>
                  </a:extLst>
                </a:gridCol>
              </a:tblGrid>
              <a:tr h="487680">
                <a:tc>
                  <a:txBody>
                    <a:bodyPr/>
                    <a:lstStyle/>
                    <a:p>
                      <a:r>
                        <a:rPr lang="en-US" altLang="zh-CN" sz="2400" dirty="0"/>
                        <a:t>MOS</a:t>
                      </a:r>
                      <a:endParaRPr lang="zh-CN" altLang="en-US" sz="2400" dirty="0"/>
                    </a:p>
                  </a:txBody>
                  <a:tcPr marL="121920" marR="121920" marT="60906" marB="60906"/>
                </a:tc>
                <a:tc>
                  <a:txBody>
                    <a:bodyPr/>
                    <a:lstStyle/>
                    <a:p>
                      <a:r>
                        <a:rPr lang="zh-CN" altLang="en-US" sz="2400" dirty="0"/>
                        <a:t>质量标准</a:t>
                      </a:r>
                    </a:p>
                  </a:txBody>
                  <a:tcPr marL="121920" marR="121920" marT="60906" marB="60906"/>
                </a:tc>
                <a:tc>
                  <a:txBody>
                    <a:bodyPr/>
                    <a:lstStyle/>
                    <a:p>
                      <a:r>
                        <a:rPr lang="zh-CN" altLang="en-US" sz="2400" dirty="0"/>
                        <a:t>受损程度</a:t>
                      </a:r>
                    </a:p>
                  </a:txBody>
                  <a:tcPr marL="121920" marR="121920" marT="60906" marB="60906"/>
                </a:tc>
                <a:extLst>
                  <a:ext uri="{0D108BD9-81ED-4DB2-BD59-A6C34878D82A}">
                    <a16:rowId xmlns:a16="http://schemas.microsoft.com/office/drawing/2014/main" val="10000"/>
                  </a:ext>
                </a:extLst>
              </a:tr>
              <a:tr h="487680">
                <a:tc>
                  <a:txBody>
                    <a:bodyPr/>
                    <a:lstStyle/>
                    <a:p>
                      <a:r>
                        <a:rPr lang="en-US" altLang="zh-CN" sz="2400" dirty="0"/>
                        <a:t>5</a:t>
                      </a:r>
                      <a:endParaRPr lang="zh-CN" altLang="en-US" sz="2400" dirty="0"/>
                    </a:p>
                  </a:txBody>
                  <a:tcPr marL="121920" marR="121920" marT="60906" marB="60906"/>
                </a:tc>
                <a:tc>
                  <a:txBody>
                    <a:bodyPr/>
                    <a:lstStyle/>
                    <a:p>
                      <a:r>
                        <a:rPr lang="zh-CN" altLang="en-US" sz="2400" dirty="0"/>
                        <a:t>极好</a:t>
                      </a:r>
                    </a:p>
                  </a:txBody>
                  <a:tcPr marL="121920" marR="121920" marT="60906" marB="60906"/>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sz="2400" dirty="0">
                          <a:latin typeface="Times New Roman" panose="02020603050405020304" pitchFamily="18" charset="0"/>
                        </a:rPr>
                        <a:t>不可察觉</a:t>
                      </a:r>
                    </a:p>
                  </a:txBody>
                  <a:tcPr marL="121920" marR="121920" marT="60906" marB="60906"/>
                </a:tc>
                <a:extLst>
                  <a:ext uri="{0D108BD9-81ED-4DB2-BD59-A6C34878D82A}">
                    <a16:rowId xmlns:a16="http://schemas.microsoft.com/office/drawing/2014/main" val="10001"/>
                  </a:ext>
                </a:extLst>
              </a:tr>
              <a:tr h="487680">
                <a:tc>
                  <a:txBody>
                    <a:bodyPr/>
                    <a:lstStyle/>
                    <a:p>
                      <a:r>
                        <a:rPr lang="en-US" altLang="zh-CN" sz="2400" dirty="0"/>
                        <a:t>4</a:t>
                      </a:r>
                      <a:endParaRPr lang="zh-CN" altLang="en-US" sz="2400" dirty="0"/>
                    </a:p>
                  </a:txBody>
                  <a:tcPr marL="121920" marR="121920" marT="60906" marB="60906"/>
                </a:tc>
                <a:tc>
                  <a:txBody>
                    <a:bodyPr/>
                    <a:lstStyle/>
                    <a:p>
                      <a:r>
                        <a:rPr lang="zh-CN" altLang="en-US" sz="2400" dirty="0"/>
                        <a:t>较好</a:t>
                      </a:r>
                    </a:p>
                  </a:txBody>
                  <a:tcPr marL="121920" marR="121920" marT="60906" marB="60906"/>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sz="2400" dirty="0">
                          <a:latin typeface="Times New Roman" panose="02020603050405020304" pitchFamily="18" charset="0"/>
                        </a:rPr>
                        <a:t>可察觉，但不影响听觉效果</a:t>
                      </a:r>
                    </a:p>
                  </a:txBody>
                  <a:tcPr marL="121920" marR="121920" marT="60906" marB="60906"/>
                </a:tc>
                <a:extLst>
                  <a:ext uri="{0D108BD9-81ED-4DB2-BD59-A6C34878D82A}">
                    <a16:rowId xmlns:a16="http://schemas.microsoft.com/office/drawing/2014/main" val="10002"/>
                  </a:ext>
                </a:extLst>
              </a:tr>
              <a:tr h="487680">
                <a:tc>
                  <a:txBody>
                    <a:bodyPr/>
                    <a:lstStyle/>
                    <a:p>
                      <a:r>
                        <a:rPr lang="en-US" altLang="zh-CN" sz="2400" dirty="0"/>
                        <a:t>3</a:t>
                      </a:r>
                      <a:endParaRPr lang="zh-CN" altLang="en-US" sz="2400" dirty="0"/>
                    </a:p>
                  </a:txBody>
                  <a:tcPr marL="121920" marR="121920" marT="60906" marB="60906"/>
                </a:tc>
                <a:tc>
                  <a:txBody>
                    <a:bodyPr/>
                    <a:lstStyle/>
                    <a:p>
                      <a:r>
                        <a:rPr lang="zh-CN" altLang="en-US" sz="2400" dirty="0"/>
                        <a:t>一般</a:t>
                      </a:r>
                    </a:p>
                  </a:txBody>
                  <a:tcPr marL="121920" marR="121920" marT="60906" marB="60906"/>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sz="2400" dirty="0">
                          <a:latin typeface="Times New Roman" panose="02020603050405020304" pitchFamily="18" charset="0"/>
                        </a:rPr>
                        <a:t>轻微影响听觉效果</a:t>
                      </a:r>
                    </a:p>
                  </a:txBody>
                  <a:tcPr marL="121920" marR="121920" marT="60906" marB="60906"/>
                </a:tc>
                <a:extLst>
                  <a:ext uri="{0D108BD9-81ED-4DB2-BD59-A6C34878D82A}">
                    <a16:rowId xmlns:a16="http://schemas.microsoft.com/office/drawing/2014/main" val="10003"/>
                  </a:ext>
                </a:extLst>
              </a:tr>
              <a:tr h="487680">
                <a:tc>
                  <a:txBody>
                    <a:bodyPr/>
                    <a:lstStyle/>
                    <a:p>
                      <a:r>
                        <a:rPr lang="en-US" altLang="zh-CN" sz="2400" dirty="0"/>
                        <a:t>2</a:t>
                      </a:r>
                      <a:endParaRPr lang="zh-CN" altLang="en-US" sz="2400" dirty="0"/>
                    </a:p>
                  </a:txBody>
                  <a:tcPr marL="121920" marR="121920" marT="60906" marB="60906"/>
                </a:tc>
                <a:tc>
                  <a:txBody>
                    <a:bodyPr/>
                    <a:lstStyle/>
                    <a:p>
                      <a:r>
                        <a:rPr lang="zh-CN" altLang="en-US" sz="2400" dirty="0"/>
                        <a:t>较差</a:t>
                      </a:r>
                    </a:p>
                  </a:txBody>
                  <a:tcPr marL="121920" marR="121920" marT="60906" marB="60906"/>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sz="2400" dirty="0">
                          <a:latin typeface="Times New Roman" panose="02020603050405020304" pitchFamily="18" charset="0"/>
                        </a:rPr>
                        <a:t>影响听觉效果</a:t>
                      </a:r>
                    </a:p>
                  </a:txBody>
                  <a:tcPr marL="121920" marR="121920" marT="60906" marB="60906"/>
                </a:tc>
                <a:extLst>
                  <a:ext uri="{0D108BD9-81ED-4DB2-BD59-A6C34878D82A}">
                    <a16:rowId xmlns:a16="http://schemas.microsoft.com/office/drawing/2014/main" val="10004"/>
                  </a:ext>
                </a:extLst>
              </a:tr>
              <a:tr h="487680">
                <a:tc>
                  <a:txBody>
                    <a:bodyPr/>
                    <a:lstStyle/>
                    <a:p>
                      <a:r>
                        <a:rPr lang="en-US" altLang="zh-CN" sz="2400" dirty="0"/>
                        <a:t>1</a:t>
                      </a:r>
                      <a:endParaRPr lang="zh-CN" altLang="en-US" sz="2400" dirty="0"/>
                    </a:p>
                  </a:txBody>
                  <a:tcPr marL="121920" marR="121920" marT="60906" marB="60906"/>
                </a:tc>
                <a:tc>
                  <a:txBody>
                    <a:bodyPr/>
                    <a:lstStyle/>
                    <a:p>
                      <a:r>
                        <a:rPr lang="zh-CN" altLang="en-US" sz="2400" dirty="0"/>
                        <a:t>极差</a:t>
                      </a:r>
                    </a:p>
                  </a:txBody>
                  <a:tcPr marL="121920" marR="121920" marT="60906" marB="60906"/>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1" lang="zh-CN" altLang="en-US" sz="2400" dirty="0">
                          <a:latin typeface="Times New Roman" panose="02020603050405020304" pitchFamily="18" charset="0"/>
                        </a:rPr>
                        <a:t>严重影响听觉效果</a:t>
                      </a:r>
                    </a:p>
                  </a:txBody>
                  <a:tcPr marL="121920" marR="121920" marT="60906" marB="60906"/>
                </a:tc>
                <a:extLst>
                  <a:ext uri="{0D108BD9-81ED-4DB2-BD59-A6C34878D82A}">
                    <a16:rowId xmlns:a16="http://schemas.microsoft.com/office/drawing/2014/main" val="10005"/>
                  </a:ext>
                </a:extLst>
              </a:tr>
            </a:tbl>
          </a:graphicData>
        </a:graphic>
      </p:graphicFrame>
      <p:sp>
        <p:nvSpPr>
          <p:cNvPr id="2" name="矩形 1"/>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语音的质量评价</a:t>
            </a:r>
            <a:r>
              <a:rPr lang="en-US" altLang="zh-CN" sz="2800" b="1" dirty="0">
                <a:solidFill>
                  <a:srgbClr val="023B8C"/>
                </a:solidFill>
                <a:latin typeface="微软雅黑" panose="020B0503020204020204" charset="-122"/>
                <a:ea typeface="微软雅黑" panose="020B0503020204020204" charset="-122"/>
              </a:rPr>
              <a:t>——</a:t>
            </a:r>
            <a:r>
              <a:rPr lang="zh-CN" altLang="en-US" sz="2800" b="1" dirty="0">
                <a:solidFill>
                  <a:srgbClr val="023B8C"/>
                </a:solidFill>
                <a:latin typeface="微软雅黑" panose="020B0503020204020204" charset="-122"/>
                <a:ea typeface="微软雅黑" panose="020B0503020204020204" charset="-122"/>
              </a:rPr>
              <a:t>主观评价方法</a:t>
            </a: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8"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 calcmode="lin" valueType="num">
                                      <p:cBhvr additive="base">
                                        <p:cTn id="7" dur="500" fill="hold"/>
                                        <p:tgtEl>
                                          <p:spTgt spid="409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963">
                                            <p:txEl>
                                              <p:pRg st="1" end="1"/>
                                            </p:txEl>
                                          </p:spTgt>
                                        </p:tgtEl>
                                        <p:attrNameLst>
                                          <p:attrName>style.visibility</p:attrName>
                                        </p:attrNameLst>
                                      </p:cBhvr>
                                      <p:to>
                                        <p:strVal val="visible"/>
                                      </p:to>
                                    </p:set>
                                    <p:anim calcmode="lin" valueType="num">
                                      <p:cBhvr additive="base">
                                        <p:cTn id="13" dur="500" fill="hold"/>
                                        <p:tgtEl>
                                          <p:spTgt spid="409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9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4"/>
                                        </p:tgtEl>
                                        <p:attrNameLst>
                                          <p:attrName>style.visibility</p:attrName>
                                        </p:attrNameLst>
                                      </p:cBhvr>
                                      <p:to>
                                        <p:strVal val="visible"/>
                                      </p:to>
                                    </p:set>
                                    <p:anim calcmode="lin" valueType="num">
                                      <p:cBhvr additive="base">
                                        <p:cTn id="19" dur="500" fill="hold"/>
                                        <p:tgtEl>
                                          <p:spTgt spid="64"/>
                                        </p:tgtEl>
                                        <p:attrNameLst>
                                          <p:attrName>ppt_x</p:attrName>
                                        </p:attrNameLst>
                                      </p:cBhvr>
                                      <p:tavLst>
                                        <p:tav tm="0">
                                          <p:val>
                                            <p:strVal val="#ppt_x"/>
                                          </p:val>
                                        </p:tav>
                                        <p:tav tm="100000">
                                          <p:val>
                                            <p:strVal val="#ppt_x"/>
                                          </p:val>
                                        </p:tav>
                                      </p:tavLst>
                                    </p:anim>
                                    <p:anim calcmode="lin" valueType="num">
                                      <p:cBhvr additive="base">
                                        <p:cTn id="20"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0963">
                                            <p:txEl>
                                              <p:pRg st="7" end="7"/>
                                            </p:txEl>
                                          </p:spTgt>
                                        </p:tgtEl>
                                        <p:attrNameLst>
                                          <p:attrName>style.visibility</p:attrName>
                                        </p:attrNameLst>
                                      </p:cBhvr>
                                      <p:to>
                                        <p:strVal val="visible"/>
                                      </p:to>
                                    </p:set>
                                    <p:anim calcmode="lin" valueType="num">
                                      <p:cBhvr additive="base">
                                        <p:cTn id="25" dur="500" fill="hold"/>
                                        <p:tgtEl>
                                          <p:spTgt spid="4096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096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0963">
                                            <p:txEl>
                                              <p:pRg st="8" end="8"/>
                                            </p:txEl>
                                          </p:spTgt>
                                        </p:tgtEl>
                                        <p:attrNameLst>
                                          <p:attrName>style.visibility</p:attrName>
                                        </p:attrNameLst>
                                      </p:cBhvr>
                                      <p:to>
                                        <p:strVal val="visible"/>
                                      </p:to>
                                    </p:set>
                                    <p:anim calcmode="lin" valueType="num">
                                      <p:cBhvr additive="base">
                                        <p:cTn id="31" dur="500" fill="hold"/>
                                        <p:tgtEl>
                                          <p:spTgt spid="4096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096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bldLvl="5"/>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703494" y="741680"/>
            <a:ext cx="9751483" cy="1143000"/>
          </a:xfrm>
        </p:spPr>
        <p:txBody>
          <a:bodyPr/>
          <a:lstStyle/>
          <a:p>
            <a:pPr eaLnBrk="1" hangingPunct="1"/>
            <a:r>
              <a:rPr lang="en-US" altLang="zh-CN">
                <a:solidFill>
                  <a:srgbClr val="023B8C"/>
                </a:solidFill>
              </a:rPr>
              <a:t>MOS</a:t>
            </a:r>
            <a:r>
              <a:rPr lang="zh-CN" altLang="en-US">
                <a:solidFill>
                  <a:srgbClr val="023B8C"/>
                </a:solidFill>
              </a:rPr>
              <a:t>分评价</a:t>
            </a:r>
          </a:p>
        </p:txBody>
      </p:sp>
      <p:sp>
        <p:nvSpPr>
          <p:cNvPr id="43011" name="Rectangle 3"/>
          <p:cNvSpPr>
            <a:spLocks noGrp="1" noChangeArrowheads="1"/>
          </p:cNvSpPr>
          <p:nvPr>
            <p:ph idx="1"/>
          </p:nvPr>
        </p:nvSpPr>
        <p:spPr/>
        <p:txBody>
          <a:bodyPr/>
          <a:lstStyle/>
          <a:p>
            <a:pPr eaLnBrk="1" hangingPunct="1">
              <a:lnSpc>
                <a:spcPct val="150000"/>
              </a:lnSpc>
            </a:pPr>
            <a:r>
              <a:rPr lang="en-US" altLang="zh-CN"/>
              <a:t>MOS</a:t>
            </a:r>
            <a:r>
              <a:rPr lang="zh-CN" altLang="en-US"/>
              <a:t>分</a:t>
            </a:r>
          </a:p>
          <a:p>
            <a:pPr lvl="1" eaLnBrk="1" hangingPunct="1">
              <a:lnSpc>
                <a:spcPct val="150000"/>
              </a:lnSpc>
            </a:pPr>
            <a:r>
              <a:rPr lang="en-US" altLang="zh-CN"/>
              <a:t>4.0-4.5</a:t>
            </a:r>
            <a:r>
              <a:rPr lang="zh-CN" altLang="en-US"/>
              <a:t>（</a:t>
            </a:r>
            <a:r>
              <a:rPr lang="zh-CN" altLang="en-US">
                <a:latin typeface="宋体" panose="02010600030101010101" pitchFamily="2" charset="-122"/>
              </a:rPr>
              <a:t>网络质量）：高质量数字化语音。</a:t>
            </a:r>
          </a:p>
          <a:p>
            <a:pPr lvl="1" eaLnBrk="1" hangingPunct="1">
              <a:lnSpc>
                <a:spcPct val="150000"/>
              </a:lnSpc>
            </a:pPr>
            <a:r>
              <a:rPr lang="en-US" altLang="zh-CN"/>
              <a:t>3.5</a:t>
            </a:r>
            <a:r>
              <a:rPr lang="zh-CN" altLang="en-US">
                <a:latin typeface="宋体" panose="02010600030101010101" pitchFamily="2" charset="-122"/>
              </a:rPr>
              <a:t>分左右（通信质量）：能感觉到语音质量有所下降，但不妨碍正常通话。</a:t>
            </a:r>
          </a:p>
          <a:p>
            <a:pPr lvl="1" eaLnBrk="1" hangingPunct="1">
              <a:lnSpc>
                <a:spcPct val="150000"/>
              </a:lnSpc>
            </a:pPr>
            <a:r>
              <a:rPr lang="en-US" altLang="zh-CN"/>
              <a:t>3.0</a:t>
            </a:r>
            <a:r>
              <a:rPr lang="zh-CN" altLang="en-US">
                <a:latin typeface="宋体" panose="02010600030101010101" pitchFamily="2" charset="-122"/>
              </a:rPr>
              <a:t>分以下（合成语音质量）：具有足够高的可懂度，但自然度不够好，并且不易进行讲话人识别</a:t>
            </a:r>
            <a:r>
              <a:rPr lang="zh-CN" altLang="en-US"/>
              <a:t> 。</a:t>
            </a:r>
          </a:p>
        </p:txBody>
      </p:sp>
      <p:sp>
        <p:nvSpPr>
          <p:cNvPr id="2" name="矩形 1"/>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语音的质量评价</a:t>
            </a:r>
            <a:r>
              <a:rPr lang="en-US" altLang="zh-CN" sz="2800" b="1" dirty="0">
                <a:solidFill>
                  <a:srgbClr val="023B8C"/>
                </a:solidFill>
                <a:latin typeface="微软雅黑" panose="020B0503020204020204" charset="-122"/>
                <a:ea typeface="微软雅黑" panose="020B0503020204020204" charset="-122"/>
              </a:rPr>
              <a:t>——</a:t>
            </a:r>
            <a:r>
              <a:rPr lang="zh-CN" altLang="en-US" sz="2800" b="1" dirty="0">
                <a:solidFill>
                  <a:srgbClr val="023B8C"/>
                </a:solidFill>
                <a:latin typeface="微软雅黑" panose="020B0503020204020204" charset="-122"/>
                <a:ea typeface="微软雅黑" panose="020B0503020204020204" charset="-122"/>
              </a:rPr>
              <a:t>主观评价方法</a:t>
            </a: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8"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011">
                                            <p:txEl>
                                              <p:pRg st="1" end="1"/>
                                            </p:txEl>
                                          </p:spTgt>
                                        </p:tgtEl>
                                        <p:attrNameLst>
                                          <p:attrName>style.visibility</p:attrName>
                                        </p:attrNameLst>
                                      </p:cBhvr>
                                      <p:to>
                                        <p:strVal val="visible"/>
                                      </p:to>
                                    </p:set>
                                    <p:anim calcmode="lin" valueType="num">
                                      <p:cBhvr additive="base">
                                        <p:cTn id="13"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0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3011">
                                            <p:txEl>
                                              <p:pRg st="2" end="2"/>
                                            </p:txEl>
                                          </p:spTgt>
                                        </p:tgtEl>
                                        <p:attrNameLst>
                                          <p:attrName>style.visibility</p:attrName>
                                        </p:attrNameLst>
                                      </p:cBhvr>
                                      <p:to>
                                        <p:strVal val="visible"/>
                                      </p:to>
                                    </p:set>
                                    <p:anim calcmode="lin" valueType="num">
                                      <p:cBhvr additive="base">
                                        <p:cTn id="19" dur="5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30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3011">
                                            <p:txEl>
                                              <p:pRg st="3" end="3"/>
                                            </p:txEl>
                                          </p:spTgt>
                                        </p:tgtEl>
                                        <p:attrNameLst>
                                          <p:attrName>style.visibility</p:attrName>
                                        </p:attrNameLst>
                                      </p:cBhvr>
                                      <p:to>
                                        <p:strVal val="visible"/>
                                      </p:to>
                                    </p:set>
                                    <p:anim calcmode="lin" valueType="num">
                                      <p:cBhvr additive="base">
                                        <p:cTn id="25" dur="500" fill="hold"/>
                                        <p:tgtEl>
                                          <p:spTgt spid="430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301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bldLvl="5"/>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847004" y="741680"/>
            <a:ext cx="9751483" cy="1143000"/>
          </a:xfrm>
        </p:spPr>
        <p:txBody>
          <a:bodyPr/>
          <a:lstStyle/>
          <a:p>
            <a:pPr eaLnBrk="1" hangingPunct="1"/>
            <a:r>
              <a:rPr lang="zh-CN" altLang="en-US">
                <a:solidFill>
                  <a:srgbClr val="023B8C"/>
                </a:solidFill>
              </a:rPr>
              <a:t>主观评价的优缺点</a:t>
            </a:r>
          </a:p>
        </p:txBody>
      </p:sp>
      <p:sp>
        <p:nvSpPr>
          <p:cNvPr id="44035" name="Rectangle 3"/>
          <p:cNvSpPr>
            <a:spLocks noGrp="1" noChangeArrowheads="1"/>
          </p:cNvSpPr>
          <p:nvPr>
            <p:ph idx="1"/>
          </p:nvPr>
        </p:nvSpPr>
        <p:spPr/>
        <p:txBody>
          <a:bodyPr/>
          <a:lstStyle/>
          <a:p>
            <a:pPr eaLnBrk="1" hangingPunct="1">
              <a:lnSpc>
                <a:spcPct val="150000"/>
              </a:lnSpc>
            </a:pPr>
            <a:r>
              <a:rPr lang="zh-CN" altLang="en-US"/>
              <a:t>优点：</a:t>
            </a:r>
          </a:p>
          <a:p>
            <a:pPr lvl="1" eaLnBrk="1" hangingPunct="1">
              <a:lnSpc>
                <a:spcPct val="150000"/>
              </a:lnSpc>
            </a:pPr>
            <a:r>
              <a:rPr lang="zh-CN" altLang="en-US"/>
              <a:t>真实：</a:t>
            </a:r>
            <a:r>
              <a:rPr lang="zh-CN" altLang="en-US">
                <a:latin typeface="宋体" panose="02010600030101010101" pitchFamily="2" charset="-122"/>
              </a:rPr>
              <a:t>反映了人对语音质量的真实感觉</a:t>
            </a:r>
            <a:r>
              <a:rPr lang="zh-CN" altLang="en-US"/>
              <a:t> 。</a:t>
            </a:r>
          </a:p>
          <a:p>
            <a:pPr eaLnBrk="1" hangingPunct="1">
              <a:lnSpc>
                <a:spcPct val="150000"/>
              </a:lnSpc>
            </a:pPr>
            <a:r>
              <a:rPr lang="zh-CN" altLang="en-US"/>
              <a:t>缺点：</a:t>
            </a:r>
          </a:p>
          <a:p>
            <a:pPr lvl="1" eaLnBrk="1" hangingPunct="1">
              <a:lnSpc>
                <a:spcPct val="150000"/>
              </a:lnSpc>
            </a:pPr>
            <a:r>
              <a:rPr lang="zh-CN" altLang="en-US">
                <a:latin typeface="宋体" panose="02010600030101010101" pitchFamily="2" charset="-122"/>
              </a:rPr>
              <a:t>需要组织大量的试听人员，欠缺灵活性。</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评分结果重复性和稳定性较低。</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评分结果受试听者的主观影响较大</a:t>
            </a:r>
            <a:r>
              <a:rPr lang="zh-CN" altLang="en-US"/>
              <a:t> 。</a:t>
            </a:r>
          </a:p>
        </p:txBody>
      </p:sp>
      <p:sp>
        <p:nvSpPr>
          <p:cNvPr id="2" name="矩形 1"/>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语音的质量评价</a:t>
            </a:r>
            <a:r>
              <a:rPr lang="en-US" altLang="zh-CN" sz="2800" b="1" dirty="0">
                <a:solidFill>
                  <a:srgbClr val="023B8C"/>
                </a:solidFill>
                <a:latin typeface="微软雅黑" panose="020B0503020204020204" charset="-122"/>
                <a:ea typeface="微软雅黑" panose="020B0503020204020204" charset="-122"/>
              </a:rPr>
              <a:t>——</a:t>
            </a:r>
            <a:r>
              <a:rPr lang="zh-CN" altLang="en-US" sz="2800" b="1" dirty="0">
                <a:solidFill>
                  <a:srgbClr val="023B8C"/>
                </a:solidFill>
                <a:latin typeface="微软雅黑" panose="020B0503020204020204" charset="-122"/>
                <a:ea typeface="微软雅黑" panose="020B0503020204020204" charset="-122"/>
              </a:rPr>
              <a:t>主观评价方法</a:t>
            </a:r>
          </a:p>
        </p:txBody>
      </p:sp>
      <p:grpSp>
        <p:nvGrpSpPr>
          <p:cNvPr id="6" name="组合 5"/>
          <p:cNvGrpSpPr/>
          <p:nvPr/>
        </p:nvGrpSpPr>
        <p:grpSpPr>
          <a:xfrm>
            <a:off x="123658" y="249350"/>
            <a:ext cx="979109" cy="533291"/>
            <a:chOff x="2215144" y="982844"/>
            <a:chExt cx="1258238" cy="912607"/>
          </a:xfrm>
        </p:grpSpPr>
        <p:sp>
          <p:nvSpPr>
            <p:cNvPr id="7" name="平行四边形 6"/>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8"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 calcmode="lin" valueType="num">
                                      <p:cBhvr additive="base">
                                        <p:cTn id="7" dur="500" fill="hold"/>
                                        <p:tgtEl>
                                          <p:spTgt spid="440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035">
                                            <p:txEl>
                                              <p:pRg st="1" end="1"/>
                                            </p:txEl>
                                          </p:spTgt>
                                        </p:tgtEl>
                                        <p:attrNameLst>
                                          <p:attrName>style.visibility</p:attrName>
                                        </p:attrNameLst>
                                      </p:cBhvr>
                                      <p:to>
                                        <p:strVal val="visible"/>
                                      </p:to>
                                    </p:set>
                                    <p:anim calcmode="lin" valueType="num">
                                      <p:cBhvr additive="base">
                                        <p:cTn id="13" dur="500" fill="hold"/>
                                        <p:tgtEl>
                                          <p:spTgt spid="440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0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4035">
                                            <p:txEl>
                                              <p:pRg st="2" end="2"/>
                                            </p:txEl>
                                          </p:spTgt>
                                        </p:tgtEl>
                                        <p:attrNameLst>
                                          <p:attrName>style.visibility</p:attrName>
                                        </p:attrNameLst>
                                      </p:cBhvr>
                                      <p:to>
                                        <p:strVal val="visible"/>
                                      </p:to>
                                    </p:set>
                                    <p:anim calcmode="lin" valueType="num">
                                      <p:cBhvr additive="base">
                                        <p:cTn id="19" dur="500" fill="hold"/>
                                        <p:tgtEl>
                                          <p:spTgt spid="440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0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4035">
                                            <p:txEl>
                                              <p:pRg st="3" end="3"/>
                                            </p:txEl>
                                          </p:spTgt>
                                        </p:tgtEl>
                                        <p:attrNameLst>
                                          <p:attrName>style.visibility</p:attrName>
                                        </p:attrNameLst>
                                      </p:cBhvr>
                                      <p:to>
                                        <p:strVal val="visible"/>
                                      </p:to>
                                    </p:set>
                                    <p:anim calcmode="lin" valueType="num">
                                      <p:cBhvr additive="base">
                                        <p:cTn id="25" dur="500" fill="hold"/>
                                        <p:tgtEl>
                                          <p:spTgt spid="4403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0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4035">
                                            <p:txEl>
                                              <p:pRg st="4" end="4"/>
                                            </p:txEl>
                                          </p:spTgt>
                                        </p:tgtEl>
                                        <p:attrNameLst>
                                          <p:attrName>style.visibility</p:attrName>
                                        </p:attrNameLst>
                                      </p:cBhvr>
                                      <p:to>
                                        <p:strVal val="visible"/>
                                      </p:to>
                                    </p:set>
                                    <p:anim calcmode="lin" valueType="num">
                                      <p:cBhvr additive="base">
                                        <p:cTn id="31" dur="500" fill="hold"/>
                                        <p:tgtEl>
                                          <p:spTgt spid="4403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40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4035">
                                            <p:txEl>
                                              <p:pRg st="5" end="5"/>
                                            </p:txEl>
                                          </p:spTgt>
                                        </p:tgtEl>
                                        <p:attrNameLst>
                                          <p:attrName>style.visibility</p:attrName>
                                        </p:attrNameLst>
                                      </p:cBhvr>
                                      <p:to>
                                        <p:strVal val="visible"/>
                                      </p:to>
                                    </p:set>
                                    <p:anim calcmode="lin" valueType="num">
                                      <p:cBhvr additive="base">
                                        <p:cTn id="37" dur="500" fill="hold"/>
                                        <p:tgtEl>
                                          <p:spTgt spid="4403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403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bldLvl="5"/>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a:xfrm>
            <a:off x="1271059" y="1340803"/>
            <a:ext cx="9751483" cy="4114800"/>
          </a:xfrm>
        </p:spPr>
        <p:txBody>
          <a:bodyPr/>
          <a:lstStyle/>
          <a:p>
            <a:pPr eaLnBrk="1" hangingPunct="1">
              <a:lnSpc>
                <a:spcPct val="150000"/>
              </a:lnSpc>
            </a:pPr>
            <a:r>
              <a:rPr lang="zh-CN" altLang="en-US" dirty="0"/>
              <a:t>比较波形的差别：</a:t>
            </a:r>
          </a:p>
          <a:p>
            <a:pPr lvl="1" eaLnBrk="1" hangingPunct="1">
              <a:lnSpc>
                <a:spcPct val="150000"/>
              </a:lnSpc>
            </a:pPr>
            <a:r>
              <a:rPr lang="zh-CN" altLang="en-US" dirty="0"/>
              <a:t>基于</a:t>
            </a:r>
            <a:r>
              <a:rPr lang="en-US" altLang="zh-CN" dirty="0"/>
              <a:t>SNR</a:t>
            </a:r>
            <a:r>
              <a:rPr lang="zh-CN" altLang="en-US" dirty="0"/>
              <a:t>的评价方法：信噪比、分段信噪比、变频分段信噪比。</a:t>
            </a:r>
          </a:p>
        </p:txBody>
      </p:sp>
      <p:graphicFrame>
        <p:nvGraphicFramePr>
          <p:cNvPr id="7" name="Object 8"/>
          <p:cNvGraphicFramePr>
            <a:graphicFrameLocks noChangeAspect="1"/>
          </p:cNvGraphicFramePr>
          <p:nvPr/>
        </p:nvGraphicFramePr>
        <p:xfrm>
          <a:off x="2861945" y="3141080"/>
          <a:ext cx="6569472" cy="2643945"/>
        </p:xfrm>
        <a:graphic>
          <a:graphicData uri="http://schemas.openxmlformats.org/presentationml/2006/ole">
            <mc:AlternateContent xmlns:mc="http://schemas.openxmlformats.org/markup-compatibility/2006">
              <mc:Choice xmlns:v="urn:schemas-microsoft-com:vml" Requires="v">
                <p:oleObj name="Equation" r:id="rId3" imgW="2145665" imgH="862965" progId="Equation.DSMT4">
                  <p:embed/>
                </p:oleObj>
              </mc:Choice>
              <mc:Fallback>
                <p:oleObj name="Equation" r:id="rId3" imgW="2145665" imgH="862965" progId="Equation.DSMT4">
                  <p:embed/>
                  <p:pic>
                    <p:nvPicPr>
                      <p:cNvPr id="0" name="图片 923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1945" y="3141080"/>
                        <a:ext cx="6569472" cy="2643945"/>
                      </a:xfrm>
                      <a:prstGeom prst="rect">
                        <a:avLst/>
                      </a:prstGeom>
                      <a:noFill/>
                      <a:ln>
                        <a:noFill/>
                      </a:ln>
                      <a:effectLst/>
                    </p:spPr>
                  </p:pic>
                </p:oleObj>
              </mc:Fallback>
            </mc:AlternateContent>
          </a:graphicData>
        </a:graphic>
      </p:graphicFrame>
      <p:sp>
        <p:nvSpPr>
          <p:cNvPr id="3" name="矩形 2"/>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语音的质量评价</a:t>
            </a:r>
            <a:r>
              <a:rPr lang="en-US" altLang="zh-CN" sz="2800" b="1" dirty="0">
                <a:solidFill>
                  <a:srgbClr val="023B8C"/>
                </a:solidFill>
                <a:latin typeface="微软雅黑" panose="020B0503020204020204" charset="-122"/>
                <a:ea typeface="微软雅黑" panose="020B0503020204020204" charset="-122"/>
              </a:rPr>
              <a:t>——</a:t>
            </a:r>
            <a:r>
              <a:rPr lang="zh-CN" altLang="en-US" sz="2800" b="1" dirty="0">
                <a:solidFill>
                  <a:srgbClr val="023B8C"/>
                </a:solidFill>
                <a:latin typeface="微软雅黑" panose="020B0503020204020204" charset="-122"/>
                <a:ea typeface="微软雅黑" panose="020B0503020204020204" charset="-122"/>
              </a:rPr>
              <a:t>客观评价方法</a:t>
            </a: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8"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pic>
        <p:nvPicPr>
          <p:cNvPr id="5" name="图片 4">
            <a:extLst>
              <a:ext uri="{FF2B5EF4-FFF2-40B4-BE49-F238E27FC236}">
                <a16:creationId xmlns:a16="http://schemas.microsoft.com/office/drawing/2014/main" id="{D30E78DC-9076-85DC-7024-D29B6072A888}"/>
              </a:ext>
            </a:extLst>
          </p:cNvPr>
          <p:cNvPicPr>
            <a:picLocks noChangeAspect="1"/>
          </p:cNvPicPr>
          <p:nvPr/>
        </p:nvPicPr>
        <p:blipFill>
          <a:blip r:embed="rId5"/>
          <a:stretch>
            <a:fillRect/>
          </a:stretch>
        </p:blipFill>
        <p:spPr>
          <a:xfrm>
            <a:off x="5519936" y="942660"/>
            <a:ext cx="3706062" cy="1111818"/>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 calcmode="lin" valueType="num">
                                      <p:cBhvr additive="base">
                                        <p:cTn id="7" dur="500" fill="hold"/>
                                        <p:tgtEl>
                                          <p:spTgt spid="501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0179">
                                            <p:txEl>
                                              <p:pRg st="1" end="1"/>
                                            </p:txEl>
                                          </p:spTgt>
                                        </p:tgtEl>
                                        <p:attrNameLst>
                                          <p:attrName>style.visibility</p:attrName>
                                        </p:attrNameLst>
                                      </p:cBhvr>
                                      <p:to>
                                        <p:strVal val="visible"/>
                                      </p:to>
                                    </p:set>
                                    <p:anim calcmode="lin" valueType="num">
                                      <p:cBhvr additive="base">
                                        <p:cTn id="13" dur="500" fill="hold"/>
                                        <p:tgtEl>
                                          <p:spTgt spid="501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17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bldLvl="5"/>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a:xfrm>
            <a:off x="1486959" y="1484313"/>
            <a:ext cx="9751483" cy="4114800"/>
          </a:xfrm>
        </p:spPr>
        <p:txBody>
          <a:bodyPr/>
          <a:lstStyle/>
          <a:p>
            <a:pPr eaLnBrk="1" hangingPunct="1">
              <a:lnSpc>
                <a:spcPct val="150000"/>
              </a:lnSpc>
            </a:pPr>
            <a:r>
              <a:rPr lang="zh-CN" altLang="en-US" dirty="0"/>
              <a:t>比较参数的差别：</a:t>
            </a:r>
          </a:p>
          <a:p>
            <a:pPr lvl="1" eaLnBrk="1" hangingPunct="1">
              <a:lnSpc>
                <a:spcPct val="150000"/>
              </a:lnSpc>
            </a:pPr>
            <a:r>
              <a:rPr lang="zh-CN" altLang="en-US" dirty="0"/>
              <a:t>比较线性预测编码的系数。</a:t>
            </a:r>
            <a:endParaRPr lang="en-US" altLang="zh-CN" dirty="0"/>
          </a:p>
          <a:p>
            <a:pPr eaLnBrk="1" hangingPunct="1">
              <a:lnSpc>
                <a:spcPct val="150000"/>
              </a:lnSpc>
              <a:defRPr/>
            </a:pPr>
            <a:r>
              <a:rPr lang="zh-CN" altLang="en-US" dirty="0"/>
              <a:t>比较频谱的差别：</a:t>
            </a:r>
          </a:p>
          <a:p>
            <a:pPr lvl="1" eaLnBrk="1" hangingPunct="1">
              <a:lnSpc>
                <a:spcPct val="150000"/>
              </a:lnSpc>
              <a:defRPr/>
            </a:pPr>
            <a:r>
              <a:rPr lang="zh-CN" altLang="en-US" dirty="0"/>
              <a:t>基于谱距离的评价方法。</a:t>
            </a:r>
          </a:p>
          <a:p>
            <a:pPr eaLnBrk="1" hangingPunct="1">
              <a:lnSpc>
                <a:spcPct val="150000"/>
              </a:lnSpc>
              <a:defRPr/>
            </a:pPr>
            <a:r>
              <a:rPr lang="zh-CN" altLang="en-US" dirty="0"/>
              <a:t>其它评价方法：基于人类听觉模型</a:t>
            </a:r>
            <a:endParaRPr lang="en-US" altLang="zh-CN" dirty="0"/>
          </a:p>
          <a:p>
            <a:pPr marL="342900" lvl="1" indent="-342900" eaLnBrk="1" hangingPunct="1">
              <a:lnSpc>
                <a:spcPct val="150000"/>
              </a:lnSpc>
              <a:buClr>
                <a:schemeClr val="tx2"/>
              </a:buClr>
              <a:buFont typeface="Wingdings" panose="05000000000000000000" pitchFamily="2" charset="2"/>
              <a:buChar char="¡"/>
              <a:defRPr/>
            </a:pPr>
            <a:r>
              <a:rPr lang="zh-CN" altLang="en-US" sz="2900" dirty="0">
                <a:cs typeface="+mn-cs"/>
                <a:hlinkClick r:id="rId3" action="ppaction://hlinkfile"/>
              </a:rPr>
              <a:t>语音客观评估指标</a:t>
            </a:r>
            <a:endParaRPr lang="en-US" altLang="zh-CN" sz="3865" dirty="0"/>
          </a:p>
          <a:p>
            <a:pPr eaLnBrk="1" hangingPunct="1">
              <a:lnSpc>
                <a:spcPct val="150000"/>
              </a:lnSpc>
              <a:buFont typeface="Wingdings" panose="05000000000000000000" pitchFamily="2" charset="2"/>
              <a:buNone/>
              <a:defRPr/>
            </a:pPr>
            <a:endParaRPr lang="zh-CN" altLang="en-US" dirty="0"/>
          </a:p>
        </p:txBody>
      </p:sp>
      <p:sp>
        <p:nvSpPr>
          <p:cNvPr id="3" name="矩形 2"/>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语音的质量评价</a:t>
            </a:r>
            <a:r>
              <a:rPr lang="en-US" altLang="zh-CN" sz="2800" b="1" dirty="0">
                <a:solidFill>
                  <a:srgbClr val="023B8C"/>
                </a:solidFill>
                <a:latin typeface="微软雅黑" panose="020B0503020204020204" charset="-122"/>
                <a:ea typeface="微软雅黑" panose="020B0503020204020204" charset="-122"/>
              </a:rPr>
              <a:t>——</a:t>
            </a:r>
            <a:r>
              <a:rPr lang="zh-CN" altLang="en-US" sz="2800" b="1" dirty="0">
                <a:solidFill>
                  <a:srgbClr val="023B8C"/>
                </a:solidFill>
                <a:latin typeface="微软雅黑" panose="020B0503020204020204" charset="-122"/>
                <a:ea typeface="微软雅黑" panose="020B0503020204020204" charset="-122"/>
              </a:rPr>
              <a:t>客观评价方法</a:t>
            </a: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8"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 calcmode="lin" valueType="num">
                                      <p:cBhvr additive="base">
                                        <p:cTn id="7" dur="500" fill="hold"/>
                                        <p:tgtEl>
                                          <p:spTgt spid="501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0179">
                                            <p:txEl>
                                              <p:pRg st="1" end="1"/>
                                            </p:txEl>
                                          </p:spTgt>
                                        </p:tgtEl>
                                        <p:attrNameLst>
                                          <p:attrName>style.visibility</p:attrName>
                                        </p:attrNameLst>
                                      </p:cBhvr>
                                      <p:to>
                                        <p:strVal val="visible"/>
                                      </p:to>
                                    </p:set>
                                    <p:anim calcmode="lin" valueType="num">
                                      <p:cBhvr additive="base">
                                        <p:cTn id="13" dur="500" fill="hold"/>
                                        <p:tgtEl>
                                          <p:spTgt spid="501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1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0179">
                                            <p:txEl>
                                              <p:pRg st="2" end="2"/>
                                            </p:txEl>
                                          </p:spTgt>
                                        </p:tgtEl>
                                        <p:attrNameLst>
                                          <p:attrName>style.visibility</p:attrName>
                                        </p:attrNameLst>
                                      </p:cBhvr>
                                      <p:to>
                                        <p:strVal val="visible"/>
                                      </p:to>
                                    </p:set>
                                    <p:anim calcmode="lin" valueType="num">
                                      <p:cBhvr additive="base">
                                        <p:cTn id="19" dur="500" fill="hold"/>
                                        <p:tgtEl>
                                          <p:spTgt spid="501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01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0179">
                                            <p:txEl>
                                              <p:pRg st="3" end="3"/>
                                            </p:txEl>
                                          </p:spTgt>
                                        </p:tgtEl>
                                        <p:attrNameLst>
                                          <p:attrName>style.visibility</p:attrName>
                                        </p:attrNameLst>
                                      </p:cBhvr>
                                      <p:to>
                                        <p:strVal val="visible"/>
                                      </p:to>
                                    </p:set>
                                    <p:anim calcmode="lin" valueType="num">
                                      <p:cBhvr additive="base">
                                        <p:cTn id="25" dur="500" fill="hold"/>
                                        <p:tgtEl>
                                          <p:spTgt spid="5017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01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0179">
                                            <p:txEl>
                                              <p:pRg st="4" end="4"/>
                                            </p:txEl>
                                          </p:spTgt>
                                        </p:tgtEl>
                                        <p:attrNameLst>
                                          <p:attrName>style.visibility</p:attrName>
                                        </p:attrNameLst>
                                      </p:cBhvr>
                                      <p:to>
                                        <p:strVal val="visible"/>
                                      </p:to>
                                    </p:set>
                                    <p:anim calcmode="lin" valueType="num">
                                      <p:cBhvr additive="base">
                                        <p:cTn id="31" dur="500" fill="hold"/>
                                        <p:tgtEl>
                                          <p:spTgt spid="5017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017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0179">
                                            <p:txEl>
                                              <p:pRg st="5" end="5"/>
                                            </p:txEl>
                                          </p:spTgt>
                                        </p:tgtEl>
                                        <p:attrNameLst>
                                          <p:attrName>style.visibility</p:attrName>
                                        </p:attrNameLst>
                                      </p:cBhvr>
                                      <p:to>
                                        <p:strVal val="visible"/>
                                      </p:to>
                                    </p:set>
                                    <p:anim calcmode="lin" valueType="num">
                                      <p:cBhvr additive="base">
                                        <p:cTn id="37" dur="500" fill="hold"/>
                                        <p:tgtEl>
                                          <p:spTgt spid="5017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017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bldLvl="5"/>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案例一：语音质量客观指标</a:t>
                </a:r>
                <a:r>
                  <a:rPr lang="en-US" altLang="zh-CN" dirty="0"/>
                  <a:t>SNR</a:t>
                </a:r>
                <a:r>
                  <a:rPr lang="zh-CN" altLang="en-US" dirty="0"/>
                  <a:t>的计算</a:t>
                </a:r>
                <a:endParaRPr lang="en-US" altLang="zh-CN" dirty="0"/>
              </a:p>
              <a:p>
                <a:pPr lvl="1"/>
                <a:r>
                  <a:rPr lang="zh-CN" altLang="en-US" dirty="0"/>
                  <a:t>已知原始音频部分样点值如下：</a:t>
                </a:r>
                <a:endParaRPr lang="en-US" altLang="zh-CN" dirty="0"/>
              </a:p>
              <a:p>
                <a:pPr lvl="1"/>
                <a14:m>
                  <m:oMath xmlns:m="http://schemas.openxmlformats.org/officeDocument/2006/math">
                    <m:r>
                      <a:rPr lang="en-US" altLang="zh-CN" b="0" i="1" smtClean="0">
                        <a:latin typeface="Cambria Math" panose="02040503050406030204" pitchFamily="18" charset="0"/>
                      </a:rPr>
                      <m:t>𝑥</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oMath>
                </a14:m>
                <a:r>
                  <a:rPr lang="en-US" altLang="zh-CN" dirty="0"/>
                  <a:t>:10, 12, 14, 8, 6, 8</a:t>
                </a:r>
              </a:p>
              <a:p>
                <a:pPr lvl="1"/>
                <a:r>
                  <a:rPr lang="zh-CN" altLang="en-US" dirty="0"/>
                  <a:t>隐藏信息后，该音频相应样点值变化为：</a:t>
                </a:r>
                <a:endParaRPr lang="en-US" altLang="zh-CN" dirty="0"/>
              </a:p>
              <a:p>
                <a:pPr lvl="1"/>
                <a14:m>
                  <m:oMath xmlns:m="http://schemas.openxmlformats.org/officeDocument/2006/math">
                    <m:r>
                      <m:rPr>
                        <m:sty m:val="p"/>
                      </m:rPr>
                      <a:rPr lang="en-US" altLang="zh-CN" i="1" dirty="0">
                        <a:latin typeface="Cambria Math" panose="02040503050406030204" pitchFamily="18" charset="0"/>
                      </a:rPr>
                      <m:t>y</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oMath>
                </a14:m>
                <a:r>
                  <a:rPr lang="en-US" altLang="zh-CN" dirty="0"/>
                  <a:t>:11, 11, 14, 9, 8, 6</a:t>
                </a:r>
              </a:p>
              <a:p>
                <a:pPr lvl="1"/>
                <a:r>
                  <a:rPr lang="zh-CN" altLang="en-US" dirty="0"/>
                  <a:t>请计算这部份样点值序列的</a:t>
                </a:r>
                <a:r>
                  <a:rPr lang="en-US" altLang="zh-CN" dirty="0"/>
                  <a:t>SNR</a:t>
                </a:r>
                <a:r>
                  <a:rPr lang="zh-CN" altLang="en-US" dirty="0"/>
                  <a:t>。</a:t>
                </a:r>
                <a:endParaRPr lang="en-US" altLang="zh-CN" dirty="0"/>
              </a:p>
              <a:p>
                <a:pPr lvl="1"/>
                <a:endParaRPr lang="en-US" altLang="zh-CN" dirty="0"/>
              </a:p>
              <a:p>
                <a:pPr lvl="1"/>
                <a:endParaRPr lang="zh-CN" altLang="en-US"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2"/>
                <a:stretch>
                  <a:fillRect l="-4" t="-8" r="2" b="8"/>
                </a:stretch>
              </a:blipFill>
            </p:spPr>
            <p:txBody>
              <a:bodyPr/>
              <a:lstStyle/>
              <a:p>
                <a:r>
                  <a:rPr lang="zh-CN" altLang="en-US">
                    <a:noFill/>
                  </a:rPr>
                  <a:t> </a:t>
                </a:r>
              </a:p>
            </p:txBody>
          </p:sp>
        </mc:Fallback>
      </mc:AlternateContent>
      <p:sp>
        <p:nvSpPr>
          <p:cNvPr id="4" name="矩形 3"/>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语音的质量评价</a:t>
            </a:r>
            <a:r>
              <a:rPr lang="en-US" altLang="zh-CN" sz="2800" b="1" dirty="0">
                <a:solidFill>
                  <a:srgbClr val="023B8C"/>
                </a:solidFill>
                <a:latin typeface="微软雅黑" panose="020B0503020204020204" charset="-122"/>
                <a:ea typeface="微软雅黑" panose="020B0503020204020204" charset="-122"/>
              </a:rPr>
              <a:t>——</a:t>
            </a:r>
            <a:r>
              <a:rPr lang="zh-CN" altLang="en-US" sz="2800" b="1" dirty="0">
                <a:solidFill>
                  <a:srgbClr val="023B8C"/>
                </a:solidFill>
                <a:latin typeface="微软雅黑" panose="020B0503020204020204" charset="-122"/>
                <a:ea typeface="微软雅黑" panose="020B0503020204020204" charset="-122"/>
              </a:rPr>
              <a:t>客观评价方法</a:t>
            </a:r>
          </a:p>
        </p:txBody>
      </p:sp>
      <p:grpSp>
        <p:nvGrpSpPr>
          <p:cNvPr id="6" name="组合 5"/>
          <p:cNvGrpSpPr/>
          <p:nvPr/>
        </p:nvGrpSpPr>
        <p:grpSpPr>
          <a:xfrm>
            <a:off x="123658" y="249350"/>
            <a:ext cx="979109" cy="533291"/>
            <a:chOff x="2215144" y="982844"/>
            <a:chExt cx="1258238" cy="912607"/>
          </a:xfrm>
        </p:grpSpPr>
        <p:sp>
          <p:nvSpPr>
            <p:cNvPr id="5" name="平行四边形 4"/>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8"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486959" y="1371283"/>
                <a:ext cx="9751483" cy="4114800"/>
              </a:xfrm>
            </p:spPr>
            <p:txBody>
              <a:bodyPr/>
              <a:lstStyle/>
              <a:p>
                <a:r>
                  <a:rPr lang="zh-CN" altLang="en-US" dirty="0"/>
                  <a:t>案例一：语音质量客观指标</a:t>
                </a:r>
                <a:r>
                  <a:rPr lang="en-US" altLang="zh-CN" dirty="0"/>
                  <a:t>SNR</a:t>
                </a:r>
                <a:r>
                  <a:rPr lang="zh-CN" altLang="en-US" dirty="0"/>
                  <a:t>的计算</a:t>
                </a:r>
                <a:endParaRPr lang="en-US" altLang="zh-CN" dirty="0"/>
              </a:p>
              <a:p>
                <a:pPr lvl="1"/>
                <a:r>
                  <a:rPr lang="zh-CN" altLang="en-US" dirty="0"/>
                  <a:t>解：首先计算信号能量，根据公式可知：</a:t>
                </a:r>
                <a:endParaRPr lang="en-US" altLang="zh-CN" dirty="0"/>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𝑠</m:t>
                        </m:r>
                      </m:sub>
                    </m:sSub>
                    <m:r>
                      <a:rPr lang="en-US" altLang="zh-CN" b="0" i="1" smtClean="0">
                        <a:latin typeface="Cambria Math" panose="02040503050406030204" pitchFamily="18" charset="0"/>
                      </a:rPr>
                      <m:t>=</m:t>
                    </m:r>
                    <m:nary>
                      <m:naryPr>
                        <m:chr m:val="∑"/>
                        <m:limLoc m:val="subSup"/>
                        <m:ctrlPr>
                          <a:rPr lang="en-US" altLang="zh-CN" b="0" i="1" smtClean="0">
                            <a:latin typeface="Cambria Math" panose="02040503050406030204" pitchFamily="18" charset="0"/>
                          </a:rPr>
                        </m:ctrlPr>
                      </m:naryPr>
                      <m:sub>
                        <m:r>
                          <m:rPr>
                            <m:brk m:alnAt="25"/>
                          </m:rPr>
                          <a:rPr lang="en-US" altLang="zh-CN" b="0" i="1" smtClean="0">
                            <a:latin typeface="Cambria Math" panose="02040503050406030204" pitchFamily="18" charset="0"/>
                          </a:rPr>
                          <m:t>𝑖</m:t>
                        </m:r>
                        <m:r>
                          <a:rPr lang="en-US" altLang="zh-CN" b="0" i="1" smtClean="0">
                            <a:latin typeface="Cambria Math" panose="02040503050406030204" pitchFamily="18" charset="0"/>
                          </a:rPr>
                          <m:t>=0</m:t>
                        </m:r>
                      </m:sub>
                      <m:sup>
                        <m:r>
                          <a:rPr lang="en-US" altLang="zh-CN" b="0" i="1" smtClean="0">
                            <a:latin typeface="Cambria Math" panose="02040503050406030204" pitchFamily="18" charset="0"/>
                          </a:rPr>
                          <m:t>5</m:t>
                        </m:r>
                      </m:sup>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𝑥</m:t>
                            </m:r>
                          </m:e>
                          <m:sup>
                            <m:r>
                              <a:rPr lang="en-US" altLang="zh-CN" b="0" i="1" smtClean="0">
                                <a:latin typeface="Cambria Math" panose="02040503050406030204" pitchFamily="18" charset="0"/>
                              </a:rPr>
                              <m:t>2</m:t>
                            </m:r>
                          </m:sup>
                        </m:sSup>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e>
                    </m:nary>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1</m:t>
                        </m:r>
                        <m:r>
                          <a:rPr lang="en-US" altLang="zh-CN" b="0" i="1" smtClean="0">
                            <a:latin typeface="Cambria Math" panose="02040503050406030204" pitchFamily="18" charset="0"/>
                          </a:rPr>
                          <m:t>2</m:t>
                        </m:r>
                      </m:e>
                      <m:sup>
                        <m:r>
                          <a:rPr lang="en-US" altLang="zh-CN" i="1">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8</m:t>
                        </m:r>
                      </m:e>
                      <m:sup>
                        <m:r>
                          <a:rPr lang="en-US" altLang="zh-CN" i="1">
                            <a:latin typeface="Cambria Math" panose="02040503050406030204" pitchFamily="18" charset="0"/>
                          </a:rPr>
                          <m:t>2</m:t>
                        </m:r>
                      </m:sup>
                    </m:sSup>
                    <m:r>
                      <a:rPr lang="en-US" altLang="zh-CN" b="0" i="1" smtClean="0">
                        <a:latin typeface="Cambria Math" panose="02040503050406030204" pitchFamily="18" charset="0"/>
                      </a:rPr>
                      <m:t>=604</m:t>
                    </m:r>
                  </m:oMath>
                </a14:m>
                <a:endParaRPr lang="en-US" altLang="zh-CN" dirty="0"/>
              </a:p>
              <a:p>
                <a:pPr lvl="1"/>
                <a:r>
                  <a:rPr lang="zh-CN" altLang="en-US" dirty="0"/>
                  <a:t>再计算噪声能量，原始音频和水印音频的差值即为噪声：</a:t>
                </a:r>
                <a:endParaRPr lang="en-US" altLang="zh-CN" dirty="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m:rPr>
                            <m:sty m:val="p"/>
                          </m:rPr>
                          <a:rPr lang="en-US" altLang="zh-CN" i="1" smtClean="0">
                            <a:latin typeface="Cambria Math" panose="02040503050406030204" pitchFamily="18" charset="0"/>
                          </a:rPr>
                          <m:t>n</m:t>
                        </m:r>
                      </m:sub>
                    </m:sSub>
                    <m:r>
                      <a:rPr lang="en-US" altLang="zh-CN" i="1">
                        <a:latin typeface="Cambria Math" panose="02040503050406030204" pitchFamily="18" charset="0"/>
                      </a:rPr>
                      <m:t>=</m:t>
                    </m:r>
                    <m:nary>
                      <m:naryPr>
                        <m:chr m:val="∑"/>
                        <m:limLoc m:val="subSup"/>
                        <m:ctrlPr>
                          <a:rPr lang="en-US" altLang="zh-CN" i="1">
                            <a:latin typeface="Cambria Math" panose="02040503050406030204" pitchFamily="18" charset="0"/>
                          </a:rPr>
                        </m:ctrlPr>
                      </m:naryPr>
                      <m:sub>
                        <m:r>
                          <m:rPr>
                            <m:brk m:alnAt="25"/>
                          </m:rPr>
                          <a:rPr lang="en-US" altLang="zh-CN" i="1">
                            <a:latin typeface="Cambria Math" panose="02040503050406030204" pitchFamily="18" charset="0"/>
                          </a:rPr>
                          <m:t>𝑖</m:t>
                        </m:r>
                        <m:r>
                          <a:rPr lang="en-US" altLang="zh-CN" i="1">
                            <a:latin typeface="Cambria Math" panose="02040503050406030204" pitchFamily="18" charset="0"/>
                          </a:rPr>
                          <m:t>=0</m:t>
                        </m:r>
                      </m:sub>
                      <m:sup>
                        <m:r>
                          <a:rPr lang="en-US" altLang="zh-CN" i="1">
                            <a:latin typeface="Cambria Math" panose="02040503050406030204" pitchFamily="18" charset="0"/>
                          </a:rPr>
                          <m:t>5</m:t>
                        </m:r>
                      </m:sup>
                      <m:e>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𝑛</m:t>
                            </m:r>
                          </m:e>
                          <m:sup>
                            <m:r>
                              <a:rPr lang="en-US" altLang="zh-CN" i="1">
                                <a:latin typeface="Cambria Math" panose="02040503050406030204" pitchFamily="18" charset="0"/>
                              </a:rPr>
                              <m:t>2</m:t>
                            </m:r>
                          </m:sup>
                        </m:sSup>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e>
                    </m:nary>
                    <m:r>
                      <a:rPr lang="en-US" altLang="zh-CN" i="1">
                        <a:latin typeface="Cambria Math" panose="02040503050406030204" pitchFamily="18" charset="0"/>
                      </a:rPr>
                      <m:t>=</m:t>
                    </m:r>
                    <m:nary>
                      <m:naryPr>
                        <m:chr m:val="∑"/>
                        <m:limLoc m:val="subSup"/>
                        <m:ctrlPr>
                          <a:rPr lang="en-US" altLang="zh-CN" i="1">
                            <a:latin typeface="Cambria Math" panose="02040503050406030204" pitchFamily="18" charset="0"/>
                          </a:rPr>
                        </m:ctrlPr>
                      </m:naryPr>
                      <m:sub>
                        <m:r>
                          <m:rPr>
                            <m:brk m:alnAt="25"/>
                          </m:rPr>
                          <a:rPr lang="en-US" altLang="zh-CN" i="1">
                            <a:latin typeface="Cambria Math" panose="02040503050406030204" pitchFamily="18" charset="0"/>
                          </a:rPr>
                          <m:t>𝑖</m:t>
                        </m:r>
                        <m:r>
                          <a:rPr lang="en-US" altLang="zh-CN" i="1">
                            <a:latin typeface="Cambria Math" panose="02040503050406030204" pitchFamily="18" charset="0"/>
                          </a:rPr>
                          <m:t>=0</m:t>
                        </m:r>
                      </m:sub>
                      <m:sup>
                        <m:r>
                          <a:rPr lang="en-US" altLang="zh-CN" i="1">
                            <a:latin typeface="Cambria Math" panose="02040503050406030204" pitchFamily="18" charset="0"/>
                          </a:rPr>
                          <m:t>5</m:t>
                        </m:r>
                      </m:sup>
                      <m:e>
                        <m:sSup>
                          <m:sSupPr>
                            <m:ctrlPr>
                              <a:rPr lang="en-US" altLang="zh-CN" i="1" smtClean="0">
                                <a:latin typeface="Cambria Math" panose="02040503050406030204" pitchFamily="18" charset="0"/>
                              </a:rPr>
                            </m:ctrlPr>
                          </m:sSupPr>
                          <m:e>
                            <m:d>
                              <m:dPr>
                                <m:ctrlPr>
                                  <a:rPr lang="en-US" altLang="zh-CN" i="1" smtClean="0">
                                    <a:latin typeface="Cambria Math" panose="02040503050406030204" pitchFamily="18" charset="0"/>
                                  </a:rPr>
                                </m:ctrlPr>
                              </m:dPr>
                              <m:e>
                                <m:r>
                                  <m:rPr>
                                    <m:sty m:val="p"/>
                                  </m:rPr>
                                  <a:rPr lang="en-US" altLang="zh-CN" i="1" dirty="0">
                                    <a:latin typeface="Cambria Math" panose="02040503050406030204" pitchFamily="18" charset="0"/>
                                  </a:rPr>
                                  <m:t>y</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r>
                                  <a:rPr lang="en-US" altLang="zh-CN" b="0" i="1" smtClean="0">
                                    <a:latin typeface="Cambria Math" panose="02040503050406030204" pitchFamily="18" charset="0"/>
                                  </a:rPr>
                                  <m:t>−</m:t>
                                </m:r>
                                <m:r>
                                  <a:rPr lang="en-US" altLang="zh-CN" b="0" i="1" dirty="0" smtClean="0">
                                    <a:latin typeface="Cambria Math" panose="02040503050406030204" pitchFamily="18" charset="0"/>
                                  </a:rPr>
                                  <m:t>𝑥</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e>
                            </m:d>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11−10</m:t>
                                </m:r>
                              </m:e>
                            </m:d>
                          </m:e>
                          <m:sup>
                            <m:r>
                              <a:rPr lang="en-US" altLang="zh-CN" b="0" i="1" smtClean="0">
                                <a:latin typeface="Cambria Math" panose="02040503050406030204" pitchFamily="18" charset="0"/>
                              </a:rPr>
                              <m:t>2</m:t>
                            </m:r>
                          </m:sup>
                        </m:sSup>
                      </m:e>
                    </m:nary>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11−12</m:t>
                            </m:r>
                          </m:e>
                        </m:d>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6−8</m:t>
                            </m:r>
                          </m:e>
                        </m:d>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=11</m:t>
                    </m:r>
                  </m:oMath>
                </a14:m>
                <a:endParaRPr lang="en-US" altLang="zh-CN" dirty="0"/>
              </a:p>
              <a:p>
                <a:pPr lvl="1"/>
                <a:r>
                  <a:rPr lang="zh-CN" altLang="en-US" dirty="0"/>
                  <a:t>最后计算信号与噪声的比值</a:t>
                </a:r>
                <a:endParaRPr lang="en-US" altLang="zh-CN" dirty="0"/>
              </a:p>
              <a:p>
                <a:pPr lvl="1"/>
                <a14:m>
                  <m:oMath xmlns:m="http://schemas.openxmlformats.org/officeDocument/2006/math">
                    <m:r>
                      <a:rPr lang="en-US" altLang="zh-CN" b="0" i="1" smtClean="0">
                        <a:latin typeface="Cambria Math" panose="02040503050406030204" pitchFamily="18" charset="0"/>
                      </a:rPr>
                      <m:t>𝑠𝑛𝑟</m:t>
                    </m:r>
                    <m:r>
                      <a:rPr lang="en-US" altLang="zh-CN" i="1">
                        <a:latin typeface="Cambria Math" panose="02040503050406030204" pitchFamily="18" charset="0"/>
                      </a:rPr>
                      <m:t>=</m:t>
                    </m:r>
                    <m:f>
                      <m:fPr>
                        <m:type m:val="skw"/>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𝑠</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𝑛</m:t>
                            </m:r>
                          </m:sub>
                        </m:sSub>
                      </m:den>
                    </m:f>
                    <m:r>
                      <a:rPr lang="en-US" altLang="zh-CN" b="0" i="1" smtClean="0">
                        <a:latin typeface="Cambria Math" panose="02040503050406030204" pitchFamily="18" charset="0"/>
                      </a:rPr>
                      <m:t>=</m:t>
                    </m:r>
                    <m:f>
                      <m:fPr>
                        <m:type m:val="skw"/>
                        <m:ctrlPr>
                          <a:rPr lang="en-US" altLang="zh-CN" i="1">
                            <a:latin typeface="Cambria Math" panose="02040503050406030204" pitchFamily="18" charset="0"/>
                          </a:rPr>
                        </m:ctrlPr>
                      </m:fPr>
                      <m:num>
                        <m:r>
                          <a:rPr lang="en-US" altLang="zh-CN" b="0" i="1" smtClean="0">
                            <a:latin typeface="Cambria Math" panose="02040503050406030204" pitchFamily="18" charset="0"/>
                          </a:rPr>
                          <m:t>604</m:t>
                        </m:r>
                      </m:num>
                      <m:den>
                        <m:r>
                          <a:rPr lang="en-US" altLang="zh-CN" b="0" i="1" smtClean="0">
                            <a:latin typeface="Cambria Math" panose="02040503050406030204" pitchFamily="18" charset="0"/>
                          </a:rPr>
                          <m:t>11</m:t>
                        </m:r>
                      </m:den>
                    </m:f>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54.91</m:t>
                    </m:r>
                  </m:oMath>
                </a14:m>
                <a:endParaRPr lang="en-US" altLang="zh-CN" b="0" dirty="0"/>
              </a:p>
              <a:p>
                <a:pPr lvl="1"/>
                <a:r>
                  <a:rPr lang="zh-CN" altLang="en-US" dirty="0"/>
                  <a:t>换算为</a:t>
                </a:r>
                <a:r>
                  <a:rPr lang="en-US" altLang="zh-CN" dirty="0"/>
                  <a:t>dB:</a:t>
                </a:r>
                <a14:m>
                  <m:oMath xmlns:m="http://schemas.openxmlformats.org/officeDocument/2006/math">
                    <m:r>
                      <a:rPr lang="en-US" altLang="zh-CN" i="1">
                        <a:latin typeface="Cambria Math" panose="02040503050406030204" pitchFamily="18" charset="0"/>
                      </a:rPr>
                      <m:t>𝑠𝑛</m:t>
                    </m:r>
                    <m:r>
                      <a:rPr lang="en-US" altLang="zh-CN" b="0" i="1" smtClean="0">
                        <a:latin typeface="Cambria Math" panose="02040503050406030204" pitchFamily="18" charset="0"/>
                      </a:rPr>
                      <m:t>𝑟</m:t>
                    </m:r>
                    <m:r>
                      <a:rPr lang="en-US" altLang="zh-CN" b="0" i="1" smtClean="0">
                        <a:latin typeface="Cambria Math" panose="02040503050406030204" pitchFamily="18" charset="0"/>
                      </a:rPr>
                      <m:t>=10</m:t>
                    </m:r>
                    <m:r>
                      <a:rPr lang="en-US" altLang="zh-CN" b="0" i="1" smtClean="0">
                        <a:latin typeface="Cambria Math" panose="02040503050406030204" pitchFamily="18" charset="0"/>
                      </a:rPr>
                      <m:t>𝑙𝑔</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54.91</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17.40</m:t>
                    </m:r>
                    <m:r>
                      <a:rPr lang="en-US" altLang="zh-CN" b="0" i="1" smtClean="0">
                        <a:latin typeface="Cambria Math" panose="02040503050406030204" pitchFamily="18" charset="0"/>
                      </a:rPr>
                      <m:t>𝑑𝐵</m:t>
                    </m:r>
                  </m:oMath>
                </a14:m>
                <a:endParaRPr lang="en-US" altLang="zh-CN" dirty="0"/>
              </a:p>
              <a:p>
                <a:pPr lvl="1"/>
                <a:endParaRPr lang="zh-CN" altLang="en-US"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1486959" y="1371283"/>
                <a:ext cx="9751483" cy="4114800"/>
              </a:xfrm>
              <a:blipFill rotWithShape="1">
                <a:blip r:embed="rId3"/>
                <a:stretch>
                  <a:fillRect l="-4" t="-8" r="2" b="-19560"/>
                </a:stretch>
              </a:blipFill>
            </p:spPr>
            <p:txBody>
              <a:bodyPr/>
              <a:lstStyle/>
              <a:p>
                <a:r>
                  <a:rPr lang="zh-CN" altLang="en-US">
                    <a:noFill/>
                  </a:rPr>
                  <a:t> </a:t>
                </a:r>
              </a:p>
            </p:txBody>
          </p:sp>
        </mc:Fallback>
      </mc:AlternateContent>
      <p:sp>
        <p:nvSpPr>
          <p:cNvPr id="4" name="矩形 3"/>
          <p:cNvSpPr/>
          <p:nvPr/>
        </p:nvSpPr>
        <p:spPr>
          <a:xfrm>
            <a:off x="893379"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语音的质量评价</a:t>
            </a:r>
            <a:r>
              <a:rPr lang="en-US" altLang="zh-CN" sz="2800" b="1" dirty="0">
                <a:solidFill>
                  <a:srgbClr val="023B8C"/>
                </a:solidFill>
                <a:latin typeface="微软雅黑" panose="020B0503020204020204" charset="-122"/>
                <a:ea typeface="微软雅黑" panose="020B0503020204020204" charset="-122"/>
              </a:rPr>
              <a:t>——</a:t>
            </a:r>
            <a:r>
              <a:rPr lang="zh-CN" altLang="en-US" sz="2800" b="1" dirty="0">
                <a:solidFill>
                  <a:srgbClr val="023B8C"/>
                </a:solidFill>
                <a:latin typeface="微软雅黑" panose="020B0503020204020204" charset="-122"/>
                <a:ea typeface="微软雅黑" panose="020B0503020204020204" charset="-122"/>
              </a:rPr>
              <a:t>客观评价方法</a:t>
            </a:r>
          </a:p>
        </p:txBody>
      </p:sp>
      <p:grpSp>
        <p:nvGrpSpPr>
          <p:cNvPr id="6" name="组合 5"/>
          <p:cNvGrpSpPr/>
          <p:nvPr/>
        </p:nvGrpSpPr>
        <p:grpSpPr>
          <a:xfrm>
            <a:off x="123658" y="249350"/>
            <a:ext cx="979109" cy="533291"/>
            <a:chOff x="2215144" y="982844"/>
            <a:chExt cx="1258238" cy="912607"/>
          </a:xfrm>
        </p:grpSpPr>
        <p:sp>
          <p:nvSpPr>
            <p:cNvPr id="5" name="平行四边形 4"/>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8"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1219624" y="1125056"/>
            <a:ext cx="9751483" cy="5486400"/>
          </a:xfrm>
        </p:spPr>
        <p:txBody>
          <a:bodyPr/>
          <a:lstStyle/>
          <a:p>
            <a:pPr eaLnBrk="1" hangingPunct="1">
              <a:lnSpc>
                <a:spcPct val="150000"/>
              </a:lnSpc>
            </a:pPr>
            <a:r>
              <a:rPr lang="zh-CN" altLang="en-US" dirty="0"/>
              <a:t>研究方便、快捷、准确的，与主观评价相一致的客观评价标准，是该领域研究的一个方向。</a:t>
            </a:r>
          </a:p>
          <a:p>
            <a:pPr eaLnBrk="1" hangingPunct="1">
              <a:lnSpc>
                <a:spcPct val="150000"/>
              </a:lnSpc>
            </a:pPr>
            <a:r>
              <a:rPr lang="zh-CN" altLang="en-US" dirty="0"/>
              <a:t>如何衡量一个客观评价与主观评价的一致性？</a:t>
            </a:r>
          </a:p>
          <a:p>
            <a:pPr eaLnBrk="1" hangingPunct="1">
              <a:lnSpc>
                <a:spcPct val="150000"/>
              </a:lnSpc>
            </a:pPr>
            <a:r>
              <a:rPr lang="zh-CN" altLang="en-US">
                <a:latin typeface="宋体" panose="02010600030101010101" pitchFamily="2" charset="-122"/>
                <a:sym typeface="+mn-ea"/>
              </a:rPr>
              <a:t>通过在客观评价和主观评价之间建立的函数关系，可以用客观评价值求出对主观评价值的预测值。</a:t>
            </a:r>
            <a:endParaRPr lang="en-US" altLang="zh-CN">
              <a:latin typeface="宋体" panose="02010600030101010101" pitchFamily="2" charset="-122"/>
            </a:endParaRPr>
          </a:p>
          <a:p>
            <a:pPr eaLnBrk="1" hangingPunct="1">
              <a:lnSpc>
                <a:spcPct val="150000"/>
              </a:lnSpc>
            </a:pPr>
            <a:r>
              <a:rPr lang="zh-CN" altLang="en-US">
                <a:latin typeface="宋体" panose="02010600030101010101" pitchFamily="2" charset="-122"/>
                <a:sym typeface="+mn-ea"/>
              </a:rPr>
              <a:t>该预测值和实测的主观评价值之间的相关度就作为该客观评价方法与主观评价方法之间的相关度。</a:t>
            </a:r>
            <a:r>
              <a:rPr lang="zh-CN" altLang="en-US">
                <a:sym typeface="+mn-ea"/>
              </a:rPr>
              <a:t> </a:t>
            </a:r>
            <a:endParaRPr lang="zh-CN" altLang="en-US"/>
          </a:p>
          <a:p>
            <a:pPr eaLnBrk="1" hangingPunct="1">
              <a:lnSpc>
                <a:spcPct val="150000"/>
              </a:lnSpc>
            </a:pPr>
            <a:endParaRPr lang="zh-CN" altLang="en-US" dirty="0"/>
          </a:p>
        </p:txBody>
      </p:sp>
      <p:sp>
        <p:nvSpPr>
          <p:cNvPr id="3" name="矩形 2"/>
          <p:cNvSpPr/>
          <p:nvPr/>
        </p:nvSpPr>
        <p:spPr>
          <a:xfrm>
            <a:off x="839404" y="249350"/>
            <a:ext cx="9470058" cy="953135"/>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rPr>
              <a:t>语音的质量评价</a:t>
            </a:r>
            <a:r>
              <a:rPr lang="en-US" altLang="zh-CN" sz="2800" b="1" dirty="0">
                <a:solidFill>
                  <a:srgbClr val="023B8C"/>
                </a:solidFill>
                <a:latin typeface="微软雅黑" panose="020B0503020204020204" charset="-122"/>
                <a:ea typeface="微软雅黑" panose="020B0503020204020204" charset="-122"/>
              </a:rPr>
              <a:t>——</a:t>
            </a:r>
            <a:r>
              <a:rPr lang="zh-CN" altLang="en-US" sz="2800" b="1" dirty="0">
                <a:solidFill>
                  <a:srgbClr val="023B8C"/>
                </a:solidFill>
                <a:latin typeface="微软雅黑" panose="020B0503020204020204" charset="-122"/>
                <a:ea typeface="微软雅黑" panose="020B0503020204020204" charset="-122"/>
                <a:sym typeface="+mn-ea"/>
              </a:rPr>
              <a:t>客观评价与主观评价一致性的问题</a:t>
            </a:r>
          </a:p>
          <a:p>
            <a:endParaRPr lang="en-US" altLang="zh-CN"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 calcmode="lin" valueType="num">
                                      <p:cBhvr additive="base">
                                        <p:cTn id="7" dur="500" fill="hold"/>
                                        <p:tgtEl>
                                          <p:spTgt spid="532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251">
                                            <p:txEl>
                                              <p:pRg st="1" end="1"/>
                                            </p:txEl>
                                          </p:spTgt>
                                        </p:tgtEl>
                                        <p:attrNameLst>
                                          <p:attrName>style.visibility</p:attrName>
                                        </p:attrNameLst>
                                      </p:cBhvr>
                                      <p:to>
                                        <p:strVal val="visible"/>
                                      </p:to>
                                    </p:set>
                                    <p:anim calcmode="lin" valueType="num">
                                      <p:cBhvr additive="base">
                                        <p:cTn id="13" dur="500" fill="hold"/>
                                        <p:tgtEl>
                                          <p:spTgt spid="532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2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3251">
                                            <p:txEl>
                                              <p:pRg st="2" end="2"/>
                                            </p:txEl>
                                          </p:spTgt>
                                        </p:tgtEl>
                                        <p:attrNameLst>
                                          <p:attrName>style.visibility</p:attrName>
                                        </p:attrNameLst>
                                      </p:cBhvr>
                                      <p:to>
                                        <p:strVal val="visible"/>
                                      </p:to>
                                    </p:set>
                                    <p:anim calcmode="lin" valueType="num">
                                      <p:cBhvr additive="base">
                                        <p:cTn id="19" dur="500" fill="hold"/>
                                        <p:tgtEl>
                                          <p:spTgt spid="532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32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3251">
                                            <p:txEl>
                                              <p:pRg st="3" end="3"/>
                                            </p:txEl>
                                          </p:spTgt>
                                        </p:tgtEl>
                                        <p:attrNameLst>
                                          <p:attrName>style.visibility</p:attrName>
                                        </p:attrNameLst>
                                      </p:cBhvr>
                                      <p:to>
                                        <p:strVal val="visible"/>
                                      </p:to>
                                    </p:set>
                                    <p:anim calcmode="lin" valueType="num">
                                      <p:cBhvr additive="base">
                                        <p:cTn id="25" dur="500" fill="hold"/>
                                        <p:tgtEl>
                                          <p:spTgt spid="5325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325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0" name="Rectangle 3"/>
          <p:cNvSpPr>
            <a:spLocks noGrp="1" noChangeArrowheads="1"/>
          </p:cNvSpPr>
          <p:nvPr>
            <p:ph idx="1"/>
          </p:nvPr>
        </p:nvSpPr>
        <p:spPr>
          <a:xfrm>
            <a:off x="972608" y="1125220"/>
            <a:ext cx="10219267" cy="5486400"/>
          </a:xfrm>
        </p:spPr>
        <p:txBody>
          <a:bodyPr/>
          <a:lstStyle/>
          <a:p>
            <a:pPr eaLnBrk="1" hangingPunct="1">
              <a:lnSpc>
                <a:spcPct val="90000"/>
              </a:lnSpc>
            </a:pPr>
            <a:endParaRPr lang="en-US" altLang="zh-CN" sz="3735" dirty="0"/>
          </a:p>
          <a:p>
            <a:pPr eaLnBrk="1" hangingPunct="1">
              <a:lnSpc>
                <a:spcPct val="90000"/>
              </a:lnSpc>
            </a:pPr>
            <a:endParaRPr lang="en-US" altLang="zh-CN" sz="3735" dirty="0"/>
          </a:p>
          <a:p>
            <a:pPr eaLnBrk="1" hangingPunct="1">
              <a:lnSpc>
                <a:spcPct val="90000"/>
              </a:lnSpc>
            </a:pPr>
            <a:endParaRPr lang="en-US" altLang="zh-CN" sz="3735" dirty="0"/>
          </a:p>
          <a:p>
            <a:pPr eaLnBrk="1" hangingPunct="1">
              <a:lnSpc>
                <a:spcPct val="90000"/>
              </a:lnSpc>
            </a:pPr>
            <a:endParaRPr lang="en-US" altLang="zh-CN" sz="3735" dirty="0"/>
          </a:p>
          <a:p>
            <a:pPr eaLnBrk="1" hangingPunct="1">
              <a:lnSpc>
                <a:spcPct val="90000"/>
              </a:lnSpc>
            </a:pPr>
            <a:r>
              <a:rPr lang="en-US" altLang="zh-CN" sz="3735" dirty="0">
                <a:latin typeface="宋体" panose="02010600030101010101" pitchFamily="2" charset="-122"/>
              </a:rPr>
              <a:t>N</a:t>
            </a:r>
            <a:r>
              <a:rPr lang="zh-CN" altLang="en-US" sz="3735" dirty="0">
                <a:latin typeface="宋体" panose="02010600030101010101" pitchFamily="2" charset="-122"/>
              </a:rPr>
              <a:t>为被测的样本数，  表示第</a:t>
            </a:r>
            <a:r>
              <a:rPr lang="en-US" altLang="zh-CN" sz="3735" dirty="0" err="1">
                <a:latin typeface="宋体" panose="02010600030101010101" pitchFamily="2" charset="-122"/>
              </a:rPr>
              <a:t>i</a:t>
            </a:r>
            <a:r>
              <a:rPr lang="zh-CN" altLang="en-US" sz="3735" dirty="0">
                <a:latin typeface="宋体" panose="02010600030101010101" pitchFamily="2" charset="-122"/>
              </a:rPr>
              <a:t>个样本的实测主观评价值，  表示第</a:t>
            </a:r>
            <a:r>
              <a:rPr lang="en-US" altLang="zh-CN" sz="3735" dirty="0" err="1">
                <a:latin typeface="宋体" panose="02010600030101010101" pitchFamily="2" charset="-122"/>
              </a:rPr>
              <a:t>i</a:t>
            </a:r>
            <a:r>
              <a:rPr lang="zh-CN" altLang="en-US" sz="3735" dirty="0">
                <a:latin typeface="宋体" panose="02010600030101010101" pitchFamily="2" charset="-122"/>
              </a:rPr>
              <a:t>个样本的客观评价的主观预测值， 是实测主观评价值的算术平均值</a:t>
            </a:r>
            <a:r>
              <a:rPr lang="zh-CN" altLang="en-US" sz="3735" dirty="0"/>
              <a:t> </a:t>
            </a:r>
          </a:p>
          <a:p>
            <a:pPr eaLnBrk="1" hangingPunct="1">
              <a:lnSpc>
                <a:spcPct val="90000"/>
              </a:lnSpc>
            </a:pPr>
            <a:r>
              <a:rPr lang="zh-CN" altLang="en-US" sz="3735">
                <a:latin typeface="宋体" panose="02010600030101010101" pitchFamily="2" charset="-122"/>
              </a:rPr>
              <a:t>  值</a:t>
            </a:r>
            <a:r>
              <a:rPr lang="zh-CN" altLang="en-US" sz="3735" dirty="0">
                <a:latin typeface="宋体" panose="02010600030101010101" pitchFamily="2" charset="-122"/>
              </a:rPr>
              <a:t>越接近</a:t>
            </a:r>
            <a:r>
              <a:rPr lang="en-US" altLang="zh-CN" sz="3735" dirty="0">
                <a:latin typeface="宋体" panose="02010600030101010101" pitchFamily="2" charset="-122"/>
              </a:rPr>
              <a:t>1</a:t>
            </a:r>
            <a:r>
              <a:rPr lang="zh-CN" altLang="en-US" sz="3735" dirty="0">
                <a:latin typeface="宋体" panose="02010600030101010101" pitchFamily="2" charset="-122"/>
              </a:rPr>
              <a:t>，说明该客观评价方法对主观评价的预测越准确，该方法的性能越好</a:t>
            </a:r>
            <a:r>
              <a:rPr lang="zh-CN" altLang="en-US" sz="3735" dirty="0"/>
              <a:t> </a:t>
            </a:r>
          </a:p>
        </p:txBody>
      </p:sp>
      <p:graphicFrame>
        <p:nvGraphicFramePr>
          <p:cNvPr id="3074" name="Object 4"/>
          <p:cNvGraphicFramePr>
            <a:graphicFrameLocks noChangeAspect="1"/>
          </p:cNvGraphicFramePr>
          <p:nvPr/>
        </p:nvGraphicFramePr>
        <p:xfrm>
          <a:off x="3619500" y="760730"/>
          <a:ext cx="3774440" cy="2808605"/>
        </p:xfrm>
        <a:graphic>
          <a:graphicData uri="http://schemas.openxmlformats.org/presentationml/2006/ole">
            <mc:AlternateContent xmlns:mc="http://schemas.openxmlformats.org/markup-compatibility/2006">
              <mc:Choice xmlns:v="urn:schemas-microsoft-com:vml" Requires="v">
                <p:oleObj name="Equation" r:id="rId3" imgW="1193800" imgH="889000" progId="Equation.DSMT4">
                  <p:embed/>
                </p:oleObj>
              </mc:Choice>
              <mc:Fallback>
                <p:oleObj name="Equation" r:id="rId3" imgW="1193800" imgH="8890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9500" y="760730"/>
                        <a:ext cx="3774440" cy="2808605"/>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75" name="Object 5"/>
          <p:cNvGraphicFramePr>
            <a:graphicFrameLocks noChangeAspect="1"/>
          </p:cNvGraphicFramePr>
          <p:nvPr/>
        </p:nvGraphicFramePr>
        <p:xfrm>
          <a:off x="5603875" y="3665220"/>
          <a:ext cx="359833" cy="508000"/>
        </p:xfrm>
        <a:graphic>
          <a:graphicData uri="http://schemas.openxmlformats.org/presentationml/2006/ole">
            <mc:AlternateContent xmlns:mc="http://schemas.openxmlformats.org/markup-compatibility/2006">
              <mc:Choice xmlns:v="urn:schemas-microsoft-com:vml" Requires="v">
                <p:oleObj name="Equation" r:id="rId5" imgW="165100" imgH="228600" progId="Equation.DSMT4">
                  <p:embed/>
                </p:oleObj>
              </mc:Choice>
              <mc:Fallback>
                <p:oleObj name="Equation" r:id="rId5" imgW="165100" imgH="22860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03875" y="3665220"/>
                        <a:ext cx="359833" cy="5080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 name="Object 6"/>
          <p:cNvGraphicFramePr>
            <a:graphicFrameLocks noChangeAspect="1"/>
          </p:cNvGraphicFramePr>
          <p:nvPr/>
        </p:nvGraphicFramePr>
        <p:xfrm>
          <a:off x="3775075" y="4173220"/>
          <a:ext cx="383117" cy="609600"/>
        </p:xfrm>
        <a:graphic>
          <a:graphicData uri="http://schemas.openxmlformats.org/presentationml/2006/ole">
            <mc:AlternateContent xmlns:mc="http://schemas.openxmlformats.org/markup-compatibility/2006">
              <mc:Choice xmlns:v="urn:schemas-microsoft-com:vml" Requires="v">
                <p:oleObj name="Equation" r:id="rId7" imgW="165100" imgH="254000" progId="Equation.DSMT4">
                  <p:embed/>
                </p:oleObj>
              </mc:Choice>
              <mc:Fallback>
                <p:oleObj name="Equation" r:id="rId7" imgW="165100" imgH="2540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5075" y="4173220"/>
                        <a:ext cx="383117" cy="6096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7" name="Object 7"/>
          <p:cNvGraphicFramePr>
            <a:graphicFrameLocks noChangeAspect="1"/>
          </p:cNvGraphicFramePr>
          <p:nvPr/>
        </p:nvGraphicFramePr>
        <p:xfrm>
          <a:off x="3775075" y="4782820"/>
          <a:ext cx="383117" cy="406400"/>
        </p:xfrm>
        <a:graphic>
          <a:graphicData uri="http://schemas.openxmlformats.org/presentationml/2006/ole">
            <mc:AlternateContent xmlns:mc="http://schemas.openxmlformats.org/markup-compatibility/2006">
              <mc:Choice xmlns:v="urn:schemas-microsoft-com:vml" Requires="v">
                <p:oleObj name="Equation" r:id="rId9" imgW="152400" imgH="165100" progId="Equation.DSMT4">
                  <p:embed/>
                </p:oleObj>
              </mc:Choice>
              <mc:Fallback>
                <p:oleObj name="Equation" r:id="rId9" imgW="152400" imgH="16510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75075" y="4782820"/>
                        <a:ext cx="383117" cy="406400"/>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8" name="Object 8"/>
          <p:cNvGraphicFramePr>
            <a:graphicFrameLocks noChangeAspect="1"/>
          </p:cNvGraphicFramePr>
          <p:nvPr/>
        </p:nvGraphicFramePr>
        <p:xfrm>
          <a:off x="1539875" y="5392420"/>
          <a:ext cx="508000" cy="410633"/>
        </p:xfrm>
        <a:graphic>
          <a:graphicData uri="http://schemas.openxmlformats.org/presentationml/2006/ole">
            <mc:AlternateContent xmlns:mc="http://schemas.openxmlformats.org/markup-compatibility/2006">
              <mc:Choice xmlns:v="urn:schemas-microsoft-com:vml" Requires="v">
                <p:oleObj name="Equation" r:id="rId11" imgW="152400" imgH="165100" progId="Equation.DSMT4">
                  <p:embed/>
                </p:oleObj>
              </mc:Choice>
              <mc:Fallback>
                <p:oleObj name="Equation" r:id="rId11" imgW="152400" imgH="16510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39875" y="5392420"/>
                        <a:ext cx="508000" cy="410633"/>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 name="矩形 10"/>
          <p:cNvSpPr/>
          <p:nvPr/>
        </p:nvSpPr>
        <p:spPr>
          <a:xfrm>
            <a:off x="839404" y="249350"/>
            <a:ext cx="9470058" cy="953135"/>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rPr>
              <a:t>语音的质量评价</a:t>
            </a:r>
            <a:r>
              <a:rPr lang="en-US" altLang="zh-CN" sz="2800" b="1" dirty="0">
                <a:solidFill>
                  <a:srgbClr val="023B8C"/>
                </a:solidFill>
                <a:latin typeface="微软雅黑" panose="020B0503020204020204" charset="-122"/>
                <a:ea typeface="微软雅黑" panose="020B0503020204020204" charset="-122"/>
              </a:rPr>
              <a:t>——</a:t>
            </a:r>
            <a:r>
              <a:rPr lang="zh-CN" altLang="en-US" sz="2800" b="1" dirty="0">
                <a:solidFill>
                  <a:srgbClr val="023B8C"/>
                </a:solidFill>
                <a:latin typeface="微软雅黑" panose="020B0503020204020204" charset="-122"/>
                <a:ea typeface="微软雅黑" panose="020B0503020204020204" charset="-122"/>
                <a:sym typeface="+mn-ea"/>
              </a:rPr>
              <a:t>客观评价与主观评价一致性的问题</a:t>
            </a:r>
          </a:p>
          <a:p>
            <a:endParaRPr lang="en-US" altLang="zh-CN" sz="2800" b="1" dirty="0">
              <a:solidFill>
                <a:srgbClr val="023B8C"/>
              </a:solidFill>
              <a:latin typeface="微软雅黑" panose="020B0503020204020204" charset="-122"/>
              <a:ea typeface="微软雅黑" panose="020B0503020204020204" charset="-122"/>
            </a:endParaRPr>
          </a:p>
        </p:txBody>
      </p:sp>
      <p:sp>
        <p:nvSpPr>
          <p:cNvPr id="13" name="平行四边形 12"/>
          <p:cNvSpPr/>
          <p:nvPr/>
        </p:nvSpPr>
        <p:spPr>
          <a:xfrm>
            <a:off x="123825" y="249555"/>
            <a:ext cx="872490" cy="49276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14" name="文本框 9"/>
          <p:cNvSpPr txBox="1"/>
          <p:nvPr/>
        </p:nvSpPr>
        <p:spPr>
          <a:xfrm>
            <a:off x="262255" y="260985"/>
            <a:ext cx="840740" cy="521970"/>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80">
                                            <p:txEl>
                                              <p:pRg st="4" end="4"/>
                                            </p:txEl>
                                          </p:spTgt>
                                        </p:tgtEl>
                                        <p:attrNameLst>
                                          <p:attrName>style.visibility</p:attrName>
                                        </p:attrNameLst>
                                      </p:cBhvr>
                                      <p:to>
                                        <p:strVal val="visible"/>
                                      </p:to>
                                    </p:set>
                                    <p:anim calcmode="lin" valueType="num">
                                      <p:cBhvr additive="base">
                                        <p:cTn id="13" dur="500" fill="hold"/>
                                        <p:tgtEl>
                                          <p:spTgt spid="3080">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80">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075"/>
                                        </p:tgtEl>
                                        <p:attrNameLst>
                                          <p:attrName>style.visibility</p:attrName>
                                        </p:attrNameLst>
                                      </p:cBhvr>
                                      <p:to>
                                        <p:strVal val="visible"/>
                                      </p:to>
                                    </p:set>
                                    <p:anim calcmode="lin" valueType="num">
                                      <p:cBhvr additive="base">
                                        <p:cTn id="17" dur="500" fill="hold"/>
                                        <p:tgtEl>
                                          <p:spTgt spid="3075"/>
                                        </p:tgtEl>
                                        <p:attrNameLst>
                                          <p:attrName>ppt_x</p:attrName>
                                        </p:attrNameLst>
                                      </p:cBhvr>
                                      <p:tavLst>
                                        <p:tav tm="0">
                                          <p:val>
                                            <p:strVal val="#ppt_x"/>
                                          </p:val>
                                        </p:tav>
                                        <p:tav tm="100000">
                                          <p:val>
                                            <p:strVal val="#ppt_x"/>
                                          </p:val>
                                        </p:tav>
                                      </p:tavLst>
                                    </p:anim>
                                    <p:anim calcmode="lin" valueType="num">
                                      <p:cBhvr additive="base">
                                        <p:cTn id="18" dur="500" fill="hold"/>
                                        <p:tgtEl>
                                          <p:spTgt spid="307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076"/>
                                        </p:tgtEl>
                                        <p:attrNameLst>
                                          <p:attrName>style.visibility</p:attrName>
                                        </p:attrNameLst>
                                      </p:cBhvr>
                                      <p:to>
                                        <p:strVal val="visible"/>
                                      </p:to>
                                    </p:set>
                                    <p:anim calcmode="lin" valueType="num">
                                      <p:cBhvr additive="base">
                                        <p:cTn id="21" dur="500" fill="hold"/>
                                        <p:tgtEl>
                                          <p:spTgt spid="3076"/>
                                        </p:tgtEl>
                                        <p:attrNameLst>
                                          <p:attrName>ppt_x</p:attrName>
                                        </p:attrNameLst>
                                      </p:cBhvr>
                                      <p:tavLst>
                                        <p:tav tm="0">
                                          <p:val>
                                            <p:strVal val="#ppt_x"/>
                                          </p:val>
                                        </p:tav>
                                        <p:tav tm="100000">
                                          <p:val>
                                            <p:strVal val="#ppt_x"/>
                                          </p:val>
                                        </p:tav>
                                      </p:tavLst>
                                    </p:anim>
                                    <p:anim calcmode="lin" valueType="num">
                                      <p:cBhvr additive="base">
                                        <p:cTn id="22" dur="500" fill="hold"/>
                                        <p:tgtEl>
                                          <p:spTgt spid="3076"/>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077"/>
                                        </p:tgtEl>
                                        <p:attrNameLst>
                                          <p:attrName>style.visibility</p:attrName>
                                        </p:attrNameLst>
                                      </p:cBhvr>
                                      <p:to>
                                        <p:strVal val="visible"/>
                                      </p:to>
                                    </p:set>
                                    <p:anim calcmode="lin" valueType="num">
                                      <p:cBhvr additive="base">
                                        <p:cTn id="25" dur="500" fill="hold"/>
                                        <p:tgtEl>
                                          <p:spTgt spid="3077"/>
                                        </p:tgtEl>
                                        <p:attrNameLst>
                                          <p:attrName>ppt_x</p:attrName>
                                        </p:attrNameLst>
                                      </p:cBhvr>
                                      <p:tavLst>
                                        <p:tav tm="0">
                                          <p:val>
                                            <p:strVal val="#ppt_x"/>
                                          </p:val>
                                        </p:tav>
                                        <p:tav tm="100000">
                                          <p:val>
                                            <p:strVal val="#ppt_x"/>
                                          </p:val>
                                        </p:tav>
                                      </p:tavLst>
                                    </p:anim>
                                    <p:anim calcmode="lin" valueType="num">
                                      <p:cBhvr additive="base">
                                        <p:cTn id="26" dur="500" fill="hold"/>
                                        <p:tgtEl>
                                          <p:spTgt spid="307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080">
                                            <p:txEl>
                                              <p:pRg st="5" end="5"/>
                                            </p:txEl>
                                          </p:spTgt>
                                        </p:tgtEl>
                                        <p:attrNameLst>
                                          <p:attrName>style.visibility</p:attrName>
                                        </p:attrNameLst>
                                      </p:cBhvr>
                                      <p:to>
                                        <p:strVal val="visible"/>
                                      </p:to>
                                    </p:set>
                                    <p:anim calcmode="lin" valueType="num">
                                      <p:cBhvr additive="base">
                                        <p:cTn id="31" dur="500" fill="hold"/>
                                        <p:tgtEl>
                                          <p:spTgt spid="3080">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80">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078"/>
                                        </p:tgtEl>
                                        <p:attrNameLst>
                                          <p:attrName>style.visibility</p:attrName>
                                        </p:attrNameLst>
                                      </p:cBhvr>
                                      <p:to>
                                        <p:strVal val="visible"/>
                                      </p:to>
                                    </p:set>
                                    <p:anim calcmode="lin" valueType="num">
                                      <p:cBhvr additive="base">
                                        <p:cTn id="35" dur="500" fill="hold"/>
                                        <p:tgtEl>
                                          <p:spTgt spid="3078"/>
                                        </p:tgtEl>
                                        <p:attrNameLst>
                                          <p:attrName>ppt_x</p:attrName>
                                        </p:attrNameLst>
                                      </p:cBhvr>
                                      <p:tavLst>
                                        <p:tav tm="0">
                                          <p:val>
                                            <p:strVal val="#ppt_x"/>
                                          </p:val>
                                        </p:tav>
                                        <p:tav tm="100000">
                                          <p:val>
                                            <p:strVal val="#ppt_x"/>
                                          </p:val>
                                        </p:tav>
                                      </p:tavLst>
                                    </p:anim>
                                    <p:anim calcmode="lin" valueType="num">
                                      <p:cBhvr additive="base">
                                        <p:cTn id="36" dur="500" fill="hold"/>
                                        <p:tgtEl>
                                          <p:spTgt spid="30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0"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702859" y="1340803"/>
            <a:ext cx="9751483" cy="4114800"/>
          </a:xfrm>
        </p:spPr>
        <p:txBody>
          <a:bodyPr/>
          <a:lstStyle/>
          <a:p>
            <a:pPr eaLnBrk="1" hangingPunct="1">
              <a:lnSpc>
                <a:spcPct val="200000"/>
              </a:lnSpc>
            </a:pPr>
            <a:r>
              <a:rPr lang="zh-CN" altLang="en-US"/>
              <a:t>优点：</a:t>
            </a:r>
          </a:p>
          <a:p>
            <a:pPr lvl="1" eaLnBrk="1" hangingPunct="1">
              <a:lnSpc>
                <a:spcPct val="200000"/>
              </a:lnSpc>
            </a:pPr>
            <a:r>
              <a:rPr lang="zh-CN" altLang="en-US"/>
              <a:t>简单，可重复性强，与试听者主观感觉无关。</a:t>
            </a:r>
          </a:p>
          <a:p>
            <a:pPr eaLnBrk="1" hangingPunct="1">
              <a:lnSpc>
                <a:spcPct val="200000"/>
              </a:lnSpc>
            </a:pPr>
            <a:r>
              <a:rPr lang="zh-CN" altLang="en-US"/>
              <a:t>缺点：</a:t>
            </a:r>
          </a:p>
          <a:p>
            <a:pPr lvl="1" eaLnBrk="1" hangingPunct="1">
              <a:lnSpc>
                <a:spcPct val="200000"/>
              </a:lnSpc>
            </a:pPr>
            <a:r>
              <a:rPr lang="zh-CN" altLang="en-US"/>
              <a:t>无法达到与主观评价完全一致的效果。</a:t>
            </a:r>
            <a:endParaRPr lang="en-US" altLang="zh-CN"/>
          </a:p>
        </p:txBody>
      </p:sp>
      <p:sp>
        <p:nvSpPr>
          <p:cNvPr id="3" name="矩形 2"/>
          <p:cNvSpPr/>
          <p:nvPr/>
        </p:nvSpPr>
        <p:spPr>
          <a:xfrm>
            <a:off x="839404" y="249350"/>
            <a:ext cx="9470058" cy="953135"/>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rPr>
              <a:t>语音的质量评价</a:t>
            </a:r>
            <a:r>
              <a:rPr lang="en-US" altLang="zh-CN" sz="2800" b="1" dirty="0">
                <a:solidFill>
                  <a:srgbClr val="023B8C"/>
                </a:solidFill>
                <a:latin typeface="微软雅黑" panose="020B0503020204020204" charset="-122"/>
                <a:ea typeface="微软雅黑" panose="020B0503020204020204" charset="-122"/>
              </a:rPr>
              <a:t>——</a:t>
            </a:r>
            <a:r>
              <a:rPr lang="zh-CN" altLang="en-US" sz="2800" b="1" dirty="0">
                <a:solidFill>
                  <a:srgbClr val="023B8C"/>
                </a:solidFill>
                <a:latin typeface="微软雅黑" panose="020B0503020204020204" charset="-122"/>
                <a:ea typeface="微软雅黑" panose="020B0503020204020204" charset="-122"/>
                <a:sym typeface="+mn-ea"/>
              </a:rPr>
              <a:t>客观评价的优缺点</a:t>
            </a:r>
          </a:p>
          <a:p>
            <a:endParaRPr lang="en-US" altLang="zh-CN"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bldLvl="5"/>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199515" y="1052830"/>
            <a:ext cx="9802495" cy="2941320"/>
          </a:xfrm>
        </p:spPr>
        <p:txBody>
          <a:bodyPr/>
          <a:lstStyle/>
          <a:p>
            <a:pPr marL="342900" lvl="1" indent="-342900" algn="l">
              <a:lnSpc>
                <a:spcPct val="100000"/>
              </a:lnSpc>
              <a:buChar char="¡"/>
            </a:pPr>
            <a:r>
              <a:rPr lang="zh-CN" altLang="en-US" sz="2900" dirty="0">
                <a:cs typeface="+mn-cs"/>
              </a:rPr>
              <a:t>学习目标</a:t>
            </a:r>
          </a:p>
          <a:p>
            <a:pPr lvl="1" algn="l">
              <a:lnSpc>
                <a:spcPct val="100000"/>
              </a:lnSpc>
              <a:buChar char="l"/>
            </a:pPr>
            <a:r>
              <a:rPr lang="zh-CN" altLang="en-US" sz="2500" dirty="0">
                <a:cs typeface="+mn-ea"/>
              </a:rPr>
              <a:t>知识：如何读取并观察音频内容（音轨、采样率、时间等）。</a:t>
            </a:r>
          </a:p>
          <a:p>
            <a:pPr lvl="1" algn="l">
              <a:lnSpc>
                <a:spcPct val="100000"/>
              </a:lnSpc>
              <a:buChar char="l"/>
            </a:pPr>
            <a:r>
              <a:rPr lang="zh-CN" altLang="en-US" sz="2500" dirty="0">
                <a:cs typeface="+mn-ea"/>
              </a:rPr>
              <a:t>技能：掌握常用的音频处理方法和基于Python的数字音频常用操作方法。</a:t>
            </a:r>
            <a:endParaRPr lang="zh-CN" altLang="en-US" sz="2900" dirty="0">
              <a:cs typeface="+mn-cs"/>
            </a:endParaRPr>
          </a:p>
          <a:p>
            <a:pPr algn="l">
              <a:lnSpc>
                <a:spcPct val="100000"/>
              </a:lnSpc>
            </a:pPr>
            <a:r>
              <a:rPr lang="zh-CN" altLang="en-US" dirty="0">
                <a:solidFill>
                  <a:schemeClr val="bg1">
                    <a:lumMod val="50000"/>
                  </a:schemeClr>
                </a:solidFill>
              </a:rPr>
              <a:t>学习任务单</a:t>
            </a:r>
          </a:p>
          <a:p>
            <a:pPr lvl="1" algn="l">
              <a:lnSpc>
                <a:spcPct val="100000"/>
              </a:lnSpc>
            </a:pPr>
            <a:r>
              <a:rPr lang="zh-CN" altLang="en-US" dirty="0">
                <a:solidFill>
                  <a:schemeClr val="bg1">
                    <a:lumMod val="50000"/>
                  </a:schemeClr>
                </a:solidFill>
                <a:cs typeface="+mn-ea"/>
              </a:rPr>
              <a:t>学习实验指导书2中的实验内容。</a:t>
            </a:r>
          </a:p>
          <a:p>
            <a:pPr lvl="1" algn="l">
              <a:lnSpc>
                <a:spcPct val="100000"/>
              </a:lnSpc>
            </a:pPr>
            <a:r>
              <a:rPr lang="zh-CN" altLang="en-US" dirty="0">
                <a:solidFill>
                  <a:schemeClr val="bg1">
                    <a:lumMod val="50000"/>
                  </a:schemeClr>
                </a:solidFill>
                <a:cs typeface="+mn-ea"/>
              </a:rPr>
              <a:t>按实验指导书完成音频信号处理基础配套Python环境的安装。</a:t>
            </a:r>
          </a:p>
          <a:p>
            <a:pPr lvl="1" algn="l">
              <a:lnSpc>
                <a:spcPct val="100000"/>
              </a:lnSpc>
            </a:pPr>
            <a:r>
              <a:rPr lang="zh-CN" altLang="en-US" dirty="0">
                <a:solidFill>
                  <a:schemeClr val="bg1">
                    <a:lumMod val="50000"/>
                  </a:schemeClr>
                </a:solidFill>
                <a:cs typeface="+mn-ea"/>
              </a:rPr>
              <a:t>参考实验指导书按照实验作业要求完成实验作业。</a:t>
            </a:r>
          </a:p>
          <a:p>
            <a:pPr lvl="1" algn="l">
              <a:lnSpc>
                <a:spcPct val="100000"/>
              </a:lnSpc>
            </a:pPr>
            <a:r>
              <a:rPr lang="zh-CN" altLang="en-US" dirty="0">
                <a:solidFill>
                  <a:schemeClr val="bg1">
                    <a:lumMod val="50000"/>
                  </a:schemeClr>
                </a:solidFill>
                <a:cs typeface="+mn-ea"/>
              </a:rPr>
              <a:t>参考实验报告模板完成实验报告。</a:t>
            </a:r>
          </a:p>
          <a:p>
            <a:pPr lvl="1" algn="l">
              <a:lnSpc>
                <a:spcPct val="100000"/>
              </a:lnSpc>
            </a:pPr>
            <a:r>
              <a:rPr lang="zh-CN" altLang="en-US" dirty="0">
                <a:solidFill>
                  <a:schemeClr val="bg1">
                    <a:lumMod val="50000"/>
                  </a:schemeClr>
                </a:solidFill>
                <a:cs typeface="+mn-ea"/>
              </a:rPr>
              <a:t>按时提交实验报告。</a:t>
            </a:r>
          </a:p>
        </p:txBody>
      </p:sp>
      <p:sp>
        <p:nvSpPr>
          <p:cNvPr id="3" name="矩形 2"/>
          <p:cNvSpPr/>
          <p:nvPr/>
        </p:nvSpPr>
        <p:spPr>
          <a:xfrm>
            <a:off x="839404"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实践案例二：音频信号处理基础</a:t>
            </a: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7107">
                                            <p:txEl>
                                              <p:pRg st="6" end="6"/>
                                            </p:txEl>
                                          </p:spTgt>
                                        </p:tgtEl>
                                        <p:attrNameLst>
                                          <p:attrName>style.visibility</p:attrName>
                                        </p:attrNameLst>
                                      </p:cBhvr>
                                      <p:to>
                                        <p:strVal val="visible"/>
                                      </p:to>
                                    </p:set>
                                    <p:anim calcmode="lin" valueType="num">
                                      <p:cBhvr additive="base">
                                        <p:cTn id="43"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1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7107">
                                            <p:txEl>
                                              <p:pRg st="7" end="7"/>
                                            </p:txEl>
                                          </p:spTgt>
                                        </p:tgtEl>
                                        <p:attrNameLst>
                                          <p:attrName>style.visibility</p:attrName>
                                        </p:attrNameLst>
                                      </p:cBhvr>
                                      <p:to>
                                        <p:strVal val="visible"/>
                                      </p:to>
                                    </p:set>
                                    <p:anim calcmode="lin" valueType="num">
                                      <p:cBhvr additive="base">
                                        <p:cTn id="49" dur="500" fill="hold"/>
                                        <p:tgtEl>
                                          <p:spTgt spid="4710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710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7107">
                                            <p:txEl>
                                              <p:pRg st="8" end="8"/>
                                            </p:txEl>
                                          </p:spTgt>
                                        </p:tgtEl>
                                        <p:attrNameLst>
                                          <p:attrName>style.visibility</p:attrName>
                                        </p:attrNameLst>
                                      </p:cBhvr>
                                      <p:to>
                                        <p:strVal val="visible"/>
                                      </p:to>
                                    </p:set>
                                    <p:anim calcmode="lin" valueType="num">
                                      <p:cBhvr additive="base">
                                        <p:cTn id="55" dur="500" fill="hold"/>
                                        <p:tgtEl>
                                          <p:spTgt spid="4710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710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bldLvl="5"/>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199515" y="1341120"/>
            <a:ext cx="9429750" cy="2941320"/>
          </a:xfrm>
        </p:spPr>
        <p:txBody>
          <a:bodyPr/>
          <a:lstStyle/>
          <a:p>
            <a:pPr marL="342900" lvl="1" indent="-342900" algn="l">
              <a:lnSpc>
                <a:spcPct val="100000"/>
              </a:lnSpc>
              <a:buChar char="¡"/>
            </a:pPr>
            <a:r>
              <a:rPr lang="zh-CN" altLang="en-US" sz="2900" dirty="0">
                <a:cs typeface="+mn-cs"/>
              </a:rPr>
              <a:t>学习内容</a:t>
            </a:r>
          </a:p>
          <a:p>
            <a:pPr lvl="1" algn="l" latinLnBrk="0">
              <a:lnSpc>
                <a:spcPct val="150000"/>
              </a:lnSpc>
              <a:spcBef>
                <a:spcPts val="0"/>
              </a:spcBef>
            </a:pPr>
            <a:r>
              <a:rPr lang="zh-CN" altLang="en-US" dirty="0">
                <a:cs typeface="+mn-ea"/>
              </a:rPr>
              <a:t>利用python解码音频，读取并记录音频，使用 audioread 库来获取关键信息如音轨、采样率和持续时间。</a:t>
            </a:r>
          </a:p>
          <a:p>
            <a:pPr lvl="1" algn="l" latinLnBrk="0">
              <a:lnSpc>
                <a:spcPct val="150000"/>
              </a:lnSpc>
              <a:spcBef>
                <a:spcPts val="0"/>
              </a:spcBef>
            </a:pPr>
            <a:r>
              <a:rPr lang="zh-CN" altLang="en-US" dirty="0">
                <a:cs typeface="+mn-ea"/>
              </a:rPr>
              <a:t>分析音频数据，对音频文件中的样点数据进行处理和分析。</a:t>
            </a:r>
          </a:p>
          <a:p>
            <a:pPr lvl="1" algn="l" latinLnBrk="0">
              <a:lnSpc>
                <a:spcPct val="150000"/>
              </a:lnSpc>
              <a:spcBef>
                <a:spcPts val="0"/>
              </a:spcBef>
            </a:pPr>
            <a:r>
              <a:rPr lang="zh-CN" altLang="en-US" dirty="0">
                <a:cs typeface="+mn-ea"/>
              </a:rPr>
              <a:t>能够修改音频样点读取范围为180-200，完成数据可视化。将音频数据转换为波形图，以直观展示音频信号随时间的变化。并在图中嵌入标识身份的信息。</a:t>
            </a:r>
          </a:p>
        </p:txBody>
      </p:sp>
      <p:sp>
        <p:nvSpPr>
          <p:cNvPr id="3" name="矩形 2"/>
          <p:cNvSpPr/>
          <p:nvPr/>
        </p:nvSpPr>
        <p:spPr>
          <a:xfrm>
            <a:off x="839404"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实践案例二：音频信号处理基础</a:t>
            </a: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bldLvl="5"/>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 name="矩形 1"/>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人类视觉特点与图像质量评价</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
        <p:nvSpPr>
          <p:cNvPr id="11" name="文本框 10"/>
          <p:cNvSpPr txBox="1"/>
          <p:nvPr/>
        </p:nvSpPr>
        <p:spPr>
          <a:xfrm>
            <a:off x="995680" y="1772920"/>
            <a:ext cx="7063740" cy="1568450"/>
          </a:xfrm>
          <a:prstGeom prst="rect">
            <a:avLst/>
          </a:prstGeom>
        </p:spPr>
        <p:txBody>
          <a:bodyPr wrap="square">
            <a:spAutoFit/>
          </a:bodyPr>
          <a:lstStyle/>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人类视觉特点</a:t>
            </a: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图像的质量评价</a:t>
            </a:r>
          </a:p>
          <a:p>
            <a:pPr marL="762000" indent="-457200" defTabSz="266700">
              <a:buFont typeface="Arial" panose="020B0604020202020204" pitchFamily="34" charset="0"/>
              <a:buChar char="•"/>
            </a:pPr>
            <a:r>
              <a:rPr lang="zh-CN" altLang="en-US" sz="3200">
                <a:solidFill>
                  <a:srgbClr val="023B8C"/>
                </a:solidFill>
                <a:latin typeface="Times New Roman" panose="02020603050405020304"/>
                <a:ea typeface="宋体" panose="02010600030101010101" pitchFamily="2" charset="-122"/>
              </a:rPr>
              <a:t>实践案例三：图像信号处理基础</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1127760" y="1196975"/>
            <a:ext cx="10612120" cy="4114800"/>
          </a:xfrm>
        </p:spPr>
        <p:txBody>
          <a:bodyPr/>
          <a:lstStyle/>
          <a:p>
            <a:pPr>
              <a:lnSpc>
                <a:spcPct val="150000"/>
              </a:lnSpc>
            </a:pPr>
            <a:r>
              <a:rPr lang="zh-CN" altLang="en-US" dirty="0"/>
              <a:t>视觉范围</a:t>
            </a:r>
          </a:p>
          <a:p>
            <a:pPr lvl="1">
              <a:lnSpc>
                <a:spcPct val="150000"/>
              </a:lnSpc>
            </a:pPr>
            <a:r>
              <a:rPr lang="zh-CN" altLang="en-US" dirty="0"/>
              <a:t>视觉范围是指人眼所能感觉的亮度范围。</a:t>
            </a:r>
            <a:endParaRPr lang="en-US" altLang="zh-CN" dirty="0"/>
          </a:p>
          <a:p>
            <a:pPr lvl="1">
              <a:lnSpc>
                <a:spcPct val="150000"/>
              </a:lnSpc>
            </a:pPr>
            <a:r>
              <a:rPr lang="zh-CN" altLang="en-US" dirty="0"/>
              <a:t>客观上相同的亮度，当平均亮度不同时，主观感觉的亮度也不相同。</a:t>
            </a:r>
          </a:p>
          <a:p>
            <a:pPr lvl="1">
              <a:lnSpc>
                <a:spcPct val="150000"/>
              </a:lnSpc>
            </a:pPr>
            <a:r>
              <a:rPr lang="zh-CN" altLang="en-US" dirty="0">
                <a:sym typeface="+mn-ea"/>
              </a:rPr>
              <a:t>视觉范围非常宽，但是人眼并不能同时感受这样宽的亮度范围。</a:t>
            </a:r>
            <a:endParaRPr lang="zh-CN" altLang="en-US" dirty="0"/>
          </a:p>
          <a:p>
            <a:pPr lvl="1">
              <a:lnSpc>
                <a:spcPct val="150000"/>
              </a:lnSpc>
            </a:pPr>
            <a:r>
              <a:rPr lang="zh-CN" altLang="en-US" dirty="0">
                <a:sym typeface="+mn-ea"/>
              </a:rPr>
              <a:t>当平均亮度比较适中时，能分辨的亮度的范围较大。</a:t>
            </a:r>
            <a:endParaRPr lang="en-US" altLang="zh-CN" dirty="0"/>
          </a:p>
          <a:p>
            <a:pPr lvl="1">
              <a:lnSpc>
                <a:spcPct val="150000"/>
              </a:lnSpc>
            </a:pPr>
            <a:r>
              <a:rPr lang="zh-CN" altLang="en-US" dirty="0">
                <a:sym typeface="+mn-ea"/>
              </a:rPr>
              <a:t>当平均亮度较低时，能分辨的亮度范围较小。</a:t>
            </a:r>
            <a:endParaRPr lang="zh-CN" altLang="en-US" dirty="0"/>
          </a:p>
        </p:txBody>
      </p:sp>
      <p:sp>
        <p:nvSpPr>
          <p:cNvPr id="2" name="矩形 1"/>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人类视觉特点</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7">
                                            <p:txEl>
                                              <p:pRg st="1" end="1"/>
                                            </p:txEl>
                                          </p:spTgt>
                                        </p:tgtEl>
                                        <p:attrNameLst>
                                          <p:attrName>style.visibility</p:attrName>
                                        </p:attrNameLst>
                                      </p:cBhvr>
                                      <p:to>
                                        <p:strVal val="visible"/>
                                      </p:to>
                                    </p:set>
                                    <p:anim calcmode="lin" valueType="num">
                                      <p:cBhvr additive="base">
                                        <p:cTn id="13"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387">
                                            <p:txEl>
                                              <p:pRg st="2" end="2"/>
                                            </p:txEl>
                                          </p:spTgt>
                                        </p:tgtEl>
                                        <p:attrNameLst>
                                          <p:attrName>style.visibility</p:attrName>
                                        </p:attrNameLst>
                                      </p:cBhvr>
                                      <p:to>
                                        <p:strVal val="visible"/>
                                      </p:to>
                                    </p:set>
                                    <p:anim calcmode="lin" valueType="num">
                                      <p:cBhvr additive="base">
                                        <p:cTn id="19"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387">
                                            <p:txEl>
                                              <p:pRg st="3" end="3"/>
                                            </p:txEl>
                                          </p:spTgt>
                                        </p:tgtEl>
                                        <p:attrNameLst>
                                          <p:attrName>style.visibility</p:attrName>
                                        </p:attrNameLst>
                                      </p:cBhvr>
                                      <p:to>
                                        <p:strVal val="visible"/>
                                      </p:to>
                                    </p:set>
                                    <p:anim calcmode="lin" valueType="num">
                                      <p:cBhvr additive="base">
                                        <p:cTn id="25" dur="5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3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387">
                                            <p:txEl>
                                              <p:pRg st="4" end="4"/>
                                            </p:txEl>
                                          </p:spTgt>
                                        </p:tgtEl>
                                        <p:attrNameLst>
                                          <p:attrName>style.visibility</p:attrName>
                                        </p:attrNameLst>
                                      </p:cBhvr>
                                      <p:to>
                                        <p:strVal val="visible"/>
                                      </p:to>
                                    </p:set>
                                    <p:anim calcmode="lin" valueType="num">
                                      <p:cBhvr additive="base">
                                        <p:cTn id="31"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3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387">
                                            <p:txEl>
                                              <p:pRg st="5" end="5"/>
                                            </p:txEl>
                                          </p:spTgt>
                                        </p:tgtEl>
                                        <p:attrNameLst>
                                          <p:attrName>style.visibility</p:attrName>
                                        </p:attrNameLst>
                                      </p:cBhvr>
                                      <p:to>
                                        <p:strVal val="visible"/>
                                      </p:to>
                                    </p:set>
                                    <p:anim calcmode="lin" valueType="num">
                                      <p:cBhvr additive="base">
                                        <p:cTn id="37" dur="500" fill="hold"/>
                                        <p:tgtEl>
                                          <p:spTgt spid="1638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38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bldLvl="5"/>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1127760" y="1196975"/>
            <a:ext cx="10133965" cy="4114800"/>
          </a:xfrm>
        </p:spPr>
        <p:txBody>
          <a:bodyPr/>
          <a:lstStyle/>
          <a:p>
            <a:pPr>
              <a:lnSpc>
                <a:spcPct val="150000"/>
              </a:lnSpc>
            </a:pPr>
            <a:r>
              <a:rPr lang="zh-CN" altLang="en-US" dirty="0"/>
              <a:t>分辨力</a:t>
            </a:r>
          </a:p>
          <a:p>
            <a:pPr lvl="1">
              <a:lnSpc>
                <a:spcPct val="150000"/>
              </a:lnSpc>
            </a:pPr>
            <a:r>
              <a:rPr lang="zh-CN" altLang="en-US" dirty="0"/>
              <a:t>人眼的分辨力是指人眼在一定距离上能区分开相邻两点的能力。</a:t>
            </a:r>
          </a:p>
          <a:p>
            <a:pPr lvl="1">
              <a:lnSpc>
                <a:spcPct val="150000"/>
              </a:lnSpc>
            </a:pPr>
            <a:r>
              <a:rPr lang="zh-CN" altLang="en-US" dirty="0"/>
              <a:t>人眼的分辨力与环境照度有关，照度太低和太高都会影响分辨力。</a:t>
            </a:r>
          </a:p>
          <a:p>
            <a:pPr lvl="1">
              <a:lnSpc>
                <a:spcPct val="150000"/>
              </a:lnSpc>
            </a:pPr>
            <a:r>
              <a:rPr lang="zh-CN" altLang="en-US" dirty="0"/>
              <a:t>分辨力还与物体的运动速度有关，速度大，则分辨力下降。</a:t>
            </a:r>
          </a:p>
          <a:p>
            <a:pPr lvl="1">
              <a:lnSpc>
                <a:spcPct val="150000"/>
              </a:lnSpc>
            </a:pPr>
            <a:r>
              <a:rPr lang="zh-CN" altLang="en-US" dirty="0"/>
              <a:t>人眼对彩色的分辨力要比对黑白的分辨力低</a:t>
            </a:r>
          </a:p>
        </p:txBody>
      </p:sp>
      <p:sp>
        <p:nvSpPr>
          <p:cNvPr id="2" name="矩形 1"/>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人类视觉特点</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7">
                                            <p:txEl>
                                              <p:pRg st="1" end="1"/>
                                            </p:txEl>
                                          </p:spTgt>
                                        </p:tgtEl>
                                        <p:attrNameLst>
                                          <p:attrName>style.visibility</p:attrName>
                                        </p:attrNameLst>
                                      </p:cBhvr>
                                      <p:to>
                                        <p:strVal val="visible"/>
                                      </p:to>
                                    </p:set>
                                    <p:anim calcmode="lin" valueType="num">
                                      <p:cBhvr additive="base">
                                        <p:cTn id="13"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387">
                                            <p:txEl>
                                              <p:pRg st="2" end="2"/>
                                            </p:txEl>
                                          </p:spTgt>
                                        </p:tgtEl>
                                        <p:attrNameLst>
                                          <p:attrName>style.visibility</p:attrName>
                                        </p:attrNameLst>
                                      </p:cBhvr>
                                      <p:to>
                                        <p:strVal val="visible"/>
                                      </p:to>
                                    </p:set>
                                    <p:anim calcmode="lin" valueType="num">
                                      <p:cBhvr additive="base">
                                        <p:cTn id="19"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3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387">
                                            <p:txEl>
                                              <p:pRg st="3" end="3"/>
                                            </p:txEl>
                                          </p:spTgt>
                                        </p:tgtEl>
                                        <p:attrNameLst>
                                          <p:attrName>style.visibility</p:attrName>
                                        </p:attrNameLst>
                                      </p:cBhvr>
                                      <p:to>
                                        <p:strVal val="visible"/>
                                      </p:to>
                                    </p:set>
                                    <p:anim calcmode="lin" valueType="num">
                                      <p:cBhvr additive="base">
                                        <p:cTn id="25" dur="5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3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387">
                                            <p:txEl>
                                              <p:pRg st="4" end="4"/>
                                            </p:txEl>
                                          </p:spTgt>
                                        </p:tgtEl>
                                        <p:attrNameLst>
                                          <p:attrName>style.visibility</p:attrName>
                                        </p:attrNameLst>
                                      </p:cBhvr>
                                      <p:to>
                                        <p:strVal val="visible"/>
                                      </p:to>
                                    </p:set>
                                    <p:anim calcmode="lin" valueType="num">
                                      <p:cBhvr additive="base">
                                        <p:cTn id="31"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38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bldLvl="5"/>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3"/>
          <p:cNvSpPr>
            <a:spLocks noGrp="1" noChangeArrowheads="1"/>
          </p:cNvSpPr>
          <p:nvPr>
            <p:ph idx="1"/>
          </p:nvPr>
        </p:nvSpPr>
        <p:spPr>
          <a:xfrm>
            <a:off x="1342814" y="908368"/>
            <a:ext cx="9751483" cy="4114800"/>
          </a:xfrm>
        </p:spPr>
        <p:txBody>
          <a:bodyPr/>
          <a:lstStyle/>
          <a:p>
            <a:pPr eaLnBrk="1" hangingPunct="1">
              <a:lnSpc>
                <a:spcPct val="150000"/>
              </a:lnSpc>
              <a:defRPr/>
            </a:pPr>
            <a:r>
              <a:rPr lang="zh-CN" altLang="en-US" sz="3735" dirty="0">
                <a:latin typeface="宋体" panose="02010600030101010101" pitchFamily="2" charset="-122"/>
              </a:rPr>
              <a:t>视觉适应性</a:t>
            </a:r>
          </a:p>
          <a:p>
            <a:pPr lvl="1" eaLnBrk="1" hangingPunct="1">
              <a:lnSpc>
                <a:spcPct val="150000"/>
              </a:lnSpc>
              <a:defRPr/>
            </a:pPr>
            <a:r>
              <a:rPr lang="zh-CN" altLang="en-US" sz="3200" dirty="0">
                <a:latin typeface="宋体" panose="02010600030101010101" pitchFamily="2" charset="-122"/>
              </a:rPr>
              <a:t>暗适应性</a:t>
            </a:r>
          </a:p>
          <a:p>
            <a:pPr lvl="2" eaLnBrk="1" hangingPunct="1">
              <a:lnSpc>
                <a:spcPct val="150000"/>
              </a:lnSpc>
              <a:defRPr/>
            </a:pPr>
            <a:r>
              <a:rPr lang="zh-CN" altLang="en-US" sz="2665" kern="1200" dirty="0"/>
              <a:t>人由亮处走到暗处时的视觉适应过程，称为暗适应。</a:t>
            </a:r>
            <a:endParaRPr lang="en-US" altLang="zh-CN" sz="2665" kern="1200" dirty="0"/>
          </a:p>
          <a:p>
            <a:pPr lvl="2" eaLnBrk="1" hangingPunct="1">
              <a:lnSpc>
                <a:spcPct val="150000"/>
              </a:lnSpc>
              <a:defRPr/>
            </a:pPr>
            <a:r>
              <a:rPr lang="zh-CN" altLang="en-US" sz="2665" kern="1200" dirty="0"/>
              <a:t>暗适应过程约需大约三十分钟。</a:t>
            </a:r>
            <a:endParaRPr lang="en-US" altLang="zh-CN" sz="2665" kern="1200" dirty="0"/>
          </a:p>
          <a:p>
            <a:pPr lvl="1" eaLnBrk="1" hangingPunct="1">
              <a:lnSpc>
                <a:spcPct val="150000"/>
              </a:lnSpc>
              <a:defRPr/>
            </a:pPr>
            <a:r>
              <a:rPr lang="zh-CN" altLang="en-US" sz="3200" dirty="0">
                <a:latin typeface="宋体" panose="02010600030101010101" pitchFamily="2" charset="-122"/>
              </a:rPr>
              <a:t>亮适应性</a:t>
            </a:r>
          </a:p>
          <a:p>
            <a:pPr lvl="2" eaLnBrk="1" hangingPunct="1">
              <a:lnSpc>
                <a:spcPct val="150000"/>
              </a:lnSpc>
              <a:defRPr/>
            </a:pPr>
            <a:r>
              <a:rPr lang="zh-CN" altLang="en-US" sz="2665" kern="1200" dirty="0"/>
              <a:t>人由暗处走到亮处时的视觉适应过程，称为亮适应。</a:t>
            </a:r>
            <a:endParaRPr lang="en-US" altLang="zh-CN" sz="2665" kern="1200" dirty="0"/>
          </a:p>
          <a:p>
            <a:pPr lvl="2" eaLnBrk="1" hangingPunct="1">
              <a:lnSpc>
                <a:spcPct val="150000"/>
              </a:lnSpc>
              <a:defRPr/>
            </a:pPr>
            <a:r>
              <a:rPr lang="zh-CN" altLang="en-US" sz="2665" kern="1200" dirty="0"/>
              <a:t>亮适应过程约需大约一分钟。</a:t>
            </a:r>
            <a:endParaRPr lang="zh-CN" altLang="en-US" dirty="0">
              <a:latin typeface="宋体" panose="02010600030101010101" pitchFamily="2" charset="-122"/>
            </a:endParaRPr>
          </a:p>
        </p:txBody>
      </p:sp>
      <p:sp>
        <p:nvSpPr>
          <p:cNvPr id="2" name="矩形 1"/>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人类视觉特点</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 calcmode="lin" valueType="num">
                                      <p:cBhvr additive="base">
                                        <p:cTn id="7" dur="500" fill="hold"/>
                                        <p:tgtEl>
                                          <p:spTgt spid="1075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75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7523">
                                            <p:txEl>
                                              <p:pRg st="1" end="1"/>
                                            </p:txEl>
                                          </p:spTgt>
                                        </p:tgtEl>
                                        <p:attrNameLst>
                                          <p:attrName>style.visibility</p:attrName>
                                        </p:attrNameLst>
                                      </p:cBhvr>
                                      <p:to>
                                        <p:strVal val="visible"/>
                                      </p:to>
                                    </p:set>
                                    <p:anim calcmode="lin" valueType="num">
                                      <p:cBhvr additive="base">
                                        <p:cTn id="13" dur="500" fill="hold"/>
                                        <p:tgtEl>
                                          <p:spTgt spid="1075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75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7523">
                                            <p:txEl>
                                              <p:pRg st="2" end="2"/>
                                            </p:txEl>
                                          </p:spTgt>
                                        </p:tgtEl>
                                        <p:attrNameLst>
                                          <p:attrName>style.visibility</p:attrName>
                                        </p:attrNameLst>
                                      </p:cBhvr>
                                      <p:to>
                                        <p:strVal val="visible"/>
                                      </p:to>
                                    </p:set>
                                    <p:anim calcmode="lin" valueType="num">
                                      <p:cBhvr additive="base">
                                        <p:cTn id="19" dur="500" fill="hold"/>
                                        <p:tgtEl>
                                          <p:spTgt spid="1075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75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7523">
                                            <p:txEl>
                                              <p:pRg st="3" end="3"/>
                                            </p:txEl>
                                          </p:spTgt>
                                        </p:tgtEl>
                                        <p:attrNameLst>
                                          <p:attrName>style.visibility</p:attrName>
                                        </p:attrNameLst>
                                      </p:cBhvr>
                                      <p:to>
                                        <p:strVal val="visible"/>
                                      </p:to>
                                    </p:set>
                                    <p:anim calcmode="lin" valueType="num">
                                      <p:cBhvr additive="base">
                                        <p:cTn id="25" dur="500" fill="hold"/>
                                        <p:tgtEl>
                                          <p:spTgt spid="1075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75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7523">
                                            <p:txEl>
                                              <p:pRg st="4" end="4"/>
                                            </p:txEl>
                                          </p:spTgt>
                                        </p:tgtEl>
                                        <p:attrNameLst>
                                          <p:attrName>style.visibility</p:attrName>
                                        </p:attrNameLst>
                                      </p:cBhvr>
                                      <p:to>
                                        <p:strVal val="visible"/>
                                      </p:to>
                                    </p:set>
                                    <p:anim calcmode="lin" valueType="num">
                                      <p:cBhvr additive="base">
                                        <p:cTn id="31" dur="500" fill="hold"/>
                                        <p:tgtEl>
                                          <p:spTgt spid="10752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752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7523">
                                            <p:txEl>
                                              <p:pRg st="5" end="5"/>
                                            </p:txEl>
                                          </p:spTgt>
                                        </p:tgtEl>
                                        <p:attrNameLst>
                                          <p:attrName>style.visibility</p:attrName>
                                        </p:attrNameLst>
                                      </p:cBhvr>
                                      <p:to>
                                        <p:strVal val="visible"/>
                                      </p:to>
                                    </p:set>
                                    <p:anim calcmode="lin" valueType="num">
                                      <p:cBhvr additive="base">
                                        <p:cTn id="37" dur="500" fill="hold"/>
                                        <p:tgtEl>
                                          <p:spTgt spid="10752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752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7523">
                                            <p:txEl>
                                              <p:pRg st="6" end="6"/>
                                            </p:txEl>
                                          </p:spTgt>
                                        </p:tgtEl>
                                        <p:attrNameLst>
                                          <p:attrName>style.visibility</p:attrName>
                                        </p:attrNameLst>
                                      </p:cBhvr>
                                      <p:to>
                                        <p:strVal val="visible"/>
                                      </p:to>
                                    </p:set>
                                    <p:anim calcmode="lin" valueType="num">
                                      <p:cBhvr additive="base">
                                        <p:cTn id="43" dur="500" fill="hold"/>
                                        <p:tgtEl>
                                          <p:spTgt spid="10752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752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1415204" y="1052513"/>
            <a:ext cx="9751483" cy="4114800"/>
          </a:xfrm>
        </p:spPr>
        <p:txBody>
          <a:bodyPr/>
          <a:lstStyle/>
          <a:p>
            <a:pPr eaLnBrk="1" hangingPunct="1">
              <a:lnSpc>
                <a:spcPct val="150000"/>
              </a:lnSpc>
            </a:pPr>
            <a:r>
              <a:rPr lang="zh-CN" altLang="en-US" dirty="0"/>
              <a:t>视觉惰性（视觉暂留）</a:t>
            </a:r>
          </a:p>
          <a:p>
            <a:pPr lvl="1" eaLnBrk="1" hangingPunct="1">
              <a:lnSpc>
                <a:spcPct val="150000"/>
              </a:lnSpc>
            </a:pPr>
            <a:r>
              <a:rPr lang="zh-CN" altLang="en-US" dirty="0">
                <a:latin typeface="宋体" panose="02010600030101010101" pitchFamily="2" charset="-122"/>
              </a:rPr>
              <a:t>人眼对亮度改变进行跟踪的滞后性质称为视觉惰性</a:t>
            </a:r>
            <a:r>
              <a:rPr lang="zh-CN" altLang="en-US" dirty="0"/>
              <a:t> 。</a:t>
            </a:r>
            <a:endParaRPr lang="en-US" altLang="zh-CN" dirty="0"/>
          </a:p>
          <a:p>
            <a:pPr lvl="1" eaLnBrk="1" hangingPunct="1">
              <a:lnSpc>
                <a:spcPct val="150000"/>
              </a:lnSpc>
            </a:pPr>
            <a:r>
              <a:rPr lang="zh-CN" altLang="en-US" dirty="0"/>
              <a:t>人眼所看到的影像消失后，人眼仍能继续保留其影像约</a:t>
            </a:r>
            <a:r>
              <a:rPr lang="en-US" altLang="zh-CN" dirty="0"/>
              <a:t>0.1-0.5</a:t>
            </a:r>
            <a:r>
              <a:rPr lang="zh-CN" altLang="en-US" dirty="0"/>
              <a:t>秒左右。</a:t>
            </a:r>
          </a:p>
          <a:p>
            <a:pPr lvl="1" eaLnBrk="1" hangingPunct="1">
              <a:lnSpc>
                <a:spcPct val="150000"/>
              </a:lnSpc>
            </a:pPr>
            <a:r>
              <a:rPr lang="zh-CN" altLang="en-US" dirty="0">
                <a:sym typeface="+mn-ea"/>
              </a:rPr>
              <a:t>看纹理丰富的窗帘，然后再看墙壁，看墙时会发现窗帘的花纹重叠在墙上了。</a:t>
            </a:r>
            <a:endParaRPr lang="en-US" altLang="zh-CN" dirty="0"/>
          </a:p>
          <a:p>
            <a:pPr lvl="1" eaLnBrk="1" hangingPunct="1">
              <a:lnSpc>
                <a:spcPct val="150000"/>
              </a:lnSpc>
            </a:pPr>
            <a:r>
              <a:rPr lang="zh-CN" altLang="en-US" dirty="0">
                <a:sym typeface="+mn-ea"/>
              </a:rPr>
              <a:t>看电视，电影是每分钟</a:t>
            </a:r>
            <a:r>
              <a:rPr lang="en-US" altLang="zh-CN" dirty="0">
                <a:sym typeface="+mn-ea"/>
              </a:rPr>
              <a:t>20</a:t>
            </a:r>
            <a:r>
              <a:rPr lang="zh-CN" altLang="en-US" dirty="0">
                <a:sym typeface="+mn-ea"/>
              </a:rPr>
              <a:t>几帧图片，通过暂留形成了流畅的动作。</a:t>
            </a:r>
            <a:endParaRPr lang="en-US" altLang="zh-CN" dirty="0"/>
          </a:p>
        </p:txBody>
      </p:sp>
      <p:sp>
        <p:nvSpPr>
          <p:cNvPr id="2" name="矩形 1"/>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人类视觉特点</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483">
                                            <p:txEl>
                                              <p:pRg st="2" end="2"/>
                                            </p:txEl>
                                          </p:spTgt>
                                        </p:tgtEl>
                                        <p:attrNameLst>
                                          <p:attrName>style.visibility</p:attrName>
                                        </p:attrNameLst>
                                      </p:cBhvr>
                                      <p:to>
                                        <p:strVal val="visible"/>
                                      </p:to>
                                    </p:set>
                                    <p:anim calcmode="lin" valueType="num">
                                      <p:cBhvr additive="base">
                                        <p:cTn id="19"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483">
                                            <p:txEl>
                                              <p:pRg st="3" end="3"/>
                                            </p:txEl>
                                          </p:spTgt>
                                        </p:tgtEl>
                                        <p:attrNameLst>
                                          <p:attrName>style.visibility</p:attrName>
                                        </p:attrNameLst>
                                      </p:cBhvr>
                                      <p:to>
                                        <p:strVal val="visible"/>
                                      </p:to>
                                    </p:set>
                                    <p:anim calcmode="lin" valueType="num">
                                      <p:cBhvr additive="base">
                                        <p:cTn id="25"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4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483">
                                            <p:txEl>
                                              <p:pRg st="4" end="4"/>
                                            </p:txEl>
                                          </p:spTgt>
                                        </p:tgtEl>
                                        <p:attrNameLst>
                                          <p:attrName>style.visibility</p:attrName>
                                        </p:attrNameLst>
                                      </p:cBhvr>
                                      <p:to>
                                        <p:strVal val="visible"/>
                                      </p:to>
                                    </p:set>
                                    <p:anim calcmode="lin" valueType="num">
                                      <p:cBhvr additive="base">
                                        <p:cTn id="31"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bldLvl="5"/>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AutoShape 4">
            <a:extLst>
              <a:ext uri="{FF2B5EF4-FFF2-40B4-BE49-F238E27FC236}">
                <a16:creationId xmlns:a16="http://schemas.microsoft.com/office/drawing/2014/main" id="{4842E78E-4CF8-7D17-6C31-E620BA120546}"/>
              </a:ext>
            </a:extLst>
          </p:cNvPr>
          <p:cNvSpPr>
            <a:spLocks noChangeArrowheads="1"/>
          </p:cNvSpPr>
          <p:nvPr/>
        </p:nvSpPr>
        <p:spPr bwMode="auto">
          <a:xfrm>
            <a:off x="5419725" y="4043363"/>
            <a:ext cx="2362200" cy="609600"/>
          </a:xfrm>
          <a:prstGeom prst="horizontalScroll">
            <a:avLst>
              <a:gd name="adj" fmla="val 12500"/>
            </a:avLst>
          </a:prstGeom>
          <a:solidFill>
            <a:srgbClr val="93FFE3"/>
          </a:solidFill>
          <a:ln w="9525">
            <a:solidFill>
              <a:schemeClr val="tx1"/>
            </a:solidFill>
            <a:miter lim="800000"/>
            <a:headEnd/>
            <a:tailEnd/>
          </a:ln>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800" dirty="0"/>
              <a:t>什么是图像？</a:t>
            </a:r>
          </a:p>
        </p:txBody>
      </p:sp>
      <p:sp>
        <p:nvSpPr>
          <p:cNvPr id="201733" name="AutoShape 5">
            <a:extLst>
              <a:ext uri="{FF2B5EF4-FFF2-40B4-BE49-F238E27FC236}">
                <a16:creationId xmlns:a16="http://schemas.microsoft.com/office/drawing/2014/main" id="{04613E44-A589-8544-0AD0-13CB7C7111E5}"/>
              </a:ext>
            </a:extLst>
          </p:cNvPr>
          <p:cNvSpPr>
            <a:spLocks noChangeArrowheads="1"/>
          </p:cNvSpPr>
          <p:nvPr/>
        </p:nvSpPr>
        <p:spPr bwMode="auto">
          <a:xfrm>
            <a:off x="7024688" y="1643063"/>
            <a:ext cx="3033712" cy="1447800"/>
          </a:xfrm>
          <a:prstGeom prst="cloudCallout">
            <a:avLst>
              <a:gd name="adj1" fmla="val -52468"/>
              <a:gd name="adj2" fmla="val 105694"/>
            </a:avLst>
          </a:prstGeom>
          <a:solidFill>
            <a:srgbClr val="93FFE3"/>
          </a:solidFill>
          <a:ln w="9525">
            <a:solidFill>
              <a:schemeClr val="tx1"/>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000" dirty="0">
                <a:latin typeface="Times New Roman" panose="02020603050405020304" pitchFamily="18" charset="0"/>
              </a:rPr>
              <a:t>“</a:t>
            </a:r>
            <a:r>
              <a:rPr lang="zh-CN" altLang="en-US" sz="2000" dirty="0"/>
              <a:t>图</a:t>
            </a:r>
            <a:r>
              <a:rPr lang="zh-CN" altLang="en-US" sz="2000" dirty="0">
                <a:latin typeface="Times New Roman" panose="02020603050405020304" pitchFamily="18" charset="0"/>
              </a:rPr>
              <a:t>”</a:t>
            </a:r>
            <a:r>
              <a:rPr lang="zh-CN" altLang="en-US" sz="2000" dirty="0"/>
              <a:t>是物体投射光或反射光的分布</a:t>
            </a:r>
            <a:endParaRPr lang="en-US" altLang="zh-CN" sz="2000" dirty="0"/>
          </a:p>
        </p:txBody>
      </p:sp>
      <p:sp>
        <p:nvSpPr>
          <p:cNvPr id="201734" name="AutoShape 6">
            <a:extLst>
              <a:ext uri="{FF2B5EF4-FFF2-40B4-BE49-F238E27FC236}">
                <a16:creationId xmlns:a16="http://schemas.microsoft.com/office/drawing/2014/main" id="{146D3AC1-508D-9D9E-0099-DEC7A00CC1ED}"/>
              </a:ext>
            </a:extLst>
          </p:cNvPr>
          <p:cNvSpPr>
            <a:spLocks noChangeArrowheads="1"/>
          </p:cNvSpPr>
          <p:nvPr/>
        </p:nvSpPr>
        <p:spPr bwMode="auto">
          <a:xfrm>
            <a:off x="190500" y="1689781"/>
            <a:ext cx="4191000" cy="1752600"/>
          </a:xfrm>
          <a:prstGeom prst="cloudCallout">
            <a:avLst>
              <a:gd name="adj1" fmla="val 95153"/>
              <a:gd name="adj2" fmla="val 69097"/>
            </a:avLst>
          </a:prstGeom>
          <a:solidFill>
            <a:srgbClr val="93FFE3"/>
          </a:solidFill>
          <a:ln w="9525">
            <a:solidFill>
              <a:schemeClr val="tx1"/>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000" dirty="0">
                <a:latin typeface="Times New Roman" panose="02020603050405020304" pitchFamily="18" charset="0"/>
              </a:rPr>
              <a:t>“</a:t>
            </a:r>
            <a:r>
              <a:rPr lang="zh-CN" altLang="en-US" sz="2000" dirty="0"/>
              <a:t>像</a:t>
            </a:r>
            <a:r>
              <a:rPr lang="zh-CN" altLang="en-US" sz="2000" dirty="0">
                <a:latin typeface="Times New Roman" panose="02020603050405020304" pitchFamily="18" charset="0"/>
              </a:rPr>
              <a:t>”</a:t>
            </a:r>
            <a:r>
              <a:rPr lang="zh-CN" altLang="en-US" sz="2000" dirty="0"/>
              <a:t>是人的视觉系统对图的接收在大脑中形成的印象或认识</a:t>
            </a:r>
            <a:endParaRPr lang="zh-CN" altLang="en-US" sz="6000" dirty="0"/>
          </a:p>
        </p:txBody>
      </p:sp>
      <p:sp>
        <p:nvSpPr>
          <p:cNvPr id="201735" name="Rectangle 7">
            <a:extLst>
              <a:ext uri="{FF2B5EF4-FFF2-40B4-BE49-F238E27FC236}">
                <a16:creationId xmlns:a16="http://schemas.microsoft.com/office/drawing/2014/main" id="{63601BA9-2296-FA88-FD66-26121C33BF1E}"/>
              </a:ext>
            </a:extLst>
          </p:cNvPr>
          <p:cNvSpPr>
            <a:spLocks noChangeArrowheads="1"/>
          </p:cNvSpPr>
          <p:nvPr/>
        </p:nvSpPr>
        <p:spPr bwMode="auto">
          <a:xfrm>
            <a:off x="8077200" y="3090864"/>
            <a:ext cx="270619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6000"/>
              <a:t> </a:t>
            </a:r>
            <a:r>
              <a:rPr lang="zh-CN" altLang="en-US" sz="2000">
                <a:latin typeface="Times New Roman" panose="02020603050405020304" pitchFamily="18" charset="0"/>
              </a:rPr>
              <a:t>“</a:t>
            </a:r>
            <a:r>
              <a:rPr lang="zh-CN" altLang="en-US" sz="2000"/>
              <a:t>图</a:t>
            </a:r>
            <a:r>
              <a:rPr lang="zh-CN" altLang="en-US" sz="2000">
                <a:latin typeface="Times New Roman" panose="02020603050405020304" pitchFamily="18" charset="0"/>
              </a:rPr>
              <a:t>”</a:t>
            </a:r>
            <a:r>
              <a:rPr lang="zh-CN" altLang="en-US" sz="2000"/>
              <a:t>是客观存在的</a:t>
            </a:r>
          </a:p>
        </p:txBody>
      </p:sp>
      <p:sp>
        <p:nvSpPr>
          <p:cNvPr id="201736" name="Rectangle 8">
            <a:extLst>
              <a:ext uri="{FF2B5EF4-FFF2-40B4-BE49-F238E27FC236}">
                <a16:creationId xmlns:a16="http://schemas.microsoft.com/office/drawing/2014/main" id="{5C819DCE-BFFA-43C8-423A-C91F8D78F20E}"/>
              </a:ext>
            </a:extLst>
          </p:cNvPr>
          <p:cNvSpPr>
            <a:spLocks noChangeArrowheads="1"/>
          </p:cNvSpPr>
          <p:nvPr/>
        </p:nvSpPr>
        <p:spPr bwMode="auto">
          <a:xfrm>
            <a:off x="1392393" y="3593315"/>
            <a:ext cx="236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dirty="0">
                <a:latin typeface="Times New Roman" panose="02020603050405020304" pitchFamily="18" charset="0"/>
              </a:rPr>
              <a:t>“</a:t>
            </a:r>
            <a:r>
              <a:rPr lang="zh-CN" altLang="en-US" sz="2000" dirty="0"/>
              <a:t>像</a:t>
            </a:r>
            <a:r>
              <a:rPr lang="zh-CN" altLang="en-US" sz="2000" dirty="0">
                <a:latin typeface="Times New Roman" panose="02020603050405020304" pitchFamily="18" charset="0"/>
              </a:rPr>
              <a:t>”</a:t>
            </a:r>
            <a:r>
              <a:rPr lang="zh-CN" altLang="en-US" sz="2000" dirty="0"/>
              <a:t>是人的感觉</a:t>
            </a:r>
          </a:p>
        </p:txBody>
      </p:sp>
      <p:sp>
        <p:nvSpPr>
          <p:cNvPr id="201737" name="Rectangle 9">
            <a:extLst>
              <a:ext uri="{FF2B5EF4-FFF2-40B4-BE49-F238E27FC236}">
                <a16:creationId xmlns:a16="http://schemas.microsoft.com/office/drawing/2014/main" id="{CBA618E9-4BF6-83F7-34CD-58AF74778594}"/>
              </a:ext>
            </a:extLst>
          </p:cNvPr>
          <p:cNvSpPr>
            <a:spLocks noChangeArrowheads="1"/>
          </p:cNvSpPr>
          <p:nvPr/>
        </p:nvSpPr>
        <p:spPr bwMode="auto">
          <a:xfrm>
            <a:off x="4930815" y="2667001"/>
            <a:ext cx="2228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000" dirty="0"/>
              <a:t>图像是两者的结合</a:t>
            </a:r>
          </a:p>
        </p:txBody>
      </p:sp>
      <p:pic>
        <p:nvPicPr>
          <p:cNvPr id="201738" name="Picture 10">
            <a:extLst>
              <a:ext uri="{FF2B5EF4-FFF2-40B4-BE49-F238E27FC236}">
                <a16:creationId xmlns:a16="http://schemas.microsoft.com/office/drawing/2014/main" id="{6619D253-8EC4-1CB1-C723-8BB13EAB81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7575" y="4652963"/>
            <a:ext cx="3683000" cy="137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0197990-8544-AA74-7821-EA82C350398A}"/>
              </a:ext>
            </a:extLst>
          </p:cNvPr>
          <p:cNvSpPr/>
          <p:nvPr/>
        </p:nvSpPr>
        <p:spPr>
          <a:xfrm>
            <a:off x="893379" y="249350"/>
            <a:ext cx="9470058" cy="521970"/>
          </a:xfrm>
          <a:prstGeom prst="rect">
            <a:avLst/>
          </a:prstGeom>
        </p:spPr>
        <p:txBody>
          <a:bodyPr wrap="square">
            <a:spAutoFit/>
          </a:bodyPr>
          <a:lstStyle/>
          <a:p>
            <a:pPr algn="l">
              <a:buClrTx/>
              <a:buSzTx/>
              <a:buFontTx/>
            </a:pP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图像</a:t>
            </a:r>
            <a:r>
              <a:rPr lang="en-US" altLang="zh-CN" sz="2800" b="1" dirty="0">
                <a:solidFill>
                  <a:srgbClr val="023B8C"/>
                </a:solidFill>
                <a:latin typeface="微软雅黑" panose="020B0503020204020204" charset="-122"/>
                <a:ea typeface="微软雅黑" panose="020B0503020204020204" charset="-122"/>
                <a:sym typeface="+mn-ea"/>
              </a:rPr>
              <a:t>”</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3" name="组合 2">
            <a:extLst>
              <a:ext uri="{FF2B5EF4-FFF2-40B4-BE49-F238E27FC236}">
                <a16:creationId xmlns:a16="http://schemas.microsoft.com/office/drawing/2014/main" id="{6D01D2AA-CBB4-F376-A9DF-CD71FF031A33}"/>
              </a:ext>
            </a:extLst>
          </p:cNvPr>
          <p:cNvGrpSpPr/>
          <p:nvPr/>
        </p:nvGrpSpPr>
        <p:grpSpPr>
          <a:xfrm>
            <a:off x="123658" y="249350"/>
            <a:ext cx="979109" cy="533291"/>
            <a:chOff x="2215144" y="982844"/>
            <a:chExt cx="1258238" cy="912607"/>
          </a:xfrm>
        </p:grpSpPr>
        <p:sp>
          <p:nvSpPr>
            <p:cNvPr id="4" name="平行四边形 3">
              <a:extLst>
                <a:ext uri="{FF2B5EF4-FFF2-40B4-BE49-F238E27FC236}">
                  <a16:creationId xmlns:a16="http://schemas.microsoft.com/office/drawing/2014/main" id="{77B0A6CB-56EC-58F0-BB9D-B2CCF2E9F6DC}"/>
                </a:ext>
              </a:extLst>
            </p:cNvPr>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a:extLst>
                <a:ext uri="{FF2B5EF4-FFF2-40B4-BE49-F238E27FC236}">
                  <a16:creationId xmlns:a16="http://schemas.microsoft.com/office/drawing/2014/main" id="{D1ED6541-918F-7951-2A89-A335E18B474E}"/>
                </a:ext>
              </a:extLst>
            </p:cNvPr>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3" fill="hold" nodeType="clickEffect">
                                  <p:stCondLst>
                                    <p:cond delay="0"/>
                                  </p:stCondLst>
                                  <p:childTnLst>
                                    <p:set>
                                      <p:cBhvr>
                                        <p:cTn id="6" dur="1" fill="hold">
                                          <p:stCondLst>
                                            <p:cond delay="0"/>
                                          </p:stCondLst>
                                        </p:cTn>
                                        <p:tgtEl>
                                          <p:spTgt spid="201733"/>
                                        </p:tgtEl>
                                        <p:attrNameLst>
                                          <p:attrName>style.visibility</p:attrName>
                                        </p:attrNameLst>
                                      </p:cBhvr>
                                      <p:to>
                                        <p:strVal val="visible"/>
                                      </p:to>
                                    </p:set>
                                    <p:anim calcmode="lin" valueType="num">
                                      <p:cBhvr additive="base">
                                        <p:cTn id="7" dur="500" fill="hold"/>
                                        <p:tgtEl>
                                          <p:spTgt spid="201733"/>
                                        </p:tgtEl>
                                        <p:attrNameLst>
                                          <p:attrName>ppt_x</p:attrName>
                                        </p:attrNameLst>
                                      </p:cBhvr>
                                      <p:tavLst>
                                        <p:tav tm="0">
                                          <p:val>
                                            <p:strVal val="1+#ppt_w/2"/>
                                          </p:val>
                                        </p:tav>
                                        <p:tav tm="100000">
                                          <p:val>
                                            <p:strVal val="#ppt_x"/>
                                          </p:val>
                                        </p:tav>
                                      </p:tavLst>
                                    </p:anim>
                                    <p:anim calcmode="lin" valueType="num">
                                      <p:cBhvr additive="base">
                                        <p:cTn id="8" dur="500" fill="hold"/>
                                        <p:tgtEl>
                                          <p:spTgt spid="201733"/>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201735"/>
                                        </p:tgtEl>
                                        <p:attrNameLst>
                                          <p:attrName>style.visibility</p:attrName>
                                        </p:attrNameLst>
                                      </p:cBhvr>
                                      <p:to>
                                        <p:strVal val="visible"/>
                                      </p:to>
                                    </p:set>
                                    <p:anim calcmode="lin" valueType="num">
                                      <p:cBhvr additive="base">
                                        <p:cTn id="13" dur="500" fill="hold"/>
                                        <p:tgtEl>
                                          <p:spTgt spid="201735"/>
                                        </p:tgtEl>
                                        <p:attrNameLst>
                                          <p:attrName>ppt_x</p:attrName>
                                        </p:attrNameLst>
                                      </p:cBhvr>
                                      <p:tavLst>
                                        <p:tav tm="0">
                                          <p:val>
                                            <p:strVal val="1+#ppt_w/2"/>
                                          </p:val>
                                        </p:tav>
                                        <p:tav tm="100000">
                                          <p:val>
                                            <p:strVal val="#ppt_x"/>
                                          </p:val>
                                        </p:tav>
                                      </p:tavLst>
                                    </p:anim>
                                    <p:anim calcmode="lin" valueType="num">
                                      <p:cBhvr additive="base">
                                        <p:cTn id="14" dur="500" fill="hold"/>
                                        <p:tgtEl>
                                          <p:spTgt spid="20173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9" fill="hold" nodeType="clickEffect">
                                  <p:stCondLst>
                                    <p:cond delay="0"/>
                                  </p:stCondLst>
                                  <p:childTnLst>
                                    <p:set>
                                      <p:cBhvr>
                                        <p:cTn id="18" dur="1" fill="hold">
                                          <p:stCondLst>
                                            <p:cond delay="0"/>
                                          </p:stCondLst>
                                        </p:cTn>
                                        <p:tgtEl>
                                          <p:spTgt spid="201734"/>
                                        </p:tgtEl>
                                        <p:attrNameLst>
                                          <p:attrName>style.visibility</p:attrName>
                                        </p:attrNameLst>
                                      </p:cBhvr>
                                      <p:to>
                                        <p:strVal val="visible"/>
                                      </p:to>
                                    </p:set>
                                    <p:anim calcmode="lin" valueType="num">
                                      <p:cBhvr additive="base">
                                        <p:cTn id="19" dur="500" fill="hold"/>
                                        <p:tgtEl>
                                          <p:spTgt spid="201734"/>
                                        </p:tgtEl>
                                        <p:attrNameLst>
                                          <p:attrName>ppt_x</p:attrName>
                                        </p:attrNameLst>
                                      </p:cBhvr>
                                      <p:tavLst>
                                        <p:tav tm="0">
                                          <p:val>
                                            <p:strVal val="0-#ppt_w/2"/>
                                          </p:val>
                                        </p:tav>
                                        <p:tav tm="100000">
                                          <p:val>
                                            <p:strVal val="#ppt_x"/>
                                          </p:val>
                                        </p:tav>
                                      </p:tavLst>
                                    </p:anim>
                                    <p:anim calcmode="lin" valueType="num">
                                      <p:cBhvr additive="base">
                                        <p:cTn id="20" dur="500" fill="hold"/>
                                        <p:tgtEl>
                                          <p:spTgt spid="201734"/>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01736"/>
                                        </p:tgtEl>
                                        <p:attrNameLst>
                                          <p:attrName>style.visibility</p:attrName>
                                        </p:attrNameLst>
                                      </p:cBhvr>
                                      <p:to>
                                        <p:strVal val="visible"/>
                                      </p:to>
                                    </p:set>
                                    <p:anim calcmode="lin" valueType="num">
                                      <p:cBhvr additive="base">
                                        <p:cTn id="25" dur="500" fill="hold"/>
                                        <p:tgtEl>
                                          <p:spTgt spid="201736"/>
                                        </p:tgtEl>
                                        <p:attrNameLst>
                                          <p:attrName>ppt_x</p:attrName>
                                        </p:attrNameLst>
                                      </p:cBhvr>
                                      <p:tavLst>
                                        <p:tav tm="0">
                                          <p:val>
                                            <p:strVal val="0-#ppt_w/2"/>
                                          </p:val>
                                        </p:tav>
                                        <p:tav tm="100000">
                                          <p:val>
                                            <p:strVal val="#ppt_x"/>
                                          </p:val>
                                        </p:tav>
                                      </p:tavLst>
                                    </p:anim>
                                    <p:anim calcmode="lin" valueType="num">
                                      <p:cBhvr additive="base">
                                        <p:cTn id="26" dur="500" fill="hold"/>
                                        <p:tgtEl>
                                          <p:spTgt spid="20173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nodeType="clickEffect">
                                  <p:stCondLst>
                                    <p:cond delay="0"/>
                                  </p:stCondLst>
                                  <p:childTnLst>
                                    <p:set>
                                      <p:cBhvr>
                                        <p:cTn id="30" dur="1" fill="hold">
                                          <p:stCondLst>
                                            <p:cond delay="0"/>
                                          </p:stCondLst>
                                        </p:cTn>
                                        <p:tgtEl>
                                          <p:spTgt spid="201737"/>
                                        </p:tgtEl>
                                        <p:attrNameLst>
                                          <p:attrName>style.visibility</p:attrName>
                                        </p:attrNameLst>
                                      </p:cBhvr>
                                      <p:to>
                                        <p:strVal val="visible"/>
                                      </p:to>
                                    </p:set>
                                    <p:anim calcmode="lin" valueType="num">
                                      <p:cBhvr additive="base">
                                        <p:cTn id="31" dur="500" fill="hold"/>
                                        <p:tgtEl>
                                          <p:spTgt spid="201737"/>
                                        </p:tgtEl>
                                        <p:attrNameLst>
                                          <p:attrName>ppt_x</p:attrName>
                                        </p:attrNameLst>
                                      </p:cBhvr>
                                      <p:tavLst>
                                        <p:tav tm="0">
                                          <p:val>
                                            <p:strVal val="1+#ppt_w/2"/>
                                          </p:val>
                                        </p:tav>
                                        <p:tav tm="100000">
                                          <p:val>
                                            <p:strVal val="#ppt_x"/>
                                          </p:val>
                                        </p:tav>
                                      </p:tavLst>
                                    </p:anim>
                                    <p:anim calcmode="lin" valueType="num">
                                      <p:cBhvr additive="base">
                                        <p:cTn id="32" dur="500" fill="hold"/>
                                        <p:tgtEl>
                                          <p:spTgt spid="201737"/>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01738"/>
                                        </p:tgtEl>
                                        <p:attrNameLst>
                                          <p:attrName>style.visibility</p:attrName>
                                        </p:attrNameLst>
                                      </p:cBhvr>
                                      <p:to>
                                        <p:strVal val="visible"/>
                                      </p:to>
                                    </p:set>
                                    <p:anim calcmode="lin" valueType="num">
                                      <p:cBhvr additive="base">
                                        <p:cTn id="37" dur="500" fill="hold"/>
                                        <p:tgtEl>
                                          <p:spTgt spid="201738"/>
                                        </p:tgtEl>
                                        <p:attrNameLst>
                                          <p:attrName>ppt_x</p:attrName>
                                        </p:attrNameLst>
                                      </p:cBhvr>
                                      <p:tavLst>
                                        <p:tav tm="0">
                                          <p:val>
                                            <p:strVal val="#ppt_x"/>
                                          </p:val>
                                        </p:tav>
                                        <p:tav tm="100000">
                                          <p:val>
                                            <p:strVal val="#ppt_x"/>
                                          </p:val>
                                        </p:tav>
                                      </p:tavLst>
                                    </p:anim>
                                    <p:anim calcmode="lin" valueType="num">
                                      <p:cBhvr additive="base">
                                        <p:cTn id="38" dur="500" fill="hold"/>
                                        <p:tgtEl>
                                          <p:spTgt spid="2017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3" grpId="0" animBg="1" autoUpdateAnimBg="0"/>
      <p:bldP spid="201734" grpId="0" animBg="1" autoUpdateAnimBg="0"/>
      <p:bldP spid="201735" grpId="0" autoUpdateAnimBg="0"/>
      <p:bldP spid="201736" grpId="0" autoUpdateAnimBg="0"/>
      <p:bldP spid="201737"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7" name="Rectangle 3">
            <a:extLst>
              <a:ext uri="{FF2B5EF4-FFF2-40B4-BE49-F238E27FC236}">
                <a16:creationId xmlns:a16="http://schemas.microsoft.com/office/drawing/2014/main" id="{0852A6B1-5C99-1069-6E1C-C17BB04279A2}"/>
              </a:ext>
            </a:extLst>
          </p:cNvPr>
          <p:cNvSpPr>
            <a:spLocks noGrp="1" noChangeArrowheads="1"/>
          </p:cNvSpPr>
          <p:nvPr>
            <p:ph type="body" idx="1"/>
          </p:nvPr>
        </p:nvSpPr>
        <p:spPr>
          <a:xfrm>
            <a:off x="1378833" y="1420814"/>
            <a:ext cx="9288263" cy="381635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a:lnSpc>
                <a:spcPct val="150000"/>
              </a:lnSpc>
            </a:pPr>
            <a:r>
              <a:rPr lang="zh-CN" altLang="en-US" sz="2400" dirty="0"/>
              <a:t>可视图像：由可见光形成，能为人的视觉系统所感受。如人们通常见到的自然景物等。</a:t>
            </a:r>
          </a:p>
          <a:p>
            <a:pPr>
              <a:lnSpc>
                <a:spcPct val="150000"/>
              </a:lnSpc>
            </a:pPr>
            <a:r>
              <a:rPr lang="zh-CN" altLang="en-US" sz="2400" dirty="0"/>
              <a:t>非可视图像：不能为人眼直接感受，是某种物理量的平面或空间分布。如</a:t>
            </a:r>
            <a:r>
              <a:rPr lang="en-US" altLang="zh-CN" sz="2400" dirty="0"/>
              <a:t>X</a:t>
            </a:r>
            <a:r>
              <a:rPr lang="zh-CN" altLang="en-US" sz="2400" dirty="0"/>
              <a:t>射线、红外线、微波、超声等形成的，但这类图像通过换能与显示装置变换后，仍能为视觉所感受。</a:t>
            </a:r>
          </a:p>
          <a:p>
            <a:pPr>
              <a:lnSpc>
                <a:spcPct val="150000"/>
              </a:lnSpc>
            </a:pPr>
            <a:r>
              <a:rPr lang="zh-CN" altLang="en-US" sz="2400" dirty="0"/>
              <a:t>可视图像是一个平面能量分布图，这种分布图可用多变量函数表示：</a:t>
            </a:r>
          </a:p>
        </p:txBody>
      </p:sp>
      <p:sp>
        <p:nvSpPr>
          <p:cNvPr id="14339" name="Rectangle 5">
            <a:extLst>
              <a:ext uri="{FF2B5EF4-FFF2-40B4-BE49-F238E27FC236}">
                <a16:creationId xmlns:a16="http://schemas.microsoft.com/office/drawing/2014/main" id="{9A5C4F51-EB0D-4297-340B-8E6E9CE1B2E1}"/>
              </a:ext>
            </a:extLst>
          </p:cNvPr>
          <p:cNvSpPr>
            <a:spLocks noChangeArrowheads="1"/>
          </p:cNvSpPr>
          <p:nvPr/>
        </p:nvSpPr>
        <p:spPr bwMode="auto">
          <a:xfrm>
            <a:off x="1524001" y="2821158"/>
            <a:ext cx="18473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6000"/>
          </a:p>
        </p:txBody>
      </p:sp>
      <mc:AlternateContent xmlns:mc="http://schemas.openxmlformats.org/markup-compatibility/2006" xmlns:a14="http://schemas.microsoft.com/office/drawing/2010/main">
        <mc:Choice Requires="a14">
          <p:sp>
            <p:nvSpPr>
              <p:cNvPr id="451590" name="Object 6">
                <a:extLst>
                  <a:ext uri="{FF2B5EF4-FFF2-40B4-BE49-F238E27FC236}">
                    <a16:creationId xmlns:a16="http://schemas.microsoft.com/office/drawing/2014/main" id="{DA3F850A-09A5-07FF-F9C2-326EC75C55BC}"/>
                  </a:ext>
                </a:extLst>
              </p:cNvPr>
              <p:cNvSpPr txBox="1"/>
              <p:nvPr/>
            </p:nvSpPr>
            <p:spPr bwMode="auto">
              <a:xfrm>
                <a:off x="4872038" y="5033963"/>
                <a:ext cx="1944687" cy="555625"/>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𝑄</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𝑥</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𝑦</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𝜆</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e>
                      </m:d>
                    </m:oMath>
                  </m:oMathPara>
                </a14:m>
                <a:endParaRPr lang="zh-CN" altLang="en-US" dirty="0"/>
              </a:p>
            </p:txBody>
          </p:sp>
        </mc:Choice>
        <mc:Fallback xmlns="">
          <p:sp>
            <p:nvSpPr>
              <p:cNvPr id="451590" name="Object 6">
                <a:extLst>
                  <a:ext uri="{FF2B5EF4-FFF2-40B4-BE49-F238E27FC236}">
                    <a16:creationId xmlns:a16="http://schemas.microsoft.com/office/drawing/2014/main" id="{DA3F850A-09A5-07FF-F9C2-326EC75C55BC}"/>
                  </a:ext>
                </a:extLst>
              </p:cNvPr>
              <p:cNvSpPr txBox="1">
                <a:spLocks noRot="1" noChangeAspect="1" noMove="1" noResize="1" noEditPoints="1" noAdjustHandles="1" noChangeArrowheads="1" noChangeShapeType="1" noTextEdit="1"/>
              </p:cNvSpPr>
              <p:nvPr/>
            </p:nvSpPr>
            <p:spPr bwMode="auto">
              <a:xfrm>
                <a:off x="4872038" y="5033963"/>
                <a:ext cx="1944687" cy="555625"/>
              </a:xfrm>
              <a:prstGeom prst="rect">
                <a:avLst/>
              </a:prstGeom>
              <a:blipFill>
                <a:blip r:embed="rId3"/>
                <a:stretch>
                  <a:fillRect l="-2194"/>
                </a:stretch>
              </a:blipFill>
              <a:ln>
                <a:noFill/>
              </a:ln>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BCDDB3B9-640A-BF0E-BE70-C8CEE53E1920}"/>
              </a:ext>
            </a:extLst>
          </p:cNvPr>
          <p:cNvSpPr/>
          <p:nvPr/>
        </p:nvSpPr>
        <p:spPr>
          <a:xfrm>
            <a:off x="893379" y="249350"/>
            <a:ext cx="9470058" cy="521970"/>
          </a:xfrm>
          <a:prstGeom prst="rect">
            <a:avLst/>
          </a:prstGeom>
        </p:spPr>
        <p:txBody>
          <a:bodyPr wrap="square">
            <a:spAutoFit/>
          </a:bodyPr>
          <a:lstStyle/>
          <a:p>
            <a:pPr algn="l">
              <a:buClrTx/>
              <a:buSzTx/>
              <a:buFontTx/>
            </a:pP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图像</a:t>
            </a:r>
            <a:r>
              <a:rPr lang="en-US" altLang="zh-CN" sz="2800" b="1" dirty="0">
                <a:solidFill>
                  <a:srgbClr val="023B8C"/>
                </a:solidFill>
                <a:latin typeface="微软雅黑" panose="020B0503020204020204" charset="-122"/>
                <a:ea typeface="微软雅黑" panose="020B0503020204020204" charset="-122"/>
                <a:sym typeface="+mn-ea"/>
              </a:rPr>
              <a:t>”</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4" name="组合 3">
            <a:extLst>
              <a:ext uri="{FF2B5EF4-FFF2-40B4-BE49-F238E27FC236}">
                <a16:creationId xmlns:a16="http://schemas.microsoft.com/office/drawing/2014/main" id="{3F6315BF-DDA5-8D19-85D2-31D17AF3452D}"/>
              </a:ext>
            </a:extLst>
          </p:cNvPr>
          <p:cNvGrpSpPr/>
          <p:nvPr/>
        </p:nvGrpSpPr>
        <p:grpSpPr>
          <a:xfrm>
            <a:off x="123658" y="249350"/>
            <a:ext cx="979109" cy="533291"/>
            <a:chOff x="2215144" y="982844"/>
            <a:chExt cx="1258238" cy="912607"/>
          </a:xfrm>
        </p:grpSpPr>
        <p:sp>
          <p:nvSpPr>
            <p:cNvPr id="5" name="平行四边形 4">
              <a:extLst>
                <a:ext uri="{FF2B5EF4-FFF2-40B4-BE49-F238E27FC236}">
                  <a16:creationId xmlns:a16="http://schemas.microsoft.com/office/drawing/2014/main" id="{6CFD5219-2F68-5D43-440B-786D38DC2F89}"/>
                </a:ext>
              </a:extLst>
            </p:cNvPr>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6" name="文本框 9">
              <a:extLst>
                <a:ext uri="{FF2B5EF4-FFF2-40B4-BE49-F238E27FC236}">
                  <a16:creationId xmlns:a16="http://schemas.microsoft.com/office/drawing/2014/main" id="{77D0F70E-4A80-70D0-2E37-067CBAD57A09}"/>
                </a:ext>
              </a:extLst>
            </p:cNvPr>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51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5158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5158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8">
            <a:extLst>
              <a:ext uri="{FF2B5EF4-FFF2-40B4-BE49-F238E27FC236}">
                <a16:creationId xmlns:a16="http://schemas.microsoft.com/office/drawing/2014/main" id="{AF7DA673-6FA5-50C7-3171-69304F4A95CD}"/>
              </a:ext>
            </a:extLst>
          </p:cNvPr>
          <p:cNvSpPr txBox="1">
            <a:spLocks noChangeArrowheads="1"/>
          </p:cNvSpPr>
          <p:nvPr/>
        </p:nvSpPr>
        <p:spPr bwMode="auto">
          <a:xfrm>
            <a:off x="2351584" y="4940300"/>
            <a:ext cx="3024187" cy="569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342900" indent="-342900" eaLnBrk="0" hangingPunct="0">
              <a:lnSpc>
                <a:spcPct val="150000"/>
              </a:lnSpc>
              <a:buFont typeface="Wingdings" panose="05000000000000000000" pitchFamily="2" charset="2"/>
              <a:buChar char="¡"/>
            </a:pPr>
            <a:r>
              <a:rPr lang="zh-CN" altLang="en-US" sz="2400" dirty="0">
                <a:latin typeface="+mn-lt"/>
                <a:ea typeface="+mn-ea"/>
              </a:rPr>
              <a:t>光学图像</a:t>
            </a:r>
            <a:r>
              <a:rPr lang="en-US" altLang="zh-CN" sz="2400" dirty="0">
                <a:latin typeface="+mn-lt"/>
                <a:ea typeface="+mn-ea"/>
              </a:rPr>
              <a:t>Lena</a:t>
            </a:r>
          </a:p>
        </p:txBody>
      </p:sp>
      <p:sp>
        <p:nvSpPr>
          <p:cNvPr id="20483" name="Text Box 10">
            <a:extLst>
              <a:ext uri="{FF2B5EF4-FFF2-40B4-BE49-F238E27FC236}">
                <a16:creationId xmlns:a16="http://schemas.microsoft.com/office/drawing/2014/main" id="{ED21D8BD-0F45-CB3A-101F-19BDD55C9171}"/>
              </a:ext>
            </a:extLst>
          </p:cNvPr>
          <p:cNvSpPr txBox="1">
            <a:spLocks noChangeArrowheads="1"/>
          </p:cNvSpPr>
          <p:nvPr/>
        </p:nvSpPr>
        <p:spPr bwMode="auto">
          <a:xfrm>
            <a:off x="5999658" y="4940300"/>
            <a:ext cx="2954609" cy="569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marL="342900" indent="-342900" eaLnBrk="0" hangingPunct="0">
              <a:lnSpc>
                <a:spcPct val="150000"/>
              </a:lnSpc>
              <a:spcBef>
                <a:spcPct val="20000"/>
              </a:spcBef>
              <a:buClr>
                <a:schemeClr val="tx2"/>
              </a:buClr>
              <a:buSzPct val="70000"/>
              <a:buFont typeface="Wingdings" panose="05000000000000000000" pitchFamily="2" charset="2"/>
              <a:buChar char="¡"/>
              <a:defRPr sz="2400">
                <a:latin typeface="+mn-lt"/>
                <a:ea typeface="+mn-ea"/>
              </a:defRPr>
            </a:lvl1pPr>
            <a:lvl2pPr marL="742950" indent="-285750">
              <a:spcBef>
                <a:spcPct val="20000"/>
              </a:spcBef>
              <a:buClr>
                <a:schemeClr val="accent2"/>
              </a:buClr>
              <a:buSzPct val="70000"/>
              <a:buFont typeface="Wingdings" panose="05000000000000000000" pitchFamily="2" charset="2"/>
              <a:buChar char="l"/>
              <a:defRPr sz="2600">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latin typeface="Arial" panose="020B0604020202020204" pitchFamily="34" charset="0"/>
              </a:defRPr>
            </a:lvl9pPr>
          </a:lstStyle>
          <a:p>
            <a:r>
              <a:rPr lang="zh-CN" altLang="en-US" dirty="0"/>
              <a:t>大脑断层图像</a:t>
            </a:r>
          </a:p>
        </p:txBody>
      </p:sp>
      <p:pic>
        <p:nvPicPr>
          <p:cNvPr id="20484" name="Picture 13" descr="默默">
            <a:extLst>
              <a:ext uri="{FF2B5EF4-FFF2-40B4-BE49-F238E27FC236}">
                <a16:creationId xmlns:a16="http://schemas.microsoft.com/office/drawing/2014/main" id="{906B3A28-0652-22C8-19BE-97467F023E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2814" y="1917700"/>
            <a:ext cx="3024187" cy="302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Picture 14" descr="CT">
            <a:extLst>
              <a:ext uri="{FF2B5EF4-FFF2-40B4-BE49-F238E27FC236}">
                <a16:creationId xmlns:a16="http://schemas.microsoft.com/office/drawing/2014/main" id="{D497E16B-C04A-4115-CED9-72F954EE34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0888" y="1917700"/>
            <a:ext cx="3022600" cy="302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A110C148-05B4-C2A1-6260-089840260147}"/>
              </a:ext>
            </a:extLst>
          </p:cNvPr>
          <p:cNvSpPr/>
          <p:nvPr/>
        </p:nvSpPr>
        <p:spPr>
          <a:xfrm>
            <a:off x="893379" y="249350"/>
            <a:ext cx="9470058" cy="521970"/>
          </a:xfrm>
          <a:prstGeom prst="rect">
            <a:avLst/>
          </a:prstGeom>
        </p:spPr>
        <p:txBody>
          <a:bodyPr wrap="square">
            <a:spAutoFit/>
          </a:bodyPr>
          <a:lstStyle/>
          <a:p>
            <a:pPr algn="l">
              <a:buClrTx/>
              <a:buSzTx/>
              <a:buFontTx/>
            </a:pP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图像</a:t>
            </a:r>
            <a:r>
              <a:rPr lang="en-US" altLang="zh-CN" sz="2800" b="1" dirty="0">
                <a:solidFill>
                  <a:srgbClr val="023B8C"/>
                </a:solidFill>
                <a:latin typeface="微软雅黑" panose="020B0503020204020204" charset="-122"/>
                <a:ea typeface="微软雅黑" panose="020B0503020204020204" charset="-122"/>
                <a:sym typeface="+mn-ea"/>
              </a:rPr>
              <a:t>”</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3" name="组合 2">
            <a:extLst>
              <a:ext uri="{FF2B5EF4-FFF2-40B4-BE49-F238E27FC236}">
                <a16:creationId xmlns:a16="http://schemas.microsoft.com/office/drawing/2014/main" id="{D6273CAD-E871-79BC-A610-866A549A8E16}"/>
              </a:ext>
            </a:extLst>
          </p:cNvPr>
          <p:cNvGrpSpPr/>
          <p:nvPr/>
        </p:nvGrpSpPr>
        <p:grpSpPr>
          <a:xfrm>
            <a:off x="123658" y="249350"/>
            <a:ext cx="979109" cy="533291"/>
            <a:chOff x="2215144" y="982844"/>
            <a:chExt cx="1258238" cy="912607"/>
          </a:xfrm>
        </p:grpSpPr>
        <p:sp>
          <p:nvSpPr>
            <p:cNvPr id="4" name="平行四边形 3">
              <a:extLst>
                <a:ext uri="{FF2B5EF4-FFF2-40B4-BE49-F238E27FC236}">
                  <a16:creationId xmlns:a16="http://schemas.microsoft.com/office/drawing/2014/main" id="{6314B042-F784-9605-D77D-B7ED84CD4D8E}"/>
                </a:ext>
              </a:extLst>
            </p:cNvPr>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a:extLst>
                <a:ext uri="{FF2B5EF4-FFF2-40B4-BE49-F238E27FC236}">
                  <a16:creationId xmlns:a16="http://schemas.microsoft.com/office/drawing/2014/main" id="{9349983E-0B62-8F73-2337-71755B56415E}"/>
                </a:ext>
              </a:extLst>
            </p:cNvPr>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extLst>
      <p:ext uri="{BB962C8B-B14F-4D97-AF65-F5344CB8AC3E}">
        <p14:creationId xmlns:p14="http://schemas.microsoft.com/office/powerpoint/2010/main" val="258985193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6">
            <a:extLst>
              <a:ext uri="{FF2B5EF4-FFF2-40B4-BE49-F238E27FC236}">
                <a16:creationId xmlns:a16="http://schemas.microsoft.com/office/drawing/2014/main" id="{757E98D0-E839-6CE5-83E8-67A4265DE578}"/>
              </a:ext>
            </a:extLst>
          </p:cNvPr>
          <p:cNvSpPr txBox="1">
            <a:spLocks noChangeArrowheads="1"/>
          </p:cNvSpPr>
          <p:nvPr/>
        </p:nvSpPr>
        <p:spPr bwMode="auto">
          <a:xfrm>
            <a:off x="2119313" y="981075"/>
            <a:ext cx="7453312"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spcBef>
                <a:spcPct val="50000"/>
              </a:spcBef>
              <a:buClrTx/>
              <a:buSzTx/>
              <a:buFontTx/>
              <a:buNone/>
            </a:pPr>
            <a:r>
              <a:rPr lang="zh-CN" altLang="en-US" sz="2400"/>
              <a:t>        用计算机进行图像处理的前提是图像必须以数字格式存储，我们把以数字格式存放的图像称之为数字图像。</a:t>
            </a:r>
          </a:p>
        </p:txBody>
      </p:sp>
      <p:graphicFrame>
        <p:nvGraphicFramePr>
          <p:cNvPr id="16388" name="Object 2">
            <a:extLst>
              <a:ext uri="{FF2B5EF4-FFF2-40B4-BE49-F238E27FC236}">
                <a16:creationId xmlns:a16="http://schemas.microsoft.com/office/drawing/2014/main" id="{D7427D36-3204-B66A-05A3-DDB96312A007}"/>
              </a:ext>
            </a:extLst>
          </p:cNvPr>
          <p:cNvGraphicFramePr>
            <a:graphicFrameLocks noChangeAspect="1"/>
          </p:cNvGraphicFramePr>
          <p:nvPr>
            <p:extLst>
              <p:ext uri="{D42A27DB-BD31-4B8C-83A1-F6EECF244321}">
                <p14:modId xmlns:p14="http://schemas.microsoft.com/office/powerpoint/2010/main" val="820779332"/>
              </p:ext>
            </p:extLst>
          </p:nvPr>
        </p:nvGraphicFramePr>
        <p:xfrm>
          <a:off x="2495600" y="2775745"/>
          <a:ext cx="6929438" cy="3243262"/>
        </p:xfrm>
        <a:graphic>
          <a:graphicData uri="http://schemas.openxmlformats.org/presentationml/2006/ole">
            <mc:AlternateContent xmlns:mc="http://schemas.openxmlformats.org/markup-compatibility/2006">
              <mc:Choice xmlns:v="urn:schemas-microsoft-com:vml" Requires="v">
                <p:oleObj name="VISIO" r:id="rId3" imgW="3528060" imgH="1645920" progId="">
                  <p:embed/>
                </p:oleObj>
              </mc:Choice>
              <mc:Fallback>
                <p:oleObj name="VISIO" r:id="rId3" imgW="3528060" imgH="1645920" progId="">
                  <p:embed/>
                  <p:pic>
                    <p:nvPicPr>
                      <p:cNvPr id="16388" name="Object 2">
                        <a:extLst>
                          <a:ext uri="{FF2B5EF4-FFF2-40B4-BE49-F238E27FC236}">
                            <a16:creationId xmlns:a16="http://schemas.microsoft.com/office/drawing/2014/main" id="{D7427D36-3204-B66A-05A3-DDB96312A0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600" y="2775745"/>
                        <a:ext cx="6929438" cy="3243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矩形 1">
            <a:extLst>
              <a:ext uri="{FF2B5EF4-FFF2-40B4-BE49-F238E27FC236}">
                <a16:creationId xmlns:a16="http://schemas.microsoft.com/office/drawing/2014/main" id="{E8CF022B-3020-A903-2D7A-C3B366E40029}"/>
              </a:ext>
            </a:extLst>
          </p:cNvPr>
          <p:cNvSpPr/>
          <p:nvPr/>
        </p:nvSpPr>
        <p:spPr>
          <a:xfrm>
            <a:off x="893379" y="249350"/>
            <a:ext cx="9470058" cy="521970"/>
          </a:xfrm>
          <a:prstGeom prst="rect">
            <a:avLst/>
          </a:prstGeom>
        </p:spPr>
        <p:txBody>
          <a:bodyPr wrap="square">
            <a:spAutoFit/>
          </a:bodyPr>
          <a:lstStyle/>
          <a:p>
            <a:pPr algn="l">
              <a:buClrTx/>
              <a:buSzTx/>
              <a:buFontTx/>
            </a:pP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数字图像</a:t>
            </a:r>
            <a:r>
              <a:rPr lang="en-US" altLang="zh-CN" sz="2800" b="1" dirty="0">
                <a:solidFill>
                  <a:srgbClr val="023B8C"/>
                </a:solidFill>
                <a:latin typeface="微软雅黑" panose="020B0503020204020204" charset="-122"/>
                <a:ea typeface="微软雅黑" panose="020B0503020204020204" charset="-122"/>
                <a:sym typeface="+mn-ea"/>
              </a:rPr>
              <a:t>”</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3" name="组合 2">
            <a:extLst>
              <a:ext uri="{FF2B5EF4-FFF2-40B4-BE49-F238E27FC236}">
                <a16:creationId xmlns:a16="http://schemas.microsoft.com/office/drawing/2014/main" id="{E67C9490-D8FA-1A24-6309-B1C0C7F5E748}"/>
              </a:ext>
            </a:extLst>
          </p:cNvPr>
          <p:cNvGrpSpPr/>
          <p:nvPr/>
        </p:nvGrpSpPr>
        <p:grpSpPr>
          <a:xfrm>
            <a:off x="123658" y="249350"/>
            <a:ext cx="979109" cy="533291"/>
            <a:chOff x="2215144" y="982844"/>
            <a:chExt cx="1258238" cy="912607"/>
          </a:xfrm>
        </p:grpSpPr>
        <p:sp>
          <p:nvSpPr>
            <p:cNvPr id="4" name="平行四边形 3">
              <a:extLst>
                <a:ext uri="{FF2B5EF4-FFF2-40B4-BE49-F238E27FC236}">
                  <a16:creationId xmlns:a16="http://schemas.microsoft.com/office/drawing/2014/main" id="{2CC7F34D-5BC0-69A2-A031-9D932ED85B3F}"/>
                </a:ext>
              </a:extLst>
            </p:cNvPr>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6" name="文本框 9">
              <a:extLst>
                <a:ext uri="{FF2B5EF4-FFF2-40B4-BE49-F238E27FC236}">
                  <a16:creationId xmlns:a16="http://schemas.microsoft.com/office/drawing/2014/main" id="{C7896708-0429-EF68-106B-A457341C955D}"/>
                </a:ext>
              </a:extLst>
            </p:cNvPr>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内容占位符 2">
            <a:extLst>
              <a:ext uri="{FF2B5EF4-FFF2-40B4-BE49-F238E27FC236}">
                <a16:creationId xmlns:a16="http://schemas.microsoft.com/office/drawing/2014/main" id="{317AA0AD-5A4F-6C6E-6F17-E0D4553B1FD6}"/>
              </a:ext>
            </a:extLst>
          </p:cNvPr>
          <p:cNvSpPr>
            <a:spLocks noGrp="1" noChangeArrowheads="1"/>
          </p:cNvSpPr>
          <p:nvPr>
            <p:ph idx="1"/>
          </p:nvPr>
        </p:nvSpPr>
        <p:spPr>
          <a:xfrm>
            <a:off x="893379" y="1017127"/>
            <a:ext cx="9751483" cy="411480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eaLnBrk="1" hangingPunct="1">
              <a:lnSpc>
                <a:spcPct val="150000"/>
              </a:lnSpc>
            </a:pPr>
            <a:r>
              <a:rPr lang="zh-CN" altLang="en-US" sz="2800" dirty="0"/>
              <a:t>位图</a:t>
            </a:r>
            <a:r>
              <a:rPr lang="en-US" altLang="zh-CN" sz="2800" dirty="0"/>
              <a:t>(</a:t>
            </a:r>
            <a:r>
              <a:rPr lang="zh-CN" altLang="en-US" sz="2800" dirty="0"/>
              <a:t>点阵图</a:t>
            </a:r>
            <a:r>
              <a:rPr lang="en-US" altLang="zh-CN" sz="2800" dirty="0"/>
              <a:t>)</a:t>
            </a:r>
          </a:p>
          <a:p>
            <a:pPr lvl="1" eaLnBrk="1" hangingPunct="1">
              <a:lnSpc>
                <a:spcPct val="150000"/>
              </a:lnSpc>
            </a:pPr>
            <a:r>
              <a:rPr lang="zh-CN" altLang="en-US" sz="2400" dirty="0"/>
              <a:t>采用像素矩阵方法来显示和存储图像。</a:t>
            </a:r>
            <a:endParaRPr lang="en-US" altLang="zh-CN" sz="2400" dirty="0"/>
          </a:p>
          <a:p>
            <a:pPr lvl="1" eaLnBrk="1" hangingPunct="1">
              <a:lnSpc>
                <a:spcPct val="150000"/>
              </a:lnSpc>
            </a:pPr>
            <a:r>
              <a:rPr lang="zh-CN" altLang="en-US" sz="2400" dirty="0"/>
              <a:t>真实细腻反应图像层次色彩。体积较大。</a:t>
            </a:r>
            <a:endParaRPr lang="en-US" altLang="zh-CN" sz="2400" dirty="0"/>
          </a:p>
          <a:p>
            <a:pPr lvl="1" eaLnBrk="1" hangingPunct="1">
              <a:lnSpc>
                <a:spcPct val="150000"/>
              </a:lnSpc>
            </a:pPr>
            <a:r>
              <a:rPr lang="zh-CN" altLang="en-US" sz="2400" dirty="0"/>
              <a:t>适合描述照片。</a:t>
            </a:r>
            <a:endParaRPr lang="en-US" altLang="zh-CN" sz="2400" dirty="0"/>
          </a:p>
          <a:p>
            <a:pPr eaLnBrk="1" hangingPunct="1">
              <a:lnSpc>
                <a:spcPct val="150000"/>
              </a:lnSpc>
            </a:pPr>
            <a:endParaRPr lang="en-US" altLang="zh-CN" sz="2800" dirty="0"/>
          </a:p>
          <a:p>
            <a:pPr eaLnBrk="1" hangingPunct="1">
              <a:lnSpc>
                <a:spcPct val="150000"/>
              </a:lnSpc>
            </a:pPr>
            <a:r>
              <a:rPr lang="zh-CN" altLang="en-US" sz="2800" dirty="0"/>
              <a:t>矢量图</a:t>
            </a:r>
            <a:endParaRPr lang="en-US" altLang="zh-CN" sz="2800" dirty="0"/>
          </a:p>
          <a:p>
            <a:pPr lvl="1" eaLnBrk="1" hangingPunct="1">
              <a:lnSpc>
                <a:spcPct val="150000"/>
              </a:lnSpc>
            </a:pPr>
            <a:r>
              <a:rPr lang="zh-CN" altLang="en-US" sz="2400" dirty="0"/>
              <a:t>用数学方法描述由几何元素组成的图像。</a:t>
            </a:r>
            <a:endParaRPr lang="en-US" altLang="zh-CN" sz="2400" dirty="0"/>
          </a:p>
          <a:p>
            <a:pPr lvl="1" eaLnBrk="1" hangingPunct="1">
              <a:lnSpc>
                <a:spcPct val="150000"/>
              </a:lnSpc>
            </a:pPr>
            <a:r>
              <a:rPr lang="zh-CN" altLang="en-US" sz="2400" dirty="0"/>
              <a:t>文件小，能够随意缩放而不改变质量。</a:t>
            </a:r>
            <a:endParaRPr lang="en-US" altLang="zh-CN" sz="2400" dirty="0"/>
          </a:p>
          <a:p>
            <a:pPr lvl="1" eaLnBrk="1" hangingPunct="1">
              <a:lnSpc>
                <a:spcPct val="150000"/>
              </a:lnSpc>
            </a:pPr>
            <a:r>
              <a:rPr lang="zh-CN" altLang="en-US" sz="2400" dirty="0"/>
              <a:t>适合描述图形。</a:t>
            </a:r>
            <a:endParaRPr lang="en-US" altLang="zh-CN" sz="2400" dirty="0"/>
          </a:p>
        </p:txBody>
      </p:sp>
      <p:pic>
        <p:nvPicPr>
          <p:cNvPr id="18436" name="Picture 1037" descr="sydzt">
            <a:extLst>
              <a:ext uri="{FF2B5EF4-FFF2-40B4-BE49-F238E27FC236}">
                <a16:creationId xmlns:a16="http://schemas.microsoft.com/office/drawing/2014/main" id="{F2EB7E3B-CF01-89B8-9090-B0518E5504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928688"/>
            <a:ext cx="26670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1035" descr="syslt">
            <a:extLst>
              <a:ext uri="{FF2B5EF4-FFF2-40B4-BE49-F238E27FC236}">
                <a16:creationId xmlns:a16="http://schemas.microsoft.com/office/drawing/2014/main" id="{3621BCA0-B361-16EE-0549-5A6D092A90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4688" y="3786188"/>
            <a:ext cx="26670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6DDF8622-16AF-5366-150B-CA63B13D431A}"/>
              </a:ext>
            </a:extLst>
          </p:cNvPr>
          <p:cNvSpPr/>
          <p:nvPr/>
        </p:nvSpPr>
        <p:spPr>
          <a:xfrm>
            <a:off x="893379" y="249350"/>
            <a:ext cx="9470058" cy="521970"/>
          </a:xfrm>
          <a:prstGeom prst="rect">
            <a:avLst/>
          </a:prstGeom>
        </p:spPr>
        <p:txBody>
          <a:bodyPr wrap="square">
            <a:spAutoFit/>
          </a:bodyPr>
          <a:lstStyle/>
          <a:p>
            <a:pPr algn="l">
              <a:buClrTx/>
              <a:buSzTx/>
              <a:buFontTx/>
            </a:pPr>
            <a:r>
              <a:rPr lang="en-US" altLang="zh-CN" sz="2800" b="1" dirty="0">
                <a:solidFill>
                  <a:srgbClr val="023B8C"/>
                </a:solidFill>
                <a:latin typeface="微软雅黑" panose="020B0503020204020204" charset="-122"/>
                <a:ea typeface="微软雅黑" panose="020B0503020204020204" charset="-122"/>
                <a:sym typeface="+mn-ea"/>
              </a:rPr>
              <a:t>“</a:t>
            </a:r>
            <a:r>
              <a:rPr lang="zh-CN" altLang="en-US" sz="2800" b="1" dirty="0">
                <a:solidFill>
                  <a:srgbClr val="023B8C"/>
                </a:solidFill>
                <a:latin typeface="微软雅黑" panose="020B0503020204020204" charset="-122"/>
                <a:ea typeface="微软雅黑" panose="020B0503020204020204" charset="-122"/>
                <a:sym typeface="+mn-ea"/>
              </a:rPr>
              <a:t>数字图像</a:t>
            </a:r>
            <a:r>
              <a:rPr lang="en-US" altLang="zh-CN" sz="2800" b="1" dirty="0">
                <a:solidFill>
                  <a:srgbClr val="023B8C"/>
                </a:solidFill>
                <a:latin typeface="微软雅黑" panose="020B0503020204020204" charset="-122"/>
                <a:ea typeface="微软雅黑" panose="020B0503020204020204" charset="-122"/>
                <a:sym typeface="+mn-ea"/>
              </a:rPr>
              <a:t>”</a:t>
            </a:r>
            <a:endParaRPr lang="zh-CN" altLang="en-US" sz="2800" b="1" dirty="0">
              <a:solidFill>
                <a:srgbClr val="023B8C"/>
              </a:solidFill>
              <a:latin typeface="微软雅黑" panose="020B0503020204020204" charset="-122"/>
              <a:ea typeface="微软雅黑" panose="020B0503020204020204" charset="-122"/>
              <a:sym typeface="+mn-ea"/>
            </a:endParaRPr>
          </a:p>
        </p:txBody>
      </p:sp>
      <p:grpSp>
        <p:nvGrpSpPr>
          <p:cNvPr id="4" name="组合 3">
            <a:extLst>
              <a:ext uri="{FF2B5EF4-FFF2-40B4-BE49-F238E27FC236}">
                <a16:creationId xmlns:a16="http://schemas.microsoft.com/office/drawing/2014/main" id="{F687E9D6-A0F9-141A-868B-DA777B8B1E99}"/>
              </a:ext>
            </a:extLst>
          </p:cNvPr>
          <p:cNvGrpSpPr/>
          <p:nvPr/>
        </p:nvGrpSpPr>
        <p:grpSpPr>
          <a:xfrm>
            <a:off x="123658" y="249350"/>
            <a:ext cx="979109" cy="533291"/>
            <a:chOff x="2215144" y="982844"/>
            <a:chExt cx="1258238" cy="912607"/>
          </a:xfrm>
        </p:grpSpPr>
        <p:sp>
          <p:nvSpPr>
            <p:cNvPr id="5" name="平行四边形 4">
              <a:extLst>
                <a:ext uri="{FF2B5EF4-FFF2-40B4-BE49-F238E27FC236}">
                  <a16:creationId xmlns:a16="http://schemas.microsoft.com/office/drawing/2014/main" id="{59408095-7110-2E35-7027-96B7BE5CC303}"/>
                </a:ext>
              </a:extLst>
            </p:cNvPr>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6" name="文本框 9">
              <a:extLst>
                <a:ext uri="{FF2B5EF4-FFF2-40B4-BE49-F238E27FC236}">
                  <a16:creationId xmlns:a16="http://schemas.microsoft.com/office/drawing/2014/main" id="{10F0C5E7-D7D1-F2CD-7F37-299492C747E2}"/>
                </a:ext>
              </a:extLst>
            </p:cNvPr>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321A145-3299-DCD9-6900-0EA461866D60}"/>
              </a:ext>
            </a:extLst>
          </p:cNvPr>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图像处理</a:t>
            </a:r>
          </a:p>
        </p:txBody>
      </p:sp>
      <p:grpSp>
        <p:nvGrpSpPr>
          <p:cNvPr id="3" name="组合 2">
            <a:extLst>
              <a:ext uri="{FF2B5EF4-FFF2-40B4-BE49-F238E27FC236}">
                <a16:creationId xmlns:a16="http://schemas.microsoft.com/office/drawing/2014/main" id="{4868E8B0-5BBD-99A6-EFE2-5B6015F40A3A}"/>
              </a:ext>
            </a:extLst>
          </p:cNvPr>
          <p:cNvGrpSpPr/>
          <p:nvPr/>
        </p:nvGrpSpPr>
        <p:grpSpPr>
          <a:xfrm>
            <a:off x="123658" y="249350"/>
            <a:ext cx="979109" cy="533291"/>
            <a:chOff x="2215144" y="982844"/>
            <a:chExt cx="1258238" cy="912607"/>
          </a:xfrm>
        </p:grpSpPr>
        <p:sp>
          <p:nvSpPr>
            <p:cNvPr id="4" name="平行四边形 3">
              <a:extLst>
                <a:ext uri="{FF2B5EF4-FFF2-40B4-BE49-F238E27FC236}">
                  <a16:creationId xmlns:a16="http://schemas.microsoft.com/office/drawing/2014/main" id="{F75E8B5C-283E-6535-0F8F-BDAAE0386B46}"/>
                </a:ext>
              </a:extLst>
            </p:cNvPr>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a:extLst>
                <a:ext uri="{FF2B5EF4-FFF2-40B4-BE49-F238E27FC236}">
                  <a16:creationId xmlns:a16="http://schemas.microsoft.com/office/drawing/2014/main" id="{7EE30478-9F35-2BFD-46FF-968A6D10210C}"/>
                </a:ext>
              </a:extLst>
            </p:cNvPr>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
        <p:nvSpPr>
          <p:cNvPr id="7" name="Rectangle 3">
            <a:extLst>
              <a:ext uri="{FF2B5EF4-FFF2-40B4-BE49-F238E27FC236}">
                <a16:creationId xmlns:a16="http://schemas.microsoft.com/office/drawing/2014/main" id="{30D4773A-A93F-3AE3-11DE-5D9B92BFF1BC}"/>
              </a:ext>
            </a:extLst>
          </p:cNvPr>
          <p:cNvSpPr>
            <a:spLocks noGrp="1" noChangeArrowheads="1"/>
          </p:cNvSpPr>
          <p:nvPr>
            <p:ph idx="1"/>
          </p:nvPr>
        </p:nvSpPr>
        <p:spPr>
          <a:xfrm>
            <a:off x="1139618" y="1124744"/>
            <a:ext cx="10068949" cy="4114800"/>
          </a:xfrm>
        </p:spPr>
        <p:txBody>
          <a:bodyPr/>
          <a:lstStyle/>
          <a:p>
            <a:pPr eaLnBrk="1" hangingPunct="1">
              <a:lnSpc>
                <a:spcPct val="150000"/>
              </a:lnSpc>
            </a:pPr>
            <a:r>
              <a:rPr lang="zh-CN" altLang="en-US" dirty="0"/>
              <a:t>目的</a:t>
            </a:r>
            <a:endParaRPr lang="en-US" altLang="zh-CN" dirty="0"/>
          </a:p>
          <a:p>
            <a:pPr lvl="1" eaLnBrk="1" hangingPunct="1">
              <a:lnSpc>
                <a:spcPct val="150000"/>
              </a:lnSpc>
            </a:pPr>
            <a:r>
              <a:rPr lang="zh-CN" altLang="en-US" dirty="0">
                <a:latin typeface="宋体" panose="02010600030101010101" pitchFamily="2" charset="-122"/>
              </a:rPr>
              <a:t>满足视觉心理和应用要求</a:t>
            </a:r>
          </a:p>
          <a:p>
            <a:pPr lvl="1" eaLnBrk="1" hangingPunct="1">
              <a:lnSpc>
                <a:spcPct val="150000"/>
              </a:lnSpc>
            </a:pPr>
            <a:r>
              <a:rPr lang="zh-CN" altLang="en-US" dirty="0"/>
              <a:t>图像信息加工</a:t>
            </a:r>
            <a:endParaRPr lang="en-US" altLang="zh-CN" dirty="0"/>
          </a:p>
          <a:p>
            <a:pPr lvl="1" eaLnBrk="1" hangingPunct="1">
              <a:lnSpc>
                <a:spcPct val="150000"/>
              </a:lnSpc>
            </a:pPr>
            <a:r>
              <a:rPr lang="zh-CN" altLang="en-US" dirty="0"/>
              <a:t>获取外界信息－视觉、听觉、触觉、嗅觉、味觉等多种，但绝大部分是来自视觉所接收的图像信息（</a:t>
            </a:r>
            <a:r>
              <a:rPr lang="en-US" altLang="zh-CN" dirty="0"/>
              <a:t>70%</a:t>
            </a:r>
            <a:r>
              <a:rPr lang="zh-CN" altLang="en-US" dirty="0"/>
              <a:t>），“百闻不如一见”</a:t>
            </a:r>
          </a:p>
          <a:p>
            <a:pPr lvl="1" eaLnBrk="1" hangingPunct="1">
              <a:lnSpc>
                <a:spcPct val="150000"/>
              </a:lnSpc>
            </a:pP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3"/>
          <p:cNvSpPr>
            <a:spLocks noGrp="1" noChangeArrowheads="1"/>
          </p:cNvSpPr>
          <p:nvPr>
            <p:ph idx="1"/>
          </p:nvPr>
        </p:nvSpPr>
        <p:spPr>
          <a:xfrm>
            <a:off x="1826049" y="1556703"/>
            <a:ext cx="9751483" cy="4114800"/>
          </a:xfrm>
        </p:spPr>
        <p:txBody>
          <a:bodyPr/>
          <a:lstStyle/>
          <a:p>
            <a:pPr eaLnBrk="1" hangingPunct="1"/>
            <a:r>
              <a:rPr lang="zh-CN" altLang="en-US"/>
              <a:t>主观评价</a:t>
            </a:r>
            <a:endParaRPr lang="en-US" altLang="zh-CN"/>
          </a:p>
          <a:p>
            <a:pPr lvl="1" eaLnBrk="1" hangingPunct="1"/>
            <a:r>
              <a:rPr lang="zh-CN" altLang="en-US">
                <a:latin typeface="宋体" panose="02010600030101010101" pitchFamily="2" charset="-122"/>
              </a:rPr>
              <a:t>平均意见分</a:t>
            </a:r>
            <a:endParaRPr lang="en-US" altLang="zh-CN">
              <a:latin typeface="宋体" panose="02010600030101010101" pitchFamily="2" charset="-122"/>
            </a:endParaRPr>
          </a:p>
          <a:p>
            <a:pPr lvl="2" eaLnBrk="1" hangingPunct="1"/>
            <a:r>
              <a:rPr lang="en-US" altLang="zh-CN"/>
              <a:t>MOS</a:t>
            </a:r>
            <a:r>
              <a:rPr lang="zh-CN" altLang="en-US"/>
              <a:t>（</a:t>
            </a:r>
            <a:r>
              <a:rPr lang="en-US" altLang="zh-CN"/>
              <a:t>Mean Opinion Score</a:t>
            </a:r>
            <a:r>
              <a:rPr lang="zh-CN" altLang="en-US"/>
              <a:t>）</a:t>
            </a:r>
          </a:p>
          <a:p>
            <a:pPr lvl="2" eaLnBrk="1" hangingPunct="1"/>
            <a:r>
              <a:rPr lang="zh-CN" altLang="en-US">
                <a:latin typeface="宋体" panose="02010600030101010101" pitchFamily="2" charset="-122"/>
              </a:rPr>
              <a:t>观察者根据一些事先规定的评价尺度，</a:t>
            </a:r>
            <a:endParaRPr lang="en-US" altLang="zh-CN">
              <a:latin typeface="宋体" panose="02010600030101010101" pitchFamily="2" charset="-122"/>
            </a:endParaRPr>
          </a:p>
          <a:p>
            <a:pPr lvl="2" eaLnBrk="1" hangingPunct="1"/>
            <a:r>
              <a:rPr lang="zh-CN" altLang="en-US">
                <a:latin typeface="宋体" panose="02010600030101010101" pitchFamily="2" charset="-122"/>
              </a:rPr>
              <a:t>或自己的经验，</a:t>
            </a:r>
            <a:endParaRPr lang="en-US" altLang="zh-CN">
              <a:latin typeface="宋体" panose="02010600030101010101" pitchFamily="2" charset="-122"/>
            </a:endParaRPr>
          </a:p>
          <a:p>
            <a:pPr lvl="2" eaLnBrk="1" hangingPunct="1"/>
            <a:r>
              <a:rPr lang="zh-CN" altLang="en-US">
                <a:latin typeface="宋体" panose="02010600030101010101" pitchFamily="2" charset="-122"/>
              </a:rPr>
              <a:t>判断测试图像的视觉效果质量，</a:t>
            </a:r>
            <a:endParaRPr lang="en-US" altLang="zh-CN">
              <a:latin typeface="宋体" panose="02010600030101010101" pitchFamily="2" charset="-122"/>
            </a:endParaRPr>
          </a:p>
          <a:p>
            <a:pPr lvl="2" eaLnBrk="1" hangingPunct="1"/>
            <a:r>
              <a:rPr lang="zh-CN" altLang="en-US">
                <a:latin typeface="宋体" panose="02010600030101010101" pitchFamily="2" charset="-122"/>
              </a:rPr>
              <a:t>所有观察者给出的分数的加权平均。</a:t>
            </a:r>
            <a:endParaRPr lang="en-US" altLang="zh-CN">
              <a:latin typeface="宋体" panose="02010600030101010101" pitchFamily="2" charset="-122"/>
            </a:endParaRPr>
          </a:p>
          <a:p>
            <a:pPr lvl="2" eaLnBrk="1" hangingPunct="1"/>
            <a:r>
              <a:rPr lang="zh-CN" altLang="en-US">
                <a:latin typeface="宋体" panose="02010600030101010101" pitchFamily="2" charset="-122"/>
              </a:rPr>
              <a:t>五级评分</a:t>
            </a:r>
            <a:endParaRPr lang="zh-CN" altLang="en-US"/>
          </a:p>
        </p:txBody>
      </p:sp>
      <p:sp>
        <p:nvSpPr>
          <p:cNvPr id="2" name="矩形 1"/>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图像的质量评价——主观评价方法</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anim calcmode="lin" valueType="num">
                                      <p:cBhvr additive="base">
                                        <p:cTn id="7" dur="500" fill="hold"/>
                                        <p:tgtEl>
                                          <p:spTgt spid="1116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16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1619">
                                            <p:txEl>
                                              <p:pRg st="1" end="1"/>
                                            </p:txEl>
                                          </p:spTgt>
                                        </p:tgtEl>
                                        <p:attrNameLst>
                                          <p:attrName>style.visibility</p:attrName>
                                        </p:attrNameLst>
                                      </p:cBhvr>
                                      <p:to>
                                        <p:strVal val="visible"/>
                                      </p:to>
                                    </p:set>
                                    <p:anim calcmode="lin" valueType="num">
                                      <p:cBhvr additive="base">
                                        <p:cTn id="13" dur="500" fill="hold"/>
                                        <p:tgtEl>
                                          <p:spTgt spid="1116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16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1619">
                                            <p:txEl>
                                              <p:pRg st="2" end="2"/>
                                            </p:txEl>
                                          </p:spTgt>
                                        </p:tgtEl>
                                        <p:attrNameLst>
                                          <p:attrName>style.visibility</p:attrName>
                                        </p:attrNameLst>
                                      </p:cBhvr>
                                      <p:to>
                                        <p:strVal val="visible"/>
                                      </p:to>
                                    </p:set>
                                    <p:anim calcmode="lin" valueType="num">
                                      <p:cBhvr additive="base">
                                        <p:cTn id="19" dur="500" fill="hold"/>
                                        <p:tgtEl>
                                          <p:spTgt spid="11161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16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1619">
                                            <p:txEl>
                                              <p:pRg st="3" end="3"/>
                                            </p:txEl>
                                          </p:spTgt>
                                        </p:tgtEl>
                                        <p:attrNameLst>
                                          <p:attrName>style.visibility</p:attrName>
                                        </p:attrNameLst>
                                      </p:cBhvr>
                                      <p:to>
                                        <p:strVal val="visible"/>
                                      </p:to>
                                    </p:set>
                                    <p:anim calcmode="lin" valueType="num">
                                      <p:cBhvr additive="base">
                                        <p:cTn id="25" dur="500" fill="hold"/>
                                        <p:tgtEl>
                                          <p:spTgt spid="11161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16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1619">
                                            <p:txEl>
                                              <p:pRg st="4" end="4"/>
                                            </p:txEl>
                                          </p:spTgt>
                                        </p:tgtEl>
                                        <p:attrNameLst>
                                          <p:attrName>style.visibility</p:attrName>
                                        </p:attrNameLst>
                                      </p:cBhvr>
                                      <p:to>
                                        <p:strVal val="visible"/>
                                      </p:to>
                                    </p:set>
                                    <p:anim calcmode="lin" valueType="num">
                                      <p:cBhvr additive="base">
                                        <p:cTn id="31" dur="500" fill="hold"/>
                                        <p:tgtEl>
                                          <p:spTgt spid="11161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16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1619">
                                            <p:txEl>
                                              <p:pRg st="5" end="5"/>
                                            </p:txEl>
                                          </p:spTgt>
                                        </p:tgtEl>
                                        <p:attrNameLst>
                                          <p:attrName>style.visibility</p:attrName>
                                        </p:attrNameLst>
                                      </p:cBhvr>
                                      <p:to>
                                        <p:strVal val="visible"/>
                                      </p:to>
                                    </p:set>
                                    <p:anim calcmode="lin" valueType="num">
                                      <p:cBhvr additive="base">
                                        <p:cTn id="37" dur="500" fill="hold"/>
                                        <p:tgtEl>
                                          <p:spTgt spid="11161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161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1619">
                                            <p:txEl>
                                              <p:pRg st="6" end="6"/>
                                            </p:txEl>
                                          </p:spTgt>
                                        </p:tgtEl>
                                        <p:attrNameLst>
                                          <p:attrName>style.visibility</p:attrName>
                                        </p:attrNameLst>
                                      </p:cBhvr>
                                      <p:to>
                                        <p:strVal val="visible"/>
                                      </p:to>
                                    </p:set>
                                    <p:anim calcmode="lin" valueType="num">
                                      <p:cBhvr additive="base">
                                        <p:cTn id="43" dur="500" fill="hold"/>
                                        <p:tgtEl>
                                          <p:spTgt spid="11161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161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11619">
                                            <p:txEl>
                                              <p:pRg st="7" end="7"/>
                                            </p:txEl>
                                          </p:spTgt>
                                        </p:tgtEl>
                                        <p:attrNameLst>
                                          <p:attrName>style.visibility</p:attrName>
                                        </p:attrNameLst>
                                      </p:cBhvr>
                                      <p:to>
                                        <p:strVal val="visible"/>
                                      </p:to>
                                    </p:set>
                                    <p:anim calcmode="lin" valueType="num">
                                      <p:cBhvr additive="base">
                                        <p:cTn id="49" dur="500" fill="hold"/>
                                        <p:tgtEl>
                                          <p:spTgt spid="11161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1161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3"/>
          <p:cNvSpPr>
            <a:spLocks noGrp="1" noChangeArrowheads="1"/>
          </p:cNvSpPr>
          <p:nvPr>
            <p:ph idx="1"/>
          </p:nvPr>
        </p:nvSpPr>
        <p:spPr>
          <a:xfrm>
            <a:off x="1775249" y="1484313"/>
            <a:ext cx="9751483" cy="4114800"/>
          </a:xfrm>
        </p:spPr>
        <p:txBody>
          <a:bodyPr/>
          <a:lstStyle/>
          <a:p>
            <a:pPr eaLnBrk="1" hangingPunct="1">
              <a:lnSpc>
                <a:spcPct val="150000"/>
              </a:lnSpc>
            </a:pPr>
            <a:r>
              <a:rPr lang="zh-CN" altLang="en-US"/>
              <a:t>主观评价的优点：</a:t>
            </a:r>
            <a:endParaRPr lang="en-US" altLang="zh-CN"/>
          </a:p>
          <a:p>
            <a:pPr lvl="1" eaLnBrk="1" hangingPunct="1">
              <a:lnSpc>
                <a:spcPct val="150000"/>
              </a:lnSpc>
            </a:pPr>
            <a:r>
              <a:rPr lang="zh-CN" altLang="en-US"/>
              <a:t>比较准确。</a:t>
            </a:r>
          </a:p>
          <a:p>
            <a:pPr eaLnBrk="1" hangingPunct="1">
              <a:lnSpc>
                <a:spcPct val="150000"/>
              </a:lnSpc>
            </a:pPr>
            <a:r>
              <a:rPr lang="zh-CN" altLang="en-US">
                <a:latin typeface="宋体" panose="02010600030101010101" pitchFamily="2" charset="-122"/>
              </a:rPr>
              <a:t>主观评价的缺点：</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受观察者的知识背景、情绪，</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和疲劳程度等因素的影响。</a:t>
            </a:r>
            <a:endParaRPr lang="zh-CN" altLang="en-US"/>
          </a:p>
          <a:p>
            <a:pPr lvl="1" eaLnBrk="1" hangingPunct="1">
              <a:lnSpc>
                <a:spcPct val="150000"/>
              </a:lnSpc>
            </a:pPr>
            <a:r>
              <a:rPr lang="zh-CN" altLang="en-US">
                <a:latin typeface="宋体" panose="02010600030101010101" pitchFamily="2" charset="-122"/>
              </a:rPr>
              <a:t>可重复性较差。</a:t>
            </a:r>
            <a:endParaRPr lang="zh-CN" altLang="en-US"/>
          </a:p>
        </p:txBody>
      </p:sp>
      <p:sp>
        <p:nvSpPr>
          <p:cNvPr id="2" name="矩形 1"/>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图像的质量评价——主观评价方法</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 calcmode="lin" valueType="num">
                                      <p:cBhvr additive="base">
                                        <p:cTn id="7" dur="500" fill="hold"/>
                                        <p:tgtEl>
                                          <p:spTgt spid="1126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43">
                                            <p:txEl>
                                              <p:pRg st="1" end="1"/>
                                            </p:txEl>
                                          </p:spTgt>
                                        </p:tgtEl>
                                        <p:attrNameLst>
                                          <p:attrName>style.visibility</p:attrName>
                                        </p:attrNameLst>
                                      </p:cBhvr>
                                      <p:to>
                                        <p:strVal val="visible"/>
                                      </p:to>
                                    </p:set>
                                    <p:anim calcmode="lin" valueType="num">
                                      <p:cBhvr additive="base">
                                        <p:cTn id="13" dur="500" fill="hold"/>
                                        <p:tgtEl>
                                          <p:spTgt spid="1126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2643">
                                            <p:txEl>
                                              <p:pRg st="2" end="2"/>
                                            </p:txEl>
                                          </p:spTgt>
                                        </p:tgtEl>
                                        <p:attrNameLst>
                                          <p:attrName>style.visibility</p:attrName>
                                        </p:attrNameLst>
                                      </p:cBhvr>
                                      <p:to>
                                        <p:strVal val="visible"/>
                                      </p:to>
                                    </p:set>
                                    <p:anim calcmode="lin" valueType="num">
                                      <p:cBhvr additive="base">
                                        <p:cTn id="19" dur="500" fill="hold"/>
                                        <p:tgtEl>
                                          <p:spTgt spid="11264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2643">
                                            <p:txEl>
                                              <p:pRg st="3" end="3"/>
                                            </p:txEl>
                                          </p:spTgt>
                                        </p:tgtEl>
                                        <p:attrNameLst>
                                          <p:attrName>style.visibility</p:attrName>
                                        </p:attrNameLst>
                                      </p:cBhvr>
                                      <p:to>
                                        <p:strVal val="visible"/>
                                      </p:to>
                                    </p:set>
                                    <p:anim calcmode="lin" valueType="num">
                                      <p:cBhvr additive="base">
                                        <p:cTn id="25" dur="500" fill="hold"/>
                                        <p:tgtEl>
                                          <p:spTgt spid="11264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2643">
                                            <p:txEl>
                                              <p:pRg st="4" end="4"/>
                                            </p:txEl>
                                          </p:spTgt>
                                        </p:tgtEl>
                                        <p:attrNameLst>
                                          <p:attrName>style.visibility</p:attrName>
                                        </p:attrNameLst>
                                      </p:cBhvr>
                                      <p:to>
                                        <p:strVal val="visible"/>
                                      </p:to>
                                    </p:set>
                                    <p:anim calcmode="lin" valueType="num">
                                      <p:cBhvr additive="base">
                                        <p:cTn id="31" dur="500" fill="hold"/>
                                        <p:tgtEl>
                                          <p:spTgt spid="11264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6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2643">
                                            <p:txEl>
                                              <p:pRg st="5" end="5"/>
                                            </p:txEl>
                                          </p:spTgt>
                                        </p:tgtEl>
                                        <p:attrNameLst>
                                          <p:attrName>style.visibility</p:attrName>
                                        </p:attrNameLst>
                                      </p:cBhvr>
                                      <p:to>
                                        <p:strVal val="visible"/>
                                      </p:to>
                                    </p:set>
                                    <p:anim calcmode="lin" valueType="num">
                                      <p:cBhvr additive="base">
                                        <p:cTn id="37" dur="500" fill="hold"/>
                                        <p:tgtEl>
                                          <p:spTgt spid="11264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264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bldLvl="5"/>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7" name="Rectangle 3"/>
          <p:cNvSpPr>
            <a:spLocks noGrp="1" noChangeArrowheads="1"/>
          </p:cNvSpPr>
          <p:nvPr>
            <p:ph idx="1"/>
          </p:nvPr>
        </p:nvSpPr>
        <p:spPr>
          <a:xfrm>
            <a:off x="1826049" y="1700213"/>
            <a:ext cx="9751483" cy="4114800"/>
          </a:xfrm>
        </p:spPr>
        <p:txBody>
          <a:bodyPr/>
          <a:lstStyle/>
          <a:p>
            <a:pPr eaLnBrk="1" hangingPunct="1">
              <a:lnSpc>
                <a:spcPct val="150000"/>
              </a:lnSpc>
            </a:pPr>
            <a:r>
              <a:rPr lang="zh-CN" altLang="en-US">
                <a:latin typeface="宋体" panose="02010600030101010101" pitchFamily="2" charset="-122"/>
              </a:rPr>
              <a:t>客观评价</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处理和分析系统中输入和输出的图像信号，</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提取图像特征参量作为研究分析对象，</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比较特征参量，以此反映图像间的差别</a:t>
            </a:r>
            <a:r>
              <a:rPr lang="zh-CN" altLang="en-US"/>
              <a:t> 。</a:t>
            </a:r>
          </a:p>
        </p:txBody>
      </p:sp>
      <p:sp>
        <p:nvSpPr>
          <p:cNvPr id="27655" name="Rectangle 8"/>
          <p:cNvSpPr>
            <a:spLocks noChangeArrowheads="1"/>
          </p:cNvSpPr>
          <p:nvPr/>
        </p:nvSpPr>
        <p:spPr bwMode="auto">
          <a:xfrm>
            <a:off x="0" y="-1196340"/>
            <a:ext cx="309880" cy="106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p>
            <a:endParaRPr lang="zh-CN" altLang="en-US" sz="100"/>
          </a:p>
        </p:txBody>
      </p:sp>
      <p:sp>
        <p:nvSpPr>
          <p:cNvPr id="2" name="矩形 1"/>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图像的质量评价——客观评价方法</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 calcmode="lin" valueType="num">
                                      <p:cBhvr additive="base">
                                        <p:cTn id="7" dur="500" fill="hold"/>
                                        <p:tgtEl>
                                          <p:spTgt spid="1136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36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3667">
                                            <p:txEl>
                                              <p:pRg st="1" end="1"/>
                                            </p:txEl>
                                          </p:spTgt>
                                        </p:tgtEl>
                                        <p:attrNameLst>
                                          <p:attrName>style.visibility</p:attrName>
                                        </p:attrNameLst>
                                      </p:cBhvr>
                                      <p:to>
                                        <p:strVal val="visible"/>
                                      </p:to>
                                    </p:set>
                                    <p:anim calcmode="lin" valueType="num">
                                      <p:cBhvr additive="base">
                                        <p:cTn id="13" dur="500" fill="hold"/>
                                        <p:tgtEl>
                                          <p:spTgt spid="1136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36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3667">
                                            <p:txEl>
                                              <p:pRg st="2" end="2"/>
                                            </p:txEl>
                                          </p:spTgt>
                                        </p:tgtEl>
                                        <p:attrNameLst>
                                          <p:attrName>style.visibility</p:attrName>
                                        </p:attrNameLst>
                                      </p:cBhvr>
                                      <p:to>
                                        <p:strVal val="visible"/>
                                      </p:to>
                                    </p:set>
                                    <p:anim calcmode="lin" valueType="num">
                                      <p:cBhvr additive="base">
                                        <p:cTn id="19" dur="500" fill="hold"/>
                                        <p:tgtEl>
                                          <p:spTgt spid="1136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36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3667">
                                            <p:txEl>
                                              <p:pRg st="3" end="3"/>
                                            </p:txEl>
                                          </p:spTgt>
                                        </p:tgtEl>
                                        <p:attrNameLst>
                                          <p:attrName>style.visibility</p:attrName>
                                        </p:attrNameLst>
                                      </p:cBhvr>
                                      <p:to>
                                        <p:strVal val="visible"/>
                                      </p:to>
                                    </p:set>
                                    <p:anim calcmode="lin" valueType="num">
                                      <p:cBhvr additive="base">
                                        <p:cTn id="25" dur="500" fill="hold"/>
                                        <p:tgtEl>
                                          <p:spTgt spid="1136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366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bldLvl="5"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3667" name="Rectangle 3"/>
              <p:cNvSpPr>
                <a:spLocks noGrp="1" noChangeArrowheads="1"/>
              </p:cNvSpPr>
              <p:nvPr>
                <p:ph idx="1"/>
              </p:nvPr>
            </p:nvSpPr>
            <p:spPr>
              <a:xfrm>
                <a:off x="1847639" y="1556703"/>
                <a:ext cx="9751483" cy="4114800"/>
              </a:xfrm>
            </p:spPr>
            <p:txBody>
              <a:bodyPr/>
              <a:lstStyle/>
              <a:p>
                <a:pPr eaLnBrk="1" hangingPunct="1">
                  <a:lnSpc>
                    <a:spcPct val="150000"/>
                  </a:lnSpc>
                </a:pPr>
                <a:r>
                  <a:rPr lang="zh-CN" altLang="en-US" dirty="0"/>
                  <a:t>常用客观评价方法</a:t>
                </a:r>
              </a:p>
              <a:p>
                <a:pPr lvl="1" eaLnBrk="1" hangingPunct="1">
                  <a:lnSpc>
                    <a:spcPct val="150000"/>
                  </a:lnSpc>
                </a:pPr>
                <a:r>
                  <a:rPr lang="zh-CN" altLang="en-US" dirty="0">
                    <a:latin typeface="宋体" panose="02010600030101010101" pitchFamily="2" charset="-122"/>
                  </a:rPr>
                  <a:t>均方误差（</a:t>
                </a:r>
                <a:r>
                  <a:rPr lang="en-US" altLang="zh-CN" dirty="0"/>
                  <a:t>MSE</a:t>
                </a:r>
                <a:r>
                  <a:rPr lang="zh-CN" altLang="en-US" dirty="0"/>
                  <a:t>，</a:t>
                </a:r>
                <a:r>
                  <a:rPr lang="en-US" altLang="zh-CN" dirty="0"/>
                  <a:t>Mean </a:t>
                </a:r>
                <a:r>
                  <a:rPr lang="en-US" altLang="zh-CN"/>
                  <a:t>Square Error</a:t>
                </a:r>
                <a:r>
                  <a:rPr lang="en-US" altLang="zh-CN">
                    <a:latin typeface="宋体" panose="02010600030101010101" pitchFamily="2" charset="-122"/>
                  </a:rPr>
                  <a:t>）</a:t>
                </a:r>
                <a:endParaRPr lang="en-US" altLang="zh-CN" dirty="0">
                  <a:latin typeface="宋体" panose="02010600030101010101" pitchFamily="2" charset="-122"/>
                </a:endParaRPr>
              </a:p>
              <a:p>
                <a:pPr lvl="2" eaLnBrk="1" hangingPunct="1">
                  <a:lnSpc>
                    <a:spcPct val="150000"/>
                  </a:lnSpc>
                </a:pPr>
                <a14:m>
                  <m:oMath xmlns:m="http://schemas.openxmlformats.org/officeDocument/2006/math">
                    <m:r>
                      <a:rPr lang="en-US" altLang="zh-CN" i="1">
                        <a:latin typeface="Cambria Math" panose="02040503050406030204" pitchFamily="18" charset="0"/>
                      </a:rPr>
                      <m:t>𝑀𝑆𝐸</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b="0" i="1" smtClean="0">
                            <a:latin typeface="Cambria Math" panose="02040503050406030204" pitchFamily="18" charset="0"/>
                          </a:rPr>
                          <m:t>𝑁</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𝑀</m:t>
                        </m:r>
                      </m:den>
                    </m:f>
                    <m:nary>
                      <m:naryPr>
                        <m:chr m:val="∑"/>
                        <m:limLoc m:val="subSup"/>
                        <m:ctrlPr>
                          <a:rPr lang="en-US" altLang="zh-CN" i="1">
                            <a:latin typeface="Cambria Math" panose="02040503050406030204" pitchFamily="18" charset="0"/>
                          </a:rPr>
                        </m:ctrlPr>
                      </m:naryPr>
                      <m:sub>
                        <m:r>
                          <m:rPr>
                            <m:brk m:alnAt="25"/>
                          </m:rPr>
                          <a:rPr lang="en-US" altLang="zh-CN" i="1">
                            <a:latin typeface="Cambria Math" panose="02040503050406030204" pitchFamily="18" charset="0"/>
                          </a:rPr>
                          <m:t>𝑖</m:t>
                        </m:r>
                        <m:r>
                          <a:rPr lang="en-US" altLang="zh-CN" i="1">
                            <a:latin typeface="Cambria Math" panose="02040503050406030204" pitchFamily="18" charset="0"/>
                          </a:rPr>
                          <m:t>=0</m:t>
                        </m:r>
                      </m:sub>
                      <m:sup>
                        <m:r>
                          <a:rPr lang="en-US" altLang="zh-CN" b="0" i="1" smtClean="0">
                            <a:latin typeface="Cambria Math" panose="02040503050406030204" pitchFamily="18" charset="0"/>
                          </a:rPr>
                          <m:t>𝑁</m:t>
                        </m:r>
                        <m:r>
                          <a:rPr lang="en-US" altLang="zh-CN" b="0" i="1" smtClean="0">
                            <a:latin typeface="Cambria Math" panose="02040503050406030204" pitchFamily="18" charset="0"/>
                          </a:rPr>
                          <m:t>−1</m:t>
                        </m:r>
                      </m:sup>
                      <m:e>
                        <m:nary>
                          <m:naryPr>
                            <m:chr m:val="∑"/>
                            <m:limLoc m:val="subSup"/>
                            <m:ctrlPr>
                              <a:rPr lang="en-US" altLang="zh-CN" i="1">
                                <a:latin typeface="Cambria Math" panose="02040503050406030204" pitchFamily="18" charset="0"/>
                              </a:rPr>
                            </m:ctrlPr>
                          </m:naryPr>
                          <m:sub>
                            <m:r>
                              <m:rPr>
                                <m:brk m:alnAt="25"/>
                              </m:rPr>
                              <a:rPr lang="en-US" altLang="zh-CN" i="1">
                                <a:latin typeface="Cambria Math" panose="02040503050406030204" pitchFamily="18" charset="0"/>
                              </a:rPr>
                              <m:t>𝑗</m:t>
                            </m:r>
                            <m:r>
                              <a:rPr lang="en-US" altLang="zh-CN" i="1">
                                <a:latin typeface="Cambria Math" panose="02040503050406030204" pitchFamily="18" charset="0"/>
                              </a:rPr>
                              <m:t>=0</m:t>
                            </m:r>
                          </m:sub>
                          <m:sup>
                            <m:r>
                              <a:rPr lang="en-US" altLang="zh-CN" i="1">
                                <a:latin typeface="Cambria Math" panose="02040503050406030204" pitchFamily="18" charset="0"/>
                              </a:rPr>
                              <m:t>𝑀</m:t>
                            </m:r>
                            <m:r>
                              <a:rPr lang="en-US" altLang="zh-CN" i="1">
                                <a:latin typeface="Cambria Math" panose="02040503050406030204" pitchFamily="18" charset="0"/>
                              </a:rPr>
                              <m:t>−1</m:t>
                            </m:r>
                          </m:sup>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𝑥</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r>
                                      <a:rPr lang="en-US" altLang="zh-CN" i="1">
                                        <a:latin typeface="Cambria Math" panose="02040503050406030204" pitchFamily="18" charset="0"/>
                                      </a:rPr>
                                      <m:t>𝑦</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e>
                                </m:d>
                              </m:e>
                              <m:sup>
                                <m:r>
                                  <a:rPr lang="en-US" altLang="zh-CN" i="1">
                                    <a:latin typeface="Cambria Math" panose="02040503050406030204" pitchFamily="18" charset="0"/>
                                  </a:rPr>
                                  <m:t>2</m:t>
                                </m:r>
                              </m:sup>
                            </m:sSup>
                          </m:e>
                        </m:nary>
                      </m:e>
                    </m:nary>
                  </m:oMath>
                </a14:m>
                <a:endParaRPr lang="en-US" altLang="zh-CN" dirty="0">
                  <a:latin typeface="宋体" panose="02010600030101010101" pitchFamily="2" charset="-122"/>
                </a:endParaRPr>
              </a:p>
              <a:p>
                <a:pPr lvl="1" eaLnBrk="1" hangingPunct="1">
                  <a:lnSpc>
                    <a:spcPct val="150000"/>
                  </a:lnSpc>
                </a:pPr>
                <a:r>
                  <a:rPr lang="zh-CN" altLang="en-US" dirty="0">
                    <a:latin typeface="宋体" panose="02010600030101010101" pitchFamily="2" charset="-122"/>
                  </a:rPr>
                  <a:t>平均绝对误差（</a:t>
                </a:r>
                <a:r>
                  <a:rPr lang="en-US" altLang="zh-CN" dirty="0"/>
                  <a:t>MAE, Mean Absolute Error</a:t>
                </a:r>
                <a:r>
                  <a:rPr lang="en-US" altLang="zh-CN" dirty="0">
                    <a:latin typeface="宋体" panose="02010600030101010101" pitchFamily="2" charset="-122"/>
                  </a:rPr>
                  <a:t>）</a:t>
                </a:r>
              </a:p>
              <a:p>
                <a:pPr lvl="2" eaLnBrk="1" hangingPunct="1">
                  <a:lnSpc>
                    <a:spcPct val="150000"/>
                  </a:lnSpc>
                </a:pPr>
                <a14:m>
                  <m:oMath xmlns:m="http://schemas.openxmlformats.org/officeDocument/2006/math">
                    <m:r>
                      <a:rPr lang="en-US" altLang="zh-CN" i="1">
                        <a:latin typeface="Cambria Math" panose="02040503050406030204" pitchFamily="18" charset="0"/>
                      </a:rPr>
                      <m:t>𝑀</m:t>
                    </m:r>
                    <m:r>
                      <a:rPr lang="en-US" altLang="zh-CN" b="0" i="1" smtClean="0">
                        <a:latin typeface="Cambria Math" panose="02040503050406030204" pitchFamily="18" charset="0"/>
                      </a:rPr>
                      <m:t>𝐴</m:t>
                    </m:r>
                    <m:r>
                      <a:rPr lang="en-US" altLang="zh-CN" i="1">
                        <a:latin typeface="Cambria Math" panose="02040503050406030204" pitchFamily="18" charset="0"/>
                      </a:rPr>
                      <m:t>𝐸</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𝑁</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𝑀</m:t>
                        </m:r>
                      </m:den>
                    </m:f>
                    <m:nary>
                      <m:naryPr>
                        <m:chr m:val="∑"/>
                        <m:limLoc m:val="subSup"/>
                        <m:ctrlPr>
                          <a:rPr lang="en-US" altLang="zh-CN" i="1">
                            <a:latin typeface="Cambria Math" panose="02040503050406030204" pitchFamily="18" charset="0"/>
                          </a:rPr>
                        </m:ctrlPr>
                      </m:naryPr>
                      <m:sub>
                        <m:r>
                          <m:rPr>
                            <m:brk m:alnAt="25"/>
                          </m:rPr>
                          <a:rPr lang="en-US" altLang="zh-CN" i="1">
                            <a:latin typeface="Cambria Math" panose="02040503050406030204" pitchFamily="18" charset="0"/>
                          </a:rPr>
                          <m:t>𝑖</m:t>
                        </m:r>
                        <m:r>
                          <a:rPr lang="en-US" altLang="zh-CN" i="1">
                            <a:latin typeface="Cambria Math" panose="02040503050406030204" pitchFamily="18" charset="0"/>
                          </a:rPr>
                          <m:t>=0</m:t>
                        </m:r>
                      </m:sub>
                      <m:sup>
                        <m:r>
                          <a:rPr lang="en-US" altLang="zh-CN" i="1">
                            <a:latin typeface="Cambria Math" panose="02040503050406030204" pitchFamily="18" charset="0"/>
                          </a:rPr>
                          <m:t>𝑁</m:t>
                        </m:r>
                        <m:r>
                          <a:rPr lang="en-US" altLang="zh-CN" i="1">
                            <a:latin typeface="Cambria Math" panose="02040503050406030204" pitchFamily="18" charset="0"/>
                          </a:rPr>
                          <m:t>−1</m:t>
                        </m:r>
                      </m:sup>
                      <m:e>
                        <m:nary>
                          <m:naryPr>
                            <m:chr m:val="∑"/>
                            <m:limLoc m:val="subSup"/>
                            <m:ctrlPr>
                              <a:rPr lang="en-US" altLang="zh-CN" i="1">
                                <a:latin typeface="Cambria Math" panose="02040503050406030204" pitchFamily="18" charset="0"/>
                              </a:rPr>
                            </m:ctrlPr>
                          </m:naryPr>
                          <m:sub>
                            <m:r>
                              <m:rPr>
                                <m:brk m:alnAt="25"/>
                              </m:rPr>
                              <a:rPr lang="en-US" altLang="zh-CN" i="1">
                                <a:latin typeface="Cambria Math" panose="02040503050406030204" pitchFamily="18" charset="0"/>
                              </a:rPr>
                              <m:t>𝑗</m:t>
                            </m:r>
                            <m:r>
                              <a:rPr lang="en-US" altLang="zh-CN" i="1">
                                <a:latin typeface="Cambria Math" panose="02040503050406030204" pitchFamily="18" charset="0"/>
                              </a:rPr>
                              <m:t>=0</m:t>
                            </m:r>
                          </m:sub>
                          <m:sup>
                            <m:r>
                              <a:rPr lang="en-US" altLang="zh-CN" i="1">
                                <a:latin typeface="Cambria Math" panose="02040503050406030204" pitchFamily="18" charset="0"/>
                              </a:rPr>
                              <m:t>𝑀</m:t>
                            </m:r>
                            <m:r>
                              <a:rPr lang="en-US" altLang="zh-CN" i="1">
                                <a:latin typeface="Cambria Math" panose="02040503050406030204" pitchFamily="18" charset="0"/>
                              </a:rPr>
                              <m:t>−1</m:t>
                            </m:r>
                          </m:sup>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i="1">
                                    <a:latin typeface="Cambria Math" panose="02040503050406030204" pitchFamily="18" charset="0"/>
                                  </a:rPr>
                                  <m:t>−</m:t>
                                </m:r>
                                <m:r>
                                  <a:rPr lang="en-US" altLang="zh-CN" i="1">
                                    <a:latin typeface="Cambria Math" panose="02040503050406030204" pitchFamily="18" charset="0"/>
                                  </a:rPr>
                                  <m:t>𝑦</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e>
                            </m:d>
                          </m:e>
                        </m:nary>
                      </m:e>
                    </m:nary>
                  </m:oMath>
                </a14:m>
                <a:endParaRPr lang="zh-CN" altLang="en-US" dirty="0"/>
              </a:p>
            </p:txBody>
          </p:sp>
        </mc:Choice>
        <mc:Fallback xmlns="">
          <p:sp>
            <p:nvSpPr>
              <p:cNvPr id="113667" name="Rectangle 3"/>
              <p:cNvSpPr>
                <a:spLocks noRot="1" noChangeAspect="1" noMove="1" noResize="1" noEditPoints="1" noAdjustHandles="1" noChangeArrowheads="1" noChangeShapeType="1" noTextEdit="1"/>
              </p:cNvSpPr>
              <p:nvPr>
                <p:ph idx="1"/>
              </p:nvPr>
            </p:nvSpPr>
            <p:spPr>
              <a:xfrm>
                <a:off x="1847639" y="1556703"/>
                <a:ext cx="9751483" cy="4114800"/>
              </a:xfrm>
              <a:blipFill rotWithShape="1">
                <a:blip r:embed="rId3"/>
                <a:stretch>
                  <a:fillRect l="-4" t="-8" r="2" b="8"/>
                </a:stretch>
              </a:blipFill>
            </p:spPr>
            <p:txBody>
              <a:bodyPr/>
              <a:lstStyle/>
              <a:p>
                <a:r>
                  <a:rPr lang="zh-CN" altLang="en-US">
                    <a:noFill/>
                  </a:rPr>
                  <a:t> </a:t>
                </a:r>
              </a:p>
            </p:txBody>
          </p:sp>
        </mc:Fallback>
      </mc:AlternateContent>
      <p:sp>
        <p:nvSpPr>
          <p:cNvPr id="28679" name="Rectangle 8"/>
          <p:cNvSpPr>
            <a:spLocks noChangeArrowheads="1"/>
          </p:cNvSpPr>
          <p:nvPr/>
        </p:nvSpPr>
        <p:spPr bwMode="auto">
          <a:xfrm>
            <a:off x="0" y="-1196340"/>
            <a:ext cx="309880" cy="106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p>
            <a:endParaRPr lang="zh-CN" altLang="en-US" sz="100"/>
          </a:p>
        </p:txBody>
      </p:sp>
      <p:sp>
        <p:nvSpPr>
          <p:cNvPr id="2" name="矩形 1"/>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图像的质量评价——客观评价方法</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 calcmode="lin" valueType="num">
                                      <p:cBhvr additive="base">
                                        <p:cTn id="7" dur="500" fill="hold"/>
                                        <p:tgtEl>
                                          <p:spTgt spid="1136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36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3667">
                                            <p:txEl>
                                              <p:pRg st="1" end="1"/>
                                            </p:txEl>
                                          </p:spTgt>
                                        </p:tgtEl>
                                        <p:attrNameLst>
                                          <p:attrName>style.visibility</p:attrName>
                                        </p:attrNameLst>
                                      </p:cBhvr>
                                      <p:to>
                                        <p:strVal val="visible"/>
                                      </p:to>
                                    </p:set>
                                    <p:anim calcmode="lin" valueType="num">
                                      <p:cBhvr additive="base">
                                        <p:cTn id="13" dur="500" fill="hold"/>
                                        <p:tgtEl>
                                          <p:spTgt spid="1136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36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3667">
                                            <p:txEl>
                                              <p:pRg st="2" end="2"/>
                                            </p:txEl>
                                          </p:spTgt>
                                        </p:tgtEl>
                                        <p:attrNameLst>
                                          <p:attrName>style.visibility</p:attrName>
                                        </p:attrNameLst>
                                      </p:cBhvr>
                                      <p:to>
                                        <p:strVal val="visible"/>
                                      </p:to>
                                    </p:set>
                                    <p:anim calcmode="lin" valueType="num">
                                      <p:cBhvr additive="base">
                                        <p:cTn id="19" dur="500" fill="hold"/>
                                        <p:tgtEl>
                                          <p:spTgt spid="1136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36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3667">
                                            <p:txEl>
                                              <p:pRg st="3" end="3"/>
                                            </p:txEl>
                                          </p:spTgt>
                                        </p:tgtEl>
                                        <p:attrNameLst>
                                          <p:attrName>style.visibility</p:attrName>
                                        </p:attrNameLst>
                                      </p:cBhvr>
                                      <p:to>
                                        <p:strVal val="visible"/>
                                      </p:to>
                                    </p:set>
                                    <p:anim calcmode="lin" valueType="num">
                                      <p:cBhvr additive="base">
                                        <p:cTn id="25" dur="500" fill="hold"/>
                                        <p:tgtEl>
                                          <p:spTgt spid="11366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36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3667">
                                            <p:txEl>
                                              <p:pRg st="4" end="4"/>
                                            </p:txEl>
                                          </p:spTgt>
                                        </p:tgtEl>
                                        <p:attrNameLst>
                                          <p:attrName>style.visibility</p:attrName>
                                        </p:attrNameLst>
                                      </p:cBhvr>
                                      <p:to>
                                        <p:strVal val="visible"/>
                                      </p:to>
                                    </p:set>
                                    <p:anim calcmode="lin" valueType="num">
                                      <p:cBhvr additive="base">
                                        <p:cTn id="31" dur="500" fill="hold"/>
                                        <p:tgtEl>
                                          <p:spTgt spid="11366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366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bldLvl="5"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3667" name="Rectangle 3"/>
              <p:cNvSpPr>
                <a:spLocks noGrp="1" noChangeArrowheads="1"/>
              </p:cNvSpPr>
              <p:nvPr>
                <p:ph idx="1"/>
              </p:nvPr>
            </p:nvSpPr>
            <p:spPr/>
            <p:txBody>
              <a:bodyPr/>
              <a:lstStyle/>
              <a:p>
                <a:pPr eaLnBrk="1" hangingPunct="1">
                  <a:lnSpc>
                    <a:spcPct val="150000"/>
                  </a:lnSpc>
                </a:pPr>
                <a:r>
                  <a:rPr lang="zh-CN" altLang="en-US" dirty="0"/>
                  <a:t>常用客观评价方法</a:t>
                </a:r>
              </a:p>
              <a:p>
                <a:pPr lvl="1" eaLnBrk="1" hangingPunct="1">
                  <a:lnSpc>
                    <a:spcPct val="150000"/>
                  </a:lnSpc>
                </a:pPr>
                <a:r>
                  <a:rPr lang="zh-CN" altLang="en-US" dirty="0">
                    <a:latin typeface="宋体" panose="02010600030101010101" pitchFamily="2" charset="-122"/>
                  </a:rPr>
                  <a:t>峰值信噪比（</a:t>
                </a:r>
                <a:r>
                  <a:rPr lang="en-US" altLang="zh-CN" dirty="0"/>
                  <a:t>PSNR, Peak Signal to Noise Ratio</a:t>
                </a:r>
                <a:r>
                  <a:rPr lang="en-US" altLang="zh-CN" dirty="0">
                    <a:latin typeface="宋体" panose="02010600030101010101" pitchFamily="2" charset="-122"/>
                  </a:rPr>
                  <a:t>）</a:t>
                </a:r>
              </a:p>
              <a:p>
                <a:pPr lvl="2" eaLnBrk="1" hangingPunct="1">
                  <a:lnSpc>
                    <a:spcPct val="150000"/>
                  </a:lnSpc>
                </a:pPr>
                <a14:m>
                  <m:oMath xmlns:m="http://schemas.openxmlformats.org/officeDocument/2006/math">
                    <m:r>
                      <a:rPr lang="en-US" altLang="zh-CN" i="1">
                        <a:latin typeface="Cambria Math" panose="02040503050406030204" pitchFamily="18" charset="0"/>
                      </a:rPr>
                      <m:t>𝑃𝑆𝑁𝑅</m:t>
                    </m:r>
                    <m:r>
                      <a:rPr lang="en-US" altLang="zh-CN" i="1">
                        <a:latin typeface="Cambria Math" panose="02040503050406030204" pitchFamily="18" charset="0"/>
                      </a:rPr>
                      <m:t>=10</m:t>
                    </m:r>
                    <m:r>
                      <a:rPr lang="en-US" altLang="zh-CN" i="1">
                        <a:latin typeface="Cambria Math" panose="02040503050406030204" pitchFamily="18" charset="0"/>
                      </a:rPr>
                      <m:t>𝑙𝑔</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𝑀𝑎𝑥</m:t>
                                </m:r>
                              </m:sub>
                              <m:sup>
                                <m:r>
                                  <a:rPr lang="en-US" altLang="zh-CN" i="1">
                                    <a:latin typeface="Cambria Math" panose="02040503050406030204" pitchFamily="18" charset="0"/>
                                  </a:rPr>
                                  <m:t>2</m:t>
                                </m:r>
                              </m:sup>
                            </m:sSubSup>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num>
                          <m:den>
                            <m:r>
                              <a:rPr lang="en-US" altLang="zh-CN" i="1">
                                <a:latin typeface="Cambria Math" panose="02040503050406030204" pitchFamily="18" charset="0"/>
                              </a:rPr>
                              <m:t>𝑀𝑆𝐸</m:t>
                            </m:r>
                          </m:den>
                        </m:f>
                      </m:e>
                    </m:d>
                  </m:oMath>
                </a14:m>
                <a:r>
                  <a:rPr lang="en-US" altLang="zh-CN" dirty="0"/>
                  <a:t> </a:t>
                </a:r>
                <a:endParaRPr lang="zh-CN" altLang="en-US" dirty="0"/>
              </a:p>
            </p:txBody>
          </p:sp>
        </mc:Choice>
        <mc:Fallback xmlns="">
          <p:sp>
            <p:nvSpPr>
              <p:cNvPr id="113667" name="Rectangle 3"/>
              <p:cNvSpPr>
                <a:spLocks noRot="1" noChangeAspect="1" noMove="1" noResize="1" noEditPoints="1" noAdjustHandles="1" noChangeArrowheads="1" noChangeShapeType="1" noTextEdit="1"/>
              </p:cNvSpPr>
              <p:nvPr>
                <p:ph idx="1"/>
              </p:nvPr>
            </p:nvSpPr>
            <p:spPr>
              <a:blipFill rotWithShape="1">
                <a:blip r:embed="rId3"/>
                <a:stretch>
                  <a:fillRect l="-4" t="-8" r="2" b="8"/>
                </a:stretch>
              </a:blipFill>
            </p:spPr>
            <p:txBody>
              <a:bodyPr/>
              <a:lstStyle/>
              <a:p>
                <a:r>
                  <a:rPr lang="zh-CN" altLang="en-US">
                    <a:noFill/>
                  </a:rPr>
                  <a:t> </a:t>
                </a:r>
              </a:p>
            </p:txBody>
          </p:sp>
        </mc:Fallback>
      </mc:AlternateContent>
      <p:sp>
        <p:nvSpPr>
          <p:cNvPr id="28679" name="Rectangle 8"/>
          <p:cNvSpPr>
            <a:spLocks noChangeArrowheads="1"/>
          </p:cNvSpPr>
          <p:nvPr/>
        </p:nvSpPr>
        <p:spPr bwMode="auto">
          <a:xfrm>
            <a:off x="0" y="-1196340"/>
            <a:ext cx="309880" cy="106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p>
            <a:endParaRPr lang="zh-CN" altLang="en-US" sz="100"/>
          </a:p>
        </p:txBody>
      </p:sp>
      <p:sp>
        <p:nvSpPr>
          <p:cNvPr id="2" name="矩形 1"/>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图像的质量评价——客观评价方法</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 calcmode="lin" valueType="num">
                                      <p:cBhvr additive="base">
                                        <p:cTn id="7" dur="500" fill="hold"/>
                                        <p:tgtEl>
                                          <p:spTgt spid="1136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36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3667">
                                            <p:txEl>
                                              <p:pRg st="1" end="1"/>
                                            </p:txEl>
                                          </p:spTgt>
                                        </p:tgtEl>
                                        <p:attrNameLst>
                                          <p:attrName>style.visibility</p:attrName>
                                        </p:attrNameLst>
                                      </p:cBhvr>
                                      <p:to>
                                        <p:strVal val="visible"/>
                                      </p:to>
                                    </p:set>
                                    <p:anim calcmode="lin" valueType="num">
                                      <p:cBhvr additive="base">
                                        <p:cTn id="13" dur="500" fill="hold"/>
                                        <p:tgtEl>
                                          <p:spTgt spid="1136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36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3667">
                                            <p:txEl>
                                              <p:pRg st="2" end="2"/>
                                            </p:txEl>
                                          </p:spTgt>
                                        </p:tgtEl>
                                        <p:attrNameLst>
                                          <p:attrName>style.visibility</p:attrName>
                                        </p:attrNameLst>
                                      </p:cBhvr>
                                      <p:to>
                                        <p:strVal val="visible"/>
                                      </p:to>
                                    </p:set>
                                    <p:anim calcmode="lin" valueType="num">
                                      <p:cBhvr additive="base">
                                        <p:cTn id="19" dur="500" fill="hold"/>
                                        <p:tgtEl>
                                          <p:spTgt spid="1136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366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bldLvl="5"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826049" y="1484313"/>
                <a:ext cx="9751483" cy="4114800"/>
              </a:xfrm>
            </p:spPr>
            <p:txBody>
              <a:bodyPr/>
              <a:lstStyle/>
              <a:p>
                <a:r>
                  <a:rPr lang="zh-CN" altLang="en-US" dirty="0"/>
                  <a:t>案例三：图像质量客观指标</a:t>
                </a:r>
                <a:r>
                  <a:rPr lang="en-US" altLang="zh-CN" dirty="0"/>
                  <a:t>PSNR</a:t>
                </a:r>
                <a:r>
                  <a:rPr lang="zh-CN" altLang="en-US" dirty="0"/>
                  <a:t>的计算</a:t>
                </a:r>
                <a:endParaRPr lang="en-US" altLang="zh-CN" dirty="0"/>
              </a:p>
              <a:p>
                <a:pPr lvl="1"/>
                <a:r>
                  <a:rPr lang="zh-CN" altLang="en-US" dirty="0"/>
                  <a:t>已知原始图像部分像素值如下：</a:t>
                </a:r>
                <a:endParaRPr lang="en-US" altLang="zh-CN" dirty="0"/>
              </a:p>
              <a:p>
                <a:pPr lvl="1"/>
                <a14:m>
                  <m:oMath xmlns:m="http://schemas.openxmlformats.org/officeDocument/2006/math">
                    <m:r>
                      <a:rPr lang="en-US" altLang="zh-CN" b="0" i="1" smtClean="0">
                        <a:latin typeface="Cambria Math" panose="02040503050406030204" pitchFamily="18" charset="0"/>
                      </a:rPr>
                      <m:t>𝑥</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oMath>
                </a14:m>
                <a:r>
                  <a:rPr lang="en-US" altLang="zh-CN" dirty="0"/>
                  <a:t>:10, 12, 14,</a:t>
                </a:r>
              </a:p>
              <a:p>
                <a:pPr lvl="1"/>
                <a:r>
                  <a:rPr lang="en-US" altLang="zh-CN" dirty="0"/>
                  <a:t>        8, 6, 8</a:t>
                </a:r>
              </a:p>
              <a:p>
                <a:pPr lvl="1"/>
                <a:r>
                  <a:rPr lang="zh-CN" altLang="en-US" dirty="0"/>
                  <a:t>隐藏信息后，该图像相应像素值变化为：</a:t>
                </a:r>
                <a:endParaRPr lang="en-US" altLang="zh-CN" dirty="0"/>
              </a:p>
              <a:p>
                <a:pPr lvl="1"/>
                <a14:m>
                  <m:oMath xmlns:m="http://schemas.openxmlformats.org/officeDocument/2006/math">
                    <m:r>
                      <m:rPr>
                        <m:sty m:val="p"/>
                      </m:rPr>
                      <a:rPr lang="en-US" altLang="zh-CN" i="1" dirty="0">
                        <a:latin typeface="Cambria Math" panose="02040503050406030204" pitchFamily="18" charset="0"/>
                      </a:rPr>
                      <m:t>y</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oMath>
                </a14:m>
                <a:r>
                  <a:rPr lang="en-US" altLang="zh-CN" dirty="0"/>
                  <a:t>:11, 11, 14,</a:t>
                </a:r>
              </a:p>
              <a:p>
                <a:pPr lvl="1"/>
                <a:r>
                  <a:rPr lang="en-US" altLang="zh-CN" dirty="0"/>
                  <a:t>         9, 8, 6</a:t>
                </a:r>
              </a:p>
              <a:p>
                <a:pPr lvl="1"/>
                <a:r>
                  <a:rPr lang="zh-CN" altLang="en-US" dirty="0"/>
                  <a:t>请计算这部份像素构成的子图的</a:t>
                </a:r>
                <a:r>
                  <a:rPr lang="en-US" altLang="zh-CN" dirty="0"/>
                  <a:t>PSNR</a:t>
                </a:r>
                <a:r>
                  <a:rPr lang="zh-CN" altLang="en-US" dirty="0"/>
                  <a:t>。</a:t>
                </a:r>
                <a:endParaRPr lang="en-US" altLang="zh-CN" dirty="0"/>
              </a:p>
              <a:p>
                <a:pPr lvl="1"/>
                <a:endParaRPr lang="en-US" altLang="zh-CN" dirty="0"/>
              </a:p>
              <a:p>
                <a:pPr lvl="1"/>
                <a:endParaRPr lang="zh-CN" altLang="en-US"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1826049" y="1484313"/>
                <a:ext cx="9751483" cy="4114800"/>
              </a:xfrm>
              <a:blipFill rotWithShape="1">
                <a:blip r:embed="rId2"/>
                <a:stretch>
                  <a:fillRect l="-4" t="-8" r="2" b="-11844"/>
                </a:stretch>
              </a:blipFill>
            </p:spPr>
            <p:txBody>
              <a:bodyPr/>
              <a:lstStyle/>
              <a:p>
                <a:r>
                  <a:rPr lang="zh-CN" altLang="en-US">
                    <a:noFill/>
                  </a:rPr>
                  <a:t> </a:t>
                </a:r>
              </a:p>
            </p:txBody>
          </p:sp>
        </mc:Fallback>
      </mc:AlternateContent>
      <p:sp>
        <p:nvSpPr>
          <p:cNvPr id="4" name="矩形 3"/>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图像的质量评价——客观评价方法</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826049" y="1700213"/>
                <a:ext cx="9751483" cy="4114800"/>
              </a:xfrm>
            </p:spPr>
            <p:txBody>
              <a:bodyPr/>
              <a:lstStyle/>
              <a:p>
                <a:r>
                  <a:rPr lang="zh-CN" altLang="en-US" dirty="0"/>
                  <a:t>案例三：图像质量客观指标</a:t>
                </a:r>
                <a:r>
                  <a:rPr lang="en-US" altLang="zh-CN" dirty="0"/>
                  <a:t>PSNR</a:t>
                </a:r>
                <a:r>
                  <a:rPr lang="zh-CN" altLang="en-US" dirty="0"/>
                  <a:t>的计算</a:t>
                </a:r>
                <a:endParaRPr lang="en-US" altLang="zh-CN" dirty="0"/>
              </a:p>
              <a:p>
                <a:pPr lvl="1"/>
                <a:r>
                  <a:rPr lang="zh-CN" altLang="en-US" dirty="0"/>
                  <a:t>解：首先计算均方误差，</a:t>
                </a:r>
                <a:r>
                  <a:rPr lang="en-US" altLang="zh-CN" dirty="0"/>
                  <a:t>MSE</a:t>
                </a:r>
                <a:r>
                  <a:rPr lang="zh-CN" altLang="en-US" dirty="0"/>
                  <a:t>，由公式得：</a:t>
                </a:r>
                <a:endParaRPr lang="en-US" altLang="zh-CN" dirty="0"/>
              </a:p>
              <a:p>
                <a:pPr lvl="1"/>
                <a14:m>
                  <m:oMath xmlns:m="http://schemas.openxmlformats.org/officeDocument/2006/math">
                    <m:r>
                      <a:rPr lang="en-US" altLang="zh-CN" b="0" i="1" smtClean="0">
                        <a:latin typeface="Cambria Math" panose="02040503050406030204" pitchFamily="18" charset="0"/>
                      </a:rPr>
                      <m:t>𝑀𝑆𝐸</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r>
                          <a:rPr lang="en-US" altLang="zh-CN" b="0" i="1" smtClean="0">
                            <a:latin typeface="Cambria Math" panose="02040503050406030204" pitchFamily="18" charset="0"/>
                            <a:ea typeface="Cambria Math" panose="02040503050406030204" pitchFamily="18" charset="0"/>
                          </a:rPr>
                          <m:t>×3</m:t>
                        </m:r>
                      </m:den>
                    </m:f>
                    <m:nary>
                      <m:naryPr>
                        <m:chr m:val="∑"/>
                        <m:limLoc m:val="subSup"/>
                        <m:ctrlPr>
                          <a:rPr lang="en-US" altLang="zh-CN" b="0" i="1" smtClean="0">
                            <a:latin typeface="Cambria Math" panose="02040503050406030204" pitchFamily="18" charset="0"/>
                          </a:rPr>
                        </m:ctrlPr>
                      </m:naryPr>
                      <m:sub>
                        <m:r>
                          <m:rPr>
                            <m:brk m:alnAt="25"/>
                          </m:rPr>
                          <a:rPr lang="en-US" altLang="zh-CN" b="0" i="1" smtClean="0">
                            <a:latin typeface="Cambria Math" panose="02040503050406030204" pitchFamily="18" charset="0"/>
                          </a:rPr>
                          <m:t>𝑖</m:t>
                        </m:r>
                        <m:r>
                          <a:rPr lang="en-US" altLang="zh-CN" b="0" i="1" smtClean="0">
                            <a:latin typeface="Cambria Math" panose="02040503050406030204" pitchFamily="18" charset="0"/>
                          </a:rPr>
                          <m:t>=0</m:t>
                        </m:r>
                      </m:sub>
                      <m:sup>
                        <m:r>
                          <a:rPr lang="en-US" altLang="zh-CN" b="0" i="1" smtClean="0">
                            <a:latin typeface="Cambria Math" panose="02040503050406030204" pitchFamily="18" charset="0"/>
                          </a:rPr>
                          <m:t>1</m:t>
                        </m:r>
                      </m:sup>
                      <m:e>
                        <m:sSup>
                          <m:sSupPr>
                            <m:ctrlPr>
                              <a:rPr lang="en-US" altLang="zh-CN" b="0" i="1" smtClean="0">
                                <a:latin typeface="Cambria Math" panose="02040503050406030204" pitchFamily="18" charset="0"/>
                              </a:rPr>
                            </m:ctrlPr>
                          </m:sSupPr>
                          <m:e>
                            <m:nary>
                              <m:naryPr>
                                <m:chr m:val="∑"/>
                                <m:limLoc m:val="subSup"/>
                                <m:ctrlPr>
                                  <a:rPr lang="en-US" altLang="zh-CN" b="0" i="1" smtClean="0">
                                    <a:latin typeface="Cambria Math" panose="02040503050406030204" pitchFamily="18" charset="0"/>
                                  </a:rPr>
                                </m:ctrlPr>
                              </m:naryPr>
                              <m:sub>
                                <m:r>
                                  <m:rPr>
                                    <m:brk m:alnAt="25"/>
                                  </m:rPr>
                                  <a:rPr lang="en-US" altLang="zh-CN" b="0" i="1" smtClean="0">
                                    <a:latin typeface="Cambria Math" panose="02040503050406030204" pitchFamily="18" charset="0"/>
                                  </a:rPr>
                                  <m:t>𝑗</m:t>
                                </m:r>
                                <m:r>
                                  <a:rPr lang="en-US" altLang="zh-CN" b="0" i="1" smtClean="0">
                                    <a:latin typeface="Cambria Math" panose="02040503050406030204" pitchFamily="18" charset="0"/>
                                  </a:rPr>
                                  <m:t>=0</m:t>
                                </m:r>
                              </m:sub>
                              <m:sup>
                                <m:r>
                                  <a:rPr lang="en-US" altLang="zh-CN" b="0" i="1" smtClean="0">
                                    <a:latin typeface="Cambria Math" panose="02040503050406030204" pitchFamily="18" charset="0"/>
                                  </a:rPr>
                                  <m:t>2</m:t>
                                </m:r>
                              </m:sup>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𝑦</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e>
                                </m:d>
                              </m:e>
                            </m:nary>
                          </m:e>
                          <m:sup>
                            <m:r>
                              <a:rPr lang="en-US" altLang="zh-CN" b="0" i="1" smtClean="0">
                                <a:latin typeface="Cambria Math" panose="02040503050406030204" pitchFamily="18" charset="0"/>
                              </a:rPr>
                              <m:t>2</m:t>
                            </m:r>
                          </m:sup>
                        </m:sSup>
                      </m:e>
                    </m:nary>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6</m:t>
                        </m:r>
                      </m:den>
                    </m:f>
                    <m:r>
                      <a:rPr lang="en-US" altLang="zh-CN"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rPr>
                        </m:ctrlPr>
                      </m:dPr>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11−12</m:t>
                                </m:r>
                              </m:e>
                            </m:d>
                          </m:e>
                          <m:sup>
                            <m:r>
                              <a:rPr lang="en-US" altLang="zh-CN" i="1">
                                <a:latin typeface="Cambria Math" panose="02040503050406030204" pitchFamily="18" charset="0"/>
                              </a:rPr>
                              <m:t>2</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r>
                                  <a:rPr lang="en-US" altLang="zh-CN" i="1">
                                    <a:latin typeface="Cambria Math" panose="02040503050406030204" pitchFamily="18" charset="0"/>
                                  </a:rPr>
                                  <m:t>6−8</m:t>
                                </m:r>
                              </m:e>
                            </m:d>
                          </m:e>
                          <m:sup>
                            <m:r>
                              <a:rPr lang="en-US" altLang="zh-CN" i="1">
                                <a:latin typeface="Cambria Math" panose="02040503050406030204" pitchFamily="18" charset="0"/>
                              </a:rPr>
                              <m:t>2</m:t>
                            </m:r>
                          </m:sup>
                        </m:sSup>
                      </m:e>
                    </m:d>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1.83</m:t>
                    </m:r>
                  </m:oMath>
                </a14:m>
                <a:endParaRPr lang="en-US" altLang="zh-CN" dirty="0"/>
              </a:p>
              <a:p>
                <a:pPr lvl="1"/>
                <a:r>
                  <a:rPr lang="zh-CN" altLang="en-US" dirty="0"/>
                  <a:t>再计算</a:t>
                </a:r>
                <a:r>
                  <a:rPr lang="en-US" altLang="zh-CN" dirty="0"/>
                  <a:t>PSNR</a:t>
                </a:r>
                <a:r>
                  <a:rPr lang="zh-CN" altLang="en-US" dirty="0"/>
                  <a:t>，以灰度图考虑，最大像素值为</a:t>
                </a:r>
                <a:r>
                  <a:rPr lang="en-US" altLang="zh-CN" dirty="0"/>
                  <a:t>255</a:t>
                </a:r>
                <a:r>
                  <a:rPr lang="zh-CN" altLang="en-US" dirty="0"/>
                  <a:t>，则：</a:t>
                </a:r>
                <a:endParaRPr lang="en-US" altLang="zh-CN" dirty="0"/>
              </a:p>
              <a:p>
                <a:pPr lvl="1"/>
                <a14:m>
                  <m:oMath xmlns:m="http://schemas.openxmlformats.org/officeDocument/2006/math">
                    <m:r>
                      <a:rPr lang="en-US" altLang="zh-CN" b="0" i="1" smtClean="0">
                        <a:latin typeface="Cambria Math" panose="02040503050406030204" pitchFamily="18" charset="0"/>
                      </a:rPr>
                      <m:t>𝑃𝑆𝑁𝑅</m:t>
                    </m:r>
                    <m:r>
                      <a:rPr lang="en-US" altLang="zh-CN" i="1">
                        <a:latin typeface="Cambria Math" panose="02040503050406030204" pitchFamily="18" charset="0"/>
                      </a:rPr>
                      <m:t>=10</m:t>
                    </m:r>
                    <m:r>
                      <a:rPr lang="en-US" altLang="zh-CN" i="1">
                        <a:latin typeface="Cambria Math" panose="02040503050406030204" pitchFamily="18" charset="0"/>
                      </a:rPr>
                      <m:t>𝑙𝑔</m:t>
                    </m:r>
                    <m:d>
                      <m:dPr>
                        <m:ctrlPr>
                          <a:rPr lang="en-US" altLang="zh-CN" i="1">
                            <a:latin typeface="Cambria Math" panose="02040503050406030204" pitchFamily="18" charset="0"/>
                          </a:rPr>
                        </m:ctrlPr>
                      </m:dPr>
                      <m:e>
                        <m:f>
                          <m:fPr>
                            <m:ctrlPr>
                              <a:rPr lang="en-US" altLang="zh-CN" i="1" smtClean="0">
                                <a:latin typeface="Cambria Math" panose="02040503050406030204" pitchFamily="18" charset="0"/>
                              </a:rPr>
                            </m:ctrlPr>
                          </m:fPr>
                          <m:num>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𝑀𝑎𝑥</m:t>
                                </m:r>
                              </m:sub>
                              <m:sup>
                                <m:r>
                                  <a:rPr lang="en-US" altLang="zh-CN" b="0" i="1" smtClean="0">
                                    <a:latin typeface="Cambria Math" panose="02040503050406030204" pitchFamily="18" charset="0"/>
                                  </a:rPr>
                                  <m:t>2</m:t>
                                </m:r>
                              </m:sup>
                            </m:sSubSup>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num>
                          <m:den>
                            <m:r>
                              <a:rPr lang="en-US" altLang="zh-CN" b="0" i="1" smtClean="0">
                                <a:latin typeface="Cambria Math" panose="02040503050406030204" pitchFamily="18" charset="0"/>
                              </a:rPr>
                              <m:t>𝑀𝑆𝐸</m:t>
                            </m:r>
                          </m:den>
                        </m:f>
                      </m:e>
                    </m:d>
                    <m:r>
                      <a:rPr lang="en-US" altLang="zh-CN" b="0" i="1" smtClean="0">
                        <a:latin typeface="Cambria Math" panose="02040503050406030204" pitchFamily="18" charset="0"/>
                      </a:rPr>
                      <m:t>=</m:t>
                    </m:r>
                    <m:r>
                      <a:rPr lang="en-US" altLang="zh-CN" i="1">
                        <a:latin typeface="Cambria Math" panose="02040503050406030204" pitchFamily="18" charset="0"/>
                      </a:rPr>
                      <m:t>10</m:t>
                    </m:r>
                    <m:r>
                      <a:rPr lang="en-US" altLang="zh-CN" i="1">
                        <a:latin typeface="Cambria Math" panose="02040503050406030204" pitchFamily="18" charset="0"/>
                      </a:rPr>
                      <m:t>𝑙𝑔</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255</m:t>
                                </m:r>
                              </m:e>
                              <m:sup>
                                <m:r>
                                  <a:rPr lang="en-US" altLang="zh-CN" b="0" i="1" smtClean="0">
                                    <a:latin typeface="Cambria Math" panose="02040503050406030204" pitchFamily="18" charset="0"/>
                                  </a:rPr>
                                  <m:t>2</m:t>
                                </m:r>
                              </m:sup>
                            </m:sSup>
                          </m:num>
                          <m:den>
                            <m:r>
                              <a:rPr lang="en-US" altLang="zh-CN" b="0" i="1" smtClean="0">
                                <a:latin typeface="Cambria Math" panose="02040503050406030204" pitchFamily="18" charset="0"/>
                              </a:rPr>
                              <m:t>1.83</m:t>
                            </m:r>
                          </m:den>
                        </m:f>
                      </m:e>
                    </m:d>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45</m:t>
                    </m:r>
                    <m:r>
                      <a:rPr lang="en-US" altLang="zh-CN" i="1">
                        <a:latin typeface="Cambria Math" panose="02040503050406030204" pitchFamily="18" charset="0"/>
                      </a:rPr>
                      <m:t>.</m:t>
                    </m:r>
                    <m:r>
                      <a:rPr lang="en-US" altLang="zh-CN" b="0" i="1" smtClean="0">
                        <a:latin typeface="Cambria Math" panose="02040503050406030204" pitchFamily="18" charset="0"/>
                      </a:rPr>
                      <m:t>5</m:t>
                    </m:r>
                    <m:r>
                      <a:rPr lang="en-US" altLang="zh-CN" i="1">
                        <a:latin typeface="Cambria Math" panose="02040503050406030204" pitchFamily="18" charset="0"/>
                      </a:rPr>
                      <m:t>0</m:t>
                    </m:r>
                    <m:r>
                      <a:rPr lang="en-US" altLang="zh-CN" i="1">
                        <a:latin typeface="Cambria Math" panose="02040503050406030204" pitchFamily="18" charset="0"/>
                      </a:rPr>
                      <m:t>𝑑𝐵</m:t>
                    </m:r>
                  </m:oMath>
                </a14:m>
                <a:endParaRPr lang="en-US" altLang="zh-CN"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xfrm>
                <a:off x="1826049" y="1700213"/>
                <a:ext cx="9751483" cy="4114800"/>
              </a:xfrm>
              <a:blipFill rotWithShape="1">
                <a:blip r:embed="rId3"/>
                <a:stretch>
                  <a:fillRect l="-4" t="-8" r="-2909" b="8"/>
                </a:stretch>
              </a:blipFill>
            </p:spPr>
            <p:txBody>
              <a:bodyPr/>
              <a:lstStyle/>
              <a:p>
                <a:r>
                  <a:rPr lang="zh-CN" altLang="en-US">
                    <a:noFill/>
                  </a:rPr>
                  <a:t> </a:t>
                </a:r>
              </a:p>
            </p:txBody>
          </p:sp>
        </mc:Fallback>
      </mc:AlternateContent>
      <p:sp>
        <p:nvSpPr>
          <p:cNvPr id="4" name="矩形 3"/>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图像的质量评价——客观评价方法</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Rectangle 3"/>
          <p:cNvSpPr>
            <a:spLocks noGrp="1" noChangeArrowheads="1"/>
          </p:cNvSpPr>
          <p:nvPr>
            <p:ph idx="1"/>
          </p:nvPr>
        </p:nvSpPr>
        <p:spPr>
          <a:xfrm>
            <a:off x="1826049" y="1484313"/>
            <a:ext cx="9751483" cy="4114800"/>
          </a:xfrm>
        </p:spPr>
        <p:txBody>
          <a:bodyPr/>
          <a:lstStyle/>
          <a:p>
            <a:pPr eaLnBrk="1" hangingPunct="1">
              <a:lnSpc>
                <a:spcPct val="150000"/>
              </a:lnSpc>
            </a:pPr>
            <a:r>
              <a:rPr lang="zh-CN" altLang="en-US"/>
              <a:t>客观评价优点：</a:t>
            </a:r>
            <a:endParaRPr lang="en-US" altLang="zh-CN"/>
          </a:p>
          <a:p>
            <a:pPr lvl="1" eaLnBrk="1" hangingPunct="1">
              <a:lnSpc>
                <a:spcPct val="150000"/>
              </a:lnSpc>
            </a:pPr>
            <a:r>
              <a:rPr lang="zh-CN" altLang="en-US"/>
              <a:t>使用方便。</a:t>
            </a:r>
          </a:p>
          <a:p>
            <a:pPr lvl="1" eaLnBrk="1" hangingPunct="1">
              <a:lnSpc>
                <a:spcPct val="150000"/>
              </a:lnSpc>
            </a:pPr>
            <a:r>
              <a:rPr lang="zh-CN" altLang="en-US"/>
              <a:t>可重复性强。</a:t>
            </a:r>
          </a:p>
          <a:p>
            <a:pPr eaLnBrk="1" hangingPunct="1">
              <a:lnSpc>
                <a:spcPct val="150000"/>
              </a:lnSpc>
            </a:pPr>
            <a:r>
              <a:rPr lang="zh-CN" altLang="en-US"/>
              <a:t>客观评价缺点：</a:t>
            </a:r>
            <a:endParaRPr lang="en-US" altLang="zh-CN"/>
          </a:p>
          <a:p>
            <a:pPr lvl="1" eaLnBrk="1" hangingPunct="1">
              <a:lnSpc>
                <a:spcPct val="150000"/>
              </a:lnSpc>
            </a:pPr>
            <a:r>
              <a:rPr lang="zh-CN" altLang="en-US"/>
              <a:t>评价结果与主观感觉有时存在不一致。</a:t>
            </a:r>
          </a:p>
        </p:txBody>
      </p:sp>
      <p:sp>
        <p:nvSpPr>
          <p:cNvPr id="2" name="矩形 1"/>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图像的质量评价——客观评价方法</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691">
                                            <p:txEl>
                                              <p:pRg st="0" end="0"/>
                                            </p:txEl>
                                          </p:spTgt>
                                        </p:tgtEl>
                                        <p:attrNameLst>
                                          <p:attrName>style.visibility</p:attrName>
                                        </p:attrNameLst>
                                      </p:cBhvr>
                                      <p:to>
                                        <p:strVal val="visible"/>
                                      </p:to>
                                    </p:set>
                                    <p:anim calcmode="lin" valueType="num">
                                      <p:cBhvr additive="base">
                                        <p:cTn id="7" dur="500" fill="hold"/>
                                        <p:tgtEl>
                                          <p:spTgt spid="1146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6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691">
                                            <p:txEl>
                                              <p:pRg st="1" end="1"/>
                                            </p:txEl>
                                          </p:spTgt>
                                        </p:tgtEl>
                                        <p:attrNameLst>
                                          <p:attrName>style.visibility</p:attrName>
                                        </p:attrNameLst>
                                      </p:cBhvr>
                                      <p:to>
                                        <p:strVal val="visible"/>
                                      </p:to>
                                    </p:set>
                                    <p:anim calcmode="lin" valueType="num">
                                      <p:cBhvr additive="base">
                                        <p:cTn id="13" dur="500" fill="hold"/>
                                        <p:tgtEl>
                                          <p:spTgt spid="1146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46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4691">
                                            <p:txEl>
                                              <p:pRg st="2" end="2"/>
                                            </p:txEl>
                                          </p:spTgt>
                                        </p:tgtEl>
                                        <p:attrNameLst>
                                          <p:attrName>style.visibility</p:attrName>
                                        </p:attrNameLst>
                                      </p:cBhvr>
                                      <p:to>
                                        <p:strVal val="visible"/>
                                      </p:to>
                                    </p:set>
                                    <p:anim calcmode="lin" valueType="num">
                                      <p:cBhvr additive="base">
                                        <p:cTn id="19" dur="500" fill="hold"/>
                                        <p:tgtEl>
                                          <p:spTgt spid="1146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46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4691">
                                            <p:txEl>
                                              <p:pRg st="3" end="3"/>
                                            </p:txEl>
                                          </p:spTgt>
                                        </p:tgtEl>
                                        <p:attrNameLst>
                                          <p:attrName>style.visibility</p:attrName>
                                        </p:attrNameLst>
                                      </p:cBhvr>
                                      <p:to>
                                        <p:strVal val="visible"/>
                                      </p:to>
                                    </p:set>
                                    <p:anim calcmode="lin" valueType="num">
                                      <p:cBhvr additive="base">
                                        <p:cTn id="25" dur="500" fill="hold"/>
                                        <p:tgtEl>
                                          <p:spTgt spid="1146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46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4691">
                                            <p:txEl>
                                              <p:pRg st="4" end="4"/>
                                            </p:txEl>
                                          </p:spTgt>
                                        </p:tgtEl>
                                        <p:attrNameLst>
                                          <p:attrName>style.visibility</p:attrName>
                                        </p:attrNameLst>
                                      </p:cBhvr>
                                      <p:to>
                                        <p:strVal val="visible"/>
                                      </p:to>
                                    </p:set>
                                    <p:anim calcmode="lin" valueType="num">
                                      <p:cBhvr additive="base">
                                        <p:cTn id="31" dur="500" fill="hold"/>
                                        <p:tgtEl>
                                          <p:spTgt spid="11469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469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1" grpId="0" build="p" bldLvl="5"/>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p:cNvSpPr>
            <a:spLocks noGrp="1" noChangeArrowheads="1"/>
          </p:cNvSpPr>
          <p:nvPr>
            <p:ph idx="1"/>
          </p:nvPr>
        </p:nvSpPr>
        <p:spPr>
          <a:xfrm>
            <a:off x="1826049" y="1052513"/>
            <a:ext cx="9751483" cy="4114800"/>
          </a:xfrm>
        </p:spPr>
        <p:txBody>
          <a:bodyPr/>
          <a:lstStyle/>
          <a:p>
            <a:pPr eaLnBrk="1" hangingPunct="1">
              <a:lnSpc>
                <a:spcPct val="150000"/>
              </a:lnSpc>
            </a:pPr>
            <a:r>
              <a:rPr lang="zh-CN" altLang="en-US"/>
              <a:t>为什么客观评价与主观评价不能很好吻合？</a:t>
            </a:r>
            <a:endParaRPr lang="en-US" altLang="zh-CN"/>
          </a:p>
          <a:p>
            <a:pPr lvl="1" eaLnBrk="1" hangingPunct="1">
              <a:lnSpc>
                <a:spcPct val="150000"/>
              </a:lnSpc>
            </a:pPr>
            <a:r>
              <a:rPr lang="zh-CN" altLang="en-US"/>
              <a:t>人眼对所看到物体的理解，</a:t>
            </a:r>
            <a:endParaRPr lang="en-US" altLang="zh-CN"/>
          </a:p>
          <a:p>
            <a:pPr lvl="1" eaLnBrk="1" hangingPunct="1">
              <a:lnSpc>
                <a:spcPct val="150000"/>
              </a:lnSpc>
            </a:pPr>
            <a:r>
              <a:rPr lang="zh-CN" altLang="en-US">
                <a:latin typeface="宋体" panose="02010600030101010101" pitchFamily="2" charset="-122"/>
              </a:rPr>
              <a:t>不仅与生理因素有关，</a:t>
            </a:r>
            <a:endParaRPr lang="en-US" altLang="zh-CN">
              <a:latin typeface="宋体" panose="02010600030101010101" pitchFamily="2" charset="-122"/>
            </a:endParaRPr>
          </a:p>
          <a:p>
            <a:pPr lvl="1" eaLnBrk="1" hangingPunct="1">
              <a:lnSpc>
                <a:spcPct val="150000"/>
              </a:lnSpc>
            </a:pPr>
            <a:r>
              <a:rPr lang="zh-CN" altLang="en-US">
                <a:latin typeface="宋体" panose="02010600030101010101" pitchFamily="2" charset="-122"/>
              </a:rPr>
              <a:t>还在相当大的程度上取决于心理因素，</a:t>
            </a:r>
            <a:endParaRPr lang="zh-CN" altLang="en-US"/>
          </a:p>
          <a:p>
            <a:pPr lvl="1" eaLnBrk="1" hangingPunct="1">
              <a:lnSpc>
                <a:spcPct val="150000"/>
              </a:lnSpc>
            </a:pPr>
            <a:r>
              <a:rPr lang="zh-CN" altLang="en-US"/>
              <a:t>如“视而不见”，“听而不闻”。</a:t>
            </a:r>
          </a:p>
          <a:p>
            <a:pPr lvl="1" eaLnBrk="1" hangingPunct="1">
              <a:lnSpc>
                <a:spcPct val="150000"/>
              </a:lnSpc>
            </a:pPr>
            <a:r>
              <a:rPr lang="zh-CN" altLang="en-US">
                <a:sym typeface="+mn-ea"/>
              </a:rPr>
              <a:t>对感兴趣的区域给予极大关注，对其它区域不在意。</a:t>
            </a:r>
            <a:endParaRPr lang="zh-CN" altLang="en-US"/>
          </a:p>
          <a:p>
            <a:pPr lvl="1" eaLnBrk="1" hangingPunct="1">
              <a:lnSpc>
                <a:spcPct val="150000"/>
              </a:lnSpc>
            </a:pPr>
            <a:r>
              <a:rPr lang="zh-CN" altLang="en-US">
                <a:sym typeface="+mn-ea"/>
              </a:rPr>
              <a:t>大脑对所接收的事务有一个过滤和取舍的过程，目前计算机还无法很好地模拟此过程。</a:t>
            </a:r>
            <a:endParaRPr lang="zh-CN" altLang="en-US"/>
          </a:p>
        </p:txBody>
      </p:sp>
      <p:sp>
        <p:nvSpPr>
          <p:cNvPr id="2" name="矩形 1"/>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图像的质量评价</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 calcmode="lin" valueType="num">
                                      <p:cBhvr additive="base">
                                        <p:cTn id="7" dur="500" fill="hold"/>
                                        <p:tgtEl>
                                          <p:spTgt spid="1157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57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5715">
                                            <p:txEl>
                                              <p:pRg st="1" end="1"/>
                                            </p:txEl>
                                          </p:spTgt>
                                        </p:tgtEl>
                                        <p:attrNameLst>
                                          <p:attrName>style.visibility</p:attrName>
                                        </p:attrNameLst>
                                      </p:cBhvr>
                                      <p:to>
                                        <p:strVal val="visible"/>
                                      </p:to>
                                    </p:set>
                                    <p:anim calcmode="lin" valueType="num">
                                      <p:cBhvr additive="base">
                                        <p:cTn id="13" dur="500" fill="hold"/>
                                        <p:tgtEl>
                                          <p:spTgt spid="1157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57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5715">
                                            <p:txEl>
                                              <p:pRg st="2" end="2"/>
                                            </p:txEl>
                                          </p:spTgt>
                                        </p:tgtEl>
                                        <p:attrNameLst>
                                          <p:attrName>style.visibility</p:attrName>
                                        </p:attrNameLst>
                                      </p:cBhvr>
                                      <p:to>
                                        <p:strVal val="visible"/>
                                      </p:to>
                                    </p:set>
                                    <p:anim calcmode="lin" valueType="num">
                                      <p:cBhvr additive="base">
                                        <p:cTn id="19" dur="500" fill="hold"/>
                                        <p:tgtEl>
                                          <p:spTgt spid="1157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57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5715">
                                            <p:txEl>
                                              <p:pRg st="3" end="3"/>
                                            </p:txEl>
                                          </p:spTgt>
                                        </p:tgtEl>
                                        <p:attrNameLst>
                                          <p:attrName>style.visibility</p:attrName>
                                        </p:attrNameLst>
                                      </p:cBhvr>
                                      <p:to>
                                        <p:strVal val="visible"/>
                                      </p:to>
                                    </p:set>
                                    <p:anim calcmode="lin" valueType="num">
                                      <p:cBhvr additive="base">
                                        <p:cTn id="25" dur="500" fill="hold"/>
                                        <p:tgtEl>
                                          <p:spTgt spid="1157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57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5715">
                                            <p:txEl>
                                              <p:pRg st="4" end="4"/>
                                            </p:txEl>
                                          </p:spTgt>
                                        </p:tgtEl>
                                        <p:attrNameLst>
                                          <p:attrName>style.visibility</p:attrName>
                                        </p:attrNameLst>
                                      </p:cBhvr>
                                      <p:to>
                                        <p:strVal val="visible"/>
                                      </p:to>
                                    </p:set>
                                    <p:anim calcmode="lin" valueType="num">
                                      <p:cBhvr additive="base">
                                        <p:cTn id="31" dur="500" fill="hold"/>
                                        <p:tgtEl>
                                          <p:spTgt spid="11571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57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5715">
                                            <p:txEl>
                                              <p:pRg st="5" end="5"/>
                                            </p:txEl>
                                          </p:spTgt>
                                        </p:tgtEl>
                                        <p:attrNameLst>
                                          <p:attrName>style.visibility</p:attrName>
                                        </p:attrNameLst>
                                      </p:cBhvr>
                                      <p:to>
                                        <p:strVal val="visible"/>
                                      </p:to>
                                    </p:set>
                                    <p:anim calcmode="lin" valueType="num">
                                      <p:cBhvr additive="base">
                                        <p:cTn id="37" dur="500" fill="hold"/>
                                        <p:tgtEl>
                                          <p:spTgt spid="11571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571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5715">
                                            <p:txEl>
                                              <p:pRg st="6" end="6"/>
                                            </p:txEl>
                                          </p:spTgt>
                                        </p:tgtEl>
                                        <p:attrNameLst>
                                          <p:attrName>style.visibility</p:attrName>
                                        </p:attrNameLst>
                                      </p:cBhvr>
                                      <p:to>
                                        <p:strVal val="visible"/>
                                      </p:to>
                                    </p:set>
                                    <p:anim calcmode="lin" valueType="num">
                                      <p:cBhvr additive="base">
                                        <p:cTn id="43" dur="500" fill="hold"/>
                                        <p:tgtEl>
                                          <p:spTgt spid="11571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571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bldLvl="5"/>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p:cNvSpPr>
            <a:spLocks noGrp="1" noChangeArrowheads="1"/>
          </p:cNvSpPr>
          <p:nvPr>
            <p:ph idx="1"/>
          </p:nvPr>
        </p:nvSpPr>
        <p:spPr>
          <a:xfrm>
            <a:off x="1415204" y="1052513"/>
            <a:ext cx="9751483" cy="4114800"/>
          </a:xfrm>
        </p:spPr>
        <p:txBody>
          <a:bodyPr/>
          <a:lstStyle/>
          <a:p>
            <a:pPr eaLnBrk="1" hangingPunct="1">
              <a:lnSpc>
                <a:spcPct val="150000"/>
              </a:lnSpc>
            </a:pPr>
            <a:r>
              <a:rPr lang="zh-CN" altLang="en-US"/>
              <a:t>常用图像储存格式</a:t>
            </a:r>
            <a:endParaRPr lang="en-US" altLang="zh-CN"/>
          </a:p>
          <a:p>
            <a:pPr lvl="1" eaLnBrk="1" hangingPunct="1">
              <a:lnSpc>
                <a:spcPct val="150000"/>
              </a:lnSpc>
            </a:pPr>
            <a:r>
              <a:rPr lang="zh-CN" altLang="en-US"/>
              <a:t>BMP文件格式：一般由三个部分组成：位图文件头、位图信息和位图阵列信息。</a:t>
            </a:r>
          </a:p>
          <a:p>
            <a:pPr lvl="1" eaLnBrk="1" hangingPunct="1">
              <a:lnSpc>
                <a:spcPct val="150000"/>
              </a:lnSpc>
            </a:pPr>
            <a:r>
              <a:rPr lang="zh-CN" altLang="en-US"/>
              <a:t>GIF文件格式：分为文件头和文件体两部分。文件头包括文件标志、图像水平分辨率、垂直分辨率、彩色表、图像宽度、图像高度、图像偏移量、编码的初始值等关于图像的参数。</a:t>
            </a:r>
          </a:p>
          <a:p>
            <a:pPr lvl="1" eaLnBrk="1" hangingPunct="1">
              <a:lnSpc>
                <a:spcPct val="150000"/>
              </a:lnSpc>
            </a:pPr>
            <a:r>
              <a:rPr lang="zh-CN" altLang="en-US"/>
              <a:t>3．TIF</a:t>
            </a:r>
            <a:r>
              <a:rPr lang="zh-CN" altLang="en-US">
                <a:sym typeface="+mn-ea"/>
              </a:rPr>
              <a:t>（Tag Image File Format）</a:t>
            </a:r>
            <a:r>
              <a:rPr lang="zh-CN" altLang="en-US"/>
              <a:t>文件格式：一般分为四个部分：文件头、参数指针表、参数数据表和图像数据。</a:t>
            </a:r>
          </a:p>
        </p:txBody>
      </p:sp>
      <p:sp>
        <p:nvSpPr>
          <p:cNvPr id="2" name="矩形 1"/>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图像的质量评价</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 calcmode="lin" valueType="num">
                                      <p:cBhvr additive="base">
                                        <p:cTn id="7" dur="500" fill="hold"/>
                                        <p:tgtEl>
                                          <p:spTgt spid="1157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57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5715">
                                            <p:txEl>
                                              <p:pRg st="1" end="1"/>
                                            </p:txEl>
                                          </p:spTgt>
                                        </p:tgtEl>
                                        <p:attrNameLst>
                                          <p:attrName>style.visibility</p:attrName>
                                        </p:attrNameLst>
                                      </p:cBhvr>
                                      <p:to>
                                        <p:strVal val="visible"/>
                                      </p:to>
                                    </p:set>
                                    <p:anim calcmode="lin" valueType="num">
                                      <p:cBhvr additive="base">
                                        <p:cTn id="13" dur="500" fill="hold"/>
                                        <p:tgtEl>
                                          <p:spTgt spid="1157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57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5715">
                                            <p:txEl>
                                              <p:pRg st="2" end="2"/>
                                            </p:txEl>
                                          </p:spTgt>
                                        </p:tgtEl>
                                        <p:attrNameLst>
                                          <p:attrName>style.visibility</p:attrName>
                                        </p:attrNameLst>
                                      </p:cBhvr>
                                      <p:to>
                                        <p:strVal val="visible"/>
                                      </p:to>
                                    </p:set>
                                    <p:anim calcmode="lin" valueType="num">
                                      <p:cBhvr additive="base">
                                        <p:cTn id="19" dur="500" fill="hold"/>
                                        <p:tgtEl>
                                          <p:spTgt spid="1157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57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5715">
                                            <p:txEl>
                                              <p:pRg st="3" end="3"/>
                                            </p:txEl>
                                          </p:spTgt>
                                        </p:tgtEl>
                                        <p:attrNameLst>
                                          <p:attrName>style.visibility</p:attrName>
                                        </p:attrNameLst>
                                      </p:cBhvr>
                                      <p:to>
                                        <p:strVal val="visible"/>
                                      </p:to>
                                    </p:set>
                                    <p:anim calcmode="lin" valueType="num">
                                      <p:cBhvr additive="base">
                                        <p:cTn id="25" dur="500" fill="hold"/>
                                        <p:tgtEl>
                                          <p:spTgt spid="11571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57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bldLvl="5"/>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1199515" y="1052830"/>
            <a:ext cx="9802495" cy="2941320"/>
          </a:xfrm>
        </p:spPr>
        <p:txBody>
          <a:bodyPr/>
          <a:lstStyle/>
          <a:p>
            <a:pPr marL="342900" lvl="1" indent="-342900" algn="l">
              <a:lnSpc>
                <a:spcPct val="100000"/>
              </a:lnSpc>
              <a:buChar char="¡"/>
            </a:pPr>
            <a:r>
              <a:rPr lang="zh-CN" altLang="en-US" sz="2900" dirty="0">
                <a:cs typeface="+mn-cs"/>
              </a:rPr>
              <a:t>学习目标</a:t>
            </a:r>
          </a:p>
          <a:p>
            <a:pPr lvl="1" algn="l">
              <a:lnSpc>
                <a:spcPct val="100000"/>
              </a:lnSpc>
              <a:buChar char="l"/>
            </a:pPr>
            <a:r>
              <a:rPr lang="zh-CN" altLang="en-US" sz="2500" dirty="0">
                <a:cs typeface="+mn-ea"/>
              </a:rPr>
              <a:t>知识：理解域转换函数转换图像到频域及逆变换，理解修改转换系数。</a:t>
            </a:r>
          </a:p>
          <a:p>
            <a:pPr lvl="1" algn="l">
              <a:lnSpc>
                <a:spcPct val="100000"/>
              </a:lnSpc>
              <a:buChar char="l"/>
            </a:pPr>
            <a:r>
              <a:rPr lang="zh-CN" altLang="en-US" sz="2500" dirty="0">
                <a:cs typeface="+mn-ea"/>
              </a:rPr>
              <a:t>技能：掌握基于Python的数字图像常用操作方法。</a:t>
            </a:r>
          </a:p>
          <a:p>
            <a:pPr marL="342900" lvl="1" indent="-342900" algn="l">
              <a:lnSpc>
                <a:spcPct val="100000"/>
              </a:lnSpc>
              <a:buChar char="¡"/>
            </a:pPr>
            <a:r>
              <a:rPr lang="zh-CN" altLang="en-US" sz="2900" dirty="0">
                <a:solidFill>
                  <a:schemeClr val="bg1">
                    <a:lumMod val="50000"/>
                  </a:schemeClr>
                </a:solidFill>
                <a:cs typeface="+mn-cs"/>
              </a:rPr>
              <a:t>学习任务单</a:t>
            </a:r>
          </a:p>
          <a:p>
            <a:pPr lvl="1" algn="l">
              <a:lnSpc>
                <a:spcPct val="100000"/>
              </a:lnSpc>
            </a:pPr>
            <a:r>
              <a:rPr lang="zh-CN" altLang="en-US" dirty="0">
                <a:solidFill>
                  <a:schemeClr val="bg1">
                    <a:lumMod val="50000"/>
                  </a:schemeClr>
                </a:solidFill>
                <a:cs typeface="+mn-ea"/>
              </a:rPr>
              <a:t>学习实验指导书3中的实验内容。</a:t>
            </a:r>
          </a:p>
          <a:p>
            <a:pPr lvl="1" algn="l">
              <a:lnSpc>
                <a:spcPct val="100000"/>
              </a:lnSpc>
            </a:pPr>
            <a:r>
              <a:rPr lang="zh-CN" altLang="en-US" dirty="0">
                <a:solidFill>
                  <a:schemeClr val="bg1">
                    <a:lumMod val="50000"/>
                  </a:schemeClr>
                </a:solidFill>
                <a:cs typeface="+mn-ea"/>
              </a:rPr>
              <a:t>按实验指导书完成图像信号处理实验。</a:t>
            </a:r>
          </a:p>
          <a:p>
            <a:pPr lvl="1" algn="l">
              <a:lnSpc>
                <a:spcPct val="100000"/>
              </a:lnSpc>
            </a:pPr>
            <a:r>
              <a:rPr lang="zh-CN" altLang="en-US" dirty="0">
                <a:solidFill>
                  <a:schemeClr val="bg1">
                    <a:lumMod val="50000"/>
                  </a:schemeClr>
                </a:solidFill>
                <a:cs typeface="+mn-ea"/>
              </a:rPr>
              <a:t>参考实验指导书按照实验作业要求完成实验作业。</a:t>
            </a:r>
          </a:p>
          <a:p>
            <a:pPr lvl="1" algn="l">
              <a:lnSpc>
                <a:spcPct val="100000"/>
              </a:lnSpc>
            </a:pPr>
            <a:r>
              <a:rPr lang="zh-CN" altLang="en-US" dirty="0">
                <a:solidFill>
                  <a:schemeClr val="bg1">
                    <a:lumMod val="50000"/>
                  </a:schemeClr>
                </a:solidFill>
                <a:cs typeface="+mn-ea"/>
              </a:rPr>
              <a:t>参考实验报告模板完成实验报告。</a:t>
            </a:r>
          </a:p>
          <a:p>
            <a:pPr lvl="1" algn="l">
              <a:lnSpc>
                <a:spcPct val="100000"/>
              </a:lnSpc>
            </a:pPr>
            <a:r>
              <a:rPr lang="zh-CN" altLang="en-US" dirty="0">
                <a:solidFill>
                  <a:schemeClr val="bg1">
                    <a:lumMod val="50000"/>
                  </a:schemeClr>
                </a:solidFill>
                <a:cs typeface="+mn-ea"/>
              </a:rPr>
              <a:t>按时提交实验报告。</a:t>
            </a:r>
          </a:p>
        </p:txBody>
      </p:sp>
      <p:sp>
        <p:nvSpPr>
          <p:cNvPr id="3" name="矩形 2"/>
          <p:cNvSpPr/>
          <p:nvPr/>
        </p:nvSpPr>
        <p:spPr>
          <a:xfrm>
            <a:off x="839404"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rPr>
              <a:t>实践案例三：图像信号处理基础</a:t>
            </a: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7107">
                                            <p:txEl>
                                              <p:pRg st="6" end="6"/>
                                            </p:txEl>
                                          </p:spTgt>
                                        </p:tgtEl>
                                        <p:attrNameLst>
                                          <p:attrName>style.visibility</p:attrName>
                                        </p:attrNameLst>
                                      </p:cBhvr>
                                      <p:to>
                                        <p:strVal val="visible"/>
                                      </p:to>
                                    </p:set>
                                    <p:anim calcmode="lin" valueType="num">
                                      <p:cBhvr additive="base">
                                        <p:cTn id="43" dur="500" fill="hold"/>
                                        <p:tgtEl>
                                          <p:spTgt spid="4710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71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7107">
                                            <p:txEl>
                                              <p:pRg st="7" end="7"/>
                                            </p:txEl>
                                          </p:spTgt>
                                        </p:tgtEl>
                                        <p:attrNameLst>
                                          <p:attrName>style.visibility</p:attrName>
                                        </p:attrNameLst>
                                      </p:cBhvr>
                                      <p:to>
                                        <p:strVal val="visible"/>
                                      </p:to>
                                    </p:set>
                                    <p:anim calcmode="lin" valueType="num">
                                      <p:cBhvr additive="base">
                                        <p:cTn id="49" dur="500" fill="hold"/>
                                        <p:tgtEl>
                                          <p:spTgt spid="4710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710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7107">
                                            <p:txEl>
                                              <p:pRg st="8" end="8"/>
                                            </p:txEl>
                                          </p:spTgt>
                                        </p:tgtEl>
                                        <p:attrNameLst>
                                          <p:attrName>style.visibility</p:attrName>
                                        </p:attrNameLst>
                                      </p:cBhvr>
                                      <p:to>
                                        <p:strVal val="visible"/>
                                      </p:to>
                                    </p:set>
                                    <p:anim calcmode="lin" valueType="num">
                                      <p:cBhvr additive="base">
                                        <p:cTn id="55" dur="500" fill="hold"/>
                                        <p:tgtEl>
                                          <p:spTgt spid="47107">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710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bldLvl="5"/>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911225" y="1196975"/>
            <a:ext cx="10748010" cy="2941320"/>
          </a:xfrm>
        </p:spPr>
        <p:txBody>
          <a:bodyPr/>
          <a:lstStyle/>
          <a:p>
            <a:pPr marL="342900" lvl="1" indent="-342900" algn="l">
              <a:lnSpc>
                <a:spcPct val="100000"/>
              </a:lnSpc>
              <a:buChar char="¡"/>
            </a:pPr>
            <a:r>
              <a:rPr lang="zh-CN" altLang="en-US" sz="2900" dirty="0">
                <a:cs typeface="+mn-cs"/>
              </a:rPr>
              <a:t>学习内容</a:t>
            </a:r>
          </a:p>
          <a:p>
            <a:pPr lvl="1" algn="l" latinLnBrk="0">
              <a:lnSpc>
                <a:spcPct val="150000"/>
              </a:lnSpc>
              <a:spcBef>
                <a:spcPts val="0"/>
              </a:spcBef>
            </a:pPr>
            <a:r>
              <a:rPr lang="zh-CN" altLang="en-US" dirty="0">
                <a:cs typeface="+mn-ea"/>
              </a:rPr>
              <a:t>了解常用的图像存储格式。</a:t>
            </a:r>
          </a:p>
          <a:p>
            <a:pPr lvl="1" algn="l" latinLnBrk="0">
              <a:lnSpc>
                <a:spcPct val="150000"/>
              </a:lnSpc>
              <a:spcBef>
                <a:spcPts val="0"/>
              </a:spcBef>
            </a:pPr>
            <a:r>
              <a:rPr lang="zh-CN" altLang="en-US" dirty="0">
                <a:cs typeface="+mn-ea"/>
              </a:rPr>
              <a:t>使用Python将图片转换为512*512的灰度图，保存为BMP图像。</a:t>
            </a:r>
          </a:p>
          <a:p>
            <a:pPr lvl="1" algn="l" latinLnBrk="0">
              <a:lnSpc>
                <a:spcPct val="150000"/>
              </a:lnSpc>
              <a:spcBef>
                <a:spcPts val="0"/>
              </a:spcBef>
            </a:pPr>
            <a:r>
              <a:rPr lang="zh-CN" altLang="en-US" dirty="0">
                <a:cs typeface="+mn-ea"/>
              </a:rPr>
              <a:t>使用Python处理图像，将部分DCT系数置零后重构图像，有失真的图像保存为stego.bmp。</a:t>
            </a:r>
          </a:p>
          <a:p>
            <a:pPr lvl="1" algn="l" latinLnBrk="0">
              <a:lnSpc>
                <a:spcPct val="150000"/>
              </a:lnSpc>
              <a:spcBef>
                <a:spcPts val="0"/>
              </a:spcBef>
            </a:pPr>
            <a:r>
              <a:rPr lang="zh-CN" altLang="en-US" dirty="0">
                <a:cs typeface="+mn-ea"/>
              </a:rPr>
              <a:t>完成实验，绘制出原始图像和失真图像，并记录其峰值信噪比。</a:t>
            </a:r>
          </a:p>
          <a:p>
            <a:pPr lvl="1" algn="l" latinLnBrk="0">
              <a:lnSpc>
                <a:spcPct val="150000"/>
              </a:lnSpc>
              <a:spcBef>
                <a:spcPts val="0"/>
              </a:spcBef>
            </a:pPr>
            <a:r>
              <a:rPr lang="zh-CN" altLang="en-US" dirty="0">
                <a:cs typeface="+mn-ea"/>
              </a:rPr>
              <a:t>附加思考问题：修改系数时，当选取的位置或数量不同，峰值信噪比是否相同？其原因是什么？</a:t>
            </a:r>
          </a:p>
        </p:txBody>
      </p:sp>
      <p:sp>
        <p:nvSpPr>
          <p:cNvPr id="3" name="矩形 2"/>
          <p:cNvSpPr/>
          <p:nvPr/>
        </p:nvSpPr>
        <p:spPr>
          <a:xfrm>
            <a:off x="839404" y="249350"/>
            <a:ext cx="9470058" cy="521970"/>
          </a:xfrm>
          <a:prstGeom prst="rect">
            <a:avLst/>
          </a:prstGeom>
        </p:spPr>
        <p:txBody>
          <a:bodyPr wrap="square">
            <a:spAutoFit/>
          </a:bodyPr>
          <a:lstStyle/>
          <a:p>
            <a:r>
              <a:rPr lang="zh-CN" altLang="en-US" sz="2800" b="1" dirty="0">
                <a:solidFill>
                  <a:srgbClr val="023B8C"/>
                </a:solidFill>
                <a:latin typeface="微软雅黑" panose="020B0503020204020204" charset="-122"/>
                <a:ea typeface="微软雅黑" panose="020B0503020204020204" charset="-122"/>
                <a:sym typeface="+mn-ea"/>
              </a:rPr>
              <a:t>实践案例三：图像信号处理基础</a:t>
            </a:r>
            <a:endParaRPr lang="zh-CN" altLang="en-US" sz="2800" b="1" dirty="0">
              <a:solidFill>
                <a:srgbClr val="023B8C"/>
              </a:solidFill>
              <a:latin typeface="微软雅黑" panose="020B0503020204020204" charset="-122"/>
              <a:ea typeface="微软雅黑" panose="020B0503020204020204" charset="-122"/>
            </a:endParaRPr>
          </a:p>
        </p:txBody>
      </p:sp>
      <p:grpSp>
        <p:nvGrpSpPr>
          <p:cNvPr id="6" name="组合 5"/>
          <p:cNvGrpSpPr/>
          <p:nvPr/>
        </p:nvGrpSpPr>
        <p:grpSpPr>
          <a:xfrm>
            <a:off x="123658" y="249350"/>
            <a:ext cx="979109" cy="533291"/>
            <a:chOff x="2215144" y="982844"/>
            <a:chExt cx="1258238" cy="912607"/>
          </a:xfrm>
        </p:grpSpPr>
        <p:sp>
          <p:nvSpPr>
            <p:cNvPr id="4" name="平行四边形 3"/>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5"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overrideClrMapping bg1="lt1" tx1="dk1" bg2="lt2" tx2="dk2" accent1="accent1" accent2="accent2" accent3="accent3" accent4="accent4" accent5="accent5" accent6="accent6" hlink="hlink" folHlink="folHlink"/>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 calcmode="lin" valueType="num">
                                      <p:cBhvr additive="base">
                                        <p:cTn id="7" dur="500" fill="hold"/>
                                        <p:tgtEl>
                                          <p:spTgt spid="47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7">
                                            <p:txEl>
                                              <p:pRg st="1" end="1"/>
                                            </p:txEl>
                                          </p:spTgt>
                                        </p:tgtEl>
                                        <p:attrNameLst>
                                          <p:attrName>style.visibility</p:attrName>
                                        </p:attrNameLst>
                                      </p:cBhvr>
                                      <p:to>
                                        <p:strVal val="visible"/>
                                      </p:to>
                                    </p:set>
                                    <p:anim calcmode="lin" valueType="num">
                                      <p:cBhvr additive="base">
                                        <p:cTn id="13" dur="500" fill="hold"/>
                                        <p:tgtEl>
                                          <p:spTgt spid="471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7">
                                            <p:txEl>
                                              <p:pRg st="2" end="2"/>
                                            </p:txEl>
                                          </p:spTgt>
                                        </p:tgtEl>
                                        <p:attrNameLst>
                                          <p:attrName>style.visibility</p:attrName>
                                        </p:attrNameLst>
                                      </p:cBhvr>
                                      <p:to>
                                        <p:strVal val="visible"/>
                                      </p:to>
                                    </p:set>
                                    <p:anim calcmode="lin" valueType="num">
                                      <p:cBhvr additive="base">
                                        <p:cTn id="19"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7">
                                            <p:txEl>
                                              <p:pRg st="3" end="3"/>
                                            </p:txEl>
                                          </p:spTgt>
                                        </p:tgtEl>
                                        <p:attrNameLst>
                                          <p:attrName>style.visibility</p:attrName>
                                        </p:attrNameLst>
                                      </p:cBhvr>
                                      <p:to>
                                        <p:strVal val="visible"/>
                                      </p:to>
                                    </p:set>
                                    <p:anim calcmode="lin" valueType="num">
                                      <p:cBhvr additive="base">
                                        <p:cTn id="25"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7107">
                                            <p:txEl>
                                              <p:pRg st="4" end="4"/>
                                            </p:txEl>
                                          </p:spTgt>
                                        </p:tgtEl>
                                        <p:attrNameLst>
                                          <p:attrName>style.visibility</p:attrName>
                                        </p:attrNameLst>
                                      </p:cBhvr>
                                      <p:to>
                                        <p:strVal val="visible"/>
                                      </p:to>
                                    </p:set>
                                    <p:anim calcmode="lin" valueType="num">
                                      <p:cBhvr additive="base">
                                        <p:cTn id="31" dur="500" fill="hold"/>
                                        <p:tgtEl>
                                          <p:spTgt spid="4710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107">
                                            <p:txEl>
                                              <p:pRg st="5" end="5"/>
                                            </p:txEl>
                                          </p:spTgt>
                                        </p:tgtEl>
                                        <p:attrNameLst>
                                          <p:attrName>style.visibility</p:attrName>
                                        </p:attrNameLst>
                                      </p:cBhvr>
                                      <p:to>
                                        <p:strVal val="visible"/>
                                      </p:to>
                                    </p:set>
                                    <p:anim calcmode="lin" valueType="num">
                                      <p:cBhvr additive="base">
                                        <p:cTn id="37"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bldLvl="5"/>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87594" y="1484313"/>
            <a:ext cx="9751483" cy="4114800"/>
          </a:xfrm>
        </p:spPr>
        <p:txBody>
          <a:bodyPr/>
          <a:lstStyle/>
          <a:p>
            <a:r>
              <a:rPr lang="zh-CN" altLang="en-US" dirty="0"/>
              <a:t>本章主要介绍人类听觉特点和语音质量评价；人类视觉特点和图像质量评价。</a:t>
            </a:r>
          </a:p>
          <a:p>
            <a:r>
              <a:rPr lang="zh-CN" altLang="en-US" dirty="0"/>
              <a:t>需要掌握以下知识点：</a:t>
            </a:r>
          </a:p>
          <a:p>
            <a:pPr lvl="1" algn="l">
              <a:lnSpc>
                <a:spcPct val="150000"/>
              </a:lnSpc>
              <a:spcBef>
                <a:spcPts val="0"/>
              </a:spcBef>
            </a:pPr>
            <a:r>
              <a:rPr lang="zh-CN" altLang="en-US" dirty="0">
                <a:cs typeface="+mn-ea"/>
              </a:rPr>
              <a:t>语音的质量评价主观和客观评价的方法。</a:t>
            </a:r>
          </a:p>
          <a:p>
            <a:pPr lvl="1" algn="l">
              <a:lnSpc>
                <a:spcPct val="150000"/>
              </a:lnSpc>
              <a:spcBef>
                <a:spcPts val="0"/>
              </a:spcBef>
            </a:pPr>
            <a:r>
              <a:rPr lang="zh-CN" altLang="en-US" dirty="0">
                <a:cs typeface="+mn-ea"/>
              </a:rPr>
              <a:t>音频的主观评价的方法。</a:t>
            </a:r>
          </a:p>
          <a:p>
            <a:pPr lvl="1" algn="l">
              <a:lnSpc>
                <a:spcPct val="150000"/>
              </a:lnSpc>
              <a:spcBef>
                <a:spcPts val="0"/>
              </a:spcBef>
            </a:pPr>
            <a:r>
              <a:rPr lang="zh-CN" altLang="en-US" dirty="0">
                <a:cs typeface="+mn-ea"/>
              </a:rPr>
              <a:t>图像的客观评价峰值信噪比的概念。</a:t>
            </a:r>
          </a:p>
          <a:p>
            <a:pPr lvl="1" algn="l">
              <a:lnSpc>
                <a:spcPct val="150000"/>
              </a:lnSpc>
              <a:spcBef>
                <a:spcPts val="0"/>
              </a:spcBef>
            </a:pPr>
            <a:r>
              <a:rPr lang="zh-CN" altLang="en-US" dirty="0">
                <a:cs typeface="+mn-ea"/>
              </a:rPr>
              <a:t>通过实验掌握常见音频和图像基本操作。</a:t>
            </a:r>
          </a:p>
        </p:txBody>
      </p:sp>
      <p:sp>
        <p:nvSpPr>
          <p:cNvPr id="4" name="矩形 3"/>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本章小结</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p:cNvSpPr>
            <a:spLocks noGrp="1" noChangeArrowheads="1"/>
          </p:cNvSpPr>
          <p:nvPr>
            <p:ph idx="1"/>
          </p:nvPr>
        </p:nvSpPr>
        <p:spPr>
          <a:xfrm>
            <a:off x="1486959" y="1484313"/>
            <a:ext cx="9751483" cy="4114800"/>
          </a:xfrm>
        </p:spPr>
        <p:txBody>
          <a:bodyPr/>
          <a:lstStyle/>
          <a:p>
            <a:pPr eaLnBrk="1" hangingPunct="1"/>
            <a:r>
              <a:rPr lang="zh-CN" altLang="en-US" dirty="0"/>
              <a:t>【简答题】</a:t>
            </a:r>
          </a:p>
          <a:p>
            <a:pPr lvl="1" algn="l">
              <a:lnSpc>
                <a:spcPct val="150000"/>
              </a:lnSpc>
              <a:spcBef>
                <a:spcPts val="0"/>
              </a:spcBef>
            </a:pPr>
            <a:r>
              <a:rPr lang="zh-CN" altLang="en-US" dirty="0">
                <a:cs typeface="+mn-ea"/>
              </a:rPr>
              <a:t>1.语音的主观评价MOS分为几个等级？</a:t>
            </a:r>
          </a:p>
          <a:p>
            <a:pPr lvl="1" algn="l">
              <a:lnSpc>
                <a:spcPct val="150000"/>
              </a:lnSpc>
              <a:spcBef>
                <a:spcPts val="0"/>
              </a:spcBef>
            </a:pPr>
            <a:r>
              <a:rPr lang="zh-CN" altLang="en-US" dirty="0">
                <a:cs typeface="+mn-ea"/>
              </a:rPr>
              <a:t>2.图像质量的好坏取决于哪些方面？</a:t>
            </a:r>
          </a:p>
          <a:p>
            <a:pPr lvl="1" algn="l">
              <a:lnSpc>
                <a:spcPct val="150000"/>
              </a:lnSpc>
              <a:spcBef>
                <a:spcPts val="0"/>
              </a:spcBef>
            </a:pPr>
            <a:r>
              <a:rPr lang="zh-CN" altLang="en-US" dirty="0">
                <a:cs typeface="+mn-ea"/>
              </a:rPr>
              <a:t>3.图像的客观评价PSNR（峰值信噪比）的特点是什么？峰值信噪比的值是越大越好，还是越小越好？</a:t>
            </a:r>
          </a:p>
          <a:p>
            <a:pPr lvl="1" algn="l">
              <a:lnSpc>
                <a:spcPct val="150000"/>
              </a:lnSpc>
              <a:spcBef>
                <a:spcPts val="0"/>
              </a:spcBef>
            </a:pPr>
            <a:r>
              <a:rPr lang="zh-CN" altLang="en-US" dirty="0">
                <a:cs typeface="+mn-ea"/>
              </a:rPr>
              <a:t>4.主观评价与客观评价之间的一致函数映射关系是什么？</a:t>
            </a:r>
          </a:p>
        </p:txBody>
      </p:sp>
      <p:sp>
        <p:nvSpPr>
          <p:cNvPr id="4" name="矩形 3"/>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课后习题</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矩形 3"/>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课后习题</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pic>
        <p:nvPicPr>
          <p:cNvPr id="2" name="图片 1"/>
          <p:cNvPicPr>
            <a:picLocks noChangeAspect="1"/>
          </p:cNvPicPr>
          <p:nvPr/>
        </p:nvPicPr>
        <p:blipFill>
          <a:blip r:embed="rId3"/>
          <a:srcRect t="6505" b="50107"/>
          <a:stretch>
            <a:fillRect/>
          </a:stretch>
        </p:blipFill>
        <p:spPr>
          <a:xfrm>
            <a:off x="1343025" y="1709420"/>
            <a:ext cx="9251315" cy="3627120"/>
          </a:xfrm>
          <a:prstGeom prst="rect">
            <a:avLst/>
          </a:prstGeom>
        </p:spPr>
      </p:pic>
      <p:sp>
        <p:nvSpPr>
          <p:cNvPr id="3" name="文本框 2"/>
          <p:cNvSpPr txBox="1"/>
          <p:nvPr/>
        </p:nvSpPr>
        <p:spPr>
          <a:xfrm>
            <a:off x="1343025" y="1172210"/>
            <a:ext cx="6096000" cy="537210"/>
          </a:xfrm>
          <a:prstGeom prst="rect">
            <a:avLst/>
          </a:prstGeom>
          <a:noFill/>
        </p:spPr>
        <p:txBody>
          <a:bodyPr wrap="square" rtlCol="0" anchor="t">
            <a:spAutoFit/>
          </a:bodyPr>
          <a:lstStyle/>
          <a:p>
            <a:pPr marL="342900" indent="-342900" algn="l" eaLnBrk="1" hangingPunct="1">
              <a:spcBef>
                <a:spcPct val="20000"/>
              </a:spcBef>
              <a:buClr>
                <a:schemeClr val="tx2"/>
              </a:buClr>
              <a:buSzPct val="70000"/>
              <a:buFont typeface="Wingdings" panose="05000000000000000000" pitchFamily="2" charset="2"/>
              <a:buChar char="¡"/>
            </a:pPr>
            <a:r>
              <a:rPr lang="zh-CN" altLang="en-US" sz="2900" kern="0" dirty="0">
                <a:latin typeface="+mn-lt"/>
                <a:ea typeface="+mn-ea"/>
                <a:sym typeface="+mn-ea"/>
              </a:rPr>
              <a:t>【填空题】</a:t>
            </a:r>
          </a:p>
        </p:txBody>
      </p:sp>
    </p:spTree>
  </p:cSld>
  <p:clrMapOvr>
    <a:overrideClrMapping bg1="lt1" tx1="dk1" bg2="lt2" tx2="dk2" accent1="accent1" accent2="accent2" accent3="accent3" accent4="accent4" accent5="accent5" accent6="accent6" hlink="hlink" folHlink="folHlink"/>
  </p:clrMapOvr>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矩形 3"/>
          <p:cNvSpPr/>
          <p:nvPr/>
        </p:nvSpPr>
        <p:spPr>
          <a:xfrm>
            <a:off x="893379" y="249350"/>
            <a:ext cx="9470058" cy="521970"/>
          </a:xfrm>
          <a:prstGeom prst="rect">
            <a:avLst/>
          </a:prstGeom>
        </p:spPr>
        <p:txBody>
          <a:bodyPr wrap="square">
            <a:spAutoFit/>
          </a:bodyPr>
          <a:lstStyle/>
          <a:p>
            <a:pPr algn="l">
              <a:buClrTx/>
              <a:buSzTx/>
              <a:buFontTx/>
            </a:pPr>
            <a:r>
              <a:rPr lang="zh-CN" altLang="en-US" sz="2800" b="1" dirty="0">
                <a:solidFill>
                  <a:srgbClr val="023B8C"/>
                </a:solidFill>
                <a:latin typeface="微软雅黑" panose="020B0503020204020204" charset="-122"/>
                <a:ea typeface="微软雅黑" panose="020B0503020204020204" charset="-122"/>
                <a:sym typeface="+mn-ea"/>
              </a:rPr>
              <a:t>课后习题</a:t>
            </a:r>
          </a:p>
        </p:txBody>
      </p:sp>
      <p:grpSp>
        <p:nvGrpSpPr>
          <p:cNvPr id="7" name="组合 6"/>
          <p:cNvGrpSpPr/>
          <p:nvPr/>
        </p:nvGrpSpPr>
        <p:grpSpPr>
          <a:xfrm>
            <a:off x="123658" y="249350"/>
            <a:ext cx="979109" cy="533291"/>
            <a:chOff x="2215144" y="982844"/>
            <a:chExt cx="1258238" cy="912607"/>
          </a:xfrm>
        </p:grpSpPr>
        <p:sp>
          <p:nvSpPr>
            <p:cNvPr id="8" name="平行四边形 7"/>
            <p:cNvSpPr/>
            <p:nvPr/>
          </p:nvSpPr>
          <p:spPr>
            <a:xfrm>
              <a:off x="2215144" y="982844"/>
              <a:ext cx="1120898" cy="842780"/>
            </a:xfrm>
            <a:prstGeom prst="parallelogram">
              <a:avLst>
                <a:gd name="adj" fmla="val 48207"/>
              </a:avLst>
            </a:prstGeom>
            <a:solidFill>
              <a:srgbClr val="6096E6"/>
            </a:solidFill>
            <a:ln w="12700" cap="flat" cmpd="sng" algn="ctr">
              <a:noFill/>
              <a:prstDash val="solid"/>
              <a:miter lim="800000"/>
            </a:ln>
            <a:effectLst/>
          </p:spPr>
          <p:txBody>
            <a:bodyPr rtlCol="0" anchor="ctr"/>
            <a:lstStyle/>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nvSpPr>
          <p:spPr>
            <a:xfrm>
              <a:off x="2392846" y="1002217"/>
              <a:ext cx="1080536" cy="893234"/>
            </a:xfrm>
            <a:prstGeom prst="rect">
              <a:avLst/>
            </a:prstGeom>
            <a:noFill/>
          </p:spPr>
          <p:txBody>
            <a:bodyPr wrap="square" rtlCol="0">
              <a:spAutoFit/>
            </a:bodyPr>
            <a:lstStyle/>
            <a:p>
              <a:endParaRPr lang="zh-CN" altLang="en-US" sz="2800" dirty="0">
                <a:solidFill>
                  <a:srgbClr val="FFFFFF"/>
                </a:solidFill>
                <a:latin typeface="Impact" panose="020B0806030902050204" pitchFamily="34" charset="0"/>
              </a:endParaRPr>
            </a:p>
          </p:txBody>
        </p:sp>
      </p:grpSp>
      <p:sp>
        <p:nvSpPr>
          <p:cNvPr id="3" name="文本框 2"/>
          <p:cNvSpPr txBox="1"/>
          <p:nvPr/>
        </p:nvSpPr>
        <p:spPr>
          <a:xfrm>
            <a:off x="1343025" y="1172210"/>
            <a:ext cx="6096000" cy="537210"/>
          </a:xfrm>
          <a:prstGeom prst="rect">
            <a:avLst/>
          </a:prstGeom>
          <a:noFill/>
        </p:spPr>
        <p:txBody>
          <a:bodyPr wrap="square" rtlCol="0" anchor="t">
            <a:spAutoFit/>
          </a:bodyPr>
          <a:lstStyle/>
          <a:p>
            <a:pPr marL="342900" indent="-342900" algn="l" eaLnBrk="1" hangingPunct="1">
              <a:spcBef>
                <a:spcPct val="20000"/>
              </a:spcBef>
              <a:buClr>
                <a:schemeClr val="tx2"/>
              </a:buClr>
              <a:buSzPct val="70000"/>
              <a:buFont typeface="Wingdings" panose="05000000000000000000" pitchFamily="2" charset="2"/>
              <a:buChar char="¡"/>
            </a:pPr>
            <a:r>
              <a:rPr lang="zh-CN" altLang="en-US" sz="2900" kern="0" dirty="0">
                <a:latin typeface="+mn-lt"/>
                <a:ea typeface="+mn-ea"/>
                <a:sym typeface="+mn-ea"/>
              </a:rPr>
              <a:t>【填空题】</a:t>
            </a:r>
          </a:p>
        </p:txBody>
      </p:sp>
      <p:pic>
        <p:nvPicPr>
          <p:cNvPr id="12" name="图片 11"/>
          <p:cNvPicPr>
            <a:picLocks noChangeAspect="1"/>
          </p:cNvPicPr>
          <p:nvPr/>
        </p:nvPicPr>
        <p:blipFill>
          <a:blip r:embed="rId3"/>
          <a:srcRect t="50053" b="88"/>
          <a:stretch>
            <a:fillRect/>
          </a:stretch>
        </p:blipFill>
        <p:spPr>
          <a:xfrm>
            <a:off x="1414145" y="1701165"/>
            <a:ext cx="9105900" cy="4032250"/>
          </a:xfrm>
          <a:prstGeom prst="rect">
            <a:avLst/>
          </a:prstGeom>
        </p:spPr>
      </p:pic>
    </p:spTree>
  </p:cSld>
  <p:clrMapOvr>
    <a:overrideClrMapping bg1="lt1" tx1="dk1" bg2="lt2" tx2="dk2" accent1="accent1" accent2="accent2" accent3="accent3" accent4="accent4" accent5="accent5" accent6="accent6" hlink="hlink" folHlink="folHlink"/>
  </p:clrMapOvr>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JkYjc5YTllNzJiNTY4M2VjMDk1Zjg3MmJhYTFlYmQ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54.63007874015744,&quot;left&quot;:46.0075590551181,&quot;top&quot;:102.48755905511811,&quot;width&quot;:632.7499999999998}"/>
</p:tagLst>
</file>

<file path=ppt/tags/tag2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Green">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Eclips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themeOverride>
</file>

<file path=ppt/theme/themeOverride2.xml><?xml version="1.0" encoding="utf-8"?>
<a:themeOverride xmlns:a="http://schemas.openxmlformats.org/drawingml/2006/main">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themeOverride>
</file>

<file path=ppt/theme/themeOverride3.xml><?xml version="1.0" encoding="utf-8"?>
<a:themeOverride xmlns:a="http://schemas.openxmlformats.org/drawingml/2006/main">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Green</Template>
  <TotalTime>51</TotalTime>
  <Words>4860</Words>
  <Application>Microsoft Office PowerPoint</Application>
  <PresentationFormat>宽屏</PresentationFormat>
  <Paragraphs>497</Paragraphs>
  <Slides>60</Slides>
  <Notes>42</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60</vt:i4>
      </vt:variant>
    </vt:vector>
  </HeadingPairs>
  <TitlesOfParts>
    <vt:vector size="75" baseType="lpstr">
      <vt:lpstr>黑体</vt:lpstr>
      <vt:lpstr>楷体</vt:lpstr>
      <vt:lpstr>宋体</vt:lpstr>
      <vt:lpstr>微软雅黑</vt:lpstr>
      <vt:lpstr>Arial</vt:lpstr>
      <vt:lpstr>Arial Black</vt:lpstr>
      <vt:lpstr>Cambria Math</vt:lpstr>
      <vt:lpstr>Impact</vt:lpstr>
      <vt:lpstr>Tahoma</vt:lpstr>
      <vt:lpstr>Times New Roman</vt:lpstr>
      <vt:lpstr>Verdana</vt:lpstr>
      <vt:lpstr>Wingdings</vt:lpstr>
      <vt:lpstr>Green</vt:lpstr>
      <vt:lpstr>Equation</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人的听觉范围</vt:lpstr>
      <vt:lpstr>音调</vt:lpstr>
      <vt:lpstr>PowerPoint 演示文稿</vt:lpstr>
      <vt:lpstr>PowerPoint 演示文稿</vt:lpstr>
      <vt:lpstr>PowerPoint 演示文稿</vt:lpstr>
      <vt:lpstr>PowerPoint 演示文稿</vt:lpstr>
      <vt:lpstr>语音感知与理解</vt:lpstr>
      <vt:lpstr>PowerPoint 演示文稿</vt:lpstr>
      <vt:lpstr>PowerPoint 演示文稿</vt:lpstr>
      <vt:lpstr>MOS分评价</vt:lpstr>
      <vt:lpstr>主观评价的优缺点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bupt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3、基础知识</dc:title>
  <dc:creator>elm</dc:creator>
  <cp:lastModifiedBy>K</cp:lastModifiedBy>
  <cp:revision>771</cp:revision>
  <dcterms:created xsi:type="dcterms:W3CDTF">2006-10-07T13:35:00Z</dcterms:created>
  <dcterms:modified xsi:type="dcterms:W3CDTF">2024-09-25T01:43:00Z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DBDE79D7D0A54C68B3DC04AD2AB219E3_13</vt:lpwstr>
  </property>
</Properties>
</file>